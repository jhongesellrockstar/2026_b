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0"/>
    <p:restoredTop sz="94626"/>
  </p:normalViewPr>
  <p:slideViewPr>
    <p:cSldViewPr snapToGrid="0">
      <p:cViewPr varScale="1">
        <p:scale>
          <a:sx n="105" d="100"/>
          <a:sy n="105" d="100"/>
        </p:scale>
        <p:origin x="11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C0FE2F3-AA41-4223-9A97-20A8C58EB052}" type="datetime1">
              <a:rPr lang="es-ES" smtClean="0"/>
              <a:t>26/09/2026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07B964BE-1CD1-1943-8CAA-B6D417321F1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F48DBF98-966A-467E-955B-DF616908A15D}" type="datetime1">
              <a:rPr lang="es-ES" smtClean="0"/>
              <a:pPr/>
              <a:t>26/09/2026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8D7D3E5B-4BED-B24C-9674-6B6454D0456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pic>
        <p:nvPicPr>
          <p:cNvPr id="10" name="Imagen 9" descr="Separación entre dos edificios sobre un cielo azul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es-ES" sz="2400" cap="all" spc="300" baseline="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rtlCol="0" anchor="t">
            <a:noAutofit/>
          </a:bodyPr>
          <a:lstStyle>
            <a:lvl1pPr algn="l">
              <a:defRPr lang="es-ES" sz="4500" cap="all" baseline="0"/>
            </a:lvl1pPr>
          </a:lstStyle>
          <a:p>
            <a:pPr rtl="0"/>
            <a:r>
              <a:rPr lang="es-ES"/>
              <a:t>HAGA CLIC PARA MODIFICAR EL ESTILO DEL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rtlCol="0" anchor="b">
            <a:noAutofit/>
          </a:bodyPr>
          <a:lstStyle>
            <a:lvl1pPr>
              <a:defRPr lang="es-ES" sz="3600" cap="all" baseline="0"/>
            </a:lvl1pPr>
          </a:lstStyle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000" cap="all" baseline="0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EDITAR ESTILOS DE TEXTO PATRÓN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2" name="Título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rtlCol="0" anchor="t">
            <a:noAutofit/>
          </a:bodyPr>
          <a:lstStyle>
            <a:lvl1pPr>
              <a:defRPr lang="es-ES" sz="36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MODIFICAR EL ESTILO DEL TÍTULO DEL PATRÓN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892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 descr="Una imagen que contiene un accesorio&#10;&#10;Descripción generada automáticamente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orma libre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8985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445" y="2043946"/>
            <a:ext cx="6034216" cy="1439604"/>
          </a:xfrm>
        </p:spPr>
        <p:txBody>
          <a:bodyPr lIns="0" tIns="0" rIns="0" bIns="0" rtlCol="0" anchor="b">
            <a:noAutofit/>
          </a:bodyPr>
          <a:lstStyle>
            <a:lvl1pPr>
              <a:defRPr lang="es-ES" sz="3600" cap="all" baseline="0"/>
            </a:lvl1pPr>
          </a:lstStyle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3445" y="3469262"/>
            <a:ext cx="6034216" cy="1085641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es-ES" sz="2000" cap="all" spc="0" baseline="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21B6B04-886C-2862-3BD4-97071FCAD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E0F1657-AAC1-699F-C320-E5260E38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rtlCol="0" anchor="ctr">
            <a:noAutofit/>
          </a:bodyPr>
          <a:lstStyle>
            <a:lvl1pPr algn="ctr">
              <a:defRPr lang="es-ES" sz="3600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 rtlCol="0">
            <a:noAutofit/>
          </a:bodyPr>
          <a:lstStyle>
            <a:lvl1pPr>
              <a:defRPr lang="es-ES">
                <a:latin typeface="+mn-lt"/>
              </a:defRPr>
            </a:lvl1pPr>
            <a:lvl2pPr>
              <a:defRPr lang="es-ES">
                <a:latin typeface="+mn-lt"/>
              </a:defRPr>
            </a:lvl2pPr>
            <a:lvl3pPr>
              <a:defRPr lang="es-ES">
                <a:latin typeface="+mn-lt"/>
              </a:defRPr>
            </a:lvl3pPr>
            <a:lvl4pPr>
              <a:defRPr lang="es-ES">
                <a:latin typeface="+mn-lt"/>
              </a:defRPr>
            </a:lvl4pPr>
            <a:lvl5pPr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 rtlCol="0">
            <a:noAutofit/>
          </a:bodyPr>
          <a:lstStyle>
            <a:lvl1pPr>
              <a:defRPr lang="es-ES" sz="3600" baseline="0"/>
            </a:lvl1pPr>
          </a:lstStyle>
          <a:p>
            <a:pPr rtl="0"/>
            <a:r>
              <a:rPr lang="es-ES"/>
              <a:t>HAGA CLIC PARA MODIFICAR EL ESTILO DEL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 rtlCol="0">
            <a:noAutofit/>
          </a:bodyPr>
          <a:lstStyle>
            <a:lvl1pPr>
              <a:defRPr lang="es-ES">
                <a:latin typeface="+mn-lt"/>
              </a:defRPr>
            </a:lvl1pPr>
            <a:lvl2pPr>
              <a:defRPr lang="es-ES">
                <a:latin typeface="+mn-lt"/>
              </a:defRPr>
            </a:lvl2pPr>
            <a:lvl3pPr>
              <a:defRPr lang="es-ES">
                <a:latin typeface="+mn-lt"/>
              </a:defRPr>
            </a:lvl3pPr>
            <a:lvl4pPr>
              <a:defRPr lang="es-ES">
                <a:latin typeface="+mn-lt"/>
              </a:defRPr>
            </a:lvl4pPr>
            <a:lvl5pPr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Forma libre 5" descr="Hombre mirando rascacielo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lang="es-ES" sz="2400" b="1">
                <a:latin typeface="+mn-lt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 rtlCol="0">
            <a:noAutofit/>
          </a:bodyPr>
          <a:lstStyle>
            <a:lvl1pPr>
              <a:defRPr lang="es-ES">
                <a:latin typeface="+mn-lt"/>
              </a:defRPr>
            </a:lvl1pPr>
            <a:lvl2pPr>
              <a:defRPr lang="es-ES">
                <a:latin typeface="+mn-lt"/>
              </a:defRPr>
            </a:lvl2pPr>
            <a:lvl3pPr>
              <a:defRPr lang="es-ES">
                <a:latin typeface="+mn-lt"/>
              </a:defRPr>
            </a:lvl3pPr>
            <a:lvl4pPr>
              <a:defRPr lang="es-ES">
                <a:latin typeface="+mn-lt"/>
              </a:defRPr>
            </a:lvl4pPr>
            <a:lvl5pPr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lang="es-ES" sz="2400" b="1">
                <a:latin typeface="+mn-lt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 rtlCol="0">
            <a:noAutofit/>
          </a:bodyPr>
          <a:lstStyle>
            <a:lvl1pPr>
              <a:defRPr lang="es-ES">
                <a:latin typeface="+mn-lt"/>
              </a:defRPr>
            </a:lvl1pPr>
            <a:lvl2pPr>
              <a:defRPr lang="es-ES">
                <a:latin typeface="+mn-lt"/>
              </a:defRPr>
            </a:lvl2pPr>
            <a:lvl3pPr>
              <a:defRPr lang="es-ES">
                <a:latin typeface="+mn-lt"/>
              </a:defRPr>
            </a:lvl3pPr>
            <a:lvl4pPr>
              <a:defRPr lang="es-ES">
                <a:latin typeface="+mn-lt"/>
              </a:defRPr>
            </a:lvl4pPr>
            <a:lvl5pPr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rtlCol="0" anchor="ctr">
            <a:noAutofit/>
          </a:bodyPr>
          <a:lstStyle>
            <a:lvl1pPr algn="ctr">
              <a:defRPr lang="es-ES" sz="3600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pic>
        <p:nvPicPr>
          <p:cNvPr id="12" name="Imagen 11" descr="Casa moderna con diseño cúbico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rtlCol="0" anchor="t">
            <a:noAutofit/>
          </a:bodyPr>
          <a:lstStyle>
            <a:lvl1pPr>
              <a:lnSpc>
                <a:spcPct val="100000"/>
              </a:lnSpc>
              <a:defRPr lang="es-ES" sz="3000" b="0" i="0" spc="0" baseline="0">
                <a:latin typeface="+mn-lt"/>
              </a:defRPr>
            </a:lvl1pPr>
          </a:lstStyle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es-ES" sz="1800" b="1" spc="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rtlCol="0" anchor="ctr">
            <a:noAutofit/>
          </a:bodyPr>
          <a:lstStyle>
            <a:lvl1pPr algn="ctr">
              <a:defRPr lang="es-ES" sz="3600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6" name="Marcador de posición de imagen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11" name="Marcador de texto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5" name="Marcador de posición de imagen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28" name="Marcador de texto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6" name="Marcador de posición de imagen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8" name="Marcador de texto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4" name="Marcador de texto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6" name="Marcador de texto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rtlCol="0" anchor="ctr">
            <a:noAutofit/>
          </a:bodyPr>
          <a:lstStyle>
            <a:lvl1pPr algn="ctr">
              <a:defRPr lang="es-ES" sz="3600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8" name="Marcador de posición de imagen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0" name="Marcador de texto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18" name="Marcador de posición de imagen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6" name="Marcador de texto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19" name="Marcador de posición de imagen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9" name="Marcador de texto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17" name="Marcador de posición de imagen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6" name="Marcador de texto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42" name="Marcador de texto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3" name="Marcador de texto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6" name="Marcador de posición de imagen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45" name="Marcador de texto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7" name="Marcador de posición de imagen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3" name="Marcador de texto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48" name="Marcador de texto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5" name="Marcador de posición de imagen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4" name="Marcador de texto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51" name="Marcador de texto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s-E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s-ES"/>
              <a:t>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rtlCol="0" anchor="t">
            <a:noAutofit/>
          </a:bodyPr>
          <a:lstStyle>
            <a:lvl1pPr>
              <a:defRPr lang="es-ES" sz="3600" cap="all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15" name="Marcador de texto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40" name="Marcador de texto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s-ES" sz="1400" spc="0" baseline="0" dirty="0"/>
            </a:lvl1pPr>
          </a:lstStyle>
          <a:p>
            <a:pPr marL="285750" lvl="0" indent="-285750" rtl="0">
              <a:lnSpc>
                <a:spcPct val="100000"/>
              </a:lnSpc>
              <a:spcBef>
                <a:spcPts val="0"/>
              </a:spcBef>
            </a:pPr>
            <a:r>
              <a:rPr lang="es-ES"/>
              <a:t>Segundo nivel</a:t>
            </a:r>
          </a:p>
          <a:p>
            <a:pPr marL="285750" lvl="0" indent="-285750" rtl="0">
              <a:lnSpc>
                <a:spcPct val="100000"/>
              </a:lnSpc>
              <a:spcBef>
                <a:spcPts val="0"/>
              </a:spcBef>
            </a:pPr>
            <a:endParaRPr lang="es-ES" dirty="0"/>
          </a:p>
        </p:txBody>
      </p:sp>
      <p:sp>
        <p:nvSpPr>
          <p:cNvPr id="20" name="Marcador de texto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19" name="Marcador de texto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s-ES" sz="1400" spc="0" baseline="0" dirty="0"/>
            </a:lvl1pPr>
          </a:lstStyle>
          <a:p>
            <a:pPr marL="285750" lvl="0" indent="-285750" rtl="0">
              <a:lnSpc>
                <a:spcPct val="100000"/>
              </a:lnSpc>
              <a:spcBef>
                <a:spcPts val="0"/>
              </a:spcBef>
            </a:pPr>
            <a:r>
              <a:rPr lang="es-ES"/>
              <a:t>Segundo nivel</a:t>
            </a:r>
          </a:p>
          <a:p>
            <a:pPr marL="285750" lvl="0" indent="-285750" rtl="0">
              <a:lnSpc>
                <a:spcPct val="100000"/>
              </a:lnSpc>
              <a:spcBef>
                <a:spcPts val="0"/>
              </a:spcBef>
            </a:pPr>
            <a:endParaRPr lang="es-ES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Autofit/>
          </a:bodyPr>
          <a:lstStyle>
            <a:lvl1pPr algn="ctr"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821385B8-472C-422F-2A52-C7133619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rtlCol="0" anchor="ctr">
            <a:noAutofit/>
          </a:bodyPr>
          <a:lstStyle>
            <a:lvl1pPr algn="ctr">
              <a:defRPr lang="es-ES" sz="3600" baseline="0"/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DE7CA9C-8486-4EA1-8701-DB28FF478598}"/>
              </a:ext>
            </a:extLst>
          </p:cNvPr>
          <p:cNvSpPr/>
          <p:nvPr userDrawn="1"/>
        </p:nvSpPr>
        <p:spPr>
          <a:xfrm>
            <a:off x="2060160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6" name="Marcador de posición de imagen 13">
            <a:extLst>
              <a:ext uri="{FF2B5EF4-FFF2-40B4-BE49-F238E27FC236}">
                <a16:creationId xmlns:a16="http://schemas.microsoft.com/office/drawing/2014/main" id="{5C378C59-971F-BF38-742D-D95B205A12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40257" y="2001750"/>
            <a:ext cx="1159161" cy="1036101"/>
          </a:xfrm>
          <a:noFill/>
        </p:spPr>
        <p:txBody>
          <a:bodyPr rtlCol="0" anchor="ctr">
            <a:noAutofit/>
          </a:bodyPr>
          <a:lstStyle>
            <a:lvl1pPr algn="ctr">
              <a:defRPr lang="es-ES" sz="1600"/>
            </a:lvl1pPr>
          </a:lstStyle>
          <a:p>
            <a:pPr rtl="0"/>
            <a:endParaRPr lang="es-ES" dirty="0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3BAF3E19-6FBE-8CBB-4079-33F65C860D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257" y="3029583"/>
            <a:ext cx="2940863" cy="1002007"/>
          </a:xfr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2000" b="1" i="0" cap="all" spc="300" baseline="0"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6C42666-9F54-E92B-0327-85CCBAD21F0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44257" y="4053021"/>
            <a:ext cx="2944737" cy="2284667"/>
          </a:xfrm>
        </p:spPr>
        <p:txBody>
          <a:bodyPr lIns="0" tIns="0" rIns="0" bIns="0" rtlCol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Hacer clic para editar estilos de texto maestro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CFF2E1B-0868-370D-4DD5-C9FAA608FAF8}"/>
              </a:ext>
            </a:extLst>
          </p:cNvPr>
          <p:cNvSpPr/>
          <p:nvPr userDrawn="1"/>
        </p:nvSpPr>
        <p:spPr>
          <a:xfrm>
            <a:off x="5617535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0B4A9B4F-A838-18BA-A205-674E6E13EB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07541" y="2001750"/>
            <a:ext cx="1159161" cy="1036101"/>
          </a:xfrm>
          <a:noFill/>
        </p:spPr>
        <p:txBody>
          <a:bodyPr rtlCol="0" anchor="ctr">
            <a:noAutofit/>
          </a:bodyPr>
          <a:lstStyle>
            <a:lvl1pPr algn="ctr">
              <a:defRPr lang="es-ES" sz="1600"/>
            </a:lvl1pPr>
          </a:lstStyle>
          <a:p>
            <a:pPr rtl="0"/>
            <a:endParaRPr lang="es-ES" dirty="0"/>
          </a:p>
        </p:txBody>
      </p:sp>
      <p:sp>
        <p:nvSpPr>
          <p:cNvPr id="31" name="Marcador de texto 28">
            <a:extLst>
              <a:ext uri="{FF2B5EF4-FFF2-40B4-BE49-F238E27FC236}">
                <a16:creationId xmlns:a16="http://schemas.microsoft.com/office/drawing/2014/main" id="{35959781-AA1F-7789-57AC-F3583B408E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17227" y="3064120"/>
            <a:ext cx="2940864" cy="98890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73AFA26A-367B-C958-6FDA-30DC18B385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7226" y="4066126"/>
            <a:ext cx="2944737" cy="2284667"/>
          </a:xfrm>
        </p:spPr>
        <p:txBody>
          <a:bodyPr tIns="0" bIns="0" rtlCol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Hacer clic para editar estilos de texto maestro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E993317-B15E-4278-C4C8-D2C8F54AED79}"/>
              </a:ext>
            </a:extLst>
          </p:cNvPr>
          <p:cNvSpPr/>
          <p:nvPr userDrawn="1"/>
        </p:nvSpPr>
        <p:spPr>
          <a:xfrm>
            <a:off x="8836567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5" name="Marcador de posición de imagen 13">
            <a:extLst>
              <a:ext uri="{FF2B5EF4-FFF2-40B4-BE49-F238E27FC236}">
                <a16:creationId xmlns:a16="http://schemas.microsoft.com/office/drawing/2014/main" id="{320E0A84-9337-4401-9D13-157978C607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333421" y="2004710"/>
            <a:ext cx="1159161" cy="1036101"/>
          </a:xfrm>
          <a:noFill/>
        </p:spPr>
        <p:txBody>
          <a:bodyPr rtlCol="0" anchor="ctr">
            <a:noAutofit/>
          </a:bodyPr>
          <a:lstStyle>
            <a:lvl1pPr algn="ctr">
              <a:defRPr lang="es-ES" sz="1600"/>
            </a:lvl1pPr>
          </a:lstStyle>
          <a:p>
            <a:pPr rtl="0"/>
            <a:endParaRPr lang="es-ES" dirty="0"/>
          </a:p>
        </p:txBody>
      </p:sp>
      <p:sp>
        <p:nvSpPr>
          <p:cNvPr id="32" name="Marcador de texto 28">
            <a:extLst>
              <a:ext uri="{FF2B5EF4-FFF2-40B4-BE49-F238E27FC236}">
                <a16:creationId xmlns:a16="http://schemas.microsoft.com/office/drawing/2014/main" id="{AC8F3009-6B00-DF9F-8517-05A8265566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3008" y="3029583"/>
            <a:ext cx="2940864" cy="98890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pPr rtl="0"/>
            <a:r>
              <a:rPr lang="es-ES"/>
              <a:t>HAGA CLIC PARA EDITAR EL ESTILO DE SUBTÍTULO DEL PATRÓN</a:t>
            </a: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51E11FB-D524-5781-B4B3-F6E5484F19F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98539" y="4031589"/>
            <a:ext cx="2944737" cy="2284667"/>
          </a:xfrm>
        </p:spPr>
        <p:txBody>
          <a:bodyPr tIns="0" bIns="0" rtlCol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400" b="0" i="0">
                <a:latin typeface="+mn-lt"/>
              </a:defRPr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Hacer clic para editar estilos de texto maestro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66B1E6-E67B-3B07-B464-6C782D2D21E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63D2A3-D5E9-1D68-8AB2-1DB5C21E912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rtlCol="0" anchor="t">
            <a:noAutofit/>
          </a:bodyPr>
          <a:lstStyle>
            <a:lvl1pPr>
              <a:defRPr lang="es-ES" sz="3600" baseline="0">
                <a:latin typeface="+mj-lt"/>
              </a:defRPr>
            </a:lvl1pPr>
          </a:lstStyle>
          <a:p>
            <a:pPr rtl="0"/>
            <a:r>
              <a:rPr lang="es-ES"/>
              <a:t>HAGA CLIC PARA MODIFICAR EL TÍTULO DEL PATRÓN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 anchor="ctr"/>
          <a:lstStyle>
            <a:lvl1pPr algn="ctr">
              <a:defRPr lang="es-ES"/>
            </a:lvl1pPr>
          </a:lstStyle>
          <a:p>
            <a:pPr rtl="0"/>
            <a:endParaRPr lang="es-ES" dirty="0"/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89000"/>
            </a:schemeClr>
          </a:solidFill>
        </p:spPr>
        <p:txBody>
          <a:bodyPr rtlCol="0"/>
          <a:lstStyle>
            <a:lvl1pPr>
              <a:defRPr lang="es-ES"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 rtlCol="0"/>
          <a:lstStyle>
            <a:lvl1pPr>
              <a:defRPr lang="es-ES"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an cruce de peatones con una sola persona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orma libre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6736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rtlCol="0" anchor="b">
            <a:noAutofit/>
          </a:bodyPr>
          <a:lstStyle>
            <a:lvl1pPr>
              <a:defRPr lang="es-ES" sz="3600" b="1" i="0" baseline="0">
                <a:solidFill>
                  <a:schemeClr val="bg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rtlCol="0" anchor="t">
            <a:noAutofit/>
          </a:bodyPr>
          <a:lstStyle>
            <a:lvl1pPr marL="0" indent="0">
              <a:buNone/>
              <a:defRPr lang="es-ES"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lang="es-ES"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400">
                <a:solidFill>
                  <a:schemeClr val="bg1"/>
                </a:solidFill>
              </a:defRPr>
            </a:lvl1pPr>
          </a:lstStyle>
          <a:p>
            <a:pPr rtl="0"/>
            <a:fld id="{09A01C0A-2BB6-49E7-91A3-DCB9F9F5958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65" r:id="rId6"/>
    <p:sldLayoutId id="2147483653" r:id="rId7"/>
    <p:sldLayoutId id="2147483654" r:id="rId8"/>
    <p:sldLayoutId id="2147483658" r:id="rId9"/>
    <p:sldLayoutId id="2147483655" r:id="rId10"/>
    <p:sldLayoutId id="2147483656" r:id="rId11"/>
    <p:sldLayoutId id="2147483657" r:id="rId12"/>
    <p:sldLayoutId id="2147483664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lang="es-ES"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lang="es-ES"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lang="es-ES"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lang="es-ES"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lang="es-ES"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3400" b="1">
                <a:solidFill>
                  <a:srgbClr val="005596"/>
                </a:solidFill>
                <a:latin typeface="Aptos Display"/>
              </a:rPr>
              <a:t>Modelo Entidad-Relación (MER)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423160"/>
            <a:ext cx="233172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852928"/>
            <a:ext cx="8686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450" b="1">
                <a:solidFill>
                  <a:srgbClr val="263238"/>
                </a:solidFill>
                <a:latin typeface="Aptos"/>
              </a:rPr>
              <a:t>Universidad Nacional del Callao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0128"/>
            <a:ext cx="6217920" cy="10515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20" b="0">
                <a:solidFill>
                  <a:srgbClr val="263238"/>
                </a:solidFill>
                <a:latin typeface="Aptos"/>
              </a:rPr>
              <a:t>Estudiante: Villanueva Portella Jhon Gesell
Código: 2515250011
Docente: Mg. Félix Erick Tamayo De La Cruz
Semestre: 2026-B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121409"/>
            <a:ext cx="3383280" cy="3502151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endParaRPr sz="1250" b="0" dirty="0">
              <a:solidFill>
                <a:srgbClr val="263238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F86AF9E-165C-9DDF-69CF-9398FA3D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292" y="2443734"/>
            <a:ext cx="20859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 dirty="0">
                <a:solidFill>
                  <a:srgbClr val="005596"/>
                </a:solidFill>
                <a:latin typeface="Aptos Display"/>
              </a:rPr>
              <a:t>Programa de la presentación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Secuencia didáctica para comprender, representar y aplicar el MER.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6323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2588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l"/>
            <a:r>
              <a:rPr sz="1500" b="1">
                <a:solidFill>
                  <a:srgbClr val="005596"/>
                </a:solidFill>
                <a:latin typeface="Aptos"/>
              </a:rPr>
              <a:t>Introducción al 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618488"/>
            <a:ext cx="86868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0" dirty="0">
                <a:solidFill>
                  <a:srgbClr val="263238"/>
                </a:solidFill>
                <a:latin typeface="Aptos"/>
              </a:rPr>
              <a:t>Finalidad conceptual en el diseño de bases de datos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194560"/>
            <a:ext cx="50292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26323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19456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l"/>
            <a:r>
              <a:rPr sz="1500" b="1">
                <a:solidFill>
                  <a:srgbClr val="005596"/>
                </a:solidFill>
                <a:latin typeface="Aptos"/>
              </a:rPr>
              <a:t>Elementos principales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87168"/>
            <a:ext cx="86868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0" dirty="0">
                <a:solidFill>
                  <a:srgbClr val="263238"/>
                </a:solidFill>
                <a:latin typeface="Aptos"/>
              </a:rPr>
              <a:t>Entidades, atributos, relaciones y claves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063239"/>
            <a:ext cx="50292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63238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63239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l"/>
            <a:r>
              <a:rPr sz="1500" b="1">
                <a:solidFill>
                  <a:srgbClr val="005596"/>
                </a:solidFill>
                <a:latin typeface="Aptos"/>
              </a:rPr>
              <a:t>Restricciones del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55847"/>
            <a:ext cx="86868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Cardinalidad, participación y grado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31920"/>
            <a:ext cx="50292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63238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3192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l"/>
            <a:r>
              <a:rPr sz="1500" b="1">
                <a:solidFill>
                  <a:srgbClr val="005596"/>
                </a:solidFill>
                <a:latin typeface="Aptos"/>
              </a:rPr>
              <a:t>Notación ER y MER extendido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24528"/>
            <a:ext cx="86868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Símbolos, especialización, herencia y agregación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0292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63238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0060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l"/>
            <a:r>
              <a:rPr sz="1500" b="1" dirty="0">
                <a:solidFill>
                  <a:srgbClr val="005596"/>
                </a:solidFill>
                <a:latin typeface="Aptos"/>
              </a:rPr>
              <a:t>Caso práctico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93208"/>
            <a:ext cx="86868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Sistema de matrícula universitaria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1. Introducción al Modelo 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MER representa conceptualmente los datos antes de transformarlos en tablas.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  <p:pic>
        <p:nvPicPr>
          <p:cNvPr id="13" name="Picture 12" descr="01_Flujo_Modelado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10" y="1417320"/>
            <a:ext cx="8537659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2. Conceptos básicos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Entidad, atributo y relación son los componentes mínimos del Modelo 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4</a:t>
            </a:r>
          </a:p>
        </p:txBody>
      </p:sp>
      <p:pic>
        <p:nvPicPr>
          <p:cNvPr id="13" name="Picture 12" descr="02_Entidad_Atributo_Relac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22" y="1280160"/>
            <a:ext cx="91133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3. Tipos de entidades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Una entidad fuerte se identifica por sí misma; una entidad débil depende de otra.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5</a:t>
            </a:r>
          </a:p>
        </p:txBody>
      </p:sp>
      <p:pic>
        <p:nvPicPr>
          <p:cNvPr id="13" name="Picture 12" descr="03_Entidad_Fuerte_Debil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09" y="1325880"/>
            <a:ext cx="93033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4. Tipos de atributos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Los atributos describen propiedades de una entidad.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6</a:t>
            </a:r>
          </a:p>
        </p:txBody>
      </p:sp>
      <p:pic>
        <p:nvPicPr>
          <p:cNvPr id="13" name="Picture 12" descr="04_Tipos_Atributo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018" y="1298448"/>
            <a:ext cx="862092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5. Claves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Las claves permiten identificar registros y relacionar datos entre estructuras.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234440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00" b="1">
                <a:solidFill>
                  <a:srgbClr val="005596"/>
                </a:solidFill>
                <a:latin typeface="Aptos"/>
              </a:rPr>
              <a:t>Modelo conceptual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4846320" cy="7315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ptos"/>
              </a:rPr>
              <a:t>Clave primaria seleccionada: codigo_alumno
Claves candidatas: codigo_alumno, dni, correo_institucional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234440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00" b="1">
                <a:solidFill>
                  <a:srgbClr val="005596"/>
                </a:solidFill>
                <a:latin typeface="Aptos"/>
              </a:rPr>
              <a:t>Modelo relacional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965960"/>
            <a:ext cx="320040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CARRERA
PK id_carrera
nombre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703320"/>
            <a:ext cx="3200400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ALUMNO
PK codigo_alumno
nombres
FK id_carrera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549640" y="3108960"/>
            <a:ext cx="0" cy="594360"/>
          </a:xfrm>
          <a:prstGeom prst="line">
            <a:avLst/>
          </a:prstGeom>
          <a:ln w="13970">
            <a:solidFill>
              <a:srgbClr val="005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0" y="5486400"/>
            <a:ext cx="3931920" cy="530352"/>
          </a:xfrm>
          <a:prstGeom prst="roundRect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019" b="0">
                <a:solidFill>
                  <a:srgbClr val="263238"/>
                </a:solidFill>
                <a:latin typeface="Aptos"/>
              </a:rPr>
              <a:t>La clave foránea se materializa al transformar las relaciones del modelo conceptual al esquema relacional.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93DA61-81F3-FB54-F12A-37692E80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2" y="1441630"/>
            <a:ext cx="5792008" cy="3267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6. Relaciones y grado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grado indica cuántos tipos de entidades participan en una relación.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8</a:t>
            </a:r>
          </a:p>
        </p:txBody>
      </p:sp>
      <p:pic>
        <p:nvPicPr>
          <p:cNvPr id="13" name="Picture 12" descr="06_Grado_Relacione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236" y="1234440"/>
            <a:ext cx="895448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7. Cardinalidad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Define cuántas ocurrencias de una entidad pueden asociarse con otra.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9</a:t>
            </a:r>
          </a:p>
        </p:txBody>
      </p:sp>
      <p:pic>
        <p:nvPicPr>
          <p:cNvPr id="13" name="Picture 12" descr="07_Cardinalidade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90" y="1234440"/>
            <a:ext cx="8637258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8. Participación de una entidad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 participación puede ser total u opcional según la regla de negocio.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pic>
        <p:nvPicPr>
          <p:cNvPr id="13" name="Picture 12" descr="08_Participac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31" y="1234440"/>
            <a:ext cx="8896297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9. Notación del Modelo 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 notación permite leer el diagrama de forma uniforme.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pic>
        <p:nvPicPr>
          <p:cNvPr id="13" name="Picture 12" descr="09_Notacion_MER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52" y="1234440"/>
            <a:ext cx="977353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10. Modelo ER Extendido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Permite representar abstracciones más complejas que el MER básico.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48840"/>
            <a:ext cx="27432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19" b="0">
                <a:solidFill>
                  <a:srgbClr val="263238"/>
                </a:solidFill>
                <a:latin typeface="Aptos"/>
              </a:rPr>
              <a:t>Generalización: reúne características comunes.
Especialización: define subtipos particulares.
Herencia: los subtipos reciben atributos del supertipo.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298448"/>
            <a:ext cx="2377440" cy="960120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PERSONA
id_persona
nombres
apellidos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1335024"/>
            <a:ext cx="2304288" cy="886968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58568"/>
            <a:ext cx="0" cy="57607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>
            <a:off x="5687568" y="2834640"/>
            <a:ext cx="822960" cy="685800"/>
          </a:xfrm>
          <a:prstGeom prst="triangle">
            <a:avLst/>
          </a:prstGeom>
          <a:solidFill>
            <a:srgbClr val="FFFFFF"/>
          </a:solidFill>
          <a:ln w="1524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06440" y="3044952"/>
            <a:ext cx="59436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C9252C"/>
                </a:solidFill>
                <a:latin typeface="Aptos"/>
              </a:rPr>
              <a:t>ISA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749039" y="3520440"/>
            <a:ext cx="2331721" cy="73152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520440"/>
            <a:ext cx="2240280" cy="73152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788920" y="4251960"/>
            <a:ext cx="1920240" cy="749808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ALUMNO
codigo_alumno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4288536"/>
            <a:ext cx="1847088" cy="676656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4251960"/>
            <a:ext cx="1920240" cy="749808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DOCENTE
codigo_docente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1775" y="4288536"/>
            <a:ext cx="1847088" cy="676656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063240" y="5596128"/>
            <a:ext cx="612648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ALUMNO y DOCENTE heredan los atributos comunes definidos en PERSONA.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11. Agregación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 agregación permite tratar una relación como una unidad de nivel superior.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pic>
        <p:nvPicPr>
          <p:cNvPr id="13" name="Picture 12" descr="11_Agregac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687" y="1234440"/>
            <a:ext cx="795958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12. Caso práctico: sistema de matrícula universitaria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Antes del diagrama se identifican entidades, atributos y reglas de negocio.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508760"/>
            <a:ext cx="242316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ALUMNO
codigo_alumno
nombres
correo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1508760"/>
            <a:ext cx="242316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ASIGNATURA
codigo_asignatura
nombre
créditos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242316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DOCENTE
codigo_docente
nombres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508760"/>
            <a:ext cx="242316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>
                <a:solidFill>
                  <a:srgbClr val="263238"/>
                </a:solidFill>
                <a:latin typeface="Aptos"/>
              </a:rPr>
              <a:t>SECCIÓN
codigo_seccion
periodo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00" b="1">
                <a:solidFill>
                  <a:srgbClr val="005596"/>
                </a:solidFill>
                <a:latin typeface="Aptos"/>
              </a:rPr>
              <a:t>Reglas de negocio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9875520" cy="475488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1. Un alumno puede matricularse en varias secciones.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70832"/>
            <a:ext cx="987552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2. Una sección corresponde a una asignatura.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38344"/>
            <a:ext cx="9875520" cy="475488"/>
          </a:xfrm>
          <a:prstGeom prst="roundRect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ptos"/>
              </a:rPr>
              <a:t>3. Un docente puede enseñar una o varias secciones.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13. Diagrama ER: sistema de matrícula universitaria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Ejemplo integrador con entidades, atributos principales, relaciones y cardinalidades.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3035808"/>
            <a:ext cx="612648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90288" y="3035808"/>
            <a:ext cx="667512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172200" y="2423160"/>
            <a:ext cx="0" cy="246888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172200" y="2121408"/>
            <a:ext cx="1737360" cy="30175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72200" y="3401568"/>
            <a:ext cx="0" cy="301752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3703320"/>
            <a:ext cx="1737360" cy="274319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2960" y="2514600"/>
            <a:ext cx="1965960" cy="1051560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ALUMNO
PK codigo_alumno
nombres
correo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2551176"/>
            <a:ext cx="1892807" cy="978407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/>
          <p:cNvSpPr/>
          <p:nvPr/>
        </p:nvSpPr>
        <p:spPr>
          <a:xfrm>
            <a:off x="3401568" y="2743200"/>
            <a:ext cx="1188720" cy="621792"/>
          </a:xfrm>
          <a:prstGeom prst="diamond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 fontScale="85000" lnSpcReduction="20000"/>
          </a:bodyPr>
          <a:lstStyle/>
          <a:p>
            <a:pPr algn="ctr"/>
            <a:r>
              <a:rPr sz="980" b="1">
                <a:solidFill>
                  <a:srgbClr val="263238"/>
                </a:solidFill>
                <a:latin typeface="Aptos"/>
              </a:rPr>
              <a:t>SE_MATRICULA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514600"/>
            <a:ext cx="1874519" cy="1051560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SECCIÓN
PK codigo_seccion
periodo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4376" y="2551176"/>
            <a:ext cx="1801367" cy="978407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iamond 23"/>
          <p:cNvSpPr/>
          <p:nvPr/>
        </p:nvSpPr>
        <p:spPr>
          <a:xfrm>
            <a:off x="7909560" y="1810512"/>
            <a:ext cx="1097280" cy="621792"/>
          </a:xfrm>
          <a:prstGeom prst="diamond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050" b="1">
                <a:solidFill>
                  <a:srgbClr val="263238"/>
                </a:solidFill>
                <a:latin typeface="Aptos"/>
              </a:rPr>
              <a:t>TIENE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1508760"/>
            <a:ext cx="2011680" cy="1234440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ASIGNATURA
PK codigo_asignatura
nombre
créditos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5" y="1545336"/>
            <a:ext cx="1938528" cy="1161288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iamond 26"/>
          <p:cNvSpPr/>
          <p:nvPr/>
        </p:nvSpPr>
        <p:spPr>
          <a:xfrm>
            <a:off x="7909560" y="3675887"/>
            <a:ext cx="1097280" cy="621792"/>
          </a:xfrm>
          <a:prstGeom prst="diamond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 fontScale="85000" lnSpcReduction="10000"/>
          </a:bodyPr>
          <a:lstStyle/>
          <a:p>
            <a:pPr algn="ctr"/>
            <a:r>
              <a:rPr sz="1050" b="1">
                <a:solidFill>
                  <a:srgbClr val="263238"/>
                </a:solidFill>
                <a:latin typeface="Aptos"/>
              </a:rPr>
              <a:t>ENSEÑA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611880"/>
            <a:ext cx="2011680" cy="1051560"/>
          </a:xfrm>
          <a:prstGeom prst="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"/>
              </a:rPr>
              <a:t>DOCENTE
PK codigo_docente
nombres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63455" y="3648456"/>
            <a:ext cx="1938528" cy="978407"/>
          </a:xfrm>
          <a:prstGeom prst="rect">
            <a:avLst/>
          </a:prstGeom>
          <a:noFill/>
          <a:ln w="9525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44368" y="2770632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770632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2212848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664208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4160520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407408"/>
            <a:ext cx="3200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1050" b="1">
                <a:solidFill>
                  <a:srgbClr val="C9252C"/>
                </a:solidFill>
                <a:latin typeface="Aptos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349240"/>
            <a:ext cx="987552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080" b="0">
                <a:solidFill>
                  <a:srgbClr val="263238"/>
                </a:solidFill>
                <a:latin typeface="Aptos"/>
              </a:rPr>
              <a:t>Lectura del modelo: un alumno puede matricularse en muchas secciones; una sección corresponde a una asignatura; y un docente puede enseñar varias secciones.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14. Buenas prácticas y conclusiones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MER mejora la comunicación entre usuarios, analistas y diseñadores de bases de datos.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pic>
        <p:nvPicPr>
          <p:cNvPr id="13" name="Picture 12" descr="14_Buenas_Practica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16" y="1234440"/>
            <a:ext cx="8664926" cy="4297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97280" y="5715000"/>
            <a:ext cx="996696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050" b="0">
                <a:solidFill>
                  <a:srgbClr val="263238"/>
                </a:solidFill>
                <a:latin typeface="Aptos"/>
              </a:rPr>
              <a:t>Conclusión: el MER facilita la comprensión del dominio, reduce ambigüedades del análisis y sirve de base para transformar el diseño conceptual en un modelo relacional implementable.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292608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005596"/>
                </a:solidFill>
                <a:latin typeface="Aptos Display"/>
              </a:rPr>
              <a:t>Fuentes de consulta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41248"/>
            <a:ext cx="1828800" cy="32004"/>
          </a:xfrm>
          <a:prstGeom prst="rect">
            <a:avLst/>
          </a:prstGeom>
          <a:solidFill>
            <a:srgbClr val="C9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881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Referencias básicas para sustentar los conceptos utilizados.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73952"/>
            <a:ext cx="10972800" cy="0"/>
          </a:xfrm>
          <a:prstGeom prst="line">
            <a:avLst/>
          </a:prstGeom>
          <a:ln w="889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53796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ptos"/>
              </a:rPr>
              <a:t>Base de Datos I · Modelo Entidad-Relación · UNAC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325880"/>
            <a:ext cx="1024128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60" b="0">
                <a:solidFill>
                  <a:srgbClr val="263238"/>
                </a:solidFill>
                <a:latin typeface="Aptos"/>
              </a:rPr>
              <a:t>Elmasri, R., &amp; Navathe, S. B. (2007). Fundamentos de sistemas de bases de datos (5.ª ed.). Pearson Educación.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03120"/>
            <a:ext cx="102412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60" b="0">
                <a:solidFill>
                  <a:srgbClr val="263238"/>
                </a:solidFill>
                <a:latin typeface="Aptos"/>
              </a:rPr>
              <a:t>Silberschatz, A., Korth, H. F., &amp; Sudarshan, S. (2002). Fundamentos de bases de datos (4.ª ed.). McGraw-Hill.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880360"/>
            <a:ext cx="10241280" cy="50292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60" b="0">
                <a:solidFill>
                  <a:srgbClr val="263238"/>
                </a:solidFill>
                <a:latin typeface="Aptos"/>
              </a:rPr>
              <a:t>Coronel, C., Morris, S., &amp; Rob, P. (2022). Bases de datos: diseño, implementación y administración. Cengage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57600"/>
            <a:ext cx="102412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l"/>
            <a:r>
              <a:rPr sz="1060" b="0">
                <a:solidFill>
                  <a:srgbClr val="263238"/>
                </a:solidFill>
                <a:latin typeface="Aptos"/>
              </a:rPr>
              <a:t>Sílabo de Base de Datos I (ISEE302), semestre académico 2026-B, Escuela Profesional de Ingeniería de Sistemas, UNAC.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5669280"/>
            <a:ext cx="7863840" cy="502920"/>
          </a:xfrm>
          <a:prstGeom prst="roundRect">
            <a:avLst/>
          </a:prstGeom>
          <a:solidFill>
            <a:srgbClr val="FBEAEC"/>
          </a:solidFill>
          <a:ln w="13970">
            <a:solidFill>
              <a:srgbClr val="C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>
            <a:normAutofit/>
          </a:bodyPr>
          <a:lstStyle/>
          <a:p>
            <a:pPr algn="ctr"/>
            <a:r>
              <a:rPr sz="1100" b="0" dirty="0">
                <a:solidFill>
                  <a:srgbClr val="263238"/>
                </a:solidFill>
                <a:latin typeface="Aptos"/>
              </a:rPr>
              <a:t>Gracias por su tiempo.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9">
      <a:dk1>
        <a:srgbClr val="36393B"/>
      </a:dk1>
      <a:lt1>
        <a:srgbClr val="FFFFFF"/>
      </a:lt1>
      <a:dk2>
        <a:srgbClr val="3AEFCC"/>
      </a:dk2>
      <a:lt2>
        <a:srgbClr val="E7E4E6"/>
      </a:lt2>
      <a:accent1>
        <a:srgbClr val="4A5EE6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E62F0"/>
      </a:hlink>
      <a:folHlink>
        <a:srgbClr val="FC4C00"/>
      </a:folHlink>
    </a:clrScheme>
    <a:fontScheme name="Custom 9">
      <a:majorFont>
        <a:latin typeface="Arial Black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TM34357351</Template>
  <TotalTime>7</TotalTime>
  <Words>929</Words>
  <Application>Microsoft Office PowerPoint</Application>
  <PresentationFormat>Panorámica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Avenir Next LT Pro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Jhon Gesell Villanueva Portella</cp:lastModifiedBy>
  <cp:revision>2</cp:revision>
  <dcterms:created xsi:type="dcterms:W3CDTF">2022-06-22T01:10:31Z</dcterms:created>
  <dcterms:modified xsi:type="dcterms:W3CDTF">2026-09-27T04:41:27Z</dcterms:modified>
</cp:coreProperties>
</file>
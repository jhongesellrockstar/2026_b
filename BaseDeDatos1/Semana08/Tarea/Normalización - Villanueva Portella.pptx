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BD8"/>
    <a:srgbClr val="8335E5"/>
    <a:srgbClr val="6B8DE1"/>
    <a:srgbClr val="6C92E1"/>
    <a:srgbClr val="6313DC"/>
    <a:srgbClr val="1E3ADA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52" autoAdjust="0"/>
  </p:normalViewPr>
  <p:slideViewPr>
    <p:cSldViewPr snapToGrid="0" showGuides="1">
      <p:cViewPr varScale="1">
        <p:scale>
          <a:sx n="105" d="100"/>
          <a:sy n="105" d="100"/>
        </p:scale>
        <p:origin x="720" y="96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1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C50FCD7-E903-4CCA-BDD8-EA6517BD6AC3}" type="datetime1">
              <a:rPr lang="es-ES" smtClean="0"/>
              <a:t>21/10/2026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328996C-DF1E-45F4-80FD-86472FDB10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1E6AB-3EDF-4FF1-BFE1-8276D3556ADC}" type="datetime1">
              <a:rPr lang="es-ES" smtClean="0"/>
              <a:pPr/>
              <a:t>21/10/2026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F8F48A-6110-47DA-8521-A1D1FFD22FE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5EAFAD-0323-454D-A07B-C352236E66F2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503874-50A8-4C16-BDBD-00FBAAEE76BE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C59284-1BF0-41CB-85A9-AA2D2D81D7FF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469134-485B-401F-9A44-53A37D7F512D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6FBB1D-105D-43AD-9744-BFB3DBC91509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29DFFD-12DC-408B-AE7F-9902F2A0BF59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FD64FD-489F-43DC-A5B9-338D8FDF47FA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F27FB9-FBB1-408E-BEE3-189E896B8128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6128E7-5D4A-4B38-A7D1-387DBBD9623C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673D42-F926-467F-BEDA-4357FD62976F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B53344-57DB-4CC9-8448-32FBA3E7E1C5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6BD91D5-B9FB-40CF-924A-4CECCC1D0F7C}" type="datetime1">
              <a:rPr lang="es-ES" noProof="0" smtClean="0"/>
              <a:t>21/10/2026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134600" y="45720"/>
            <a:ext cx="1920240" cy="1600200"/>
          </a:xfrm>
          <a:prstGeom prst="ellipse">
            <a:avLst/>
          </a:prstGeom>
          <a:solidFill>
            <a:srgbClr val="755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8800" y="18288"/>
            <a:ext cx="1965960" cy="2057400"/>
          </a:xfrm>
          <a:prstGeom prst="ellipse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51720" y="868680"/>
            <a:ext cx="1965960" cy="1234440"/>
          </a:xfrm>
          <a:prstGeom prst="ellipse">
            <a:avLst/>
          </a:prstGeom>
          <a:solidFill>
            <a:srgbClr val="DD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N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775716"/>
            <a:ext cx="5753100" cy="5753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9844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C4A35"/>
                </a:solidFill>
                <a:latin typeface="Aptos"/>
              </a:defRPr>
            </a:pPr>
            <a:r>
              <a:t>UNIVERSIDAD NACIONAL DEL CALLAO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20240"/>
            <a:ext cx="6400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C4A35"/>
                </a:solidFill>
                <a:latin typeface="Aptos Display"/>
              </a:defRPr>
            </a:pPr>
            <a:r>
              <a:t>NORMALIZACIÓN</a:t>
            </a:r>
            <a:br/>
            <a:r>
              <a:t>DE BASES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62626"/>
                </a:solidFill>
                <a:latin typeface="Aptos"/>
              </a:defRPr>
            </a:pPr>
            <a:r>
              <a:t>Base de Datos I · Unidad 2</a:t>
            </a:r>
          </a:p>
          <a:p>
            <a:pPr>
              <a:spcAft>
                <a:spcPts val="600"/>
              </a:spcAft>
              <a:defRPr sz="1350" b="0">
                <a:solidFill>
                  <a:srgbClr val="646464"/>
                </a:solidFill>
                <a:latin typeface="Aptos"/>
              </a:defRPr>
            </a:pPr>
            <a:r>
              <a:t>Jhon Gesell Villanueva Portella · Código 2515250011</a:t>
            </a:r>
          </a:p>
          <a:p>
            <a:pPr>
              <a:spcAft>
                <a:spcPts val="600"/>
              </a:spcAft>
              <a:defRPr sz="1350" b="0">
                <a:solidFill>
                  <a:srgbClr val="646464"/>
                </a:solidFill>
                <a:latin typeface="Aptos"/>
              </a:defRPr>
            </a:pPr>
            <a:r>
              <a:t>Ingeniería de Sistemas · 2026-B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806440"/>
            <a:ext cx="2377440" cy="347472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Teoría y ejemplos hasta 4FN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7863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C4A35"/>
                </a:solidFill>
                <a:latin typeface="Aptos Display"/>
              </a:defRPr>
            </a:pPr>
            <a:r>
              <a:t>¿Qué significa normalizar?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78992"/>
            <a:ext cx="9418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Aptos"/>
              </a:defRPr>
            </a:pPr>
            <a:r>
              <a:t>Organizar los datos para que cada hecho se almacene donde corresponde, con el menor nivel posible de redundancia.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" y="438912"/>
            <a:ext cx="201168" cy="201168"/>
          </a:xfrm>
          <a:prstGeom prst="roundRect">
            <a:avLst/>
          </a:prstGeom>
          <a:solidFill>
            <a:srgbClr val="B08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4720" cy="3566160"/>
          </a:xfrm>
          <a:prstGeom prst="roundRect">
            <a:avLst/>
          </a:prstGeom>
          <a:solidFill>
            <a:srgbClr val="EAF1E8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Idea central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Partimos de una tabla que puede repetir datos o mezclar varios conceptos.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Analizamos claves y dependencias entre atributos.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Separamos la información solo cuando una dependencia lo justifica.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74720" cy="3566160"/>
          </a:xfrm>
          <a:prstGeom prst="roundRect">
            <a:avLst/>
          </a:prstGeom>
          <a:solidFill>
            <a:srgbClr val="F7E8E8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¿Qué buscamos evitar?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Actualizaciones repetidas del mismo dato.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Pérdida de información al eliminar una fila.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Datos provisionales o nulos para poder registrar algo nuevo.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691640"/>
            <a:ext cx="3474720" cy="3566160"/>
          </a:xfrm>
          <a:prstGeom prst="roundRect">
            <a:avLst/>
          </a:prstGeom>
          <a:solidFill>
            <a:srgbClr val="F2EDE3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Criterio práctico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La normalización no consiste en “crear muchas tablas”.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El objetivo es representar correctamente las dependencias de los datos.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En este trabajo se revisa 1FN, 2FN, 3FN y una introducción a 4FN.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Ejemplo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6" name="Picture 5" descr="Figura_01_Problema_de_Redund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62" y="608988"/>
            <a:ext cx="9838874" cy="5837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Concepto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6" name="Picture 5" descr="Figura_02_Dependencia_Fun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64" y="438912"/>
            <a:ext cx="10956071" cy="6007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7863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C4A35"/>
                </a:solidFill>
                <a:latin typeface="Aptos Display"/>
              </a:defRPr>
            </a:pPr>
            <a:r>
              <a:t>1FN: 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78992"/>
            <a:ext cx="9418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Aptos"/>
              </a:defRPr>
            </a:pPr>
            <a:r>
              <a:t>Primera Forma Normal: cada atributo debe almacenar un valor atómico.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" y="438912"/>
            <a:ext cx="201168" cy="201168"/>
          </a:xfrm>
          <a:prstGeom prst="roundRect">
            <a:avLst/>
          </a:prstGeom>
          <a:solidFill>
            <a:srgbClr val="B08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1FN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5074920" cy="3520440"/>
          </a:xfrm>
          <a:prstGeom prst="roundRect">
            <a:avLst/>
          </a:prstGeom>
          <a:solidFill>
            <a:srgbClr val="F7E8E8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Condición que debe cumplirse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No debe haber listas, grupos repetitivos ni varios valores dentro de una misma celda.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Cada fila debe representar una ocurrencia identificable.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1FN es el punto de partida para aplicar las formas normales posteriores.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64208"/>
            <a:ext cx="54406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19456" rIns="256032" rtlCol="0" anchor="ctr"/>
          <a:lstStyle/>
          <a:p>
            <a:pPr algn="ctr">
              <a:defRPr sz="1800" b="1">
                <a:solidFill>
                  <a:srgbClr val="3C4A35"/>
                </a:solidFill>
                <a:latin typeface="Aptos"/>
              </a:defRPr>
            </a:pPr>
            <a:r>
              <a:t>Ejemplo breve</a:t>
            </a:r>
          </a:p>
          <a:p>
            <a:pPr>
              <a:spcBef>
                <a:spcPts val="1200"/>
              </a:spcBef>
              <a:defRPr sz="1550" b="1">
                <a:solidFill>
                  <a:srgbClr val="262626"/>
                </a:solidFill>
                <a:latin typeface="Aptos"/>
              </a:defRPr>
            </a:pPr>
            <a:r>
              <a:t>Matrícula de cursos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Antes: CursosInscritos = “BD1, Cálculo, Física”.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Después: cada curso ocupa una fila distinta para el alumno.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El dato deja de ser una lista y pasa a ser atómico.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5468112"/>
            <a:ext cx="5715000" cy="438912"/>
          </a:xfrm>
          <a:prstGeom prst="roundRect">
            <a:avLst/>
          </a:prstGeom>
          <a:solidFill>
            <a:srgbClr val="EAF1E8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C4A35"/>
                </a:solidFill>
                <a:latin typeface="Aptos"/>
              </a:defRPr>
            </a:pPr>
            <a:r>
              <a:t>En la siguiente diapositiva se muestra el ejemplo desarrollado paso a paso.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Ejemplo 1FN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6" name="Picture 5" descr="Figura_03_1FN_Antes_Desp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08" y="438912"/>
            <a:ext cx="9648582" cy="6007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7863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C4A35"/>
                </a:solidFill>
                <a:latin typeface="Aptos Display"/>
              </a:defRPr>
            </a:pPr>
            <a:r>
              <a:t>2FN: 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78992"/>
            <a:ext cx="9418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Aptos"/>
              </a:defRPr>
            </a:pPr>
            <a:r>
              <a:t>Segunda Forma Normal: debe estar en 1FN y eliminar dependencias parciales.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" y="438912"/>
            <a:ext cx="201168" cy="201168"/>
          </a:xfrm>
          <a:prstGeom prst="roundRect">
            <a:avLst/>
          </a:prstGeom>
          <a:solidFill>
            <a:srgbClr val="B08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2FN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5074920" cy="3520440"/>
          </a:xfrm>
          <a:prstGeom prst="roundRect">
            <a:avLst/>
          </a:prstGeom>
          <a:solidFill>
            <a:srgbClr val="F2EDE3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Condición que debe cumplirse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Se aplica especialmente cuando la clave primaria es compuesta.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Todo atributo no clave debe depender de la clave completa, no solo de una parte.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Los datos que dependen solo de CodAlumno o solo de CodCurso se separan.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64208"/>
            <a:ext cx="54406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19456" rIns="256032" rtlCol="0" anchor="ctr"/>
          <a:lstStyle/>
          <a:p>
            <a:pPr algn="ctr">
              <a:defRPr sz="1800" b="1">
                <a:solidFill>
                  <a:srgbClr val="3C4A35"/>
                </a:solidFill>
                <a:latin typeface="Aptos"/>
              </a:defRPr>
            </a:pPr>
            <a:r>
              <a:t>Ejemplo breve</a:t>
            </a:r>
          </a:p>
          <a:p>
            <a:pPr>
              <a:spcBef>
                <a:spcPts val="1200"/>
              </a:spcBef>
              <a:defRPr sz="1550" b="1">
                <a:solidFill>
                  <a:srgbClr val="262626"/>
                </a:solidFill>
                <a:latin typeface="Aptos"/>
              </a:defRPr>
            </a:pPr>
            <a:r>
              <a:t>Relación MATRÍCULA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Clave compuesta: (CodAlumno, CodCurso).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NombreAlumno depende solo de CodAlumno.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NombreCurso depende solo de CodCurso; Nota sí depende de la clave completa.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5468112"/>
            <a:ext cx="5715000" cy="438912"/>
          </a:xfrm>
          <a:prstGeom prst="roundRect">
            <a:avLst/>
          </a:prstGeom>
          <a:solidFill>
            <a:srgbClr val="EAF1E8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C4A35"/>
                </a:solidFill>
                <a:latin typeface="Aptos"/>
              </a:defRPr>
            </a:pPr>
            <a:r>
              <a:t>En la siguiente diapositiva se muestra el ejemplo desarrollado paso a paso.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Ejemplo 2FN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6" name="Picture 5" descr="Figura_04_2FN_Descompos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55" y="438912"/>
            <a:ext cx="9632888" cy="6007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7863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C4A35"/>
                </a:solidFill>
                <a:latin typeface="Aptos Display"/>
              </a:defRPr>
            </a:pPr>
            <a:r>
              <a:t>3FN: 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78992"/>
            <a:ext cx="9418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Aptos"/>
              </a:defRPr>
            </a:pPr>
            <a:r>
              <a:t>Tercera Forma Normal: debe estar en 2FN y eliminar dependencias transitivas.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" y="438912"/>
            <a:ext cx="201168" cy="201168"/>
          </a:xfrm>
          <a:prstGeom prst="roundRect">
            <a:avLst/>
          </a:prstGeom>
          <a:solidFill>
            <a:srgbClr val="B08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3FN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5074920" cy="3520440"/>
          </a:xfrm>
          <a:prstGeom prst="roundRect">
            <a:avLst/>
          </a:prstGeom>
          <a:solidFill>
            <a:srgbClr val="EAF1E8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Condición que debe cumplirse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Un atributo no clave no debe depender de otro atributo no clave.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Los atributos descriptivos de otra entidad se trasladan a su propia tabla.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La separación reduce cambios repetidos y mejora la consistencia.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64208"/>
            <a:ext cx="54406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19456" rIns="256032" rtlCol="0" anchor="ctr"/>
          <a:lstStyle/>
          <a:p>
            <a:pPr algn="ctr">
              <a:defRPr sz="1800" b="1">
                <a:solidFill>
                  <a:srgbClr val="3C4A35"/>
                </a:solidFill>
                <a:latin typeface="Aptos"/>
              </a:defRPr>
            </a:pPr>
            <a:r>
              <a:t>Ejemplo breve</a:t>
            </a:r>
          </a:p>
          <a:p>
            <a:pPr>
              <a:spcBef>
                <a:spcPts val="1200"/>
              </a:spcBef>
              <a:defRPr sz="1550" b="1">
                <a:solidFill>
                  <a:srgbClr val="262626"/>
                </a:solidFill>
                <a:latin typeface="Aptos"/>
              </a:defRPr>
            </a:pPr>
            <a:r>
              <a:t>Empleado y departamento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IdEmpleado → IdDepartamento.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IdDepartamento → NombreDepartamento.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Por tanto, NombreDepartamento depende transitivamente de IdEmpleado y se separa.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5468112"/>
            <a:ext cx="5715000" cy="438912"/>
          </a:xfrm>
          <a:prstGeom prst="roundRect">
            <a:avLst/>
          </a:prstGeom>
          <a:solidFill>
            <a:srgbClr val="EAF1E8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C4A35"/>
                </a:solidFill>
                <a:latin typeface="Aptos"/>
              </a:defRPr>
            </a:pPr>
            <a:r>
              <a:t>En la siguiente diapositiva se muestra el ejemplo desarrollado paso a paso.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Ejemplo 3FN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Figura_05_3FN_Dependencia_Transi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80" y="438912"/>
            <a:ext cx="11508439" cy="6007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7863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C4A35"/>
                </a:solidFill>
                <a:latin typeface="Aptos Display"/>
              </a:defRPr>
            </a:pPr>
            <a:r>
              <a:t>4FN: 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78992"/>
            <a:ext cx="9418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Aptos"/>
              </a:defRPr>
            </a:pPr>
            <a:r>
              <a:t>Cuarta Forma Normal: elimina dependencias multivaluadas independientes.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" y="438912"/>
            <a:ext cx="201168" cy="201168"/>
          </a:xfrm>
          <a:prstGeom prst="roundRect">
            <a:avLst/>
          </a:prstGeom>
          <a:solidFill>
            <a:srgbClr val="B08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4FN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5074920" cy="3520440"/>
          </a:xfrm>
          <a:prstGeom prst="roundRect">
            <a:avLst/>
          </a:prstGeom>
          <a:solidFill>
            <a:srgbClr val="EBE4EF"/>
          </a:solidFill>
          <a:ln>
            <a:solidFill>
              <a:srgbClr val="C4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201168" rtlCol="0" anchor="ctr"/>
          <a:lstStyle/>
          <a:p>
            <a:pPr algn="ctr">
              <a:defRPr sz="1700" b="1">
                <a:solidFill>
                  <a:srgbClr val="3C4A35"/>
                </a:solidFill>
                <a:latin typeface="Aptos"/>
              </a:defRPr>
            </a:pPr>
            <a:r>
              <a:t>Condición que debe cumplirse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Se parte de una relación que ya cumple las formas normales anteriores.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Dos conjuntos de valores independientes para la misma entidad producen combinaciones redundantes.</a:t>
            </a:r>
          </a:p>
          <a:p>
            <a:pPr>
              <a:spcBef>
                <a:spcPts val="7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Cada dependencia multivaluada independiente se representa en una relación separada.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64208"/>
            <a:ext cx="54406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19456" rIns="256032" rtlCol="0" anchor="ctr"/>
          <a:lstStyle/>
          <a:p>
            <a:pPr algn="ctr">
              <a:defRPr sz="1800" b="1">
                <a:solidFill>
                  <a:srgbClr val="3C4A35"/>
                </a:solidFill>
                <a:latin typeface="Aptos"/>
              </a:defRPr>
            </a:pPr>
            <a:r>
              <a:t>Ejemplo breve</a:t>
            </a:r>
          </a:p>
          <a:p>
            <a:pPr>
              <a:spcBef>
                <a:spcPts val="1200"/>
              </a:spcBef>
              <a:defRPr sz="1550" b="1">
                <a:solidFill>
                  <a:srgbClr val="262626"/>
                </a:solidFill>
                <a:latin typeface="Aptos"/>
              </a:defRPr>
            </a:pPr>
            <a:r>
              <a:t>Docente, idiomas y especialidades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Un docente puede manejar varios idiomas.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También puede tener varias especialidades, independientemente de sus idiomas.</a:t>
            </a:r>
          </a:p>
          <a:p>
            <a:pPr>
              <a:spcBef>
                <a:spcPts val="800"/>
              </a:spcBef>
              <a:defRPr sz="1450">
                <a:solidFill>
                  <a:srgbClr val="262626"/>
                </a:solidFill>
                <a:latin typeface="Aptos"/>
              </a:defRPr>
            </a:pPr>
            <a:r>
              <a:t>• Se separan DOCENTE_IDIOMA y DOCENTE_ESPECIALIDAD.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5468112"/>
            <a:ext cx="5715000" cy="438912"/>
          </a:xfrm>
          <a:prstGeom prst="roundRect">
            <a:avLst/>
          </a:prstGeom>
          <a:solidFill>
            <a:srgbClr val="EAF1E8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C4A35"/>
                </a:solidFill>
                <a:latin typeface="Aptos"/>
              </a:defRPr>
            </a:pPr>
            <a:r>
              <a:t>En la siguiente diapositiva se muestra el ejemplo desarrollado paso a paso.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Ejemplo 4FN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6" name="Picture 5" descr="Figura_06_4FN_Dependencias_Multivalu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28" y="438912"/>
            <a:ext cx="9876143" cy="6007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Comparación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6" name="Picture 5" descr="Figura_07_Resumen_Formas_Norm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60348"/>
            <a:ext cx="11679936" cy="57647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Recorrido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6" name="Picture 5" descr="Figura_08_Recorrido_Norm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23340"/>
            <a:ext cx="11679936" cy="44387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17480" y="219456"/>
            <a:ext cx="1325880" cy="310896"/>
          </a:xfrm>
          <a:prstGeom prst="roundRect">
            <a:avLst/>
          </a:prstGeom>
          <a:solidFill>
            <a:srgbClr val="F2EDE3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4A35"/>
                </a:solidFill>
                <a:latin typeface="Aptos"/>
              </a:defRPr>
            </a:pPr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6" name="Picture 5" descr="Figura_09_Conclusiones_Norm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22695"/>
            <a:ext cx="11679936" cy="3640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7863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C4A35"/>
                </a:solidFill>
                <a:latin typeface="Aptos Display"/>
              </a:defRPr>
            </a:pPr>
            <a:r>
              <a:t>Fuentes consultadas y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78992"/>
            <a:ext cx="9418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Aptos"/>
              </a:defRPr>
            </a:pPr>
            <a:r>
              <a:t>Las definiciones y ejemplos se organizaron tomando como referencia la bibliografía del curso y los ejercicios trabajados en clase.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" y="438912"/>
            <a:ext cx="201168" cy="201168"/>
          </a:xfrm>
          <a:prstGeom prst="roundRect">
            <a:avLst/>
          </a:prstGeom>
          <a:solidFill>
            <a:srgbClr val="B08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186160" cy="10972"/>
          </a:xfrm>
          <a:prstGeom prst="rect">
            <a:avLst/>
          </a:prstGeom>
          <a:solidFill>
            <a:srgbClr val="D7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464"/>
                </a:solidFill>
                <a:latin typeface="Aptos"/>
              </a:defRPr>
            </a:pPr>
            <a:r>
              <a:t>Base de Datos I · UNAC · 2026-B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3048" y="6528816"/>
            <a:ext cx="292608" cy="228600"/>
          </a:xfrm>
          <a:prstGeom prst="roundRect">
            <a:avLst/>
          </a:prstGeom>
          <a:solidFill>
            <a:srgbClr val="56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675120" cy="3886200"/>
          </a:xfrm>
          <a:prstGeom prst="roundRect">
            <a:avLst/>
          </a:prstGeom>
          <a:solidFill>
            <a:srgbClr val="F2EDE3"/>
          </a:solidFill>
          <a:ln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tIns="228600" rIns="256032" rtlCol="0" anchor="ctr"/>
          <a:lstStyle/>
          <a:p>
            <a:pPr algn="ctr">
              <a:defRPr sz="1900" b="1">
                <a:solidFill>
                  <a:srgbClr val="3C4A35"/>
                </a:solidFill>
                <a:latin typeface="Aptos"/>
              </a:defRPr>
            </a:pPr>
            <a:r>
              <a:t>Bibliografía</a:t>
            </a:r>
          </a:p>
          <a:p>
            <a:pPr>
              <a:spcBef>
                <a:spcPts val="12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Silberschatz, A.; Korth, H. F.; Sudarshan, S. Fundamentos de Bases de Datos.</a:t>
            </a:r>
          </a:p>
          <a:p>
            <a:pPr>
              <a:spcBef>
                <a:spcPts val="12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Elmasri, R.; Navathe, S. B. Fundamentos de Sistemas de Bases de Datos.</a:t>
            </a:r>
          </a:p>
          <a:p>
            <a:pPr>
              <a:spcBef>
                <a:spcPts val="1200"/>
              </a:spcBef>
              <a:defRPr sz="1500">
                <a:solidFill>
                  <a:srgbClr val="262626"/>
                </a:solidFill>
                <a:latin typeface="Aptos"/>
              </a:defRPr>
            </a:pPr>
            <a:r>
              <a:t>• Material de clase de Base de Datos I — Mg. Félix Erick Tamayo de la Cruz, UNAC, 2026-B.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1874519"/>
            <a:ext cx="3749039" cy="2286000"/>
          </a:xfrm>
          <a:prstGeom prst="roundRect">
            <a:avLst/>
          </a:prstGeom>
          <a:solidFill>
            <a:srgbClr val="EAF1E8"/>
          </a:solidFill>
          <a:ln>
            <a:solidFill>
              <a:srgbClr val="566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28600" rIns="228600" rtlCol="0" anchor="ctr"/>
          <a:lstStyle/>
          <a:p>
            <a:pPr algn="ctr">
              <a:defRPr sz="1800" b="1">
                <a:solidFill>
                  <a:srgbClr val="3C4A35"/>
                </a:solidFill>
                <a:latin typeface="Aptos"/>
              </a:defRPr>
            </a:pPr>
            <a:r>
              <a:t>Idea final</a:t>
            </a:r>
          </a:p>
          <a:p>
            <a:pPr algn="ctr">
              <a:spcBef>
                <a:spcPts val="1400"/>
              </a:spcBef>
              <a:defRPr sz="1600">
                <a:solidFill>
                  <a:srgbClr val="262626"/>
                </a:solidFill>
                <a:latin typeface="Aptos"/>
              </a:defRPr>
            </a:pPr>
            <a:r>
              <a:t>Normalizar ayuda a reducir redundancia y anomalías, pero cada separación debe responder a una dependencia real entre los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4572000"/>
            <a:ext cx="3337560" cy="594360"/>
          </a:xfrm>
          <a:prstGeom prst="roundRect">
            <a:avLst/>
          </a:prstGeom>
          <a:solidFill>
            <a:srgbClr val="EBE4EF"/>
          </a:solidFill>
          <a:ln>
            <a:solidFill>
              <a:srgbClr val="75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755B7F"/>
                </a:solidFill>
                <a:latin typeface="Aptos"/>
              </a:defRPr>
            </a:pPr>
            <a:r>
              <a:t>Normalización = dependencias bien representadas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873</Words>
  <Application>Microsoft Office PowerPoint</Application>
  <PresentationFormat>Panorámica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la oficina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Jhon Gesell Villanueva Portella</cp:lastModifiedBy>
  <cp:revision>4</cp:revision>
  <dcterms:created xsi:type="dcterms:W3CDTF">2026-10-22T03:33:31Z</dcterms:created>
  <dcterms:modified xsi:type="dcterms:W3CDTF">2026-10-22T04:57:47Z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

<file path=[Content_Types].xml><?xml version="1.0" encoding="utf-8"?>
<Types xmlns="http://schemas.openxmlformats.org/package/2006/content-types">
  <Default Extension="bin" ContentType="application/vnd.openxmlformats-officedocument.oleObject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518" r:id="rId2"/>
    <p:sldId id="384" r:id="rId3"/>
    <p:sldId id="406" r:id="rId4"/>
    <p:sldId id="379" r:id="rId5"/>
    <p:sldId id="380" r:id="rId6"/>
    <p:sldId id="292" r:id="rId7"/>
    <p:sldId id="420" r:id="rId8"/>
    <p:sldId id="463" r:id="rId9"/>
    <p:sldId id="422" r:id="rId10"/>
    <p:sldId id="423" r:id="rId11"/>
    <p:sldId id="421" r:id="rId12"/>
    <p:sldId id="443" r:id="rId13"/>
    <p:sldId id="444" r:id="rId14"/>
    <p:sldId id="478" r:id="rId15"/>
    <p:sldId id="479" r:id="rId16"/>
    <p:sldId id="477" r:id="rId17"/>
    <p:sldId id="464" r:id="rId18"/>
    <p:sldId id="465" r:id="rId19"/>
    <p:sldId id="474" r:id="rId20"/>
    <p:sldId id="475" r:id="rId21"/>
    <p:sldId id="476" r:id="rId22"/>
    <p:sldId id="467" r:id="rId23"/>
    <p:sldId id="480" r:id="rId24"/>
    <p:sldId id="481" r:id="rId25"/>
    <p:sldId id="482" r:id="rId26"/>
    <p:sldId id="483" r:id="rId27"/>
    <p:sldId id="484" r:id="rId28"/>
    <p:sldId id="517" r:id="rId29"/>
    <p:sldId id="468" r:id="rId30"/>
    <p:sldId id="487" r:id="rId31"/>
    <p:sldId id="486" r:id="rId32"/>
    <p:sldId id="472" r:id="rId33"/>
    <p:sldId id="456" r:id="rId34"/>
    <p:sldId id="458" r:id="rId35"/>
    <p:sldId id="459" r:id="rId36"/>
    <p:sldId id="440" r:id="rId37"/>
    <p:sldId id="434" r:id="rId38"/>
    <p:sldId id="451" r:id="rId39"/>
    <p:sldId id="437" r:id="rId40"/>
    <p:sldId id="439" r:id="rId41"/>
    <p:sldId id="382" r:id="rId42"/>
    <p:sldId id="280" r:id="rId4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1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888" y="13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772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B76F7C-271B-4E72-8E4F-0BB277D712D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7C470323-F852-4D1E-AAA9-C5FDF143C808}">
      <dgm:prSet custT="1"/>
      <dgm:spPr>
        <a:solidFill>
          <a:srgbClr val="00B0F0">
            <a:alpha val="50000"/>
          </a:srgbClr>
        </a:solidFill>
      </dgm:spPr>
      <dgm:t>
        <a:bodyPr/>
        <a:lstStyle/>
        <a:p>
          <a:pPr rtl="0"/>
          <a:r>
            <a:rPr lang="es-ES" sz="2000" b="1" dirty="0"/>
            <a:t>Contraste</a:t>
          </a:r>
          <a:endParaRPr lang="es-PE" sz="2000" dirty="0"/>
        </a:p>
      </dgm:t>
    </dgm:pt>
    <dgm:pt modelId="{00DE5FEB-8C56-4751-8689-C53C5235471C}" type="parTrans" cxnId="{A060436E-EBCF-426D-9AA5-67494AF57140}">
      <dgm:prSet/>
      <dgm:spPr/>
      <dgm:t>
        <a:bodyPr/>
        <a:lstStyle/>
        <a:p>
          <a:endParaRPr lang="es-PE" sz="2000"/>
        </a:p>
      </dgm:t>
    </dgm:pt>
    <dgm:pt modelId="{914348A8-902D-497F-9907-CD9B63F458F4}" type="sibTrans" cxnId="{A060436E-EBCF-426D-9AA5-67494AF57140}">
      <dgm:prSet/>
      <dgm:spPr/>
      <dgm:t>
        <a:bodyPr/>
        <a:lstStyle/>
        <a:p>
          <a:endParaRPr lang="es-PE" sz="2000"/>
        </a:p>
      </dgm:t>
    </dgm:pt>
    <dgm:pt modelId="{DCF4AC84-F862-40A7-943D-088527BDA373}">
      <dgm:prSet custT="1"/>
      <dgm:spPr>
        <a:solidFill>
          <a:srgbClr val="FF0000">
            <a:alpha val="50000"/>
          </a:srgbClr>
        </a:solidFill>
      </dgm:spPr>
      <dgm:t>
        <a:bodyPr/>
        <a:lstStyle/>
        <a:p>
          <a:pPr rtl="0"/>
          <a:r>
            <a:rPr lang="es-ES" sz="2000" b="1" dirty="0"/>
            <a:t>Revise</a:t>
          </a:r>
          <a:endParaRPr lang="es-PE" sz="2000" dirty="0"/>
        </a:p>
      </dgm:t>
    </dgm:pt>
    <dgm:pt modelId="{0808573E-CE32-40F3-A493-F9FFBD99B288}" type="parTrans" cxnId="{819FD404-52BA-40A4-B044-D12E881395A8}">
      <dgm:prSet/>
      <dgm:spPr/>
      <dgm:t>
        <a:bodyPr/>
        <a:lstStyle/>
        <a:p>
          <a:endParaRPr lang="es-PE" sz="2000"/>
        </a:p>
      </dgm:t>
    </dgm:pt>
    <dgm:pt modelId="{90C60FB2-25C0-45A5-A789-85825F8118E0}" type="sibTrans" cxnId="{819FD404-52BA-40A4-B044-D12E881395A8}">
      <dgm:prSet/>
      <dgm:spPr/>
      <dgm:t>
        <a:bodyPr/>
        <a:lstStyle/>
        <a:p>
          <a:endParaRPr lang="es-PE" sz="2000"/>
        </a:p>
      </dgm:t>
    </dgm:pt>
    <dgm:pt modelId="{AC65135C-2359-45B4-BCA9-E785EBAB6907}">
      <dgm:prSet custT="1"/>
      <dgm:spPr>
        <a:solidFill>
          <a:srgbClr val="FFFF00">
            <a:alpha val="50000"/>
          </a:srgbClr>
        </a:solidFill>
      </dgm:spPr>
      <dgm:t>
        <a:bodyPr/>
        <a:lstStyle/>
        <a:p>
          <a:pPr rtl="0"/>
          <a:r>
            <a:rPr lang="es-ES" sz="2000" b="1" dirty="0"/>
            <a:t>Practique</a:t>
          </a:r>
          <a:endParaRPr lang="es-PE" sz="2000" dirty="0"/>
        </a:p>
      </dgm:t>
    </dgm:pt>
    <dgm:pt modelId="{E027C827-95A0-4A82-A2F9-98B310B29207}" type="parTrans" cxnId="{0B4A0144-7F29-4923-9AE9-DF0CEFF0F609}">
      <dgm:prSet/>
      <dgm:spPr/>
      <dgm:t>
        <a:bodyPr/>
        <a:lstStyle/>
        <a:p>
          <a:endParaRPr lang="es-PE" sz="2000"/>
        </a:p>
      </dgm:t>
    </dgm:pt>
    <dgm:pt modelId="{B1A96F23-438B-4817-90C6-6CEF853CE3D7}" type="sibTrans" cxnId="{0B4A0144-7F29-4923-9AE9-DF0CEFF0F609}">
      <dgm:prSet/>
      <dgm:spPr/>
      <dgm:t>
        <a:bodyPr/>
        <a:lstStyle/>
        <a:p>
          <a:endParaRPr lang="es-PE" sz="2000"/>
        </a:p>
      </dgm:t>
    </dgm:pt>
    <dgm:pt modelId="{7416D1A2-30A4-4C03-B863-2983C670386D}" type="pres">
      <dgm:prSet presAssocID="{CCB76F7C-271B-4E72-8E4F-0BB277D712D4}" presName="compositeShape" presStyleCnt="0">
        <dgm:presLayoutVars>
          <dgm:chMax val="7"/>
          <dgm:dir/>
          <dgm:resizeHandles val="exact"/>
        </dgm:presLayoutVars>
      </dgm:prSet>
      <dgm:spPr/>
    </dgm:pt>
    <dgm:pt modelId="{2F04D462-7B9A-4F29-9073-E37133CFB47F}" type="pres">
      <dgm:prSet presAssocID="{7C470323-F852-4D1E-AAA9-C5FDF143C808}" presName="circ1" presStyleLbl="vennNode1" presStyleIdx="0" presStyleCnt="3"/>
      <dgm:spPr/>
    </dgm:pt>
    <dgm:pt modelId="{698A5370-77C7-46B0-A702-15BA0E7DFB3C}" type="pres">
      <dgm:prSet presAssocID="{7C470323-F852-4D1E-AAA9-C5FDF143C80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F6FE4A-C64F-4BFF-9C41-7AFEB812D949}" type="pres">
      <dgm:prSet presAssocID="{DCF4AC84-F862-40A7-943D-088527BDA373}" presName="circ2" presStyleLbl="vennNode1" presStyleIdx="1" presStyleCnt="3" custLinFactNeighborX="2296"/>
      <dgm:spPr/>
    </dgm:pt>
    <dgm:pt modelId="{142C0CC3-F53E-4A2E-97D9-1100684CB31F}" type="pres">
      <dgm:prSet presAssocID="{DCF4AC84-F862-40A7-943D-088527BDA37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CD12DBA-5B7A-4A3D-86C4-1A33937EC5C0}" type="pres">
      <dgm:prSet presAssocID="{AC65135C-2359-45B4-BCA9-E785EBAB6907}" presName="circ3" presStyleLbl="vennNode1" presStyleIdx="2" presStyleCnt="3" custLinFactNeighborX="-1968"/>
      <dgm:spPr/>
    </dgm:pt>
    <dgm:pt modelId="{A3843677-C28A-4A30-8C25-B58D237E2D4F}" type="pres">
      <dgm:prSet presAssocID="{AC65135C-2359-45B4-BCA9-E785EBAB690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19FD404-52BA-40A4-B044-D12E881395A8}" srcId="{CCB76F7C-271B-4E72-8E4F-0BB277D712D4}" destId="{DCF4AC84-F862-40A7-943D-088527BDA373}" srcOrd="1" destOrd="0" parTransId="{0808573E-CE32-40F3-A493-F9FFBD99B288}" sibTransId="{90C60FB2-25C0-45A5-A789-85825F8118E0}"/>
    <dgm:cxn modelId="{42EB3E0B-E30B-46F9-8872-D0789CE3874F}" type="presOf" srcId="{CCB76F7C-271B-4E72-8E4F-0BB277D712D4}" destId="{7416D1A2-30A4-4C03-B863-2983C670386D}" srcOrd="0" destOrd="0" presId="urn:microsoft.com/office/officeart/2005/8/layout/venn1"/>
    <dgm:cxn modelId="{B42EB018-18B5-4C63-BD69-D8D96C310433}" type="presOf" srcId="{DCF4AC84-F862-40A7-943D-088527BDA373}" destId="{CAF6FE4A-C64F-4BFF-9C41-7AFEB812D949}" srcOrd="0" destOrd="0" presId="urn:microsoft.com/office/officeart/2005/8/layout/venn1"/>
    <dgm:cxn modelId="{670C2D1F-5D6C-4619-A7DD-215F2C841083}" type="presOf" srcId="{7C470323-F852-4D1E-AAA9-C5FDF143C808}" destId="{698A5370-77C7-46B0-A702-15BA0E7DFB3C}" srcOrd="1" destOrd="0" presId="urn:microsoft.com/office/officeart/2005/8/layout/venn1"/>
    <dgm:cxn modelId="{0B4A0144-7F29-4923-9AE9-DF0CEFF0F609}" srcId="{CCB76F7C-271B-4E72-8E4F-0BB277D712D4}" destId="{AC65135C-2359-45B4-BCA9-E785EBAB6907}" srcOrd="2" destOrd="0" parTransId="{E027C827-95A0-4A82-A2F9-98B310B29207}" sibTransId="{B1A96F23-438B-4817-90C6-6CEF853CE3D7}"/>
    <dgm:cxn modelId="{A060436E-EBCF-426D-9AA5-67494AF57140}" srcId="{CCB76F7C-271B-4E72-8E4F-0BB277D712D4}" destId="{7C470323-F852-4D1E-AAA9-C5FDF143C808}" srcOrd="0" destOrd="0" parTransId="{00DE5FEB-8C56-4751-8689-C53C5235471C}" sibTransId="{914348A8-902D-497F-9907-CD9B63F458F4}"/>
    <dgm:cxn modelId="{6F47A259-790E-4EE9-A853-66405167F47B}" type="presOf" srcId="{7C470323-F852-4D1E-AAA9-C5FDF143C808}" destId="{2F04D462-7B9A-4F29-9073-E37133CFB47F}" srcOrd="0" destOrd="0" presId="urn:microsoft.com/office/officeart/2005/8/layout/venn1"/>
    <dgm:cxn modelId="{E0EBBEB2-3500-4D4A-8BDE-FDDAE2239905}" type="presOf" srcId="{AC65135C-2359-45B4-BCA9-E785EBAB6907}" destId="{6CD12DBA-5B7A-4A3D-86C4-1A33937EC5C0}" srcOrd="0" destOrd="0" presId="urn:microsoft.com/office/officeart/2005/8/layout/venn1"/>
    <dgm:cxn modelId="{74C5C0BD-F2D5-4DBC-B857-F8F144C019C8}" type="presOf" srcId="{AC65135C-2359-45B4-BCA9-E785EBAB6907}" destId="{A3843677-C28A-4A30-8C25-B58D237E2D4F}" srcOrd="1" destOrd="0" presId="urn:microsoft.com/office/officeart/2005/8/layout/venn1"/>
    <dgm:cxn modelId="{D6B87BF5-3AE2-4FE5-A4A8-C38C31B6AB0D}" type="presOf" srcId="{DCF4AC84-F862-40A7-943D-088527BDA373}" destId="{142C0CC3-F53E-4A2E-97D9-1100684CB31F}" srcOrd="1" destOrd="0" presId="urn:microsoft.com/office/officeart/2005/8/layout/venn1"/>
    <dgm:cxn modelId="{AEBE3C02-FDAA-4AE8-B15A-71A93F1B452C}" type="presParOf" srcId="{7416D1A2-30A4-4C03-B863-2983C670386D}" destId="{2F04D462-7B9A-4F29-9073-E37133CFB47F}" srcOrd="0" destOrd="0" presId="urn:microsoft.com/office/officeart/2005/8/layout/venn1"/>
    <dgm:cxn modelId="{7FE70CE4-82EC-49E2-BF54-466CEC50FCBE}" type="presParOf" srcId="{7416D1A2-30A4-4C03-B863-2983C670386D}" destId="{698A5370-77C7-46B0-A702-15BA0E7DFB3C}" srcOrd="1" destOrd="0" presId="urn:microsoft.com/office/officeart/2005/8/layout/venn1"/>
    <dgm:cxn modelId="{B15D2595-4C3F-4ABF-8B2A-AF50578D79C1}" type="presParOf" srcId="{7416D1A2-30A4-4C03-B863-2983C670386D}" destId="{CAF6FE4A-C64F-4BFF-9C41-7AFEB812D949}" srcOrd="2" destOrd="0" presId="urn:microsoft.com/office/officeart/2005/8/layout/venn1"/>
    <dgm:cxn modelId="{A2BAEDEF-A498-40EA-9ECD-F24D401B0533}" type="presParOf" srcId="{7416D1A2-30A4-4C03-B863-2983C670386D}" destId="{142C0CC3-F53E-4A2E-97D9-1100684CB31F}" srcOrd="3" destOrd="0" presId="urn:microsoft.com/office/officeart/2005/8/layout/venn1"/>
    <dgm:cxn modelId="{8AA32EEC-A6C3-4370-833A-0362EF17474C}" type="presParOf" srcId="{7416D1A2-30A4-4C03-B863-2983C670386D}" destId="{6CD12DBA-5B7A-4A3D-86C4-1A33937EC5C0}" srcOrd="4" destOrd="0" presId="urn:microsoft.com/office/officeart/2005/8/layout/venn1"/>
    <dgm:cxn modelId="{E8CB2A54-8A8D-4CFE-A134-75CDACC55664}" type="presParOf" srcId="{7416D1A2-30A4-4C03-B863-2983C670386D}" destId="{A3843677-C28A-4A30-8C25-B58D237E2D4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A75F79-71D5-4556-A4CF-C8AAC04F53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108AD0A-D476-4CD7-8463-3175D1B1C581}">
      <dgm:prSet custT="1"/>
      <dgm:spPr/>
      <dgm:t>
        <a:bodyPr/>
        <a:lstStyle/>
        <a:p>
          <a:pPr algn="just" rtl="0"/>
          <a:r>
            <a:rPr lang="es-ES" sz="2400" b="1" dirty="0"/>
            <a:t>Cada semana, Florida Citrus, </a:t>
          </a:r>
          <a:r>
            <a:rPr lang="es-ES" sz="2400" b="1" dirty="0" err="1"/>
            <a:t>Inc</a:t>
          </a:r>
          <a:r>
            <a:rPr lang="es-ES" sz="2400" b="1" dirty="0"/>
            <a:t>, usa una sola máquina durante 150 horas para destilar jugo de naranja y  de toronja en concentrados almacenados en dos tanques separados de 1000 galones c/u. antes de congelarlos. La máquina puede procesar 25 galones de jugo de naranja por hora, pero solo 20 galones de jugo de toronja. Cada galón de jugo de naranja cuesta $1,50 y pierde 30% de contenido de agua al destilarse en concentrado. El concentrado de jugo de naranja después se vende en $6,00  por galón. Cada galón de jugo de toronja cuesta $2,00 y pierde 25% de  contenido de agua al destilarse en concentrado. El concentrado de jugo de toronja se vende después en $8,00 por galón. Se pide:</a:t>
          </a:r>
        </a:p>
        <a:p>
          <a:pPr algn="just" rtl="0"/>
          <a:r>
            <a:rPr lang="es-ES" sz="2400" b="1" dirty="0"/>
            <a:t>1)Formule un modelo de programación lineal para determinar un plan de producción que maximice la ganancia.</a:t>
          </a:r>
        </a:p>
        <a:p>
          <a:pPr algn="just" rtl="0"/>
          <a:r>
            <a:rPr lang="es-ES" sz="2400" b="1" dirty="0"/>
            <a:t>2) Realice el análisis de sensibilidad de los coeficientes de la Función objetivo.</a:t>
          </a:r>
        </a:p>
        <a:p>
          <a:pPr algn="just" rtl="0"/>
          <a:r>
            <a:rPr lang="es-ES" sz="2400" b="1" dirty="0"/>
            <a:t>3) Realice el análisis de sensibilidad del lado derecho.</a:t>
          </a:r>
        </a:p>
      </dgm:t>
    </dgm:pt>
    <dgm:pt modelId="{B3967EC2-C5D9-4F02-83A8-62ED67C26786}" type="parTrans" cxnId="{A98AEF5C-9182-417B-848D-7CDD6E74CEBD}">
      <dgm:prSet/>
      <dgm:spPr/>
      <dgm:t>
        <a:bodyPr/>
        <a:lstStyle/>
        <a:p>
          <a:endParaRPr lang="es-ES" sz="2400" b="1"/>
        </a:p>
      </dgm:t>
    </dgm:pt>
    <dgm:pt modelId="{188FF6C2-3C1E-43C2-8F45-94F87C5DFFBF}" type="sibTrans" cxnId="{A98AEF5C-9182-417B-848D-7CDD6E74CEBD}">
      <dgm:prSet/>
      <dgm:spPr/>
      <dgm:t>
        <a:bodyPr/>
        <a:lstStyle/>
        <a:p>
          <a:endParaRPr lang="es-ES" sz="2400" b="1"/>
        </a:p>
      </dgm:t>
    </dgm:pt>
    <dgm:pt modelId="{0BEB615F-CF81-4CDA-B691-E555C29CBE7B}" type="pres">
      <dgm:prSet presAssocID="{34A75F79-71D5-4556-A4CF-C8AAC04F53A8}" presName="linear" presStyleCnt="0">
        <dgm:presLayoutVars>
          <dgm:animLvl val="lvl"/>
          <dgm:resizeHandles val="exact"/>
        </dgm:presLayoutVars>
      </dgm:prSet>
      <dgm:spPr/>
    </dgm:pt>
    <dgm:pt modelId="{336A38BF-474A-4B0B-A124-0D88A912AC75}" type="pres">
      <dgm:prSet presAssocID="{9108AD0A-D476-4CD7-8463-3175D1B1C58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C1CE321-401A-42F9-89AA-15134D88AB13}" type="presOf" srcId="{9108AD0A-D476-4CD7-8463-3175D1B1C581}" destId="{336A38BF-474A-4B0B-A124-0D88A912AC75}" srcOrd="0" destOrd="0" presId="urn:microsoft.com/office/officeart/2005/8/layout/vList2"/>
    <dgm:cxn modelId="{A98AEF5C-9182-417B-848D-7CDD6E74CEBD}" srcId="{34A75F79-71D5-4556-A4CF-C8AAC04F53A8}" destId="{9108AD0A-D476-4CD7-8463-3175D1B1C581}" srcOrd="0" destOrd="0" parTransId="{B3967EC2-C5D9-4F02-83A8-62ED67C26786}" sibTransId="{188FF6C2-3C1E-43C2-8F45-94F87C5DFFBF}"/>
    <dgm:cxn modelId="{9EF3C8D8-E9DC-4FC3-BF6F-94F6884E141C}" type="presOf" srcId="{34A75F79-71D5-4556-A4CF-C8AAC04F53A8}" destId="{0BEB615F-CF81-4CDA-B691-E555C29CBE7B}" srcOrd="0" destOrd="0" presId="urn:microsoft.com/office/officeart/2005/8/layout/vList2"/>
    <dgm:cxn modelId="{DB60B4D7-191D-4EA4-A481-39DDD742A30F}" type="presParOf" srcId="{0BEB615F-CF81-4CDA-B691-E555C29CBE7B}" destId="{336A38BF-474A-4B0B-A124-0D88A912AC7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C841B0-8B4E-4AD8-B102-3EF15AAB07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FAF862A-2EE9-4BBA-B4EB-EC9AB8B5A680}">
      <dgm:prSet/>
      <dgm:spPr/>
      <dgm:t>
        <a:bodyPr/>
        <a:lstStyle/>
        <a:p>
          <a:pPr algn="just" rtl="0"/>
          <a:r>
            <a:rPr lang="es-ES_tradnl" dirty="0">
              <a:solidFill>
                <a:schemeClr val="bg1"/>
              </a:solidFill>
            </a:rPr>
            <a:t>Galaxia produce dos tipos de juguetes: </a:t>
          </a:r>
          <a:r>
            <a:rPr lang="es-ES_tradnl" dirty="0" err="1">
              <a:solidFill>
                <a:schemeClr val="bg1"/>
              </a:solidFill>
            </a:rPr>
            <a:t>Space</a:t>
          </a:r>
          <a:r>
            <a:rPr lang="es-ES_tradnl" dirty="0">
              <a:solidFill>
                <a:schemeClr val="bg1"/>
              </a:solidFill>
            </a:rPr>
            <a:t> </a:t>
          </a:r>
          <a:r>
            <a:rPr lang="es-ES_tradnl" dirty="0" err="1">
              <a:solidFill>
                <a:schemeClr val="bg1"/>
              </a:solidFill>
            </a:rPr>
            <a:t>Ray</a:t>
          </a:r>
          <a:r>
            <a:rPr lang="es-ES_tradnl" dirty="0">
              <a:solidFill>
                <a:schemeClr val="bg1"/>
              </a:solidFill>
            </a:rPr>
            <a:t> y </a:t>
          </a:r>
          <a:r>
            <a:rPr lang="es-ES_tradnl" dirty="0" err="1">
              <a:solidFill>
                <a:schemeClr val="bg1"/>
              </a:solidFill>
            </a:rPr>
            <a:t>Zapper</a:t>
          </a:r>
          <a:r>
            <a:rPr lang="es-ES_tradnl" dirty="0">
              <a:solidFill>
                <a:schemeClr val="bg1"/>
              </a:solidFill>
            </a:rPr>
            <a:t>. Los recursos están limitados a 1200 libras de plástico especial y 40 horas de producción semanalmente. Los requerimientos de Marketing indica que la producción total no puede exceder de 800 docenas. El número de docenas de </a:t>
          </a:r>
          <a:r>
            <a:rPr lang="es-ES_tradnl" dirty="0" err="1">
              <a:solidFill>
                <a:schemeClr val="bg1"/>
              </a:solidFill>
            </a:rPr>
            <a:t>Space</a:t>
          </a:r>
          <a:r>
            <a:rPr lang="es-ES_tradnl" dirty="0">
              <a:solidFill>
                <a:schemeClr val="bg1"/>
              </a:solidFill>
            </a:rPr>
            <a:t> </a:t>
          </a:r>
          <a:r>
            <a:rPr lang="es-ES_tradnl" dirty="0" err="1">
              <a:solidFill>
                <a:schemeClr val="bg1"/>
              </a:solidFill>
            </a:rPr>
            <a:t>Rays</a:t>
          </a:r>
          <a:r>
            <a:rPr lang="es-ES_tradnl" dirty="0">
              <a:solidFill>
                <a:schemeClr val="bg1"/>
              </a:solidFill>
            </a:rPr>
            <a:t> no puede exceder al número de docenas de </a:t>
          </a:r>
          <a:r>
            <a:rPr lang="es-ES_tradnl" dirty="0" err="1">
              <a:solidFill>
                <a:schemeClr val="bg1"/>
              </a:solidFill>
            </a:rPr>
            <a:t>Zappers</a:t>
          </a:r>
          <a:r>
            <a:rPr lang="es-ES_tradnl" dirty="0">
              <a:solidFill>
                <a:schemeClr val="bg1"/>
              </a:solidFill>
            </a:rPr>
            <a:t> por más de 450. </a:t>
          </a:r>
          <a:r>
            <a:rPr lang="es-ES_tradnl" dirty="0" err="1">
              <a:solidFill>
                <a:schemeClr val="bg1"/>
              </a:solidFill>
            </a:rPr>
            <a:t>Space</a:t>
          </a:r>
          <a:r>
            <a:rPr lang="es-ES_tradnl" dirty="0">
              <a:solidFill>
                <a:schemeClr val="bg1"/>
              </a:solidFill>
            </a:rPr>
            <a:t> </a:t>
          </a:r>
          <a:r>
            <a:rPr lang="es-ES_tradnl" dirty="0" err="1">
              <a:solidFill>
                <a:schemeClr val="bg1"/>
              </a:solidFill>
            </a:rPr>
            <a:t>Rays</a:t>
          </a:r>
          <a:r>
            <a:rPr lang="es-ES_tradnl" dirty="0">
              <a:solidFill>
                <a:schemeClr val="bg1"/>
              </a:solidFill>
            </a:rPr>
            <a:t> requiere 2 libras de plástico y 3 minutos de producción por docena. </a:t>
          </a:r>
          <a:r>
            <a:rPr lang="es-ES_tradnl" dirty="0" err="1">
              <a:solidFill>
                <a:schemeClr val="bg1"/>
              </a:solidFill>
            </a:rPr>
            <a:t>Zappers</a:t>
          </a:r>
          <a:r>
            <a:rPr lang="es-ES_tradnl" dirty="0">
              <a:solidFill>
                <a:schemeClr val="bg1"/>
              </a:solidFill>
            </a:rPr>
            <a:t> requiere 1 libra de plástico y 4 minutos de producción  por docena. Encontrar el Plan común de producción para fabricar la mayor cantidad del producto que deje mejores ganancias, el cual corresponde a </a:t>
          </a:r>
          <a:r>
            <a:rPr lang="es-ES_tradnl" dirty="0" err="1">
              <a:solidFill>
                <a:schemeClr val="bg1"/>
              </a:solidFill>
            </a:rPr>
            <a:t>Space</a:t>
          </a:r>
          <a:r>
            <a:rPr lang="es-ES_tradnl" dirty="0">
              <a:solidFill>
                <a:schemeClr val="bg1"/>
              </a:solidFill>
            </a:rPr>
            <a:t> Ray  (8 $/docena). Usar la menor cantidad de recursos para producir </a:t>
          </a:r>
          <a:r>
            <a:rPr lang="es-ES_tradnl" dirty="0" err="1">
              <a:solidFill>
                <a:schemeClr val="bg1"/>
              </a:solidFill>
            </a:rPr>
            <a:t>Zappers</a:t>
          </a:r>
          <a:r>
            <a:rPr lang="es-ES_tradnl" dirty="0">
              <a:solidFill>
                <a:schemeClr val="bg1"/>
              </a:solidFill>
            </a:rPr>
            <a:t>, porque estos dejan una menor utilidad (5 $/docena). </a:t>
          </a:r>
        </a:p>
        <a:p>
          <a:pPr algn="just" rtl="0"/>
          <a:r>
            <a:rPr lang="es-ES" b="1" dirty="0">
              <a:latin typeface="Arial Narrow" panose="020B0606020202030204" pitchFamily="34" charset="0"/>
              <a:ea typeface="Calibri" panose="020F0502020204030204" pitchFamily="34" charset="0"/>
            </a:rPr>
            <a:t>Se pide: a)H</a:t>
          </a:r>
          <a:r>
            <a:rPr lang="es-PE" b="1" dirty="0" err="1">
              <a:latin typeface="Arial Narrow" panose="020B0606020202030204" pitchFamily="34" charset="0"/>
            </a:rPr>
            <a:t>allar</a:t>
          </a:r>
          <a:r>
            <a:rPr lang="es-PE" b="1" dirty="0">
              <a:latin typeface="Arial Narrow" panose="020B0606020202030204" pitchFamily="34" charset="0"/>
            </a:rPr>
            <a:t> el</a:t>
          </a:r>
          <a:r>
            <a:rPr lang="es-ES" b="1" dirty="0">
              <a:latin typeface="Arial Narrow" panose="020B0606020202030204" pitchFamily="34" charset="0"/>
              <a:ea typeface="Calibri" panose="020F0502020204030204" pitchFamily="34" charset="0"/>
            </a:rPr>
            <a:t> modelo y resolver con el Método gráfico. </a:t>
          </a:r>
        </a:p>
        <a:p>
          <a:pPr algn="just"/>
          <a:r>
            <a:rPr lang="es-PE" b="1" dirty="0">
              <a:latin typeface="Arial Narrow" panose="020B0606020202030204" pitchFamily="34" charset="0"/>
            </a:rPr>
            <a:t>	b) Análisis de sensibilidad de los coeficientes de </a:t>
          </a:r>
          <a:r>
            <a:rPr lang="es-PE" b="1" dirty="0" err="1">
              <a:latin typeface="Arial Narrow" panose="020B0606020202030204" pitchFamily="34" charset="0"/>
            </a:rPr>
            <a:t>F.O</a:t>
          </a:r>
          <a:r>
            <a:rPr lang="es-PE" b="1" dirty="0">
              <a:latin typeface="Arial Narrow" panose="020B0606020202030204" pitchFamily="34" charset="0"/>
            </a:rPr>
            <a:t>.</a:t>
          </a:r>
        </a:p>
        <a:p>
          <a:pPr algn="just"/>
          <a:r>
            <a:rPr lang="es-PE" b="1" dirty="0">
              <a:latin typeface="Arial Narrow" panose="020B0606020202030204" pitchFamily="34" charset="0"/>
            </a:rPr>
            <a:t>	c) Análisis de sensibilidad del lado derecho. </a:t>
          </a:r>
          <a:endParaRPr lang="es-ES" dirty="0">
            <a:solidFill>
              <a:schemeClr val="bg1"/>
            </a:solidFill>
          </a:endParaRPr>
        </a:p>
      </dgm:t>
    </dgm:pt>
    <dgm:pt modelId="{5ADC1ADE-BC48-4468-95E9-D9AC93C05F62}" type="parTrans" cxnId="{BFC89D53-91D9-4640-A0D2-A5B12A5830C2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9E6633FC-8CCF-41E0-AB20-2B3CCC66D19E}" type="sibTrans" cxnId="{BFC89D53-91D9-4640-A0D2-A5B12A5830C2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362A7FED-4A77-4B0B-B2F0-8370679B4296}" type="pres">
      <dgm:prSet presAssocID="{3BC841B0-8B4E-4AD8-B102-3EF15AAB07D0}" presName="linear" presStyleCnt="0">
        <dgm:presLayoutVars>
          <dgm:animLvl val="lvl"/>
          <dgm:resizeHandles val="exact"/>
        </dgm:presLayoutVars>
      </dgm:prSet>
      <dgm:spPr/>
    </dgm:pt>
    <dgm:pt modelId="{E7C872EA-A6B1-49E0-80F6-570E04707822}" type="pres">
      <dgm:prSet presAssocID="{2FAF862A-2EE9-4BBA-B4EB-EC9AB8B5A68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29F8771-8D98-429E-BAE7-FDF076E4523D}" type="presOf" srcId="{2FAF862A-2EE9-4BBA-B4EB-EC9AB8B5A680}" destId="{E7C872EA-A6B1-49E0-80F6-570E04707822}" srcOrd="0" destOrd="0" presId="urn:microsoft.com/office/officeart/2005/8/layout/vList2"/>
    <dgm:cxn modelId="{527BA852-F54F-49B6-89F0-1D7A3C835682}" type="presOf" srcId="{3BC841B0-8B4E-4AD8-B102-3EF15AAB07D0}" destId="{362A7FED-4A77-4B0B-B2F0-8370679B4296}" srcOrd="0" destOrd="0" presId="urn:microsoft.com/office/officeart/2005/8/layout/vList2"/>
    <dgm:cxn modelId="{BFC89D53-91D9-4640-A0D2-A5B12A5830C2}" srcId="{3BC841B0-8B4E-4AD8-B102-3EF15AAB07D0}" destId="{2FAF862A-2EE9-4BBA-B4EB-EC9AB8B5A680}" srcOrd="0" destOrd="0" parTransId="{5ADC1ADE-BC48-4468-95E9-D9AC93C05F62}" sibTransId="{9E6633FC-8CCF-41E0-AB20-2B3CCC66D19E}"/>
    <dgm:cxn modelId="{AE7E9F84-B15E-4FF5-835C-3FD7EA8E0A07}" type="presParOf" srcId="{362A7FED-4A77-4B0B-B2F0-8370679B4296}" destId="{E7C872EA-A6B1-49E0-80F6-570E0470782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C42E9F-C767-43E8-802D-1C50DC926E8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B833FBB4-F68B-40AE-9E65-4266A763A9D3}">
      <dgm:prSet/>
      <dgm:spPr/>
      <dgm:t>
        <a:bodyPr/>
        <a:lstStyle/>
        <a:p>
          <a:r>
            <a:rPr lang="es-PE" dirty="0"/>
            <a:t>Métodos</a:t>
          </a:r>
        </a:p>
      </dgm:t>
    </dgm:pt>
    <dgm:pt modelId="{3C99786B-26D3-4008-B65C-93AB342C5B89}" type="parTrans" cxnId="{9B9D2E7F-0731-4377-ADB0-0A53330FBC1A}">
      <dgm:prSet/>
      <dgm:spPr/>
      <dgm:t>
        <a:bodyPr/>
        <a:lstStyle/>
        <a:p>
          <a:endParaRPr lang="es-PE"/>
        </a:p>
      </dgm:t>
    </dgm:pt>
    <dgm:pt modelId="{18E32705-F8E0-4A24-A09D-291037D4A0DD}" type="sibTrans" cxnId="{9B9D2E7F-0731-4377-ADB0-0A53330FBC1A}">
      <dgm:prSet/>
      <dgm:spPr/>
      <dgm:t>
        <a:bodyPr/>
        <a:lstStyle/>
        <a:p>
          <a:endParaRPr lang="es-PE"/>
        </a:p>
      </dgm:t>
    </dgm:pt>
    <dgm:pt modelId="{2A755AC6-3F90-40E5-911A-E19324623238}">
      <dgm:prSet/>
      <dgm:spPr/>
      <dgm:t>
        <a:bodyPr/>
        <a:lstStyle/>
        <a:p>
          <a:r>
            <a:rPr lang="es-PE" dirty="0"/>
            <a:t>Igualación</a:t>
          </a:r>
        </a:p>
      </dgm:t>
    </dgm:pt>
    <dgm:pt modelId="{0F41B6AE-06CA-47E6-AD42-4146C6B13919}" type="parTrans" cxnId="{F759418C-0260-4C9B-BA23-2F7F889523C8}">
      <dgm:prSet/>
      <dgm:spPr/>
      <dgm:t>
        <a:bodyPr/>
        <a:lstStyle/>
        <a:p>
          <a:endParaRPr lang="es-PE"/>
        </a:p>
      </dgm:t>
    </dgm:pt>
    <dgm:pt modelId="{E004881F-0B88-4F31-8360-DBDA9878E3B2}" type="sibTrans" cxnId="{F759418C-0260-4C9B-BA23-2F7F889523C8}">
      <dgm:prSet/>
      <dgm:spPr/>
      <dgm:t>
        <a:bodyPr/>
        <a:lstStyle/>
        <a:p>
          <a:endParaRPr lang="es-PE"/>
        </a:p>
      </dgm:t>
    </dgm:pt>
    <dgm:pt modelId="{ED4FF774-047F-4D68-9331-E70CC075FFD7}">
      <dgm:prSet/>
      <dgm:spPr/>
      <dgm:t>
        <a:bodyPr/>
        <a:lstStyle/>
        <a:p>
          <a:r>
            <a:rPr lang="es-PE" dirty="0"/>
            <a:t>Sumas o restas</a:t>
          </a:r>
        </a:p>
      </dgm:t>
    </dgm:pt>
    <dgm:pt modelId="{09A6A32A-CA4E-4E7B-9422-DD5C2D2DE74B}" type="parTrans" cxnId="{904C2A35-A67C-4FA9-A10C-B4B18BFA36B4}">
      <dgm:prSet/>
      <dgm:spPr/>
      <dgm:t>
        <a:bodyPr/>
        <a:lstStyle/>
        <a:p>
          <a:endParaRPr lang="es-PE"/>
        </a:p>
      </dgm:t>
    </dgm:pt>
    <dgm:pt modelId="{8092F99C-3056-41C1-B142-4D12AD2363E6}" type="sibTrans" cxnId="{904C2A35-A67C-4FA9-A10C-B4B18BFA36B4}">
      <dgm:prSet/>
      <dgm:spPr/>
      <dgm:t>
        <a:bodyPr/>
        <a:lstStyle/>
        <a:p>
          <a:endParaRPr lang="es-PE"/>
        </a:p>
      </dgm:t>
    </dgm:pt>
    <dgm:pt modelId="{3ADF6D70-732D-451F-80E0-1CB81F1D9CC3}">
      <dgm:prSet/>
      <dgm:spPr/>
      <dgm:t>
        <a:bodyPr/>
        <a:lstStyle/>
        <a:p>
          <a:r>
            <a:rPr lang="es-PE"/>
            <a:t>Determinante</a:t>
          </a:r>
        </a:p>
      </dgm:t>
    </dgm:pt>
    <dgm:pt modelId="{50C97402-3790-4928-B963-29F6577BC0B4}" type="parTrans" cxnId="{799886B5-B2B0-4571-9783-5019F1DAA9E5}">
      <dgm:prSet/>
      <dgm:spPr/>
      <dgm:t>
        <a:bodyPr/>
        <a:lstStyle/>
        <a:p>
          <a:endParaRPr lang="es-PE"/>
        </a:p>
      </dgm:t>
    </dgm:pt>
    <dgm:pt modelId="{C38D9A1A-9332-4416-A000-0CA4A574D3E2}" type="sibTrans" cxnId="{799886B5-B2B0-4571-9783-5019F1DAA9E5}">
      <dgm:prSet/>
      <dgm:spPr/>
      <dgm:t>
        <a:bodyPr/>
        <a:lstStyle/>
        <a:p>
          <a:endParaRPr lang="es-PE"/>
        </a:p>
      </dgm:t>
    </dgm:pt>
    <dgm:pt modelId="{B026D503-7C6D-4CBC-9D69-FF606F677D4B}">
      <dgm:prSet/>
      <dgm:spPr/>
      <dgm:t>
        <a:bodyPr/>
        <a:lstStyle/>
        <a:p>
          <a:r>
            <a:rPr lang="es-PE" dirty="0"/>
            <a:t>Sustitución</a:t>
          </a:r>
        </a:p>
      </dgm:t>
    </dgm:pt>
    <dgm:pt modelId="{C8BA257F-20D7-4BA5-BEA8-7EF72C77EF21}" type="parTrans" cxnId="{E49983D8-3A9A-4725-8D4A-55E9E362E3AB}">
      <dgm:prSet/>
      <dgm:spPr/>
      <dgm:t>
        <a:bodyPr/>
        <a:lstStyle/>
        <a:p>
          <a:endParaRPr lang="es-PE"/>
        </a:p>
      </dgm:t>
    </dgm:pt>
    <dgm:pt modelId="{38579295-E059-4849-92C6-A30B544353FE}" type="sibTrans" cxnId="{E49983D8-3A9A-4725-8D4A-55E9E362E3AB}">
      <dgm:prSet/>
      <dgm:spPr/>
      <dgm:t>
        <a:bodyPr/>
        <a:lstStyle/>
        <a:p>
          <a:endParaRPr lang="es-PE"/>
        </a:p>
      </dgm:t>
    </dgm:pt>
    <dgm:pt modelId="{D1E09CFA-1417-4096-9B16-241899FD2886}" type="pres">
      <dgm:prSet presAssocID="{4CC42E9F-C767-43E8-802D-1C50DC926E8C}" presName="Name0" presStyleCnt="0">
        <dgm:presLayoutVars>
          <dgm:dir/>
          <dgm:animLvl val="lvl"/>
          <dgm:resizeHandles val="exact"/>
        </dgm:presLayoutVars>
      </dgm:prSet>
      <dgm:spPr/>
    </dgm:pt>
    <dgm:pt modelId="{0EF8746C-AF18-42BE-A3C3-66DBB846F75C}" type="pres">
      <dgm:prSet presAssocID="{B833FBB4-F68B-40AE-9E65-4266A763A9D3}" presName="linNode" presStyleCnt="0"/>
      <dgm:spPr/>
    </dgm:pt>
    <dgm:pt modelId="{14DFAF77-5DD6-444F-A28B-322771CBB4C4}" type="pres">
      <dgm:prSet presAssocID="{B833FBB4-F68B-40AE-9E65-4266A763A9D3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2044D0EB-A336-41DB-98F3-9BF05C89E511}" type="pres">
      <dgm:prSet presAssocID="{B833FBB4-F68B-40AE-9E65-4266A763A9D3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1AFD2818-167A-4495-B2B3-AA5D174185CE}" type="presOf" srcId="{3ADF6D70-732D-451F-80E0-1CB81F1D9CC3}" destId="{2044D0EB-A336-41DB-98F3-9BF05C89E511}" srcOrd="0" destOrd="3" presId="urn:microsoft.com/office/officeart/2005/8/layout/vList5"/>
    <dgm:cxn modelId="{6646C719-7AF9-484F-90D5-095AD3308A11}" type="presOf" srcId="{ED4FF774-047F-4D68-9331-E70CC075FFD7}" destId="{2044D0EB-A336-41DB-98F3-9BF05C89E511}" srcOrd="0" destOrd="2" presId="urn:microsoft.com/office/officeart/2005/8/layout/vList5"/>
    <dgm:cxn modelId="{904C2A35-A67C-4FA9-A10C-B4B18BFA36B4}" srcId="{B833FBB4-F68B-40AE-9E65-4266A763A9D3}" destId="{ED4FF774-047F-4D68-9331-E70CC075FFD7}" srcOrd="2" destOrd="0" parTransId="{09A6A32A-CA4E-4E7B-9422-DD5C2D2DE74B}" sibTransId="{8092F99C-3056-41C1-B142-4D12AD2363E6}"/>
    <dgm:cxn modelId="{2D0B3041-1CBE-45DC-96DC-CE6A60AE1621}" type="presOf" srcId="{B833FBB4-F68B-40AE-9E65-4266A763A9D3}" destId="{14DFAF77-5DD6-444F-A28B-322771CBB4C4}" srcOrd="0" destOrd="0" presId="urn:microsoft.com/office/officeart/2005/8/layout/vList5"/>
    <dgm:cxn modelId="{9B9D2E7F-0731-4377-ADB0-0A53330FBC1A}" srcId="{4CC42E9F-C767-43E8-802D-1C50DC926E8C}" destId="{B833FBB4-F68B-40AE-9E65-4266A763A9D3}" srcOrd="0" destOrd="0" parTransId="{3C99786B-26D3-4008-B65C-93AB342C5B89}" sibTransId="{18E32705-F8E0-4A24-A09D-291037D4A0DD}"/>
    <dgm:cxn modelId="{F759418C-0260-4C9B-BA23-2F7F889523C8}" srcId="{B833FBB4-F68B-40AE-9E65-4266A763A9D3}" destId="{2A755AC6-3F90-40E5-911A-E19324623238}" srcOrd="0" destOrd="0" parTransId="{0F41B6AE-06CA-47E6-AD42-4146C6B13919}" sibTransId="{E004881F-0B88-4F31-8360-DBDA9878E3B2}"/>
    <dgm:cxn modelId="{91984894-6831-4671-B751-31185AB737D7}" type="presOf" srcId="{B026D503-7C6D-4CBC-9D69-FF606F677D4B}" destId="{2044D0EB-A336-41DB-98F3-9BF05C89E511}" srcOrd="0" destOrd="1" presId="urn:microsoft.com/office/officeart/2005/8/layout/vList5"/>
    <dgm:cxn modelId="{B76EBE9C-1EC2-4CC9-A9F9-26FE925C236E}" type="presOf" srcId="{4CC42E9F-C767-43E8-802D-1C50DC926E8C}" destId="{D1E09CFA-1417-4096-9B16-241899FD2886}" srcOrd="0" destOrd="0" presId="urn:microsoft.com/office/officeart/2005/8/layout/vList5"/>
    <dgm:cxn modelId="{799886B5-B2B0-4571-9783-5019F1DAA9E5}" srcId="{B833FBB4-F68B-40AE-9E65-4266A763A9D3}" destId="{3ADF6D70-732D-451F-80E0-1CB81F1D9CC3}" srcOrd="3" destOrd="0" parTransId="{50C97402-3790-4928-B963-29F6577BC0B4}" sibTransId="{C38D9A1A-9332-4416-A000-0CA4A574D3E2}"/>
    <dgm:cxn modelId="{C398F6B7-4041-4C62-8613-9829977B166E}" type="presOf" srcId="{2A755AC6-3F90-40E5-911A-E19324623238}" destId="{2044D0EB-A336-41DB-98F3-9BF05C89E511}" srcOrd="0" destOrd="0" presId="urn:microsoft.com/office/officeart/2005/8/layout/vList5"/>
    <dgm:cxn modelId="{E49983D8-3A9A-4725-8D4A-55E9E362E3AB}" srcId="{B833FBB4-F68B-40AE-9E65-4266A763A9D3}" destId="{B026D503-7C6D-4CBC-9D69-FF606F677D4B}" srcOrd="1" destOrd="0" parTransId="{C8BA257F-20D7-4BA5-BEA8-7EF72C77EF21}" sibTransId="{38579295-E059-4849-92C6-A30B544353FE}"/>
    <dgm:cxn modelId="{B07A7858-D1C6-4E6D-A5A4-D4EFB74C7AC9}" type="presParOf" srcId="{D1E09CFA-1417-4096-9B16-241899FD2886}" destId="{0EF8746C-AF18-42BE-A3C3-66DBB846F75C}" srcOrd="0" destOrd="0" presId="urn:microsoft.com/office/officeart/2005/8/layout/vList5"/>
    <dgm:cxn modelId="{E2CE3D5C-2484-4103-858A-C5FCDD9FB5F8}" type="presParOf" srcId="{0EF8746C-AF18-42BE-A3C3-66DBB846F75C}" destId="{14DFAF77-5DD6-444F-A28B-322771CBB4C4}" srcOrd="0" destOrd="0" presId="urn:microsoft.com/office/officeart/2005/8/layout/vList5"/>
    <dgm:cxn modelId="{09EC9008-0A20-4F41-BE10-3B6C4E1BC230}" type="presParOf" srcId="{0EF8746C-AF18-42BE-A3C3-66DBB846F75C}" destId="{2044D0EB-A336-41DB-98F3-9BF05C89E51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E0E126-4813-4CBB-A978-1D7099BDEC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3B751EC-327D-45C9-AA71-570FA92DE014}">
      <dgm:prSet/>
      <dgm:spPr/>
      <dgm:t>
        <a:bodyPr/>
        <a:lstStyle/>
        <a:p>
          <a:pPr rtl="0"/>
          <a:r>
            <a:rPr lang="es-PE" dirty="0" err="1"/>
            <a:t>Space</a:t>
          </a:r>
          <a:r>
            <a:rPr lang="es-PE" dirty="0"/>
            <a:t> </a:t>
          </a:r>
          <a:r>
            <a:rPr lang="es-PE" dirty="0" err="1"/>
            <a:t>Rays</a:t>
          </a:r>
          <a:r>
            <a:rPr lang="es-PE" dirty="0"/>
            <a:t>  = 480 docenas        </a:t>
          </a:r>
          <a:r>
            <a:rPr lang="es-PE" dirty="0" err="1"/>
            <a:t>Zappers</a:t>
          </a:r>
          <a:r>
            <a:rPr lang="es-PE" dirty="0"/>
            <a:t>       = 240 docenas</a:t>
          </a:r>
        </a:p>
      </dgm:t>
    </dgm:pt>
    <dgm:pt modelId="{0E12C45D-BFF8-4A94-96BA-E7DDDE6B219F}" type="parTrans" cxnId="{DEE46E9D-01A6-4867-A8F5-1EDBDEEA208A}">
      <dgm:prSet/>
      <dgm:spPr/>
      <dgm:t>
        <a:bodyPr/>
        <a:lstStyle/>
        <a:p>
          <a:endParaRPr lang="es-PE"/>
        </a:p>
      </dgm:t>
    </dgm:pt>
    <dgm:pt modelId="{0BF5AFCB-436D-479E-9AB0-6D2BE1057CC7}" type="sibTrans" cxnId="{DEE46E9D-01A6-4867-A8F5-1EDBDEEA208A}">
      <dgm:prSet/>
      <dgm:spPr/>
      <dgm:t>
        <a:bodyPr/>
        <a:lstStyle/>
        <a:p>
          <a:endParaRPr lang="es-PE"/>
        </a:p>
      </dgm:t>
    </dgm:pt>
    <dgm:pt modelId="{1665D8AB-AD6A-4731-8A81-80D00A095FD7}">
      <dgm:prSet/>
      <dgm:spPr/>
      <dgm:t>
        <a:bodyPr/>
        <a:lstStyle/>
        <a:p>
          <a:pPr rtl="0"/>
          <a:r>
            <a:rPr lang="es-PE" dirty="0"/>
            <a:t>Ganancia     =  $5040</a:t>
          </a:r>
        </a:p>
      </dgm:t>
    </dgm:pt>
    <dgm:pt modelId="{62826559-FAB1-4055-A15E-DFFF38366F03}" type="parTrans" cxnId="{DFF6BE39-ED5A-4B47-9DE0-844B82B0B184}">
      <dgm:prSet/>
      <dgm:spPr/>
      <dgm:t>
        <a:bodyPr/>
        <a:lstStyle/>
        <a:p>
          <a:endParaRPr lang="es-PE"/>
        </a:p>
      </dgm:t>
    </dgm:pt>
    <dgm:pt modelId="{CB89EC7A-93D3-41AC-AFFD-DFE5BE39CFBF}" type="sibTrans" cxnId="{DFF6BE39-ED5A-4B47-9DE0-844B82B0B184}">
      <dgm:prSet/>
      <dgm:spPr/>
      <dgm:t>
        <a:bodyPr/>
        <a:lstStyle/>
        <a:p>
          <a:endParaRPr lang="es-PE"/>
        </a:p>
      </dgm:t>
    </dgm:pt>
    <dgm:pt modelId="{C3CD8B8D-F562-463C-9882-E48B99A73CDA}">
      <dgm:prSet/>
      <dgm:spPr/>
      <dgm:t>
        <a:bodyPr/>
        <a:lstStyle/>
        <a:p>
          <a:pPr rtl="0"/>
          <a:r>
            <a:rPr lang="es-PE"/>
            <a:t>Esta solución utiliza todas las materias primas (plástico) y todas las horas de producción.</a:t>
          </a:r>
        </a:p>
      </dgm:t>
    </dgm:pt>
    <dgm:pt modelId="{946564E2-32D8-4C23-B003-6B0B49359C58}" type="parTrans" cxnId="{76099825-E949-449C-B03C-AB1A2B44589E}">
      <dgm:prSet/>
      <dgm:spPr/>
      <dgm:t>
        <a:bodyPr/>
        <a:lstStyle/>
        <a:p>
          <a:endParaRPr lang="es-PE"/>
        </a:p>
      </dgm:t>
    </dgm:pt>
    <dgm:pt modelId="{18B63232-F25B-4C65-8BA5-43F255DA40F6}" type="sibTrans" cxnId="{76099825-E949-449C-B03C-AB1A2B44589E}">
      <dgm:prSet/>
      <dgm:spPr/>
      <dgm:t>
        <a:bodyPr/>
        <a:lstStyle/>
        <a:p>
          <a:endParaRPr lang="es-PE"/>
        </a:p>
      </dgm:t>
    </dgm:pt>
    <dgm:pt modelId="{BB27F121-2034-46F7-B853-5EC1EDE5853A}">
      <dgm:prSet/>
      <dgm:spPr/>
      <dgm:t>
        <a:bodyPr/>
        <a:lstStyle/>
        <a:p>
          <a:pPr rtl="0"/>
          <a:r>
            <a:rPr lang="es-PE"/>
            <a:t>La producción total son 720 docenas (no 800).</a:t>
          </a:r>
        </a:p>
      </dgm:t>
    </dgm:pt>
    <dgm:pt modelId="{773AB530-170C-4BC0-8AF3-3F6868C84958}" type="parTrans" cxnId="{E1148A3B-C526-4D4E-926F-82BB1B152FA6}">
      <dgm:prSet/>
      <dgm:spPr/>
      <dgm:t>
        <a:bodyPr/>
        <a:lstStyle/>
        <a:p>
          <a:endParaRPr lang="es-PE"/>
        </a:p>
      </dgm:t>
    </dgm:pt>
    <dgm:pt modelId="{86C58C92-A006-4648-A370-7E6219C5FB0F}" type="sibTrans" cxnId="{E1148A3B-C526-4D4E-926F-82BB1B152FA6}">
      <dgm:prSet/>
      <dgm:spPr/>
      <dgm:t>
        <a:bodyPr/>
        <a:lstStyle/>
        <a:p>
          <a:endParaRPr lang="es-PE"/>
        </a:p>
      </dgm:t>
    </dgm:pt>
    <dgm:pt modelId="{28FC4CEC-6257-4258-B0E0-7E8A22719AAC}">
      <dgm:prSet/>
      <dgm:spPr/>
      <dgm:t>
        <a:bodyPr/>
        <a:lstStyle/>
        <a:p>
          <a:pPr rtl="0"/>
          <a:r>
            <a:rPr lang="es-PE"/>
            <a:t>La producción de Space Rays excede a la de Zappers por solo 240 docenas y no por 450.</a:t>
          </a:r>
        </a:p>
      </dgm:t>
    </dgm:pt>
    <dgm:pt modelId="{B4A95187-BDFA-44EC-900C-CA12FDD8847E}" type="parTrans" cxnId="{04E1D16D-1D86-490C-8914-65D802C202AE}">
      <dgm:prSet/>
      <dgm:spPr/>
      <dgm:t>
        <a:bodyPr/>
        <a:lstStyle/>
        <a:p>
          <a:endParaRPr lang="es-PE"/>
        </a:p>
      </dgm:t>
    </dgm:pt>
    <dgm:pt modelId="{F60D883C-A2F0-4292-BEB6-925974673AF8}" type="sibTrans" cxnId="{04E1D16D-1D86-490C-8914-65D802C202AE}">
      <dgm:prSet/>
      <dgm:spPr/>
      <dgm:t>
        <a:bodyPr/>
        <a:lstStyle/>
        <a:p>
          <a:endParaRPr lang="es-PE"/>
        </a:p>
      </dgm:t>
    </dgm:pt>
    <dgm:pt modelId="{8BCF3FCD-E7A7-4F35-B224-ECE8DECA5255}" type="pres">
      <dgm:prSet presAssocID="{A0E0E126-4813-4CBB-A978-1D7099BDECB9}" presName="linear" presStyleCnt="0">
        <dgm:presLayoutVars>
          <dgm:animLvl val="lvl"/>
          <dgm:resizeHandles val="exact"/>
        </dgm:presLayoutVars>
      </dgm:prSet>
      <dgm:spPr/>
    </dgm:pt>
    <dgm:pt modelId="{95BCE87A-8CFE-4158-A372-53D996D1E59E}" type="pres">
      <dgm:prSet presAssocID="{C3B751EC-327D-45C9-AA71-570FA92DE014}" presName="parentText" presStyleLbl="node1" presStyleIdx="0" presStyleCnt="5" custScaleY="66189">
        <dgm:presLayoutVars>
          <dgm:chMax val="0"/>
          <dgm:bulletEnabled val="1"/>
        </dgm:presLayoutVars>
      </dgm:prSet>
      <dgm:spPr/>
    </dgm:pt>
    <dgm:pt modelId="{CEF24A06-21BC-4EB3-B75D-F32DD49CBC1C}" type="pres">
      <dgm:prSet presAssocID="{0BF5AFCB-436D-479E-9AB0-6D2BE1057CC7}" presName="spacer" presStyleCnt="0"/>
      <dgm:spPr/>
    </dgm:pt>
    <dgm:pt modelId="{8B91F4D6-51E2-4E10-A9D6-C85A201F3054}" type="pres">
      <dgm:prSet presAssocID="{1665D8AB-AD6A-4731-8A81-80D00A095FD7}" presName="parentText" presStyleLbl="node1" presStyleIdx="1" presStyleCnt="5" custScaleY="63740">
        <dgm:presLayoutVars>
          <dgm:chMax val="0"/>
          <dgm:bulletEnabled val="1"/>
        </dgm:presLayoutVars>
      </dgm:prSet>
      <dgm:spPr/>
    </dgm:pt>
    <dgm:pt modelId="{F48BE09C-2300-4B47-855B-DA8D9950AEC4}" type="pres">
      <dgm:prSet presAssocID="{CB89EC7A-93D3-41AC-AFFD-DFE5BE39CFBF}" presName="spacer" presStyleCnt="0"/>
      <dgm:spPr/>
    </dgm:pt>
    <dgm:pt modelId="{13E52454-42F1-4C36-AD62-26FEA9CD5E17}" type="pres">
      <dgm:prSet presAssocID="{C3CD8B8D-F562-463C-9882-E48B99A73C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87BB439-B2FF-4564-A5FE-78221A5ED053}" type="pres">
      <dgm:prSet presAssocID="{18B63232-F25B-4C65-8BA5-43F255DA40F6}" presName="spacer" presStyleCnt="0"/>
      <dgm:spPr/>
    </dgm:pt>
    <dgm:pt modelId="{DD20CC8B-5887-4796-9080-4DDB0F4A933D}" type="pres">
      <dgm:prSet presAssocID="{BB27F121-2034-46F7-B853-5EC1EDE5853A}" presName="parentText" presStyleLbl="node1" presStyleIdx="3" presStyleCnt="5" custScaleY="63036">
        <dgm:presLayoutVars>
          <dgm:chMax val="0"/>
          <dgm:bulletEnabled val="1"/>
        </dgm:presLayoutVars>
      </dgm:prSet>
      <dgm:spPr/>
    </dgm:pt>
    <dgm:pt modelId="{FD5500A2-0BAA-49E9-977C-DA2F2CE20A8A}" type="pres">
      <dgm:prSet presAssocID="{86C58C92-A006-4648-A370-7E6219C5FB0F}" presName="spacer" presStyleCnt="0"/>
      <dgm:spPr/>
    </dgm:pt>
    <dgm:pt modelId="{2C94A915-5E71-4E8D-B222-6F11F693C0D7}" type="pres">
      <dgm:prSet presAssocID="{28FC4CEC-6257-4258-B0E0-7E8A22719AA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099825-E949-449C-B03C-AB1A2B44589E}" srcId="{A0E0E126-4813-4CBB-A978-1D7099BDECB9}" destId="{C3CD8B8D-F562-463C-9882-E48B99A73CDA}" srcOrd="2" destOrd="0" parTransId="{946564E2-32D8-4C23-B003-6B0B49359C58}" sibTransId="{18B63232-F25B-4C65-8BA5-43F255DA40F6}"/>
    <dgm:cxn modelId="{031B552D-0587-45D7-B22E-E72C16FB263A}" type="presOf" srcId="{28FC4CEC-6257-4258-B0E0-7E8A22719AAC}" destId="{2C94A915-5E71-4E8D-B222-6F11F693C0D7}" srcOrd="0" destOrd="0" presId="urn:microsoft.com/office/officeart/2005/8/layout/vList2"/>
    <dgm:cxn modelId="{DFF6BE39-ED5A-4B47-9DE0-844B82B0B184}" srcId="{A0E0E126-4813-4CBB-A978-1D7099BDECB9}" destId="{1665D8AB-AD6A-4731-8A81-80D00A095FD7}" srcOrd="1" destOrd="0" parTransId="{62826559-FAB1-4055-A15E-DFFF38366F03}" sibTransId="{CB89EC7A-93D3-41AC-AFFD-DFE5BE39CFBF}"/>
    <dgm:cxn modelId="{E1148A3B-C526-4D4E-926F-82BB1B152FA6}" srcId="{A0E0E126-4813-4CBB-A978-1D7099BDECB9}" destId="{BB27F121-2034-46F7-B853-5EC1EDE5853A}" srcOrd="3" destOrd="0" parTransId="{773AB530-170C-4BC0-8AF3-3F6868C84958}" sibTransId="{86C58C92-A006-4648-A370-7E6219C5FB0F}"/>
    <dgm:cxn modelId="{7D1F165C-2488-4AD2-B5C4-B77E3CB0F4C8}" type="presOf" srcId="{C3B751EC-327D-45C9-AA71-570FA92DE014}" destId="{95BCE87A-8CFE-4158-A372-53D996D1E59E}" srcOrd="0" destOrd="0" presId="urn:microsoft.com/office/officeart/2005/8/layout/vList2"/>
    <dgm:cxn modelId="{04E1D16D-1D86-490C-8914-65D802C202AE}" srcId="{A0E0E126-4813-4CBB-A978-1D7099BDECB9}" destId="{28FC4CEC-6257-4258-B0E0-7E8A22719AAC}" srcOrd="4" destOrd="0" parTransId="{B4A95187-BDFA-44EC-900C-CA12FDD8847E}" sibTransId="{F60D883C-A2F0-4292-BEB6-925974673AF8}"/>
    <dgm:cxn modelId="{3F1DF190-49AC-47D4-8730-69F888960259}" type="presOf" srcId="{BB27F121-2034-46F7-B853-5EC1EDE5853A}" destId="{DD20CC8B-5887-4796-9080-4DDB0F4A933D}" srcOrd="0" destOrd="0" presId="urn:microsoft.com/office/officeart/2005/8/layout/vList2"/>
    <dgm:cxn modelId="{DEE46E9D-01A6-4867-A8F5-1EDBDEEA208A}" srcId="{A0E0E126-4813-4CBB-A978-1D7099BDECB9}" destId="{C3B751EC-327D-45C9-AA71-570FA92DE014}" srcOrd="0" destOrd="0" parTransId="{0E12C45D-BFF8-4A94-96BA-E7DDDE6B219F}" sibTransId="{0BF5AFCB-436D-479E-9AB0-6D2BE1057CC7}"/>
    <dgm:cxn modelId="{1DD715C8-C0A3-4A2B-A376-27D662A5570E}" type="presOf" srcId="{A0E0E126-4813-4CBB-A978-1D7099BDECB9}" destId="{8BCF3FCD-E7A7-4F35-B224-ECE8DECA5255}" srcOrd="0" destOrd="0" presId="urn:microsoft.com/office/officeart/2005/8/layout/vList2"/>
    <dgm:cxn modelId="{9B4154D1-95AC-41DF-8915-FC0D16AA4FEE}" type="presOf" srcId="{1665D8AB-AD6A-4731-8A81-80D00A095FD7}" destId="{8B91F4D6-51E2-4E10-A9D6-C85A201F3054}" srcOrd="0" destOrd="0" presId="urn:microsoft.com/office/officeart/2005/8/layout/vList2"/>
    <dgm:cxn modelId="{A15ECAD2-D876-4E4A-9D53-07A6C68E09C5}" type="presOf" srcId="{C3CD8B8D-F562-463C-9882-E48B99A73CDA}" destId="{13E52454-42F1-4C36-AD62-26FEA9CD5E17}" srcOrd="0" destOrd="0" presId="urn:microsoft.com/office/officeart/2005/8/layout/vList2"/>
    <dgm:cxn modelId="{1A06A7A9-B84B-4755-88AB-502C6BBBF0AB}" type="presParOf" srcId="{8BCF3FCD-E7A7-4F35-B224-ECE8DECA5255}" destId="{95BCE87A-8CFE-4158-A372-53D996D1E59E}" srcOrd="0" destOrd="0" presId="urn:microsoft.com/office/officeart/2005/8/layout/vList2"/>
    <dgm:cxn modelId="{5FC3EC63-C924-459D-8476-D64EDC71D567}" type="presParOf" srcId="{8BCF3FCD-E7A7-4F35-B224-ECE8DECA5255}" destId="{CEF24A06-21BC-4EB3-B75D-F32DD49CBC1C}" srcOrd="1" destOrd="0" presId="urn:microsoft.com/office/officeart/2005/8/layout/vList2"/>
    <dgm:cxn modelId="{0C59E41D-E611-426C-A366-04BD8B4A77C8}" type="presParOf" srcId="{8BCF3FCD-E7A7-4F35-B224-ECE8DECA5255}" destId="{8B91F4D6-51E2-4E10-A9D6-C85A201F3054}" srcOrd="2" destOrd="0" presId="urn:microsoft.com/office/officeart/2005/8/layout/vList2"/>
    <dgm:cxn modelId="{D480134B-059D-411E-9DE1-0ED63FD301E7}" type="presParOf" srcId="{8BCF3FCD-E7A7-4F35-B224-ECE8DECA5255}" destId="{F48BE09C-2300-4B47-855B-DA8D9950AEC4}" srcOrd="3" destOrd="0" presId="urn:microsoft.com/office/officeart/2005/8/layout/vList2"/>
    <dgm:cxn modelId="{3DBA6C46-AB65-4B38-96EF-D56C41D1EEBF}" type="presParOf" srcId="{8BCF3FCD-E7A7-4F35-B224-ECE8DECA5255}" destId="{13E52454-42F1-4C36-AD62-26FEA9CD5E17}" srcOrd="4" destOrd="0" presId="urn:microsoft.com/office/officeart/2005/8/layout/vList2"/>
    <dgm:cxn modelId="{EC51C214-6C16-4AFB-B604-0FB4BA7ED2A4}" type="presParOf" srcId="{8BCF3FCD-E7A7-4F35-B224-ECE8DECA5255}" destId="{587BB439-B2FF-4564-A5FE-78221A5ED053}" srcOrd="5" destOrd="0" presId="urn:microsoft.com/office/officeart/2005/8/layout/vList2"/>
    <dgm:cxn modelId="{6BA4A9F9-84F0-4475-8457-152124B72E21}" type="presParOf" srcId="{8BCF3FCD-E7A7-4F35-B224-ECE8DECA5255}" destId="{DD20CC8B-5887-4796-9080-4DDB0F4A933D}" srcOrd="6" destOrd="0" presId="urn:microsoft.com/office/officeart/2005/8/layout/vList2"/>
    <dgm:cxn modelId="{F14853F0-86A2-4D70-A98B-521F4028408F}" type="presParOf" srcId="{8BCF3FCD-E7A7-4F35-B224-ECE8DECA5255}" destId="{FD5500A2-0BAA-49E9-977C-DA2F2CE20A8A}" srcOrd="7" destOrd="0" presId="urn:microsoft.com/office/officeart/2005/8/layout/vList2"/>
    <dgm:cxn modelId="{671EE68A-5735-4B8E-BB4D-F5856D80256B}" type="presParOf" srcId="{8BCF3FCD-E7A7-4F35-B224-ECE8DECA5255}" destId="{2C94A915-5E71-4E8D-B222-6F11F693C0D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4D462-7B9A-4F29-9073-E37133CFB47F}">
      <dsp:nvSpPr>
        <dsp:cNvPr id="0" name=""/>
        <dsp:cNvSpPr/>
      </dsp:nvSpPr>
      <dsp:spPr>
        <a:xfrm>
          <a:off x="1670585" y="63907"/>
          <a:ext cx="3067540" cy="3067540"/>
        </a:xfrm>
        <a:prstGeom prst="ellipse">
          <a:avLst/>
        </a:prstGeom>
        <a:solidFill>
          <a:srgbClr val="00B0F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Contraste</a:t>
          </a:r>
          <a:endParaRPr lang="es-PE" sz="2000" kern="1200" dirty="0"/>
        </a:p>
      </dsp:txBody>
      <dsp:txXfrm>
        <a:off x="2079591" y="600726"/>
        <a:ext cx="2249529" cy="1380393"/>
      </dsp:txXfrm>
    </dsp:sp>
    <dsp:sp modelId="{CAF6FE4A-C64F-4BFF-9C41-7AFEB812D949}">
      <dsp:nvSpPr>
        <dsp:cNvPr id="0" name=""/>
        <dsp:cNvSpPr/>
      </dsp:nvSpPr>
      <dsp:spPr>
        <a:xfrm>
          <a:off x="2847887" y="1981120"/>
          <a:ext cx="3067540" cy="3067540"/>
        </a:xfrm>
        <a:prstGeom prst="ellipse">
          <a:avLst/>
        </a:prstGeom>
        <a:solidFill>
          <a:srgbClr val="FF00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Revise</a:t>
          </a:r>
          <a:endParaRPr lang="es-PE" sz="2000" kern="1200" dirty="0"/>
        </a:p>
      </dsp:txBody>
      <dsp:txXfrm>
        <a:off x="3786043" y="2773568"/>
        <a:ext cx="1840524" cy="1687147"/>
      </dsp:txXfrm>
    </dsp:sp>
    <dsp:sp modelId="{6CD12DBA-5B7A-4A3D-86C4-1A33937EC5C0}">
      <dsp:nvSpPr>
        <dsp:cNvPr id="0" name=""/>
        <dsp:cNvSpPr/>
      </dsp:nvSpPr>
      <dsp:spPr>
        <a:xfrm>
          <a:off x="503345" y="1981120"/>
          <a:ext cx="3067540" cy="3067540"/>
        </a:xfrm>
        <a:prstGeom prst="ellipse">
          <a:avLst/>
        </a:prstGeom>
        <a:solidFill>
          <a:srgbClr val="FFFF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Practique</a:t>
          </a:r>
          <a:endParaRPr lang="es-PE" sz="2000" kern="1200" dirty="0"/>
        </a:p>
      </dsp:txBody>
      <dsp:txXfrm>
        <a:off x="792205" y="2773568"/>
        <a:ext cx="1840524" cy="1687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A38BF-474A-4B0B-A124-0D88A912AC75}">
      <dsp:nvSpPr>
        <dsp:cNvPr id="0" name=""/>
        <dsp:cNvSpPr/>
      </dsp:nvSpPr>
      <dsp:spPr>
        <a:xfrm>
          <a:off x="0" y="320"/>
          <a:ext cx="11744960" cy="547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Cada semana, Florida Citrus, </a:t>
          </a:r>
          <a:r>
            <a:rPr lang="es-ES" sz="2400" b="1" kern="1200" dirty="0" err="1"/>
            <a:t>Inc</a:t>
          </a:r>
          <a:r>
            <a:rPr lang="es-ES" sz="2400" b="1" kern="1200" dirty="0"/>
            <a:t>, usa una sola máquina durante 150 horas para destilar jugo de naranja y  de toronja en concentrados almacenados en dos tanques separados de 1000 galones c/u. antes de congelarlos. La máquina puede procesar 25 galones de jugo de naranja por hora, pero solo 20 galones de jugo de toronja. Cada galón de jugo de naranja cuesta $1,50 y pierde 30% de contenido de agua al destilarse en concentrado. El concentrado de jugo de naranja después se vende en $6,00  por galón. Cada galón de jugo de toronja cuesta $2,00 y pierde 25% de  contenido de agua al destilarse en concentrado. El concentrado de jugo de toronja se vende después en $8,00 por galón. Se pide:</a:t>
          </a:r>
        </a:p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1)Formule un modelo de programación lineal para determinar un plan de producción que maximice la ganancia.</a:t>
          </a:r>
        </a:p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2) Realice el análisis de sensibilidad de los coeficientes de la Función objetivo.</a:t>
          </a:r>
        </a:p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3) Realice el análisis de sensibilidad del lado derecho.</a:t>
          </a:r>
        </a:p>
      </dsp:txBody>
      <dsp:txXfrm>
        <a:off x="267297" y="267617"/>
        <a:ext cx="11210366" cy="49410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872EA-A6B1-49E0-80F6-570E04707822}">
      <dsp:nvSpPr>
        <dsp:cNvPr id="0" name=""/>
        <dsp:cNvSpPr/>
      </dsp:nvSpPr>
      <dsp:spPr>
        <a:xfrm>
          <a:off x="0" y="23316"/>
          <a:ext cx="9286541" cy="511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just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kern="1200" dirty="0">
              <a:solidFill>
                <a:schemeClr val="bg1"/>
              </a:solidFill>
            </a:rPr>
            <a:t>Galaxia produce dos tipos de juguetes: </a:t>
          </a:r>
          <a:r>
            <a:rPr lang="es-ES_tradnl" sz="2100" kern="1200" dirty="0" err="1">
              <a:solidFill>
                <a:schemeClr val="bg1"/>
              </a:solidFill>
            </a:rPr>
            <a:t>Space</a:t>
          </a:r>
          <a:r>
            <a:rPr lang="es-ES_tradnl" sz="2100" kern="1200" dirty="0">
              <a:solidFill>
                <a:schemeClr val="bg1"/>
              </a:solidFill>
            </a:rPr>
            <a:t> </a:t>
          </a:r>
          <a:r>
            <a:rPr lang="es-ES_tradnl" sz="2100" kern="1200" dirty="0" err="1">
              <a:solidFill>
                <a:schemeClr val="bg1"/>
              </a:solidFill>
            </a:rPr>
            <a:t>Ray</a:t>
          </a:r>
          <a:r>
            <a:rPr lang="es-ES_tradnl" sz="2100" kern="1200" dirty="0">
              <a:solidFill>
                <a:schemeClr val="bg1"/>
              </a:solidFill>
            </a:rPr>
            <a:t> y </a:t>
          </a:r>
          <a:r>
            <a:rPr lang="es-ES_tradnl" sz="2100" kern="1200" dirty="0" err="1">
              <a:solidFill>
                <a:schemeClr val="bg1"/>
              </a:solidFill>
            </a:rPr>
            <a:t>Zapper</a:t>
          </a:r>
          <a:r>
            <a:rPr lang="es-ES_tradnl" sz="2100" kern="1200" dirty="0">
              <a:solidFill>
                <a:schemeClr val="bg1"/>
              </a:solidFill>
            </a:rPr>
            <a:t>. Los recursos están limitados a 1200 libras de plástico especial y 40 horas de producción semanalmente. Los requerimientos de Marketing indica que la producción total no puede exceder de 800 docenas. El número de docenas de </a:t>
          </a:r>
          <a:r>
            <a:rPr lang="es-ES_tradnl" sz="2100" kern="1200" dirty="0" err="1">
              <a:solidFill>
                <a:schemeClr val="bg1"/>
              </a:solidFill>
            </a:rPr>
            <a:t>Space</a:t>
          </a:r>
          <a:r>
            <a:rPr lang="es-ES_tradnl" sz="2100" kern="1200" dirty="0">
              <a:solidFill>
                <a:schemeClr val="bg1"/>
              </a:solidFill>
            </a:rPr>
            <a:t> </a:t>
          </a:r>
          <a:r>
            <a:rPr lang="es-ES_tradnl" sz="2100" kern="1200" dirty="0" err="1">
              <a:solidFill>
                <a:schemeClr val="bg1"/>
              </a:solidFill>
            </a:rPr>
            <a:t>Rays</a:t>
          </a:r>
          <a:r>
            <a:rPr lang="es-ES_tradnl" sz="2100" kern="1200" dirty="0">
              <a:solidFill>
                <a:schemeClr val="bg1"/>
              </a:solidFill>
            </a:rPr>
            <a:t> no puede exceder al número de docenas de </a:t>
          </a:r>
          <a:r>
            <a:rPr lang="es-ES_tradnl" sz="2100" kern="1200" dirty="0" err="1">
              <a:solidFill>
                <a:schemeClr val="bg1"/>
              </a:solidFill>
            </a:rPr>
            <a:t>Zappers</a:t>
          </a:r>
          <a:r>
            <a:rPr lang="es-ES_tradnl" sz="2100" kern="1200" dirty="0">
              <a:solidFill>
                <a:schemeClr val="bg1"/>
              </a:solidFill>
            </a:rPr>
            <a:t> por más de 450. </a:t>
          </a:r>
          <a:r>
            <a:rPr lang="es-ES_tradnl" sz="2100" kern="1200" dirty="0" err="1">
              <a:solidFill>
                <a:schemeClr val="bg1"/>
              </a:solidFill>
            </a:rPr>
            <a:t>Space</a:t>
          </a:r>
          <a:r>
            <a:rPr lang="es-ES_tradnl" sz="2100" kern="1200" dirty="0">
              <a:solidFill>
                <a:schemeClr val="bg1"/>
              </a:solidFill>
            </a:rPr>
            <a:t> </a:t>
          </a:r>
          <a:r>
            <a:rPr lang="es-ES_tradnl" sz="2100" kern="1200" dirty="0" err="1">
              <a:solidFill>
                <a:schemeClr val="bg1"/>
              </a:solidFill>
            </a:rPr>
            <a:t>Rays</a:t>
          </a:r>
          <a:r>
            <a:rPr lang="es-ES_tradnl" sz="2100" kern="1200" dirty="0">
              <a:solidFill>
                <a:schemeClr val="bg1"/>
              </a:solidFill>
            </a:rPr>
            <a:t> requiere 2 libras de plástico y 3 minutos de producción por docena. </a:t>
          </a:r>
          <a:r>
            <a:rPr lang="es-ES_tradnl" sz="2100" kern="1200" dirty="0" err="1">
              <a:solidFill>
                <a:schemeClr val="bg1"/>
              </a:solidFill>
            </a:rPr>
            <a:t>Zappers</a:t>
          </a:r>
          <a:r>
            <a:rPr lang="es-ES_tradnl" sz="2100" kern="1200" dirty="0">
              <a:solidFill>
                <a:schemeClr val="bg1"/>
              </a:solidFill>
            </a:rPr>
            <a:t> requiere 1 libra de plástico y 4 minutos de producción  por docena. Encontrar el Plan común de producción para fabricar la mayor cantidad del producto que deje mejores ganancias, el cual corresponde a </a:t>
          </a:r>
          <a:r>
            <a:rPr lang="es-ES_tradnl" sz="2100" kern="1200" dirty="0" err="1">
              <a:solidFill>
                <a:schemeClr val="bg1"/>
              </a:solidFill>
            </a:rPr>
            <a:t>Space</a:t>
          </a:r>
          <a:r>
            <a:rPr lang="es-ES_tradnl" sz="2100" kern="1200" dirty="0">
              <a:solidFill>
                <a:schemeClr val="bg1"/>
              </a:solidFill>
            </a:rPr>
            <a:t> Ray  (8 $/docena). Usar la menor cantidad de recursos para producir </a:t>
          </a:r>
          <a:r>
            <a:rPr lang="es-ES_tradnl" sz="2100" kern="1200" dirty="0" err="1">
              <a:solidFill>
                <a:schemeClr val="bg1"/>
              </a:solidFill>
            </a:rPr>
            <a:t>Zappers</a:t>
          </a:r>
          <a:r>
            <a:rPr lang="es-ES_tradnl" sz="2100" kern="1200" dirty="0">
              <a:solidFill>
                <a:schemeClr val="bg1"/>
              </a:solidFill>
            </a:rPr>
            <a:t>, porque estos dejan una menor utilidad (5 $/docena). </a:t>
          </a:r>
        </a:p>
        <a:p>
          <a:pPr marL="0" lvl="0" indent="0" algn="just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 dirty="0">
              <a:latin typeface="Arial Narrow" panose="020B0606020202030204" pitchFamily="34" charset="0"/>
              <a:ea typeface="Calibri" panose="020F0502020204030204" pitchFamily="34" charset="0"/>
            </a:rPr>
            <a:t>Se pide: a)H</a:t>
          </a:r>
          <a:r>
            <a:rPr lang="es-PE" sz="2100" b="1" kern="1200" dirty="0" err="1">
              <a:latin typeface="Arial Narrow" panose="020B0606020202030204" pitchFamily="34" charset="0"/>
            </a:rPr>
            <a:t>allar</a:t>
          </a:r>
          <a:r>
            <a:rPr lang="es-PE" sz="2100" b="1" kern="1200" dirty="0">
              <a:latin typeface="Arial Narrow" panose="020B0606020202030204" pitchFamily="34" charset="0"/>
            </a:rPr>
            <a:t> el</a:t>
          </a:r>
          <a:r>
            <a:rPr lang="es-ES" sz="2100" b="1" kern="1200" dirty="0">
              <a:latin typeface="Arial Narrow" panose="020B0606020202030204" pitchFamily="34" charset="0"/>
              <a:ea typeface="Calibri" panose="020F0502020204030204" pitchFamily="34" charset="0"/>
            </a:rPr>
            <a:t> modelo y resolver con el Método gráfico. 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b="1" kern="1200" dirty="0">
              <a:latin typeface="Arial Narrow" panose="020B0606020202030204" pitchFamily="34" charset="0"/>
            </a:rPr>
            <a:t>	b) Análisis de sensibilidad de los coeficientes de </a:t>
          </a:r>
          <a:r>
            <a:rPr lang="es-PE" sz="2100" b="1" kern="1200" dirty="0" err="1">
              <a:latin typeface="Arial Narrow" panose="020B0606020202030204" pitchFamily="34" charset="0"/>
            </a:rPr>
            <a:t>F.O</a:t>
          </a:r>
          <a:r>
            <a:rPr lang="es-PE" sz="2100" b="1" kern="1200" dirty="0">
              <a:latin typeface="Arial Narrow" panose="020B0606020202030204" pitchFamily="34" charset="0"/>
            </a:rPr>
            <a:t>.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b="1" kern="1200" dirty="0">
              <a:latin typeface="Arial Narrow" panose="020B0606020202030204" pitchFamily="34" charset="0"/>
            </a:rPr>
            <a:t>	c) Análisis de sensibilidad del lado derecho. </a:t>
          </a:r>
          <a:endParaRPr lang="es-ES" sz="2100" kern="1200" dirty="0">
            <a:solidFill>
              <a:schemeClr val="bg1"/>
            </a:solidFill>
          </a:endParaRPr>
        </a:p>
      </dsp:txBody>
      <dsp:txXfrm>
        <a:off x="249477" y="272793"/>
        <a:ext cx="8787587" cy="46116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4D0EB-A336-41DB-98F3-9BF05C89E511}">
      <dsp:nvSpPr>
        <dsp:cNvPr id="0" name=""/>
        <dsp:cNvSpPr/>
      </dsp:nvSpPr>
      <dsp:spPr>
        <a:xfrm rot="5400000">
          <a:off x="1178368" y="-93947"/>
          <a:ext cx="1181862" cy="16652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600" kern="1200" dirty="0"/>
            <a:t>Igualación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600" kern="1200" dirty="0"/>
            <a:t>Sustitución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600" kern="1200" dirty="0"/>
            <a:t>Sumas o restas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600" kern="1200"/>
            <a:t>Determinante</a:t>
          </a:r>
        </a:p>
      </dsp:txBody>
      <dsp:txXfrm rot="-5400000">
        <a:off x="936688" y="205427"/>
        <a:ext cx="1607529" cy="1066474"/>
      </dsp:txXfrm>
    </dsp:sp>
    <dsp:sp modelId="{14DFAF77-5DD6-444F-A28B-322771CBB4C4}">
      <dsp:nvSpPr>
        <dsp:cNvPr id="0" name=""/>
        <dsp:cNvSpPr/>
      </dsp:nvSpPr>
      <dsp:spPr>
        <a:xfrm>
          <a:off x="0" y="0"/>
          <a:ext cx="936688" cy="14773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500" kern="1200" dirty="0"/>
            <a:t>Métodos</a:t>
          </a:r>
        </a:p>
      </dsp:txBody>
      <dsp:txXfrm>
        <a:off x="45725" y="45725"/>
        <a:ext cx="845238" cy="13858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CE87A-8CFE-4158-A372-53D996D1E59E}">
      <dsp:nvSpPr>
        <dsp:cNvPr id="0" name=""/>
        <dsp:cNvSpPr/>
      </dsp:nvSpPr>
      <dsp:spPr>
        <a:xfrm>
          <a:off x="0" y="38721"/>
          <a:ext cx="8136904" cy="7898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600" kern="1200" dirty="0" err="1"/>
            <a:t>Space</a:t>
          </a:r>
          <a:r>
            <a:rPr lang="es-PE" sz="2600" kern="1200" dirty="0"/>
            <a:t> </a:t>
          </a:r>
          <a:r>
            <a:rPr lang="es-PE" sz="2600" kern="1200" dirty="0" err="1"/>
            <a:t>Rays</a:t>
          </a:r>
          <a:r>
            <a:rPr lang="es-PE" sz="2600" kern="1200" dirty="0"/>
            <a:t>  = 480 docenas        </a:t>
          </a:r>
          <a:r>
            <a:rPr lang="es-PE" sz="2600" kern="1200" dirty="0" err="1"/>
            <a:t>Zappers</a:t>
          </a:r>
          <a:r>
            <a:rPr lang="es-PE" sz="2600" kern="1200" dirty="0"/>
            <a:t>       = 240 docenas</a:t>
          </a:r>
        </a:p>
      </dsp:txBody>
      <dsp:txXfrm>
        <a:off x="38560" y="77281"/>
        <a:ext cx="8059784" cy="712779"/>
      </dsp:txXfrm>
    </dsp:sp>
    <dsp:sp modelId="{8B91F4D6-51E2-4E10-A9D6-C85A201F3054}">
      <dsp:nvSpPr>
        <dsp:cNvPr id="0" name=""/>
        <dsp:cNvSpPr/>
      </dsp:nvSpPr>
      <dsp:spPr>
        <a:xfrm>
          <a:off x="0" y="915021"/>
          <a:ext cx="8136904" cy="7606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600" kern="1200" dirty="0"/>
            <a:t>Ganancia     =  $5040</a:t>
          </a:r>
        </a:p>
      </dsp:txBody>
      <dsp:txXfrm>
        <a:off x="37133" y="952154"/>
        <a:ext cx="8062638" cy="686407"/>
      </dsp:txXfrm>
    </dsp:sp>
    <dsp:sp modelId="{13E52454-42F1-4C36-AD62-26FEA9CD5E17}">
      <dsp:nvSpPr>
        <dsp:cNvPr id="0" name=""/>
        <dsp:cNvSpPr/>
      </dsp:nvSpPr>
      <dsp:spPr>
        <a:xfrm>
          <a:off x="0" y="1762094"/>
          <a:ext cx="8136904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600" kern="1200"/>
            <a:t>Esta solución utiliza todas las materias primas (plástico) y todas las horas de producción.</a:t>
          </a:r>
        </a:p>
      </dsp:txBody>
      <dsp:txXfrm>
        <a:off x="58257" y="1820351"/>
        <a:ext cx="8020390" cy="1076886"/>
      </dsp:txXfrm>
    </dsp:sp>
    <dsp:sp modelId="{DD20CC8B-5887-4796-9080-4DDB0F4A933D}">
      <dsp:nvSpPr>
        <dsp:cNvPr id="0" name=""/>
        <dsp:cNvSpPr/>
      </dsp:nvSpPr>
      <dsp:spPr>
        <a:xfrm>
          <a:off x="0" y="3041894"/>
          <a:ext cx="8136904" cy="7522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600" kern="1200"/>
            <a:t>La producción total son 720 docenas (no 800).</a:t>
          </a:r>
        </a:p>
      </dsp:txBody>
      <dsp:txXfrm>
        <a:off x="36723" y="3078617"/>
        <a:ext cx="8063458" cy="678825"/>
      </dsp:txXfrm>
    </dsp:sp>
    <dsp:sp modelId="{2C94A915-5E71-4E8D-B222-6F11F693C0D7}">
      <dsp:nvSpPr>
        <dsp:cNvPr id="0" name=""/>
        <dsp:cNvSpPr/>
      </dsp:nvSpPr>
      <dsp:spPr>
        <a:xfrm>
          <a:off x="0" y="3880566"/>
          <a:ext cx="8136904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600" kern="1200"/>
            <a:t>La producción de Space Rays excede a la de Zappers por solo 240 docenas y no por 450.</a:t>
          </a:r>
        </a:p>
      </dsp:txBody>
      <dsp:txXfrm>
        <a:off x="58257" y="3938823"/>
        <a:ext cx="8020390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FDB4C-8DB5-4895-9E8B-EB4F1648811C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1909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22341512"/>
      </p:ext>
    </p:extLst>
  </p:cSld>
  <p:clrMapOvr>
    <a:masterClrMapping/>
  </p:clrMapOvr>
  <p:transition>
    <p:fade thruBlk="1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0668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9.jfi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0.jp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>
                <a:solidFill>
                  <a:srgbClr val="FF0000"/>
                </a:solidFill>
                <a:latin typeface="Bauhaus 93" pitchFamily="82" charset="0"/>
              </a:rPr>
              <a:t>ANÁLISIS DE SENSIBILIDAD</a:t>
            </a:r>
            <a:endParaRPr lang="es-ES" dirty="0">
              <a:solidFill>
                <a:srgbClr val="0064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Semana 5</a:t>
            </a: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575" y="1991473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642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887584-455C-4A6C-AF0A-668B02261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007" y="4336781"/>
            <a:ext cx="1547499" cy="10964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E34F78-B24E-4BD4-89FA-3A052C579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769" y="4328155"/>
            <a:ext cx="1547969" cy="10863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7E1E10-FA07-4C87-BAC2-2BA7289CB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298" y="2004898"/>
            <a:ext cx="1537404" cy="1086390"/>
          </a:xfrm>
          <a:prstGeom prst="rect">
            <a:avLst/>
          </a:prstGeom>
        </p:spPr>
      </p:pic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548680"/>
            <a:ext cx="8362950" cy="70328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Orientaciones</a:t>
            </a:r>
          </a:p>
        </p:txBody>
      </p:sp>
      <p:graphicFrame>
        <p:nvGraphicFramePr>
          <p:cNvPr id="3" name="2 Diagrama"/>
          <p:cNvGraphicFramePr/>
          <p:nvPr/>
        </p:nvGraphicFramePr>
        <p:xfrm>
          <a:off x="2902510" y="1268760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470FC0F9-7E8A-49F6-A61F-06EBD9F874C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378324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09646" y="623889"/>
            <a:ext cx="6354706" cy="56356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PE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</a:p>
        </p:txBody>
      </p:sp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1497008" y="2024064"/>
            <a:ext cx="697705" cy="665163"/>
            <a:chOff x="1110" y="2656"/>
            <a:chExt cx="1549" cy="1351"/>
          </a:xfrm>
          <a:solidFill>
            <a:srgbClr val="7030A0"/>
          </a:solidFill>
        </p:grpSpPr>
        <p:sp>
          <p:nvSpPr>
            <p:cNvPr id="6758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9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1497008" y="2938464"/>
            <a:ext cx="697705" cy="665163"/>
            <a:chOff x="3174" y="2656"/>
            <a:chExt cx="1549" cy="1351"/>
          </a:xfrm>
        </p:grpSpPr>
        <p:sp>
          <p:nvSpPr>
            <p:cNvPr id="6759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9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2268551" y="2087961"/>
            <a:ext cx="520206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Definición</a:t>
            </a:r>
            <a:r>
              <a:rPr lang="es-ES_tradnl" sz="3200" dirty="0">
                <a:solidFill>
                  <a:schemeClr val="bg1"/>
                </a:solidFill>
              </a:rPr>
              <a:t> de Método Gráfico.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gray">
          <a:xfrm>
            <a:off x="1665511" y="2080923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2280651" y="2959318"/>
            <a:ext cx="877977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Análisis de sensibilidad de los coeficientes de la F.O.</a:t>
            </a: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gray">
          <a:xfrm>
            <a:off x="1665511" y="2995323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1497008" y="3830638"/>
            <a:ext cx="697705" cy="665163"/>
            <a:chOff x="1110" y="2656"/>
            <a:chExt cx="1549" cy="1351"/>
          </a:xfrm>
          <a:solidFill>
            <a:srgbClr val="7030A0"/>
          </a:solidFill>
        </p:grpSpPr>
        <p:sp>
          <p:nvSpPr>
            <p:cNvPr id="676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1497008" y="4745038"/>
            <a:ext cx="697705" cy="665163"/>
            <a:chOff x="3174" y="2656"/>
            <a:chExt cx="1549" cy="1351"/>
          </a:xfrm>
        </p:grpSpPr>
        <p:sp>
          <p:nvSpPr>
            <p:cNvPr id="676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sp>
        <p:nvSpPr>
          <p:cNvPr id="67611" name="Text Box 27"/>
          <p:cNvSpPr txBox="1">
            <a:spLocks noChangeArrowheads="1"/>
          </p:cNvSpPr>
          <p:nvPr/>
        </p:nvSpPr>
        <p:spPr bwMode="gray">
          <a:xfrm>
            <a:off x="1665511" y="3887497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612" name="Line 28"/>
          <p:cNvSpPr>
            <a:spLocks noChangeShapeType="1"/>
          </p:cNvSpPr>
          <p:nvPr/>
        </p:nvSpPr>
        <p:spPr bwMode="auto">
          <a:xfrm>
            <a:off x="2393071" y="5382702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2280651" y="3753144"/>
            <a:ext cx="697441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Análisis de sensibilidad del Lado derecho</a:t>
            </a:r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gray">
          <a:xfrm>
            <a:off x="1665511" y="4801898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3912396" y="722313"/>
            <a:ext cx="184731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 sz="1050"/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2268551" y="4805682"/>
            <a:ext cx="452059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Problemas</a:t>
            </a:r>
            <a:r>
              <a:rPr lang="es-ES_tradnl" sz="3200" dirty="0"/>
              <a:t> de sensibilidad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5BBE3D30-1F51-4D0E-B686-7852CBE1E68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</a:p>
        </p:txBody>
      </p:sp>
      <p:sp>
        <p:nvSpPr>
          <p:cNvPr id="2" name="Line 28">
            <a:extLst>
              <a:ext uri="{FF2B5EF4-FFF2-40B4-BE49-F238E27FC236}">
                <a16:creationId xmlns:a16="http://schemas.microsoft.com/office/drawing/2014/main" id="{A80118FC-34D1-418F-BA5F-8DEC2E4EA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3071" y="2662420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  <p:sp>
        <p:nvSpPr>
          <p:cNvPr id="3" name="Line 28">
            <a:extLst>
              <a:ext uri="{FF2B5EF4-FFF2-40B4-BE49-F238E27FC236}">
                <a16:creationId xmlns:a16="http://schemas.microsoft.com/office/drawing/2014/main" id="{7E60C6F7-B21C-E421-3E5F-178AD4D63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3071" y="3540049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  <p:sp>
        <p:nvSpPr>
          <p:cNvPr id="4" name="Line 28">
            <a:extLst>
              <a:ext uri="{FF2B5EF4-FFF2-40B4-BE49-F238E27FC236}">
                <a16:creationId xmlns:a16="http://schemas.microsoft.com/office/drawing/2014/main" id="{B92D8A48-B82C-C1B7-0A14-E66574A81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3071" y="4454660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355707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PC\AppData\Local\Microsoft\Windows\INetCache\IE\VY38PY3E\question-mark-1019820_960_720[1].jpg">
            <a:extLst>
              <a:ext uri="{FF2B5EF4-FFF2-40B4-BE49-F238E27FC236}">
                <a16:creationId xmlns:a16="http://schemas.microsoft.com/office/drawing/2014/main" id="{9BB08076-CF3E-49A0-8E0F-C53D08625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50234"/>
            <a:ext cx="2308634" cy="207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70CCE4CF-204F-4E26-99B0-F06593EAFDF8}"/>
              </a:ext>
            </a:extLst>
          </p:cNvPr>
          <p:cNvSpPr/>
          <p:nvPr/>
        </p:nvSpPr>
        <p:spPr>
          <a:xfrm>
            <a:off x="1842656" y="2169176"/>
            <a:ext cx="3311296" cy="2989419"/>
          </a:xfrm>
          <a:custGeom>
            <a:avLst/>
            <a:gdLst>
              <a:gd name="connsiteX0" fmla="*/ 0 w 3082978"/>
              <a:gd name="connsiteY0" fmla="*/ 421621 h 2529676"/>
              <a:gd name="connsiteX1" fmla="*/ 421621 w 3082978"/>
              <a:gd name="connsiteY1" fmla="*/ 0 h 2529676"/>
              <a:gd name="connsiteX2" fmla="*/ 2661357 w 3082978"/>
              <a:gd name="connsiteY2" fmla="*/ 0 h 2529676"/>
              <a:gd name="connsiteX3" fmla="*/ 3082978 w 3082978"/>
              <a:gd name="connsiteY3" fmla="*/ 421621 h 2529676"/>
              <a:gd name="connsiteX4" fmla="*/ 3082978 w 3082978"/>
              <a:gd name="connsiteY4" fmla="*/ 2108055 h 2529676"/>
              <a:gd name="connsiteX5" fmla="*/ 2661357 w 3082978"/>
              <a:gd name="connsiteY5" fmla="*/ 2529676 h 2529676"/>
              <a:gd name="connsiteX6" fmla="*/ 421621 w 3082978"/>
              <a:gd name="connsiteY6" fmla="*/ 2529676 h 2529676"/>
              <a:gd name="connsiteX7" fmla="*/ 0 w 3082978"/>
              <a:gd name="connsiteY7" fmla="*/ 2108055 h 2529676"/>
              <a:gd name="connsiteX8" fmla="*/ 0 w 3082978"/>
              <a:gd name="connsiteY8" fmla="*/ 421621 h 252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82978" h="2529676">
                <a:moveTo>
                  <a:pt x="0" y="421621"/>
                </a:moveTo>
                <a:cubicBezTo>
                  <a:pt x="0" y="188766"/>
                  <a:pt x="188766" y="0"/>
                  <a:pt x="421621" y="0"/>
                </a:cubicBezTo>
                <a:lnTo>
                  <a:pt x="2661357" y="0"/>
                </a:lnTo>
                <a:cubicBezTo>
                  <a:pt x="2894212" y="0"/>
                  <a:pt x="3082978" y="188766"/>
                  <a:pt x="3082978" y="421621"/>
                </a:cubicBezTo>
                <a:lnTo>
                  <a:pt x="3082978" y="2108055"/>
                </a:lnTo>
                <a:cubicBezTo>
                  <a:pt x="3082978" y="2340910"/>
                  <a:pt x="2894212" y="2529676"/>
                  <a:pt x="2661357" y="2529676"/>
                </a:cubicBezTo>
                <a:lnTo>
                  <a:pt x="421621" y="2529676"/>
                </a:lnTo>
                <a:cubicBezTo>
                  <a:pt x="188766" y="2529676"/>
                  <a:pt x="0" y="2340910"/>
                  <a:pt x="0" y="2108055"/>
                </a:cubicBezTo>
                <a:lnTo>
                  <a:pt x="0" y="42162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169" tIns="176829" rIns="230169" bIns="176829" numCol="1" spcCol="1270" anchor="ctr" anchorCtr="0">
            <a:noAutofit/>
          </a:bodyPr>
          <a:lstStyle/>
          <a:p>
            <a:pPr marL="0" lvl="0" indent="0" algn="ctr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3200" kern="1200" dirty="0"/>
              <a:t>DEFINICIÓN:</a:t>
            </a:r>
          </a:p>
          <a:p>
            <a:pPr marL="0" lvl="0" indent="0" algn="ctr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3200" kern="1200" dirty="0"/>
              <a:t>Consiste en hacer cambios en el modelo para conocer sus efectos. </a:t>
            </a:r>
          </a:p>
        </p:txBody>
      </p:sp>
      <p:sp>
        <p:nvSpPr>
          <p:cNvPr id="5" name="Rectángulo 2"/>
          <p:cNvSpPr txBox="1">
            <a:spLocks noChangeArrowheads="1"/>
          </p:cNvSpPr>
          <p:nvPr/>
        </p:nvSpPr>
        <p:spPr>
          <a:xfrm>
            <a:off x="6096000" y="255275"/>
            <a:ext cx="6096000" cy="577370"/>
          </a:xfrm>
          <a:prstGeom prst="rect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altLang="es-ES" sz="2800" dirty="0">
                <a:solidFill>
                  <a:schemeClr val="bg1"/>
                </a:solidFill>
                <a:latin typeface="Bauhaus 93" pitchFamily="82" charset="0"/>
              </a:rPr>
              <a:t>ANÁLISIS DE SENSIBILIDAD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23DC405D-8A26-49A7-A474-FF94FBCCCE76}"/>
              </a:ext>
            </a:extLst>
          </p:cNvPr>
          <p:cNvSpPr/>
          <p:nvPr/>
        </p:nvSpPr>
        <p:spPr>
          <a:xfrm>
            <a:off x="5149841" y="2214203"/>
            <a:ext cx="5886749" cy="2921911"/>
          </a:xfrm>
          <a:custGeom>
            <a:avLst/>
            <a:gdLst>
              <a:gd name="connsiteX0" fmla="*/ 401994 w 2411914"/>
              <a:gd name="connsiteY0" fmla="*/ 0 h 5480849"/>
              <a:gd name="connsiteX1" fmla="*/ 2009920 w 2411914"/>
              <a:gd name="connsiteY1" fmla="*/ 0 h 5480849"/>
              <a:gd name="connsiteX2" fmla="*/ 2411914 w 2411914"/>
              <a:gd name="connsiteY2" fmla="*/ 401994 h 5480849"/>
              <a:gd name="connsiteX3" fmla="*/ 2411914 w 2411914"/>
              <a:gd name="connsiteY3" fmla="*/ 5480849 h 5480849"/>
              <a:gd name="connsiteX4" fmla="*/ 2411914 w 2411914"/>
              <a:gd name="connsiteY4" fmla="*/ 5480849 h 5480849"/>
              <a:gd name="connsiteX5" fmla="*/ 0 w 2411914"/>
              <a:gd name="connsiteY5" fmla="*/ 5480849 h 5480849"/>
              <a:gd name="connsiteX6" fmla="*/ 0 w 2411914"/>
              <a:gd name="connsiteY6" fmla="*/ 5480849 h 5480849"/>
              <a:gd name="connsiteX7" fmla="*/ 0 w 2411914"/>
              <a:gd name="connsiteY7" fmla="*/ 401994 h 5480849"/>
              <a:gd name="connsiteX8" fmla="*/ 401994 w 2411914"/>
              <a:gd name="connsiteY8" fmla="*/ 0 h 548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11914" h="5480849">
                <a:moveTo>
                  <a:pt x="2411914" y="913495"/>
                </a:moveTo>
                <a:lnTo>
                  <a:pt x="2411914" y="4567354"/>
                </a:lnTo>
                <a:cubicBezTo>
                  <a:pt x="2411914" y="5071863"/>
                  <a:pt x="2332712" y="5480848"/>
                  <a:pt x="2235011" y="5480848"/>
                </a:cubicBezTo>
                <a:lnTo>
                  <a:pt x="0" y="5480848"/>
                </a:lnTo>
                <a:lnTo>
                  <a:pt x="0" y="5480848"/>
                </a:lnTo>
                <a:lnTo>
                  <a:pt x="0" y="1"/>
                </a:lnTo>
                <a:lnTo>
                  <a:pt x="0" y="1"/>
                </a:lnTo>
                <a:lnTo>
                  <a:pt x="2235011" y="1"/>
                </a:lnTo>
                <a:cubicBezTo>
                  <a:pt x="2332712" y="1"/>
                  <a:pt x="2411914" y="408986"/>
                  <a:pt x="2411914" y="913495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1" tIns="241565" rIns="365390" bIns="241566" numCol="1" spcCol="1270" anchor="ctr" anchorCtr="0">
            <a:noAutofit/>
          </a:bodyPr>
          <a:lstStyle/>
          <a:p>
            <a:pPr marL="0" lvl="1" algn="ctr" defTabSz="12446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PE" sz="3200" kern="1200" dirty="0"/>
              <a:t>CASOS:</a:t>
            </a:r>
          </a:p>
          <a:p>
            <a:pPr marL="571500" lvl="2" indent="-285750" algn="l" defTabSz="12446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PE" sz="3200" kern="1200" dirty="0"/>
              <a:t>Análisis de los coeficientes de la Función objetivo</a:t>
            </a:r>
          </a:p>
          <a:p>
            <a:pPr marL="571500" lvl="2" indent="-285750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es-PE" sz="3200" dirty="0"/>
              <a:t>Análisis de lado derecho</a:t>
            </a:r>
            <a:endParaRPr lang="es-PE" sz="3200" kern="1200" dirty="0"/>
          </a:p>
        </p:txBody>
      </p:sp>
    </p:spTree>
    <p:extLst>
      <p:ext uri="{BB962C8B-B14F-4D97-AF65-F5344CB8AC3E}">
        <p14:creationId xmlns:p14="http://schemas.microsoft.com/office/powerpoint/2010/main" val="141313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42;g21165c73683_0_135">
            <a:extLst>
              <a:ext uri="{FF2B5EF4-FFF2-40B4-BE49-F238E27FC236}">
                <a16:creationId xmlns:a16="http://schemas.microsoft.com/office/drawing/2014/main" id="{D750D83A-21B3-B848-064E-B721B535B283}"/>
              </a:ext>
            </a:extLst>
          </p:cNvPr>
          <p:cNvSpPr/>
          <p:nvPr/>
        </p:nvSpPr>
        <p:spPr>
          <a:xfrm>
            <a:off x="7890256" y="1708719"/>
            <a:ext cx="2152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 Narrow" panose="020B0606020202030204" pitchFamily="34" charset="0"/>
            </a:endParaRPr>
          </a:p>
        </p:txBody>
      </p:sp>
      <p:sp>
        <p:nvSpPr>
          <p:cNvPr id="10" name="Google Shape;343;g21165c73683_0_135">
            <a:extLst>
              <a:ext uri="{FF2B5EF4-FFF2-40B4-BE49-F238E27FC236}">
                <a16:creationId xmlns:a16="http://schemas.microsoft.com/office/drawing/2014/main" id="{715B1311-EE8E-034D-467C-15826494A75F}"/>
              </a:ext>
            </a:extLst>
          </p:cNvPr>
          <p:cNvSpPr txBox="1"/>
          <p:nvPr/>
        </p:nvSpPr>
        <p:spPr>
          <a:xfrm>
            <a:off x="7890256" y="1708719"/>
            <a:ext cx="2152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 Narrow" panose="020B0606020202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44;g21165c73683_0_135">
            <a:extLst>
              <a:ext uri="{FF2B5EF4-FFF2-40B4-BE49-F238E27FC236}">
                <a16:creationId xmlns:a16="http://schemas.microsoft.com/office/drawing/2014/main" id="{7553C24D-A4BB-4470-4E4C-6097A3682630}"/>
              </a:ext>
            </a:extLst>
          </p:cNvPr>
          <p:cNvSpPr/>
          <p:nvPr/>
        </p:nvSpPr>
        <p:spPr>
          <a:xfrm rot="5400000">
            <a:off x="1717440" y="599902"/>
            <a:ext cx="3588281" cy="308967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>
              <a:lumMod val="50000"/>
            </a:schemeClr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rial Narrow" panose="020B0606020202030204" pitchFamily="34" charset="0"/>
            </a:endParaRPr>
          </a:p>
        </p:txBody>
      </p:sp>
      <p:sp>
        <p:nvSpPr>
          <p:cNvPr id="12" name="Google Shape;345;g21165c73683_0_135">
            <a:extLst>
              <a:ext uri="{FF2B5EF4-FFF2-40B4-BE49-F238E27FC236}">
                <a16:creationId xmlns:a16="http://schemas.microsoft.com/office/drawing/2014/main" id="{96B4D1A9-931A-539E-BE04-026D7C7030E6}"/>
              </a:ext>
            </a:extLst>
          </p:cNvPr>
          <p:cNvSpPr txBox="1"/>
          <p:nvPr/>
        </p:nvSpPr>
        <p:spPr>
          <a:xfrm>
            <a:off x="2032232" y="667518"/>
            <a:ext cx="3023998" cy="310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ctr" anchorCtr="0">
            <a:noAutofit/>
          </a:bodyPr>
          <a:lstStyle>
            <a:defPPr>
              <a:defRPr lang="es-PE"/>
            </a:defPPr>
            <a:lvl1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lvl="0" defTabSz="977900">
              <a:spcBef>
                <a:spcPct val="0"/>
              </a:spcBef>
              <a:spcAft>
                <a:spcPct val="35000"/>
              </a:spcAft>
            </a:pPr>
            <a:r>
              <a:rPr lang="es-PE" sz="2400" dirty="0">
                <a:latin typeface="Arial Narrow" panose="020B0606020202030204" pitchFamily="34" charset="0"/>
              </a:rPr>
              <a:t>Debido a problemas laborales, se pierden 150 horas, ¿Cuánto deja de ganar la empresa?</a:t>
            </a:r>
          </a:p>
        </p:txBody>
      </p:sp>
      <p:sp>
        <p:nvSpPr>
          <p:cNvPr id="14" name="Google Shape;347;g21165c73683_0_135">
            <a:extLst>
              <a:ext uri="{FF2B5EF4-FFF2-40B4-BE49-F238E27FC236}">
                <a16:creationId xmlns:a16="http://schemas.microsoft.com/office/drawing/2014/main" id="{0B07E60C-7825-E6EE-5A39-87272AC55F72}"/>
              </a:ext>
            </a:extLst>
          </p:cNvPr>
          <p:cNvSpPr txBox="1"/>
          <p:nvPr/>
        </p:nvSpPr>
        <p:spPr>
          <a:xfrm>
            <a:off x="2259576" y="5147525"/>
            <a:ext cx="1678200" cy="13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ctr" anchorCtr="0">
            <a:noAutofit/>
          </a:bodyPr>
          <a:lstStyle>
            <a:defPPr>
              <a:defRPr lang="es-PE"/>
            </a:defPPr>
            <a:lvl1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s-PE" sz="2400" dirty="0">
                <a:latin typeface="Arial Narrow" panose="020B0606020202030204" pitchFamily="34" charset="0"/>
              </a:rPr>
              <a:t>Sistema Operativo</a:t>
            </a:r>
            <a:endParaRPr sz="2400" dirty="0">
              <a:latin typeface="Arial Narrow" panose="020B0606020202030204" pitchFamily="34" charset="0"/>
              <a:sym typeface="arial"/>
            </a:endParaRPr>
          </a:p>
        </p:txBody>
      </p:sp>
      <p:sp>
        <p:nvSpPr>
          <p:cNvPr id="15" name="Google Shape;348;g21165c73683_0_135">
            <a:extLst>
              <a:ext uri="{FF2B5EF4-FFF2-40B4-BE49-F238E27FC236}">
                <a16:creationId xmlns:a16="http://schemas.microsoft.com/office/drawing/2014/main" id="{B0B77146-A825-2D07-A3AE-A6007B48E5AB}"/>
              </a:ext>
            </a:extLst>
          </p:cNvPr>
          <p:cNvSpPr/>
          <p:nvPr/>
        </p:nvSpPr>
        <p:spPr>
          <a:xfrm>
            <a:off x="3098676" y="3346035"/>
            <a:ext cx="20832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 Narrow" panose="020B0606020202030204" pitchFamily="34" charset="0"/>
            </a:endParaRPr>
          </a:p>
        </p:txBody>
      </p:sp>
      <p:sp>
        <p:nvSpPr>
          <p:cNvPr id="20" name="Google Shape;353;g21165c73683_0_135">
            <a:extLst>
              <a:ext uri="{FF2B5EF4-FFF2-40B4-BE49-F238E27FC236}">
                <a16:creationId xmlns:a16="http://schemas.microsoft.com/office/drawing/2014/main" id="{6946CE7B-8B0F-F449-E000-E69865E549E4}"/>
              </a:ext>
            </a:extLst>
          </p:cNvPr>
          <p:cNvSpPr txBox="1"/>
          <p:nvPr/>
        </p:nvSpPr>
        <p:spPr>
          <a:xfrm>
            <a:off x="6288374" y="4898156"/>
            <a:ext cx="1375169" cy="13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ctr" anchorCtr="0">
            <a:noAutofit/>
          </a:bodyPr>
          <a:lstStyle>
            <a:defPPr>
              <a:defRPr lang="es-PE"/>
            </a:defPPr>
            <a:lvl1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s-ES" sz="2400" dirty="0">
                <a:latin typeface="Arial Narrow" panose="020B0606020202030204" pitchFamily="34" charset="0"/>
                <a:sym typeface="arial"/>
              </a:rPr>
              <a:t>Sistema de comunicaciones</a:t>
            </a:r>
            <a:endParaRPr sz="2400" dirty="0">
              <a:latin typeface="Arial Narrow" panose="020B0606020202030204" pitchFamily="34" charset="0"/>
              <a:sym typeface="arial"/>
            </a:endParaRPr>
          </a:p>
        </p:txBody>
      </p:sp>
      <p:sp>
        <p:nvSpPr>
          <p:cNvPr id="22" name="Google Shape;357;g21165c73683_0_135">
            <a:extLst>
              <a:ext uri="{FF2B5EF4-FFF2-40B4-BE49-F238E27FC236}">
                <a16:creationId xmlns:a16="http://schemas.microsoft.com/office/drawing/2014/main" id="{DD3AC643-FF20-8B52-D46C-4DA18AE2F793}"/>
              </a:ext>
            </a:extLst>
          </p:cNvPr>
          <p:cNvSpPr txBox="1"/>
          <p:nvPr/>
        </p:nvSpPr>
        <p:spPr>
          <a:xfrm>
            <a:off x="4610174" y="4898156"/>
            <a:ext cx="1155300" cy="13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 Narrow" panose="020B060602020203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6" name="Google Shape;350;g21165c73683_0_135">
            <a:extLst>
              <a:ext uri="{FF2B5EF4-FFF2-40B4-BE49-F238E27FC236}">
                <a16:creationId xmlns:a16="http://schemas.microsoft.com/office/drawing/2014/main" id="{C01BCD97-73D0-2A41-00E6-DC7E8964EDEC}"/>
              </a:ext>
            </a:extLst>
          </p:cNvPr>
          <p:cNvSpPr/>
          <p:nvPr/>
        </p:nvSpPr>
        <p:spPr>
          <a:xfrm rot="5400000">
            <a:off x="3304705" y="3446896"/>
            <a:ext cx="3588283" cy="308967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BBD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vert270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rial Narrow" panose="020B0606020202030204" pitchFamily="34" charset="0"/>
            </a:endParaRPr>
          </a:p>
        </p:txBody>
      </p:sp>
      <p:sp>
        <p:nvSpPr>
          <p:cNvPr id="27" name="Google Shape;352;g21165c73683_0_135">
            <a:extLst>
              <a:ext uri="{FF2B5EF4-FFF2-40B4-BE49-F238E27FC236}">
                <a16:creationId xmlns:a16="http://schemas.microsoft.com/office/drawing/2014/main" id="{9CFB2C7E-6CD6-D4AE-5F99-4E35E020FEBE}"/>
              </a:ext>
            </a:extLst>
          </p:cNvPr>
          <p:cNvSpPr/>
          <p:nvPr/>
        </p:nvSpPr>
        <p:spPr>
          <a:xfrm rot="5400000">
            <a:off x="4890762" y="597484"/>
            <a:ext cx="3588283" cy="3089672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6">
              <a:lumMod val="50000"/>
            </a:schemeClr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vert270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0" name="Google Shape;346;g21165c73683_0_135">
            <a:extLst>
              <a:ext uri="{FF2B5EF4-FFF2-40B4-BE49-F238E27FC236}">
                <a16:creationId xmlns:a16="http://schemas.microsoft.com/office/drawing/2014/main" id="{87041493-8AEA-ABA5-9BFD-612A10C77F8B}"/>
              </a:ext>
            </a:extLst>
          </p:cNvPr>
          <p:cNvSpPr/>
          <p:nvPr/>
        </p:nvSpPr>
        <p:spPr>
          <a:xfrm rot="5400000">
            <a:off x="143479" y="3446895"/>
            <a:ext cx="3588282" cy="3089672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tx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vert270" wrap="square" lIns="91425" tIns="91425" rIns="91425" bIns="91425" anchor="ctr" anchorCtr="0">
            <a:noAutofit/>
          </a:bodyPr>
          <a:lstStyle/>
          <a:p>
            <a:pPr lvl="0" algn="ctr"/>
            <a:r>
              <a:rPr lang="es-PE" sz="2400" dirty="0">
                <a:solidFill>
                  <a:schemeClr val="bg1"/>
                </a:solidFill>
                <a:latin typeface="Arial Narrow" panose="020B0606020202030204" pitchFamily="34" charset="0"/>
              </a:rPr>
              <a:t>La ganancia de un producto aumenta $2. ¿Varía el plan de producción óptimo</a:t>
            </a:r>
            <a:r>
              <a:rPr lang="es-PE" sz="2400" dirty="0">
                <a:latin typeface="Arial Narrow" panose="020B0606020202030204" pitchFamily="34" charset="0"/>
              </a:rPr>
              <a:t>?</a:t>
            </a:r>
            <a:endParaRPr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Google Shape;351;g21165c73683_0_135">
            <a:extLst>
              <a:ext uri="{FF2B5EF4-FFF2-40B4-BE49-F238E27FC236}">
                <a16:creationId xmlns:a16="http://schemas.microsoft.com/office/drawing/2014/main" id="{0964F9DB-AF5E-7E5B-26A1-60FFB5803216}"/>
              </a:ext>
            </a:extLst>
          </p:cNvPr>
          <p:cNvSpPr txBox="1"/>
          <p:nvPr/>
        </p:nvSpPr>
        <p:spPr>
          <a:xfrm>
            <a:off x="3755431" y="4085899"/>
            <a:ext cx="2723072" cy="193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ctr" anchorCtr="0">
            <a:noAutofit/>
          </a:bodyPr>
          <a:lstStyle>
            <a:defPPr>
              <a:defRPr lang="es-PE"/>
            </a:defPPr>
            <a:lvl1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s-PE" sz="2400" dirty="0">
                <a:latin typeface="Arial Narrow" panose="020B0606020202030204" pitchFamily="34" charset="0"/>
              </a:rPr>
              <a:t>¿Cuánto debe ser la ganancia mínima del producto A para que sea rentable producirlo?</a:t>
            </a:r>
            <a:endParaRPr sz="2400" dirty="0">
              <a:latin typeface="Arial Narrow" panose="020B0606020202030204" pitchFamily="34" charset="0"/>
              <a:sym typeface="arial"/>
            </a:endParaRPr>
          </a:p>
        </p:txBody>
      </p:sp>
      <p:sp>
        <p:nvSpPr>
          <p:cNvPr id="35" name="Google Shape;351;g21165c73683_0_135">
            <a:extLst>
              <a:ext uri="{FF2B5EF4-FFF2-40B4-BE49-F238E27FC236}">
                <a16:creationId xmlns:a16="http://schemas.microsoft.com/office/drawing/2014/main" id="{A186AA2C-CFA6-954B-CDD1-6EAE097906B7}"/>
              </a:ext>
            </a:extLst>
          </p:cNvPr>
          <p:cNvSpPr txBox="1"/>
          <p:nvPr/>
        </p:nvSpPr>
        <p:spPr>
          <a:xfrm>
            <a:off x="5449559" y="1031546"/>
            <a:ext cx="2595238" cy="255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ctr" anchorCtr="0">
            <a:noAutofit/>
          </a:bodyPr>
          <a:lstStyle>
            <a:defPPr>
              <a:defRPr lang="es-PE"/>
            </a:defPPr>
            <a:lvl1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lvl="0"/>
            <a:r>
              <a:rPr lang="es-PE" sz="2400" dirty="0">
                <a:latin typeface="Arial Narrow" panose="020B0606020202030204" pitchFamily="34" charset="0"/>
              </a:rPr>
              <a:t>La solución óptima será la misma mientras que un coeficiente de la función objetivo varíe dentro del rango de optimalidad.</a:t>
            </a:r>
          </a:p>
        </p:txBody>
      </p:sp>
      <p:pic>
        <p:nvPicPr>
          <p:cNvPr id="4" name="Picture 2" descr="C:\Users\PC\AppData\Local\Microsoft\Windows\INetCache\IE\VY38PY3E\question-mark-1019820_960_72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62" y="1216097"/>
            <a:ext cx="1597841" cy="143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:\Users\PC\AppData\Local\Microsoft\Windows\INetCache\IE\77MULPOF\Conclusion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" y="2458975"/>
            <a:ext cx="1646253" cy="81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2">
            <a:extLst>
              <a:ext uri="{FF2B5EF4-FFF2-40B4-BE49-F238E27FC236}">
                <a16:creationId xmlns:a16="http://schemas.microsoft.com/office/drawing/2014/main" id="{A5794E4E-B663-4A35-9CA0-1F643A41ECA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-1"/>
            <a:ext cx="6096000" cy="372929"/>
          </a:xfrm>
          <a:prstGeom prst="rect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altLang="es-ES" sz="2800" dirty="0">
                <a:solidFill>
                  <a:schemeClr val="bg1"/>
                </a:solidFill>
                <a:latin typeface="Bauhaus 93" pitchFamily="82" charset="0"/>
              </a:rPr>
              <a:t>ANÁLISIS DE SENSIBILIDAD</a:t>
            </a:r>
          </a:p>
        </p:txBody>
      </p:sp>
      <p:sp>
        <p:nvSpPr>
          <p:cNvPr id="2" name="Google Shape;344;g21165c73683_0_135">
            <a:extLst>
              <a:ext uri="{FF2B5EF4-FFF2-40B4-BE49-F238E27FC236}">
                <a16:creationId xmlns:a16="http://schemas.microsoft.com/office/drawing/2014/main" id="{C35CFB25-F90C-18B3-5FE1-4252BBB8D01F}"/>
              </a:ext>
            </a:extLst>
          </p:cNvPr>
          <p:cNvSpPr/>
          <p:nvPr/>
        </p:nvSpPr>
        <p:spPr>
          <a:xfrm rot="5400000">
            <a:off x="8018705" y="593685"/>
            <a:ext cx="3588281" cy="308967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>
              <a:lumMod val="50000"/>
            </a:schemeClr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rial Narrow" panose="020B0606020202030204" pitchFamily="34" charset="0"/>
            </a:endParaRPr>
          </a:p>
        </p:txBody>
      </p:sp>
      <p:sp>
        <p:nvSpPr>
          <p:cNvPr id="5" name="Google Shape;345;g21165c73683_0_135">
            <a:extLst>
              <a:ext uri="{FF2B5EF4-FFF2-40B4-BE49-F238E27FC236}">
                <a16:creationId xmlns:a16="http://schemas.microsoft.com/office/drawing/2014/main" id="{1E7C9D94-16C9-CC8F-46BC-408DF14CD1E3}"/>
              </a:ext>
            </a:extLst>
          </p:cNvPr>
          <p:cNvSpPr txBox="1"/>
          <p:nvPr/>
        </p:nvSpPr>
        <p:spPr>
          <a:xfrm>
            <a:off x="8333497" y="661301"/>
            <a:ext cx="3023998" cy="310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ctr" anchorCtr="0">
            <a:noAutofit/>
          </a:bodyPr>
          <a:lstStyle>
            <a:defPPr>
              <a:defRPr lang="es-PE"/>
            </a:defPPr>
            <a:lvl1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marL="228600" lvl="1" indent="-228600" defTabSz="1155700"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¿Hasta cuánta materia prima se puede comprar sin tener pérdidas?</a:t>
            </a:r>
            <a:endParaRPr lang="es-PE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Google Shape;346;g21165c73683_0_135">
            <a:extLst>
              <a:ext uri="{FF2B5EF4-FFF2-40B4-BE49-F238E27FC236}">
                <a16:creationId xmlns:a16="http://schemas.microsoft.com/office/drawing/2014/main" id="{C7B371CE-28DC-E409-BD0A-042F0D99FF6C}"/>
              </a:ext>
            </a:extLst>
          </p:cNvPr>
          <p:cNvSpPr/>
          <p:nvPr/>
        </p:nvSpPr>
        <p:spPr>
          <a:xfrm rot="5400000">
            <a:off x="6444744" y="3440678"/>
            <a:ext cx="3588282" cy="3089672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tx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vert270" wrap="square" lIns="91425" tIns="91425" rIns="91425" bIns="91425" anchor="ctr" anchorCtr="0">
            <a:noAutofit/>
          </a:bodyPr>
          <a:lstStyle/>
          <a:p>
            <a:pPr lvl="0" algn="ctr"/>
            <a:r>
              <a:rPr lang="es-MX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¿Cuánto más ganaría si tuviera mayor cantidad del</a:t>
            </a:r>
            <a:r>
              <a:rPr lang="es-MX" sz="2400" b="1" i="1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s-MX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recurso? </a:t>
            </a:r>
            <a:r>
              <a:rPr lang="es-MX" sz="2400" b="1" dirty="0">
                <a:latin typeface="Arial Narrow" panose="020B0606020202030204" pitchFamily="34" charset="0"/>
              </a:rPr>
              <a:t>X</a:t>
            </a:r>
            <a:r>
              <a:rPr lang="es-PE" sz="2400" dirty="0">
                <a:latin typeface="Arial Narrow" panose="020B0606020202030204" pitchFamily="34" charset="0"/>
              </a:rPr>
              <a:t>?</a:t>
            </a:r>
            <a:endParaRPr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85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0" grpId="0"/>
      <p:bldP spid="26" grpId="0" animBg="1"/>
      <p:bldP spid="27" grpId="0" animBg="1"/>
      <p:bldP spid="30" grpId="0" animBg="1"/>
      <p:bldP spid="18" grpId="0"/>
      <p:bldP spid="35" grpId="0"/>
      <p:bldP spid="2" grpId="0" animBg="1"/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2"/>
          <p:cNvSpPr/>
          <p:nvPr/>
        </p:nvSpPr>
        <p:spPr>
          <a:xfrm>
            <a:off x="6107502" y="249753"/>
            <a:ext cx="6084498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1A8FA22-6639-4E26-93D3-AD7A62262C16}"/>
              </a:ext>
            </a:extLst>
          </p:cNvPr>
          <p:cNvSpPr/>
          <p:nvPr/>
        </p:nvSpPr>
        <p:spPr>
          <a:xfrm>
            <a:off x="71005" y="1244415"/>
            <a:ext cx="66900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PETROPERÚ puede comprar dos tipos de petróleo: crudo ligero a un costo de $25 por barril, y: crudo pesado a un costo de $22 por barril. Cada barril de petróleo crudo, ya refinado, produce tres productos: gasolina, turbosina y queroseno. La siguiente tabla indica las cantidades en barriles de gasolina, turbosina y queroseno producidos por barril de cada tipo de petróleo crudo:</a:t>
            </a:r>
            <a:endParaRPr lang="es-E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65D4C0B-0E74-42D4-8AB1-155081EB8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828703"/>
              </p:ext>
            </p:extLst>
          </p:nvPr>
        </p:nvGraphicFramePr>
        <p:xfrm>
          <a:off x="159242" y="3432173"/>
          <a:ext cx="6513539" cy="1927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4160">
                  <a:extLst>
                    <a:ext uri="{9D8B030D-6E8A-4147-A177-3AD203B41FA5}">
                      <a16:colId xmlns:a16="http://schemas.microsoft.com/office/drawing/2014/main" val="1080336190"/>
                    </a:ext>
                  </a:extLst>
                </a:gridCol>
                <a:gridCol w="1358940">
                  <a:extLst>
                    <a:ext uri="{9D8B030D-6E8A-4147-A177-3AD203B41FA5}">
                      <a16:colId xmlns:a16="http://schemas.microsoft.com/office/drawing/2014/main" val="4035138619"/>
                    </a:ext>
                  </a:extLst>
                </a:gridCol>
                <a:gridCol w="1323794">
                  <a:extLst>
                    <a:ext uri="{9D8B030D-6E8A-4147-A177-3AD203B41FA5}">
                      <a16:colId xmlns:a16="http://schemas.microsoft.com/office/drawing/2014/main" val="875195279"/>
                    </a:ext>
                  </a:extLst>
                </a:gridCol>
                <a:gridCol w="1206645">
                  <a:extLst>
                    <a:ext uri="{9D8B030D-6E8A-4147-A177-3AD203B41FA5}">
                      <a16:colId xmlns:a16="http://schemas.microsoft.com/office/drawing/2014/main" val="363480968"/>
                    </a:ext>
                  </a:extLst>
                </a:gridCol>
              </a:tblGrid>
              <a:tr h="3500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Tipos de petróleo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Productos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210428"/>
                  </a:ext>
                </a:extLst>
              </a:tr>
              <a:tr h="3130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Gasolina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Turbosina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Queroseno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450168"/>
                  </a:ext>
                </a:extLst>
              </a:tr>
              <a:tr h="2674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Crudo ligero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0,45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0,18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0,30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650296"/>
                  </a:ext>
                </a:extLst>
              </a:tr>
              <a:tr h="4153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Crudo pesado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0,35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0,36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0,20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944077"/>
                  </a:ext>
                </a:extLst>
              </a:tr>
              <a:tr h="4153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Demanda en barriles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126000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90000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b="1" dirty="0">
                          <a:effectLst/>
                          <a:latin typeface="Arial Narrow" panose="020B0606020202030204" pitchFamily="34" charset="0"/>
                        </a:rPr>
                        <a:t>30000</a:t>
                      </a:r>
                      <a:endParaRPr lang="es-PE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069378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F40B015C-24A5-4D5F-8A51-41839868E5AB}"/>
              </a:ext>
            </a:extLst>
          </p:cNvPr>
          <p:cNvSpPr/>
          <p:nvPr/>
        </p:nvSpPr>
        <p:spPr>
          <a:xfrm>
            <a:off x="62888" y="5306883"/>
            <a:ext cx="680373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</a:rPr>
              <a:t>La refinería se ha comprometido a entregar 126000 barriles de gasolina, 90000 barriles de turbosina y 30000 barriles de queroseno. Se pide el </a:t>
            </a:r>
            <a:r>
              <a:rPr lang="es-PE" sz="2000" dirty="0">
                <a:latin typeface="Arial" panose="020B0604020202020204" pitchFamily="34" charset="0"/>
              </a:rPr>
              <a:t>análisis de sensibilidad de los coeficientes de función objetivo y el análisis de sensibilidad del lado derecho.  </a:t>
            </a:r>
          </a:p>
        </p:txBody>
      </p:sp>
      <p:sp>
        <p:nvSpPr>
          <p:cNvPr id="12" name="Rectángulo: esquinas redondeadas 4">
            <a:extLst>
              <a:ext uri="{FF2B5EF4-FFF2-40B4-BE49-F238E27FC236}">
                <a16:creationId xmlns:a16="http://schemas.microsoft.com/office/drawing/2014/main" id="{9D7DA49D-03BD-42C8-BBB9-4221BEC25913}"/>
              </a:ext>
            </a:extLst>
          </p:cNvPr>
          <p:cNvSpPr txBox="1"/>
          <p:nvPr/>
        </p:nvSpPr>
        <p:spPr>
          <a:xfrm>
            <a:off x="6865285" y="1427353"/>
            <a:ext cx="5255710" cy="17758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1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MODELO MATEMÁTICO</a:t>
            </a:r>
          </a:p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1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variables</a:t>
            </a:r>
          </a:p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1" kern="1200" dirty="0">
                <a:solidFill>
                  <a:srgbClr val="7030A0"/>
                </a:solidFill>
                <a:latin typeface="Arial Narrow" panose="020B0606020202030204" pitchFamily="34" charset="0"/>
              </a:rPr>
              <a:t>L =Número de barriles de crudo ligero</a:t>
            </a: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H= Número de barriles de crudo pesado</a:t>
            </a:r>
            <a:endParaRPr lang="es-PE" sz="2400" b="1" kern="12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F1407C-68DD-4147-A769-3E534DB42C5B}"/>
              </a:ext>
            </a:extLst>
          </p:cNvPr>
          <p:cNvSpPr/>
          <p:nvPr/>
        </p:nvSpPr>
        <p:spPr>
          <a:xfrm>
            <a:off x="6881267" y="4112964"/>
            <a:ext cx="5220808" cy="22713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restricciones</a:t>
            </a: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0,45L + 0,35H &gt;= 126000 </a:t>
            </a: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0,18L + 0,36H  &gt;= 90000 </a:t>
            </a: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0,30L + 0,20H  &gt;= 30000 </a:t>
            </a: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L, H  &gt;= 0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730AA9-AF1D-47CA-9068-6F58DEBEBE21}"/>
              </a:ext>
            </a:extLst>
          </p:cNvPr>
          <p:cNvSpPr/>
          <p:nvPr/>
        </p:nvSpPr>
        <p:spPr>
          <a:xfrm>
            <a:off x="6866627" y="3203223"/>
            <a:ext cx="5245242" cy="8838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 </a:t>
            </a:r>
            <a:r>
              <a:rPr lang="es-PE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F.O</a:t>
            </a:r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Minimizar </a:t>
            </a:r>
            <a:r>
              <a:rPr lang="es-PE" sz="2400" b="1" dirty="0" err="1">
                <a:solidFill>
                  <a:srgbClr val="7030A0"/>
                </a:solidFill>
                <a:latin typeface="Arial Narrow" panose="020B0606020202030204" pitchFamily="34" charset="0"/>
              </a:rPr>
              <a:t>25L</a:t>
            </a:r>
            <a:r>
              <a:rPr lang="es-PE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 + </a:t>
            </a:r>
            <a:r>
              <a:rPr lang="es-PE" sz="2400" b="1" dirty="0" err="1">
                <a:solidFill>
                  <a:srgbClr val="7030A0"/>
                </a:solidFill>
                <a:latin typeface="Arial Narrow" panose="020B0606020202030204" pitchFamily="34" charset="0"/>
              </a:rPr>
              <a:t>22H</a:t>
            </a:r>
            <a:endParaRPr lang="es-PE" sz="24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54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5384183" y="3221328"/>
            <a:ext cx="540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>
                <a:latin typeface="Arial Narrow" pitchFamily="34" charset="0"/>
              </a:rPr>
              <a:t>iii) Graficando la Función Objetivo</a:t>
            </a:r>
          </a:p>
          <a:p>
            <a:r>
              <a:rPr lang="es-PE" dirty="0">
                <a:latin typeface="Arial Narrow" pitchFamily="34" charset="0"/>
              </a:rPr>
              <a:t>       </a:t>
            </a:r>
            <a:r>
              <a:rPr lang="es-PE" dirty="0" err="1">
                <a:latin typeface="Arial Narrow" pitchFamily="34" charset="0"/>
              </a:rPr>
              <a:t>25L</a:t>
            </a:r>
            <a:r>
              <a:rPr lang="es-PE" dirty="0">
                <a:latin typeface="Arial Narrow" pitchFamily="34" charset="0"/>
              </a:rPr>
              <a:t> + </a:t>
            </a:r>
            <a:r>
              <a:rPr lang="es-PE" dirty="0" err="1">
                <a:latin typeface="Arial Narrow" pitchFamily="34" charset="0"/>
              </a:rPr>
              <a:t>22H</a:t>
            </a:r>
            <a:r>
              <a:rPr lang="es-PE" dirty="0">
                <a:latin typeface="Arial Narrow" pitchFamily="34" charset="0"/>
              </a:rPr>
              <a:t>= 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5’500000</a:t>
            </a:r>
          </a:p>
          <a:p>
            <a:r>
              <a:rPr lang="es-PE" dirty="0">
                <a:latin typeface="Arial Narrow" pitchFamily="34" charset="0"/>
              </a:rPr>
              <a:t>	Si L = 0  		H = 250000</a:t>
            </a:r>
          </a:p>
          <a:p>
            <a:r>
              <a:rPr lang="es-PE" dirty="0">
                <a:latin typeface="Arial Narrow" pitchFamily="34" charset="0"/>
              </a:rPr>
              <a:t>	Si H = 0 		L= 220000</a:t>
            </a:r>
          </a:p>
        </p:txBody>
      </p:sp>
      <p:sp>
        <p:nvSpPr>
          <p:cNvPr id="6" name="5 Flecha derecha"/>
          <p:cNvSpPr/>
          <p:nvPr/>
        </p:nvSpPr>
        <p:spPr>
          <a:xfrm>
            <a:off x="7643532" y="4234705"/>
            <a:ext cx="21602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19 Flecha derecha"/>
          <p:cNvSpPr/>
          <p:nvPr/>
        </p:nvSpPr>
        <p:spPr>
          <a:xfrm>
            <a:off x="7622787" y="3945088"/>
            <a:ext cx="21602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3 Rectángulo">
            <a:extLst>
              <a:ext uri="{FF2B5EF4-FFF2-40B4-BE49-F238E27FC236}">
                <a16:creationId xmlns:a16="http://schemas.microsoft.com/office/drawing/2014/main" id="{12B79868-9988-4B59-A5A3-66390B0A4B1F}"/>
              </a:ext>
            </a:extLst>
          </p:cNvPr>
          <p:cNvSpPr/>
          <p:nvPr/>
        </p:nvSpPr>
        <p:spPr>
          <a:xfrm>
            <a:off x="5451906" y="1258882"/>
            <a:ext cx="678898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i)</a:t>
            </a:r>
            <a:r>
              <a:rPr lang="pt-BR" dirty="0" err="1"/>
              <a:t>Graficando</a:t>
            </a:r>
            <a:r>
              <a:rPr lang="pt-BR" dirty="0"/>
              <a:t> </a:t>
            </a:r>
            <a:r>
              <a:rPr lang="pt-BR" dirty="0" err="1"/>
              <a:t>las</a:t>
            </a:r>
            <a:r>
              <a:rPr lang="pt-BR" dirty="0"/>
              <a:t> </a:t>
            </a:r>
            <a:r>
              <a:rPr lang="pt-BR" dirty="0" err="1"/>
              <a:t>restricciones</a:t>
            </a:r>
            <a:endParaRPr lang="es-PE" dirty="0"/>
          </a:p>
          <a:p>
            <a:r>
              <a:rPr lang="pt-BR" dirty="0"/>
              <a:t>I)	</a:t>
            </a:r>
            <a:r>
              <a:rPr lang="pt-BR" dirty="0" err="1"/>
              <a:t>0.45L</a:t>
            </a:r>
            <a:r>
              <a:rPr lang="pt-BR" dirty="0"/>
              <a:t> + </a:t>
            </a:r>
            <a:r>
              <a:rPr lang="pt-BR" dirty="0" err="1"/>
              <a:t>0.35H</a:t>
            </a:r>
            <a:r>
              <a:rPr lang="pt-BR" dirty="0"/>
              <a:t> =126000	Si L = 0 	 	H = 360000				Si H= 0		L  = 280000</a:t>
            </a:r>
            <a:endParaRPr lang="es-PE" dirty="0"/>
          </a:p>
          <a:p>
            <a:r>
              <a:rPr lang="pt-BR" dirty="0"/>
              <a:t>II)	</a:t>
            </a:r>
            <a:r>
              <a:rPr lang="pt-BR" dirty="0" err="1"/>
              <a:t>0.18L</a:t>
            </a:r>
            <a:r>
              <a:rPr lang="pt-BR" dirty="0"/>
              <a:t> + </a:t>
            </a:r>
            <a:r>
              <a:rPr lang="pt-BR" dirty="0" err="1"/>
              <a:t>0.36H</a:t>
            </a:r>
            <a:r>
              <a:rPr lang="pt-BR" dirty="0"/>
              <a:t> = 90000	Si L = 0 	 	H = 250000</a:t>
            </a:r>
            <a:endParaRPr lang="es-PE" dirty="0"/>
          </a:p>
          <a:p>
            <a:r>
              <a:rPr lang="pt-BR" dirty="0"/>
              <a:t>				Si H= 0		L  = 500000</a:t>
            </a:r>
          </a:p>
          <a:p>
            <a:r>
              <a:rPr lang="pt-BR" dirty="0" err="1"/>
              <a:t>III</a:t>
            </a:r>
            <a:r>
              <a:rPr lang="pt-BR" dirty="0"/>
              <a:t>)	</a:t>
            </a:r>
            <a:r>
              <a:rPr lang="pt-BR" dirty="0" err="1"/>
              <a:t>0.30L</a:t>
            </a:r>
            <a:r>
              <a:rPr lang="pt-BR" dirty="0"/>
              <a:t> + </a:t>
            </a:r>
            <a:r>
              <a:rPr lang="pt-BR" dirty="0" err="1"/>
              <a:t>0.20H</a:t>
            </a:r>
            <a:r>
              <a:rPr lang="pt-BR" dirty="0"/>
              <a:t> =30000	Si L = 0 	 	H = 150000</a:t>
            </a:r>
            <a:endParaRPr lang="es-PE" dirty="0"/>
          </a:p>
          <a:p>
            <a:r>
              <a:rPr lang="pt-BR" dirty="0"/>
              <a:t>				Si H= 0		L = 100000</a:t>
            </a:r>
            <a:endParaRPr lang="es-PE" dirty="0"/>
          </a:p>
        </p:txBody>
      </p:sp>
      <p:sp>
        <p:nvSpPr>
          <p:cNvPr id="18" name="CustomShape 2">
            <a:extLst>
              <a:ext uri="{FF2B5EF4-FFF2-40B4-BE49-F238E27FC236}">
                <a16:creationId xmlns:a16="http://schemas.microsoft.com/office/drawing/2014/main" id="{8213286F-42A8-477A-BB3A-947B463DB0BF}"/>
              </a:ext>
            </a:extLst>
          </p:cNvPr>
          <p:cNvSpPr/>
          <p:nvPr/>
        </p:nvSpPr>
        <p:spPr>
          <a:xfrm>
            <a:off x="6096000" y="28451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Bauhaus 93" pitchFamily="82" charset="0"/>
              </a:rPr>
              <a:t>Solución óptima</a:t>
            </a:r>
            <a:endParaRPr lang="es-PE" sz="3200" dirty="0">
              <a:solidFill>
                <a:schemeClr val="bg1"/>
              </a:solidFill>
              <a:latin typeface="Bauhaus 93" pitchFamily="82" charset="0"/>
            </a:endParaRPr>
          </a:p>
        </p:txBody>
      </p:sp>
      <p:sp>
        <p:nvSpPr>
          <p:cNvPr id="22" name="4 Rectángulo">
            <a:extLst>
              <a:ext uri="{FF2B5EF4-FFF2-40B4-BE49-F238E27FC236}">
                <a16:creationId xmlns:a16="http://schemas.microsoft.com/office/drawing/2014/main" id="{4C51E085-CA15-4C01-983D-142BE6AF2850}"/>
              </a:ext>
            </a:extLst>
          </p:cNvPr>
          <p:cNvSpPr/>
          <p:nvPr/>
        </p:nvSpPr>
        <p:spPr>
          <a:xfrm>
            <a:off x="5439926" y="4391634"/>
            <a:ext cx="5400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 err="1">
                <a:latin typeface="Arial Narrow" pitchFamily="34" charset="0"/>
              </a:rPr>
              <a:t>iv</a:t>
            </a:r>
            <a:r>
              <a:rPr lang="es-PE" dirty="0">
                <a:latin typeface="Arial Narrow" pitchFamily="34" charset="0"/>
              </a:rPr>
              <a:t>) Hallando la Solución óptima</a:t>
            </a:r>
          </a:p>
          <a:p>
            <a:r>
              <a:rPr lang="es-PE" dirty="0">
                <a:latin typeface="Arial Narrow" pitchFamily="34" charset="0"/>
              </a:rPr>
              <a:t>La Solución óptima es la intersección de las restricciones I y II</a:t>
            </a:r>
          </a:p>
          <a:p>
            <a:pPr marL="400050" indent="-400050">
              <a:buAutoNum type="romanUcParenR"/>
            </a:pPr>
            <a:r>
              <a:rPr lang="pt-BR" dirty="0" err="1">
                <a:latin typeface="Arial Narrow" pitchFamily="34" charset="0"/>
              </a:rPr>
              <a:t>0.45L</a:t>
            </a:r>
            <a:r>
              <a:rPr lang="pt-BR" dirty="0">
                <a:latin typeface="Arial Narrow" pitchFamily="34" charset="0"/>
              </a:rPr>
              <a:t> + </a:t>
            </a:r>
            <a:r>
              <a:rPr lang="pt-BR" dirty="0" err="1">
                <a:latin typeface="Arial Narrow" pitchFamily="34" charset="0"/>
              </a:rPr>
              <a:t>0.35H</a:t>
            </a:r>
            <a:r>
              <a:rPr lang="pt-BR" dirty="0">
                <a:latin typeface="Arial Narrow" pitchFamily="34" charset="0"/>
              </a:rPr>
              <a:t> = 126000 </a:t>
            </a:r>
            <a:r>
              <a:rPr lang="pt-BR" dirty="0">
                <a:latin typeface="Arial Narrow" pitchFamily="34" charset="0"/>
                <a:sym typeface="Wingdings" panose="05000000000000000000" pitchFamily="2" charset="2"/>
              </a:rPr>
              <a:t></a:t>
            </a:r>
            <a:r>
              <a:rPr lang="pt-BR" dirty="0">
                <a:latin typeface="Arial Narrow" pitchFamily="34" charset="0"/>
              </a:rPr>
              <a:t>	</a:t>
            </a:r>
            <a:r>
              <a:rPr lang="pt-BR" u="sng" dirty="0" err="1">
                <a:latin typeface="Arial Narrow" pitchFamily="34" charset="0"/>
              </a:rPr>
              <a:t>0.90L</a:t>
            </a:r>
            <a:r>
              <a:rPr lang="pt-BR" u="sng" dirty="0">
                <a:latin typeface="Arial Narrow" pitchFamily="34" charset="0"/>
              </a:rPr>
              <a:t> +</a:t>
            </a:r>
            <a:r>
              <a:rPr lang="pt-BR" u="sng" dirty="0" err="1">
                <a:latin typeface="Arial Narrow" pitchFamily="34" charset="0"/>
              </a:rPr>
              <a:t>0.70H</a:t>
            </a:r>
            <a:r>
              <a:rPr lang="pt-BR" u="sng" dirty="0">
                <a:latin typeface="Arial Narrow" pitchFamily="34" charset="0"/>
              </a:rPr>
              <a:t> = 252000     </a:t>
            </a:r>
            <a:r>
              <a:rPr lang="pt-BR" u="sng" dirty="0" err="1">
                <a:latin typeface="Arial Narrow" pitchFamily="34" charset="0"/>
              </a:rPr>
              <a:t>III</a:t>
            </a:r>
            <a:endParaRPr lang="es-PE" u="sng" dirty="0">
              <a:latin typeface="Arial Narrow" pitchFamily="34" charset="0"/>
            </a:endParaRPr>
          </a:p>
          <a:p>
            <a:r>
              <a:rPr lang="pt-BR" dirty="0">
                <a:latin typeface="Arial Narrow" pitchFamily="34" charset="0"/>
              </a:rPr>
              <a:t>II)    </a:t>
            </a:r>
            <a:r>
              <a:rPr lang="pt-BR" u="sng" dirty="0" err="1">
                <a:latin typeface="Arial Narrow" pitchFamily="34" charset="0"/>
              </a:rPr>
              <a:t>0.18L</a:t>
            </a:r>
            <a:r>
              <a:rPr lang="pt-BR" u="sng" dirty="0">
                <a:latin typeface="Arial Narrow" pitchFamily="34" charset="0"/>
              </a:rPr>
              <a:t> + </a:t>
            </a:r>
            <a:r>
              <a:rPr lang="pt-BR" u="sng" dirty="0" err="1">
                <a:latin typeface="Arial Narrow" pitchFamily="34" charset="0"/>
              </a:rPr>
              <a:t>0.36H</a:t>
            </a:r>
            <a:r>
              <a:rPr lang="pt-BR" u="sng" dirty="0">
                <a:latin typeface="Arial Narrow" pitchFamily="34" charset="0"/>
              </a:rPr>
              <a:t> =   90000 </a:t>
            </a:r>
            <a:r>
              <a:rPr lang="pt-BR" u="sng" dirty="0">
                <a:latin typeface="Arial Narrow" pitchFamily="34" charset="0"/>
                <a:sym typeface="Wingdings" panose="05000000000000000000" pitchFamily="2" charset="2"/>
              </a:rPr>
              <a:t></a:t>
            </a:r>
            <a:r>
              <a:rPr lang="pt-BR" dirty="0">
                <a:latin typeface="Arial Narrow" pitchFamily="34" charset="0"/>
              </a:rPr>
              <a:t>	</a:t>
            </a:r>
            <a:r>
              <a:rPr lang="pt-BR" u="sng" dirty="0" err="1">
                <a:latin typeface="Arial Narrow" pitchFamily="34" charset="0"/>
              </a:rPr>
              <a:t>0.90L+1,80H</a:t>
            </a:r>
            <a:r>
              <a:rPr lang="pt-BR" u="sng" dirty="0">
                <a:latin typeface="Arial Narrow" pitchFamily="34" charset="0"/>
              </a:rPr>
              <a:t> = 450000      </a:t>
            </a:r>
            <a:r>
              <a:rPr lang="pt-BR" u="sng" dirty="0" err="1">
                <a:latin typeface="Arial Narrow" pitchFamily="34" charset="0"/>
              </a:rPr>
              <a:t>IV</a:t>
            </a:r>
            <a:endParaRPr lang="es-PE" dirty="0">
              <a:latin typeface="Arial Narrow" pitchFamily="34" charset="0"/>
            </a:endParaRPr>
          </a:p>
          <a:p>
            <a:r>
              <a:rPr lang="es-ES" dirty="0">
                <a:latin typeface="Arial Narrow" pitchFamily="34" charset="0"/>
              </a:rPr>
              <a:t>Restando IV-III                                        </a:t>
            </a:r>
            <a:r>
              <a:rPr lang="es-ES" dirty="0" err="1">
                <a:latin typeface="Arial Narrow" pitchFamily="34" charset="0"/>
              </a:rPr>
              <a:t>1,10H</a:t>
            </a:r>
            <a:r>
              <a:rPr lang="es-ES" dirty="0">
                <a:latin typeface="Arial Narrow" pitchFamily="34" charset="0"/>
              </a:rPr>
              <a:t> = 198000 </a:t>
            </a:r>
            <a:endParaRPr lang="es-PE" dirty="0">
              <a:latin typeface="Arial Narrow" pitchFamily="34" charset="0"/>
            </a:endParaRPr>
          </a:p>
          <a:p>
            <a:r>
              <a:rPr lang="es-PE" dirty="0">
                <a:latin typeface="Arial Narrow" pitchFamily="34" charset="0"/>
              </a:rPr>
              <a:t>De donde la Solución óptima es:		H = 180000				L = 140000</a:t>
            </a:r>
          </a:p>
          <a:p>
            <a:r>
              <a:rPr lang="es-PE" dirty="0">
                <a:latin typeface="Arial Narrow" pitchFamily="34" charset="0"/>
              </a:rPr>
              <a:t>El valor que toma la función objetiva es:	Z = 7’460000</a:t>
            </a:r>
          </a:p>
        </p:txBody>
      </p:sp>
      <p:sp>
        <p:nvSpPr>
          <p:cNvPr id="19" name="7 CuadroTexto">
            <a:extLst>
              <a:ext uri="{FF2B5EF4-FFF2-40B4-BE49-F238E27FC236}">
                <a16:creationId xmlns:a16="http://schemas.microsoft.com/office/drawing/2014/main" id="{C687CC91-DFCE-4DDA-BB02-2C447B2B6EF1}"/>
              </a:ext>
            </a:extLst>
          </p:cNvPr>
          <p:cNvSpPr txBox="1"/>
          <p:nvPr/>
        </p:nvSpPr>
        <p:spPr>
          <a:xfrm>
            <a:off x="416454" y="3634877"/>
            <a:ext cx="66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360,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23" name="8 CuadroTexto">
            <a:extLst>
              <a:ext uri="{FF2B5EF4-FFF2-40B4-BE49-F238E27FC236}">
                <a16:creationId xmlns:a16="http://schemas.microsoft.com/office/drawing/2014/main" id="{F8481EA1-85B3-4660-A8B6-619D7CBAD42E}"/>
              </a:ext>
            </a:extLst>
          </p:cNvPr>
          <p:cNvSpPr txBox="1"/>
          <p:nvPr/>
        </p:nvSpPr>
        <p:spPr>
          <a:xfrm>
            <a:off x="2620440" y="619003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280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24" name="9 CuadroTexto">
            <a:extLst>
              <a:ext uri="{FF2B5EF4-FFF2-40B4-BE49-F238E27FC236}">
                <a16:creationId xmlns:a16="http://schemas.microsoft.com/office/drawing/2014/main" id="{6F0ADB6B-7B9C-4D1B-98D9-78729B96AE61}"/>
              </a:ext>
            </a:extLst>
          </p:cNvPr>
          <p:cNvSpPr txBox="1"/>
          <p:nvPr/>
        </p:nvSpPr>
        <p:spPr>
          <a:xfrm>
            <a:off x="623670" y="436044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250</a:t>
            </a:r>
            <a:endParaRPr lang="es-PE" dirty="0">
              <a:solidFill>
                <a:srgbClr val="00B05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A61D5FB-71BF-4137-AE9A-26FE8C165F19}"/>
              </a:ext>
            </a:extLst>
          </p:cNvPr>
          <p:cNvSpPr txBox="1"/>
          <p:nvPr/>
        </p:nvSpPr>
        <p:spPr>
          <a:xfrm>
            <a:off x="4848041" y="6265630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1E9881E-2E8F-4CC7-8588-48CC5041387C}"/>
              </a:ext>
            </a:extLst>
          </p:cNvPr>
          <p:cNvSpPr txBox="1"/>
          <p:nvPr/>
        </p:nvSpPr>
        <p:spPr>
          <a:xfrm>
            <a:off x="669990" y="2993352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</a:t>
            </a:r>
            <a:endParaRPr lang="es-PE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38FF4C4-3DC2-469F-BF5D-E4CA9F8AAF70}"/>
              </a:ext>
            </a:extLst>
          </p:cNvPr>
          <p:cNvCxnSpPr>
            <a:cxnSpLocks/>
          </p:cNvCxnSpPr>
          <p:nvPr/>
        </p:nvCxnSpPr>
        <p:spPr>
          <a:xfrm flipV="1">
            <a:off x="871270" y="3505177"/>
            <a:ext cx="138021" cy="112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8C333F4-D679-4EE6-9907-15A7425545F5}"/>
              </a:ext>
            </a:extLst>
          </p:cNvPr>
          <p:cNvCxnSpPr>
            <a:cxnSpLocks/>
          </p:cNvCxnSpPr>
          <p:nvPr/>
        </p:nvCxnSpPr>
        <p:spPr>
          <a:xfrm flipV="1">
            <a:off x="912605" y="4238422"/>
            <a:ext cx="62180" cy="16030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A5C2007-25CA-4F2A-9F89-6DDC457D113E}"/>
              </a:ext>
            </a:extLst>
          </p:cNvPr>
          <p:cNvSpPr/>
          <p:nvPr/>
        </p:nvSpPr>
        <p:spPr>
          <a:xfrm>
            <a:off x="1069674" y="3065166"/>
            <a:ext cx="3631721" cy="321763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0F1E9CE-DC01-4397-A43B-86BE96C7E5C2}"/>
              </a:ext>
            </a:extLst>
          </p:cNvPr>
          <p:cNvSpPr/>
          <p:nvPr/>
        </p:nvSpPr>
        <p:spPr>
          <a:xfrm>
            <a:off x="2085975" y="5254542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E2513D8-EAAE-4773-9D34-E6F8F88D69A2}"/>
              </a:ext>
            </a:extLst>
          </p:cNvPr>
          <p:cNvSpPr txBox="1"/>
          <p:nvPr/>
        </p:nvSpPr>
        <p:spPr>
          <a:xfrm>
            <a:off x="380143" y="3945926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D7BCD65-C4C6-4B19-B64C-F341179604D9}"/>
              </a:ext>
            </a:extLst>
          </p:cNvPr>
          <p:cNvSpPr txBox="1"/>
          <p:nvPr/>
        </p:nvSpPr>
        <p:spPr>
          <a:xfrm>
            <a:off x="2895599" y="628672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B02FB5D-41EE-4F65-B50D-15B2D8621120}"/>
              </a:ext>
            </a:extLst>
          </p:cNvPr>
          <p:cNvSpPr txBox="1"/>
          <p:nvPr/>
        </p:nvSpPr>
        <p:spPr>
          <a:xfrm>
            <a:off x="2154148" y="6248795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54AC636-123B-4BB9-8350-8842C891BD3A}"/>
              </a:ext>
            </a:extLst>
          </p:cNvPr>
          <p:cNvSpPr txBox="1"/>
          <p:nvPr/>
        </p:nvSpPr>
        <p:spPr>
          <a:xfrm>
            <a:off x="1464067" y="6273023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D3FD290-E243-41F3-B632-2B666BD89F40}"/>
              </a:ext>
            </a:extLst>
          </p:cNvPr>
          <p:cNvSpPr txBox="1"/>
          <p:nvPr/>
        </p:nvSpPr>
        <p:spPr>
          <a:xfrm>
            <a:off x="388704" y="466340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A5E2B99-DD4A-4580-988A-B5DA3B9FE7CE}"/>
              </a:ext>
            </a:extLst>
          </p:cNvPr>
          <p:cNvSpPr txBox="1"/>
          <p:nvPr/>
        </p:nvSpPr>
        <p:spPr>
          <a:xfrm>
            <a:off x="412872" y="537225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A6C6C27-3494-46E3-9F2B-1885C35A9960}"/>
              </a:ext>
            </a:extLst>
          </p:cNvPr>
          <p:cNvSpPr txBox="1"/>
          <p:nvPr/>
        </p:nvSpPr>
        <p:spPr>
          <a:xfrm>
            <a:off x="3643900" y="628501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04D18AD-AFFA-4D13-B808-67017A905392}"/>
              </a:ext>
            </a:extLst>
          </p:cNvPr>
          <p:cNvSpPr txBox="1"/>
          <p:nvPr/>
        </p:nvSpPr>
        <p:spPr>
          <a:xfrm>
            <a:off x="429031" y="320981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39" name="Triángulo rectángulo 38">
            <a:extLst>
              <a:ext uri="{FF2B5EF4-FFF2-40B4-BE49-F238E27FC236}">
                <a16:creationId xmlns:a16="http://schemas.microsoft.com/office/drawing/2014/main" id="{4A72738B-7B4F-42E1-A458-AA45E8091AD7}"/>
              </a:ext>
            </a:extLst>
          </p:cNvPr>
          <p:cNvSpPr/>
          <p:nvPr/>
        </p:nvSpPr>
        <p:spPr>
          <a:xfrm>
            <a:off x="1061049" y="3876113"/>
            <a:ext cx="1966823" cy="2432649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64D383F-4CAD-408C-9C94-A26961525B55}"/>
              </a:ext>
            </a:extLst>
          </p:cNvPr>
          <p:cNvSpPr txBox="1"/>
          <p:nvPr/>
        </p:nvSpPr>
        <p:spPr>
          <a:xfrm>
            <a:off x="4357015" y="629076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500,</a:t>
            </a:r>
            <a:endParaRPr lang="es-PE" dirty="0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2AF499B-1667-44BE-91B8-B4F437714950}"/>
              </a:ext>
            </a:extLst>
          </p:cNvPr>
          <p:cNvCxnSpPr/>
          <p:nvPr/>
        </p:nvCxnSpPr>
        <p:spPr>
          <a:xfrm>
            <a:off x="879894" y="4410950"/>
            <a:ext cx="4019910" cy="201858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riángulo rectángulo 41">
            <a:extLst>
              <a:ext uri="{FF2B5EF4-FFF2-40B4-BE49-F238E27FC236}">
                <a16:creationId xmlns:a16="http://schemas.microsoft.com/office/drawing/2014/main" id="{A16432EC-505F-45F9-B126-DD99E82673BF}"/>
              </a:ext>
            </a:extLst>
          </p:cNvPr>
          <p:cNvSpPr/>
          <p:nvPr/>
        </p:nvSpPr>
        <p:spPr>
          <a:xfrm>
            <a:off x="1086929" y="4531721"/>
            <a:ext cx="3502324" cy="1751162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378F5032-FC58-4492-8866-95788BCB0B65}"/>
              </a:ext>
            </a:extLst>
          </p:cNvPr>
          <p:cNvCxnSpPr>
            <a:cxnSpLocks/>
          </p:cNvCxnSpPr>
          <p:nvPr/>
        </p:nvCxnSpPr>
        <p:spPr>
          <a:xfrm>
            <a:off x="703569" y="3369154"/>
            <a:ext cx="2623639" cy="33084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1F461AF-6076-4769-A0CC-C21A3212FF75}"/>
              </a:ext>
            </a:extLst>
          </p:cNvPr>
          <p:cNvCxnSpPr>
            <a:cxnSpLocks/>
          </p:cNvCxnSpPr>
          <p:nvPr/>
        </p:nvCxnSpPr>
        <p:spPr>
          <a:xfrm>
            <a:off x="465826" y="6308928"/>
            <a:ext cx="4710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102995D6-136F-44B7-A25C-C15BD7D3C3BE}"/>
              </a:ext>
            </a:extLst>
          </p:cNvPr>
          <p:cNvCxnSpPr>
            <a:cxnSpLocks/>
          </p:cNvCxnSpPr>
          <p:nvPr/>
        </p:nvCxnSpPr>
        <p:spPr>
          <a:xfrm flipV="1">
            <a:off x="1052422" y="2927226"/>
            <a:ext cx="0" cy="4011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B12551DB-FAA1-4F4D-A883-216F61798F91}"/>
              </a:ext>
            </a:extLst>
          </p:cNvPr>
          <p:cNvCxnSpPr>
            <a:cxnSpLocks/>
          </p:cNvCxnSpPr>
          <p:nvPr/>
        </p:nvCxnSpPr>
        <p:spPr>
          <a:xfrm>
            <a:off x="804412" y="4252527"/>
            <a:ext cx="2951672" cy="298995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43700624-AD27-4DEA-9546-45FE0F1B1E87}"/>
              </a:ext>
            </a:extLst>
          </p:cNvPr>
          <p:cNvCxnSpPr>
            <a:cxnSpLocks/>
          </p:cNvCxnSpPr>
          <p:nvPr/>
        </p:nvCxnSpPr>
        <p:spPr>
          <a:xfrm>
            <a:off x="901978" y="3912712"/>
            <a:ext cx="2951672" cy="298995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2563E67F-40CE-4CB7-B31E-10FAB605C67D}"/>
              </a:ext>
            </a:extLst>
          </p:cNvPr>
          <p:cNvSpPr/>
          <p:nvPr/>
        </p:nvSpPr>
        <p:spPr>
          <a:xfrm>
            <a:off x="1923691" y="4928535"/>
            <a:ext cx="60384" cy="6901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01249A5-9054-4A8D-951A-4715E6FAF6D5}"/>
              </a:ext>
            </a:extLst>
          </p:cNvPr>
          <p:cNvCxnSpPr>
            <a:cxnSpLocks/>
          </p:cNvCxnSpPr>
          <p:nvPr/>
        </p:nvCxnSpPr>
        <p:spPr>
          <a:xfrm>
            <a:off x="923026" y="5057932"/>
            <a:ext cx="1224951" cy="17166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CAB5CDBB-6E40-4BC9-9B19-6E889B58B4BE}"/>
              </a:ext>
            </a:extLst>
          </p:cNvPr>
          <p:cNvCxnSpPr>
            <a:cxnSpLocks/>
          </p:cNvCxnSpPr>
          <p:nvPr/>
        </p:nvCxnSpPr>
        <p:spPr>
          <a:xfrm flipV="1">
            <a:off x="935609" y="4954415"/>
            <a:ext cx="125440" cy="9704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1 Rectángulo">
            <a:extLst>
              <a:ext uri="{FF2B5EF4-FFF2-40B4-BE49-F238E27FC236}">
                <a16:creationId xmlns:a16="http://schemas.microsoft.com/office/drawing/2014/main" id="{8D7D991E-EF02-45D9-9624-8280564358FE}"/>
              </a:ext>
            </a:extLst>
          </p:cNvPr>
          <p:cNvSpPr/>
          <p:nvPr/>
        </p:nvSpPr>
        <p:spPr>
          <a:xfrm>
            <a:off x="346536" y="1262756"/>
            <a:ext cx="4380740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Minimizar	</a:t>
            </a:r>
            <a:r>
              <a:rPr lang="pt-BR" dirty="0" err="1">
                <a:latin typeface="Arial Narrow" panose="020B0606020202030204" pitchFamily="34" charset="0"/>
              </a:rPr>
              <a:t>25L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22H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pt-BR" dirty="0" err="1">
                <a:latin typeface="Arial Narrow" panose="020B0606020202030204" pitchFamily="34" charset="0"/>
              </a:rPr>
              <a:t>Dependiendo</a:t>
            </a:r>
            <a:r>
              <a:rPr lang="pt-BR" dirty="0">
                <a:latin typeface="Arial Narrow" panose="020B0606020202030204" pitchFamily="34" charset="0"/>
              </a:rPr>
              <a:t> de	</a:t>
            </a:r>
            <a:r>
              <a:rPr lang="pt-BR" dirty="0" err="1">
                <a:latin typeface="Arial Narrow" panose="020B0606020202030204" pitchFamily="34" charset="0"/>
              </a:rPr>
              <a:t>0.45L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0.35H</a:t>
            </a:r>
            <a:r>
              <a:rPr lang="pt-BR" dirty="0">
                <a:latin typeface="Arial Narrow" panose="020B0606020202030204" pitchFamily="34" charset="0"/>
              </a:rPr>
              <a:t>    &gt;=  126000 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</a:t>
            </a:r>
            <a:r>
              <a:rPr lang="pt-BR" dirty="0" err="1">
                <a:latin typeface="Arial Narrow" panose="020B0606020202030204" pitchFamily="34" charset="0"/>
              </a:rPr>
              <a:t>0.18L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0.36H</a:t>
            </a:r>
            <a:r>
              <a:rPr lang="pt-BR" dirty="0">
                <a:latin typeface="Arial Narrow" panose="020B0606020202030204" pitchFamily="34" charset="0"/>
              </a:rPr>
              <a:t>    &gt;=    90000  </a:t>
            </a:r>
            <a:endParaRPr lang="es-ES" dirty="0">
              <a:latin typeface="Arial Narrow" panose="020B0606020202030204" pitchFamily="34" charset="0"/>
            </a:endParaRP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                                   </a:t>
            </a:r>
            <a:r>
              <a:rPr lang="pt-BR" dirty="0" err="1">
                <a:latin typeface="Arial Narrow" panose="020B0606020202030204" pitchFamily="34" charset="0"/>
              </a:rPr>
              <a:t>0.30L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0.20H</a:t>
            </a:r>
            <a:r>
              <a:rPr lang="pt-BR" dirty="0">
                <a:latin typeface="Arial Narrow" panose="020B0606020202030204" pitchFamily="34" charset="0"/>
              </a:rPr>
              <a:t>    &gt;=    30000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                  L, H  &gt;= 0 </a:t>
            </a:r>
            <a:endParaRPr lang="es-PE" dirty="0">
              <a:latin typeface="Arial Narrow" panose="020B0606020202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B7B0E0-C651-728F-ABFD-E58284EF846E}"/>
              </a:ext>
            </a:extLst>
          </p:cNvPr>
          <p:cNvSpPr txBox="1"/>
          <p:nvPr/>
        </p:nvSpPr>
        <p:spPr>
          <a:xfrm>
            <a:off x="2598543" y="3823072"/>
            <a:ext cx="145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/>
              <a:t>R.F.</a:t>
            </a:r>
            <a:endParaRPr lang="es-PE" sz="6000" dirty="0"/>
          </a:p>
        </p:txBody>
      </p:sp>
      <p:cxnSp>
        <p:nvCxnSpPr>
          <p:cNvPr id="4" name="Conector: curvado 3">
            <a:extLst>
              <a:ext uri="{FF2B5EF4-FFF2-40B4-BE49-F238E27FC236}">
                <a16:creationId xmlns:a16="http://schemas.microsoft.com/office/drawing/2014/main" id="{22418588-2261-F656-A417-7321FFCF4E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20440" y="5505255"/>
            <a:ext cx="407432" cy="369331"/>
          </a:xfrm>
          <a:prstGeom prst="curvedConnector3">
            <a:avLst>
              <a:gd name="adj1" fmla="val 553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curvado 9">
            <a:extLst>
              <a:ext uri="{FF2B5EF4-FFF2-40B4-BE49-F238E27FC236}">
                <a16:creationId xmlns:a16="http://schemas.microsoft.com/office/drawing/2014/main" id="{8A6E0163-BA18-0ADC-9000-BE1094831E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9237" y="4263485"/>
            <a:ext cx="345363" cy="268069"/>
          </a:xfrm>
          <a:prstGeom prst="curvedConnector3">
            <a:avLst>
              <a:gd name="adj1" fmla="val 10245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66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2" grpId="0"/>
      <p:bldP spid="29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785900" y="2914839"/>
            <a:ext cx="882047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FF0000"/>
                </a:solidFill>
                <a:latin typeface="Arial Narrow" pitchFamily="34" charset="0"/>
              </a:rPr>
              <a:t>Manteniendo constante el coeficiente de H</a:t>
            </a:r>
          </a:p>
          <a:p>
            <a:r>
              <a:rPr lang="es-PE" sz="2000" dirty="0">
                <a:latin typeface="Arial Narrow" pitchFamily="34" charset="0"/>
              </a:rPr>
              <a:t>Hallamos la pendiente de la </a:t>
            </a:r>
            <a:r>
              <a:rPr lang="es-PE" sz="2000" dirty="0" err="1">
                <a:latin typeface="Arial Narrow" pitchFamily="34" charset="0"/>
              </a:rPr>
              <a:t>FO</a:t>
            </a:r>
            <a:r>
              <a:rPr lang="es-PE" sz="2000" dirty="0">
                <a:latin typeface="Arial Narrow" pitchFamily="34" charset="0"/>
              </a:rPr>
              <a:t> y de las restricciones que intervienen en la Solución óptima.</a:t>
            </a:r>
          </a:p>
          <a:p>
            <a:r>
              <a:rPr lang="es-PE" sz="2000" dirty="0">
                <a:latin typeface="Arial Narrow" pitchFamily="34" charset="0"/>
              </a:rPr>
              <a:t>La pendiente de la FO: </a:t>
            </a:r>
            <a:r>
              <a:rPr lang="el-GR" sz="2000" dirty="0">
                <a:latin typeface="Arial Narrow" pitchFamily="34" charset="0"/>
              </a:rPr>
              <a:t>α</a:t>
            </a:r>
            <a:r>
              <a:rPr lang="es-PE" sz="2000" dirty="0">
                <a:latin typeface="Arial Narrow" pitchFamily="34" charset="0"/>
              </a:rPr>
              <a:t>L + </a:t>
            </a:r>
            <a:r>
              <a:rPr lang="es-PE" sz="2000" dirty="0" err="1">
                <a:latin typeface="Arial Narrow" pitchFamily="34" charset="0"/>
              </a:rPr>
              <a:t>22H</a:t>
            </a:r>
            <a:r>
              <a:rPr lang="es-PE" sz="2000" dirty="0">
                <a:latin typeface="Arial Narrow" pitchFamily="34" charset="0"/>
              </a:rPr>
              <a:t>			m = - </a:t>
            </a:r>
            <a:r>
              <a:rPr lang="el-GR" sz="2000" dirty="0">
                <a:latin typeface="Arial Narrow" pitchFamily="34" charset="0"/>
              </a:rPr>
              <a:t>α </a:t>
            </a:r>
            <a:r>
              <a:rPr lang="es-PE" sz="2000" dirty="0">
                <a:latin typeface="Arial Narrow" pitchFamily="34" charset="0"/>
              </a:rPr>
              <a:t>/22</a:t>
            </a:r>
          </a:p>
          <a:p>
            <a:r>
              <a:rPr lang="es-PE" sz="2000" dirty="0">
                <a:latin typeface="Arial Narrow" pitchFamily="34" charset="0"/>
              </a:rPr>
              <a:t>De la restricción I)	  </a:t>
            </a:r>
            <a:r>
              <a:rPr lang="es-PE" sz="2000" dirty="0" err="1">
                <a:latin typeface="Arial Narrow" pitchFamily="34" charset="0"/>
              </a:rPr>
              <a:t>0,45L</a:t>
            </a:r>
            <a:r>
              <a:rPr lang="es-PE" sz="2000" dirty="0">
                <a:latin typeface="Arial Narrow" pitchFamily="34" charset="0"/>
              </a:rPr>
              <a:t> + </a:t>
            </a:r>
            <a:r>
              <a:rPr lang="es-PE" sz="2000" dirty="0" err="1">
                <a:latin typeface="Arial Narrow" pitchFamily="34" charset="0"/>
              </a:rPr>
              <a:t>0,35H</a:t>
            </a:r>
            <a:r>
              <a:rPr lang="es-PE" sz="2000" dirty="0">
                <a:latin typeface="Arial Narrow" pitchFamily="34" charset="0"/>
              </a:rPr>
              <a:t> = 126000       	m = - 0,45/0,35</a:t>
            </a:r>
          </a:p>
          <a:p>
            <a:r>
              <a:rPr lang="es-PE" sz="2000" dirty="0">
                <a:latin typeface="Arial Narrow" pitchFamily="34" charset="0"/>
              </a:rPr>
              <a:t>		Igualando		</a:t>
            </a:r>
            <a:r>
              <a:rPr lang="el-GR" sz="2000" dirty="0">
                <a:latin typeface="Arial Narrow" pitchFamily="34" charset="0"/>
              </a:rPr>
              <a:t> </a:t>
            </a:r>
            <a:r>
              <a:rPr lang="el-GR" sz="2000" dirty="0">
                <a:solidFill>
                  <a:srgbClr val="FF0000"/>
                </a:solidFill>
                <a:latin typeface="Arial Narrow" pitchFamily="34" charset="0"/>
              </a:rPr>
              <a:t>α</a:t>
            </a:r>
            <a:r>
              <a:rPr lang="el-GR" sz="2000" dirty="0">
                <a:latin typeface="Arial Narrow" pitchFamily="34" charset="0"/>
              </a:rPr>
              <a:t> 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= 28,29</a:t>
            </a:r>
          </a:p>
          <a:p>
            <a:r>
              <a:rPr lang="es-PE" sz="2000" dirty="0">
                <a:latin typeface="Arial Narrow" pitchFamily="34" charset="0"/>
              </a:rPr>
              <a:t>La pendiente de la FO: </a:t>
            </a:r>
            <a:r>
              <a:rPr lang="el-GR" sz="2000" dirty="0">
                <a:latin typeface="Arial Narrow" pitchFamily="34" charset="0"/>
              </a:rPr>
              <a:t>α </a:t>
            </a:r>
            <a:r>
              <a:rPr lang="es-PE" sz="2000" dirty="0">
                <a:latin typeface="Arial Narrow" pitchFamily="34" charset="0"/>
              </a:rPr>
              <a:t>L + </a:t>
            </a:r>
            <a:r>
              <a:rPr lang="es-PE" sz="2000" dirty="0" err="1">
                <a:latin typeface="Arial Narrow" pitchFamily="34" charset="0"/>
              </a:rPr>
              <a:t>22H</a:t>
            </a:r>
            <a:r>
              <a:rPr lang="es-PE" sz="2000" dirty="0">
                <a:latin typeface="Arial Narrow" pitchFamily="34" charset="0"/>
              </a:rPr>
              <a:t>			m = - </a:t>
            </a:r>
            <a:r>
              <a:rPr lang="el-GR" sz="2000" dirty="0">
                <a:latin typeface="Arial Narrow" pitchFamily="34" charset="0"/>
              </a:rPr>
              <a:t>α </a:t>
            </a:r>
            <a:r>
              <a:rPr lang="es-PE" sz="2000" dirty="0">
                <a:latin typeface="Arial Narrow" pitchFamily="34" charset="0"/>
              </a:rPr>
              <a:t>/22</a:t>
            </a:r>
          </a:p>
          <a:p>
            <a:r>
              <a:rPr lang="es-PE" sz="2000" dirty="0">
                <a:latin typeface="Arial Narrow" pitchFamily="34" charset="0"/>
              </a:rPr>
              <a:t>De la restricción II)	   </a:t>
            </a:r>
            <a:r>
              <a:rPr lang="es-PE" sz="2000" dirty="0" err="1">
                <a:latin typeface="Arial Narrow" pitchFamily="34" charset="0"/>
              </a:rPr>
              <a:t>0,18L</a:t>
            </a:r>
            <a:r>
              <a:rPr lang="es-PE" sz="2000" dirty="0">
                <a:latin typeface="Arial Narrow" pitchFamily="34" charset="0"/>
              </a:rPr>
              <a:t> + </a:t>
            </a:r>
            <a:r>
              <a:rPr lang="es-PE" sz="2000" dirty="0" err="1">
                <a:latin typeface="Arial Narrow" pitchFamily="34" charset="0"/>
              </a:rPr>
              <a:t>0,36H</a:t>
            </a:r>
            <a:r>
              <a:rPr lang="es-PE" sz="2000" dirty="0">
                <a:latin typeface="Arial Narrow" pitchFamily="34" charset="0"/>
              </a:rPr>
              <a:t> =90000 		m =-0,18/0,36</a:t>
            </a:r>
          </a:p>
          <a:p>
            <a:r>
              <a:rPr lang="es-PE" sz="2000" dirty="0">
                <a:latin typeface="Arial Narrow" pitchFamily="34" charset="0"/>
              </a:rPr>
              <a:t>		Igualando		</a:t>
            </a:r>
            <a:r>
              <a:rPr lang="el-GR" sz="2000" dirty="0">
                <a:latin typeface="Arial Narrow" pitchFamily="34" charset="0"/>
              </a:rPr>
              <a:t> </a:t>
            </a:r>
            <a:r>
              <a:rPr lang="el-GR" sz="2000" dirty="0">
                <a:solidFill>
                  <a:srgbClr val="FF0000"/>
                </a:solidFill>
                <a:latin typeface="Arial Narrow" pitchFamily="34" charset="0"/>
              </a:rPr>
              <a:t>α 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= 11</a:t>
            </a:r>
            <a:r>
              <a:rPr lang="el-GR" sz="2000" dirty="0">
                <a:latin typeface="Arial Narrow" pitchFamily="34" charset="0"/>
              </a:rPr>
              <a:t> </a:t>
            </a:r>
            <a:endParaRPr lang="es-PE" sz="2000" dirty="0">
              <a:solidFill>
                <a:srgbClr val="FF0000"/>
              </a:solidFill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El intervalo para el coeficiente de L será: </a:t>
            </a:r>
            <a:r>
              <a:rPr lang="es-PE" sz="2000" b="1" dirty="0">
                <a:solidFill>
                  <a:srgbClr val="FF0000"/>
                </a:solidFill>
                <a:latin typeface="Arial Narrow" pitchFamily="34" charset="0"/>
              </a:rPr>
              <a:t>11 ≤ </a:t>
            </a:r>
            <a:r>
              <a:rPr lang="el-GR" sz="2000" b="1" dirty="0">
                <a:solidFill>
                  <a:srgbClr val="FF0000"/>
                </a:solidFill>
                <a:latin typeface="Arial Narrow" pitchFamily="34" charset="0"/>
              </a:rPr>
              <a:t>α</a:t>
            </a:r>
            <a:r>
              <a:rPr lang="es-PE" sz="2000" b="1" dirty="0">
                <a:solidFill>
                  <a:srgbClr val="FF0000"/>
                </a:solidFill>
                <a:latin typeface="Arial Narrow" pitchFamily="34" charset="0"/>
              </a:rPr>
              <a:t> ≤ 28.29</a:t>
            </a:r>
          </a:p>
          <a:p>
            <a:r>
              <a:rPr lang="es-PE" sz="2000" dirty="0">
                <a:latin typeface="Arial Narrow" pitchFamily="34" charset="0"/>
              </a:rPr>
              <a:t>El coeficiente de L puede variar entre 11 y 28.29 inclusive sin modificar su solución óptima.</a:t>
            </a:r>
          </a:p>
        </p:txBody>
      </p:sp>
      <p:sp>
        <p:nvSpPr>
          <p:cNvPr id="3" name="2 Flecha derecha"/>
          <p:cNvSpPr/>
          <p:nvPr/>
        </p:nvSpPr>
        <p:spPr>
          <a:xfrm>
            <a:off x="6654812" y="3986720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4 Flecha derecha"/>
          <p:cNvSpPr/>
          <p:nvPr/>
        </p:nvSpPr>
        <p:spPr>
          <a:xfrm>
            <a:off x="6637558" y="3653650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Flecha derecha"/>
          <p:cNvSpPr/>
          <p:nvPr/>
        </p:nvSpPr>
        <p:spPr>
          <a:xfrm>
            <a:off x="6654811" y="4896946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6 Flecha derecha"/>
          <p:cNvSpPr/>
          <p:nvPr/>
        </p:nvSpPr>
        <p:spPr>
          <a:xfrm>
            <a:off x="6672064" y="4581128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stomShape 2"/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 los coeficientes de la </a:t>
            </a:r>
            <a:r>
              <a:rPr lang="es-PE" sz="32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.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42677D38-807F-4CFE-96B3-EB8850F6F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23784" y="3615427"/>
          <a:ext cx="1489369" cy="70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8840" imgH="419040" progId="">
                  <p:embed/>
                </p:oleObj>
              </mc:Choice>
              <mc:Fallback>
                <p:oleObj r:id="rId2" imgW="888840" imgH="419040" progId="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42677D38-807F-4CFE-96B3-EB8850F6FA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23784" y="3615427"/>
                        <a:ext cx="1489369" cy="70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C1D30083-1645-4477-A9D6-62DCC9C31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77401" y="4523201"/>
          <a:ext cx="1489369" cy="70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88840" imgH="419040" progId="">
                  <p:embed/>
                </p:oleObj>
              </mc:Choice>
              <mc:Fallback>
                <p:oleObj r:id="rId4" imgW="888840" imgH="419040" progId="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C1D30083-1645-4477-A9D6-62DCC9C314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77401" y="4523201"/>
                        <a:ext cx="1489369" cy="70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1 Rectángulo">
            <a:extLst>
              <a:ext uri="{FF2B5EF4-FFF2-40B4-BE49-F238E27FC236}">
                <a16:creationId xmlns:a16="http://schemas.microsoft.com/office/drawing/2014/main" id="{8E3421C3-2B32-4B76-B840-7A27AB461F8B}"/>
              </a:ext>
            </a:extLst>
          </p:cNvPr>
          <p:cNvSpPr/>
          <p:nvPr/>
        </p:nvSpPr>
        <p:spPr>
          <a:xfrm>
            <a:off x="346536" y="1262756"/>
            <a:ext cx="4380740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Minimizar	</a:t>
            </a:r>
            <a:r>
              <a:rPr lang="pt-BR" b="1" dirty="0" err="1">
                <a:latin typeface="Arial Narrow" panose="020B0606020202030204" pitchFamily="34" charset="0"/>
              </a:rPr>
              <a:t>25L</a:t>
            </a:r>
            <a:r>
              <a:rPr lang="pt-BR" b="1" dirty="0">
                <a:latin typeface="Arial Narrow" panose="020B0606020202030204" pitchFamily="34" charset="0"/>
              </a:rPr>
              <a:t> + </a:t>
            </a:r>
            <a:r>
              <a:rPr lang="pt-BR" b="1" dirty="0" err="1">
                <a:latin typeface="Arial Narrow" panose="020B0606020202030204" pitchFamily="34" charset="0"/>
              </a:rPr>
              <a:t>22H</a:t>
            </a:r>
            <a:endParaRPr lang="es-PE" b="1" dirty="0">
              <a:latin typeface="Arial Narrow" panose="020B0606020202030204" pitchFamily="34" charset="0"/>
            </a:endParaRPr>
          </a:p>
          <a:p>
            <a:pPr lvl="0"/>
            <a:r>
              <a:rPr lang="pt-BR" b="1" dirty="0" err="1">
                <a:latin typeface="Arial Narrow" panose="020B0606020202030204" pitchFamily="34" charset="0"/>
              </a:rPr>
              <a:t>Dependiendo</a:t>
            </a:r>
            <a:r>
              <a:rPr lang="pt-BR" b="1" dirty="0">
                <a:latin typeface="Arial Narrow" panose="020B0606020202030204" pitchFamily="34" charset="0"/>
              </a:rPr>
              <a:t> de	</a:t>
            </a:r>
            <a:r>
              <a:rPr lang="pt-BR" b="1" dirty="0" err="1">
                <a:latin typeface="Arial Narrow" panose="020B0606020202030204" pitchFamily="34" charset="0"/>
              </a:rPr>
              <a:t>0.45L</a:t>
            </a:r>
            <a:r>
              <a:rPr lang="pt-BR" b="1" dirty="0">
                <a:latin typeface="Arial Narrow" panose="020B0606020202030204" pitchFamily="34" charset="0"/>
              </a:rPr>
              <a:t> + </a:t>
            </a:r>
            <a:r>
              <a:rPr lang="pt-BR" b="1" dirty="0" err="1">
                <a:latin typeface="Arial Narrow" panose="020B0606020202030204" pitchFamily="34" charset="0"/>
              </a:rPr>
              <a:t>0.35H</a:t>
            </a:r>
            <a:r>
              <a:rPr lang="pt-BR" b="1" dirty="0">
                <a:latin typeface="Arial Narrow" panose="020B0606020202030204" pitchFamily="34" charset="0"/>
              </a:rPr>
              <a:t>    &gt;=  126000 </a:t>
            </a: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		</a:t>
            </a:r>
            <a:r>
              <a:rPr lang="pt-BR" b="1" dirty="0" err="1">
                <a:latin typeface="Arial Narrow" panose="020B0606020202030204" pitchFamily="34" charset="0"/>
              </a:rPr>
              <a:t>0.18L</a:t>
            </a:r>
            <a:r>
              <a:rPr lang="pt-BR" b="1" dirty="0">
                <a:latin typeface="Arial Narrow" panose="020B0606020202030204" pitchFamily="34" charset="0"/>
              </a:rPr>
              <a:t> + </a:t>
            </a:r>
            <a:r>
              <a:rPr lang="pt-BR" b="1" dirty="0" err="1">
                <a:latin typeface="Arial Narrow" panose="020B0606020202030204" pitchFamily="34" charset="0"/>
              </a:rPr>
              <a:t>0.36H</a:t>
            </a:r>
            <a:r>
              <a:rPr lang="pt-BR" b="1" dirty="0">
                <a:latin typeface="Arial Narrow" panose="020B0606020202030204" pitchFamily="34" charset="0"/>
              </a:rPr>
              <a:t>    &gt;=    90000  </a:t>
            </a:r>
            <a:endParaRPr lang="es-ES" b="1" dirty="0">
              <a:latin typeface="Arial Narrow" panose="020B0606020202030204" pitchFamily="34" charset="0"/>
            </a:endParaRP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                                   </a:t>
            </a:r>
            <a:r>
              <a:rPr lang="pt-BR" b="1" dirty="0" err="1">
                <a:latin typeface="Arial Narrow" panose="020B0606020202030204" pitchFamily="34" charset="0"/>
              </a:rPr>
              <a:t>0.30L</a:t>
            </a:r>
            <a:r>
              <a:rPr lang="pt-BR" b="1" dirty="0">
                <a:latin typeface="Arial Narrow" panose="020B0606020202030204" pitchFamily="34" charset="0"/>
              </a:rPr>
              <a:t> + </a:t>
            </a:r>
            <a:r>
              <a:rPr lang="pt-BR" b="1" dirty="0" err="1">
                <a:latin typeface="Arial Narrow" panose="020B0606020202030204" pitchFamily="34" charset="0"/>
              </a:rPr>
              <a:t>0.20H</a:t>
            </a:r>
            <a:r>
              <a:rPr lang="pt-BR" b="1" dirty="0">
                <a:latin typeface="Arial Narrow" panose="020B0606020202030204" pitchFamily="34" charset="0"/>
              </a:rPr>
              <a:t>    &gt;=    30000</a:t>
            </a: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		                  L, H  &gt;= 0 </a:t>
            </a:r>
            <a:endParaRPr lang="es-PE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5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777042" y="2902862"/>
            <a:ext cx="96571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FF0000"/>
                </a:solidFill>
                <a:latin typeface="Arial Narrow" pitchFamily="34" charset="0"/>
              </a:rPr>
              <a:t>Manteniendo constante el coeficiente de L</a:t>
            </a:r>
          </a:p>
          <a:p>
            <a:r>
              <a:rPr lang="es-PE" sz="2000" dirty="0">
                <a:latin typeface="Arial Narrow" pitchFamily="34" charset="0"/>
              </a:rPr>
              <a:t>Hallamos la pendiente de la </a:t>
            </a:r>
            <a:r>
              <a:rPr lang="es-PE" sz="2000" dirty="0" err="1">
                <a:latin typeface="Arial Narrow" pitchFamily="34" charset="0"/>
              </a:rPr>
              <a:t>FO</a:t>
            </a:r>
            <a:r>
              <a:rPr lang="es-PE" sz="2000" dirty="0">
                <a:latin typeface="Arial Narrow" pitchFamily="34" charset="0"/>
              </a:rPr>
              <a:t> y de las restricciones que intervienen en la Solución óptima.</a:t>
            </a:r>
          </a:p>
          <a:p>
            <a:r>
              <a:rPr lang="es-PE" sz="2000" dirty="0">
                <a:latin typeface="Arial Narrow" pitchFamily="34" charset="0"/>
              </a:rPr>
              <a:t>La pendiente de la </a:t>
            </a:r>
            <a:r>
              <a:rPr lang="es-PE" sz="2000" dirty="0" err="1">
                <a:latin typeface="Arial Narrow" pitchFamily="34" charset="0"/>
              </a:rPr>
              <a:t>F.O</a:t>
            </a:r>
            <a:r>
              <a:rPr lang="es-PE" sz="2000" dirty="0">
                <a:latin typeface="Arial Narrow" pitchFamily="34" charset="0"/>
              </a:rPr>
              <a:t>.: </a:t>
            </a:r>
            <a:r>
              <a:rPr lang="es-PE" sz="2000" dirty="0" err="1">
                <a:latin typeface="Arial Narrow" pitchFamily="34" charset="0"/>
              </a:rPr>
              <a:t>25L</a:t>
            </a:r>
            <a:r>
              <a:rPr lang="es-PE" sz="2000" dirty="0">
                <a:latin typeface="Arial Narrow" pitchFamily="34" charset="0"/>
              </a:rPr>
              <a:t> + </a:t>
            </a:r>
            <a:r>
              <a:rPr lang="el-GR" sz="2000" dirty="0">
                <a:latin typeface="Arial Narrow" pitchFamily="34" charset="0"/>
              </a:rPr>
              <a:t>β</a:t>
            </a:r>
            <a:r>
              <a:rPr lang="es-PE" sz="2000" dirty="0">
                <a:latin typeface="Arial Narrow" pitchFamily="34" charset="0"/>
              </a:rPr>
              <a:t>H			m= -25/</a:t>
            </a:r>
            <a:r>
              <a:rPr lang="el-GR" sz="2000" dirty="0">
                <a:latin typeface="Arial Narrow" pitchFamily="34" charset="0"/>
              </a:rPr>
              <a:t>β 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De la restricción I)  </a:t>
            </a:r>
            <a:r>
              <a:rPr lang="es-PE" sz="2000" dirty="0" err="1">
                <a:latin typeface="Arial Narrow" pitchFamily="34" charset="0"/>
              </a:rPr>
              <a:t>0,45L</a:t>
            </a:r>
            <a:r>
              <a:rPr lang="es-PE" sz="2000" dirty="0">
                <a:latin typeface="Arial Narrow" pitchFamily="34" charset="0"/>
              </a:rPr>
              <a:t> + </a:t>
            </a:r>
            <a:r>
              <a:rPr lang="es-PE" sz="2000" dirty="0" err="1">
                <a:latin typeface="Arial Narrow" pitchFamily="34" charset="0"/>
              </a:rPr>
              <a:t>0,35H</a:t>
            </a:r>
            <a:r>
              <a:rPr lang="es-PE" sz="2000" dirty="0">
                <a:latin typeface="Arial Narrow" pitchFamily="34" charset="0"/>
              </a:rPr>
              <a:t> = 126000		m=- 0,45/0,35</a:t>
            </a:r>
          </a:p>
          <a:p>
            <a:r>
              <a:rPr lang="es-PE" sz="2000" dirty="0">
                <a:latin typeface="Arial Narrow" pitchFamily="34" charset="0"/>
              </a:rPr>
              <a:t>		Igualando las pendientes	</a:t>
            </a:r>
            <a:r>
              <a:rPr lang="el-GR" sz="2000" dirty="0">
                <a:latin typeface="Arial Narrow" pitchFamily="34" charset="0"/>
              </a:rPr>
              <a:t>β </a:t>
            </a:r>
            <a:r>
              <a:rPr lang="es-PE" sz="2000" dirty="0">
                <a:latin typeface="Arial Narrow" pitchFamily="34" charset="0"/>
              </a:rPr>
              <a:t>= 19,44</a:t>
            </a:r>
          </a:p>
          <a:p>
            <a:r>
              <a:rPr lang="es-PE" sz="2000" dirty="0">
                <a:latin typeface="Arial Narrow" pitchFamily="34" charset="0"/>
              </a:rPr>
              <a:t>La pendiente de la </a:t>
            </a:r>
            <a:r>
              <a:rPr lang="es-PE" sz="2000" dirty="0" err="1">
                <a:latin typeface="Arial Narrow" pitchFamily="34" charset="0"/>
              </a:rPr>
              <a:t>F.O</a:t>
            </a:r>
            <a:r>
              <a:rPr lang="es-PE" sz="2000" dirty="0">
                <a:latin typeface="Arial Narrow" pitchFamily="34" charset="0"/>
              </a:rPr>
              <a:t>.: </a:t>
            </a:r>
            <a:r>
              <a:rPr lang="es-PE" sz="2000" dirty="0" err="1">
                <a:latin typeface="Arial Narrow" pitchFamily="34" charset="0"/>
              </a:rPr>
              <a:t>25L</a:t>
            </a:r>
            <a:r>
              <a:rPr lang="es-PE" sz="2000" dirty="0">
                <a:latin typeface="Arial Narrow" pitchFamily="34" charset="0"/>
              </a:rPr>
              <a:t> + </a:t>
            </a:r>
            <a:r>
              <a:rPr lang="el-GR" sz="2000" dirty="0">
                <a:latin typeface="Arial Narrow" pitchFamily="34" charset="0"/>
              </a:rPr>
              <a:t>β</a:t>
            </a:r>
            <a:r>
              <a:rPr lang="es-PE" sz="2000" dirty="0">
                <a:latin typeface="Arial Narrow" pitchFamily="34" charset="0"/>
              </a:rPr>
              <a:t>H			m= -25/</a:t>
            </a:r>
            <a:r>
              <a:rPr lang="el-GR" sz="2000" dirty="0">
                <a:latin typeface="Arial Narrow" pitchFamily="34" charset="0"/>
              </a:rPr>
              <a:t>β 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De la restricción II)  </a:t>
            </a:r>
            <a:r>
              <a:rPr lang="es-PE" sz="2000" dirty="0" err="1">
                <a:latin typeface="Arial Narrow" pitchFamily="34" charset="0"/>
              </a:rPr>
              <a:t>0,18L</a:t>
            </a:r>
            <a:r>
              <a:rPr lang="es-PE" sz="2000" dirty="0">
                <a:latin typeface="Arial Narrow" pitchFamily="34" charset="0"/>
              </a:rPr>
              <a:t> + </a:t>
            </a:r>
            <a:r>
              <a:rPr lang="es-PE" sz="2000" dirty="0" err="1">
                <a:latin typeface="Arial Narrow" pitchFamily="34" charset="0"/>
              </a:rPr>
              <a:t>0,36H</a:t>
            </a:r>
            <a:r>
              <a:rPr lang="es-PE" sz="2000" dirty="0">
                <a:latin typeface="Arial Narrow" pitchFamily="34" charset="0"/>
              </a:rPr>
              <a:t> =90000		m=-0,18/0,36</a:t>
            </a:r>
          </a:p>
          <a:p>
            <a:r>
              <a:rPr lang="es-PE" sz="2000" dirty="0">
                <a:latin typeface="Arial Narrow" pitchFamily="34" charset="0"/>
              </a:rPr>
              <a:t>		Igualando </a:t>
            </a:r>
            <a:r>
              <a:rPr lang="es-PE" sz="2000" dirty="0" err="1">
                <a:latin typeface="Arial Narrow" pitchFamily="34" charset="0"/>
              </a:rPr>
              <a:t>Ias</a:t>
            </a:r>
            <a:r>
              <a:rPr lang="es-PE" sz="2000" dirty="0">
                <a:latin typeface="Arial Narrow" pitchFamily="34" charset="0"/>
              </a:rPr>
              <a:t> pendientes 	</a:t>
            </a:r>
            <a:r>
              <a:rPr lang="el-GR" sz="2000" dirty="0">
                <a:latin typeface="Arial Narrow" pitchFamily="34" charset="0"/>
              </a:rPr>
              <a:t>β </a:t>
            </a:r>
            <a:r>
              <a:rPr lang="es-PE" sz="2000" dirty="0">
                <a:latin typeface="Arial Narrow" pitchFamily="34" charset="0"/>
              </a:rPr>
              <a:t>=50</a:t>
            </a:r>
          </a:p>
          <a:p>
            <a:r>
              <a:rPr lang="es-PE" sz="2000" dirty="0">
                <a:latin typeface="Arial Narrow" pitchFamily="34" charset="0"/>
              </a:rPr>
              <a:t>El intervalo para el coeficiente de H será: 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19,44≤ </a:t>
            </a:r>
            <a:r>
              <a:rPr lang="el-GR" sz="2000" dirty="0">
                <a:solidFill>
                  <a:srgbClr val="FF0000"/>
                </a:solidFill>
                <a:latin typeface="Arial Narrow" pitchFamily="34" charset="0"/>
              </a:rPr>
              <a:t>β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≤ 50</a:t>
            </a:r>
          </a:p>
          <a:p>
            <a:r>
              <a:rPr lang="es-PE" sz="2000" dirty="0">
                <a:latin typeface="Arial Narrow" pitchFamily="34" charset="0"/>
              </a:rPr>
              <a:t>El coeficiente de H puede variar entre 19,44 y 50 inclusive sin modificar su Solución óptima.</a:t>
            </a:r>
          </a:p>
        </p:txBody>
      </p:sp>
      <p:sp>
        <p:nvSpPr>
          <p:cNvPr id="3" name="2 Flecha derecha"/>
          <p:cNvSpPr/>
          <p:nvPr/>
        </p:nvSpPr>
        <p:spPr>
          <a:xfrm>
            <a:off x="6644367" y="3658543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Flecha derecha"/>
          <p:cNvSpPr/>
          <p:nvPr/>
        </p:nvSpPr>
        <p:spPr>
          <a:xfrm>
            <a:off x="6671952" y="3959907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6 Flecha derecha"/>
          <p:cNvSpPr/>
          <p:nvPr/>
        </p:nvSpPr>
        <p:spPr>
          <a:xfrm>
            <a:off x="6668821" y="4538892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7 Flecha derecha"/>
          <p:cNvSpPr/>
          <p:nvPr/>
        </p:nvSpPr>
        <p:spPr>
          <a:xfrm>
            <a:off x="6668585" y="4854556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844D73C8-1EE8-4D2D-B1D5-5CBEAE8A682C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 los coeficientes de la </a:t>
            </a:r>
            <a:r>
              <a:rPr lang="es-PE" sz="32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.</a:t>
            </a: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4ECD8667-FC80-4970-BF06-8B0083BB5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23784" y="3615427"/>
          <a:ext cx="1489369" cy="70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8840" imgH="419040" progId="">
                  <p:embed/>
                </p:oleObj>
              </mc:Choice>
              <mc:Fallback>
                <p:oleObj r:id="rId2" imgW="888840" imgH="419040" progId="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4ECD8667-FC80-4970-BF06-8B0083BB5C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23784" y="3615427"/>
                        <a:ext cx="1489369" cy="70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D84D0E38-35A9-4D40-9C43-E970CFEE5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41012" y="4483444"/>
          <a:ext cx="1489369" cy="70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88840" imgH="419040" progId="">
                  <p:embed/>
                </p:oleObj>
              </mc:Choice>
              <mc:Fallback>
                <p:oleObj r:id="rId4" imgW="888840" imgH="419040" progId="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D84D0E38-35A9-4D40-9C43-E970CFEE5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41012" y="4483444"/>
                        <a:ext cx="1489369" cy="70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1 Rectángulo">
            <a:extLst>
              <a:ext uri="{FF2B5EF4-FFF2-40B4-BE49-F238E27FC236}">
                <a16:creationId xmlns:a16="http://schemas.microsoft.com/office/drawing/2014/main" id="{AA6DF975-D7A5-4287-B793-2EA9EB3E10DA}"/>
              </a:ext>
            </a:extLst>
          </p:cNvPr>
          <p:cNvSpPr/>
          <p:nvPr/>
        </p:nvSpPr>
        <p:spPr>
          <a:xfrm>
            <a:off x="346536" y="1262756"/>
            <a:ext cx="4380740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Minimizar	</a:t>
            </a:r>
            <a:r>
              <a:rPr lang="pt-BR" dirty="0" err="1">
                <a:latin typeface="Arial Narrow" panose="020B0606020202030204" pitchFamily="34" charset="0"/>
              </a:rPr>
              <a:t>25L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22H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pt-BR" dirty="0" err="1">
                <a:latin typeface="Arial Narrow" panose="020B0606020202030204" pitchFamily="34" charset="0"/>
              </a:rPr>
              <a:t>Dependiendo</a:t>
            </a:r>
            <a:r>
              <a:rPr lang="pt-BR" dirty="0">
                <a:latin typeface="Arial Narrow" panose="020B0606020202030204" pitchFamily="34" charset="0"/>
              </a:rPr>
              <a:t> de	</a:t>
            </a:r>
            <a:r>
              <a:rPr lang="pt-BR" dirty="0" err="1">
                <a:latin typeface="Arial Narrow" panose="020B0606020202030204" pitchFamily="34" charset="0"/>
              </a:rPr>
              <a:t>0.45L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0.35H</a:t>
            </a:r>
            <a:r>
              <a:rPr lang="pt-BR" dirty="0">
                <a:latin typeface="Arial Narrow" panose="020B0606020202030204" pitchFamily="34" charset="0"/>
              </a:rPr>
              <a:t>    &gt;=  126000 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</a:t>
            </a:r>
            <a:r>
              <a:rPr lang="pt-BR" dirty="0" err="1">
                <a:latin typeface="Arial Narrow" panose="020B0606020202030204" pitchFamily="34" charset="0"/>
              </a:rPr>
              <a:t>0.18L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0.36H</a:t>
            </a:r>
            <a:r>
              <a:rPr lang="pt-BR" dirty="0">
                <a:latin typeface="Arial Narrow" panose="020B0606020202030204" pitchFamily="34" charset="0"/>
              </a:rPr>
              <a:t>    &gt;=    90000  </a:t>
            </a:r>
            <a:endParaRPr lang="es-ES" dirty="0">
              <a:latin typeface="Arial Narrow" panose="020B0606020202030204" pitchFamily="34" charset="0"/>
            </a:endParaRP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                                   </a:t>
            </a:r>
            <a:r>
              <a:rPr lang="pt-BR" dirty="0" err="1">
                <a:latin typeface="Arial Narrow" panose="020B0606020202030204" pitchFamily="34" charset="0"/>
              </a:rPr>
              <a:t>0.30L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0.20H</a:t>
            </a:r>
            <a:r>
              <a:rPr lang="pt-BR" dirty="0">
                <a:latin typeface="Arial Narrow" panose="020B0606020202030204" pitchFamily="34" charset="0"/>
              </a:rPr>
              <a:t>    &gt;=    30000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                  L, H  &gt;= 0 </a:t>
            </a:r>
            <a:endParaRPr lang="es-PE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98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701396" y="1268761"/>
            <a:ext cx="749060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OBJECTIVE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FUNCTION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VALUE</a:t>
            </a:r>
            <a:endParaRPr lang="es-PE" sz="2000" b="1" dirty="0">
              <a:latin typeface="Arial Narrow" pitchFamily="34" charset="0"/>
            </a:endParaRPr>
          </a:p>
          <a:p>
            <a:r>
              <a:rPr lang="es-PE" sz="2000" b="1" dirty="0">
                <a:latin typeface="Arial Narrow" pitchFamily="34" charset="0"/>
              </a:rPr>
              <a:t>        1)      7460000.</a:t>
            </a:r>
          </a:p>
          <a:p>
            <a:r>
              <a:rPr lang="es-PE" sz="2000" b="1" dirty="0">
                <a:latin typeface="Arial Narrow" pitchFamily="34" charset="0"/>
              </a:rPr>
              <a:t>  VARIABLE        VALUE          	REDUCED COST</a:t>
            </a:r>
          </a:p>
          <a:p>
            <a:r>
              <a:rPr lang="es-PE" sz="2000" b="1" dirty="0">
                <a:latin typeface="Arial Narrow" pitchFamily="34" charset="0"/>
              </a:rPr>
              <a:t>         L    	140000.000000          	0.000000</a:t>
            </a:r>
          </a:p>
          <a:p>
            <a:r>
              <a:rPr lang="es-PE" sz="2000" b="1" dirty="0">
                <a:latin typeface="Arial Narrow" pitchFamily="34" charset="0"/>
              </a:rPr>
              <a:t>         H    	180000.000000          	0.000000</a:t>
            </a:r>
          </a:p>
          <a:p>
            <a:r>
              <a:rPr lang="es-PE" sz="2000" b="1" dirty="0">
                <a:latin typeface="Arial Narrow" pitchFamily="34" charset="0"/>
              </a:rPr>
              <a:t>       </a:t>
            </a:r>
            <a:r>
              <a:rPr lang="es-PE" sz="2000" b="1" dirty="0" err="1">
                <a:latin typeface="Arial Narrow" pitchFamily="34" charset="0"/>
              </a:rPr>
              <a:t>ROW</a:t>
            </a:r>
            <a:r>
              <a:rPr lang="es-PE" sz="2000" b="1" dirty="0">
                <a:latin typeface="Arial Narrow" pitchFamily="34" charset="0"/>
              </a:rPr>
              <a:t>   </a:t>
            </a:r>
            <a:r>
              <a:rPr lang="es-PE" sz="2000" b="1" dirty="0" err="1">
                <a:latin typeface="Arial Narrow" pitchFamily="34" charset="0"/>
              </a:rPr>
              <a:t>SLACK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OR</a:t>
            </a:r>
            <a:r>
              <a:rPr lang="es-PE" sz="2000" b="1" dirty="0">
                <a:latin typeface="Arial Narrow" pitchFamily="34" charset="0"/>
              </a:rPr>
              <a:t> SURPLUS     DUAL </a:t>
            </a:r>
            <a:r>
              <a:rPr lang="es-PE" sz="2000" b="1" dirty="0" err="1">
                <a:latin typeface="Arial Narrow" pitchFamily="34" charset="0"/>
              </a:rPr>
              <a:t>PRICES</a:t>
            </a:r>
            <a:endParaRPr lang="es-PE" sz="2000" b="1" dirty="0">
              <a:latin typeface="Arial Narrow" pitchFamily="34" charset="0"/>
            </a:endParaRPr>
          </a:p>
          <a:p>
            <a:r>
              <a:rPr lang="es-PE" sz="2000" b="1" dirty="0">
                <a:latin typeface="Arial Narrow" pitchFamily="34" charset="0"/>
              </a:rPr>
              <a:t>        2)              0.000        		-50.909092</a:t>
            </a:r>
          </a:p>
          <a:p>
            <a:r>
              <a:rPr lang="es-PE" sz="2000" b="1" dirty="0">
                <a:latin typeface="Arial Narrow" pitchFamily="34" charset="0"/>
              </a:rPr>
              <a:t>        3)              0.000       		-11.616161</a:t>
            </a:r>
          </a:p>
          <a:p>
            <a:r>
              <a:rPr lang="es-PE" sz="2000" b="1" dirty="0">
                <a:latin typeface="Arial Narrow" pitchFamily="34" charset="0"/>
              </a:rPr>
              <a:t>        4)     48000.000         	                   0.000000</a:t>
            </a:r>
          </a:p>
          <a:p>
            <a:r>
              <a:rPr lang="es-PE" sz="2000" b="1" dirty="0">
                <a:latin typeface="Arial Narrow" pitchFamily="34" charset="0"/>
              </a:rPr>
              <a:t> NO. </a:t>
            </a:r>
            <a:r>
              <a:rPr lang="es-PE" sz="2000" b="1" dirty="0" err="1">
                <a:latin typeface="Arial Narrow" pitchFamily="34" charset="0"/>
              </a:rPr>
              <a:t>ITERATIONS</a:t>
            </a:r>
            <a:r>
              <a:rPr lang="es-PE" sz="2000" b="1" dirty="0">
                <a:latin typeface="Arial Narrow" pitchFamily="34" charset="0"/>
              </a:rPr>
              <a:t>=       2</a:t>
            </a:r>
          </a:p>
          <a:p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RANGES</a:t>
            </a:r>
            <a:r>
              <a:rPr lang="es-PE" sz="2000" b="1" dirty="0">
                <a:latin typeface="Arial Narrow" pitchFamily="34" charset="0"/>
              </a:rPr>
              <a:t> IN </a:t>
            </a:r>
            <a:r>
              <a:rPr lang="es-PE" sz="2000" b="1" dirty="0" err="1">
                <a:latin typeface="Arial Narrow" pitchFamily="34" charset="0"/>
              </a:rPr>
              <a:t>WHICH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THE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BASIS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IS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UNCHANGED</a:t>
            </a:r>
            <a:r>
              <a:rPr lang="es-PE" sz="2000" b="1" dirty="0">
                <a:latin typeface="Arial Narrow" pitchFamily="34" charset="0"/>
              </a:rPr>
              <a:t>:</a:t>
            </a:r>
          </a:p>
          <a:p>
            <a:r>
              <a:rPr lang="es-PE" sz="2000" b="1" dirty="0">
                <a:latin typeface="Arial Narrow" pitchFamily="34" charset="0"/>
              </a:rPr>
              <a:t>                           </a:t>
            </a:r>
            <a:r>
              <a:rPr lang="es-PE" sz="2000" b="1" dirty="0" err="1">
                <a:latin typeface="Arial Narrow" pitchFamily="34" charset="0"/>
              </a:rPr>
              <a:t>OBJ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COEFFICIENT</a:t>
            </a:r>
            <a:r>
              <a:rPr lang="es-PE" sz="2000" b="1" dirty="0">
                <a:latin typeface="Arial Narrow" pitchFamily="34" charset="0"/>
              </a:rPr>
              <a:t> </a:t>
            </a:r>
            <a:r>
              <a:rPr lang="es-PE" sz="2000" b="1" dirty="0" err="1">
                <a:latin typeface="Arial Narrow" pitchFamily="34" charset="0"/>
              </a:rPr>
              <a:t>RANGES</a:t>
            </a:r>
            <a:endParaRPr lang="es-PE" sz="2000" b="1" dirty="0">
              <a:latin typeface="Arial Narrow" pitchFamily="34" charset="0"/>
            </a:endParaRPr>
          </a:p>
          <a:p>
            <a:r>
              <a:rPr lang="es-PE" sz="2000" b="1" dirty="0">
                <a:latin typeface="Arial Narrow" pitchFamily="34" charset="0"/>
              </a:rPr>
              <a:t> VARIABLE         CURRENT        ALLOWABLE     </a:t>
            </a:r>
            <a:r>
              <a:rPr lang="es-PE" sz="2000" b="1" dirty="0" err="1">
                <a:latin typeface="Arial Narrow" pitchFamily="34" charset="0"/>
              </a:rPr>
              <a:t>ALLOWABLE</a:t>
            </a:r>
            <a:endParaRPr lang="es-PE" sz="2000" b="1" dirty="0">
              <a:latin typeface="Arial Narrow" pitchFamily="34" charset="0"/>
            </a:endParaRPr>
          </a:p>
          <a:p>
            <a:r>
              <a:rPr lang="es-PE" sz="2000" b="1" dirty="0">
                <a:latin typeface="Arial Narrow" pitchFamily="34" charset="0"/>
              </a:rPr>
              <a:t>                   	</a:t>
            </a:r>
            <a:r>
              <a:rPr lang="es-PE" sz="2000" b="1" dirty="0" err="1">
                <a:latin typeface="Arial Narrow" pitchFamily="34" charset="0"/>
              </a:rPr>
              <a:t>COEF</a:t>
            </a:r>
            <a:r>
              <a:rPr lang="es-PE" sz="2000" b="1" dirty="0">
                <a:latin typeface="Arial Narrow" pitchFamily="34" charset="0"/>
              </a:rPr>
              <a:t>             </a:t>
            </a:r>
            <a:r>
              <a:rPr lang="es-PE" sz="2000" b="1" dirty="0" err="1">
                <a:latin typeface="Arial Narrow" pitchFamily="34" charset="0"/>
              </a:rPr>
              <a:t>INCREASE</a:t>
            </a:r>
            <a:r>
              <a:rPr lang="es-PE" sz="2000" b="1" dirty="0">
                <a:latin typeface="Arial Narrow" pitchFamily="34" charset="0"/>
              </a:rPr>
              <a:t>         </a:t>
            </a:r>
            <a:r>
              <a:rPr lang="es-PE" sz="2000" b="1" dirty="0" err="1">
                <a:latin typeface="Arial Narrow" pitchFamily="34" charset="0"/>
              </a:rPr>
              <a:t>DECREASE</a:t>
            </a:r>
            <a:endParaRPr lang="es-PE" sz="2000" b="1" dirty="0">
              <a:latin typeface="Arial Narrow" pitchFamily="34" charset="0"/>
            </a:endParaRPr>
          </a:p>
          <a:p>
            <a:r>
              <a:rPr lang="es-PE" sz="2000" b="1" dirty="0">
                <a:latin typeface="Arial Narrow" pitchFamily="34" charset="0"/>
              </a:rPr>
              <a:t>        L       	25.000000         3.285714        14.000000      </a:t>
            </a:r>
            <a:r>
              <a:rPr lang="es-PE" sz="2000" b="1" dirty="0">
                <a:solidFill>
                  <a:srgbClr val="FF0000"/>
                </a:solidFill>
                <a:latin typeface="Arial Narrow" pitchFamily="34" charset="0"/>
              </a:rPr>
              <a:t>[11,   28.29]</a:t>
            </a:r>
          </a:p>
          <a:p>
            <a:r>
              <a:rPr lang="es-PE" sz="2000" b="1" dirty="0">
                <a:latin typeface="Arial Narrow" pitchFamily="34" charset="0"/>
              </a:rPr>
              <a:t>        H      	22.000000        28.000000         2.555556      </a:t>
            </a:r>
            <a:r>
              <a:rPr lang="es-PE" sz="2000" b="1" dirty="0">
                <a:solidFill>
                  <a:srgbClr val="FF0000"/>
                </a:solidFill>
                <a:latin typeface="Arial Narrow" pitchFamily="34" charset="0"/>
              </a:rPr>
              <a:t>[19.45,   50]</a:t>
            </a:r>
          </a:p>
          <a:p>
            <a:r>
              <a:rPr lang="es-PE" sz="2000" b="1" dirty="0">
                <a:latin typeface="Arial Narrow" pitchFamily="34" charset="0"/>
              </a:rPr>
              <a:t> 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096000" y="28451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Bauhaus 93" pitchFamily="82" charset="0"/>
              </a:rPr>
              <a:t>L</a:t>
            </a:r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indo</a:t>
            </a:r>
          </a:p>
        </p:txBody>
      </p:sp>
      <p:sp>
        <p:nvSpPr>
          <p:cNvPr id="6" name="1 Rectángulo">
            <a:extLst>
              <a:ext uri="{FF2B5EF4-FFF2-40B4-BE49-F238E27FC236}">
                <a16:creationId xmlns:a16="http://schemas.microsoft.com/office/drawing/2014/main" id="{B3E80EC6-CA89-4813-98CA-388C56FCD14A}"/>
              </a:ext>
            </a:extLst>
          </p:cNvPr>
          <p:cNvSpPr/>
          <p:nvPr/>
        </p:nvSpPr>
        <p:spPr>
          <a:xfrm>
            <a:off x="346536" y="1262756"/>
            <a:ext cx="4380740" cy="175432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Min	25L + 22H</a:t>
            </a:r>
            <a:endParaRPr lang="es-PE" b="1" dirty="0">
              <a:latin typeface="Arial Narrow" panose="020B0606020202030204" pitchFamily="34" charset="0"/>
            </a:endParaRPr>
          </a:p>
          <a:p>
            <a:pPr lvl="0"/>
            <a:r>
              <a:rPr lang="pt-BR" b="1" dirty="0" err="1">
                <a:latin typeface="Arial Narrow" panose="020B0606020202030204" pitchFamily="34" charset="0"/>
              </a:rPr>
              <a:t>Dependiendo</a:t>
            </a:r>
            <a:r>
              <a:rPr lang="pt-BR" b="1" dirty="0">
                <a:latin typeface="Arial Narrow" panose="020B0606020202030204" pitchFamily="34" charset="0"/>
              </a:rPr>
              <a:t> de	</a:t>
            </a: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0.45L + 0.35H    &gt;=  126000 </a:t>
            </a: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0.18L + 0.36H    &gt;=    90000  </a:t>
            </a:r>
            <a:endParaRPr lang="es-ES" b="1" dirty="0">
              <a:latin typeface="Arial Narrow" panose="020B0606020202030204" pitchFamily="34" charset="0"/>
            </a:endParaRP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0.30L + 0.20H    &gt;=    30000</a:t>
            </a:r>
          </a:p>
          <a:p>
            <a:pPr lvl="0"/>
            <a:r>
              <a:rPr lang="pt-BR" b="1" dirty="0">
                <a:latin typeface="Arial Narrow" panose="020B0606020202030204" pitchFamily="34" charset="0"/>
              </a:rPr>
              <a:t>                  L, H  &gt;= 0 </a:t>
            </a:r>
            <a:endParaRPr lang="es-PE" b="1" dirty="0">
              <a:latin typeface="Arial Narrow" panose="020B0606020202030204" pitchFamily="34" charset="0"/>
            </a:endParaRPr>
          </a:p>
        </p:txBody>
      </p:sp>
      <p:sp>
        <p:nvSpPr>
          <p:cNvPr id="2" name="1 Rectángulo">
            <a:extLst>
              <a:ext uri="{FF2B5EF4-FFF2-40B4-BE49-F238E27FC236}">
                <a16:creationId xmlns:a16="http://schemas.microsoft.com/office/drawing/2014/main" id="{0BDCA760-A166-CC1A-0F61-97207F727900}"/>
              </a:ext>
            </a:extLst>
          </p:cNvPr>
          <p:cNvSpPr/>
          <p:nvPr/>
        </p:nvSpPr>
        <p:spPr>
          <a:xfrm>
            <a:off x="346536" y="3342415"/>
            <a:ext cx="4380740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sz="2000" b="1" dirty="0">
                <a:latin typeface="Arial Narrow" panose="020B0606020202030204" pitchFamily="34" charset="0"/>
              </a:rPr>
              <a:t>Min	25L + 22H</a:t>
            </a:r>
            <a:endParaRPr lang="es-PE" sz="2000" b="1" dirty="0">
              <a:latin typeface="Arial Narrow" panose="020B0606020202030204" pitchFamily="34" charset="0"/>
            </a:endParaRPr>
          </a:p>
          <a:p>
            <a:pPr lvl="0"/>
            <a:r>
              <a:rPr lang="pt-BR" sz="2000" b="1" dirty="0">
                <a:latin typeface="Arial Narrow" panose="020B0606020202030204" pitchFamily="34" charset="0"/>
              </a:rPr>
              <a:t>ST</a:t>
            </a:r>
          </a:p>
          <a:p>
            <a:pPr lvl="0"/>
            <a:r>
              <a:rPr lang="pt-BR" sz="2000" b="1" dirty="0">
                <a:latin typeface="Arial Narrow" panose="020B0606020202030204" pitchFamily="34" charset="0"/>
              </a:rPr>
              <a:t>0.45L + 0.35H    &gt;=  126000 </a:t>
            </a:r>
          </a:p>
          <a:p>
            <a:pPr lvl="0"/>
            <a:r>
              <a:rPr lang="pt-BR" sz="2000" b="1" dirty="0">
                <a:latin typeface="Arial Narrow" panose="020B0606020202030204" pitchFamily="34" charset="0"/>
              </a:rPr>
              <a:t>0.18L + 0.36H    &gt;=    90000  </a:t>
            </a:r>
            <a:endParaRPr lang="es-ES" sz="2000" b="1" dirty="0">
              <a:latin typeface="Arial Narrow" panose="020B0606020202030204" pitchFamily="34" charset="0"/>
            </a:endParaRPr>
          </a:p>
          <a:p>
            <a:pPr lvl="0"/>
            <a:r>
              <a:rPr lang="pt-BR" sz="2000" b="1" dirty="0">
                <a:latin typeface="Arial Narrow" panose="020B0606020202030204" pitchFamily="34" charset="0"/>
              </a:rPr>
              <a:t>0.30L + 0.20H    &gt;=    30000</a:t>
            </a:r>
          </a:p>
        </p:txBody>
      </p:sp>
    </p:spTree>
    <p:extLst>
      <p:ext uri="{BB962C8B-B14F-4D97-AF65-F5344CB8AC3E}">
        <p14:creationId xmlns:p14="http://schemas.microsoft.com/office/powerpoint/2010/main" val="52807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3633441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Análisis de Sensibilidad del Lado Derecho de la I Restricción: </a:t>
                      </a:r>
                      <a:r>
                        <a:rPr lang="es-PE" sz="1800" dirty="0" err="1"/>
                        <a:t>0.45L</a:t>
                      </a:r>
                      <a:r>
                        <a:rPr lang="es-PE" sz="1800" dirty="0"/>
                        <a:t> + </a:t>
                      </a:r>
                      <a:r>
                        <a:rPr lang="es-PE" sz="1800" dirty="0" err="1"/>
                        <a:t>0.35H</a:t>
                      </a:r>
                      <a:r>
                        <a:rPr lang="es-PE" sz="1800" dirty="0"/>
                        <a:t> = 126000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(500000,0)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.=0.45 (500000) + 0.35 (0)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225000</a:t>
                      </a:r>
                      <a:endParaRPr lang="es-PE" sz="18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Z=25(500000) + 22(0) = $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12’500000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(0, 250000)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.=0.45 (0) + 0.35 (250000)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87500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 25(0) + 22(250000) = $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5’500000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AF1E8366-C58B-462D-84B8-B44D817A2BBB}"/>
              </a:ext>
            </a:extLst>
          </p:cNvPr>
          <p:cNvSpPr txBox="1"/>
          <p:nvPr/>
        </p:nvSpPr>
        <p:spPr>
          <a:xfrm>
            <a:off x="5124091" y="5564038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43" name="7 CuadroTexto">
            <a:extLst>
              <a:ext uri="{FF2B5EF4-FFF2-40B4-BE49-F238E27FC236}">
                <a16:creationId xmlns:a16="http://schemas.microsoft.com/office/drawing/2014/main" id="{80D8A163-7A83-42D3-8BEA-814948783C7B}"/>
              </a:ext>
            </a:extLst>
          </p:cNvPr>
          <p:cNvSpPr txBox="1"/>
          <p:nvPr/>
        </p:nvSpPr>
        <p:spPr>
          <a:xfrm>
            <a:off x="416454" y="3330081"/>
            <a:ext cx="66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360,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4" name="8 CuadroTexto">
            <a:extLst>
              <a:ext uri="{FF2B5EF4-FFF2-40B4-BE49-F238E27FC236}">
                <a16:creationId xmlns:a16="http://schemas.microsoft.com/office/drawing/2014/main" id="{AEC68167-6663-4BEA-A8C4-20A95328151C}"/>
              </a:ext>
            </a:extLst>
          </p:cNvPr>
          <p:cNvSpPr txBox="1"/>
          <p:nvPr/>
        </p:nvSpPr>
        <p:spPr>
          <a:xfrm>
            <a:off x="2620440" y="588523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280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5" name="9 CuadroTexto">
            <a:extLst>
              <a:ext uri="{FF2B5EF4-FFF2-40B4-BE49-F238E27FC236}">
                <a16:creationId xmlns:a16="http://schemas.microsoft.com/office/drawing/2014/main" id="{88EFFB1C-2795-4AD7-B548-E5F50B759DB3}"/>
              </a:ext>
            </a:extLst>
          </p:cNvPr>
          <p:cNvSpPr txBox="1"/>
          <p:nvPr/>
        </p:nvSpPr>
        <p:spPr>
          <a:xfrm>
            <a:off x="380143" y="4055652"/>
            <a:ext cx="819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250,</a:t>
            </a:r>
            <a:endParaRPr lang="es-PE" dirty="0">
              <a:solidFill>
                <a:srgbClr val="00B05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C013BE3-6C86-40B3-BC5B-AD66EEC08B90}"/>
              </a:ext>
            </a:extLst>
          </p:cNvPr>
          <p:cNvSpPr txBox="1"/>
          <p:nvPr/>
        </p:nvSpPr>
        <p:spPr>
          <a:xfrm>
            <a:off x="4848041" y="5960834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50EAB3-A9D9-4DF0-BEAD-F8F7483DBD62}"/>
              </a:ext>
            </a:extLst>
          </p:cNvPr>
          <p:cNvSpPr txBox="1"/>
          <p:nvPr/>
        </p:nvSpPr>
        <p:spPr>
          <a:xfrm>
            <a:off x="669990" y="268855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</a:t>
            </a:r>
            <a:endParaRPr lang="es-PE" dirty="0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97A9467-38B1-4BDB-BF68-6E4F54EFD04D}"/>
              </a:ext>
            </a:extLst>
          </p:cNvPr>
          <p:cNvCxnSpPr>
            <a:cxnSpLocks/>
          </p:cNvCxnSpPr>
          <p:nvPr/>
        </p:nvCxnSpPr>
        <p:spPr>
          <a:xfrm flipV="1">
            <a:off x="871270" y="3200381"/>
            <a:ext cx="138021" cy="112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AC7F771-987D-4A00-A333-F5BC3B00EE2E}"/>
              </a:ext>
            </a:extLst>
          </p:cNvPr>
          <p:cNvCxnSpPr>
            <a:cxnSpLocks/>
          </p:cNvCxnSpPr>
          <p:nvPr/>
        </p:nvCxnSpPr>
        <p:spPr>
          <a:xfrm flipV="1">
            <a:off x="912605" y="3933626"/>
            <a:ext cx="62180" cy="16030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FC5C3270-8F23-4B26-AF87-B2DC59174DAB}"/>
              </a:ext>
            </a:extLst>
          </p:cNvPr>
          <p:cNvSpPr/>
          <p:nvPr/>
        </p:nvSpPr>
        <p:spPr>
          <a:xfrm>
            <a:off x="2085975" y="4949746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B28F2C4-6D80-4EFA-A9A2-3A8E46AEA811}"/>
              </a:ext>
            </a:extLst>
          </p:cNvPr>
          <p:cNvSpPr txBox="1"/>
          <p:nvPr/>
        </p:nvSpPr>
        <p:spPr>
          <a:xfrm>
            <a:off x="380143" y="3641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556AE2B-4701-48B6-BA15-34ED1BA006FA}"/>
              </a:ext>
            </a:extLst>
          </p:cNvPr>
          <p:cNvSpPr txBox="1"/>
          <p:nvPr/>
        </p:nvSpPr>
        <p:spPr>
          <a:xfrm>
            <a:off x="2895599" y="5981926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92F7BFE-78B0-4CBB-B981-45D698AD9C1C}"/>
              </a:ext>
            </a:extLst>
          </p:cNvPr>
          <p:cNvSpPr txBox="1"/>
          <p:nvPr/>
        </p:nvSpPr>
        <p:spPr>
          <a:xfrm>
            <a:off x="2154148" y="5943999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4C875AA-5CAD-4959-BF61-F95A8BEAB4E6}"/>
              </a:ext>
            </a:extLst>
          </p:cNvPr>
          <p:cNvSpPr txBox="1"/>
          <p:nvPr/>
        </p:nvSpPr>
        <p:spPr>
          <a:xfrm>
            <a:off x="1464067" y="596822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9178E2CE-0E77-4570-A1E1-FE3AB16FAAAA}"/>
              </a:ext>
            </a:extLst>
          </p:cNvPr>
          <p:cNvSpPr txBox="1"/>
          <p:nvPr/>
        </p:nvSpPr>
        <p:spPr>
          <a:xfrm>
            <a:off x="388704" y="435860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EFEBEF9-A7DB-4471-B9AC-79AB9B9A48D1}"/>
              </a:ext>
            </a:extLst>
          </p:cNvPr>
          <p:cNvSpPr txBox="1"/>
          <p:nvPr/>
        </p:nvSpPr>
        <p:spPr>
          <a:xfrm>
            <a:off x="412872" y="506746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81B4CA7-9219-4A8F-949D-5807CD843414}"/>
              </a:ext>
            </a:extLst>
          </p:cNvPr>
          <p:cNvSpPr txBox="1"/>
          <p:nvPr/>
        </p:nvSpPr>
        <p:spPr>
          <a:xfrm>
            <a:off x="3643900" y="598021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31D4190-A251-4E46-A121-8DA100C4161D}"/>
              </a:ext>
            </a:extLst>
          </p:cNvPr>
          <p:cNvSpPr txBox="1"/>
          <p:nvPr/>
        </p:nvSpPr>
        <p:spPr>
          <a:xfrm>
            <a:off x="429031" y="29050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60" name="Triángulo rectángulo 59">
            <a:extLst>
              <a:ext uri="{FF2B5EF4-FFF2-40B4-BE49-F238E27FC236}">
                <a16:creationId xmlns:a16="http://schemas.microsoft.com/office/drawing/2014/main" id="{A449FF61-34F9-4918-A83D-3305DEB8D7B5}"/>
              </a:ext>
            </a:extLst>
          </p:cNvPr>
          <p:cNvSpPr/>
          <p:nvPr/>
        </p:nvSpPr>
        <p:spPr>
          <a:xfrm>
            <a:off x="1061049" y="3571317"/>
            <a:ext cx="1966823" cy="2432649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B3612AE-B41A-41EC-BC5F-20D5ACA3A8E7}"/>
              </a:ext>
            </a:extLst>
          </p:cNvPr>
          <p:cNvSpPr txBox="1"/>
          <p:nvPr/>
        </p:nvSpPr>
        <p:spPr>
          <a:xfrm>
            <a:off x="4357015" y="598597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500,</a:t>
            </a:r>
            <a:endParaRPr lang="es-PE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83B4C043-73EB-4C67-A497-62C0AF303A04}"/>
              </a:ext>
            </a:extLst>
          </p:cNvPr>
          <p:cNvCxnSpPr/>
          <p:nvPr/>
        </p:nvCxnSpPr>
        <p:spPr>
          <a:xfrm>
            <a:off x="879894" y="4106154"/>
            <a:ext cx="4019910" cy="201858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riángulo rectángulo 62">
            <a:extLst>
              <a:ext uri="{FF2B5EF4-FFF2-40B4-BE49-F238E27FC236}">
                <a16:creationId xmlns:a16="http://schemas.microsoft.com/office/drawing/2014/main" id="{2A2592FE-2112-4BF0-8FFB-EAE5C9AC1D4F}"/>
              </a:ext>
            </a:extLst>
          </p:cNvPr>
          <p:cNvSpPr/>
          <p:nvPr/>
        </p:nvSpPr>
        <p:spPr>
          <a:xfrm>
            <a:off x="1086929" y="4226925"/>
            <a:ext cx="3502324" cy="1751162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3584B8BD-7FFA-4771-8866-9CFEAB33EA96}"/>
              </a:ext>
            </a:extLst>
          </p:cNvPr>
          <p:cNvCxnSpPr>
            <a:cxnSpLocks/>
          </p:cNvCxnSpPr>
          <p:nvPr/>
        </p:nvCxnSpPr>
        <p:spPr>
          <a:xfrm>
            <a:off x="888521" y="3334989"/>
            <a:ext cx="2648310" cy="32866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8624211F-B38E-437A-A1FB-8B65BCDF9D77}"/>
              </a:ext>
            </a:extLst>
          </p:cNvPr>
          <p:cNvCxnSpPr>
            <a:cxnSpLocks/>
          </p:cNvCxnSpPr>
          <p:nvPr/>
        </p:nvCxnSpPr>
        <p:spPr>
          <a:xfrm>
            <a:off x="465826" y="5986714"/>
            <a:ext cx="4710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50F35881-4D34-4638-981D-C72F12362B19}"/>
              </a:ext>
            </a:extLst>
          </p:cNvPr>
          <p:cNvCxnSpPr>
            <a:cxnSpLocks/>
          </p:cNvCxnSpPr>
          <p:nvPr/>
        </p:nvCxnSpPr>
        <p:spPr>
          <a:xfrm flipV="1">
            <a:off x="1052422" y="2622430"/>
            <a:ext cx="0" cy="4011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625140EF-6AC5-425C-903B-80B1070A95CE}"/>
              </a:ext>
            </a:extLst>
          </p:cNvPr>
          <p:cNvSpPr/>
          <p:nvPr/>
        </p:nvSpPr>
        <p:spPr>
          <a:xfrm>
            <a:off x="1923691" y="4623739"/>
            <a:ext cx="60384" cy="6901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7F788C9E-0DB8-4BCA-B3A4-0DA883C66274}"/>
              </a:ext>
            </a:extLst>
          </p:cNvPr>
          <p:cNvCxnSpPr>
            <a:cxnSpLocks/>
          </p:cNvCxnSpPr>
          <p:nvPr/>
        </p:nvCxnSpPr>
        <p:spPr>
          <a:xfrm flipV="1">
            <a:off x="935609" y="4649619"/>
            <a:ext cx="125440" cy="9704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1 Rectángulo">
            <a:extLst>
              <a:ext uri="{FF2B5EF4-FFF2-40B4-BE49-F238E27FC236}">
                <a16:creationId xmlns:a16="http://schemas.microsoft.com/office/drawing/2014/main" id="{B63EE217-E862-46ED-B36B-DD0A51AD8818}"/>
              </a:ext>
            </a:extLst>
          </p:cNvPr>
          <p:cNvSpPr/>
          <p:nvPr/>
        </p:nvSpPr>
        <p:spPr>
          <a:xfrm>
            <a:off x="346536" y="1262756"/>
            <a:ext cx="4380740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Minimizar	</a:t>
            </a:r>
            <a:r>
              <a:rPr lang="pt-BR" dirty="0" err="1">
                <a:latin typeface="Arial Narrow" panose="020B0606020202030204" pitchFamily="34" charset="0"/>
              </a:rPr>
              <a:t>25L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22H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pt-BR" dirty="0" err="1">
                <a:latin typeface="Arial Narrow" panose="020B0606020202030204" pitchFamily="34" charset="0"/>
              </a:rPr>
              <a:t>Dependiendo</a:t>
            </a:r>
            <a:r>
              <a:rPr lang="pt-BR" dirty="0">
                <a:latin typeface="Arial Narrow" panose="020B0606020202030204" pitchFamily="34" charset="0"/>
              </a:rPr>
              <a:t> de	</a:t>
            </a:r>
            <a:r>
              <a:rPr lang="pt-BR" dirty="0" err="1">
                <a:latin typeface="Arial Narrow" panose="020B0606020202030204" pitchFamily="34" charset="0"/>
              </a:rPr>
              <a:t>0.45L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0.35H</a:t>
            </a:r>
            <a:r>
              <a:rPr lang="pt-BR" dirty="0">
                <a:latin typeface="Arial Narrow" panose="020B0606020202030204" pitchFamily="34" charset="0"/>
              </a:rPr>
              <a:t>    &gt;=  126000 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</a:t>
            </a:r>
            <a:r>
              <a:rPr lang="pt-BR" dirty="0" err="1">
                <a:latin typeface="Arial Narrow" panose="020B0606020202030204" pitchFamily="34" charset="0"/>
              </a:rPr>
              <a:t>0.18L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0.36H</a:t>
            </a:r>
            <a:r>
              <a:rPr lang="pt-BR" dirty="0">
                <a:latin typeface="Arial Narrow" panose="020B0606020202030204" pitchFamily="34" charset="0"/>
              </a:rPr>
              <a:t>    &gt;=    90000  </a:t>
            </a:r>
            <a:endParaRPr lang="es-ES" dirty="0">
              <a:latin typeface="Arial Narrow" panose="020B0606020202030204" pitchFamily="34" charset="0"/>
            </a:endParaRP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                                   </a:t>
            </a:r>
            <a:r>
              <a:rPr lang="pt-BR" dirty="0" err="1">
                <a:latin typeface="Arial Narrow" panose="020B0606020202030204" pitchFamily="34" charset="0"/>
              </a:rPr>
              <a:t>0.30L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0.20H</a:t>
            </a:r>
            <a:r>
              <a:rPr lang="pt-BR" dirty="0">
                <a:latin typeface="Arial Narrow" panose="020B0606020202030204" pitchFamily="34" charset="0"/>
              </a:rPr>
              <a:t>    &gt;=    30000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                  L, H  &gt;= 0 </a:t>
            </a:r>
            <a:endParaRPr lang="es-PE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52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2088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87500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L = 0 ; H = 250000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5’500000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solidFill>
                            <a:srgbClr val="FF0000"/>
                          </a:solidFill>
                          <a:effectLst/>
                        </a:rPr>
                        <a:t>126000</a:t>
                      </a:r>
                      <a:endParaRPr lang="es-PE" sz="2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solidFill>
                            <a:srgbClr val="FF0000"/>
                          </a:solidFill>
                          <a:effectLst/>
                        </a:rPr>
                        <a:t>L = 140000; H = 180000</a:t>
                      </a:r>
                      <a:endParaRPr lang="es-PE" sz="2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solidFill>
                            <a:srgbClr val="FF0000"/>
                          </a:solidFill>
                          <a:effectLst/>
                        </a:rPr>
                        <a:t>7’460000</a:t>
                      </a:r>
                      <a:endParaRPr lang="es-PE" sz="2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225000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L = 500000 ; H = 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12’500000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077144" y="4965512"/>
            <a:ext cx="48571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485525" y="6418260"/>
            <a:ext cx="17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X=Lado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9048324" y="5003321"/>
            <a:ext cx="1372383" cy="37680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9336359" y="5360383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1040605-470E-4531-983A-598CEC71A478}"/>
              </a:ext>
            </a:extLst>
          </p:cNvPr>
          <p:cNvSpPr txBox="1"/>
          <p:nvPr/>
        </p:nvSpPr>
        <p:spPr>
          <a:xfrm>
            <a:off x="7999011" y="6154310"/>
            <a:ext cx="321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>
                <a:latin typeface="Arial Narrow" panose="020B0606020202030204" pitchFamily="34" charset="0"/>
              </a:defRPr>
            </a:lvl1pPr>
          </a:lstStyle>
          <a:p>
            <a:r>
              <a:rPr lang="es-ES" dirty="0"/>
              <a:t>87500  </a:t>
            </a:r>
            <a:r>
              <a:rPr lang="es-ES" dirty="0">
                <a:solidFill>
                  <a:srgbClr val="FF0000"/>
                </a:solidFill>
              </a:rPr>
              <a:t>126000</a:t>
            </a:r>
            <a:r>
              <a:rPr lang="es-ES" dirty="0"/>
              <a:t>             225000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C9B1C25-D329-42BE-BC80-E4CEB87AAA89}"/>
              </a:ext>
            </a:extLst>
          </p:cNvPr>
          <p:cNvSpPr txBox="1"/>
          <p:nvPr/>
        </p:nvSpPr>
        <p:spPr>
          <a:xfrm>
            <a:off x="6368995" y="4826444"/>
            <a:ext cx="1240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Narrow" panose="020B0606020202030204" pitchFamily="34" charset="0"/>
              </a:rPr>
              <a:t>12’500000</a:t>
            </a:r>
          </a:p>
          <a:p>
            <a:r>
              <a:rPr lang="es-ES" dirty="0">
                <a:latin typeface="Arial Narrow" panose="020B0606020202030204" pitchFamily="34" charset="0"/>
              </a:rPr>
              <a:t>  </a:t>
            </a:r>
            <a:r>
              <a:rPr lang="es-ES" dirty="0">
                <a:solidFill>
                  <a:srgbClr val="FF0000"/>
                </a:solidFill>
                <a:latin typeface="Arial Narrow" panose="020B0606020202030204" pitchFamily="34" charset="0"/>
              </a:rPr>
              <a:t>7’460000</a:t>
            </a:r>
          </a:p>
          <a:p>
            <a:r>
              <a:rPr lang="es-ES" dirty="0">
                <a:latin typeface="Arial Narrow" panose="020B0606020202030204" pitchFamily="34" charset="0"/>
              </a:rPr>
              <a:t>  5´500000</a:t>
            </a:r>
            <a:endParaRPr lang="es-PE" dirty="0">
              <a:latin typeface="Arial Narrow" panose="020B0606020202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FBF3C8B-4B46-4F01-8C0D-1FFA4C139AE1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4.38</a:t>
            </a:r>
            <a:endParaRPr lang="es-PE" sz="4000" dirty="0">
              <a:solidFill>
                <a:srgbClr val="0070C0"/>
              </a:solidFill>
            </a:endParaRPr>
          </a:p>
        </p:txBody>
      </p:sp>
      <p:graphicFrame>
        <p:nvGraphicFramePr>
          <p:cNvPr id="14" name="Objeto 13">
            <a:extLst>
              <a:ext uri="{FF2B5EF4-FFF2-40B4-BE49-F238E27FC236}">
                <a16:creationId xmlns:a16="http://schemas.microsoft.com/office/drawing/2014/main" id="{BF0A159D-2A28-484C-BB59-147B1A3F2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2093" y="5395265"/>
          <a:ext cx="4646683" cy="80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393480" progId="">
                  <p:embed/>
                </p:oleObj>
              </mc:Choice>
              <mc:Fallback>
                <p:oleObj r:id="rId4" imgW="2286000" imgH="393480" progId="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BF0A159D-2A28-484C-BB59-147B1A3F26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2093" y="5395265"/>
                        <a:ext cx="4646683" cy="800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C6F923BE-4663-1F37-F2B9-DDC4F18F9EE5}"/>
              </a:ext>
            </a:extLst>
          </p:cNvPr>
          <p:cNvSpPr txBox="1"/>
          <p:nvPr/>
        </p:nvSpPr>
        <p:spPr>
          <a:xfrm>
            <a:off x="241173" y="6172245"/>
            <a:ext cx="712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Al incrementar 1 sol en el lado derecho (materiales), mi costo disminuye en 50,909 soles.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564315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3644017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Análisis de Sensibilidad del Lado Derecho de la II Restricción: </a:t>
                      </a:r>
                      <a:r>
                        <a:rPr lang="pt-BR" dirty="0" err="1"/>
                        <a:t>0.18L</a:t>
                      </a:r>
                      <a:r>
                        <a:rPr lang="pt-BR" dirty="0"/>
                        <a:t> + </a:t>
                      </a:r>
                      <a:r>
                        <a:rPr lang="pt-BR" dirty="0" err="1"/>
                        <a:t>0.36H</a:t>
                      </a:r>
                      <a:r>
                        <a:rPr lang="pt-BR" dirty="0"/>
                        <a:t>  &gt;=    90000 </a:t>
                      </a:r>
                      <a:endParaRPr lang="es-PE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(280000, 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.=0.18 (280000) + 0.36 (0)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50400</a:t>
                      </a:r>
                      <a:endParaRPr lang="es-PE" sz="18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Z=25(280000) + 22(0) = $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7’000000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(0, 360000)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.=0.18 (0) + 0.36 (360000)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129600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 25(0) + 22(360000) = $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7’920000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39" name="CuadroTexto 38">
            <a:extLst>
              <a:ext uri="{FF2B5EF4-FFF2-40B4-BE49-F238E27FC236}">
                <a16:creationId xmlns:a16="http://schemas.microsoft.com/office/drawing/2014/main" id="{A8AAA01B-C7BD-4341-8149-90F420EEA6E3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4.38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41" name="7 CuadroTexto">
            <a:extLst>
              <a:ext uri="{FF2B5EF4-FFF2-40B4-BE49-F238E27FC236}">
                <a16:creationId xmlns:a16="http://schemas.microsoft.com/office/drawing/2014/main" id="{6D8A003E-B380-47E2-B902-AF1B8180458B}"/>
              </a:ext>
            </a:extLst>
          </p:cNvPr>
          <p:cNvSpPr txBox="1"/>
          <p:nvPr/>
        </p:nvSpPr>
        <p:spPr>
          <a:xfrm>
            <a:off x="416454" y="3330081"/>
            <a:ext cx="66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360,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2" name="8 CuadroTexto">
            <a:extLst>
              <a:ext uri="{FF2B5EF4-FFF2-40B4-BE49-F238E27FC236}">
                <a16:creationId xmlns:a16="http://schemas.microsoft.com/office/drawing/2014/main" id="{E6BB21C3-F032-41DE-901F-D4863E98DDEF}"/>
              </a:ext>
            </a:extLst>
          </p:cNvPr>
          <p:cNvSpPr txBox="1"/>
          <p:nvPr/>
        </p:nvSpPr>
        <p:spPr>
          <a:xfrm>
            <a:off x="2620440" y="588523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280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3" name="9 CuadroTexto">
            <a:extLst>
              <a:ext uri="{FF2B5EF4-FFF2-40B4-BE49-F238E27FC236}">
                <a16:creationId xmlns:a16="http://schemas.microsoft.com/office/drawing/2014/main" id="{426F23EB-193C-4533-AA48-8C0AF3EE6364}"/>
              </a:ext>
            </a:extLst>
          </p:cNvPr>
          <p:cNvSpPr txBox="1"/>
          <p:nvPr/>
        </p:nvSpPr>
        <p:spPr>
          <a:xfrm>
            <a:off x="623670" y="405565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250</a:t>
            </a:r>
            <a:endParaRPr lang="es-PE" dirty="0">
              <a:solidFill>
                <a:srgbClr val="00B050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04790AE-DCBA-4F3E-BDA9-D58D2445E22A}"/>
              </a:ext>
            </a:extLst>
          </p:cNvPr>
          <p:cNvSpPr txBox="1"/>
          <p:nvPr/>
        </p:nvSpPr>
        <p:spPr>
          <a:xfrm>
            <a:off x="4848041" y="5960834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13C8057-9B26-47B2-AA24-8514BBD19319}"/>
              </a:ext>
            </a:extLst>
          </p:cNvPr>
          <p:cNvSpPr txBox="1"/>
          <p:nvPr/>
        </p:nvSpPr>
        <p:spPr>
          <a:xfrm>
            <a:off x="669990" y="268855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</a:t>
            </a:r>
            <a:endParaRPr lang="es-PE" dirty="0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955FCFE6-537C-4931-A646-47DC0796543D}"/>
              </a:ext>
            </a:extLst>
          </p:cNvPr>
          <p:cNvCxnSpPr>
            <a:cxnSpLocks/>
          </p:cNvCxnSpPr>
          <p:nvPr/>
        </p:nvCxnSpPr>
        <p:spPr>
          <a:xfrm flipV="1">
            <a:off x="871270" y="3200381"/>
            <a:ext cx="138021" cy="112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2E4AE8F-4A52-4CB6-BEB2-312D76B4E5F7}"/>
              </a:ext>
            </a:extLst>
          </p:cNvPr>
          <p:cNvCxnSpPr>
            <a:cxnSpLocks/>
          </p:cNvCxnSpPr>
          <p:nvPr/>
        </p:nvCxnSpPr>
        <p:spPr>
          <a:xfrm flipV="1">
            <a:off x="912605" y="3933626"/>
            <a:ext cx="62180" cy="16030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CF4A3A40-B7A9-40DD-BEC1-CBBB0F0C6082}"/>
              </a:ext>
            </a:extLst>
          </p:cNvPr>
          <p:cNvSpPr/>
          <p:nvPr/>
        </p:nvSpPr>
        <p:spPr>
          <a:xfrm>
            <a:off x="2085975" y="4949746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7638253-9607-4536-A086-1D878C905D15}"/>
              </a:ext>
            </a:extLst>
          </p:cNvPr>
          <p:cNvSpPr txBox="1"/>
          <p:nvPr/>
        </p:nvSpPr>
        <p:spPr>
          <a:xfrm>
            <a:off x="380143" y="3641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4C00AA6-5580-4A43-87A6-AC02DC60D6CB}"/>
              </a:ext>
            </a:extLst>
          </p:cNvPr>
          <p:cNvSpPr txBox="1"/>
          <p:nvPr/>
        </p:nvSpPr>
        <p:spPr>
          <a:xfrm>
            <a:off x="2895599" y="5981926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45C4BC8-4A5F-4427-BEAE-40E438156CA0}"/>
              </a:ext>
            </a:extLst>
          </p:cNvPr>
          <p:cNvSpPr txBox="1"/>
          <p:nvPr/>
        </p:nvSpPr>
        <p:spPr>
          <a:xfrm>
            <a:off x="2154148" y="5943999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2BA69DB-F2EC-4136-9EF0-11D2EE826140}"/>
              </a:ext>
            </a:extLst>
          </p:cNvPr>
          <p:cNvSpPr txBox="1"/>
          <p:nvPr/>
        </p:nvSpPr>
        <p:spPr>
          <a:xfrm>
            <a:off x="1464067" y="596822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6C5A8EF-1C78-43E8-B43C-0BD844C460A8}"/>
              </a:ext>
            </a:extLst>
          </p:cNvPr>
          <p:cNvSpPr txBox="1"/>
          <p:nvPr/>
        </p:nvSpPr>
        <p:spPr>
          <a:xfrm>
            <a:off x="388704" y="435860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68BCE56-987E-4689-9584-B922C28DCD72}"/>
              </a:ext>
            </a:extLst>
          </p:cNvPr>
          <p:cNvSpPr txBox="1"/>
          <p:nvPr/>
        </p:nvSpPr>
        <p:spPr>
          <a:xfrm>
            <a:off x="412872" y="506746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DE1EC4E-60E5-453F-BE27-D6600B4DA7BE}"/>
              </a:ext>
            </a:extLst>
          </p:cNvPr>
          <p:cNvSpPr txBox="1"/>
          <p:nvPr/>
        </p:nvSpPr>
        <p:spPr>
          <a:xfrm>
            <a:off x="3643900" y="598021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D8E4AEC-9CA4-48BD-ACE9-F9F69AA1A2C4}"/>
              </a:ext>
            </a:extLst>
          </p:cNvPr>
          <p:cNvSpPr txBox="1"/>
          <p:nvPr/>
        </p:nvSpPr>
        <p:spPr>
          <a:xfrm>
            <a:off x="429031" y="29050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58" name="Triángulo rectángulo 57">
            <a:extLst>
              <a:ext uri="{FF2B5EF4-FFF2-40B4-BE49-F238E27FC236}">
                <a16:creationId xmlns:a16="http://schemas.microsoft.com/office/drawing/2014/main" id="{C7715C80-04BE-4803-AFED-8C6F28C71097}"/>
              </a:ext>
            </a:extLst>
          </p:cNvPr>
          <p:cNvSpPr/>
          <p:nvPr/>
        </p:nvSpPr>
        <p:spPr>
          <a:xfrm>
            <a:off x="1061049" y="3571317"/>
            <a:ext cx="1966823" cy="2432649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D846DCA-FD14-4A98-A49D-1B8C25179BFC}"/>
              </a:ext>
            </a:extLst>
          </p:cNvPr>
          <p:cNvSpPr txBox="1"/>
          <p:nvPr/>
        </p:nvSpPr>
        <p:spPr>
          <a:xfrm>
            <a:off x="4357015" y="598597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500,</a:t>
            </a:r>
            <a:endParaRPr lang="es-PE" dirty="0"/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883D4DA3-F574-4154-81EF-FECD62B9FBFF}"/>
              </a:ext>
            </a:extLst>
          </p:cNvPr>
          <p:cNvCxnSpPr/>
          <p:nvPr/>
        </p:nvCxnSpPr>
        <p:spPr>
          <a:xfrm>
            <a:off x="742734" y="4033002"/>
            <a:ext cx="4019910" cy="201858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riángulo rectángulo 60">
            <a:extLst>
              <a:ext uri="{FF2B5EF4-FFF2-40B4-BE49-F238E27FC236}">
                <a16:creationId xmlns:a16="http://schemas.microsoft.com/office/drawing/2014/main" id="{7A1327BD-4AD2-4C6B-9474-B762A09BC0E9}"/>
              </a:ext>
            </a:extLst>
          </p:cNvPr>
          <p:cNvSpPr/>
          <p:nvPr/>
        </p:nvSpPr>
        <p:spPr>
          <a:xfrm>
            <a:off x="1123505" y="4245213"/>
            <a:ext cx="3502324" cy="1751162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17ED324-20F5-4B43-A932-F5928A6E6B98}"/>
              </a:ext>
            </a:extLst>
          </p:cNvPr>
          <p:cNvCxnSpPr>
            <a:cxnSpLocks/>
          </p:cNvCxnSpPr>
          <p:nvPr/>
        </p:nvCxnSpPr>
        <p:spPr>
          <a:xfrm>
            <a:off x="724618" y="3122744"/>
            <a:ext cx="2648310" cy="32866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441E967E-A34D-4DE3-ABA2-1D85DD4AE791}"/>
              </a:ext>
            </a:extLst>
          </p:cNvPr>
          <p:cNvCxnSpPr>
            <a:cxnSpLocks/>
          </p:cNvCxnSpPr>
          <p:nvPr/>
        </p:nvCxnSpPr>
        <p:spPr>
          <a:xfrm>
            <a:off x="465826" y="5986714"/>
            <a:ext cx="4710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1BEA45E1-8BB5-48FD-8473-E169C4C686D7}"/>
              </a:ext>
            </a:extLst>
          </p:cNvPr>
          <p:cNvCxnSpPr>
            <a:cxnSpLocks/>
          </p:cNvCxnSpPr>
          <p:nvPr/>
        </p:nvCxnSpPr>
        <p:spPr>
          <a:xfrm flipV="1">
            <a:off x="1052422" y="2622430"/>
            <a:ext cx="0" cy="4011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9905F846-4698-4D56-9CAC-9647A0580333}"/>
              </a:ext>
            </a:extLst>
          </p:cNvPr>
          <p:cNvSpPr/>
          <p:nvPr/>
        </p:nvSpPr>
        <p:spPr>
          <a:xfrm>
            <a:off x="1923691" y="4623739"/>
            <a:ext cx="60384" cy="6901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4AD272A2-2637-40C4-B3FC-396993A86687}"/>
              </a:ext>
            </a:extLst>
          </p:cNvPr>
          <p:cNvCxnSpPr>
            <a:cxnSpLocks/>
          </p:cNvCxnSpPr>
          <p:nvPr/>
        </p:nvCxnSpPr>
        <p:spPr>
          <a:xfrm flipV="1">
            <a:off x="935609" y="4649619"/>
            <a:ext cx="125440" cy="9704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1 Rectángulo">
            <a:extLst>
              <a:ext uri="{FF2B5EF4-FFF2-40B4-BE49-F238E27FC236}">
                <a16:creationId xmlns:a16="http://schemas.microsoft.com/office/drawing/2014/main" id="{B7729FF0-AD41-41C6-9AD3-424ACD3AE5F0}"/>
              </a:ext>
            </a:extLst>
          </p:cNvPr>
          <p:cNvSpPr/>
          <p:nvPr/>
        </p:nvSpPr>
        <p:spPr>
          <a:xfrm>
            <a:off x="346536" y="1262756"/>
            <a:ext cx="4380740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Minimizar	</a:t>
            </a:r>
            <a:r>
              <a:rPr lang="pt-BR" dirty="0" err="1">
                <a:latin typeface="Arial Narrow" panose="020B0606020202030204" pitchFamily="34" charset="0"/>
              </a:rPr>
              <a:t>25L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22H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pt-BR" dirty="0" err="1">
                <a:latin typeface="Arial Narrow" panose="020B0606020202030204" pitchFamily="34" charset="0"/>
              </a:rPr>
              <a:t>Dependiendo</a:t>
            </a:r>
            <a:r>
              <a:rPr lang="pt-BR" dirty="0">
                <a:latin typeface="Arial Narrow" panose="020B0606020202030204" pitchFamily="34" charset="0"/>
              </a:rPr>
              <a:t> de	</a:t>
            </a:r>
            <a:r>
              <a:rPr lang="pt-BR" dirty="0" err="1">
                <a:latin typeface="Arial Narrow" panose="020B0606020202030204" pitchFamily="34" charset="0"/>
              </a:rPr>
              <a:t>0.45L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0.35H</a:t>
            </a:r>
            <a:r>
              <a:rPr lang="pt-BR" dirty="0">
                <a:latin typeface="Arial Narrow" panose="020B0606020202030204" pitchFamily="34" charset="0"/>
              </a:rPr>
              <a:t>    &gt;=  126000 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</a:t>
            </a:r>
            <a:r>
              <a:rPr lang="pt-BR" dirty="0" err="1">
                <a:latin typeface="Arial Narrow" panose="020B0606020202030204" pitchFamily="34" charset="0"/>
              </a:rPr>
              <a:t>0.18L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0.36H</a:t>
            </a:r>
            <a:r>
              <a:rPr lang="pt-BR" dirty="0">
                <a:latin typeface="Arial Narrow" panose="020B0606020202030204" pitchFamily="34" charset="0"/>
              </a:rPr>
              <a:t>    &gt;=    90000  </a:t>
            </a:r>
            <a:endParaRPr lang="es-ES" dirty="0">
              <a:latin typeface="Arial Narrow" panose="020B0606020202030204" pitchFamily="34" charset="0"/>
            </a:endParaRP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                                   </a:t>
            </a:r>
            <a:r>
              <a:rPr lang="pt-BR" dirty="0" err="1">
                <a:latin typeface="Arial Narrow" panose="020B0606020202030204" pitchFamily="34" charset="0"/>
              </a:rPr>
              <a:t>0.30L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0.20H</a:t>
            </a:r>
            <a:r>
              <a:rPr lang="pt-BR" dirty="0">
                <a:latin typeface="Arial Narrow" panose="020B0606020202030204" pitchFamily="34" charset="0"/>
              </a:rPr>
              <a:t>    &gt;=    30000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                  L, H  &gt;= 0 </a:t>
            </a:r>
            <a:endParaRPr lang="es-PE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65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2088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50400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L = 280000 ; H = 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7000000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solidFill>
                            <a:srgbClr val="FF0000"/>
                          </a:solidFill>
                          <a:effectLst/>
                        </a:rPr>
                        <a:t>90000</a:t>
                      </a:r>
                      <a:endParaRPr lang="es-PE" sz="2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solidFill>
                            <a:srgbClr val="FF0000"/>
                          </a:solidFill>
                          <a:effectLst/>
                        </a:rPr>
                        <a:t>L = 140000; H = 180000</a:t>
                      </a:r>
                      <a:endParaRPr lang="es-PE" sz="2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solidFill>
                            <a:srgbClr val="FF0000"/>
                          </a:solidFill>
                          <a:effectLst/>
                        </a:rPr>
                        <a:t>7’460000</a:t>
                      </a:r>
                      <a:endParaRPr lang="es-PE" sz="24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129600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L = 0 ; H = 360000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dirty="0">
                          <a:effectLst/>
                        </a:rPr>
                        <a:t>7’920000</a:t>
                      </a:r>
                      <a:endParaRPr lang="es-PE" sz="2400" dirty="0">
                        <a:effectLst/>
                        <a:latin typeface="Times New Roman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8571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9463177" y="6519792"/>
            <a:ext cx="247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</a:rPr>
              <a:t>Valor del Lado Derecho</a:t>
            </a:r>
            <a:endParaRPr lang="es-PE" b="1" dirty="0">
              <a:solidFill>
                <a:srgbClr val="C0000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6519978" y="4491263"/>
            <a:ext cx="1154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Valor F.O.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8352567" y="5003320"/>
            <a:ext cx="2068139" cy="55228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9147555" y="5576150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3" y="4365105"/>
                <a:ext cx="337346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b="1" dirty="0"/>
                  <a:t>Pendiente=m=</a:t>
                </a:r>
                <a:r>
                  <a:rPr lang="es-ES" sz="2400" b="1" dirty="0" err="1"/>
                  <a:t>tg</a:t>
                </a:r>
                <a:r>
                  <a:rPr lang="es-ES" sz="2400" b="1" dirty="0"/>
                  <a:t>(</a:t>
                </a:r>
                <a:r>
                  <a:rPr lang="el-GR" sz="2400" b="1" dirty="0"/>
                  <a:t>α</a:t>
                </a:r>
                <a:r>
                  <a:rPr lang="es-ES" sz="2400" b="1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1" i="1">
                            <a:latin typeface="Cambria Math"/>
                          </a:rPr>
                          <m:t>∆</m:t>
                        </m:r>
                        <m:r>
                          <a:rPr lang="es-ES" sz="2400" b="1" i="1">
                            <a:latin typeface="Cambria Math"/>
                          </a:rPr>
                          <m:t>𝒚</m:t>
                        </m:r>
                      </m:num>
                      <m:den>
                        <m:r>
                          <a:rPr lang="es-ES" sz="2400" b="1" i="1">
                            <a:latin typeface="Cambria Math"/>
                          </a:rPr>
                          <m:t>∆</m:t>
                        </m:r>
                        <m:r>
                          <a:rPr lang="es-ES" sz="2400" b="1" i="1">
                            <a:latin typeface="Cambria Math"/>
                          </a:rPr>
                          <m:t>𝒙</m:t>
                        </m:r>
                      </m:den>
                    </m:f>
                  </m:oMath>
                </a14:m>
                <a:endParaRPr lang="es-PE" sz="2400" b="1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3" y="4365105"/>
                <a:ext cx="3373463" cy="625812"/>
              </a:xfrm>
              <a:prstGeom prst="rect">
                <a:avLst/>
              </a:prstGeom>
              <a:blipFill>
                <a:blip r:embed="rId2"/>
                <a:stretch>
                  <a:fillRect l="-2893" b="-873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II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53752" y="4597246"/>
            <a:ext cx="4584819" cy="1211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BE7D3AD-EC46-4228-9BA7-9CB6C9CD8CE4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4.38</a:t>
            </a:r>
            <a:endParaRPr lang="es-PE" sz="4000" dirty="0">
              <a:solidFill>
                <a:srgbClr val="0070C0"/>
              </a:solidFill>
            </a:endParaRP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A38E887E-9C38-4E73-B66F-2278DC749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975" y="5654675"/>
          <a:ext cx="40100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73040" imgH="393480" progId="">
                  <p:embed/>
                </p:oleObj>
              </mc:Choice>
              <mc:Fallback>
                <p:oleObj r:id="rId3" imgW="2273040" imgH="39348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A38E887E-9C38-4E73-B66F-2278DC749E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5975" y="5654675"/>
                        <a:ext cx="4010025" cy="693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4AEC9D6D-E586-D39B-66CC-9E80D774274C}"/>
              </a:ext>
            </a:extLst>
          </p:cNvPr>
          <p:cNvSpPr txBox="1"/>
          <p:nvPr/>
        </p:nvSpPr>
        <p:spPr>
          <a:xfrm>
            <a:off x="8029457" y="6158369"/>
            <a:ext cx="298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50400   90000              129600</a:t>
            </a:r>
            <a:endParaRPr lang="es-PE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813A3CF-8C29-99CA-0E73-FBA9A512DDDF}"/>
              </a:ext>
            </a:extLst>
          </p:cNvPr>
          <p:cNvSpPr txBox="1"/>
          <p:nvPr/>
        </p:nvSpPr>
        <p:spPr>
          <a:xfrm>
            <a:off x="6637295" y="4830944"/>
            <a:ext cx="1034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7920000</a:t>
            </a:r>
          </a:p>
          <a:p>
            <a:r>
              <a:rPr lang="es-ES" b="1" dirty="0"/>
              <a:t>7460000</a:t>
            </a:r>
          </a:p>
          <a:p>
            <a:r>
              <a:rPr lang="es-ES" b="1" dirty="0"/>
              <a:t>7000000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53762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943590" y="1277387"/>
            <a:ext cx="621677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OBJECTIVE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FUNCTION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VALUE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        1)      7460000.</a:t>
            </a:r>
          </a:p>
          <a:p>
            <a:r>
              <a:rPr lang="es-PE" sz="2000" dirty="0">
                <a:latin typeface="Arial Narrow" pitchFamily="34" charset="0"/>
              </a:rPr>
              <a:t>  VARIABLE        </a:t>
            </a:r>
            <a:r>
              <a:rPr lang="es-PE" sz="2000" dirty="0" err="1">
                <a:latin typeface="Arial Narrow" pitchFamily="34" charset="0"/>
              </a:rPr>
              <a:t>VALUE</a:t>
            </a:r>
            <a:r>
              <a:rPr lang="es-PE" sz="2000" dirty="0">
                <a:latin typeface="Arial Narrow" pitchFamily="34" charset="0"/>
              </a:rPr>
              <a:t>          </a:t>
            </a:r>
            <a:r>
              <a:rPr lang="es-PE" sz="2000" dirty="0" err="1">
                <a:latin typeface="Arial Narrow" pitchFamily="34" charset="0"/>
              </a:rPr>
              <a:t>REDUCED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COST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         L    	140000.000000          0.000000</a:t>
            </a:r>
          </a:p>
          <a:p>
            <a:r>
              <a:rPr lang="es-PE" sz="2000" dirty="0">
                <a:latin typeface="Arial Narrow" pitchFamily="34" charset="0"/>
              </a:rPr>
              <a:t>         H    	180000.000000          0.000000</a:t>
            </a:r>
          </a:p>
          <a:p>
            <a:r>
              <a:rPr lang="es-PE" sz="2000" dirty="0">
                <a:latin typeface="Arial Narrow" pitchFamily="34" charset="0"/>
              </a:rPr>
              <a:t>       </a:t>
            </a:r>
            <a:r>
              <a:rPr lang="es-PE" sz="2000" dirty="0" err="1">
                <a:latin typeface="Arial Narrow" pitchFamily="34" charset="0"/>
              </a:rPr>
              <a:t>ROW</a:t>
            </a:r>
            <a:r>
              <a:rPr lang="es-PE" sz="2000" dirty="0">
                <a:latin typeface="Arial Narrow" pitchFamily="34" charset="0"/>
              </a:rPr>
              <a:t>   </a:t>
            </a:r>
            <a:r>
              <a:rPr lang="es-PE" sz="2000" dirty="0" err="1">
                <a:latin typeface="Arial Narrow" pitchFamily="34" charset="0"/>
              </a:rPr>
              <a:t>SLACK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OR</a:t>
            </a:r>
            <a:r>
              <a:rPr lang="es-PE" sz="2000" dirty="0">
                <a:latin typeface="Arial Narrow" pitchFamily="34" charset="0"/>
              </a:rPr>
              <a:t> SURPLUS     DUAL </a:t>
            </a:r>
            <a:r>
              <a:rPr lang="es-PE" sz="2000" dirty="0" err="1">
                <a:latin typeface="Arial Narrow" pitchFamily="34" charset="0"/>
              </a:rPr>
              <a:t>PRICES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        2)         0.000000        		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-50.909092</a:t>
            </a:r>
          </a:p>
          <a:p>
            <a:r>
              <a:rPr lang="es-PE" sz="2000" dirty="0">
                <a:latin typeface="Arial Narrow" pitchFamily="34" charset="0"/>
              </a:rPr>
              <a:t>        3)         0.000000       		-11.616161</a:t>
            </a:r>
          </a:p>
          <a:p>
            <a:r>
              <a:rPr lang="es-PE" sz="2000" dirty="0">
                <a:latin typeface="Arial Narrow" pitchFamily="34" charset="0"/>
              </a:rPr>
              <a:t>        4)     48000.000000         	  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0.000000</a:t>
            </a:r>
          </a:p>
          <a:p>
            <a:r>
              <a:rPr lang="es-PE" sz="2000" dirty="0">
                <a:latin typeface="Arial Narrow" pitchFamily="34" charset="0"/>
              </a:rPr>
              <a:t> NO. </a:t>
            </a:r>
            <a:r>
              <a:rPr lang="es-PE" sz="2000" dirty="0" err="1">
                <a:latin typeface="Arial Narrow" pitchFamily="34" charset="0"/>
              </a:rPr>
              <a:t>ITERATIONS</a:t>
            </a:r>
            <a:r>
              <a:rPr lang="es-PE" sz="2000" dirty="0">
                <a:latin typeface="Arial Narrow" pitchFamily="34" charset="0"/>
              </a:rPr>
              <a:t>=       2</a:t>
            </a:r>
          </a:p>
          <a:p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RANGES</a:t>
            </a:r>
            <a:r>
              <a:rPr lang="es-PE" sz="2000" dirty="0">
                <a:latin typeface="Arial Narrow" pitchFamily="34" charset="0"/>
              </a:rPr>
              <a:t> IN </a:t>
            </a:r>
            <a:r>
              <a:rPr lang="es-PE" sz="2000" dirty="0" err="1">
                <a:latin typeface="Arial Narrow" pitchFamily="34" charset="0"/>
              </a:rPr>
              <a:t>WHICH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THE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BASIS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IS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UNCHANGED</a:t>
            </a:r>
            <a:r>
              <a:rPr lang="es-PE" sz="2000" dirty="0">
                <a:latin typeface="Arial Narrow" pitchFamily="34" charset="0"/>
              </a:rPr>
              <a:t>:</a:t>
            </a:r>
          </a:p>
          <a:p>
            <a:r>
              <a:rPr lang="es-PE" sz="2000" dirty="0">
                <a:latin typeface="Arial Narrow" pitchFamily="34" charset="0"/>
              </a:rPr>
              <a:t>                           </a:t>
            </a:r>
            <a:r>
              <a:rPr lang="es-PE" sz="2000" dirty="0" err="1">
                <a:latin typeface="Arial Narrow" pitchFamily="34" charset="0"/>
              </a:rPr>
              <a:t>OBJ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COEFFICIENT</a:t>
            </a:r>
            <a:r>
              <a:rPr lang="es-PE" sz="2000" dirty="0">
                <a:latin typeface="Arial Narrow" pitchFamily="34" charset="0"/>
              </a:rPr>
              <a:t> </a:t>
            </a:r>
            <a:r>
              <a:rPr lang="es-PE" sz="2000" dirty="0" err="1">
                <a:latin typeface="Arial Narrow" pitchFamily="34" charset="0"/>
              </a:rPr>
              <a:t>RANGES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 VARIABLE         </a:t>
            </a:r>
            <a:r>
              <a:rPr lang="es-PE" sz="2000" dirty="0" err="1">
                <a:latin typeface="Arial Narrow" pitchFamily="34" charset="0"/>
              </a:rPr>
              <a:t>CURRENT</a:t>
            </a:r>
            <a:r>
              <a:rPr lang="es-PE" sz="2000" dirty="0">
                <a:latin typeface="Arial Narrow" pitchFamily="34" charset="0"/>
              </a:rPr>
              <a:t>        </a:t>
            </a:r>
            <a:r>
              <a:rPr lang="es-PE" sz="2000" dirty="0" err="1">
                <a:latin typeface="Arial Narrow" pitchFamily="34" charset="0"/>
              </a:rPr>
              <a:t>ALLOWABLE</a:t>
            </a:r>
            <a:r>
              <a:rPr lang="es-PE" sz="2000" dirty="0">
                <a:latin typeface="Arial Narrow" pitchFamily="34" charset="0"/>
              </a:rPr>
              <a:t>        </a:t>
            </a:r>
            <a:r>
              <a:rPr lang="es-PE" sz="2000" dirty="0" err="1">
                <a:latin typeface="Arial Narrow" pitchFamily="34" charset="0"/>
              </a:rPr>
              <a:t>ALLOWABLE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                   </a:t>
            </a:r>
            <a:r>
              <a:rPr lang="es-PE" sz="2000" dirty="0" err="1">
                <a:latin typeface="Arial Narrow" pitchFamily="34" charset="0"/>
              </a:rPr>
              <a:t>COEF</a:t>
            </a:r>
            <a:r>
              <a:rPr lang="es-PE" sz="2000" dirty="0">
                <a:latin typeface="Arial Narrow" pitchFamily="34" charset="0"/>
              </a:rPr>
              <a:t>          </a:t>
            </a:r>
            <a:r>
              <a:rPr lang="es-PE" sz="2000" dirty="0" err="1">
                <a:latin typeface="Arial Narrow" pitchFamily="34" charset="0"/>
              </a:rPr>
              <a:t>INCREASE</a:t>
            </a:r>
            <a:r>
              <a:rPr lang="es-PE" sz="2000" dirty="0">
                <a:latin typeface="Arial Narrow" pitchFamily="34" charset="0"/>
              </a:rPr>
              <a:t>         </a:t>
            </a:r>
            <a:r>
              <a:rPr lang="es-PE" sz="2000" dirty="0" err="1">
                <a:latin typeface="Arial Narrow" pitchFamily="34" charset="0"/>
              </a:rPr>
              <a:t>DECREASE</a:t>
            </a:r>
            <a:endParaRPr lang="es-PE" sz="2000" dirty="0">
              <a:latin typeface="Arial Narrow" pitchFamily="34" charset="0"/>
            </a:endParaRPr>
          </a:p>
          <a:p>
            <a:r>
              <a:rPr lang="es-PE" sz="2000" dirty="0">
                <a:latin typeface="Arial Narrow" pitchFamily="34" charset="0"/>
              </a:rPr>
              <a:t>        L       25.000000         3.285714        14.000000 </a:t>
            </a:r>
          </a:p>
          <a:p>
            <a:r>
              <a:rPr lang="es-PE" sz="2000" dirty="0">
                <a:latin typeface="Arial Narrow" pitchFamily="34" charset="0"/>
              </a:rPr>
              <a:t>        H       22.000000        28.000000         2.555556           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096000" y="28451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Bauhaus 93" pitchFamily="82" charset="0"/>
              </a:rPr>
              <a:t>L</a:t>
            </a:r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indo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DBDE79-1BCE-4320-918D-BB7B7AE6E6A3}"/>
              </a:ext>
            </a:extLst>
          </p:cNvPr>
          <p:cNvSpPr/>
          <p:nvPr/>
        </p:nvSpPr>
        <p:spPr>
          <a:xfrm>
            <a:off x="10748143" y="5539835"/>
            <a:ext cx="1443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>
                <a:solidFill>
                  <a:srgbClr val="FF0000"/>
                </a:solidFill>
                <a:latin typeface="Arial Narrow" pitchFamily="34" charset="0"/>
              </a:rPr>
              <a:t>11 ≤ </a:t>
            </a:r>
            <a:r>
              <a:rPr lang="el-GR" b="1" dirty="0">
                <a:solidFill>
                  <a:srgbClr val="FF0000"/>
                </a:solidFill>
                <a:latin typeface="Arial Narrow" pitchFamily="34" charset="0"/>
              </a:rPr>
              <a:t>α</a:t>
            </a:r>
            <a:r>
              <a:rPr lang="es-PE" b="1" dirty="0">
                <a:solidFill>
                  <a:srgbClr val="FF0000"/>
                </a:solidFill>
                <a:latin typeface="Arial Narrow" pitchFamily="34" charset="0"/>
              </a:rPr>
              <a:t> ≤ 28.29</a:t>
            </a:r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F68504-CD2B-483E-9E73-6EE5F131366D}"/>
              </a:ext>
            </a:extLst>
          </p:cNvPr>
          <p:cNvSpPr/>
          <p:nvPr/>
        </p:nvSpPr>
        <p:spPr>
          <a:xfrm>
            <a:off x="10801876" y="5881824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>
                <a:solidFill>
                  <a:srgbClr val="FF0000"/>
                </a:solidFill>
                <a:latin typeface="Arial Narrow" pitchFamily="34" charset="0"/>
              </a:rPr>
              <a:t>19,44≤ </a:t>
            </a:r>
            <a:r>
              <a:rPr lang="el-GR" b="1" dirty="0">
                <a:solidFill>
                  <a:srgbClr val="FF0000"/>
                </a:solidFill>
                <a:latin typeface="Arial Narrow" pitchFamily="34" charset="0"/>
              </a:rPr>
              <a:t>β</a:t>
            </a:r>
            <a:r>
              <a:rPr lang="es-PE" b="1" dirty="0">
                <a:solidFill>
                  <a:srgbClr val="FF0000"/>
                </a:solidFill>
                <a:latin typeface="Arial Narrow" pitchFamily="34" charset="0"/>
              </a:rPr>
              <a:t> ≤ 50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8708A1-F351-4EC2-8105-04F66AAFDFD4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4.38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8A572E7C-7C20-4D96-9CF4-3D89486E218B}"/>
              </a:ext>
            </a:extLst>
          </p:cNvPr>
          <p:cNvSpPr txBox="1"/>
          <p:nvPr/>
        </p:nvSpPr>
        <p:spPr>
          <a:xfrm>
            <a:off x="416454" y="3330081"/>
            <a:ext cx="66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360,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9" name="8 CuadroTexto">
            <a:extLst>
              <a:ext uri="{FF2B5EF4-FFF2-40B4-BE49-F238E27FC236}">
                <a16:creationId xmlns:a16="http://schemas.microsoft.com/office/drawing/2014/main" id="{B844086E-8612-4294-8ABE-C2CD45BA1CBF}"/>
              </a:ext>
            </a:extLst>
          </p:cNvPr>
          <p:cNvSpPr txBox="1"/>
          <p:nvPr/>
        </p:nvSpPr>
        <p:spPr>
          <a:xfrm>
            <a:off x="2620440" y="588523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280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0" name="9 CuadroTexto">
            <a:extLst>
              <a:ext uri="{FF2B5EF4-FFF2-40B4-BE49-F238E27FC236}">
                <a16:creationId xmlns:a16="http://schemas.microsoft.com/office/drawing/2014/main" id="{C5D4B137-5256-4575-8887-0D0BD1155658}"/>
              </a:ext>
            </a:extLst>
          </p:cNvPr>
          <p:cNvSpPr txBox="1"/>
          <p:nvPr/>
        </p:nvSpPr>
        <p:spPr>
          <a:xfrm>
            <a:off x="623670" y="405565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250</a:t>
            </a:r>
            <a:endParaRPr lang="es-PE" dirty="0">
              <a:solidFill>
                <a:srgbClr val="00B05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7AB648C-40D6-45DE-A8BC-BFF801CF09C6}"/>
              </a:ext>
            </a:extLst>
          </p:cNvPr>
          <p:cNvSpPr txBox="1"/>
          <p:nvPr/>
        </p:nvSpPr>
        <p:spPr>
          <a:xfrm>
            <a:off x="4848041" y="5960834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6F78900-E36E-4C9E-8925-19E90CE6562C}"/>
              </a:ext>
            </a:extLst>
          </p:cNvPr>
          <p:cNvSpPr txBox="1"/>
          <p:nvPr/>
        </p:nvSpPr>
        <p:spPr>
          <a:xfrm>
            <a:off x="669990" y="268855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</a:t>
            </a:r>
            <a:endParaRPr lang="es-PE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D508763-6FEC-499D-8BFC-285C054C06B5}"/>
              </a:ext>
            </a:extLst>
          </p:cNvPr>
          <p:cNvCxnSpPr>
            <a:cxnSpLocks/>
          </p:cNvCxnSpPr>
          <p:nvPr/>
        </p:nvCxnSpPr>
        <p:spPr>
          <a:xfrm flipV="1">
            <a:off x="871270" y="3200381"/>
            <a:ext cx="138021" cy="112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FFEA425-4A69-4CBC-AB80-0AA9561730E0}"/>
              </a:ext>
            </a:extLst>
          </p:cNvPr>
          <p:cNvCxnSpPr>
            <a:cxnSpLocks/>
          </p:cNvCxnSpPr>
          <p:nvPr/>
        </p:nvCxnSpPr>
        <p:spPr>
          <a:xfrm flipV="1">
            <a:off x="912605" y="3933626"/>
            <a:ext cx="62180" cy="16030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DFA64C-4795-4578-8A7F-7DC64E1F663B}"/>
              </a:ext>
            </a:extLst>
          </p:cNvPr>
          <p:cNvSpPr/>
          <p:nvPr/>
        </p:nvSpPr>
        <p:spPr>
          <a:xfrm>
            <a:off x="1069674" y="2769079"/>
            <a:ext cx="3631721" cy="321763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3067DE6-4465-43D3-8F16-2BAFAD4F631D}"/>
              </a:ext>
            </a:extLst>
          </p:cNvPr>
          <p:cNvSpPr/>
          <p:nvPr/>
        </p:nvSpPr>
        <p:spPr>
          <a:xfrm>
            <a:off x="2085975" y="4949746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A986DA-16DF-42CB-9F75-484848786983}"/>
              </a:ext>
            </a:extLst>
          </p:cNvPr>
          <p:cNvSpPr txBox="1"/>
          <p:nvPr/>
        </p:nvSpPr>
        <p:spPr>
          <a:xfrm>
            <a:off x="380143" y="3641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9804970-0C4E-4620-9415-EEC9A879E9EA}"/>
              </a:ext>
            </a:extLst>
          </p:cNvPr>
          <p:cNvSpPr txBox="1"/>
          <p:nvPr/>
        </p:nvSpPr>
        <p:spPr>
          <a:xfrm>
            <a:off x="2895599" y="5981926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300,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ABCBB2E-67B9-47CB-ABAA-15F651F77B14}"/>
              </a:ext>
            </a:extLst>
          </p:cNvPr>
          <p:cNvSpPr txBox="1"/>
          <p:nvPr/>
        </p:nvSpPr>
        <p:spPr>
          <a:xfrm>
            <a:off x="2154148" y="5943999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1F79C25-49CE-4D2C-86EF-EF5260E22356}"/>
              </a:ext>
            </a:extLst>
          </p:cNvPr>
          <p:cNvSpPr txBox="1"/>
          <p:nvPr/>
        </p:nvSpPr>
        <p:spPr>
          <a:xfrm>
            <a:off x="1464067" y="596822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C6475CF-1B9C-4AE1-A049-F582630E1A38}"/>
              </a:ext>
            </a:extLst>
          </p:cNvPr>
          <p:cNvSpPr txBox="1"/>
          <p:nvPr/>
        </p:nvSpPr>
        <p:spPr>
          <a:xfrm>
            <a:off x="388704" y="435860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200,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E1ED209-663C-4DCE-BAE7-A5050B62082B}"/>
              </a:ext>
            </a:extLst>
          </p:cNvPr>
          <p:cNvSpPr txBox="1"/>
          <p:nvPr/>
        </p:nvSpPr>
        <p:spPr>
          <a:xfrm>
            <a:off x="412872" y="506746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100,</a:t>
            </a:r>
            <a:endParaRPr lang="es-PE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65AEDD1-949C-4640-8AB6-B7FFEE4FA321}"/>
              </a:ext>
            </a:extLst>
          </p:cNvPr>
          <p:cNvSpPr txBox="1"/>
          <p:nvPr/>
        </p:nvSpPr>
        <p:spPr>
          <a:xfrm>
            <a:off x="3643900" y="598021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B14517-C978-4B7F-ACE7-9A9C1A48D2F8}"/>
              </a:ext>
            </a:extLst>
          </p:cNvPr>
          <p:cNvSpPr txBox="1"/>
          <p:nvPr/>
        </p:nvSpPr>
        <p:spPr>
          <a:xfrm>
            <a:off x="429031" y="29050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400,</a:t>
            </a:r>
            <a:endParaRPr lang="es-PE" dirty="0"/>
          </a:p>
        </p:txBody>
      </p:sp>
      <p:sp>
        <p:nvSpPr>
          <p:cNvPr id="25" name="Triángulo rectángulo 24">
            <a:extLst>
              <a:ext uri="{FF2B5EF4-FFF2-40B4-BE49-F238E27FC236}">
                <a16:creationId xmlns:a16="http://schemas.microsoft.com/office/drawing/2014/main" id="{CA41A105-7B0B-4B7F-8560-1EE269B8FA78}"/>
              </a:ext>
            </a:extLst>
          </p:cNvPr>
          <p:cNvSpPr/>
          <p:nvPr/>
        </p:nvSpPr>
        <p:spPr>
          <a:xfrm>
            <a:off x="1061049" y="3571317"/>
            <a:ext cx="1966823" cy="2432649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CB1F370-FF71-471E-8BAD-1701AE71DFA3}"/>
              </a:ext>
            </a:extLst>
          </p:cNvPr>
          <p:cNvSpPr txBox="1"/>
          <p:nvPr/>
        </p:nvSpPr>
        <p:spPr>
          <a:xfrm>
            <a:off x="4357015" y="598597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500,</a:t>
            </a:r>
            <a:endParaRPr lang="es-PE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73F1C8D-8893-422A-9C53-40C75643A5F8}"/>
              </a:ext>
            </a:extLst>
          </p:cNvPr>
          <p:cNvCxnSpPr/>
          <p:nvPr/>
        </p:nvCxnSpPr>
        <p:spPr>
          <a:xfrm>
            <a:off x="879894" y="4106154"/>
            <a:ext cx="4019910" cy="201858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ángulo rectángulo 27">
            <a:extLst>
              <a:ext uri="{FF2B5EF4-FFF2-40B4-BE49-F238E27FC236}">
                <a16:creationId xmlns:a16="http://schemas.microsoft.com/office/drawing/2014/main" id="{31B85937-AF6D-4A0D-BA04-639CF7909DC8}"/>
              </a:ext>
            </a:extLst>
          </p:cNvPr>
          <p:cNvSpPr/>
          <p:nvPr/>
        </p:nvSpPr>
        <p:spPr>
          <a:xfrm>
            <a:off x="1086929" y="4226925"/>
            <a:ext cx="3502324" cy="1751162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D2C3754-C41A-4500-B0CA-B5831AD716EF}"/>
              </a:ext>
            </a:extLst>
          </p:cNvPr>
          <p:cNvCxnSpPr>
            <a:cxnSpLocks/>
          </p:cNvCxnSpPr>
          <p:nvPr/>
        </p:nvCxnSpPr>
        <p:spPr>
          <a:xfrm>
            <a:off x="724618" y="3122744"/>
            <a:ext cx="2648310" cy="32866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32F5C06-3A41-4534-9656-1C00E4CBA731}"/>
              </a:ext>
            </a:extLst>
          </p:cNvPr>
          <p:cNvCxnSpPr>
            <a:cxnSpLocks/>
          </p:cNvCxnSpPr>
          <p:nvPr/>
        </p:nvCxnSpPr>
        <p:spPr>
          <a:xfrm>
            <a:off x="465826" y="5986714"/>
            <a:ext cx="4710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CD3D91C2-BE9F-45F3-97CD-1443EEBDA098}"/>
              </a:ext>
            </a:extLst>
          </p:cNvPr>
          <p:cNvCxnSpPr>
            <a:cxnSpLocks/>
          </p:cNvCxnSpPr>
          <p:nvPr/>
        </p:nvCxnSpPr>
        <p:spPr>
          <a:xfrm flipV="1">
            <a:off x="1052422" y="2622430"/>
            <a:ext cx="0" cy="4011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C218E5B-3490-48E8-8A01-24A3003CD5DF}"/>
              </a:ext>
            </a:extLst>
          </p:cNvPr>
          <p:cNvCxnSpPr>
            <a:cxnSpLocks/>
          </p:cNvCxnSpPr>
          <p:nvPr/>
        </p:nvCxnSpPr>
        <p:spPr>
          <a:xfrm>
            <a:off x="740434" y="3999134"/>
            <a:ext cx="2951672" cy="298995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EBAD8939-71C1-446F-AD18-98C8F7066748}"/>
              </a:ext>
            </a:extLst>
          </p:cNvPr>
          <p:cNvCxnSpPr>
            <a:cxnSpLocks/>
          </p:cNvCxnSpPr>
          <p:nvPr/>
        </p:nvCxnSpPr>
        <p:spPr>
          <a:xfrm>
            <a:off x="892834" y="3580484"/>
            <a:ext cx="2951672" cy="2989951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>
            <a:extLst>
              <a:ext uri="{FF2B5EF4-FFF2-40B4-BE49-F238E27FC236}">
                <a16:creationId xmlns:a16="http://schemas.microsoft.com/office/drawing/2014/main" id="{C4715680-9646-42EA-8C6A-09AB9D1F231A}"/>
              </a:ext>
            </a:extLst>
          </p:cNvPr>
          <p:cNvSpPr/>
          <p:nvPr/>
        </p:nvSpPr>
        <p:spPr>
          <a:xfrm>
            <a:off x="1923691" y="4623739"/>
            <a:ext cx="60384" cy="6901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6AE75E7-6FA1-4FDD-8290-9D2D2ADFB560}"/>
              </a:ext>
            </a:extLst>
          </p:cNvPr>
          <p:cNvCxnSpPr>
            <a:cxnSpLocks/>
          </p:cNvCxnSpPr>
          <p:nvPr/>
        </p:nvCxnSpPr>
        <p:spPr>
          <a:xfrm>
            <a:off x="923026" y="4753136"/>
            <a:ext cx="1224951" cy="17166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B2C316E-2045-41C3-9036-D1B4F897AAC3}"/>
              </a:ext>
            </a:extLst>
          </p:cNvPr>
          <p:cNvCxnSpPr>
            <a:cxnSpLocks/>
          </p:cNvCxnSpPr>
          <p:nvPr/>
        </p:nvCxnSpPr>
        <p:spPr>
          <a:xfrm flipV="1">
            <a:off x="935609" y="4649619"/>
            <a:ext cx="125440" cy="9704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1 Rectángulo">
            <a:extLst>
              <a:ext uri="{FF2B5EF4-FFF2-40B4-BE49-F238E27FC236}">
                <a16:creationId xmlns:a16="http://schemas.microsoft.com/office/drawing/2014/main" id="{13A56CA7-EAED-407F-8011-3D8E7765CDA4}"/>
              </a:ext>
            </a:extLst>
          </p:cNvPr>
          <p:cNvSpPr/>
          <p:nvPr/>
        </p:nvSpPr>
        <p:spPr>
          <a:xfrm>
            <a:off x="346536" y="1262756"/>
            <a:ext cx="4380740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Minimizar	</a:t>
            </a:r>
            <a:r>
              <a:rPr lang="pt-BR" dirty="0" err="1">
                <a:latin typeface="Arial Narrow" panose="020B0606020202030204" pitchFamily="34" charset="0"/>
              </a:rPr>
              <a:t>25L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22H</a:t>
            </a:r>
            <a:endParaRPr lang="es-PE" dirty="0">
              <a:latin typeface="Arial Narrow" panose="020B0606020202030204" pitchFamily="34" charset="0"/>
            </a:endParaRPr>
          </a:p>
          <a:p>
            <a:pPr lvl="0"/>
            <a:r>
              <a:rPr lang="pt-BR" dirty="0" err="1">
                <a:latin typeface="Arial Narrow" panose="020B0606020202030204" pitchFamily="34" charset="0"/>
              </a:rPr>
              <a:t>Dependiendo</a:t>
            </a:r>
            <a:r>
              <a:rPr lang="pt-BR" dirty="0">
                <a:latin typeface="Arial Narrow" panose="020B0606020202030204" pitchFamily="34" charset="0"/>
              </a:rPr>
              <a:t> de	</a:t>
            </a:r>
            <a:r>
              <a:rPr lang="pt-BR" dirty="0" err="1">
                <a:latin typeface="Arial Narrow" panose="020B0606020202030204" pitchFamily="34" charset="0"/>
              </a:rPr>
              <a:t>0.45L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0.35H</a:t>
            </a:r>
            <a:r>
              <a:rPr lang="pt-BR" dirty="0">
                <a:latin typeface="Arial Narrow" panose="020B0606020202030204" pitchFamily="34" charset="0"/>
              </a:rPr>
              <a:t>    &gt;=  126000 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</a:t>
            </a:r>
            <a:r>
              <a:rPr lang="pt-BR" dirty="0" err="1">
                <a:latin typeface="Arial Narrow" panose="020B0606020202030204" pitchFamily="34" charset="0"/>
              </a:rPr>
              <a:t>0.18L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0.36H</a:t>
            </a:r>
            <a:r>
              <a:rPr lang="pt-BR" dirty="0">
                <a:latin typeface="Arial Narrow" panose="020B0606020202030204" pitchFamily="34" charset="0"/>
              </a:rPr>
              <a:t>    &gt;=    90000  </a:t>
            </a:r>
            <a:endParaRPr lang="es-ES" dirty="0">
              <a:latin typeface="Arial Narrow" panose="020B0606020202030204" pitchFamily="34" charset="0"/>
            </a:endParaRP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                                   </a:t>
            </a:r>
            <a:r>
              <a:rPr lang="pt-BR" dirty="0" err="1">
                <a:latin typeface="Arial Narrow" panose="020B0606020202030204" pitchFamily="34" charset="0"/>
              </a:rPr>
              <a:t>0.30L</a:t>
            </a:r>
            <a:r>
              <a:rPr lang="pt-BR" dirty="0">
                <a:latin typeface="Arial Narrow" panose="020B0606020202030204" pitchFamily="34" charset="0"/>
              </a:rPr>
              <a:t> + </a:t>
            </a:r>
            <a:r>
              <a:rPr lang="pt-BR" dirty="0" err="1">
                <a:latin typeface="Arial Narrow" panose="020B0606020202030204" pitchFamily="34" charset="0"/>
              </a:rPr>
              <a:t>0.20H</a:t>
            </a:r>
            <a:r>
              <a:rPr lang="pt-BR" dirty="0">
                <a:latin typeface="Arial Narrow" panose="020B0606020202030204" pitchFamily="34" charset="0"/>
              </a:rPr>
              <a:t>    &gt;=    30000</a:t>
            </a:r>
          </a:p>
          <a:p>
            <a:pPr lvl="0"/>
            <a:r>
              <a:rPr lang="pt-BR" dirty="0">
                <a:latin typeface="Arial Narrow" panose="020B0606020202030204" pitchFamily="34" charset="0"/>
              </a:rPr>
              <a:t>		                  L, H  &gt;= 0 </a:t>
            </a:r>
            <a:endParaRPr lang="es-PE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746985"/>
              </p:ext>
            </p:extLst>
          </p:nvPr>
        </p:nvGraphicFramePr>
        <p:xfrm>
          <a:off x="233680" y="1310640"/>
          <a:ext cx="11744960" cy="547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stomShape 2">
            <a:extLst>
              <a:ext uri="{FF2B5EF4-FFF2-40B4-BE49-F238E27FC236}">
                <a16:creationId xmlns:a16="http://schemas.microsoft.com/office/drawing/2014/main" id="{6F1E93F4-5AF4-47A5-A49E-FEF654E3D228}"/>
              </a:ext>
            </a:extLst>
          </p:cNvPr>
          <p:cNvSpPr/>
          <p:nvPr/>
        </p:nvSpPr>
        <p:spPr>
          <a:xfrm>
            <a:off x="6096000" y="251573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2</a:t>
            </a:r>
          </a:p>
        </p:txBody>
      </p:sp>
    </p:spTree>
    <p:extLst>
      <p:ext uri="{BB962C8B-B14F-4D97-AF65-F5344CB8AC3E}">
        <p14:creationId xmlns:p14="http://schemas.microsoft.com/office/powerpoint/2010/main" val="1209037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7709"/>
              </p:ext>
            </p:extLst>
          </p:nvPr>
        </p:nvGraphicFramePr>
        <p:xfrm>
          <a:off x="375921" y="1466274"/>
          <a:ext cx="7223952" cy="1552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3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01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 Jugo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>
                          <a:effectLst/>
                          <a:latin typeface="Arial Narrow" pitchFamily="34" charset="0"/>
                        </a:rPr>
                        <a:t>Máquina</a:t>
                      </a:r>
                      <a:endParaRPr lang="es-PE" sz="2000" b="1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Costo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effectLst/>
                          <a:latin typeface="Arial Narrow" pitchFamily="34" charset="0"/>
                          <a:ea typeface="Calibri"/>
                        </a:rPr>
                        <a:t>Jugo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Precio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effectLst/>
                          <a:latin typeface="Arial Narrow" pitchFamily="34" charset="0"/>
                          <a:ea typeface="Calibri"/>
                        </a:rPr>
                        <a:t>Concentrado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Pérdida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Tiempo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>
                          <a:effectLst/>
                          <a:latin typeface="Arial Narrow" pitchFamily="34" charset="0"/>
                        </a:rPr>
                        <a:t>Naranja</a:t>
                      </a:r>
                      <a:endParaRPr lang="es-PE" sz="2000" b="1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>
                          <a:effectLst/>
                          <a:latin typeface="Arial Narrow" pitchFamily="34" charset="0"/>
                        </a:rPr>
                        <a:t>25 gal /hrs.</a:t>
                      </a:r>
                      <a:endParaRPr lang="es-PE" sz="2000" b="1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1,5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6,00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0,30 gal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0.04 h /gal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Toronja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20 gal /</a:t>
                      </a:r>
                      <a:r>
                        <a:rPr lang="es-PE" sz="2000" b="1" dirty="0" err="1">
                          <a:effectLst/>
                          <a:latin typeface="Arial Narrow" pitchFamily="34" charset="0"/>
                        </a:rPr>
                        <a:t>hrs</a:t>
                      </a: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.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2,0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8,00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0,25 gal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2000" b="1" dirty="0">
                          <a:effectLst/>
                          <a:latin typeface="Arial Narrow" pitchFamily="34" charset="0"/>
                        </a:rPr>
                        <a:t>0.05 h /gal</a:t>
                      </a:r>
                      <a:endParaRPr lang="es-PE" sz="2000" b="1" dirty="0"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33338" marR="333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375921" y="3212977"/>
            <a:ext cx="3316185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E" sz="2400" b="1" dirty="0">
                <a:latin typeface="Arial Narrow" pitchFamily="34" charset="0"/>
              </a:rPr>
              <a:t>NARANJA: </a:t>
            </a:r>
            <a:r>
              <a:rPr lang="es-PE" sz="2400" b="1" dirty="0" err="1">
                <a:latin typeface="Arial Narrow" pitchFamily="34" charset="0"/>
              </a:rPr>
              <a:t>CN</a:t>
            </a:r>
            <a:r>
              <a:rPr lang="es-PE" sz="2400" b="1" dirty="0">
                <a:latin typeface="Arial Narrow" pitchFamily="34" charset="0"/>
              </a:rPr>
              <a:t>=</a:t>
            </a:r>
            <a:r>
              <a:rPr lang="es-PE" sz="2400" b="1" dirty="0" err="1">
                <a:latin typeface="Arial Narrow" pitchFamily="34" charset="0"/>
              </a:rPr>
              <a:t>0,70JN</a:t>
            </a:r>
            <a:endParaRPr lang="es-PE" sz="2400" b="1" dirty="0">
              <a:latin typeface="Arial Narrow" pitchFamily="34" charset="0"/>
            </a:endParaRPr>
          </a:p>
          <a:p>
            <a:r>
              <a:rPr lang="es-PE" sz="2400" b="1" dirty="0">
                <a:latin typeface="Arial Narrow" pitchFamily="34" charset="0"/>
              </a:rPr>
              <a:t>Ingreso=(0,70)(6)=4.2</a:t>
            </a:r>
          </a:p>
          <a:p>
            <a:r>
              <a:rPr lang="es-ES" sz="2400" b="1" dirty="0">
                <a:latin typeface="Arial Narrow" pitchFamily="34" charset="0"/>
              </a:rPr>
              <a:t>Utilidad=4.2- 1.5=2,7 $/gal</a:t>
            </a:r>
            <a:endParaRPr lang="es-PE" sz="2400" b="1" dirty="0">
              <a:latin typeface="Arial Narrow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75922" y="4349106"/>
            <a:ext cx="3316184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400" b="1">
                <a:latin typeface="Arial Narrow" pitchFamily="34" charset="0"/>
              </a:defRPr>
            </a:lvl1pPr>
          </a:lstStyle>
          <a:p>
            <a:r>
              <a:rPr lang="es-PE" dirty="0"/>
              <a:t>TORONJA: </a:t>
            </a:r>
            <a:r>
              <a:rPr lang="es-PE" dirty="0" err="1"/>
              <a:t>CT</a:t>
            </a:r>
            <a:r>
              <a:rPr lang="es-PE" dirty="0"/>
              <a:t>=</a:t>
            </a:r>
            <a:r>
              <a:rPr lang="es-PE" dirty="0" err="1"/>
              <a:t>0,75JT</a:t>
            </a:r>
            <a:endParaRPr lang="es-PE" dirty="0"/>
          </a:p>
          <a:p>
            <a:r>
              <a:rPr lang="es-PE" dirty="0"/>
              <a:t>Ingreso=(0,75)(8)=6,0</a:t>
            </a:r>
          </a:p>
          <a:p>
            <a:r>
              <a:rPr lang="es-ES" dirty="0"/>
              <a:t>Utilidad=6,0- 2.0=4 $/gal</a:t>
            </a:r>
            <a:endParaRPr lang="es-PE" dirty="0"/>
          </a:p>
        </p:txBody>
      </p:sp>
      <p:sp>
        <p:nvSpPr>
          <p:cNvPr id="3" name="2 Cilindro"/>
          <p:cNvSpPr/>
          <p:nvPr/>
        </p:nvSpPr>
        <p:spPr>
          <a:xfrm>
            <a:off x="5632734" y="3228655"/>
            <a:ext cx="2018901" cy="98430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8 Cilindro"/>
          <p:cNvSpPr/>
          <p:nvPr/>
        </p:nvSpPr>
        <p:spPr>
          <a:xfrm>
            <a:off x="5632734" y="4380464"/>
            <a:ext cx="2036154" cy="98430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9 CuadroTexto"/>
          <p:cNvSpPr txBox="1"/>
          <p:nvPr/>
        </p:nvSpPr>
        <p:spPr>
          <a:xfrm>
            <a:off x="5658613" y="3653651"/>
            <a:ext cx="191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/>
              <a:t>CN</a:t>
            </a:r>
            <a:r>
              <a:rPr lang="es-ES" sz="2400" b="1" dirty="0"/>
              <a:t>&lt;1000 gal</a:t>
            </a:r>
            <a:endParaRPr lang="es-PE" sz="2400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697288" y="4771273"/>
            <a:ext cx="188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400" b="1"/>
            </a:lvl1pPr>
          </a:lstStyle>
          <a:p>
            <a:r>
              <a:rPr lang="es-ES" dirty="0"/>
              <a:t>CT&lt;1000 gal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0" y="5494109"/>
            <a:ext cx="5516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 b="1"/>
            </a:lvl1pPr>
          </a:lstStyle>
          <a:p>
            <a:r>
              <a:rPr lang="es-ES" dirty="0"/>
              <a:t>25 gal---------------1h</a:t>
            </a:r>
          </a:p>
          <a:p>
            <a:r>
              <a:rPr lang="es-ES" dirty="0"/>
              <a:t>1 gal----------------x h       x=1/25 =0,04 h/gal</a:t>
            </a:r>
            <a:endParaRPr lang="es-PE" dirty="0"/>
          </a:p>
        </p:txBody>
      </p:sp>
      <p:sp>
        <p:nvSpPr>
          <p:cNvPr id="14" name="13 CuadroTexto"/>
          <p:cNvSpPr txBox="1"/>
          <p:nvPr/>
        </p:nvSpPr>
        <p:spPr>
          <a:xfrm>
            <a:off x="0" y="6146669"/>
            <a:ext cx="5516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20 gal---------------1h</a:t>
            </a:r>
          </a:p>
          <a:p>
            <a:r>
              <a:rPr lang="es-ES" sz="2000" b="1" dirty="0"/>
              <a:t>1 gal----------------x h       x=1/20 =0,05 h/gal</a:t>
            </a:r>
            <a:endParaRPr lang="es-PE" sz="2000" b="1" dirty="0"/>
          </a:p>
        </p:txBody>
      </p:sp>
      <p:sp>
        <p:nvSpPr>
          <p:cNvPr id="15" name="14 Proceso alternativo"/>
          <p:cNvSpPr/>
          <p:nvPr/>
        </p:nvSpPr>
        <p:spPr>
          <a:xfrm>
            <a:off x="3745542" y="3501008"/>
            <a:ext cx="1385258" cy="172298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/>
              <a:t>MAQUINA</a:t>
            </a:r>
          </a:p>
        </p:txBody>
      </p:sp>
      <p:sp>
        <p:nvSpPr>
          <p:cNvPr id="16" name="15 Flecha derecha"/>
          <p:cNvSpPr/>
          <p:nvPr/>
        </p:nvSpPr>
        <p:spPr>
          <a:xfrm>
            <a:off x="5130800" y="3510350"/>
            <a:ext cx="501934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16 Flecha derecha"/>
          <p:cNvSpPr/>
          <p:nvPr/>
        </p:nvSpPr>
        <p:spPr>
          <a:xfrm>
            <a:off x="5130800" y="4581128"/>
            <a:ext cx="501934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stomShape 2">
            <a:extLst>
              <a:ext uri="{FF2B5EF4-FFF2-40B4-BE49-F238E27FC236}">
                <a16:creationId xmlns:a16="http://schemas.microsoft.com/office/drawing/2014/main" id="{6B5C8A5B-3FA0-4579-97F4-B22FC6E7C142}"/>
              </a:ext>
            </a:extLst>
          </p:cNvPr>
          <p:cNvSpPr/>
          <p:nvPr/>
        </p:nvSpPr>
        <p:spPr>
          <a:xfrm>
            <a:off x="6096000" y="251573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Modelo matemático</a:t>
            </a:r>
          </a:p>
        </p:txBody>
      </p:sp>
      <p:sp>
        <p:nvSpPr>
          <p:cNvPr id="18" name="Rectángulo: esquinas redondeadas 4">
            <a:extLst>
              <a:ext uri="{FF2B5EF4-FFF2-40B4-BE49-F238E27FC236}">
                <a16:creationId xmlns:a16="http://schemas.microsoft.com/office/drawing/2014/main" id="{D2C49DDB-010E-461E-960E-5A7D9D9091E3}"/>
              </a:ext>
            </a:extLst>
          </p:cNvPr>
          <p:cNvSpPr txBox="1"/>
          <p:nvPr/>
        </p:nvSpPr>
        <p:spPr>
          <a:xfrm>
            <a:off x="7781026" y="1378728"/>
            <a:ext cx="4295955" cy="5479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1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MODELO </a:t>
            </a:r>
            <a:r>
              <a:rPr lang="es-PE" sz="2400" b="1" kern="1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MATEMATICO</a:t>
            </a:r>
            <a:endParaRPr lang="es-PE" sz="2400" b="1" kern="12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1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variables</a:t>
            </a:r>
          </a:p>
          <a:p>
            <a:pPr lvl="0"/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JN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 = El número de galones de jugo de naranja por utilizar.</a:t>
            </a:r>
            <a:endParaRPr lang="es-ES" sz="2400" b="1" dirty="0">
              <a:solidFill>
                <a:schemeClr val="tx1"/>
              </a:solidFill>
              <a:latin typeface="Arial Narrow" pitchFamily="34" charset="0"/>
            </a:endParaRPr>
          </a:p>
          <a:p>
            <a:pPr lvl="0"/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JT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 = El número de galones de jugo de toronja por utilizar.</a:t>
            </a:r>
            <a:endParaRPr lang="es-ES" sz="2400" b="1" dirty="0">
              <a:solidFill>
                <a:schemeClr val="tx1"/>
              </a:solidFill>
              <a:latin typeface="Arial Narrow" pitchFamily="34" charset="0"/>
            </a:endParaRPr>
          </a:p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400" b="1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 </a:t>
            </a:r>
            <a:r>
              <a:rPr lang="es-PE" sz="2400" b="1" kern="1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F.O</a:t>
            </a:r>
            <a:r>
              <a:rPr lang="es-PE" sz="2400" b="1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</a:p>
          <a:p>
            <a:pPr lvl="0"/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MAX </a:t>
            </a:r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2.7JN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 + </a:t>
            </a:r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4JT</a:t>
            </a:r>
            <a:endParaRPr lang="es-ES" sz="2400" b="1" dirty="0">
              <a:solidFill>
                <a:schemeClr val="tx1"/>
              </a:solidFill>
              <a:latin typeface="Arial Narrow" pitchFamily="34" charset="0"/>
            </a:endParaRP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restricciones</a:t>
            </a:r>
          </a:p>
          <a:p>
            <a:pPr lvl="0"/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0.04JN+0.05JT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 ≤150</a:t>
            </a:r>
            <a:endParaRPr lang="es-ES" sz="2400" b="1" dirty="0">
              <a:solidFill>
                <a:schemeClr val="tx1"/>
              </a:solidFill>
              <a:latin typeface="Arial Narrow" pitchFamily="34" charset="0"/>
            </a:endParaRPr>
          </a:p>
          <a:p>
            <a:pPr lvl="0"/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0.70JN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	≤1000	</a:t>
            </a:r>
            <a:endParaRPr lang="es-ES" sz="2400" b="1" dirty="0">
              <a:solidFill>
                <a:schemeClr val="tx1"/>
              </a:solidFill>
              <a:latin typeface="Arial Narrow" pitchFamily="34" charset="0"/>
            </a:endParaRPr>
          </a:p>
          <a:p>
            <a:pPr lvl="0"/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0.75JT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	≤1000	</a:t>
            </a:r>
            <a:endParaRPr lang="es-ES" sz="2400" b="1" dirty="0">
              <a:solidFill>
                <a:schemeClr val="tx1"/>
              </a:solidFill>
              <a:latin typeface="Arial Narrow" pitchFamily="34" charset="0"/>
            </a:endParaRPr>
          </a:p>
          <a:p>
            <a:pPr lvl="0"/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JN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, </a:t>
            </a:r>
            <a:r>
              <a:rPr lang="es-PE" sz="2400" b="1" dirty="0" err="1">
                <a:solidFill>
                  <a:schemeClr val="tx1"/>
                </a:solidFill>
                <a:latin typeface="Arial Narrow" pitchFamily="34" charset="0"/>
              </a:rPr>
              <a:t>JT</a:t>
            </a:r>
            <a:r>
              <a:rPr lang="es-PE" sz="2400" b="1" dirty="0">
                <a:solidFill>
                  <a:schemeClr val="tx1"/>
                </a:solidFill>
                <a:latin typeface="Arial Narrow" pitchFamily="34" charset="0"/>
              </a:rPr>
              <a:t>	≥0	</a:t>
            </a:r>
            <a:endParaRPr lang="es-PE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38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3" grpId="0" animBg="1"/>
      <p:bldP spid="9" grpId="0" animBg="1"/>
      <p:bldP spid="10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6029857" y="1335142"/>
            <a:ext cx="61621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/>
              <a:t>i) Graficando las Restricciones</a:t>
            </a:r>
          </a:p>
          <a:p>
            <a:r>
              <a:rPr lang="es-PE" sz="2000" b="1" dirty="0"/>
              <a:t>0.04JN + 0.05JT = 150    (i)	Si JN = 0 	JT = 3000</a:t>
            </a:r>
          </a:p>
          <a:p>
            <a:r>
              <a:rPr lang="es-PE" sz="2000" b="1" dirty="0"/>
              <a:t>			Si </a:t>
            </a:r>
            <a:r>
              <a:rPr lang="es-PE" sz="2000" b="1" dirty="0" err="1"/>
              <a:t>JT</a:t>
            </a:r>
            <a:r>
              <a:rPr lang="es-PE" sz="2000" b="1" dirty="0"/>
              <a:t>= 0 		</a:t>
            </a:r>
            <a:r>
              <a:rPr lang="es-PE" sz="2000" b="1" dirty="0" err="1"/>
              <a:t>JN</a:t>
            </a:r>
            <a:r>
              <a:rPr lang="es-PE" sz="2000" b="1" dirty="0"/>
              <a:t> = 3750</a:t>
            </a:r>
          </a:p>
          <a:p>
            <a:r>
              <a:rPr lang="es-PE" sz="2000" b="1" dirty="0"/>
              <a:t>	0.70JN = 1000  (</a:t>
            </a:r>
            <a:r>
              <a:rPr lang="es-PE" sz="2000" b="1" dirty="0" err="1"/>
              <a:t>ii</a:t>
            </a:r>
            <a:r>
              <a:rPr lang="es-PE" sz="2000" b="1" dirty="0"/>
              <a:t>)		JN =1428,57</a:t>
            </a:r>
          </a:p>
          <a:p>
            <a:r>
              <a:rPr lang="es-PE" sz="2000" b="1" dirty="0"/>
              <a:t>	0.75JT = 1000   (</a:t>
            </a:r>
            <a:r>
              <a:rPr lang="es-PE" sz="2000" b="1" dirty="0" err="1"/>
              <a:t>iii</a:t>
            </a:r>
            <a:r>
              <a:rPr lang="es-PE" sz="2000" b="1" dirty="0"/>
              <a:t>)	 	JT  =1333,33</a:t>
            </a:r>
          </a:p>
        </p:txBody>
      </p:sp>
      <p:sp>
        <p:nvSpPr>
          <p:cNvPr id="6" name="5 Rectángulo"/>
          <p:cNvSpPr/>
          <p:nvPr/>
        </p:nvSpPr>
        <p:spPr>
          <a:xfrm>
            <a:off x="6095999" y="3090445"/>
            <a:ext cx="490048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b="1" dirty="0" err="1"/>
              <a:t>iii</a:t>
            </a:r>
            <a:r>
              <a:rPr lang="es-PE" sz="2000" b="1" dirty="0"/>
              <a:t>) Graficando la Función Objetivo</a:t>
            </a:r>
          </a:p>
          <a:p>
            <a:r>
              <a:rPr lang="es-PE" sz="2000" b="1" dirty="0" err="1"/>
              <a:t>2.7JN</a:t>
            </a:r>
            <a:r>
              <a:rPr lang="es-PE" sz="2000" b="1" dirty="0"/>
              <a:t> + </a:t>
            </a:r>
            <a:r>
              <a:rPr lang="es-PE" sz="2000" b="1" dirty="0" err="1"/>
              <a:t>4JT</a:t>
            </a:r>
            <a:r>
              <a:rPr lang="es-PE" sz="2000" b="1" dirty="0"/>
              <a:t>= </a:t>
            </a:r>
            <a:r>
              <a:rPr lang="es-PE" sz="2800" b="1" dirty="0">
                <a:solidFill>
                  <a:srgbClr val="FF0000"/>
                </a:solidFill>
              </a:rPr>
              <a:t>10000</a:t>
            </a:r>
            <a:r>
              <a:rPr lang="es-PE" sz="2000" b="1" dirty="0"/>
              <a:t>   Si </a:t>
            </a:r>
            <a:r>
              <a:rPr lang="es-PE" sz="2000" b="1" dirty="0" err="1"/>
              <a:t>JN</a:t>
            </a:r>
            <a:r>
              <a:rPr lang="es-PE" sz="2000" b="1" dirty="0"/>
              <a:t> = 0      </a:t>
            </a:r>
            <a:r>
              <a:rPr lang="es-PE" sz="2000" b="1" dirty="0" err="1"/>
              <a:t>JT</a:t>
            </a:r>
            <a:r>
              <a:rPr lang="es-PE" sz="2000" b="1" dirty="0"/>
              <a:t> = 2500</a:t>
            </a:r>
          </a:p>
          <a:p>
            <a:r>
              <a:rPr lang="es-PE" sz="2000" b="1" dirty="0"/>
              <a:t>		  Si </a:t>
            </a:r>
            <a:r>
              <a:rPr lang="es-PE" sz="2000" b="1" dirty="0" err="1"/>
              <a:t>JT</a:t>
            </a:r>
            <a:r>
              <a:rPr lang="es-PE" sz="2000" b="1" dirty="0"/>
              <a:t> = 0      </a:t>
            </a:r>
            <a:r>
              <a:rPr lang="es-PE" sz="2000" b="1" dirty="0" err="1"/>
              <a:t>JN</a:t>
            </a:r>
            <a:r>
              <a:rPr lang="es-PE" sz="2000" b="1" dirty="0"/>
              <a:t>= 3703,7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980976" y="4245585"/>
            <a:ext cx="6194227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PE" sz="2000" b="1" dirty="0" err="1"/>
              <a:t>iv</a:t>
            </a:r>
            <a:r>
              <a:rPr lang="es-PE" sz="2000" b="1" dirty="0"/>
              <a:t>) Hallando la Solución óptima</a:t>
            </a:r>
          </a:p>
          <a:p>
            <a:r>
              <a:rPr lang="es-PE" sz="2000" b="1" dirty="0"/>
              <a:t>La Solución óptima es la intersección de las restricciones </a:t>
            </a:r>
            <a:r>
              <a:rPr lang="es-PE" sz="2000" b="1" dirty="0" err="1"/>
              <a:t>ii</a:t>
            </a:r>
            <a:r>
              <a:rPr lang="es-PE" sz="2000" b="1" dirty="0"/>
              <a:t> y </a:t>
            </a:r>
            <a:r>
              <a:rPr lang="es-PE" sz="2000" b="1" dirty="0" err="1"/>
              <a:t>iii</a:t>
            </a:r>
            <a:endParaRPr lang="es-PE" sz="2000" b="1" dirty="0"/>
          </a:p>
          <a:p>
            <a:r>
              <a:rPr lang="es-PE" sz="2000" b="1" dirty="0" err="1"/>
              <a:t>ii</a:t>
            </a:r>
            <a:r>
              <a:rPr lang="es-PE" sz="2000" b="1" dirty="0"/>
              <a:t>)</a:t>
            </a:r>
            <a:r>
              <a:rPr lang="es-PE" sz="2000" b="1" dirty="0" err="1"/>
              <a:t>0.70JN</a:t>
            </a:r>
            <a:r>
              <a:rPr lang="es-PE" sz="2000" b="1" dirty="0"/>
              <a:t> = 1000</a:t>
            </a:r>
          </a:p>
          <a:p>
            <a:r>
              <a:rPr lang="es-PE" sz="2000" b="1" dirty="0" err="1"/>
              <a:t>iii</a:t>
            </a:r>
            <a:r>
              <a:rPr lang="es-PE" sz="2000" b="1" dirty="0"/>
              <a:t>)</a:t>
            </a:r>
            <a:r>
              <a:rPr lang="es-PE" sz="2000" b="1" dirty="0" err="1"/>
              <a:t>0.75JT</a:t>
            </a:r>
            <a:r>
              <a:rPr lang="es-PE" sz="2000" b="1" dirty="0"/>
              <a:t>= 1000	</a:t>
            </a:r>
          </a:p>
          <a:p>
            <a:r>
              <a:rPr lang="es-PE" sz="2000" b="1" dirty="0"/>
              <a:t>Solución óptima:	</a:t>
            </a:r>
            <a:r>
              <a:rPr lang="es-PE" sz="2000" b="1" dirty="0" err="1"/>
              <a:t>JN</a:t>
            </a:r>
            <a:r>
              <a:rPr lang="es-PE" sz="2000" b="1" dirty="0"/>
              <a:t> = 1428,57 </a:t>
            </a:r>
          </a:p>
          <a:p>
            <a:r>
              <a:rPr lang="es-PE" sz="2000" b="1" dirty="0"/>
              <a:t>		</a:t>
            </a:r>
            <a:r>
              <a:rPr lang="es-PE" sz="2000" b="1" dirty="0" err="1"/>
              <a:t>JT</a:t>
            </a:r>
            <a:r>
              <a:rPr lang="es-PE" sz="2000" b="1" dirty="0"/>
              <a:t> = 1333,33</a:t>
            </a:r>
          </a:p>
          <a:p>
            <a:r>
              <a:rPr lang="es-PE" sz="2000" b="1" dirty="0"/>
              <a:t>Valor de la </a:t>
            </a:r>
            <a:r>
              <a:rPr lang="es-PE" sz="2000" b="1" dirty="0" err="1"/>
              <a:t>F.O</a:t>
            </a:r>
            <a:r>
              <a:rPr lang="es-PE" sz="2000" b="1" dirty="0"/>
              <a:t>.	  Z = 9190,46</a:t>
            </a:r>
          </a:p>
        </p:txBody>
      </p:sp>
      <p:sp>
        <p:nvSpPr>
          <p:cNvPr id="8" name="7 Flecha derecha"/>
          <p:cNvSpPr/>
          <p:nvPr/>
        </p:nvSpPr>
        <p:spPr>
          <a:xfrm>
            <a:off x="9953098" y="2043233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sp>
        <p:nvSpPr>
          <p:cNvPr id="9" name="8 Flecha derecha"/>
          <p:cNvSpPr/>
          <p:nvPr/>
        </p:nvSpPr>
        <p:spPr>
          <a:xfrm>
            <a:off x="9955808" y="1767307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sp>
        <p:nvSpPr>
          <p:cNvPr id="10" name="9 Flecha derecha"/>
          <p:cNvSpPr/>
          <p:nvPr/>
        </p:nvSpPr>
        <p:spPr>
          <a:xfrm>
            <a:off x="9961812" y="2334623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sp>
        <p:nvSpPr>
          <p:cNvPr id="11" name="10 Flecha derecha"/>
          <p:cNvSpPr/>
          <p:nvPr/>
        </p:nvSpPr>
        <p:spPr>
          <a:xfrm>
            <a:off x="9958540" y="2584913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sp>
        <p:nvSpPr>
          <p:cNvPr id="12" name="Rectángulo 2"/>
          <p:cNvSpPr txBox="1">
            <a:spLocks noChangeArrowheads="1"/>
          </p:cNvSpPr>
          <p:nvPr/>
        </p:nvSpPr>
        <p:spPr>
          <a:xfrm>
            <a:off x="6095999" y="273698"/>
            <a:ext cx="6096001" cy="518868"/>
          </a:xfrm>
          <a:prstGeom prst="rect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altLang="es-ES" sz="2800" dirty="0">
                <a:solidFill>
                  <a:schemeClr val="bg1"/>
                </a:solidFill>
                <a:latin typeface="Bauhaus 93" pitchFamily="82" charset="0"/>
              </a:rPr>
              <a:t>Solución óptima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6301A186-ACBE-43A2-AB7A-E00FD0D71D39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FF9DD31-DF6F-4163-9FAB-AE98F7A5E5A1}"/>
              </a:ext>
            </a:extLst>
          </p:cNvPr>
          <p:cNvCxnSpPr/>
          <p:nvPr/>
        </p:nvCxnSpPr>
        <p:spPr>
          <a:xfrm flipV="1">
            <a:off x="1052422" y="1690778"/>
            <a:ext cx="0" cy="45461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FE13E9-E1D8-4F9D-A574-465070209A8F}"/>
              </a:ext>
            </a:extLst>
          </p:cNvPr>
          <p:cNvSpPr txBox="1"/>
          <p:nvPr/>
        </p:nvSpPr>
        <p:spPr>
          <a:xfrm>
            <a:off x="5014829" y="5564038"/>
            <a:ext cx="626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800" b="1">
                <a:solidFill>
                  <a:srgbClr val="FF0000"/>
                </a:solidFill>
              </a:defRPr>
            </a:lvl1pPr>
          </a:lstStyle>
          <a:p>
            <a:r>
              <a:rPr lang="es-ES" dirty="0" err="1"/>
              <a:t>JN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085076E-F646-4229-B83F-94C244E47682}"/>
              </a:ext>
            </a:extLst>
          </p:cNvPr>
          <p:cNvSpPr txBox="1"/>
          <p:nvPr/>
        </p:nvSpPr>
        <p:spPr>
          <a:xfrm>
            <a:off x="254391" y="1817306"/>
            <a:ext cx="823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rgbClr val="FF0000"/>
                </a:solidFill>
              </a:rPr>
              <a:t>JT</a:t>
            </a:r>
            <a:endParaRPr lang="es-PE" sz="2800" b="1" dirty="0">
              <a:solidFill>
                <a:srgbClr val="FF0000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E02111C-7C86-4C0F-BF79-2BCFED9D9D28}"/>
              </a:ext>
            </a:extLst>
          </p:cNvPr>
          <p:cNvCxnSpPr/>
          <p:nvPr/>
        </p:nvCxnSpPr>
        <p:spPr>
          <a:xfrm flipH="1">
            <a:off x="560717" y="3174522"/>
            <a:ext cx="155275" cy="23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10C01D2-23F9-4A6B-B8A2-B1F358A92100}"/>
              </a:ext>
            </a:extLst>
          </p:cNvPr>
          <p:cNvCxnSpPr/>
          <p:nvPr/>
        </p:nvCxnSpPr>
        <p:spPr>
          <a:xfrm>
            <a:off x="636558" y="4568406"/>
            <a:ext cx="0" cy="2587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87B9705-9114-46FF-A8B9-A8517D60BC16}"/>
              </a:ext>
            </a:extLst>
          </p:cNvPr>
          <p:cNvCxnSpPr/>
          <p:nvPr/>
        </p:nvCxnSpPr>
        <p:spPr>
          <a:xfrm flipH="1">
            <a:off x="1880568" y="3200400"/>
            <a:ext cx="22428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0D25CEC-FFB0-494C-9127-789CFA7FAF0A}"/>
              </a:ext>
            </a:extLst>
          </p:cNvPr>
          <p:cNvSpPr/>
          <p:nvPr/>
        </p:nvSpPr>
        <p:spPr>
          <a:xfrm>
            <a:off x="1061049" y="4591050"/>
            <a:ext cx="1043796" cy="10074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98D9860-A559-4659-9CEC-AA4204176F24}"/>
              </a:ext>
            </a:extLst>
          </p:cNvPr>
          <p:cNvCxnSpPr/>
          <p:nvPr/>
        </p:nvCxnSpPr>
        <p:spPr>
          <a:xfrm>
            <a:off x="2113476" y="3191774"/>
            <a:ext cx="0" cy="26310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AE5A1E1-4074-440A-A55B-B01C3BB86C22}"/>
              </a:ext>
            </a:extLst>
          </p:cNvPr>
          <p:cNvCxnSpPr/>
          <p:nvPr/>
        </p:nvCxnSpPr>
        <p:spPr>
          <a:xfrm>
            <a:off x="715992" y="3165895"/>
            <a:ext cx="3252159" cy="2587924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FA4D836-AB1A-4167-A8D6-B0013C44576F}"/>
              </a:ext>
            </a:extLst>
          </p:cNvPr>
          <p:cNvCxnSpPr/>
          <p:nvPr/>
        </p:nvCxnSpPr>
        <p:spPr>
          <a:xfrm>
            <a:off x="628830" y="4577931"/>
            <a:ext cx="389051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D775987-7388-4004-A1DC-5ED303E70DB0}"/>
              </a:ext>
            </a:extLst>
          </p:cNvPr>
          <p:cNvCxnSpPr>
            <a:cxnSpLocks/>
          </p:cNvCxnSpPr>
          <p:nvPr/>
        </p:nvCxnSpPr>
        <p:spPr>
          <a:xfrm>
            <a:off x="490268" y="3393596"/>
            <a:ext cx="3748357" cy="2635729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2853BB48-AEE4-4B26-94AC-423872D29DF3}"/>
              </a:ext>
            </a:extLst>
          </p:cNvPr>
          <p:cNvSpPr/>
          <p:nvPr/>
        </p:nvSpPr>
        <p:spPr>
          <a:xfrm>
            <a:off x="2085975" y="4552950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E202F0-0D7E-4D34-9793-0020993804F4}"/>
              </a:ext>
            </a:extLst>
          </p:cNvPr>
          <p:cNvSpPr txBox="1"/>
          <p:nvPr/>
        </p:nvSpPr>
        <p:spPr>
          <a:xfrm>
            <a:off x="209551" y="3244334"/>
            <a:ext cx="848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3000</a:t>
            </a:r>
            <a:endParaRPr lang="es-PE" sz="2000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B5B43B-FFFB-459C-B20B-2EAFC225514C}"/>
              </a:ext>
            </a:extLst>
          </p:cNvPr>
          <p:cNvSpPr txBox="1"/>
          <p:nvPr/>
        </p:nvSpPr>
        <p:spPr>
          <a:xfrm>
            <a:off x="2832245" y="5585130"/>
            <a:ext cx="741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3000</a:t>
            </a:r>
            <a:endParaRPr lang="es-PE" sz="2000" b="1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4F1BBCC-49E3-430C-8679-192A4F7220A2}"/>
              </a:ext>
            </a:extLst>
          </p:cNvPr>
          <p:cNvSpPr txBox="1"/>
          <p:nvPr/>
        </p:nvSpPr>
        <p:spPr>
          <a:xfrm>
            <a:off x="2010134" y="5583417"/>
            <a:ext cx="822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2000</a:t>
            </a:r>
            <a:endParaRPr lang="es-PE" sz="200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8E6C4B4-5495-4A74-B6C6-F4AD6560728D}"/>
              </a:ext>
            </a:extLst>
          </p:cNvPr>
          <p:cNvSpPr txBox="1"/>
          <p:nvPr/>
        </p:nvSpPr>
        <p:spPr>
          <a:xfrm>
            <a:off x="1207699" y="5571431"/>
            <a:ext cx="934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1000</a:t>
            </a:r>
            <a:endParaRPr lang="es-PE" sz="20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78BDFE2-CF69-4787-A29C-D18AA5777B44}"/>
              </a:ext>
            </a:extLst>
          </p:cNvPr>
          <p:cNvSpPr txBox="1"/>
          <p:nvPr/>
        </p:nvSpPr>
        <p:spPr>
          <a:xfrm>
            <a:off x="256102" y="3961812"/>
            <a:ext cx="810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2000</a:t>
            </a:r>
            <a:endParaRPr lang="es-PE" sz="2000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BE80FA7-3937-43CF-84A3-CC12CD3A5310}"/>
              </a:ext>
            </a:extLst>
          </p:cNvPr>
          <p:cNvSpPr txBox="1"/>
          <p:nvPr/>
        </p:nvSpPr>
        <p:spPr>
          <a:xfrm>
            <a:off x="254391" y="4679291"/>
            <a:ext cx="810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1000</a:t>
            </a:r>
            <a:endParaRPr lang="es-PE" sz="2000" b="1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27BED68-B957-4999-BFE6-7AADFFD565CC}"/>
              </a:ext>
            </a:extLst>
          </p:cNvPr>
          <p:cNvSpPr txBox="1"/>
          <p:nvPr/>
        </p:nvSpPr>
        <p:spPr>
          <a:xfrm>
            <a:off x="3580546" y="5583418"/>
            <a:ext cx="741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4000</a:t>
            </a:r>
            <a:endParaRPr lang="es-PE" sz="20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AB3267-D571-4321-8425-1483C0F96782}"/>
              </a:ext>
            </a:extLst>
          </p:cNvPr>
          <p:cNvSpPr/>
          <p:nvPr/>
        </p:nvSpPr>
        <p:spPr>
          <a:xfrm>
            <a:off x="2501660" y="1568902"/>
            <a:ext cx="2855344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sz="2000" b="1" dirty="0"/>
              <a:t>MAX </a:t>
            </a:r>
            <a:r>
              <a:rPr lang="es-PE" sz="2000" b="1" dirty="0" err="1"/>
              <a:t>2.7JN</a:t>
            </a:r>
            <a:r>
              <a:rPr lang="es-PE" sz="2000" b="1" dirty="0"/>
              <a:t> + </a:t>
            </a:r>
            <a:r>
              <a:rPr lang="es-PE" sz="2000" b="1" dirty="0" err="1"/>
              <a:t>4JT</a:t>
            </a:r>
            <a:endParaRPr lang="es-ES" sz="2000" b="1" dirty="0"/>
          </a:p>
          <a:p>
            <a:r>
              <a:rPr lang="es-ES" sz="2000" b="1" dirty="0" err="1"/>
              <a:t>ST</a:t>
            </a:r>
            <a:endParaRPr lang="es-ES" sz="2000" b="1" dirty="0"/>
          </a:p>
          <a:p>
            <a:pPr lvl="0"/>
            <a:r>
              <a:rPr lang="es-PE" sz="2000" b="1" dirty="0" err="1"/>
              <a:t>0.04JN</a:t>
            </a:r>
            <a:r>
              <a:rPr lang="es-PE" sz="2000" b="1" dirty="0"/>
              <a:t> + </a:t>
            </a:r>
            <a:r>
              <a:rPr lang="es-PE" sz="2000" b="1" dirty="0" err="1"/>
              <a:t>0.05JT</a:t>
            </a:r>
            <a:r>
              <a:rPr lang="es-PE" sz="2000" b="1" dirty="0"/>
              <a:t> &lt;=150</a:t>
            </a:r>
          </a:p>
          <a:p>
            <a:pPr lvl="0"/>
            <a:r>
              <a:rPr lang="es-PE" sz="2000" b="1" dirty="0"/>
              <a:t>	</a:t>
            </a:r>
            <a:r>
              <a:rPr lang="es-PE" sz="2000" b="1" dirty="0" err="1"/>
              <a:t>0.70JN</a:t>
            </a:r>
            <a:r>
              <a:rPr lang="es-PE" sz="2000" b="1" dirty="0"/>
              <a:t>  &lt;=1000</a:t>
            </a:r>
          </a:p>
          <a:p>
            <a:pPr lvl="0"/>
            <a:r>
              <a:rPr lang="es-PE" sz="2000" b="1" dirty="0"/>
              <a:t>	</a:t>
            </a:r>
            <a:r>
              <a:rPr lang="es-PE" sz="2000" b="1" dirty="0" err="1"/>
              <a:t>0.75JT</a:t>
            </a:r>
            <a:r>
              <a:rPr lang="es-PE" sz="2000" b="1" dirty="0"/>
              <a:t>   &lt;=1000</a:t>
            </a:r>
          </a:p>
        </p:txBody>
      </p:sp>
    </p:spTree>
    <p:extLst>
      <p:ext uri="{BB962C8B-B14F-4D97-AF65-F5344CB8AC3E}">
        <p14:creationId xmlns:p14="http://schemas.microsoft.com/office/powerpoint/2010/main" val="84596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802481" y="3157897"/>
            <a:ext cx="82127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Manteniendo constante el coeficiente de </a:t>
            </a:r>
            <a:r>
              <a:rPr lang="es-PE" sz="2400" b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JT</a:t>
            </a:r>
            <a:endParaRPr lang="es-PE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es-PE" sz="2400" b="1" dirty="0">
                <a:latin typeface="Arial Narrow" panose="020B0606020202030204" pitchFamily="34" charset="0"/>
              </a:rPr>
              <a:t>La pendiente de la </a:t>
            </a:r>
            <a:r>
              <a:rPr lang="es-PE" sz="2400" b="1" dirty="0" err="1">
                <a:latin typeface="Arial Narrow" panose="020B0606020202030204" pitchFamily="34" charset="0"/>
              </a:rPr>
              <a:t>F.O</a:t>
            </a:r>
            <a:r>
              <a:rPr lang="es-PE" sz="2400" b="1" dirty="0">
                <a:latin typeface="Arial Narrow" panose="020B0606020202030204" pitchFamily="34" charset="0"/>
              </a:rPr>
              <a:t>.:	 </a:t>
            </a:r>
            <a:r>
              <a:rPr lang="el-GR" sz="2400" b="1" dirty="0">
                <a:latin typeface="Arial Narrow" panose="020B0606020202030204" pitchFamily="34" charset="0"/>
              </a:rPr>
              <a:t>α</a:t>
            </a:r>
            <a:r>
              <a:rPr lang="es-PE" sz="2400" b="1" dirty="0">
                <a:latin typeface="Arial Narrow" panose="020B0606020202030204" pitchFamily="34" charset="0"/>
              </a:rPr>
              <a:t>JN + 4JT  </a:t>
            </a:r>
            <a:r>
              <a:rPr lang="es-PE" sz="2400" b="1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s-PE" sz="2400" b="1" dirty="0">
                <a:latin typeface="Arial Narrow" panose="020B0606020202030204" pitchFamily="34" charset="0"/>
              </a:rPr>
              <a:t>	m =-</a:t>
            </a:r>
            <a:r>
              <a:rPr lang="el-GR" sz="2400" b="1" dirty="0">
                <a:latin typeface="Arial Narrow" panose="020B0606020202030204" pitchFamily="34" charset="0"/>
              </a:rPr>
              <a:t> α</a:t>
            </a:r>
            <a:r>
              <a:rPr lang="es-PE" sz="2400" b="1" dirty="0">
                <a:latin typeface="Arial Narrow" panose="020B0606020202030204" pitchFamily="34" charset="0"/>
              </a:rPr>
              <a:t> /4</a:t>
            </a:r>
          </a:p>
          <a:p>
            <a:r>
              <a:rPr lang="es-PE" sz="2400" b="1" dirty="0">
                <a:latin typeface="Arial Narrow" panose="020B0606020202030204" pitchFamily="34" charset="0"/>
              </a:rPr>
              <a:t>De la restricción II)               0.70JN&lt;= 1000 </a:t>
            </a:r>
            <a:r>
              <a:rPr lang="es-PE" sz="2400" b="1" dirty="0">
                <a:latin typeface="Arial Narrow" panose="020B0606020202030204" pitchFamily="34" charset="0"/>
                <a:sym typeface="Wingdings" panose="05000000000000000000" pitchFamily="2" charset="2"/>
              </a:rPr>
              <a:t> </a:t>
            </a:r>
            <a:r>
              <a:rPr lang="es-PE" sz="2400" b="1" dirty="0">
                <a:latin typeface="Arial Narrow" panose="020B0606020202030204" pitchFamily="34" charset="0"/>
              </a:rPr>
              <a:t>	m = -∞</a:t>
            </a:r>
          </a:p>
          <a:p>
            <a:r>
              <a:rPr lang="es-PE" sz="2400" b="1" dirty="0">
                <a:latin typeface="Arial Narrow" panose="020B0606020202030204" pitchFamily="34" charset="0"/>
              </a:rPr>
              <a:t>Igualando					</a:t>
            </a:r>
            <a:endParaRPr lang="es-PE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770711" y="6008098"/>
            <a:ext cx="10105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Interpretación: </a:t>
            </a:r>
            <a:r>
              <a:rPr lang="es-PE" sz="2400" b="1" dirty="0">
                <a:latin typeface="Arial Narrow" panose="020B0606020202030204" pitchFamily="34" charset="0"/>
              </a:rPr>
              <a:t>El coeficiente de JN puede variar desde 0 hasta infinito inclusive sin modificar su solución óptima. </a:t>
            </a: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1CC8EA72-B081-4AD0-8530-A6246C63E2F6}"/>
              </a:ext>
            </a:extLst>
          </p:cNvPr>
          <p:cNvSpPr/>
          <p:nvPr/>
        </p:nvSpPr>
        <p:spPr>
          <a:xfrm>
            <a:off x="6096000" y="0"/>
            <a:ext cx="6096000" cy="102654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Análisis de sensibilidad de los coeficientes de la </a:t>
            </a:r>
            <a:r>
              <a:rPr lang="es-PE" sz="28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.</a:t>
            </a: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BC67CF67-AEEF-43B3-B8FB-08307051D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387260"/>
              </p:ext>
            </p:extLst>
          </p:nvPr>
        </p:nvGraphicFramePr>
        <p:xfrm>
          <a:off x="9093571" y="4532759"/>
          <a:ext cx="1086119" cy="73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3920" imgH="393480" progId="">
                  <p:embed/>
                </p:oleObj>
              </mc:Choice>
              <mc:Fallback>
                <p:oleObj r:id="rId2" imgW="583920" imgH="393480" progId="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BC67CF67-AEEF-43B3-B8FB-08307051D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93571" y="4532759"/>
                        <a:ext cx="1086119" cy="730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944F351-2C07-4999-8089-C421C40B7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256983"/>
              </p:ext>
            </p:extLst>
          </p:nvPr>
        </p:nvGraphicFramePr>
        <p:xfrm>
          <a:off x="9126595" y="3532778"/>
          <a:ext cx="1217519" cy="75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4680" imgH="393480" progId="">
                  <p:embed/>
                </p:oleObj>
              </mc:Choice>
              <mc:Fallback>
                <p:oleObj r:id="rId4" imgW="634680" imgH="393480" progId="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E944F351-2C07-4999-8089-C421C40B7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26595" y="3532778"/>
                        <a:ext cx="1217519" cy="754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02D54BB2-131C-449D-888D-E50DFBBBC8B6}"/>
              </a:ext>
            </a:extLst>
          </p:cNvPr>
          <p:cNvSpPr/>
          <p:nvPr/>
        </p:nvSpPr>
        <p:spPr>
          <a:xfrm>
            <a:off x="1919536" y="1260280"/>
            <a:ext cx="3972560" cy="193899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sz="2400" b="1" dirty="0"/>
              <a:t>MAX </a:t>
            </a:r>
            <a:r>
              <a:rPr lang="es-PE" sz="2400" b="1" dirty="0" err="1"/>
              <a:t>2.7JN</a:t>
            </a:r>
            <a:r>
              <a:rPr lang="es-PE" sz="2400" b="1" dirty="0"/>
              <a:t> + </a:t>
            </a:r>
            <a:r>
              <a:rPr lang="es-PE" sz="2400" b="1" dirty="0" err="1"/>
              <a:t>4JT</a:t>
            </a:r>
            <a:endParaRPr lang="es-ES" sz="2400" b="1" dirty="0"/>
          </a:p>
          <a:p>
            <a:r>
              <a:rPr lang="es-ES" sz="2400" b="1" dirty="0" err="1"/>
              <a:t>ST</a:t>
            </a:r>
            <a:endParaRPr lang="es-ES" sz="2400" b="1" dirty="0"/>
          </a:p>
          <a:p>
            <a:pPr lvl="0"/>
            <a:r>
              <a:rPr lang="es-PE" sz="2400" b="1" dirty="0" err="1"/>
              <a:t>0.04JN</a:t>
            </a:r>
            <a:r>
              <a:rPr lang="es-PE" sz="2400" b="1" dirty="0"/>
              <a:t> + </a:t>
            </a:r>
            <a:r>
              <a:rPr lang="es-PE" sz="2400" b="1" dirty="0" err="1"/>
              <a:t>0.05JT</a:t>
            </a:r>
            <a:r>
              <a:rPr lang="es-PE" sz="2400" b="1" dirty="0"/>
              <a:t> &lt;=150</a:t>
            </a:r>
          </a:p>
          <a:p>
            <a:pPr lvl="0"/>
            <a:r>
              <a:rPr lang="es-PE" sz="2400" b="1" dirty="0"/>
              <a:t>	</a:t>
            </a:r>
            <a:r>
              <a:rPr lang="es-PE" sz="2400" b="1" dirty="0" err="1"/>
              <a:t>0.70JN</a:t>
            </a:r>
            <a:r>
              <a:rPr lang="es-PE" sz="2400" b="1" dirty="0"/>
              <a:t>  &lt;=1000</a:t>
            </a:r>
          </a:p>
          <a:p>
            <a:pPr lvl="0"/>
            <a:r>
              <a:rPr lang="es-PE" sz="2400" b="1" dirty="0"/>
              <a:t>	</a:t>
            </a:r>
            <a:r>
              <a:rPr lang="es-PE" sz="2400" b="1" dirty="0" err="1"/>
              <a:t>0.75JT</a:t>
            </a:r>
            <a:r>
              <a:rPr lang="es-PE" sz="2400" b="1" dirty="0"/>
              <a:t>   &lt;=1000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095147-CBB6-285A-337E-22BC55B75196}"/>
              </a:ext>
            </a:extLst>
          </p:cNvPr>
          <p:cNvSpPr txBox="1"/>
          <p:nvPr/>
        </p:nvSpPr>
        <p:spPr>
          <a:xfrm>
            <a:off x="1770711" y="4648373"/>
            <a:ext cx="70248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latin typeface="Arial Narrow" panose="020B0606020202030204" pitchFamily="34" charset="0"/>
              </a:rPr>
              <a:t>La pendiente de la F.O.:	</a:t>
            </a:r>
            <a:r>
              <a:rPr lang="el-GR" sz="2400" b="1" dirty="0">
                <a:latin typeface="Arial Narrow" panose="020B0606020202030204" pitchFamily="34" charset="0"/>
              </a:rPr>
              <a:t> α </a:t>
            </a:r>
            <a:r>
              <a:rPr lang="es-PE" sz="2400" b="1" dirty="0">
                <a:latin typeface="Arial Narrow" panose="020B0606020202030204" pitchFamily="34" charset="0"/>
              </a:rPr>
              <a:t>JN + 4JT </a:t>
            </a:r>
            <a:r>
              <a:rPr lang="es-PE" sz="2400" b="1" dirty="0">
                <a:latin typeface="Arial Narrow" panose="020B0606020202030204" pitchFamily="34" charset="0"/>
                <a:sym typeface="Wingdings" panose="05000000000000000000" pitchFamily="2" charset="2"/>
              </a:rPr>
              <a:t> </a:t>
            </a:r>
            <a:r>
              <a:rPr lang="es-PE" sz="2400" b="1" dirty="0">
                <a:latin typeface="Arial Narrow" panose="020B0606020202030204" pitchFamily="34" charset="0"/>
              </a:rPr>
              <a:t>	m =-</a:t>
            </a:r>
            <a:r>
              <a:rPr lang="el-GR" sz="2400" b="1" dirty="0">
                <a:latin typeface="Arial Narrow" panose="020B0606020202030204" pitchFamily="34" charset="0"/>
              </a:rPr>
              <a:t> α</a:t>
            </a:r>
            <a:r>
              <a:rPr lang="es-PE" sz="2400" b="1" dirty="0">
                <a:latin typeface="Arial Narrow" panose="020B0606020202030204" pitchFamily="34" charset="0"/>
              </a:rPr>
              <a:t> / 4</a:t>
            </a:r>
          </a:p>
          <a:p>
            <a:r>
              <a:rPr lang="es-PE" sz="2400" b="1" dirty="0">
                <a:latin typeface="Arial Narrow" panose="020B0606020202030204" pitchFamily="34" charset="0"/>
              </a:rPr>
              <a:t>De la restricción III)	       0.75JT&lt;= 1000 </a:t>
            </a:r>
            <a:r>
              <a:rPr lang="es-PE" sz="2400" b="1" dirty="0">
                <a:latin typeface="Arial Narrow" panose="020B0606020202030204" pitchFamily="34" charset="0"/>
                <a:sym typeface="Wingdings" panose="05000000000000000000" pitchFamily="2" charset="2"/>
              </a:rPr>
              <a:t> </a:t>
            </a:r>
            <a:r>
              <a:rPr lang="es-PE" sz="2400" b="1" dirty="0">
                <a:latin typeface="Arial Narrow" panose="020B0606020202030204" pitchFamily="34" charset="0"/>
              </a:rPr>
              <a:t>	m =0</a:t>
            </a:r>
          </a:p>
          <a:p>
            <a:r>
              <a:rPr lang="es-PE" sz="2400" b="1" dirty="0">
                <a:latin typeface="Arial Narrow" panose="020B0606020202030204" pitchFamily="34" charset="0"/>
              </a:rPr>
              <a:t>Igualando	 			</a:t>
            </a:r>
            <a:r>
              <a:rPr lang="el-GR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s-PE" sz="2400" b="1" dirty="0">
                <a:latin typeface="Arial Narrow" panose="020B0606020202030204" pitchFamily="34" charset="0"/>
              </a:rPr>
              <a:t> 		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3A04AD-F152-0026-FF80-CB536745EF5B}"/>
              </a:ext>
            </a:extLst>
          </p:cNvPr>
          <p:cNvSpPr txBox="1"/>
          <p:nvPr/>
        </p:nvSpPr>
        <p:spPr>
          <a:xfrm>
            <a:off x="10688957" y="5248537"/>
            <a:ext cx="1503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[0  , ∞ )</a:t>
            </a:r>
            <a:endParaRPr lang="es-PE" sz="24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E1CC167-EB09-DC57-E4AF-01E670B465BA}"/>
              </a:ext>
            </a:extLst>
          </p:cNvPr>
          <p:cNvSpPr txBox="1"/>
          <p:nvPr/>
        </p:nvSpPr>
        <p:spPr>
          <a:xfrm>
            <a:off x="10922258" y="3657979"/>
            <a:ext cx="1424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 α </a:t>
            </a:r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= ∞</a:t>
            </a:r>
            <a:endParaRPr lang="es-PE" sz="24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5BE5255-03D0-A4D1-3CEF-FDA7DCB273E8}"/>
              </a:ext>
            </a:extLst>
          </p:cNvPr>
          <p:cNvSpPr txBox="1"/>
          <p:nvPr/>
        </p:nvSpPr>
        <p:spPr>
          <a:xfrm>
            <a:off x="10958810" y="4635654"/>
            <a:ext cx="10861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α </a:t>
            </a:r>
            <a:r>
              <a:rPr lang="es-PE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17879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13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917578" y="3011299"/>
            <a:ext cx="71746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Manteniendo constante el coeficiente de </a:t>
            </a:r>
            <a:r>
              <a:rPr lang="es-PE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JN</a:t>
            </a:r>
            <a:endParaRPr lang="es-PE" sz="24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La pendiente de la </a:t>
            </a:r>
            <a:r>
              <a:rPr lang="es-PE" sz="2400" dirty="0" err="1">
                <a:latin typeface="Arial Narrow" panose="020B0606020202030204" pitchFamily="34" charset="0"/>
              </a:rPr>
              <a:t>F.O</a:t>
            </a:r>
            <a:r>
              <a:rPr lang="es-PE" sz="2400" dirty="0">
                <a:latin typeface="Arial Narrow" panose="020B0606020202030204" pitchFamily="34" charset="0"/>
              </a:rPr>
              <a:t>.:	  </a:t>
            </a:r>
            <a:r>
              <a:rPr lang="es-PE" sz="2400" dirty="0" err="1">
                <a:latin typeface="Arial Narrow" panose="020B0606020202030204" pitchFamily="34" charset="0"/>
              </a:rPr>
              <a:t>2.7JN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r>
              <a:rPr lang="es-PE" sz="2400" dirty="0" err="1">
                <a:latin typeface="Arial Narrow" panose="020B0606020202030204" pitchFamily="34" charset="0"/>
              </a:rPr>
              <a:t>JT</a:t>
            </a:r>
            <a:r>
              <a:rPr lang="es-PE" sz="2400" dirty="0">
                <a:latin typeface="Arial Narrow" panose="020B0606020202030204" pitchFamily="34" charset="0"/>
              </a:rPr>
              <a:t>		m =-2,7 /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endParaRPr lang="es-PE" sz="2400" dirty="0"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De la restricción II)	 </a:t>
            </a:r>
            <a:r>
              <a:rPr lang="es-PE" sz="2400" dirty="0" err="1">
                <a:latin typeface="Arial Narrow" panose="020B0606020202030204" pitchFamily="34" charset="0"/>
              </a:rPr>
              <a:t>0.70JN</a:t>
            </a:r>
            <a:r>
              <a:rPr lang="es-PE" sz="2400" dirty="0">
                <a:latin typeface="Arial Narrow" panose="020B0606020202030204" pitchFamily="34" charset="0"/>
              </a:rPr>
              <a:t>&lt;= 1000 	m =∞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Igualando					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β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 0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La pendiente de la </a:t>
            </a:r>
            <a:r>
              <a:rPr lang="es-PE" sz="2400" dirty="0" err="1">
                <a:latin typeface="Arial Narrow" panose="020B0606020202030204" pitchFamily="34" charset="0"/>
              </a:rPr>
              <a:t>F.O</a:t>
            </a:r>
            <a:r>
              <a:rPr lang="es-PE" sz="2400" dirty="0">
                <a:latin typeface="Arial Narrow" panose="020B0606020202030204" pitchFamily="34" charset="0"/>
              </a:rPr>
              <a:t>.:	</a:t>
            </a:r>
            <a:r>
              <a:rPr lang="es-PE" sz="2400" dirty="0" err="1">
                <a:latin typeface="Arial Narrow" panose="020B0606020202030204" pitchFamily="34" charset="0"/>
              </a:rPr>
              <a:t>2,7JN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l-GR" sz="2400" dirty="0">
                <a:latin typeface="Arial Narrow" panose="020B0606020202030204" pitchFamily="34" charset="0"/>
              </a:rPr>
              <a:t>β </a:t>
            </a:r>
            <a:r>
              <a:rPr lang="es-PE" sz="2400" dirty="0" err="1">
                <a:latin typeface="Arial Narrow" panose="020B0606020202030204" pitchFamily="34" charset="0"/>
              </a:rPr>
              <a:t>JT</a:t>
            </a:r>
            <a:r>
              <a:rPr lang="es-PE" sz="2400" dirty="0">
                <a:latin typeface="Arial Narrow" panose="020B0606020202030204" pitchFamily="34" charset="0"/>
              </a:rPr>
              <a:t>		m =-2,7 /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endParaRPr lang="es-PE" sz="2400" dirty="0"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De la restricción III)	 </a:t>
            </a:r>
            <a:r>
              <a:rPr lang="es-PE" sz="2400" dirty="0" err="1">
                <a:latin typeface="Arial Narrow" panose="020B0606020202030204" pitchFamily="34" charset="0"/>
              </a:rPr>
              <a:t>0.75JT</a:t>
            </a:r>
            <a:r>
              <a:rPr lang="es-PE" sz="2400" dirty="0">
                <a:latin typeface="Arial Narrow" panose="020B0606020202030204" pitchFamily="34" charset="0"/>
              </a:rPr>
              <a:t>	&lt;= 1000 	m =0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Igualando					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β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 ∞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				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[0, </a:t>
            </a:r>
            <a:r>
              <a:rPr lang="es-PE" sz="2400" dirty="0">
                <a:latin typeface="Arial Narrow" panose="020B0606020202030204" pitchFamily="34" charset="0"/>
              </a:rPr>
              <a:t>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∞ )</a:t>
            </a: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0E07ABC4-F7DA-45D4-831E-B290037227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5280" y="3429000"/>
          <a:ext cx="1373067" cy="781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560" imgH="419040" progId="">
                  <p:embed/>
                </p:oleObj>
              </mc:Choice>
              <mc:Fallback>
                <p:oleObj r:id="rId2" imgW="736560" imgH="419040" progId="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E07ABC4-F7DA-45D4-831E-B290037227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25280" y="3429000"/>
                        <a:ext cx="1373067" cy="781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080FEEFB-55C9-46FD-92A4-AF39C34F48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8672" y="4562098"/>
          <a:ext cx="1323795" cy="794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98400" imgH="419040" progId="">
                  <p:embed/>
                </p:oleObj>
              </mc:Choice>
              <mc:Fallback>
                <p:oleObj r:id="rId4" imgW="698400" imgH="419040" progId="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080FEEFB-55C9-46FD-92A4-AF39C34F48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8672" y="4562098"/>
                        <a:ext cx="1323795" cy="794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886B2DB7-6D92-41F3-AEAC-592B03C4E008}"/>
              </a:ext>
            </a:extLst>
          </p:cNvPr>
          <p:cNvSpPr/>
          <p:nvPr/>
        </p:nvSpPr>
        <p:spPr>
          <a:xfrm>
            <a:off x="2501660" y="1568902"/>
            <a:ext cx="2855344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dirty="0"/>
              <a:t>MAX </a:t>
            </a:r>
            <a:r>
              <a:rPr lang="es-PE" dirty="0" err="1"/>
              <a:t>2.7JN</a:t>
            </a:r>
            <a:r>
              <a:rPr lang="es-PE" dirty="0"/>
              <a:t> + </a:t>
            </a:r>
            <a:r>
              <a:rPr lang="es-PE" dirty="0" err="1"/>
              <a:t>4JT</a:t>
            </a:r>
            <a:endParaRPr lang="es-ES" dirty="0"/>
          </a:p>
          <a:p>
            <a:r>
              <a:rPr lang="es-ES" dirty="0" err="1"/>
              <a:t>ST</a:t>
            </a:r>
            <a:endParaRPr lang="es-ES" dirty="0"/>
          </a:p>
          <a:p>
            <a:pPr lvl="0"/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&lt;=150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 &lt;=1000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0.75JT</a:t>
            </a:r>
            <a:r>
              <a:rPr lang="es-PE" dirty="0"/>
              <a:t>   &lt;=1000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8DE4B4-235F-40ED-84D4-90D556E4AFDE}"/>
              </a:ext>
            </a:extLst>
          </p:cNvPr>
          <p:cNvSpPr/>
          <p:nvPr/>
        </p:nvSpPr>
        <p:spPr>
          <a:xfrm>
            <a:off x="1866181" y="574504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Interpretación: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El coeficiente de </a:t>
            </a:r>
            <a:r>
              <a:rPr lang="es-PE" sz="2400" dirty="0" err="1">
                <a:latin typeface="Arial Narrow" panose="020B0606020202030204" pitchFamily="34" charset="0"/>
              </a:rPr>
              <a:t>JT</a:t>
            </a:r>
            <a:r>
              <a:rPr lang="es-PE" sz="2400" dirty="0">
                <a:latin typeface="Arial Narrow" panose="020B0606020202030204" pitchFamily="34" charset="0"/>
              </a:rPr>
              <a:t> puede variar desde 0 hasta  ∞ inclusive sin modificar su solución óptima.</a:t>
            </a: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3F38C43A-B7A2-45F5-B648-317AA871EB3F}"/>
              </a:ext>
            </a:extLst>
          </p:cNvPr>
          <p:cNvSpPr/>
          <p:nvPr/>
        </p:nvSpPr>
        <p:spPr>
          <a:xfrm>
            <a:off x="6096000" y="0"/>
            <a:ext cx="6096000" cy="102654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Análisis de sensibilidad de los coeficientes de la </a:t>
            </a:r>
            <a:r>
              <a:rPr lang="es-PE" sz="28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4501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159896" y="1580014"/>
            <a:ext cx="584741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en-US" dirty="0">
                <a:latin typeface="Arial Narrow" pitchFamily="34" charset="0"/>
              </a:rPr>
              <a:t> OBJECTIVE FUNCTION VALUE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1)      9190.477</a:t>
            </a:r>
          </a:p>
          <a:p>
            <a:pPr lvl="0"/>
            <a:r>
              <a:rPr lang="en-US" dirty="0">
                <a:latin typeface="Arial Narrow" pitchFamily="34" charset="0"/>
              </a:rPr>
              <a:t>  VARIABLE        VALUE          	REDUCED COST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</a:t>
            </a:r>
            <a:r>
              <a:rPr lang="en-US" dirty="0" err="1">
                <a:latin typeface="Arial Narrow" pitchFamily="34" charset="0"/>
              </a:rPr>
              <a:t>JN</a:t>
            </a:r>
            <a:r>
              <a:rPr lang="en-US" dirty="0">
                <a:latin typeface="Arial Narrow" pitchFamily="34" charset="0"/>
              </a:rPr>
              <a:t>      1428.571411                     0.000000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JT      1333.333374                     0.000000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ROW   SLACK OR SURPLUS     DUAL PRICES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2)        26.190475                        0.000000          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m=0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3)          0.000000                        3.857143          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m=3,8571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4)          0.000000                        5.333333          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m=5,3333</a:t>
            </a:r>
          </a:p>
          <a:p>
            <a:pPr lvl="0"/>
            <a:r>
              <a:rPr lang="en-US" dirty="0">
                <a:latin typeface="Arial Narrow" pitchFamily="34" charset="0"/>
              </a:rPr>
              <a:t> NO. ITERATIONS=       2</a:t>
            </a:r>
          </a:p>
          <a:p>
            <a:pPr lvl="0"/>
            <a:r>
              <a:rPr lang="en-US" dirty="0">
                <a:latin typeface="Arial Narrow" pitchFamily="34" charset="0"/>
              </a:rPr>
              <a:t> RANGES IN WHICH THE BASIS IS UNCHANGED:</a:t>
            </a:r>
          </a:p>
          <a:p>
            <a:pPr lvl="0"/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                          </a:t>
            </a:r>
            <a:r>
              <a:rPr lang="en-US" dirty="0" err="1">
                <a:solidFill>
                  <a:srgbClr val="FF0000"/>
                </a:solidFill>
                <a:latin typeface="Arial Narrow" pitchFamily="34" charset="0"/>
              </a:rPr>
              <a:t>OBJ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COEFFICIENT RANGES</a:t>
            </a:r>
          </a:p>
          <a:p>
            <a:pPr lvl="0"/>
            <a:r>
              <a:rPr lang="en-US" dirty="0">
                <a:latin typeface="Arial Narrow" pitchFamily="34" charset="0"/>
              </a:rPr>
              <a:t> VARIABLE         CURRENT        ALLOWABLE        ALLOWABLE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           </a:t>
            </a:r>
            <a:r>
              <a:rPr lang="en-US" dirty="0" err="1">
                <a:latin typeface="Arial Narrow" pitchFamily="34" charset="0"/>
              </a:rPr>
              <a:t>COEF</a:t>
            </a:r>
            <a:r>
              <a:rPr lang="en-US" dirty="0">
                <a:latin typeface="Arial Narrow" pitchFamily="34" charset="0"/>
              </a:rPr>
              <a:t>          INCREASE         DECREASE</a:t>
            </a:r>
          </a:p>
          <a:p>
            <a:r>
              <a:rPr lang="en-US" dirty="0">
                <a:latin typeface="Arial Narrow" pitchFamily="34" charset="0"/>
              </a:rPr>
              <a:t>       JN        2.700000         INFINITY         2.700000         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0 ≤ </a:t>
            </a:r>
            <a:r>
              <a:rPr lang="el-GR" dirty="0">
                <a:latin typeface="Arial Narrow" pitchFamily="34" charset="0"/>
              </a:rPr>
              <a:t>α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</a:p>
          <a:p>
            <a:pPr lvl="0"/>
            <a:endParaRPr lang="en-US" dirty="0">
              <a:latin typeface="Arial Narrow" pitchFamily="34" charset="0"/>
            </a:endParaRPr>
          </a:p>
          <a:p>
            <a:pPr lvl="0"/>
            <a:r>
              <a:rPr lang="en-US" dirty="0">
                <a:latin typeface="Arial Narrow" pitchFamily="34" charset="0"/>
              </a:rPr>
              <a:t>       JT        4.000000         INFINITY         4.000000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         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0 ≤ </a:t>
            </a:r>
            <a:r>
              <a:rPr lang="el-GR" dirty="0">
                <a:latin typeface="Arial Narrow" pitchFamily="34" charset="0"/>
              </a:rPr>
              <a:t>β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  <a:endParaRPr lang="es-ES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775520" y="1628801"/>
            <a:ext cx="3312368" cy="31700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sz="2000" dirty="0"/>
              <a:t>MAX </a:t>
            </a:r>
            <a:r>
              <a:rPr lang="es-PE" sz="2000" dirty="0" err="1"/>
              <a:t>2.7JN</a:t>
            </a:r>
            <a:r>
              <a:rPr lang="es-PE" sz="2000" dirty="0"/>
              <a:t> + </a:t>
            </a:r>
            <a:r>
              <a:rPr lang="es-PE" sz="2000" dirty="0" err="1"/>
              <a:t>4JT</a:t>
            </a:r>
            <a:endParaRPr lang="es-ES" sz="2000" dirty="0"/>
          </a:p>
          <a:p>
            <a:r>
              <a:rPr lang="es-ES" sz="2000" dirty="0" err="1"/>
              <a:t>ST</a:t>
            </a:r>
            <a:endParaRPr lang="es-ES" sz="2000" dirty="0"/>
          </a:p>
          <a:p>
            <a:pPr lvl="0"/>
            <a:r>
              <a:rPr lang="es-PE" sz="2000" dirty="0" err="1"/>
              <a:t>0.04JN</a:t>
            </a:r>
            <a:r>
              <a:rPr lang="es-PE" sz="2000" dirty="0"/>
              <a:t> + </a:t>
            </a:r>
            <a:r>
              <a:rPr lang="es-PE" sz="2000" dirty="0" err="1"/>
              <a:t>0.05JT</a:t>
            </a:r>
            <a:r>
              <a:rPr lang="es-PE" sz="2000" dirty="0"/>
              <a:t> &lt;=150</a:t>
            </a:r>
          </a:p>
          <a:p>
            <a:pPr lvl="0"/>
            <a:r>
              <a:rPr lang="es-PE" sz="2000" dirty="0"/>
              <a:t>	</a:t>
            </a:r>
            <a:r>
              <a:rPr lang="es-PE" sz="2000" dirty="0" err="1"/>
              <a:t>0.70JN</a:t>
            </a:r>
            <a:r>
              <a:rPr lang="es-PE" sz="2000" dirty="0"/>
              <a:t>  &lt;=1000</a:t>
            </a:r>
          </a:p>
          <a:p>
            <a:pPr lvl="0"/>
            <a:r>
              <a:rPr lang="es-PE" sz="2000" dirty="0"/>
              <a:t>	</a:t>
            </a:r>
            <a:r>
              <a:rPr lang="es-PE" sz="2000" dirty="0" err="1"/>
              <a:t>0.75JT</a:t>
            </a:r>
            <a:r>
              <a:rPr lang="es-PE" sz="2000" dirty="0"/>
              <a:t>   &lt;=1000</a:t>
            </a:r>
          </a:p>
          <a:p>
            <a:pPr lvl="0"/>
            <a:r>
              <a:rPr lang="es-ES" sz="2000" dirty="0">
                <a:solidFill>
                  <a:srgbClr val="FF0000"/>
                </a:solidFill>
              </a:rPr>
              <a:t>SOLUCIÓN</a:t>
            </a:r>
          </a:p>
          <a:p>
            <a:pPr lvl="0"/>
            <a:r>
              <a:rPr lang="es-ES" sz="2000" dirty="0"/>
              <a:t>Análisis de sensibilidad de los coeficientes de la </a:t>
            </a:r>
            <a:r>
              <a:rPr lang="es-ES" sz="2000" dirty="0" err="1"/>
              <a:t>F.O</a:t>
            </a:r>
            <a:r>
              <a:rPr lang="es-ES" sz="2000" dirty="0"/>
              <a:t>.</a:t>
            </a:r>
          </a:p>
          <a:p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	0 ≤ </a:t>
            </a:r>
            <a:r>
              <a:rPr lang="el-GR" sz="2000" dirty="0">
                <a:latin typeface="Arial Narrow" pitchFamily="34" charset="0"/>
              </a:rPr>
              <a:t>α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</a:p>
          <a:p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	0 ≤ </a:t>
            </a:r>
            <a:r>
              <a:rPr lang="el-GR" sz="2000" dirty="0">
                <a:latin typeface="Arial Narrow" pitchFamily="34" charset="0"/>
              </a:rPr>
              <a:t>β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</a:p>
        </p:txBody>
      </p:sp>
      <p:sp>
        <p:nvSpPr>
          <p:cNvPr id="6" name="CustomShape 2"/>
          <p:cNvSpPr/>
          <p:nvPr/>
        </p:nvSpPr>
        <p:spPr>
          <a:xfrm>
            <a:off x="6096000" y="310296"/>
            <a:ext cx="6095999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Lindo</a:t>
            </a:r>
          </a:p>
        </p:txBody>
      </p:sp>
    </p:spTree>
    <p:extLst>
      <p:ext uri="{BB962C8B-B14F-4D97-AF65-F5344CB8AC3E}">
        <p14:creationId xmlns:p14="http://schemas.microsoft.com/office/powerpoint/2010/main" val="317765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1375273"/>
          <a:ext cx="6390255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Análisis de Sensibilidad del Lado Derecho de la II Restricción: </a:t>
                      </a:r>
                      <a:r>
                        <a:rPr lang="es-PE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0.70JN</a:t>
                      </a:r>
                      <a:r>
                        <a:rPr lang="es-PE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&lt;= 1000</a:t>
                      </a:r>
                      <a:endParaRPr lang="es-PE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(1428.57, 1333,33)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0,70(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1428,57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800" dirty="0"/>
                        <a:t>(Valor Máximo del </a:t>
                      </a:r>
                      <a:r>
                        <a:rPr lang="es-PE" sz="1800" dirty="0" err="1"/>
                        <a:t>L.D</a:t>
                      </a:r>
                      <a:r>
                        <a:rPr lang="es-PE" sz="1800" dirty="0"/>
                        <a:t>.)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Z=2,7 (1428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57)+4 (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1333,33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9190,46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1333,33)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.=0.70 (0)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s-PE" sz="1800" dirty="0"/>
                        <a:t> (Valor Mínimo del </a:t>
                      </a:r>
                      <a:r>
                        <a:rPr lang="es-PE" sz="1800" dirty="0" err="1"/>
                        <a:t>L.D</a:t>
                      </a:r>
                      <a:r>
                        <a:rPr lang="es-PE" sz="1800" dirty="0"/>
                        <a:t>.)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Z=2,7 (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)+4 (1333,33) 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5333,32</a:t>
                      </a:r>
                      <a:endParaRPr lang="es-PE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8575E5D-12BE-4EC3-9F86-A3E45BDDBCAF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65DB56D-9F26-456F-9CD8-CA677538C54D}"/>
              </a:ext>
            </a:extLst>
          </p:cNvPr>
          <p:cNvCxnSpPr/>
          <p:nvPr/>
        </p:nvCxnSpPr>
        <p:spPr>
          <a:xfrm flipV="1">
            <a:off x="1052422" y="1690778"/>
            <a:ext cx="0" cy="4546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699357-FA8F-447C-B765-840607541EA9}"/>
              </a:ext>
            </a:extLst>
          </p:cNvPr>
          <p:cNvSpPr txBox="1"/>
          <p:nvPr/>
        </p:nvSpPr>
        <p:spPr>
          <a:xfrm>
            <a:off x="5124091" y="5564038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JN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9E4A93-CB18-47F0-81AD-D28F75089104}"/>
              </a:ext>
            </a:extLst>
          </p:cNvPr>
          <p:cNvSpPr txBox="1"/>
          <p:nvPr/>
        </p:nvSpPr>
        <p:spPr>
          <a:xfrm>
            <a:off x="687242" y="181730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JT</a:t>
            </a:r>
            <a:endParaRPr lang="es-PE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8136439-679C-4FC9-B13D-01244597A84A}"/>
              </a:ext>
            </a:extLst>
          </p:cNvPr>
          <p:cNvCxnSpPr/>
          <p:nvPr/>
        </p:nvCxnSpPr>
        <p:spPr>
          <a:xfrm flipH="1">
            <a:off x="560717" y="3174522"/>
            <a:ext cx="155275" cy="23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371BEC9-9ECE-4334-8151-F171ECCECBF0}"/>
              </a:ext>
            </a:extLst>
          </p:cNvPr>
          <p:cNvCxnSpPr/>
          <p:nvPr/>
        </p:nvCxnSpPr>
        <p:spPr>
          <a:xfrm>
            <a:off x="636558" y="4568406"/>
            <a:ext cx="0" cy="258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A6A579F-B230-4DAD-BDDC-D55083C18C2C}"/>
              </a:ext>
            </a:extLst>
          </p:cNvPr>
          <p:cNvCxnSpPr/>
          <p:nvPr/>
        </p:nvCxnSpPr>
        <p:spPr>
          <a:xfrm flipH="1">
            <a:off x="1880568" y="3200400"/>
            <a:ext cx="2242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E6BC25-A94F-49D9-A335-D3143C271EC8}"/>
              </a:ext>
            </a:extLst>
          </p:cNvPr>
          <p:cNvSpPr/>
          <p:nvPr/>
        </p:nvSpPr>
        <p:spPr>
          <a:xfrm>
            <a:off x="1061049" y="4609711"/>
            <a:ext cx="1043796" cy="10074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04A8DF1-43D4-49D1-9A97-4B956FC3943C}"/>
              </a:ext>
            </a:extLst>
          </p:cNvPr>
          <p:cNvCxnSpPr/>
          <p:nvPr/>
        </p:nvCxnSpPr>
        <p:spPr>
          <a:xfrm>
            <a:off x="2126052" y="3058563"/>
            <a:ext cx="0" cy="263105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CDDC1D9-2DF6-461C-8A56-0A6C06C9E3A0}"/>
              </a:ext>
            </a:extLst>
          </p:cNvPr>
          <p:cNvCxnSpPr/>
          <p:nvPr/>
        </p:nvCxnSpPr>
        <p:spPr>
          <a:xfrm>
            <a:off x="737558" y="3168173"/>
            <a:ext cx="3252159" cy="258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53927C1-3120-495F-A68D-447B5DE40317}"/>
              </a:ext>
            </a:extLst>
          </p:cNvPr>
          <p:cNvCxnSpPr/>
          <p:nvPr/>
        </p:nvCxnSpPr>
        <p:spPr>
          <a:xfrm>
            <a:off x="636558" y="4615642"/>
            <a:ext cx="389051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E4CF569-10AE-4E4B-AFBE-51F3C45FA783}"/>
              </a:ext>
            </a:extLst>
          </p:cNvPr>
          <p:cNvCxnSpPr>
            <a:cxnSpLocks/>
          </p:cNvCxnSpPr>
          <p:nvPr/>
        </p:nvCxnSpPr>
        <p:spPr>
          <a:xfrm>
            <a:off x="490268" y="3393596"/>
            <a:ext cx="3748357" cy="2635729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BFF19F39-86D1-4B65-AABB-F8CCBDDC9FAC}"/>
              </a:ext>
            </a:extLst>
          </p:cNvPr>
          <p:cNvSpPr/>
          <p:nvPr/>
        </p:nvSpPr>
        <p:spPr>
          <a:xfrm>
            <a:off x="2085975" y="4552950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0122582-AD5A-4759-BB89-8DCA865878EC}"/>
              </a:ext>
            </a:extLst>
          </p:cNvPr>
          <p:cNvSpPr txBox="1"/>
          <p:nvPr/>
        </p:nvSpPr>
        <p:spPr>
          <a:xfrm>
            <a:off x="380143" y="324433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437DAAA-CAF0-471A-ADE2-AA8B8C92CAA3}"/>
              </a:ext>
            </a:extLst>
          </p:cNvPr>
          <p:cNvSpPr txBox="1"/>
          <p:nvPr/>
        </p:nvSpPr>
        <p:spPr>
          <a:xfrm>
            <a:off x="2895599" y="5585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D89319E-35B6-4084-82DE-ABDCCFA18C52}"/>
              </a:ext>
            </a:extLst>
          </p:cNvPr>
          <p:cNvSpPr txBox="1"/>
          <p:nvPr/>
        </p:nvSpPr>
        <p:spPr>
          <a:xfrm>
            <a:off x="2154148" y="558341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31DD1AF-1999-4273-BAC7-DDDB750C6943}"/>
              </a:ext>
            </a:extLst>
          </p:cNvPr>
          <p:cNvSpPr txBox="1"/>
          <p:nvPr/>
        </p:nvSpPr>
        <p:spPr>
          <a:xfrm>
            <a:off x="1464067" y="557143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CACCD2E-4690-4795-ACA9-43370096CB99}"/>
              </a:ext>
            </a:extLst>
          </p:cNvPr>
          <p:cNvSpPr txBox="1"/>
          <p:nvPr/>
        </p:nvSpPr>
        <p:spPr>
          <a:xfrm>
            <a:off x="388704" y="396181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B87DF8E-0025-496A-B9DD-DD38165EFC63}"/>
              </a:ext>
            </a:extLst>
          </p:cNvPr>
          <p:cNvSpPr txBox="1"/>
          <p:nvPr/>
        </p:nvSpPr>
        <p:spPr>
          <a:xfrm>
            <a:off x="386993" y="467929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5D6D4EF-7ACC-4C98-BAB8-8DD1E4298695}"/>
              </a:ext>
            </a:extLst>
          </p:cNvPr>
          <p:cNvSpPr txBox="1"/>
          <p:nvPr/>
        </p:nvSpPr>
        <p:spPr>
          <a:xfrm>
            <a:off x="3643900" y="55834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</a:t>
            </a:r>
            <a:endParaRPr lang="es-PE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59D1EA8-5B84-4334-A723-B9AC51B3E97C}"/>
              </a:ext>
            </a:extLst>
          </p:cNvPr>
          <p:cNvSpPr/>
          <p:nvPr/>
        </p:nvSpPr>
        <p:spPr>
          <a:xfrm>
            <a:off x="2501660" y="1568902"/>
            <a:ext cx="2855344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dirty="0"/>
              <a:t>MAX </a:t>
            </a:r>
            <a:r>
              <a:rPr lang="es-PE" dirty="0" err="1"/>
              <a:t>2.7JN</a:t>
            </a:r>
            <a:r>
              <a:rPr lang="es-PE" dirty="0"/>
              <a:t> + </a:t>
            </a:r>
            <a:r>
              <a:rPr lang="es-PE" dirty="0" err="1"/>
              <a:t>4JT</a:t>
            </a:r>
            <a:endParaRPr lang="es-ES" dirty="0"/>
          </a:p>
          <a:p>
            <a:r>
              <a:rPr lang="es-ES" dirty="0" err="1"/>
              <a:t>ST</a:t>
            </a:r>
            <a:endParaRPr lang="es-ES" dirty="0"/>
          </a:p>
          <a:p>
            <a:pPr lvl="0"/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&lt;=150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 &lt;=1000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0.75JT</a:t>
            </a:r>
            <a:r>
              <a:rPr lang="es-PE" dirty="0"/>
              <a:t>   &lt;=1000</a:t>
            </a:r>
          </a:p>
        </p:txBody>
      </p:sp>
    </p:spTree>
    <p:extLst>
      <p:ext uri="{BB962C8B-B14F-4D97-AF65-F5344CB8AC3E}">
        <p14:creationId xmlns:p14="http://schemas.microsoft.com/office/powerpoint/2010/main" val="2066934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1428.57;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1333,33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5333,32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1428.57 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9190,46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511332" y="5114802"/>
            <a:ext cx="59204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8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8367622" y="5003322"/>
            <a:ext cx="2053081" cy="55209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511333" y="4365104"/>
                <a:ext cx="5117662" cy="714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800" dirty="0"/>
                  <a:t>Pendiente=m=</a:t>
                </a:r>
                <a:r>
                  <a:rPr lang="es-ES" sz="2800" dirty="0" err="1"/>
                  <a:t>tg</a:t>
                </a:r>
                <a:r>
                  <a:rPr lang="es-ES" sz="2800" dirty="0"/>
                  <a:t>(</a:t>
                </a:r>
                <a:r>
                  <a:rPr lang="el-GR" sz="2800" dirty="0"/>
                  <a:t>α</a:t>
                </a:r>
                <a:r>
                  <a:rPr lang="es-ES" sz="28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i="1">
                            <a:latin typeface="Cambria Math"/>
                          </a:rPr>
                          <m:t>∆</m:t>
                        </m:r>
                        <m:r>
                          <a:rPr lang="es-ES" sz="28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800" i="1">
                            <a:latin typeface="Cambria Math"/>
                          </a:rPr>
                          <m:t>∆</m:t>
                        </m:r>
                        <m:r>
                          <a:rPr lang="es-ES" sz="28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8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33" y="4365104"/>
                <a:ext cx="5117662" cy="714939"/>
              </a:xfrm>
              <a:prstGeom prst="rect">
                <a:avLst/>
              </a:prstGeom>
              <a:blipFill>
                <a:blip r:embed="rId2"/>
                <a:stretch>
                  <a:fillRect l="-2503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8364908" y="4038228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52570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095849" y="4685903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3473"/>
              </p:ext>
            </p:extLst>
          </p:nvPr>
        </p:nvGraphicFramePr>
        <p:xfrm>
          <a:off x="1377718" y="5715473"/>
          <a:ext cx="5273363" cy="87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74560" imgH="393480" progId="">
                  <p:embed/>
                </p:oleObj>
              </mc:Choice>
              <mc:Fallback>
                <p:oleObj r:id="rId3" imgW="2374560" imgH="39348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7718" y="5715473"/>
                        <a:ext cx="5273363" cy="874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B441E9FB-19E2-414E-AD8D-4B9994B04D01}"/>
              </a:ext>
            </a:extLst>
          </p:cNvPr>
          <p:cNvSpPr txBox="1"/>
          <p:nvPr/>
        </p:nvSpPr>
        <p:spPr>
          <a:xfrm>
            <a:off x="7668883" y="5305245"/>
            <a:ext cx="69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5333</a:t>
            </a:r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8FF0D94-0C06-46E2-8D8B-7A50D43FE25B}"/>
              </a:ext>
            </a:extLst>
          </p:cNvPr>
          <p:cNvSpPr txBox="1"/>
          <p:nvPr/>
        </p:nvSpPr>
        <p:spPr>
          <a:xfrm>
            <a:off x="7513608" y="4741658"/>
            <a:ext cx="106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9190,46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91215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69195"/>
              </p:ext>
            </p:extLst>
          </p:nvPr>
        </p:nvGraphicFramePr>
        <p:xfrm>
          <a:off x="5624423" y="1375273"/>
          <a:ext cx="6390255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70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04854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Análisis de Sensibilidad del Lado Derecho de la III Restricción: </a:t>
                      </a:r>
                      <a:r>
                        <a:rPr lang="es-PE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0.75JT</a:t>
                      </a:r>
                      <a:r>
                        <a:rPr lang="es-PE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&lt;= 1000</a:t>
                      </a:r>
                      <a:endParaRPr lang="es-PE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(1428.57, 1333.33)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.=0.75 (1333,33)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1000</a:t>
                      </a:r>
                      <a:r>
                        <a:rPr lang="es-PE" sz="1800" dirty="0"/>
                        <a:t> (Valor Máximo del </a:t>
                      </a:r>
                      <a:r>
                        <a:rPr lang="es-PE" sz="1800" dirty="0" err="1"/>
                        <a:t>L.D</a:t>
                      </a:r>
                      <a:r>
                        <a:rPr lang="es-PE" sz="1800" dirty="0"/>
                        <a:t>.)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Z=2,7 (1428,57)+4 (1333,33) = 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9190,32</a:t>
                      </a:r>
                      <a:endParaRPr lang="es-PE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(1428.57, 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0,75(0) = 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800" dirty="0"/>
                        <a:t>(Valor Mínimo del </a:t>
                      </a:r>
                      <a:r>
                        <a:rPr lang="es-PE" sz="1800" dirty="0" err="1"/>
                        <a:t>L.D</a:t>
                      </a:r>
                      <a:r>
                        <a:rPr lang="es-PE" sz="1800" dirty="0"/>
                        <a:t>.)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Z=2,7 (1428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57)+4 (0) = 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3857,139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8575E5D-12BE-4EC3-9F86-A3E45BDDBCAF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65DB56D-9F26-456F-9CD8-CA677538C54D}"/>
              </a:ext>
            </a:extLst>
          </p:cNvPr>
          <p:cNvCxnSpPr/>
          <p:nvPr/>
        </p:nvCxnSpPr>
        <p:spPr>
          <a:xfrm flipV="1">
            <a:off x="1052422" y="1690778"/>
            <a:ext cx="0" cy="4546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699357-FA8F-447C-B765-840607541EA9}"/>
              </a:ext>
            </a:extLst>
          </p:cNvPr>
          <p:cNvSpPr txBox="1"/>
          <p:nvPr/>
        </p:nvSpPr>
        <p:spPr>
          <a:xfrm>
            <a:off x="5124091" y="5564038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JN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9E4A93-CB18-47F0-81AD-D28F75089104}"/>
              </a:ext>
            </a:extLst>
          </p:cNvPr>
          <p:cNvSpPr txBox="1"/>
          <p:nvPr/>
        </p:nvSpPr>
        <p:spPr>
          <a:xfrm>
            <a:off x="687242" y="181730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JT</a:t>
            </a:r>
            <a:endParaRPr lang="es-PE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8136439-679C-4FC9-B13D-01244597A84A}"/>
              </a:ext>
            </a:extLst>
          </p:cNvPr>
          <p:cNvCxnSpPr/>
          <p:nvPr/>
        </p:nvCxnSpPr>
        <p:spPr>
          <a:xfrm flipH="1">
            <a:off x="560717" y="3174522"/>
            <a:ext cx="155275" cy="23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371BEC9-9ECE-4334-8151-F171ECCECBF0}"/>
              </a:ext>
            </a:extLst>
          </p:cNvPr>
          <p:cNvCxnSpPr/>
          <p:nvPr/>
        </p:nvCxnSpPr>
        <p:spPr>
          <a:xfrm>
            <a:off x="636558" y="4568406"/>
            <a:ext cx="0" cy="2587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A6A579F-B230-4DAD-BDDC-D55083C18C2C}"/>
              </a:ext>
            </a:extLst>
          </p:cNvPr>
          <p:cNvCxnSpPr/>
          <p:nvPr/>
        </p:nvCxnSpPr>
        <p:spPr>
          <a:xfrm flipH="1">
            <a:off x="1880568" y="3200400"/>
            <a:ext cx="22428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E6BC25-A94F-49D9-A335-D3143C271EC8}"/>
              </a:ext>
            </a:extLst>
          </p:cNvPr>
          <p:cNvSpPr/>
          <p:nvPr/>
        </p:nvSpPr>
        <p:spPr>
          <a:xfrm>
            <a:off x="1061049" y="4591050"/>
            <a:ext cx="1043796" cy="10074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04A8DF1-43D4-49D1-9A97-4B956FC3943C}"/>
              </a:ext>
            </a:extLst>
          </p:cNvPr>
          <p:cNvCxnSpPr/>
          <p:nvPr/>
        </p:nvCxnSpPr>
        <p:spPr>
          <a:xfrm>
            <a:off x="2113476" y="3191774"/>
            <a:ext cx="0" cy="263105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CDDC1D9-2DF6-461C-8A56-0A6C06C9E3A0}"/>
              </a:ext>
            </a:extLst>
          </p:cNvPr>
          <p:cNvCxnSpPr/>
          <p:nvPr/>
        </p:nvCxnSpPr>
        <p:spPr>
          <a:xfrm>
            <a:off x="715992" y="3165895"/>
            <a:ext cx="3252159" cy="258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53927C1-3120-495F-A68D-447B5DE40317}"/>
              </a:ext>
            </a:extLst>
          </p:cNvPr>
          <p:cNvCxnSpPr/>
          <p:nvPr/>
        </p:nvCxnSpPr>
        <p:spPr>
          <a:xfrm>
            <a:off x="628830" y="4577931"/>
            <a:ext cx="389051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E4CF569-10AE-4E4B-AFBE-51F3C45FA783}"/>
              </a:ext>
            </a:extLst>
          </p:cNvPr>
          <p:cNvCxnSpPr>
            <a:cxnSpLocks/>
          </p:cNvCxnSpPr>
          <p:nvPr/>
        </p:nvCxnSpPr>
        <p:spPr>
          <a:xfrm>
            <a:off x="490268" y="3393596"/>
            <a:ext cx="3748357" cy="2635729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BFF19F39-86D1-4B65-AABB-F8CCBDDC9FAC}"/>
              </a:ext>
            </a:extLst>
          </p:cNvPr>
          <p:cNvSpPr/>
          <p:nvPr/>
        </p:nvSpPr>
        <p:spPr>
          <a:xfrm>
            <a:off x="2085975" y="4552950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0122582-AD5A-4759-BB89-8DCA865878EC}"/>
              </a:ext>
            </a:extLst>
          </p:cNvPr>
          <p:cNvSpPr txBox="1"/>
          <p:nvPr/>
        </p:nvSpPr>
        <p:spPr>
          <a:xfrm>
            <a:off x="380143" y="324433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437DAAA-CAF0-471A-ADE2-AA8B8C92CAA3}"/>
              </a:ext>
            </a:extLst>
          </p:cNvPr>
          <p:cNvSpPr txBox="1"/>
          <p:nvPr/>
        </p:nvSpPr>
        <p:spPr>
          <a:xfrm>
            <a:off x="2895599" y="5585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D89319E-35B6-4084-82DE-ABDCCFA18C52}"/>
              </a:ext>
            </a:extLst>
          </p:cNvPr>
          <p:cNvSpPr txBox="1"/>
          <p:nvPr/>
        </p:nvSpPr>
        <p:spPr>
          <a:xfrm>
            <a:off x="2154148" y="558341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31DD1AF-1999-4273-BAC7-DDDB750C6943}"/>
              </a:ext>
            </a:extLst>
          </p:cNvPr>
          <p:cNvSpPr txBox="1"/>
          <p:nvPr/>
        </p:nvSpPr>
        <p:spPr>
          <a:xfrm>
            <a:off x="1464067" y="557143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CACCD2E-4690-4795-ACA9-43370096CB99}"/>
              </a:ext>
            </a:extLst>
          </p:cNvPr>
          <p:cNvSpPr txBox="1"/>
          <p:nvPr/>
        </p:nvSpPr>
        <p:spPr>
          <a:xfrm>
            <a:off x="388704" y="396181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B87DF8E-0025-496A-B9DD-DD38165EFC63}"/>
              </a:ext>
            </a:extLst>
          </p:cNvPr>
          <p:cNvSpPr txBox="1"/>
          <p:nvPr/>
        </p:nvSpPr>
        <p:spPr>
          <a:xfrm>
            <a:off x="386993" y="467929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5D6D4EF-7ACC-4C98-BAB8-8DD1E4298695}"/>
              </a:ext>
            </a:extLst>
          </p:cNvPr>
          <p:cNvSpPr txBox="1"/>
          <p:nvPr/>
        </p:nvSpPr>
        <p:spPr>
          <a:xfrm>
            <a:off x="3643900" y="55834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</a:t>
            </a:r>
            <a:endParaRPr lang="es-PE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3D42981-3930-43AB-80B1-E79A4F5FD196}"/>
              </a:ext>
            </a:extLst>
          </p:cNvPr>
          <p:cNvSpPr/>
          <p:nvPr/>
        </p:nvSpPr>
        <p:spPr>
          <a:xfrm>
            <a:off x="2501660" y="1568902"/>
            <a:ext cx="2855344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dirty="0"/>
              <a:t>MAX </a:t>
            </a:r>
            <a:r>
              <a:rPr lang="es-PE" dirty="0" err="1"/>
              <a:t>2.7JN</a:t>
            </a:r>
            <a:r>
              <a:rPr lang="es-PE" dirty="0"/>
              <a:t> + </a:t>
            </a:r>
            <a:r>
              <a:rPr lang="es-PE" dirty="0" err="1"/>
              <a:t>4JT</a:t>
            </a:r>
            <a:endParaRPr lang="es-ES" dirty="0"/>
          </a:p>
          <a:p>
            <a:r>
              <a:rPr lang="es-ES" dirty="0" err="1"/>
              <a:t>ST</a:t>
            </a:r>
            <a:endParaRPr lang="es-ES" dirty="0"/>
          </a:p>
          <a:p>
            <a:pPr lvl="0"/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&lt;=150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 &lt;=1000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0.75JT</a:t>
            </a:r>
            <a:r>
              <a:rPr lang="es-PE" dirty="0"/>
              <a:t>   &lt;=1000</a:t>
            </a:r>
          </a:p>
        </p:txBody>
      </p:sp>
    </p:spTree>
    <p:extLst>
      <p:ext uri="{BB962C8B-B14F-4D97-AF65-F5344CB8AC3E}">
        <p14:creationId xmlns:p14="http://schemas.microsoft.com/office/powerpoint/2010/main" val="1048160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1428.57;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1333,33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3857,139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1428.57 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9190,32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III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9989389" y="6117461"/>
            <a:ext cx="2377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43003" y="5020574"/>
            <a:ext cx="2777699" cy="71599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706631" y="565368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7661751" y="5677596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25520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147913"/>
              </p:ext>
            </p:extLst>
          </p:nvPr>
        </p:nvGraphicFramePr>
        <p:xfrm>
          <a:off x="1369058" y="5740316"/>
          <a:ext cx="5611307" cy="923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87520" imgH="393480" progId="">
                  <p:embed/>
                </p:oleObj>
              </mc:Choice>
              <mc:Fallback>
                <p:oleObj r:id="rId4" imgW="2387520" imgH="39348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69058" y="5740316"/>
                        <a:ext cx="5611307" cy="923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7497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159896" y="1580014"/>
            <a:ext cx="598543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en-US" dirty="0">
                <a:latin typeface="Arial Narrow" pitchFamily="34" charset="0"/>
              </a:rPr>
              <a:t> OBJECTIVE FUNCTION VALUE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1)      9190.477</a:t>
            </a:r>
          </a:p>
          <a:p>
            <a:pPr lvl="0"/>
            <a:r>
              <a:rPr lang="en-US" dirty="0">
                <a:latin typeface="Arial Narrow" pitchFamily="34" charset="0"/>
              </a:rPr>
              <a:t>  VARIABLE        VALUE          	REDUCED COST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</a:t>
            </a:r>
            <a:r>
              <a:rPr lang="en-US" dirty="0" err="1">
                <a:latin typeface="Arial Narrow" pitchFamily="34" charset="0"/>
              </a:rPr>
              <a:t>JN</a:t>
            </a:r>
            <a:r>
              <a:rPr lang="en-US" dirty="0">
                <a:latin typeface="Arial Narrow" pitchFamily="34" charset="0"/>
              </a:rPr>
              <a:t>      1428.571411                     0.000000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JT      1333.333374                     0.000000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ROW   SLACK OR SURPLUS     DUAL PRICES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2)        26.190475                        0.000000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3)          0.000000                        3.857143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4)          0.000000                        5.333333</a:t>
            </a:r>
          </a:p>
          <a:p>
            <a:pPr lvl="0"/>
            <a:r>
              <a:rPr lang="en-US" dirty="0">
                <a:latin typeface="Arial Narrow" pitchFamily="34" charset="0"/>
              </a:rPr>
              <a:t> NO. ITERATIONS=       2</a:t>
            </a:r>
          </a:p>
          <a:p>
            <a:pPr lvl="0"/>
            <a:r>
              <a:rPr lang="en-US" dirty="0">
                <a:latin typeface="Arial Narrow" pitchFamily="34" charset="0"/>
              </a:rPr>
              <a:t> RANGES IN WHICH THE BASIS IS UNCHANGED:</a:t>
            </a:r>
          </a:p>
          <a:p>
            <a:pPr lvl="0"/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                          </a:t>
            </a:r>
            <a:r>
              <a:rPr lang="en-US" dirty="0" err="1">
                <a:solidFill>
                  <a:srgbClr val="FF0000"/>
                </a:solidFill>
                <a:latin typeface="Arial Narrow" pitchFamily="34" charset="0"/>
              </a:rPr>
              <a:t>OBJ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COEFFICIENT RANGES</a:t>
            </a:r>
          </a:p>
          <a:p>
            <a:pPr lvl="0"/>
            <a:r>
              <a:rPr lang="en-US" dirty="0">
                <a:latin typeface="Arial Narrow" pitchFamily="34" charset="0"/>
              </a:rPr>
              <a:t> VARIABLE         CURRENT        ALLOWABLE        ALLOWABLE</a:t>
            </a:r>
          </a:p>
          <a:p>
            <a:pPr lvl="0"/>
            <a:r>
              <a:rPr lang="en-US" dirty="0">
                <a:latin typeface="Arial Narrow" pitchFamily="34" charset="0"/>
              </a:rPr>
              <a:t>                   </a:t>
            </a:r>
            <a:r>
              <a:rPr lang="en-US" dirty="0" err="1">
                <a:latin typeface="Arial Narrow" pitchFamily="34" charset="0"/>
              </a:rPr>
              <a:t>COEF</a:t>
            </a:r>
            <a:r>
              <a:rPr lang="en-US" dirty="0">
                <a:latin typeface="Arial Narrow" pitchFamily="34" charset="0"/>
              </a:rPr>
              <a:t>          INCREASE         DECREASE</a:t>
            </a:r>
          </a:p>
          <a:p>
            <a:r>
              <a:rPr lang="en-US" dirty="0">
                <a:latin typeface="Arial Narrow" pitchFamily="34" charset="0"/>
              </a:rPr>
              <a:t>       JN        2.700000         INFINITY         2.700000         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0 ≤ </a:t>
            </a:r>
            <a:r>
              <a:rPr lang="el-GR" dirty="0">
                <a:latin typeface="Arial Narrow" pitchFamily="34" charset="0"/>
              </a:rPr>
              <a:t>α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</a:p>
          <a:p>
            <a:pPr lvl="0"/>
            <a:endParaRPr lang="en-US" dirty="0">
              <a:latin typeface="Arial Narrow" pitchFamily="34" charset="0"/>
            </a:endParaRPr>
          </a:p>
          <a:p>
            <a:pPr lvl="0"/>
            <a:r>
              <a:rPr lang="en-US" dirty="0">
                <a:latin typeface="Arial Narrow" pitchFamily="34" charset="0"/>
              </a:rPr>
              <a:t>       JT        4.000000         INFINITY         4.000000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          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0 ≤ </a:t>
            </a:r>
            <a:r>
              <a:rPr lang="el-GR" dirty="0">
                <a:latin typeface="Arial Narrow" pitchFamily="34" charset="0"/>
              </a:rPr>
              <a:t>β</a:t>
            </a:r>
            <a:r>
              <a:rPr lang="es-PE" dirty="0">
                <a:solidFill>
                  <a:srgbClr val="FF0000"/>
                </a:solidFill>
                <a:latin typeface="Arial Narrow" pitchFamily="34" charset="0"/>
              </a:rPr>
              <a:t> &lt;∞</a:t>
            </a:r>
            <a:endParaRPr lang="es-ES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775520" y="1628801"/>
            <a:ext cx="3312368" cy="470898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sz="2000" dirty="0"/>
              <a:t>MAX </a:t>
            </a:r>
            <a:r>
              <a:rPr lang="es-PE" sz="2000" dirty="0" err="1"/>
              <a:t>2.7JN</a:t>
            </a:r>
            <a:r>
              <a:rPr lang="es-PE" sz="2000" dirty="0"/>
              <a:t> + </a:t>
            </a:r>
            <a:r>
              <a:rPr lang="es-PE" sz="2000" dirty="0" err="1"/>
              <a:t>4JT</a:t>
            </a:r>
            <a:endParaRPr lang="es-ES" sz="2000" dirty="0"/>
          </a:p>
          <a:p>
            <a:r>
              <a:rPr lang="es-ES" sz="2000" dirty="0" err="1"/>
              <a:t>ST</a:t>
            </a:r>
            <a:endParaRPr lang="es-ES" sz="2000" dirty="0"/>
          </a:p>
          <a:p>
            <a:pPr lvl="0"/>
            <a:r>
              <a:rPr lang="es-PE" sz="2000" dirty="0" err="1"/>
              <a:t>0.04JN</a:t>
            </a:r>
            <a:r>
              <a:rPr lang="es-PE" sz="2000" dirty="0"/>
              <a:t> + </a:t>
            </a:r>
            <a:r>
              <a:rPr lang="es-PE" sz="2000" dirty="0" err="1"/>
              <a:t>0.05JT</a:t>
            </a:r>
            <a:r>
              <a:rPr lang="es-PE" sz="2000" dirty="0"/>
              <a:t> &lt;=150</a:t>
            </a:r>
          </a:p>
          <a:p>
            <a:pPr lvl="0"/>
            <a:r>
              <a:rPr lang="es-PE" sz="2000" dirty="0"/>
              <a:t>	</a:t>
            </a:r>
            <a:r>
              <a:rPr lang="es-PE" sz="2000" dirty="0" err="1"/>
              <a:t>0.70JN</a:t>
            </a:r>
            <a:r>
              <a:rPr lang="es-PE" sz="2000" dirty="0"/>
              <a:t>  &lt;=1000</a:t>
            </a:r>
          </a:p>
          <a:p>
            <a:pPr lvl="0"/>
            <a:r>
              <a:rPr lang="es-PE" sz="2000" dirty="0"/>
              <a:t>	</a:t>
            </a:r>
            <a:r>
              <a:rPr lang="es-PE" sz="2000" dirty="0" err="1"/>
              <a:t>0.75JT</a:t>
            </a:r>
            <a:r>
              <a:rPr lang="es-PE" sz="2000" dirty="0"/>
              <a:t>   &lt;=1000</a:t>
            </a:r>
          </a:p>
          <a:p>
            <a:pPr lvl="0"/>
            <a:r>
              <a:rPr lang="es-ES" sz="2000" dirty="0">
                <a:solidFill>
                  <a:srgbClr val="FF0000"/>
                </a:solidFill>
              </a:rPr>
              <a:t>SOLUCIÓN</a:t>
            </a:r>
          </a:p>
          <a:p>
            <a:pPr lvl="0"/>
            <a:r>
              <a:rPr lang="es-ES" sz="2000" dirty="0"/>
              <a:t>Análisis de sensibilidad de los coeficientes de la </a:t>
            </a:r>
            <a:r>
              <a:rPr lang="es-ES" sz="2000" dirty="0" err="1"/>
              <a:t>F.O</a:t>
            </a:r>
            <a:r>
              <a:rPr lang="es-ES" sz="2000" dirty="0"/>
              <a:t>.</a:t>
            </a:r>
          </a:p>
          <a:p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	0 ≤ </a:t>
            </a:r>
            <a:r>
              <a:rPr lang="el-GR" sz="2000" dirty="0">
                <a:latin typeface="Arial Narrow" pitchFamily="34" charset="0"/>
              </a:rPr>
              <a:t>α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</a:p>
          <a:p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	0 ≤ </a:t>
            </a:r>
            <a:r>
              <a:rPr lang="el-GR" sz="2000" dirty="0">
                <a:latin typeface="Arial Narrow" pitchFamily="34" charset="0"/>
              </a:rPr>
              <a:t>β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&lt;∞</a:t>
            </a:r>
          </a:p>
          <a:p>
            <a:r>
              <a:rPr lang="es-ES" sz="2000" dirty="0"/>
              <a:t>Análisis de sensibilidad del lado derecho</a:t>
            </a:r>
          </a:p>
          <a:p>
            <a:r>
              <a:rPr lang="es-ES" sz="2000" dirty="0"/>
              <a:t>m=0          (Restricción 1)</a:t>
            </a:r>
          </a:p>
          <a:p>
            <a:r>
              <a:rPr lang="es-ES" sz="2000" dirty="0"/>
              <a:t>m=3,8571 (Restricción 2)</a:t>
            </a:r>
          </a:p>
          <a:p>
            <a:r>
              <a:rPr lang="es-ES" sz="2000" dirty="0"/>
              <a:t>m=5,3333 (Restricción 3)</a:t>
            </a:r>
            <a:endParaRPr lang="es-PE" sz="2000" dirty="0"/>
          </a:p>
        </p:txBody>
      </p:sp>
      <p:sp>
        <p:nvSpPr>
          <p:cNvPr id="6" name="CustomShape 2"/>
          <p:cNvSpPr/>
          <p:nvPr/>
        </p:nvSpPr>
        <p:spPr>
          <a:xfrm>
            <a:off x="6096000" y="310296"/>
            <a:ext cx="6095999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Lindo</a:t>
            </a:r>
          </a:p>
        </p:txBody>
      </p:sp>
    </p:spTree>
    <p:extLst>
      <p:ext uri="{BB962C8B-B14F-4D97-AF65-F5344CB8AC3E}">
        <p14:creationId xmlns:p14="http://schemas.microsoft.com/office/powerpoint/2010/main" val="1137538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A713650B-5E91-4BF0-BADA-B3F0F5F1264C}"/>
              </a:ext>
            </a:extLst>
          </p:cNvPr>
          <p:cNvSpPr/>
          <p:nvPr/>
        </p:nvSpPr>
        <p:spPr>
          <a:xfrm>
            <a:off x="4072576" y="2036944"/>
            <a:ext cx="1480008" cy="904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Diagrama de flujo: entrada manual 4">
            <a:extLst>
              <a:ext uri="{FF2B5EF4-FFF2-40B4-BE49-F238E27FC236}">
                <a16:creationId xmlns:a16="http://schemas.microsoft.com/office/drawing/2014/main" id="{E66AB00E-3967-4CEA-B0E9-3DC8C36DD2F6}"/>
              </a:ext>
            </a:extLst>
          </p:cNvPr>
          <p:cNvSpPr/>
          <p:nvPr/>
        </p:nvSpPr>
        <p:spPr>
          <a:xfrm>
            <a:off x="5577840" y="1563624"/>
            <a:ext cx="2602946" cy="1572768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SOLUCIÓN OPTIMA</a:t>
            </a:r>
            <a:endParaRPr lang="es-PE" sz="2800" dirty="0"/>
          </a:p>
        </p:txBody>
      </p:sp>
      <p:sp>
        <p:nvSpPr>
          <p:cNvPr id="6" name="Diagrama de flujo: proceso predefinido 5">
            <a:extLst>
              <a:ext uri="{FF2B5EF4-FFF2-40B4-BE49-F238E27FC236}">
                <a16:creationId xmlns:a16="http://schemas.microsoft.com/office/drawing/2014/main" id="{10C4FE58-1AF3-4A44-A5F3-41822D865A96}"/>
              </a:ext>
            </a:extLst>
          </p:cNvPr>
          <p:cNvSpPr/>
          <p:nvPr/>
        </p:nvSpPr>
        <p:spPr>
          <a:xfrm>
            <a:off x="292608" y="1508761"/>
            <a:ext cx="3632411" cy="2157984"/>
          </a:xfrm>
          <a:prstGeom prst="flowChartPredefined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>
                <a:solidFill>
                  <a:schemeClr val="tx1"/>
                </a:solidFill>
                <a:latin typeface="Bauhaus 93" pitchFamily="82" charset="0"/>
              </a:rPr>
              <a:t>Análisis de sensibilidad de los coeficientes de la Función objetivo</a:t>
            </a:r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EC84F1E-A100-400D-9342-846A404453F2}"/>
              </a:ext>
            </a:extLst>
          </p:cNvPr>
          <p:cNvSpPr/>
          <p:nvPr/>
        </p:nvSpPr>
        <p:spPr>
          <a:xfrm>
            <a:off x="4096622" y="4640621"/>
            <a:ext cx="1480008" cy="904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Diagrama de flujo: entrada manual 8">
            <a:extLst>
              <a:ext uri="{FF2B5EF4-FFF2-40B4-BE49-F238E27FC236}">
                <a16:creationId xmlns:a16="http://schemas.microsoft.com/office/drawing/2014/main" id="{93323BC0-7874-41BC-94C9-54B2FB27B9B4}"/>
              </a:ext>
            </a:extLst>
          </p:cNvPr>
          <p:cNvSpPr/>
          <p:nvPr/>
        </p:nvSpPr>
        <p:spPr>
          <a:xfrm>
            <a:off x="5592372" y="4411173"/>
            <a:ext cx="2609796" cy="1091152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PRECIO SOMBRA</a:t>
            </a:r>
            <a:endParaRPr lang="es-PE" sz="2800" dirty="0"/>
          </a:p>
        </p:txBody>
      </p:sp>
      <p:sp>
        <p:nvSpPr>
          <p:cNvPr id="10" name="Diagrama de flujo: proceso predefinido 9">
            <a:extLst>
              <a:ext uri="{FF2B5EF4-FFF2-40B4-BE49-F238E27FC236}">
                <a16:creationId xmlns:a16="http://schemas.microsoft.com/office/drawing/2014/main" id="{04B36AC9-4BAF-4110-BC69-E6DA0A878D43}"/>
              </a:ext>
            </a:extLst>
          </p:cNvPr>
          <p:cNvSpPr/>
          <p:nvPr/>
        </p:nvSpPr>
        <p:spPr>
          <a:xfrm>
            <a:off x="292608" y="4022670"/>
            <a:ext cx="3641037" cy="2231826"/>
          </a:xfrm>
          <a:prstGeom prst="flowChartPredefined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>
                <a:solidFill>
                  <a:schemeClr val="tx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273399BB-1077-4D06-A659-680CEF54760E}"/>
              </a:ext>
            </a:extLst>
          </p:cNvPr>
          <p:cNvSpPr/>
          <p:nvPr/>
        </p:nvSpPr>
        <p:spPr>
          <a:xfrm>
            <a:off x="8380044" y="1792224"/>
            <a:ext cx="207034" cy="1143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57525B0A-F0C1-499B-A62A-10C3259AAD40}"/>
              </a:ext>
            </a:extLst>
          </p:cNvPr>
          <p:cNvSpPr/>
          <p:nvPr/>
        </p:nvSpPr>
        <p:spPr>
          <a:xfrm>
            <a:off x="8470697" y="4123944"/>
            <a:ext cx="206960" cy="17465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B19E61-7385-43B1-B859-BD579C83B9ED}"/>
              </a:ext>
            </a:extLst>
          </p:cNvPr>
          <p:cNvSpPr txBox="1"/>
          <p:nvPr/>
        </p:nvSpPr>
        <p:spPr>
          <a:xfrm>
            <a:off x="8557059" y="1955978"/>
            <a:ext cx="2524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 cambia si está en el rango.</a:t>
            </a:r>
            <a:endParaRPr lang="es-PE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F04A6C6-D360-4FA9-93F0-942351830E0E}"/>
              </a:ext>
            </a:extLst>
          </p:cNvPr>
          <p:cNvSpPr txBox="1"/>
          <p:nvPr/>
        </p:nvSpPr>
        <p:spPr>
          <a:xfrm>
            <a:off x="8705434" y="3983391"/>
            <a:ext cx="3245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Cuanto se incrementa la Función objetivo cuando se incrementa una unidad en el lado derecho, </a:t>
            </a:r>
            <a:endParaRPr lang="es-PE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1752AC-9787-47BB-809E-C8C3ABE632C6}"/>
              </a:ext>
            </a:extLst>
          </p:cNvPr>
          <p:cNvSpPr txBox="1"/>
          <p:nvPr/>
        </p:nvSpPr>
        <p:spPr>
          <a:xfrm>
            <a:off x="6132513" y="256032"/>
            <a:ext cx="6059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RESUMEN</a:t>
            </a:r>
            <a:endParaRPr lang="es-PE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785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824587" y="1250829"/>
            <a:ext cx="3816424" cy="193899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/>
              <a:t>Maximizar	-</a:t>
            </a:r>
            <a:r>
              <a:rPr lang="es-PE" sz="2000" b="1" dirty="0" err="1"/>
              <a:t>X1</a:t>
            </a:r>
            <a:r>
              <a:rPr lang="es-PE" sz="2000" b="1" dirty="0"/>
              <a:t> + </a:t>
            </a:r>
            <a:r>
              <a:rPr lang="es-PE" sz="2000" b="1" dirty="0" err="1"/>
              <a:t>2X2</a:t>
            </a:r>
            <a:endParaRPr lang="es-PE" sz="2000" b="1" dirty="0"/>
          </a:p>
          <a:p>
            <a:r>
              <a:rPr lang="es-PE" sz="2000" b="1" dirty="0"/>
              <a:t>Dependiendo de</a:t>
            </a:r>
          </a:p>
          <a:p>
            <a:r>
              <a:rPr lang="es-PE" sz="2000" b="1" dirty="0"/>
              <a:t>		  </a:t>
            </a:r>
            <a:r>
              <a:rPr lang="es-PE" sz="2000" b="1" dirty="0" err="1"/>
              <a:t>6X1</a:t>
            </a:r>
            <a:r>
              <a:rPr lang="es-PE" sz="2000" b="1" dirty="0"/>
              <a:t> – </a:t>
            </a:r>
            <a:r>
              <a:rPr lang="es-PE" sz="2000" b="1" dirty="0" err="1"/>
              <a:t>2X2</a:t>
            </a:r>
            <a:r>
              <a:rPr lang="es-PE" sz="2000" b="1" dirty="0"/>
              <a:t>   ≤ 3</a:t>
            </a:r>
          </a:p>
          <a:p>
            <a:r>
              <a:rPr lang="es-PE" sz="2000" b="1" dirty="0"/>
              <a:t>		-</a:t>
            </a:r>
            <a:r>
              <a:rPr lang="es-PE" sz="2000" b="1" dirty="0" err="1"/>
              <a:t>2X1</a:t>
            </a:r>
            <a:r>
              <a:rPr lang="es-PE" sz="2000" b="1" dirty="0"/>
              <a:t> + </a:t>
            </a:r>
            <a:r>
              <a:rPr lang="es-PE" sz="2000" b="1" dirty="0" err="1"/>
              <a:t>3X2</a:t>
            </a:r>
            <a:r>
              <a:rPr lang="es-PE" sz="2000" b="1" dirty="0"/>
              <a:t>    ≤ 6</a:t>
            </a:r>
          </a:p>
          <a:p>
            <a:r>
              <a:rPr lang="es-PE" sz="2000" b="1" dirty="0"/>
              <a:t>		   </a:t>
            </a:r>
            <a:r>
              <a:rPr lang="es-PE" sz="2000" b="1" dirty="0" err="1"/>
              <a:t>X1</a:t>
            </a:r>
            <a:r>
              <a:rPr lang="es-PE" sz="2000" b="1" dirty="0"/>
              <a:t> +</a:t>
            </a:r>
            <a:r>
              <a:rPr lang="es-PE" sz="2000" b="1" dirty="0" err="1"/>
              <a:t>X2</a:t>
            </a:r>
            <a:r>
              <a:rPr lang="es-PE" sz="2000" b="1" dirty="0"/>
              <a:t>	     ≤ 3</a:t>
            </a:r>
          </a:p>
          <a:p>
            <a:r>
              <a:rPr lang="es-PE" sz="2000" b="1" dirty="0"/>
              <a:t>		   </a:t>
            </a:r>
            <a:r>
              <a:rPr lang="es-PE" sz="2000" b="1" dirty="0" err="1"/>
              <a:t>X1</a:t>
            </a:r>
            <a:r>
              <a:rPr lang="es-PE" sz="2000" b="1" dirty="0"/>
              <a:t>,  </a:t>
            </a:r>
            <a:r>
              <a:rPr lang="es-PE" sz="2000" b="1" dirty="0" err="1"/>
              <a:t>X2</a:t>
            </a:r>
            <a:r>
              <a:rPr lang="es-PE" sz="2000" b="1" dirty="0"/>
              <a:t>	       ≥ 0</a:t>
            </a:r>
          </a:p>
        </p:txBody>
      </p:sp>
      <p:sp>
        <p:nvSpPr>
          <p:cNvPr id="5" name="4 Rectángulo"/>
          <p:cNvSpPr/>
          <p:nvPr/>
        </p:nvSpPr>
        <p:spPr>
          <a:xfrm>
            <a:off x="5509296" y="2503912"/>
            <a:ext cx="3626468" cy="31700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FF0000"/>
                </a:solidFill>
              </a:rPr>
              <a:t>1. Graficando las Restricciones</a:t>
            </a:r>
          </a:p>
          <a:p>
            <a:r>
              <a:rPr lang="pt-BR" sz="2000" b="1" dirty="0"/>
              <a:t>I)  </a:t>
            </a:r>
            <a:r>
              <a:rPr lang="pt-BR" sz="2000" b="1" dirty="0" err="1"/>
              <a:t>6X1</a:t>
            </a:r>
            <a:r>
              <a:rPr lang="pt-BR" sz="2000" b="1" dirty="0"/>
              <a:t> - </a:t>
            </a:r>
            <a:r>
              <a:rPr lang="pt-BR" sz="2000" b="1" dirty="0" err="1"/>
              <a:t>2X2</a:t>
            </a:r>
            <a:r>
              <a:rPr lang="pt-BR" sz="2000" b="1" dirty="0"/>
              <a:t> =</a:t>
            </a:r>
            <a:r>
              <a:rPr lang="es-PE" sz="2000" b="1" dirty="0"/>
              <a:t> </a:t>
            </a:r>
            <a:r>
              <a:rPr lang="pt-BR" sz="2000" b="1" dirty="0"/>
              <a:t>3	</a:t>
            </a:r>
            <a:endParaRPr lang="es-PE" sz="2000" b="1" dirty="0"/>
          </a:p>
          <a:p>
            <a:r>
              <a:rPr lang="pt-BR" sz="2000" b="1" dirty="0"/>
              <a:t>	Si </a:t>
            </a:r>
            <a:r>
              <a:rPr lang="pt-BR" sz="2000" b="1" dirty="0" err="1"/>
              <a:t>X1</a:t>
            </a:r>
            <a:r>
              <a:rPr lang="pt-BR" sz="2000" b="1" dirty="0"/>
              <a:t> = 0   </a:t>
            </a:r>
            <a:r>
              <a:rPr lang="pt-BR" sz="2000" b="1" dirty="0" err="1"/>
              <a:t>X2</a:t>
            </a:r>
            <a:r>
              <a:rPr lang="pt-BR" sz="2000" b="1" dirty="0"/>
              <a:t> = -1,5</a:t>
            </a:r>
            <a:endParaRPr lang="es-PE" sz="2000" b="1" dirty="0"/>
          </a:p>
          <a:p>
            <a:r>
              <a:rPr lang="pt-BR" sz="2000" b="1" dirty="0"/>
              <a:t>	Si X2 = 0   X1 = 0,5</a:t>
            </a:r>
            <a:endParaRPr lang="es-PE" sz="2000" b="1" dirty="0"/>
          </a:p>
          <a:p>
            <a:r>
              <a:rPr lang="es-PE" sz="2000" b="1" dirty="0"/>
              <a:t>II)-</a:t>
            </a:r>
            <a:r>
              <a:rPr lang="es-PE" sz="2000" b="1" dirty="0" err="1"/>
              <a:t>2X1</a:t>
            </a:r>
            <a:r>
              <a:rPr lang="es-PE" sz="2000" b="1" dirty="0"/>
              <a:t> + </a:t>
            </a:r>
            <a:r>
              <a:rPr lang="es-PE" sz="2000" b="1" dirty="0" err="1"/>
              <a:t>3X2</a:t>
            </a:r>
            <a:r>
              <a:rPr lang="es-PE" sz="2000" b="1" dirty="0"/>
              <a:t> = 6	</a:t>
            </a:r>
          </a:p>
          <a:p>
            <a:r>
              <a:rPr lang="es-PE" sz="2000" b="1" dirty="0"/>
              <a:t>	Si X1 = 0    X2 = 2</a:t>
            </a:r>
          </a:p>
          <a:p>
            <a:r>
              <a:rPr lang="es-PE" sz="2000" b="1" dirty="0"/>
              <a:t>	Si X2 = 0    X1 = -3</a:t>
            </a:r>
          </a:p>
          <a:p>
            <a:r>
              <a:rPr lang="es-PE" sz="2000" b="1" dirty="0"/>
              <a:t>III)</a:t>
            </a:r>
            <a:r>
              <a:rPr lang="es-PE" sz="2000" b="1" dirty="0" err="1"/>
              <a:t>X1</a:t>
            </a:r>
            <a:r>
              <a:rPr lang="es-PE" sz="2000" b="1" dirty="0"/>
              <a:t> + </a:t>
            </a:r>
            <a:r>
              <a:rPr lang="es-PE" sz="2000" b="1" dirty="0" err="1"/>
              <a:t>X2</a:t>
            </a:r>
            <a:r>
              <a:rPr lang="es-PE" sz="2000" b="1" dirty="0"/>
              <a:t> = 3</a:t>
            </a:r>
          </a:p>
          <a:p>
            <a:r>
              <a:rPr lang="es-PE" sz="2000" b="1" dirty="0"/>
              <a:t>	Si X1 = 0    X2 = 3</a:t>
            </a:r>
          </a:p>
          <a:p>
            <a:r>
              <a:rPr lang="es-PE" sz="2000" b="1" dirty="0"/>
              <a:t>	Si </a:t>
            </a:r>
            <a:r>
              <a:rPr lang="es-PE" sz="2000" b="1" dirty="0" err="1"/>
              <a:t>X2</a:t>
            </a:r>
            <a:r>
              <a:rPr lang="es-PE" sz="2000" b="1" dirty="0"/>
              <a:t> = 0    </a:t>
            </a:r>
            <a:r>
              <a:rPr lang="es-PE" sz="2000" b="1" dirty="0" err="1"/>
              <a:t>X1</a:t>
            </a:r>
            <a:r>
              <a:rPr lang="es-PE" sz="2000" b="1" dirty="0"/>
              <a:t> = 3</a:t>
            </a:r>
          </a:p>
        </p:txBody>
      </p:sp>
      <p:cxnSp>
        <p:nvCxnSpPr>
          <p:cNvPr id="13" name="12 Conector recto"/>
          <p:cNvCxnSpPr>
            <a:cxnSpLocks/>
          </p:cNvCxnSpPr>
          <p:nvPr/>
        </p:nvCxnSpPr>
        <p:spPr>
          <a:xfrm flipV="1">
            <a:off x="983411" y="3778370"/>
            <a:ext cx="3657600" cy="18288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9135762" y="2468445"/>
            <a:ext cx="3056238" cy="4524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4. Hallando la solución óptima</a:t>
            </a:r>
          </a:p>
          <a:p>
            <a:r>
              <a:rPr lang="es-ES" sz="2000" b="1" dirty="0"/>
              <a:t>La solución óptima está en la intersección de II y III</a:t>
            </a:r>
          </a:p>
          <a:p>
            <a:endParaRPr lang="es-ES" sz="2000" b="1" dirty="0"/>
          </a:p>
          <a:p>
            <a:r>
              <a:rPr lang="es-PE" sz="2000" b="1" dirty="0"/>
              <a:t>-</a:t>
            </a:r>
            <a:r>
              <a:rPr lang="es-PE" sz="2000" b="1" dirty="0" err="1"/>
              <a:t>2X1</a:t>
            </a:r>
            <a:r>
              <a:rPr lang="es-PE" sz="2000" b="1" dirty="0"/>
              <a:t> + </a:t>
            </a:r>
            <a:r>
              <a:rPr lang="es-PE" sz="2000" b="1" dirty="0" err="1"/>
              <a:t>3X2</a:t>
            </a:r>
            <a:r>
              <a:rPr lang="es-PE" sz="2000" b="1" dirty="0"/>
              <a:t>    = 6</a:t>
            </a:r>
          </a:p>
          <a:p>
            <a:r>
              <a:rPr lang="es-PE" sz="2000" b="1" u="sng" dirty="0"/>
              <a:t>    </a:t>
            </a:r>
            <a:r>
              <a:rPr lang="es-PE" sz="2000" b="1" u="sng" dirty="0" err="1"/>
              <a:t>X1</a:t>
            </a:r>
            <a:r>
              <a:rPr lang="es-PE" sz="2000" b="1" u="sng" dirty="0"/>
              <a:t> +   </a:t>
            </a:r>
            <a:r>
              <a:rPr lang="es-PE" sz="2000" b="1" u="sng" dirty="0" err="1"/>
              <a:t>X2</a:t>
            </a:r>
            <a:r>
              <a:rPr lang="es-PE" sz="2000" b="1" u="sng" dirty="0"/>
              <a:t>    = 3</a:t>
            </a:r>
          </a:p>
          <a:p>
            <a:r>
              <a:rPr lang="es-PE" sz="2000" b="1" dirty="0"/>
              <a:t>-</a:t>
            </a:r>
            <a:r>
              <a:rPr lang="es-PE" sz="2000" b="1" dirty="0" err="1"/>
              <a:t>2X1</a:t>
            </a:r>
            <a:r>
              <a:rPr lang="es-PE" sz="2000" b="1" dirty="0"/>
              <a:t>  + </a:t>
            </a:r>
            <a:r>
              <a:rPr lang="es-PE" sz="2000" b="1" dirty="0" err="1"/>
              <a:t>3X2</a:t>
            </a:r>
            <a:r>
              <a:rPr lang="es-PE" sz="2000" b="1" dirty="0"/>
              <a:t>    = 6</a:t>
            </a:r>
          </a:p>
          <a:p>
            <a:r>
              <a:rPr lang="es-PE" sz="2000" b="1" u="sng" dirty="0"/>
              <a:t>  </a:t>
            </a:r>
            <a:r>
              <a:rPr lang="es-PE" sz="2000" b="1" u="sng" dirty="0" err="1"/>
              <a:t>2X1</a:t>
            </a:r>
            <a:r>
              <a:rPr lang="es-PE" sz="2000" b="1" u="sng" dirty="0"/>
              <a:t>  + </a:t>
            </a:r>
            <a:r>
              <a:rPr lang="es-PE" sz="2000" b="1" u="sng" dirty="0" err="1"/>
              <a:t>2X2</a:t>
            </a:r>
            <a:r>
              <a:rPr lang="es-PE" sz="2000" b="1" u="sng" dirty="0"/>
              <a:t>   = 6</a:t>
            </a:r>
          </a:p>
          <a:p>
            <a:r>
              <a:rPr lang="es-ES" sz="2000" b="1" dirty="0"/>
              <a:t>	</a:t>
            </a:r>
            <a:r>
              <a:rPr lang="es-ES" sz="2000" b="1" dirty="0" err="1"/>
              <a:t>5X2</a:t>
            </a:r>
            <a:r>
              <a:rPr lang="es-ES" sz="2000" b="1" dirty="0"/>
              <a:t>=12       </a:t>
            </a:r>
          </a:p>
          <a:p>
            <a:r>
              <a:rPr lang="es-ES" sz="2000" b="1" dirty="0"/>
              <a:t>	  </a:t>
            </a:r>
            <a:r>
              <a:rPr lang="es-ES" sz="2000" b="1" dirty="0" err="1"/>
              <a:t>X2</a:t>
            </a:r>
            <a:r>
              <a:rPr lang="es-ES" sz="2000" b="1" dirty="0"/>
              <a:t>= 2.4</a:t>
            </a:r>
          </a:p>
          <a:p>
            <a:r>
              <a:rPr lang="es-ES" sz="2000" b="1" dirty="0"/>
              <a:t>                    X1=0,6</a:t>
            </a:r>
          </a:p>
          <a:p>
            <a:endParaRPr lang="es-ES" sz="2000" b="1" dirty="0"/>
          </a:p>
          <a:p>
            <a:r>
              <a:rPr lang="es-ES" sz="2800" b="1" dirty="0"/>
              <a:t>Z=-0,6+2(2,4)=4,2 </a:t>
            </a:r>
            <a:endParaRPr lang="es-PE" sz="2800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C0B0FEC-D100-49F9-A836-74E436BDB151}"/>
              </a:ext>
            </a:extLst>
          </p:cNvPr>
          <p:cNvSpPr/>
          <p:nvPr/>
        </p:nvSpPr>
        <p:spPr>
          <a:xfrm>
            <a:off x="5501967" y="5546211"/>
            <a:ext cx="3626465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3. Graficando la </a:t>
            </a:r>
            <a:r>
              <a:rPr lang="es-ES" sz="2000" b="1" dirty="0" err="1">
                <a:solidFill>
                  <a:srgbClr val="FF0000"/>
                </a:solidFill>
              </a:rPr>
              <a:t>F.O</a:t>
            </a:r>
            <a:r>
              <a:rPr lang="es-ES" sz="2000" b="1" dirty="0">
                <a:solidFill>
                  <a:srgbClr val="FF0000"/>
                </a:solidFill>
              </a:rPr>
              <a:t>.</a:t>
            </a:r>
          </a:p>
          <a:p>
            <a:r>
              <a:rPr lang="es-ES" sz="2000" b="1" dirty="0"/>
              <a:t>	-</a:t>
            </a:r>
            <a:r>
              <a:rPr lang="es-ES" sz="2000" b="1" dirty="0" err="1"/>
              <a:t>X1+2X2</a:t>
            </a:r>
            <a:r>
              <a:rPr lang="es-ES" sz="2000" b="1" dirty="0"/>
              <a:t>=</a:t>
            </a:r>
            <a:r>
              <a:rPr lang="es-ES" sz="2000" b="1" dirty="0">
                <a:solidFill>
                  <a:srgbClr val="FF0000"/>
                </a:solidFill>
              </a:rPr>
              <a:t>2</a:t>
            </a:r>
          </a:p>
          <a:p>
            <a:r>
              <a:rPr lang="es-ES" sz="2000" b="1" dirty="0"/>
              <a:t>	Si </a:t>
            </a:r>
            <a:r>
              <a:rPr lang="es-ES" sz="2000" b="1" dirty="0" err="1"/>
              <a:t>X1</a:t>
            </a:r>
            <a:r>
              <a:rPr lang="es-ES" sz="2000" b="1" dirty="0"/>
              <a:t>=0      </a:t>
            </a:r>
            <a:r>
              <a:rPr lang="es-ES" sz="2000" b="1" dirty="0" err="1"/>
              <a:t>X2</a:t>
            </a:r>
            <a:r>
              <a:rPr lang="es-ES" sz="2000" b="1" dirty="0"/>
              <a:t>=1</a:t>
            </a:r>
          </a:p>
          <a:p>
            <a:r>
              <a:rPr lang="es-ES" sz="2000" b="1" dirty="0"/>
              <a:t>	Si </a:t>
            </a:r>
            <a:r>
              <a:rPr lang="es-ES" sz="2000" b="1" dirty="0" err="1"/>
              <a:t>X2</a:t>
            </a:r>
            <a:r>
              <a:rPr lang="es-ES" sz="2000" b="1" dirty="0"/>
              <a:t>=0      </a:t>
            </a:r>
            <a:r>
              <a:rPr lang="es-ES" sz="2000" b="1" dirty="0" err="1"/>
              <a:t>X1</a:t>
            </a:r>
            <a:r>
              <a:rPr lang="es-ES" sz="2000" b="1" dirty="0"/>
              <a:t>=-2</a:t>
            </a:r>
            <a:endParaRPr lang="es-PE" sz="2000" b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BA9885E-CBCE-4777-B1F3-754C3A0943A5}"/>
              </a:ext>
            </a:extLst>
          </p:cNvPr>
          <p:cNvCxnSpPr/>
          <p:nvPr/>
        </p:nvCxnSpPr>
        <p:spPr>
          <a:xfrm>
            <a:off x="155276" y="5572664"/>
            <a:ext cx="552090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6854C12-4752-4DCF-A29B-5FB7FE5AAB30}"/>
              </a:ext>
            </a:extLst>
          </p:cNvPr>
          <p:cNvCxnSpPr/>
          <p:nvPr/>
        </p:nvCxnSpPr>
        <p:spPr>
          <a:xfrm flipV="1">
            <a:off x="2493034" y="3114136"/>
            <a:ext cx="0" cy="372661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99E23F9-E184-403E-8913-62D9F8BE07CF}"/>
              </a:ext>
            </a:extLst>
          </p:cNvPr>
          <p:cNvCxnSpPr/>
          <p:nvPr/>
        </p:nvCxnSpPr>
        <p:spPr>
          <a:xfrm flipH="1">
            <a:off x="2234242" y="3303917"/>
            <a:ext cx="146649" cy="181155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9931B04A-ACA8-4A0D-AE86-324057B847E2}"/>
              </a:ext>
            </a:extLst>
          </p:cNvPr>
          <p:cNvCxnSpPr/>
          <p:nvPr/>
        </p:nvCxnSpPr>
        <p:spPr>
          <a:xfrm>
            <a:off x="3752491" y="3295290"/>
            <a:ext cx="120769" cy="20703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72C7752-2548-401D-911E-9DE52E226604}"/>
              </a:ext>
            </a:extLst>
          </p:cNvPr>
          <p:cNvCxnSpPr/>
          <p:nvPr/>
        </p:nvCxnSpPr>
        <p:spPr>
          <a:xfrm flipH="1" flipV="1">
            <a:off x="3476445" y="3174520"/>
            <a:ext cx="163902" cy="8626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F5F5018B-38DF-46FA-8378-E7361F0C0800}"/>
              </a:ext>
            </a:extLst>
          </p:cNvPr>
          <p:cNvSpPr/>
          <p:nvPr/>
        </p:nvSpPr>
        <p:spPr>
          <a:xfrm>
            <a:off x="2493034" y="3856007"/>
            <a:ext cx="810883" cy="1716657"/>
          </a:xfrm>
          <a:custGeom>
            <a:avLst/>
            <a:gdLst>
              <a:gd name="connsiteX0" fmla="*/ 0 w 810883"/>
              <a:gd name="connsiteY0" fmla="*/ 1716657 h 1716657"/>
              <a:gd name="connsiteX1" fmla="*/ 353683 w 810883"/>
              <a:gd name="connsiteY1" fmla="*/ 1716657 h 1716657"/>
              <a:gd name="connsiteX2" fmla="*/ 810883 w 810883"/>
              <a:gd name="connsiteY2" fmla="*/ 379563 h 1716657"/>
              <a:gd name="connsiteX3" fmla="*/ 439947 w 810883"/>
              <a:gd name="connsiteY3" fmla="*/ 0 h 1716657"/>
              <a:gd name="connsiteX4" fmla="*/ 0 w 810883"/>
              <a:gd name="connsiteY4" fmla="*/ 293298 h 1716657"/>
              <a:gd name="connsiteX5" fmla="*/ 0 w 810883"/>
              <a:gd name="connsiteY5" fmla="*/ 1716657 h 171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0883" h="1716657">
                <a:moveTo>
                  <a:pt x="0" y="1716657"/>
                </a:moveTo>
                <a:lnTo>
                  <a:pt x="353683" y="1716657"/>
                </a:lnTo>
                <a:lnTo>
                  <a:pt x="810883" y="379563"/>
                </a:lnTo>
                <a:lnTo>
                  <a:pt x="439947" y="0"/>
                </a:lnTo>
                <a:lnTo>
                  <a:pt x="0" y="293298"/>
                </a:lnTo>
                <a:lnTo>
                  <a:pt x="0" y="171665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F279404-2D3A-4995-90F0-9188A2E8A010}"/>
              </a:ext>
            </a:extLst>
          </p:cNvPr>
          <p:cNvCxnSpPr>
            <a:cxnSpLocks/>
          </p:cNvCxnSpPr>
          <p:nvPr/>
        </p:nvCxnSpPr>
        <p:spPr>
          <a:xfrm flipH="1">
            <a:off x="2449902" y="3243532"/>
            <a:ext cx="1190445" cy="351957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11D6E2-0B49-42BF-9CC8-8D13FDB9C88E}"/>
              </a:ext>
            </a:extLst>
          </p:cNvPr>
          <p:cNvCxnSpPr>
            <a:cxnSpLocks/>
          </p:cNvCxnSpPr>
          <p:nvPr/>
        </p:nvCxnSpPr>
        <p:spPr>
          <a:xfrm>
            <a:off x="2372264" y="3303916"/>
            <a:ext cx="2493034" cy="2458529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B0543-F218-4C28-BDC4-9EF0DB52651F}"/>
              </a:ext>
            </a:extLst>
          </p:cNvPr>
          <p:cNvCxnSpPr>
            <a:cxnSpLocks/>
          </p:cNvCxnSpPr>
          <p:nvPr/>
        </p:nvCxnSpPr>
        <p:spPr>
          <a:xfrm flipH="1">
            <a:off x="0" y="3303917"/>
            <a:ext cx="3752491" cy="2484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12 Conector recto">
            <a:extLst>
              <a:ext uri="{FF2B5EF4-FFF2-40B4-BE49-F238E27FC236}">
                <a16:creationId xmlns:a16="http://schemas.microsoft.com/office/drawing/2014/main" id="{AA364EE6-E362-4057-BF06-ED2583C483D2}"/>
              </a:ext>
            </a:extLst>
          </p:cNvPr>
          <p:cNvCxnSpPr>
            <a:cxnSpLocks/>
          </p:cNvCxnSpPr>
          <p:nvPr/>
        </p:nvCxnSpPr>
        <p:spPr>
          <a:xfrm flipV="1">
            <a:off x="1135811" y="2912845"/>
            <a:ext cx="3657600" cy="18288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C97FC968-D63D-4AC4-967E-EBADFFCFB5A9}"/>
              </a:ext>
            </a:extLst>
          </p:cNvPr>
          <p:cNvSpPr/>
          <p:nvPr/>
        </p:nvSpPr>
        <p:spPr>
          <a:xfrm>
            <a:off x="2907102" y="3838755"/>
            <a:ext cx="51758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5855736-4FF0-4092-B605-278AD4A1FF5F}"/>
              </a:ext>
            </a:extLst>
          </p:cNvPr>
          <p:cNvSpPr/>
          <p:nvPr/>
        </p:nvSpPr>
        <p:spPr>
          <a:xfrm>
            <a:off x="6096000" y="1241106"/>
            <a:ext cx="6096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. Se pide: a)Resolver con el Método gráfico. </a:t>
            </a:r>
          </a:p>
          <a:p>
            <a:r>
              <a:rPr lang="es-PE" sz="2000" b="1" dirty="0">
                <a:latin typeface="Arial Narrow" panose="020B0606020202030204" pitchFamily="34" charset="0"/>
              </a:rPr>
              <a:t>	 b) Análisis de sensibilidad de los coeficientes</a:t>
            </a:r>
          </a:p>
          <a:p>
            <a:r>
              <a:rPr lang="es-PE" sz="2000" b="1" dirty="0">
                <a:latin typeface="Arial Narrow" panose="020B0606020202030204" pitchFamily="34" charset="0"/>
              </a:rPr>
              <a:t>	      de función objetivo.</a:t>
            </a:r>
          </a:p>
          <a:p>
            <a:pPr lvl="0"/>
            <a:r>
              <a:rPr lang="es-PE" sz="2000" b="1" dirty="0">
                <a:latin typeface="Arial Narrow" panose="020B0606020202030204" pitchFamily="34" charset="0"/>
              </a:rPr>
              <a:t>   	 c) Análisis de sensibilidad del lado derecho.  </a:t>
            </a:r>
          </a:p>
        </p:txBody>
      </p:sp>
    </p:spTree>
    <p:extLst>
      <p:ext uri="{BB962C8B-B14F-4D97-AF65-F5344CB8AC3E}">
        <p14:creationId xmlns:p14="http://schemas.microsoft.com/office/powerpoint/2010/main" val="356440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2" grpId="0" animBg="1"/>
      <p:bldP spid="4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919536" y="2978873"/>
            <a:ext cx="687940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Manteniendo constante el coeficiente de </a:t>
            </a:r>
            <a:r>
              <a:rPr lang="es-PE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X2</a:t>
            </a:r>
            <a:endParaRPr lang="es-PE" sz="24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La pendiente de la </a:t>
            </a:r>
            <a:r>
              <a:rPr lang="es-PE" sz="2400" dirty="0" err="1">
                <a:latin typeface="Arial Narrow" panose="020B0606020202030204" pitchFamily="34" charset="0"/>
              </a:rPr>
              <a:t>F.O</a:t>
            </a:r>
            <a:r>
              <a:rPr lang="es-PE" sz="2400" dirty="0">
                <a:latin typeface="Arial Narrow" panose="020B0606020202030204" pitchFamily="34" charset="0"/>
              </a:rPr>
              <a:t>.:	 </a:t>
            </a:r>
            <a:r>
              <a:rPr lang="el-GR" sz="2400" dirty="0">
                <a:latin typeface="Arial Narrow" panose="020B0606020202030204" pitchFamily="34" charset="0"/>
              </a:rPr>
              <a:t>α</a:t>
            </a:r>
            <a:r>
              <a:rPr lang="es-PE" sz="2400" dirty="0" err="1">
                <a:latin typeface="Arial Narrow" panose="020B0606020202030204" pitchFamily="34" charset="0"/>
              </a:rPr>
              <a:t>X1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s-PE" sz="2400" dirty="0" err="1">
                <a:latin typeface="Arial Narrow" panose="020B0606020202030204" pitchFamily="34" charset="0"/>
              </a:rPr>
              <a:t>2X2</a:t>
            </a:r>
            <a:r>
              <a:rPr lang="es-PE" sz="2400" dirty="0">
                <a:latin typeface="Arial Narrow" panose="020B0606020202030204" pitchFamily="34" charset="0"/>
              </a:rPr>
              <a:t>		m =-</a:t>
            </a:r>
            <a:r>
              <a:rPr lang="el-GR" sz="2400" dirty="0">
                <a:latin typeface="Arial Narrow" panose="020B0606020202030204" pitchFamily="34" charset="0"/>
              </a:rPr>
              <a:t> α</a:t>
            </a:r>
            <a:r>
              <a:rPr lang="es-PE" sz="2400" dirty="0">
                <a:latin typeface="Arial Narrow" panose="020B0606020202030204" pitchFamily="34" charset="0"/>
              </a:rPr>
              <a:t> /2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De la restricción II)         -</a:t>
            </a:r>
            <a:r>
              <a:rPr lang="es-PE" sz="2400" dirty="0" err="1">
                <a:latin typeface="Arial Narrow" panose="020B0606020202030204" pitchFamily="34" charset="0"/>
              </a:rPr>
              <a:t>2X1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s-PE" sz="2400" dirty="0" err="1">
                <a:latin typeface="Arial Narrow" panose="020B0606020202030204" pitchFamily="34" charset="0"/>
              </a:rPr>
              <a:t>3X2</a:t>
            </a:r>
            <a:r>
              <a:rPr lang="es-PE" sz="2400" dirty="0">
                <a:latin typeface="Arial Narrow" panose="020B0606020202030204" pitchFamily="34" charset="0"/>
              </a:rPr>
              <a:t> = 6		m =  2/3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Igualando					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α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 -1,33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893656" y="5640419"/>
            <a:ext cx="93551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Interpretación: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El coeficiente de </a:t>
            </a:r>
            <a:r>
              <a:rPr lang="es-PE" sz="2400" dirty="0" err="1">
                <a:latin typeface="Arial Narrow" panose="020B0606020202030204" pitchFamily="34" charset="0"/>
              </a:rPr>
              <a:t>X1</a:t>
            </a:r>
            <a:r>
              <a:rPr lang="es-PE" sz="2400" dirty="0">
                <a:latin typeface="Arial Narrow" panose="020B0606020202030204" pitchFamily="34" charset="0"/>
              </a:rPr>
              <a:t> puede variar desde -1,33 hasta 2 inclusive sin modificar su solución óptima. </a:t>
            </a: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1CC8EA72-B081-4AD0-8530-A6246C63E2F6}"/>
              </a:ext>
            </a:extLst>
          </p:cNvPr>
          <p:cNvSpPr/>
          <p:nvPr/>
        </p:nvSpPr>
        <p:spPr>
          <a:xfrm>
            <a:off x="6096000" y="0"/>
            <a:ext cx="6096000" cy="102654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Análisis de sensibilidad de los coeficientes de la </a:t>
            </a:r>
            <a:r>
              <a:rPr lang="es-PE" sz="28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.</a:t>
            </a: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BC67CF67-AEEF-43B3-B8FB-08307051D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29148" y="4532588"/>
          <a:ext cx="1086119" cy="73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3920" imgH="393480" progId="">
                  <p:embed/>
                </p:oleObj>
              </mc:Choice>
              <mc:Fallback>
                <p:oleObj r:id="rId2" imgW="583920" imgH="393480" progId="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BC67CF67-AEEF-43B3-B8FB-08307051D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29148" y="4532588"/>
                        <a:ext cx="1086119" cy="730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944F351-2C07-4999-8089-C421C40B7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23350" y="3429000"/>
          <a:ext cx="10239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3160" imgH="393480" progId="">
                  <p:embed/>
                </p:oleObj>
              </mc:Choice>
              <mc:Fallback>
                <p:oleObj r:id="rId4" imgW="533160" imgH="393480" progId="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E944F351-2C07-4999-8089-C421C40B7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23350" y="3429000"/>
                        <a:ext cx="1023938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3 Rectángulo">
            <a:extLst>
              <a:ext uri="{FF2B5EF4-FFF2-40B4-BE49-F238E27FC236}">
                <a16:creationId xmlns:a16="http://schemas.microsoft.com/office/drawing/2014/main" id="{B0FDCAC1-C96D-4423-8A68-32FAB6776D3A}"/>
              </a:ext>
            </a:extLst>
          </p:cNvPr>
          <p:cNvSpPr/>
          <p:nvPr/>
        </p:nvSpPr>
        <p:spPr>
          <a:xfrm>
            <a:off x="1631504" y="1251507"/>
            <a:ext cx="3816424" cy="175432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Maximizar	-</a:t>
            </a:r>
            <a:r>
              <a:rPr lang="es-PE" dirty="0" err="1"/>
              <a:t>X1</a:t>
            </a:r>
            <a:r>
              <a:rPr lang="es-PE" dirty="0"/>
              <a:t> + </a:t>
            </a:r>
            <a:r>
              <a:rPr lang="es-PE" dirty="0" err="1"/>
              <a:t>2X2</a:t>
            </a:r>
            <a:endParaRPr lang="es-PE" dirty="0"/>
          </a:p>
          <a:p>
            <a:r>
              <a:rPr lang="es-PE" dirty="0"/>
              <a:t>Dependiendo de</a:t>
            </a:r>
          </a:p>
          <a:p>
            <a:r>
              <a:rPr lang="es-PE" dirty="0"/>
              <a:t>		  </a:t>
            </a:r>
            <a:r>
              <a:rPr lang="es-PE" dirty="0" err="1"/>
              <a:t>6X1</a:t>
            </a:r>
            <a:r>
              <a:rPr lang="es-PE" dirty="0"/>
              <a:t> – </a:t>
            </a:r>
            <a:r>
              <a:rPr lang="es-PE" dirty="0" err="1"/>
              <a:t>2X2</a:t>
            </a:r>
            <a:r>
              <a:rPr lang="es-PE" dirty="0"/>
              <a:t>   ≤ 3</a:t>
            </a:r>
          </a:p>
          <a:p>
            <a:r>
              <a:rPr lang="es-PE" dirty="0"/>
              <a:t>		-</a:t>
            </a:r>
            <a:r>
              <a:rPr lang="es-PE" dirty="0" err="1"/>
              <a:t>2X1</a:t>
            </a:r>
            <a:r>
              <a:rPr lang="es-PE" dirty="0"/>
              <a:t> + </a:t>
            </a:r>
            <a:r>
              <a:rPr lang="es-PE" dirty="0" err="1"/>
              <a:t>3X2</a:t>
            </a:r>
            <a:r>
              <a:rPr lang="es-PE" dirty="0"/>
              <a:t>    ≤ 6</a:t>
            </a:r>
          </a:p>
          <a:p>
            <a:r>
              <a:rPr lang="es-PE" dirty="0"/>
              <a:t>		   </a:t>
            </a:r>
            <a:r>
              <a:rPr lang="es-PE" dirty="0" err="1"/>
              <a:t>X1</a:t>
            </a:r>
            <a:r>
              <a:rPr lang="es-PE" dirty="0"/>
              <a:t> +</a:t>
            </a:r>
            <a:r>
              <a:rPr lang="es-PE" dirty="0" err="1"/>
              <a:t>X2</a:t>
            </a:r>
            <a:r>
              <a:rPr lang="es-PE" dirty="0"/>
              <a:t>	       ≤ 3</a:t>
            </a:r>
          </a:p>
          <a:p>
            <a:r>
              <a:rPr lang="es-PE" dirty="0"/>
              <a:t>		   </a:t>
            </a:r>
            <a:r>
              <a:rPr lang="es-PE" dirty="0" err="1"/>
              <a:t>X1</a:t>
            </a:r>
            <a:r>
              <a:rPr lang="es-PE" dirty="0"/>
              <a:t>,  </a:t>
            </a:r>
            <a:r>
              <a:rPr lang="es-PE" dirty="0" err="1"/>
              <a:t>X2</a:t>
            </a:r>
            <a:r>
              <a:rPr lang="es-PE" dirty="0"/>
              <a:t>	       ≥ 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E8F651-4038-40FD-B077-E0B7E06570E4}"/>
              </a:ext>
            </a:extLst>
          </p:cNvPr>
          <p:cNvSpPr/>
          <p:nvPr/>
        </p:nvSpPr>
        <p:spPr>
          <a:xfrm>
            <a:off x="1926566" y="4587671"/>
            <a:ext cx="68033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latin typeface="Arial Narrow" panose="020B0606020202030204" pitchFamily="34" charset="0"/>
              </a:rPr>
              <a:t>La pendiente de la </a:t>
            </a:r>
            <a:r>
              <a:rPr lang="es-PE" sz="2400" dirty="0" err="1">
                <a:latin typeface="Arial Narrow" panose="020B0606020202030204" pitchFamily="34" charset="0"/>
              </a:rPr>
              <a:t>F.O</a:t>
            </a:r>
            <a:r>
              <a:rPr lang="es-PE" sz="2400" dirty="0">
                <a:latin typeface="Arial Narrow" panose="020B0606020202030204" pitchFamily="34" charset="0"/>
              </a:rPr>
              <a:t>.:	</a:t>
            </a:r>
            <a:r>
              <a:rPr lang="el-GR" sz="2400" dirty="0">
                <a:latin typeface="Arial Narrow" panose="020B0606020202030204" pitchFamily="34" charset="0"/>
              </a:rPr>
              <a:t> α</a:t>
            </a:r>
            <a:r>
              <a:rPr lang="es-PE" sz="2400" dirty="0" err="1">
                <a:latin typeface="Arial Narrow" panose="020B0606020202030204" pitchFamily="34" charset="0"/>
              </a:rPr>
              <a:t>X1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s-PE" sz="2400" dirty="0" err="1">
                <a:latin typeface="Arial Narrow" panose="020B0606020202030204" pitchFamily="34" charset="0"/>
              </a:rPr>
              <a:t>2X2</a:t>
            </a:r>
            <a:r>
              <a:rPr lang="es-PE" sz="2400" dirty="0">
                <a:latin typeface="Arial Narrow" panose="020B0606020202030204" pitchFamily="34" charset="0"/>
              </a:rPr>
              <a:t>		m =-</a:t>
            </a:r>
            <a:r>
              <a:rPr lang="el-GR" sz="2400" dirty="0">
                <a:latin typeface="Arial Narrow" panose="020B0606020202030204" pitchFamily="34" charset="0"/>
              </a:rPr>
              <a:t> α</a:t>
            </a:r>
            <a:r>
              <a:rPr lang="es-PE" sz="2400" dirty="0">
                <a:latin typeface="Arial Narrow" panose="020B0606020202030204" pitchFamily="34" charset="0"/>
              </a:rPr>
              <a:t> /2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De la restricción III)	  </a:t>
            </a:r>
            <a:r>
              <a:rPr lang="es-PE" sz="2400" dirty="0" err="1">
                <a:latin typeface="Arial Narrow" panose="020B0606020202030204" pitchFamily="34" charset="0"/>
              </a:rPr>
              <a:t>X1</a:t>
            </a:r>
            <a:r>
              <a:rPr lang="es-PE" sz="2400" dirty="0">
                <a:latin typeface="Arial Narrow" panose="020B0606020202030204" pitchFamily="34" charset="0"/>
              </a:rPr>
              <a:t> +</a:t>
            </a:r>
            <a:r>
              <a:rPr lang="es-PE" sz="2400" dirty="0" err="1">
                <a:latin typeface="Arial Narrow" panose="020B0606020202030204" pitchFamily="34" charset="0"/>
              </a:rPr>
              <a:t>X2</a:t>
            </a:r>
            <a:r>
              <a:rPr lang="es-PE" sz="2400" dirty="0">
                <a:latin typeface="Arial Narrow" panose="020B0606020202030204" pitchFamily="34" charset="0"/>
              </a:rPr>
              <a:t>     = 3		m=-1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Igualando					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α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 2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 						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[-1,33 ,2]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81225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919536" y="2978873"/>
            <a:ext cx="72244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Manteniendo constante el coeficiente de </a:t>
            </a:r>
            <a:r>
              <a:rPr lang="es-PE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X1</a:t>
            </a:r>
            <a:endParaRPr lang="es-PE" sz="24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La pendiente de la </a:t>
            </a:r>
            <a:r>
              <a:rPr lang="es-PE" sz="2400" dirty="0" err="1">
                <a:latin typeface="Arial Narrow" panose="020B0606020202030204" pitchFamily="34" charset="0"/>
              </a:rPr>
              <a:t>F.O</a:t>
            </a:r>
            <a:r>
              <a:rPr lang="es-PE" sz="2400" dirty="0">
                <a:latin typeface="Arial Narrow" panose="020B0606020202030204" pitchFamily="34" charset="0"/>
              </a:rPr>
              <a:t>.:	 </a:t>
            </a:r>
            <a:r>
              <a:rPr lang="es-ES" sz="2400" dirty="0">
                <a:latin typeface="Arial Narrow" panose="020B0606020202030204" pitchFamily="34" charset="0"/>
              </a:rPr>
              <a:t>-1</a:t>
            </a:r>
            <a:r>
              <a:rPr lang="es-PE" sz="2400" dirty="0" err="1">
                <a:latin typeface="Arial Narrow" panose="020B0606020202030204" pitchFamily="34" charset="0"/>
              </a:rPr>
              <a:t>X1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r>
              <a:rPr lang="es-PE" sz="2400" dirty="0" err="1">
                <a:latin typeface="Arial Narrow" panose="020B0606020202030204" pitchFamily="34" charset="0"/>
              </a:rPr>
              <a:t>X2</a:t>
            </a:r>
            <a:r>
              <a:rPr lang="es-PE" sz="2400" dirty="0">
                <a:latin typeface="Arial Narrow" panose="020B0606020202030204" pitchFamily="34" charset="0"/>
              </a:rPr>
              <a:t>		m =</a:t>
            </a:r>
            <a:r>
              <a:rPr lang="el-GR" sz="2400" dirty="0">
                <a:latin typeface="Arial Narrow" panose="020B0606020202030204" pitchFamily="34" charset="0"/>
              </a:rPr>
              <a:t> </a:t>
            </a:r>
            <a:r>
              <a:rPr lang="es-ES" sz="2400" dirty="0">
                <a:latin typeface="Arial Narrow" panose="020B0606020202030204" pitchFamily="34" charset="0"/>
              </a:rPr>
              <a:t>1</a:t>
            </a:r>
            <a:r>
              <a:rPr lang="es-PE" sz="2400" dirty="0">
                <a:latin typeface="Arial Narrow" panose="020B0606020202030204" pitchFamily="34" charset="0"/>
              </a:rPr>
              <a:t>/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endParaRPr lang="es-PE" sz="2400" dirty="0"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De la restricción II)         -</a:t>
            </a:r>
            <a:r>
              <a:rPr lang="es-PE" sz="2400" dirty="0" err="1">
                <a:latin typeface="Arial Narrow" panose="020B0606020202030204" pitchFamily="34" charset="0"/>
              </a:rPr>
              <a:t>2X1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s-PE" sz="2400" dirty="0" err="1">
                <a:latin typeface="Arial Narrow" panose="020B0606020202030204" pitchFamily="34" charset="0"/>
              </a:rPr>
              <a:t>3X2</a:t>
            </a:r>
            <a:r>
              <a:rPr lang="es-PE" sz="2400" dirty="0">
                <a:latin typeface="Arial Narrow" panose="020B0606020202030204" pitchFamily="34" charset="0"/>
              </a:rPr>
              <a:t> = 6		m =  2/3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Igualando					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 1,5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885030" y="5657686"/>
            <a:ext cx="93551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Interpretación:**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El coeficiente de X2 puede variar desde 1,5 hasta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∞ </a:t>
            </a:r>
            <a:r>
              <a:rPr lang="es-PE" sz="2400" dirty="0">
                <a:latin typeface="Arial Narrow" panose="020B0606020202030204" pitchFamily="34" charset="0"/>
              </a:rPr>
              <a:t>inclusive sin modificar su solución óptima. </a:t>
            </a: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1CC8EA72-B081-4AD0-8530-A6246C63E2F6}"/>
              </a:ext>
            </a:extLst>
          </p:cNvPr>
          <p:cNvSpPr/>
          <p:nvPr/>
        </p:nvSpPr>
        <p:spPr>
          <a:xfrm>
            <a:off x="6096000" y="0"/>
            <a:ext cx="6096000" cy="102654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Análisis de sensibilidad de los coeficientes de la </a:t>
            </a:r>
            <a:r>
              <a:rPr lang="es-PE" sz="28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.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944F351-2C07-4999-8089-C421C40B7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0188" y="3405188"/>
          <a:ext cx="8286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1640" imgH="419040" progId="">
                  <p:embed/>
                </p:oleObj>
              </mc:Choice>
              <mc:Fallback>
                <p:oleObj r:id="rId2" imgW="431640" imgH="419040" progId="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E944F351-2C07-4999-8089-C421C40B7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20188" y="3405188"/>
                        <a:ext cx="828675" cy="804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3 Rectángulo">
            <a:extLst>
              <a:ext uri="{FF2B5EF4-FFF2-40B4-BE49-F238E27FC236}">
                <a16:creationId xmlns:a16="http://schemas.microsoft.com/office/drawing/2014/main" id="{00657A76-4D3F-4DC1-AC7E-77FA1DF478C3}"/>
              </a:ext>
            </a:extLst>
          </p:cNvPr>
          <p:cNvSpPr/>
          <p:nvPr/>
        </p:nvSpPr>
        <p:spPr>
          <a:xfrm>
            <a:off x="1631504" y="1251507"/>
            <a:ext cx="3816424" cy="175432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Maximizar	-</a:t>
            </a:r>
            <a:r>
              <a:rPr lang="es-PE" dirty="0" err="1"/>
              <a:t>X1</a:t>
            </a:r>
            <a:r>
              <a:rPr lang="es-PE" dirty="0"/>
              <a:t> + </a:t>
            </a:r>
            <a:r>
              <a:rPr lang="es-PE" dirty="0" err="1"/>
              <a:t>2X2</a:t>
            </a:r>
            <a:endParaRPr lang="es-PE" dirty="0"/>
          </a:p>
          <a:p>
            <a:r>
              <a:rPr lang="es-PE" dirty="0"/>
              <a:t>Dependiendo de</a:t>
            </a:r>
          </a:p>
          <a:p>
            <a:r>
              <a:rPr lang="es-PE" dirty="0"/>
              <a:t>		  </a:t>
            </a:r>
            <a:r>
              <a:rPr lang="es-PE" dirty="0" err="1"/>
              <a:t>6X1</a:t>
            </a:r>
            <a:r>
              <a:rPr lang="es-PE" dirty="0"/>
              <a:t> – </a:t>
            </a:r>
            <a:r>
              <a:rPr lang="es-PE" dirty="0" err="1"/>
              <a:t>2X2</a:t>
            </a:r>
            <a:r>
              <a:rPr lang="es-PE" dirty="0"/>
              <a:t>   ≤ 3</a:t>
            </a:r>
          </a:p>
          <a:p>
            <a:r>
              <a:rPr lang="es-PE" dirty="0"/>
              <a:t>		-</a:t>
            </a:r>
            <a:r>
              <a:rPr lang="es-PE" dirty="0" err="1"/>
              <a:t>2X1</a:t>
            </a:r>
            <a:r>
              <a:rPr lang="es-PE" dirty="0"/>
              <a:t> + </a:t>
            </a:r>
            <a:r>
              <a:rPr lang="es-PE" dirty="0" err="1"/>
              <a:t>3X2</a:t>
            </a:r>
            <a:r>
              <a:rPr lang="es-PE" dirty="0"/>
              <a:t>    ≤ 6</a:t>
            </a:r>
          </a:p>
          <a:p>
            <a:r>
              <a:rPr lang="es-PE" dirty="0"/>
              <a:t>		   </a:t>
            </a:r>
            <a:r>
              <a:rPr lang="es-PE" dirty="0" err="1"/>
              <a:t>X1</a:t>
            </a:r>
            <a:r>
              <a:rPr lang="es-PE" dirty="0"/>
              <a:t> +</a:t>
            </a:r>
            <a:r>
              <a:rPr lang="es-PE" dirty="0" err="1"/>
              <a:t>X2</a:t>
            </a:r>
            <a:r>
              <a:rPr lang="es-PE" dirty="0"/>
              <a:t>	      ≤ 3</a:t>
            </a:r>
          </a:p>
          <a:p>
            <a:r>
              <a:rPr lang="es-PE" dirty="0"/>
              <a:t>		   </a:t>
            </a:r>
            <a:r>
              <a:rPr lang="es-PE" dirty="0" err="1"/>
              <a:t>X1</a:t>
            </a:r>
            <a:r>
              <a:rPr lang="es-PE" dirty="0"/>
              <a:t>,  </a:t>
            </a:r>
            <a:r>
              <a:rPr lang="es-PE" dirty="0" err="1"/>
              <a:t>X2</a:t>
            </a:r>
            <a:r>
              <a:rPr lang="es-PE" dirty="0"/>
              <a:t>	      ≥ 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E5AB0F-48EF-4B6C-A55A-247A9A5C16E4}"/>
              </a:ext>
            </a:extLst>
          </p:cNvPr>
          <p:cNvSpPr/>
          <p:nvPr/>
        </p:nvSpPr>
        <p:spPr>
          <a:xfrm>
            <a:off x="1943818" y="4492780"/>
            <a:ext cx="70276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dirty="0">
                <a:latin typeface="Arial Narrow" panose="020B0606020202030204" pitchFamily="34" charset="0"/>
              </a:rPr>
              <a:t>La pendiente de la </a:t>
            </a:r>
            <a:r>
              <a:rPr lang="es-PE" sz="2400" dirty="0" err="1">
                <a:latin typeface="Arial Narrow" panose="020B0606020202030204" pitchFamily="34" charset="0"/>
              </a:rPr>
              <a:t>F.O</a:t>
            </a:r>
            <a:r>
              <a:rPr lang="es-PE" sz="2400" dirty="0">
                <a:latin typeface="Arial Narrow" panose="020B0606020202030204" pitchFamily="34" charset="0"/>
              </a:rPr>
              <a:t>.:	</a:t>
            </a:r>
            <a:r>
              <a:rPr lang="el-GR" sz="2400" dirty="0">
                <a:latin typeface="Arial Narrow" panose="020B0606020202030204" pitchFamily="34" charset="0"/>
              </a:rPr>
              <a:t> </a:t>
            </a:r>
            <a:r>
              <a:rPr lang="es-PE" sz="2400" dirty="0">
                <a:latin typeface="Arial Narrow" panose="020B0606020202030204" pitchFamily="34" charset="0"/>
              </a:rPr>
              <a:t> </a:t>
            </a:r>
            <a:r>
              <a:rPr lang="es-ES" sz="2400" dirty="0">
                <a:latin typeface="Arial Narrow" panose="020B0606020202030204" pitchFamily="34" charset="0"/>
              </a:rPr>
              <a:t>-1</a:t>
            </a:r>
            <a:r>
              <a:rPr lang="es-PE" sz="2400" dirty="0" err="1">
                <a:latin typeface="Arial Narrow" panose="020B0606020202030204" pitchFamily="34" charset="0"/>
              </a:rPr>
              <a:t>X1</a:t>
            </a:r>
            <a:r>
              <a:rPr lang="es-PE" sz="2400" dirty="0">
                <a:latin typeface="Arial Narrow" panose="020B0606020202030204" pitchFamily="34" charset="0"/>
              </a:rPr>
              <a:t> +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r>
              <a:rPr lang="es-PE" sz="2400" dirty="0" err="1">
                <a:latin typeface="Arial Narrow" panose="020B0606020202030204" pitchFamily="34" charset="0"/>
              </a:rPr>
              <a:t>X2</a:t>
            </a:r>
            <a:r>
              <a:rPr lang="es-PE" sz="2400" dirty="0">
                <a:latin typeface="Arial Narrow" panose="020B0606020202030204" pitchFamily="34" charset="0"/>
              </a:rPr>
              <a:t>		m =</a:t>
            </a:r>
            <a:r>
              <a:rPr lang="el-GR" sz="2400" dirty="0">
                <a:latin typeface="Arial Narrow" panose="020B0606020202030204" pitchFamily="34" charset="0"/>
              </a:rPr>
              <a:t> </a:t>
            </a:r>
            <a:r>
              <a:rPr lang="es-ES" sz="2400" dirty="0">
                <a:latin typeface="Arial Narrow" panose="020B0606020202030204" pitchFamily="34" charset="0"/>
              </a:rPr>
              <a:t>1</a:t>
            </a:r>
            <a:r>
              <a:rPr lang="es-PE" sz="2400" dirty="0">
                <a:latin typeface="Arial Narrow" panose="020B0606020202030204" pitchFamily="34" charset="0"/>
              </a:rPr>
              <a:t>/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endParaRPr lang="es-PE" sz="2400" dirty="0">
              <a:latin typeface="Arial Narrow" panose="020B0606020202030204" pitchFamily="34" charset="0"/>
            </a:endParaRPr>
          </a:p>
          <a:p>
            <a:r>
              <a:rPr lang="es-PE" sz="2400" dirty="0">
                <a:latin typeface="Arial Narrow" panose="020B0606020202030204" pitchFamily="34" charset="0"/>
              </a:rPr>
              <a:t>De la restricción III)	     X1 + X2  = 3		m = 0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Igualando					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l-GR" sz="2400" dirty="0">
                <a:latin typeface="Arial Narrow" panose="020B0606020202030204" pitchFamily="34" charset="0"/>
              </a:rPr>
              <a:t>β</a:t>
            </a:r>
            <a:r>
              <a:rPr lang="el-GR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= ∞</a:t>
            </a:r>
          </a:p>
          <a:p>
            <a:r>
              <a:rPr lang="es-PE" sz="2400" dirty="0">
                <a:latin typeface="Arial Narrow" panose="020B0606020202030204" pitchFamily="34" charset="0"/>
              </a:rPr>
              <a:t> 						</a:t>
            </a:r>
            <a:r>
              <a:rPr lang="es-PE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[1,5 , ∞]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56165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108062" y="1474951"/>
            <a:ext cx="56703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OBJECTIVE FUNCTION VALUE</a:t>
            </a:r>
          </a:p>
          <a:p>
            <a:endParaRPr lang="en-US" dirty="0"/>
          </a:p>
          <a:p>
            <a:r>
              <a:rPr lang="en-US" dirty="0"/>
              <a:t>        1)      4.200000</a:t>
            </a:r>
          </a:p>
          <a:p>
            <a:endParaRPr lang="en-US" dirty="0"/>
          </a:p>
          <a:p>
            <a:r>
              <a:rPr lang="en-US" dirty="0"/>
              <a:t>  VARIABLE        VALUE          REDUCED COST</a:t>
            </a:r>
          </a:p>
          <a:p>
            <a:r>
              <a:rPr lang="en-US" dirty="0"/>
              <a:t>        </a:t>
            </a:r>
            <a:r>
              <a:rPr lang="en-US" dirty="0" err="1"/>
              <a:t>X1</a:t>
            </a:r>
            <a:r>
              <a:rPr lang="en-US" dirty="0"/>
              <a:t>         0.600000          0.000000</a:t>
            </a:r>
          </a:p>
          <a:p>
            <a:r>
              <a:rPr lang="en-US" dirty="0"/>
              <a:t>        </a:t>
            </a:r>
            <a:r>
              <a:rPr lang="en-US" dirty="0" err="1"/>
              <a:t>X2</a:t>
            </a:r>
            <a:r>
              <a:rPr lang="en-US" dirty="0"/>
              <a:t>         2.400000          0.000000</a:t>
            </a:r>
          </a:p>
          <a:p>
            <a:r>
              <a:rPr lang="en-US" dirty="0"/>
              <a:t>       ROW   SLACK OR SURPLUS     DUAL PRICES</a:t>
            </a:r>
          </a:p>
          <a:p>
            <a:r>
              <a:rPr lang="en-US" dirty="0"/>
              <a:t>        2)         4.200000          0.000000</a:t>
            </a:r>
          </a:p>
          <a:p>
            <a:r>
              <a:rPr lang="en-US" dirty="0"/>
              <a:t>        3)         0.000000          0.600000</a:t>
            </a:r>
          </a:p>
          <a:p>
            <a:r>
              <a:rPr lang="en-US" dirty="0"/>
              <a:t>        4)         0.000000          0.200000 NO. ITERATIONS=       1</a:t>
            </a:r>
          </a:p>
          <a:p>
            <a:r>
              <a:rPr lang="en-US" dirty="0"/>
              <a:t> RANGES IN WHICH THE BASIS IS UNCHANGED:</a:t>
            </a:r>
          </a:p>
          <a:p>
            <a:r>
              <a:rPr lang="en-US" dirty="0"/>
              <a:t>                           </a:t>
            </a:r>
            <a:r>
              <a:rPr lang="en-US" dirty="0" err="1"/>
              <a:t>OBJ</a:t>
            </a:r>
            <a:r>
              <a:rPr lang="en-US" dirty="0"/>
              <a:t> COEFFICIENT RANGES</a:t>
            </a:r>
          </a:p>
          <a:p>
            <a:r>
              <a:rPr lang="en-US" dirty="0"/>
              <a:t> VARIABLE         CURRENT        ALLOWABLE        ALLOWABLE</a:t>
            </a:r>
          </a:p>
          <a:p>
            <a:r>
              <a:rPr lang="en-US" dirty="0"/>
              <a:t>                              </a:t>
            </a:r>
            <a:r>
              <a:rPr lang="en-US" dirty="0" err="1"/>
              <a:t>COEF</a:t>
            </a:r>
            <a:r>
              <a:rPr lang="en-US" dirty="0"/>
              <a:t>          INCREASE         DECREASE</a:t>
            </a:r>
          </a:p>
          <a:p>
            <a:r>
              <a:rPr lang="en-US" dirty="0"/>
              <a:t>       </a:t>
            </a:r>
            <a:r>
              <a:rPr lang="en-US" dirty="0" err="1"/>
              <a:t>X1</a:t>
            </a:r>
            <a:r>
              <a:rPr lang="en-US" dirty="0"/>
              <a:t>              -1.000000         3.000000         0.333333</a:t>
            </a:r>
          </a:p>
          <a:p>
            <a:r>
              <a:rPr lang="en-US" dirty="0"/>
              <a:t>       </a:t>
            </a:r>
            <a:r>
              <a:rPr lang="en-US" dirty="0" err="1"/>
              <a:t>X2</a:t>
            </a:r>
            <a:r>
              <a:rPr lang="en-US" dirty="0"/>
              <a:t>                2.000000         INFINITY         0.500000</a:t>
            </a:r>
            <a:endParaRPr lang="es-PE" dirty="0"/>
          </a:p>
        </p:txBody>
      </p:sp>
      <p:sp>
        <p:nvSpPr>
          <p:cNvPr id="3" name="2 Rectángulo"/>
          <p:cNvSpPr/>
          <p:nvPr/>
        </p:nvSpPr>
        <p:spPr>
          <a:xfrm>
            <a:off x="1703512" y="1556793"/>
            <a:ext cx="3024336" cy="470898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/>
              <a:t>Max	-</a:t>
            </a:r>
            <a:r>
              <a:rPr lang="en-US" dirty="0" err="1"/>
              <a:t>X1</a:t>
            </a:r>
            <a:r>
              <a:rPr lang="en-US" dirty="0"/>
              <a:t> + </a:t>
            </a:r>
            <a:r>
              <a:rPr lang="en-US" dirty="0" err="1"/>
              <a:t>2X2</a:t>
            </a:r>
            <a:endParaRPr lang="en-US" dirty="0"/>
          </a:p>
          <a:p>
            <a:r>
              <a:rPr lang="en-US" dirty="0"/>
              <a:t>ST</a:t>
            </a:r>
          </a:p>
          <a:p>
            <a:r>
              <a:rPr lang="en-US" dirty="0" err="1"/>
              <a:t>6X1</a:t>
            </a:r>
            <a:r>
              <a:rPr lang="en-US" dirty="0"/>
              <a:t> - </a:t>
            </a:r>
            <a:r>
              <a:rPr lang="en-US" dirty="0" err="1"/>
              <a:t>2X2</a:t>
            </a:r>
            <a:r>
              <a:rPr lang="en-US" dirty="0"/>
              <a:t>     &lt;= 3</a:t>
            </a:r>
          </a:p>
          <a:p>
            <a:r>
              <a:rPr lang="en-US" dirty="0"/>
              <a:t>-</a:t>
            </a:r>
            <a:r>
              <a:rPr lang="en-US" dirty="0" err="1"/>
              <a:t>2X1</a:t>
            </a:r>
            <a:r>
              <a:rPr lang="en-US" dirty="0"/>
              <a:t> + </a:t>
            </a:r>
            <a:r>
              <a:rPr lang="en-US" dirty="0" err="1"/>
              <a:t>3X2</a:t>
            </a:r>
            <a:r>
              <a:rPr lang="en-US" dirty="0"/>
              <a:t>   &lt;= 6</a:t>
            </a:r>
          </a:p>
          <a:p>
            <a:r>
              <a:rPr lang="en-US" dirty="0"/>
              <a:t>    </a:t>
            </a:r>
            <a:r>
              <a:rPr lang="en-US" dirty="0" err="1"/>
              <a:t>X1</a:t>
            </a:r>
            <a:r>
              <a:rPr lang="en-US" dirty="0"/>
              <a:t> +</a:t>
            </a:r>
            <a:r>
              <a:rPr lang="en-US" dirty="0" err="1"/>
              <a:t>X2</a:t>
            </a:r>
            <a:r>
              <a:rPr lang="en-US" dirty="0"/>
              <a:t>     &lt;= 3</a:t>
            </a:r>
          </a:p>
          <a:p>
            <a:pPr lvl="0"/>
            <a:r>
              <a:rPr lang="es-ES" dirty="0">
                <a:solidFill>
                  <a:srgbClr val="FF0000"/>
                </a:solidFill>
              </a:rPr>
              <a:t>SOLUCIÓN</a:t>
            </a:r>
          </a:p>
          <a:p>
            <a:pPr lvl="0"/>
            <a:r>
              <a:rPr lang="es-ES" dirty="0"/>
              <a:t>Análisis de sensibilidad de los coeficientes de la </a:t>
            </a:r>
            <a:r>
              <a:rPr lang="es-ES" dirty="0" err="1"/>
              <a:t>F.O</a:t>
            </a:r>
            <a:r>
              <a:rPr lang="es-ES" dirty="0"/>
              <a:t>.</a:t>
            </a:r>
          </a:p>
          <a:p>
            <a:r>
              <a:rPr lang="es-PE" sz="2400" dirty="0">
                <a:solidFill>
                  <a:srgbClr val="FF0000"/>
                </a:solidFill>
                <a:latin typeface="Arial Narrow" pitchFamily="34" charset="0"/>
              </a:rPr>
              <a:t>-1,3333 ≤ </a:t>
            </a:r>
            <a:r>
              <a:rPr lang="el-GR" sz="2400" dirty="0">
                <a:latin typeface="Arial Narrow" pitchFamily="34" charset="0"/>
              </a:rPr>
              <a:t>α</a:t>
            </a:r>
            <a:r>
              <a:rPr lang="es-PE" sz="2400" dirty="0">
                <a:solidFill>
                  <a:srgbClr val="FF0000"/>
                </a:solidFill>
                <a:latin typeface="Arial Narrow" pitchFamily="34" charset="0"/>
              </a:rPr>
              <a:t> ≤ 2</a:t>
            </a:r>
          </a:p>
          <a:p>
            <a:r>
              <a:rPr lang="es-PE" sz="2400" dirty="0">
                <a:solidFill>
                  <a:srgbClr val="FF0000"/>
                </a:solidFill>
                <a:latin typeface="Arial Narrow" pitchFamily="34" charset="0"/>
              </a:rPr>
              <a:t>1,5 ≤ </a:t>
            </a:r>
            <a:r>
              <a:rPr lang="el-GR" sz="2400" dirty="0">
                <a:latin typeface="Arial Narrow" pitchFamily="34" charset="0"/>
              </a:rPr>
              <a:t>β</a:t>
            </a:r>
            <a:r>
              <a:rPr lang="es-PE" sz="2400" dirty="0">
                <a:solidFill>
                  <a:srgbClr val="FF0000"/>
                </a:solidFill>
                <a:latin typeface="Arial Narrow" pitchFamily="34" charset="0"/>
              </a:rPr>
              <a:t> ≤∞</a:t>
            </a:r>
          </a:p>
          <a:p>
            <a:r>
              <a:rPr lang="es-ES" dirty="0"/>
              <a:t>Análisis de sensibilidad del lado derecho</a:t>
            </a:r>
          </a:p>
          <a:p>
            <a:r>
              <a:rPr lang="es-ES" dirty="0"/>
              <a:t>m=0          (Restricción 1)</a:t>
            </a:r>
          </a:p>
          <a:p>
            <a:r>
              <a:rPr lang="es-ES" dirty="0"/>
              <a:t>m=0, 6      (Restricción 2)</a:t>
            </a:r>
          </a:p>
          <a:p>
            <a:r>
              <a:rPr lang="es-ES" dirty="0"/>
              <a:t>m=0 ,2      (Restricción 3)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0662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574026"/>
              </p:ext>
            </p:extLst>
          </p:nvPr>
        </p:nvGraphicFramePr>
        <p:xfrm>
          <a:off x="1703511" y="1268761"/>
          <a:ext cx="9286541" cy="5157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stomShape 2"/>
          <p:cNvSpPr/>
          <p:nvPr/>
        </p:nvSpPr>
        <p:spPr>
          <a:xfrm>
            <a:off x="6096000" y="236129"/>
            <a:ext cx="6093727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3</a:t>
            </a:r>
          </a:p>
        </p:txBody>
      </p:sp>
    </p:spTree>
    <p:extLst>
      <p:ext uri="{BB962C8B-B14F-4D97-AF65-F5344CB8AC3E}">
        <p14:creationId xmlns:p14="http://schemas.microsoft.com/office/powerpoint/2010/main" val="2341135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70AC7BC0-0B51-4DAE-83E4-E022EB01C6C0}"/>
              </a:ext>
            </a:extLst>
          </p:cNvPr>
          <p:cNvSpPr/>
          <p:nvPr/>
        </p:nvSpPr>
        <p:spPr>
          <a:xfrm>
            <a:off x="6096000" y="24467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Modelo matemático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6A9E9ED-A781-4944-8205-62C258BDAC40}"/>
              </a:ext>
            </a:extLst>
          </p:cNvPr>
          <p:cNvSpPr txBox="1"/>
          <p:nvPr/>
        </p:nvSpPr>
        <p:spPr>
          <a:xfrm>
            <a:off x="6340424" y="1378729"/>
            <a:ext cx="5055070" cy="49616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000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MODELO </a:t>
            </a:r>
            <a:r>
              <a:rPr lang="es-PE" sz="2000" kern="1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MATEMATICO</a:t>
            </a:r>
            <a:endParaRPr lang="es-PE" sz="2000" kern="12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000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variables</a:t>
            </a:r>
          </a:p>
          <a:p>
            <a:pPr lvl="0"/>
            <a:r>
              <a:rPr lang="es-ES_tradnl" sz="2000" dirty="0" err="1">
                <a:solidFill>
                  <a:schemeClr val="tx1"/>
                </a:solidFill>
              </a:rPr>
              <a:t>X1</a:t>
            </a:r>
            <a:r>
              <a:rPr lang="es-ES_tradnl" sz="2000" dirty="0">
                <a:solidFill>
                  <a:schemeClr val="tx1"/>
                </a:solidFill>
              </a:rPr>
              <a:t> = cantidad de docenas de </a:t>
            </a:r>
            <a:r>
              <a:rPr lang="es-ES_tradnl" sz="2000" dirty="0" err="1">
                <a:solidFill>
                  <a:schemeClr val="tx1"/>
                </a:solidFill>
              </a:rPr>
              <a:t>space</a:t>
            </a:r>
            <a:r>
              <a:rPr lang="es-ES_tradnl" sz="2000" dirty="0">
                <a:solidFill>
                  <a:schemeClr val="tx1"/>
                </a:solidFill>
              </a:rPr>
              <a:t> </a:t>
            </a:r>
            <a:r>
              <a:rPr lang="es-ES_tradnl" sz="2000" dirty="0" err="1">
                <a:solidFill>
                  <a:schemeClr val="tx1"/>
                </a:solidFill>
              </a:rPr>
              <a:t>rays</a:t>
            </a:r>
            <a:r>
              <a:rPr lang="es-ES_tradnl" sz="2000" dirty="0">
                <a:solidFill>
                  <a:schemeClr val="tx1"/>
                </a:solidFill>
              </a:rPr>
              <a:t> producidas en  la semana.</a:t>
            </a:r>
            <a:endParaRPr lang="es-ES" sz="2000" dirty="0">
              <a:solidFill>
                <a:schemeClr val="tx1"/>
              </a:solidFill>
            </a:endParaRPr>
          </a:p>
          <a:p>
            <a:pPr lvl="0"/>
            <a:r>
              <a:rPr lang="es-ES_tradnl" sz="2000" dirty="0" err="1">
                <a:solidFill>
                  <a:schemeClr val="tx1"/>
                </a:solidFill>
              </a:rPr>
              <a:t>X2</a:t>
            </a:r>
            <a:r>
              <a:rPr lang="es-ES_tradnl" sz="2000" dirty="0">
                <a:solidFill>
                  <a:schemeClr val="tx1"/>
                </a:solidFill>
              </a:rPr>
              <a:t> = cantidad de docenas  de </a:t>
            </a:r>
            <a:r>
              <a:rPr lang="es-ES_tradnl" sz="2000" dirty="0" err="1">
                <a:solidFill>
                  <a:schemeClr val="tx1"/>
                </a:solidFill>
              </a:rPr>
              <a:t>zappers</a:t>
            </a:r>
            <a:r>
              <a:rPr lang="es-ES_tradnl" sz="2000" dirty="0">
                <a:solidFill>
                  <a:schemeClr val="tx1"/>
                </a:solidFill>
              </a:rPr>
              <a:t> producidas en  la semana.</a:t>
            </a:r>
            <a:endParaRPr lang="es-ES" sz="2000" dirty="0">
              <a:solidFill>
                <a:schemeClr val="tx1"/>
              </a:solidFill>
            </a:endParaRPr>
          </a:p>
          <a:p>
            <a:pPr marL="0" lvl="0" indent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PE" sz="2000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 </a:t>
            </a:r>
            <a:r>
              <a:rPr lang="es-PE" sz="2000" kern="1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F.O</a:t>
            </a:r>
            <a:r>
              <a:rPr lang="es-PE" sz="2000" kern="1200" dirty="0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</a:p>
          <a:p>
            <a:r>
              <a:rPr lang="es-ES_tradnl" sz="2000" dirty="0">
                <a:solidFill>
                  <a:schemeClr val="tx1"/>
                </a:solidFill>
              </a:rPr>
              <a:t>Max </a:t>
            </a:r>
            <a:r>
              <a:rPr lang="es-ES_tradnl" sz="2000" dirty="0" err="1">
                <a:solidFill>
                  <a:schemeClr val="tx1"/>
                </a:solidFill>
              </a:rPr>
              <a:t>8X1</a:t>
            </a:r>
            <a:r>
              <a:rPr lang="es-ES_tradnl" sz="2000" dirty="0">
                <a:solidFill>
                  <a:schemeClr val="tx1"/>
                </a:solidFill>
              </a:rPr>
              <a:t> + </a:t>
            </a:r>
            <a:r>
              <a:rPr lang="es-ES_tradnl" sz="2000" dirty="0" err="1">
                <a:solidFill>
                  <a:schemeClr val="tx1"/>
                </a:solidFill>
              </a:rPr>
              <a:t>5X2</a:t>
            </a:r>
            <a:r>
              <a:rPr lang="es-ES_tradnl" sz="2000" dirty="0">
                <a:solidFill>
                  <a:schemeClr val="tx1"/>
                </a:solidFill>
              </a:rPr>
              <a:t>         (ganancia semanal)</a:t>
            </a:r>
            <a:endParaRPr lang="es-ES" sz="2000" dirty="0">
              <a:solidFill>
                <a:schemeClr val="tx1"/>
              </a:solidFill>
            </a:endParaRPr>
          </a:p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PE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restricciones</a:t>
            </a:r>
          </a:p>
          <a:p>
            <a:pPr lvl="0"/>
            <a:r>
              <a:rPr lang="es-ES_tradnl" sz="2000" dirty="0" err="1">
                <a:solidFill>
                  <a:schemeClr val="tx1"/>
                </a:solidFill>
              </a:rPr>
              <a:t>2X1</a:t>
            </a:r>
            <a:r>
              <a:rPr lang="es-ES_tradnl" sz="2000" dirty="0">
                <a:solidFill>
                  <a:schemeClr val="tx1"/>
                </a:solidFill>
              </a:rPr>
              <a:t> + </a:t>
            </a:r>
            <a:r>
              <a:rPr lang="es-ES_tradnl" sz="2000" dirty="0" err="1">
                <a:solidFill>
                  <a:schemeClr val="tx1"/>
                </a:solidFill>
              </a:rPr>
              <a:t>1X2</a:t>
            </a:r>
            <a:r>
              <a:rPr lang="es-ES_tradnl" sz="2000" dirty="0">
                <a:solidFill>
                  <a:schemeClr val="tx1"/>
                </a:solidFill>
              </a:rPr>
              <a:t> &lt;= 1200  (cantidad de plástico)</a:t>
            </a:r>
            <a:endParaRPr lang="es-ES" sz="2000" dirty="0">
              <a:solidFill>
                <a:schemeClr val="tx1"/>
              </a:solidFill>
            </a:endParaRPr>
          </a:p>
          <a:p>
            <a:pPr lvl="0"/>
            <a:r>
              <a:rPr lang="es-ES_tradnl" sz="2000" dirty="0" err="1">
                <a:solidFill>
                  <a:schemeClr val="tx1"/>
                </a:solidFill>
              </a:rPr>
              <a:t>3X1</a:t>
            </a:r>
            <a:r>
              <a:rPr lang="es-ES_tradnl" sz="2000" dirty="0">
                <a:solidFill>
                  <a:schemeClr val="tx1"/>
                </a:solidFill>
              </a:rPr>
              <a:t> + </a:t>
            </a:r>
            <a:r>
              <a:rPr lang="es-ES_tradnl" sz="2000" dirty="0" err="1">
                <a:solidFill>
                  <a:schemeClr val="tx1"/>
                </a:solidFill>
              </a:rPr>
              <a:t>4X2</a:t>
            </a:r>
            <a:r>
              <a:rPr lang="es-ES_tradnl" sz="2000" dirty="0">
                <a:solidFill>
                  <a:schemeClr val="tx1"/>
                </a:solidFill>
              </a:rPr>
              <a:t> &lt;= 2400  (tiempo de producción)</a:t>
            </a:r>
            <a:endParaRPr lang="es-ES" sz="2000" dirty="0">
              <a:solidFill>
                <a:schemeClr val="tx1"/>
              </a:solidFill>
            </a:endParaRPr>
          </a:p>
          <a:p>
            <a:pPr lvl="0"/>
            <a:r>
              <a:rPr lang="es-ES_tradnl" sz="2000" dirty="0" err="1">
                <a:solidFill>
                  <a:schemeClr val="tx1"/>
                </a:solidFill>
              </a:rPr>
              <a:t>X1</a:t>
            </a:r>
            <a:r>
              <a:rPr lang="es-ES_tradnl" sz="2000" dirty="0">
                <a:solidFill>
                  <a:schemeClr val="tx1"/>
                </a:solidFill>
              </a:rPr>
              <a:t>  +  </a:t>
            </a:r>
            <a:r>
              <a:rPr lang="es-ES_tradnl" sz="2000" dirty="0" err="1">
                <a:solidFill>
                  <a:schemeClr val="tx1"/>
                </a:solidFill>
              </a:rPr>
              <a:t>X2</a:t>
            </a:r>
            <a:r>
              <a:rPr lang="es-ES_tradnl" sz="2000" dirty="0">
                <a:solidFill>
                  <a:schemeClr val="tx1"/>
                </a:solidFill>
              </a:rPr>
              <a:t>  &lt;=  800     (limite producción total)</a:t>
            </a:r>
            <a:endParaRPr lang="es-ES" sz="2000" dirty="0">
              <a:solidFill>
                <a:schemeClr val="tx1"/>
              </a:solidFill>
            </a:endParaRPr>
          </a:p>
          <a:p>
            <a:pPr lvl="0"/>
            <a:r>
              <a:rPr lang="es-ES_tradnl" sz="2000" dirty="0" err="1">
                <a:solidFill>
                  <a:schemeClr val="tx1"/>
                </a:solidFill>
              </a:rPr>
              <a:t>X1</a:t>
            </a:r>
            <a:r>
              <a:rPr lang="es-ES_tradnl" sz="2000" dirty="0">
                <a:solidFill>
                  <a:schemeClr val="tx1"/>
                </a:solidFill>
              </a:rPr>
              <a:t>   -  </a:t>
            </a:r>
            <a:r>
              <a:rPr lang="es-ES_tradnl" sz="2000" dirty="0" err="1">
                <a:solidFill>
                  <a:schemeClr val="tx1"/>
                </a:solidFill>
              </a:rPr>
              <a:t>X2</a:t>
            </a:r>
            <a:r>
              <a:rPr lang="es-ES_tradnl" sz="2000" dirty="0">
                <a:solidFill>
                  <a:schemeClr val="tx1"/>
                </a:solidFill>
              </a:rPr>
              <a:t>  &lt;=  450     (producción en exceso)</a:t>
            </a:r>
            <a:endParaRPr lang="es-ES" sz="2000" dirty="0">
              <a:solidFill>
                <a:schemeClr val="tx1"/>
              </a:solidFill>
            </a:endParaRPr>
          </a:p>
          <a:p>
            <a:pPr lvl="0"/>
            <a:r>
              <a:rPr lang="es-ES_tradnl" sz="2000" dirty="0">
                <a:solidFill>
                  <a:schemeClr val="tx1"/>
                </a:solidFill>
              </a:rPr>
              <a:t>Xi  &gt;= 0   , </a:t>
            </a:r>
            <a:r>
              <a:rPr lang="es-ES_tradnl" sz="2000" dirty="0">
                <a:solidFill>
                  <a:srgbClr val="FF0000"/>
                </a:solidFill>
              </a:rPr>
              <a:t>Entero</a:t>
            </a:r>
            <a:r>
              <a:rPr lang="es-ES_tradnl" sz="2000" dirty="0">
                <a:solidFill>
                  <a:schemeClr val="tx1"/>
                </a:solidFill>
              </a:rPr>
              <a:t>	 (resultados positivos)</a:t>
            </a:r>
            <a:endParaRPr lang="es-ES" sz="2000" dirty="0">
              <a:solidFill>
                <a:schemeClr val="tx1"/>
              </a:solidFill>
            </a:endParaRPr>
          </a:p>
        </p:txBody>
      </p:sp>
      <p:graphicFrame>
        <p:nvGraphicFramePr>
          <p:cNvPr id="7" name="7 Tabla">
            <a:extLst>
              <a:ext uri="{FF2B5EF4-FFF2-40B4-BE49-F238E27FC236}">
                <a16:creationId xmlns:a16="http://schemas.microsoft.com/office/drawing/2014/main" id="{62CF2403-C206-4897-8A03-8B8646439164}"/>
              </a:ext>
            </a:extLst>
          </p:cNvPr>
          <p:cNvGraphicFramePr>
            <a:graphicFrameLocks noGrp="1"/>
          </p:cNvGraphicFramePr>
          <p:nvPr/>
        </p:nvGraphicFramePr>
        <p:xfrm>
          <a:off x="321031" y="1394706"/>
          <a:ext cx="5507564" cy="203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6636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TIPO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Plástico</a:t>
                      </a:r>
                    </a:p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 (libras/docena)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Producción</a:t>
                      </a:r>
                    </a:p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(min./docena)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Utilidad</a:t>
                      </a:r>
                    </a:p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$/docena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lvl="0"/>
                      <a:r>
                        <a:rPr lang="es-ES_tradnl" sz="2000" dirty="0" err="1">
                          <a:latin typeface="Arial Narrow" panose="020B0606020202030204" pitchFamily="34" charset="0"/>
                        </a:rPr>
                        <a:t>Space</a:t>
                      </a:r>
                      <a:r>
                        <a:rPr lang="es-ES_tradnl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s-ES_tradnl" sz="2000" dirty="0" err="1">
                          <a:latin typeface="Arial Narrow" panose="020B0606020202030204" pitchFamily="34" charset="0"/>
                        </a:rPr>
                        <a:t>Ray</a:t>
                      </a:r>
                      <a:endParaRPr lang="es-ES" sz="2000" dirty="0">
                        <a:latin typeface="Arial Narrow" panose="020B060602020203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pPr lvl="0"/>
                      <a:r>
                        <a:rPr lang="es-ES_tradnl" sz="2000" dirty="0" err="1">
                          <a:latin typeface="Arial Narrow" panose="020B0606020202030204" pitchFamily="34" charset="0"/>
                        </a:rPr>
                        <a:t>Zapper</a:t>
                      </a:r>
                      <a:endParaRPr lang="es-ES" sz="2000" dirty="0">
                        <a:latin typeface="Arial Narrow" panose="020B060602020203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75">
                <a:tc>
                  <a:txBody>
                    <a:bodyPr/>
                    <a:lstStyle/>
                    <a:p>
                      <a:r>
                        <a:rPr lang="es-ES" sz="2000" b="0" dirty="0">
                          <a:latin typeface="Arial Narrow" panose="020B0606020202030204" pitchFamily="34" charset="0"/>
                        </a:rPr>
                        <a:t>Recursos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1200 Libras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C00000"/>
                          </a:solidFill>
                          <a:latin typeface="Arial Narrow" panose="020B0606020202030204" pitchFamily="34" charset="0"/>
                        </a:rPr>
                        <a:t>40 horas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s-ES" sz="2000" b="0" dirty="0">
                        <a:latin typeface="Arial Narrow" panose="020B0606020202030204" pitchFamily="34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3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6275512" y="1340769"/>
            <a:ext cx="45678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OBJECTIVE FUNCTION VALUE</a:t>
            </a:r>
          </a:p>
          <a:p>
            <a:r>
              <a:rPr lang="en-US" dirty="0">
                <a:solidFill>
                  <a:srgbClr val="FF0000"/>
                </a:solidFill>
              </a:rPr>
              <a:t>        1)      5040.000</a:t>
            </a:r>
          </a:p>
          <a:p>
            <a:r>
              <a:rPr lang="en-US" dirty="0">
                <a:solidFill>
                  <a:srgbClr val="FF0000"/>
                </a:solidFill>
              </a:rPr>
              <a:t>  VARIABLE        VALUE          REDUCED COST</a:t>
            </a:r>
          </a:p>
          <a:p>
            <a:r>
              <a:rPr lang="en-US" dirty="0">
                <a:solidFill>
                  <a:srgbClr val="FF0000"/>
                </a:solidFill>
              </a:rPr>
              <a:t>        </a:t>
            </a:r>
            <a:r>
              <a:rPr lang="en-US" dirty="0" err="1">
                <a:solidFill>
                  <a:srgbClr val="FF0000"/>
                </a:solidFill>
              </a:rPr>
              <a:t>X1</a:t>
            </a:r>
            <a:r>
              <a:rPr lang="en-US" dirty="0">
                <a:solidFill>
                  <a:srgbClr val="FF0000"/>
                </a:solidFill>
              </a:rPr>
              <a:t>       480.000000         -8.000000</a:t>
            </a:r>
          </a:p>
          <a:p>
            <a:r>
              <a:rPr lang="en-US" dirty="0">
                <a:solidFill>
                  <a:srgbClr val="FF0000"/>
                </a:solidFill>
              </a:rPr>
              <a:t>        </a:t>
            </a:r>
            <a:r>
              <a:rPr lang="en-US" dirty="0" err="1">
                <a:solidFill>
                  <a:srgbClr val="FF0000"/>
                </a:solidFill>
              </a:rPr>
              <a:t>X2</a:t>
            </a:r>
            <a:r>
              <a:rPr lang="en-US" dirty="0">
                <a:solidFill>
                  <a:srgbClr val="FF0000"/>
                </a:solidFill>
              </a:rPr>
              <a:t>       240.000000         -5.000000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    ROW   SLACK OR SURPLUS     DUAL PRICES</a:t>
            </a:r>
          </a:p>
          <a:p>
            <a:r>
              <a:rPr lang="en-US" dirty="0">
                <a:solidFill>
                  <a:srgbClr val="FF0000"/>
                </a:solidFill>
              </a:rPr>
              <a:t>        2)         0.000000          0.000000</a:t>
            </a:r>
          </a:p>
          <a:p>
            <a:r>
              <a:rPr lang="en-US" dirty="0">
                <a:solidFill>
                  <a:srgbClr val="FF0000"/>
                </a:solidFill>
              </a:rPr>
              <a:t>        3)         0.000000          0.000000</a:t>
            </a:r>
          </a:p>
          <a:p>
            <a:r>
              <a:rPr lang="en-US" dirty="0">
                <a:solidFill>
                  <a:srgbClr val="FF0000"/>
                </a:solidFill>
              </a:rPr>
              <a:t>        4)        80.000000          0.000000</a:t>
            </a:r>
          </a:p>
          <a:p>
            <a:r>
              <a:rPr lang="en-US" dirty="0">
                <a:solidFill>
                  <a:srgbClr val="FF0000"/>
                </a:solidFill>
              </a:rPr>
              <a:t>        5)       210.000000          0.000000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NO. ITERATIONS=       2</a:t>
            </a:r>
          </a:p>
          <a:p>
            <a:r>
              <a:rPr lang="en-US" dirty="0">
                <a:solidFill>
                  <a:srgbClr val="FF0000"/>
                </a:solidFill>
              </a:rPr>
              <a:t> BRANCHES=    0 </a:t>
            </a:r>
            <a:r>
              <a:rPr lang="en-US" dirty="0" err="1">
                <a:solidFill>
                  <a:srgbClr val="FF0000"/>
                </a:solidFill>
              </a:rPr>
              <a:t>DETERM</a:t>
            </a:r>
            <a:r>
              <a:rPr lang="en-US" dirty="0">
                <a:solidFill>
                  <a:srgbClr val="FF0000"/>
                </a:solidFill>
              </a:rPr>
              <a:t>.=  </a:t>
            </a:r>
            <a:r>
              <a:rPr lang="en-US" dirty="0" err="1">
                <a:solidFill>
                  <a:srgbClr val="FF0000"/>
                </a:solidFill>
              </a:rPr>
              <a:t>1.000E</a:t>
            </a:r>
            <a:r>
              <a:rPr lang="en-US" dirty="0">
                <a:solidFill>
                  <a:srgbClr val="FF0000"/>
                </a:solidFill>
              </a:rPr>
              <a:t>    0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65164" y="1484785"/>
            <a:ext cx="2152489" cy="378885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s-PE" dirty="0"/>
              <a:t>Max </a:t>
            </a:r>
            <a:r>
              <a:rPr lang="es-PE" dirty="0" err="1"/>
              <a:t>8x1</a:t>
            </a:r>
            <a:r>
              <a:rPr lang="es-PE" dirty="0"/>
              <a:t> + </a:t>
            </a:r>
            <a:r>
              <a:rPr lang="es-PE" dirty="0" err="1"/>
              <a:t>5x2</a:t>
            </a:r>
            <a:r>
              <a:rPr lang="es-PE" dirty="0"/>
              <a:t>        </a:t>
            </a:r>
          </a:p>
          <a:p>
            <a:pPr lvl="0">
              <a:lnSpc>
                <a:spcPct val="150000"/>
              </a:lnSpc>
            </a:pPr>
            <a:r>
              <a:rPr lang="es-PE" dirty="0" err="1"/>
              <a:t>SUBJECT</a:t>
            </a:r>
            <a:r>
              <a:rPr lang="es-PE" dirty="0"/>
              <a:t> </a:t>
            </a:r>
            <a:r>
              <a:rPr lang="es-PE" dirty="0" err="1"/>
              <a:t>TO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dirty="0" err="1"/>
              <a:t>2X1</a:t>
            </a:r>
            <a:r>
              <a:rPr lang="es-PE" dirty="0"/>
              <a:t> + </a:t>
            </a:r>
            <a:r>
              <a:rPr lang="es-PE" dirty="0" err="1"/>
              <a:t>1X2</a:t>
            </a:r>
            <a:r>
              <a:rPr lang="es-PE" dirty="0"/>
              <a:t> &lt;= 1200 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3X1</a:t>
            </a:r>
            <a:r>
              <a:rPr lang="es-PE" dirty="0"/>
              <a:t> + </a:t>
            </a:r>
            <a:r>
              <a:rPr lang="es-PE" dirty="0" err="1"/>
              <a:t>4X2</a:t>
            </a:r>
            <a:r>
              <a:rPr lang="es-PE" dirty="0"/>
              <a:t> &lt;= 2400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X1</a:t>
            </a:r>
            <a:r>
              <a:rPr lang="es-PE" dirty="0"/>
              <a:t>  +  </a:t>
            </a:r>
            <a:r>
              <a:rPr lang="es-PE" dirty="0" err="1"/>
              <a:t>X2</a:t>
            </a:r>
            <a:r>
              <a:rPr lang="es-PE" dirty="0"/>
              <a:t>  &lt;=  800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X1</a:t>
            </a:r>
            <a:r>
              <a:rPr lang="es-PE" dirty="0"/>
              <a:t>  -  </a:t>
            </a:r>
            <a:r>
              <a:rPr lang="es-PE" dirty="0" err="1"/>
              <a:t>X2</a:t>
            </a:r>
            <a:r>
              <a:rPr lang="es-PE" dirty="0"/>
              <a:t>   &lt;=  450 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END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dirty="0" err="1"/>
              <a:t>GIN</a:t>
            </a:r>
            <a:r>
              <a:rPr lang="es-PE" dirty="0"/>
              <a:t> </a:t>
            </a:r>
            <a:r>
              <a:rPr lang="es-PE" dirty="0" err="1"/>
              <a:t>X1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dirty="0" err="1"/>
              <a:t>GIN</a:t>
            </a:r>
            <a:r>
              <a:rPr lang="es-PE" dirty="0"/>
              <a:t> </a:t>
            </a:r>
            <a:r>
              <a:rPr lang="es-PE" dirty="0" err="1"/>
              <a:t>X2</a:t>
            </a:r>
            <a:endParaRPr lang="es-PE" dirty="0"/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D0557EE-FAE9-4535-9779-4BC484A7F8BC}"/>
              </a:ext>
            </a:extLst>
          </p:cNvPr>
          <p:cNvSpPr/>
          <p:nvPr/>
        </p:nvSpPr>
        <p:spPr>
          <a:xfrm>
            <a:off x="6096000" y="24467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Lindo</a:t>
            </a:r>
          </a:p>
        </p:txBody>
      </p:sp>
    </p:spTree>
    <p:extLst>
      <p:ext uri="{BB962C8B-B14F-4D97-AF65-F5344CB8AC3E}">
        <p14:creationId xmlns:p14="http://schemas.microsoft.com/office/powerpoint/2010/main" val="3374004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CustomShape 1"/>
          <p:cNvSpPr/>
          <p:nvPr/>
        </p:nvSpPr>
        <p:spPr>
          <a:xfrm>
            <a:off x="2339625" y="1545189"/>
            <a:ext cx="6730200" cy="447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53" name="Line 2"/>
          <p:cNvSpPr/>
          <p:nvPr/>
        </p:nvSpPr>
        <p:spPr>
          <a:xfrm>
            <a:off x="2915625" y="1937229"/>
            <a:ext cx="282600" cy="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54" name="Line 3"/>
          <p:cNvSpPr/>
          <p:nvPr/>
        </p:nvSpPr>
        <p:spPr>
          <a:xfrm flipV="1">
            <a:off x="5633265" y="5556669"/>
            <a:ext cx="0" cy="21096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55" name="CustomShape 4"/>
          <p:cNvSpPr/>
          <p:nvPr/>
        </p:nvSpPr>
        <p:spPr>
          <a:xfrm>
            <a:off x="2298944" y="1773789"/>
            <a:ext cx="6729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 dirty="0">
                <a:solidFill>
                  <a:srgbClr val="FF0000"/>
                </a:solidFill>
                <a:latin typeface="Arial"/>
                <a:ea typeface="DejaVu Sans"/>
              </a:rPr>
              <a:t>1200</a:t>
            </a:r>
            <a:endParaRPr lang="es-PE" sz="1700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56" name="CustomShape 5"/>
          <p:cNvSpPr/>
          <p:nvPr/>
        </p:nvSpPr>
        <p:spPr>
          <a:xfrm>
            <a:off x="5253825" y="5745669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600</a:t>
            </a:r>
            <a:endParaRPr lang="es-PE" sz="1700" spc="-1">
              <a:latin typeface="Arial"/>
            </a:endParaRPr>
          </a:p>
        </p:txBody>
      </p:sp>
      <p:sp>
        <p:nvSpPr>
          <p:cNvPr id="960" name="CustomShape 9"/>
          <p:cNvSpPr/>
          <p:nvPr/>
        </p:nvSpPr>
        <p:spPr>
          <a:xfrm>
            <a:off x="3229905" y="1969477"/>
            <a:ext cx="2458718" cy="3634351"/>
          </a:xfrm>
          <a:prstGeom prst="rtTriangle">
            <a:avLst/>
          </a:prstGeom>
          <a:solidFill>
            <a:srgbClr val="FFC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61" name="CustomShape 10"/>
          <p:cNvSpPr/>
          <p:nvPr/>
        </p:nvSpPr>
        <p:spPr>
          <a:xfrm>
            <a:off x="3299154" y="4564773"/>
            <a:ext cx="1295976" cy="95483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2800" b="1" spc="-1" dirty="0">
                <a:solidFill>
                  <a:srgbClr val="334635"/>
                </a:solidFill>
                <a:latin typeface="Arial Narrow"/>
                <a:ea typeface="DejaVu Sans"/>
              </a:rPr>
              <a:t>Región</a:t>
            </a:r>
          </a:p>
          <a:p>
            <a:pPr>
              <a:lnSpc>
                <a:spcPct val="100000"/>
              </a:lnSpc>
            </a:pPr>
            <a:r>
              <a:rPr lang="es-PE" sz="2800" b="1" spc="-1" dirty="0">
                <a:solidFill>
                  <a:srgbClr val="334635"/>
                </a:solidFill>
                <a:latin typeface="Arial Narrow"/>
                <a:ea typeface="DejaVu Sans"/>
              </a:rPr>
              <a:t>Factible</a:t>
            </a:r>
            <a:endParaRPr lang="es-PE" sz="2800" spc="-1" dirty="0">
              <a:latin typeface="Arial"/>
            </a:endParaRPr>
          </a:p>
        </p:txBody>
      </p:sp>
      <p:grpSp>
        <p:nvGrpSpPr>
          <p:cNvPr id="962" name="Group 11"/>
          <p:cNvGrpSpPr/>
          <p:nvPr/>
        </p:nvGrpSpPr>
        <p:grpSpPr>
          <a:xfrm>
            <a:off x="3622430" y="1346040"/>
            <a:ext cx="18206290" cy="11210760"/>
            <a:chOff x="2098430" y="1346040"/>
            <a:chExt cx="18206290" cy="11210760"/>
          </a:xfrm>
        </p:grpSpPr>
        <p:grpSp>
          <p:nvGrpSpPr>
            <p:cNvPr id="963" name="Group 12"/>
            <p:cNvGrpSpPr/>
            <p:nvPr/>
          </p:nvGrpSpPr>
          <p:grpSpPr>
            <a:xfrm>
              <a:off x="3677400" y="1346040"/>
              <a:ext cx="16627320" cy="11210760"/>
              <a:chOff x="3677400" y="1346040"/>
              <a:chExt cx="16627320" cy="11210760"/>
            </a:xfrm>
          </p:grpSpPr>
          <p:sp>
            <p:nvSpPr>
              <p:cNvPr id="965" name="CustomShape 14"/>
              <p:cNvSpPr/>
              <p:nvPr/>
            </p:nvSpPr>
            <p:spPr>
              <a:xfrm rot="10800000" flipH="1" flipV="1">
                <a:off x="14174280" y="8778600"/>
                <a:ext cx="6130440" cy="3778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8894" y="21600"/>
                    </a:lnTo>
                    <a:lnTo>
                      <a:pt x="1270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4B82B5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s-PE"/>
              </a:p>
            </p:txBody>
          </p:sp>
          <p:grpSp>
            <p:nvGrpSpPr>
              <p:cNvPr id="967" name="Group 16"/>
              <p:cNvGrpSpPr/>
              <p:nvPr/>
            </p:nvGrpSpPr>
            <p:grpSpPr>
              <a:xfrm>
                <a:off x="3677400" y="1346040"/>
                <a:ext cx="4213440" cy="370059"/>
                <a:chOff x="3677400" y="1346040"/>
                <a:chExt cx="4213440" cy="370059"/>
              </a:xfrm>
            </p:grpSpPr>
            <p:sp>
              <p:nvSpPr>
                <p:cNvPr id="968" name="CustomShape 17"/>
                <p:cNvSpPr/>
                <p:nvPr/>
              </p:nvSpPr>
              <p:spPr>
                <a:xfrm>
                  <a:off x="3677400" y="1363320"/>
                  <a:ext cx="3886200" cy="338040"/>
                </a:xfrm>
                <a:prstGeom prst="rect">
                  <a:avLst/>
                </a:prstGeom>
                <a:solidFill>
                  <a:srgbClr val="4B82B5"/>
                </a:solidFill>
                <a:ln w="936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s-PE"/>
                </a:p>
              </p:txBody>
            </p:sp>
            <p:sp>
              <p:nvSpPr>
                <p:cNvPr id="969" name="CustomShape 18"/>
                <p:cNvSpPr/>
                <p:nvPr/>
              </p:nvSpPr>
              <p:spPr>
                <a:xfrm>
                  <a:off x="3677400" y="1346040"/>
                  <a:ext cx="4213440" cy="370059"/>
                </a:xfrm>
                <a:prstGeom prst="rect">
                  <a:avLst/>
                </a:prstGeom>
                <a:solidFill>
                  <a:schemeClr val="bg1"/>
                </a:solidFill>
                <a:ln w="936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2160" tIns="46080" rIns="92160" bIns="46080">
                  <a:spAutoFit/>
                </a:bodyPr>
                <a:lstStyle/>
                <a:p>
                  <a:r>
                    <a:rPr lang="es-PE" b="1" spc="-1" dirty="0">
                      <a:solidFill>
                        <a:schemeClr val="accent1">
                          <a:lumMod val="75000"/>
                        </a:schemeClr>
                      </a:solidFill>
                      <a:latin typeface="Arial Narrow"/>
                      <a:ea typeface="DejaVu Sans"/>
                    </a:rPr>
                    <a:t>Restricción del plástico: </a:t>
                  </a:r>
                  <a:r>
                    <a:rPr lang="es-PE" b="1" spc="-1" dirty="0" err="1">
                      <a:solidFill>
                        <a:schemeClr val="accent1">
                          <a:lumMod val="75000"/>
                        </a:schemeClr>
                      </a:solidFill>
                      <a:latin typeface="Arial Narrow"/>
                      <a:ea typeface="DejaVu Sans"/>
                    </a:rPr>
                    <a:t>2X1+X2</a:t>
                  </a:r>
                  <a:r>
                    <a:rPr lang="es-PE" b="1" spc="-1" dirty="0">
                      <a:solidFill>
                        <a:schemeClr val="accent1">
                          <a:lumMod val="75000"/>
                        </a:schemeClr>
                      </a:solidFill>
                      <a:latin typeface="Arial Narrow"/>
                      <a:ea typeface="DejaVu Sans"/>
                    </a:rPr>
                    <a:t>&lt;=1200</a:t>
                  </a:r>
                </a:p>
              </p:txBody>
            </p:sp>
          </p:grpSp>
        </p:grpSp>
        <p:sp>
          <p:nvSpPr>
            <p:cNvPr id="970" name="Line 19"/>
            <p:cNvSpPr/>
            <p:nvPr/>
          </p:nvSpPr>
          <p:spPr>
            <a:xfrm flipH="1">
              <a:off x="2098430" y="1538654"/>
              <a:ext cx="1652954" cy="931984"/>
            </a:xfrm>
            <a:prstGeom prst="line">
              <a:avLst/>
            </a:prstGeom>
            <a:ln w="12600">
              <a:solidFill>
                <a:schemeClr val="tx1"/>
              </a:solidFill>
              <a:round/>
              <a:tailEnd type="stealth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971" name="CustomShape 20"/>
          <p:cNvSpPr/>
          <p:nvPr/>
        </p:nvSpPr>
        <p:spPr>
          <a:xfrm>
            <a:off x="3248265" y="1286349"/>
            <a:ext cx="453566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X2</a:t>
            </a:r>
            <a:endParaRPr lang="es-PE" sz="1700" spc="-1">
              <a:latin typeface="Arial"/>
            </a:endParaRPr>
          </a:p>
        </p:txBody>
      </p:sp>
      <p:sp>
        <p:nvSpPr>
          <p:cNvPr id="973" name="CustomShape 22"/>
          <p:cNvSpPr/>
          <p:nvPr/>
        </p:nvSpPr>
        <p:spPr>
          <a:xfrm>
            <a:off x="3201465" y="4887069"/>
            <a:ext cx="1999440" cy="68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4" name="CustomShape 23"/>
          <p:cNvSpPr/>
          <p:nvPr/>
        </p:nvSpPr>
        <p:spPr>
          <a:xfrm>
            <a:off x="5196945" y="4937829"/>
            <a:ext cx="403920" cy="640800"/>
          </a:xfrm>
          <a:prstGeom prst="rtTriangle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6" name="CustomShape 25"/>
          <p:cNvSpPr/>
          <p:nvPr/>
        </p:nvSpPr>
        <p:spPr>
          <a:xfrm>
            <a:off x="1540786" y="4788430"/>
            <a:ext cx="1615935" cy="92405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 dirty="0">
                <a:latin typeface="Arial Narrow"/>
                <a:ea typeface="DejaVu Sans"/>
              </a:rPr>
              <a:t>Horas de</a:t>
            </a:r>
            <a:endParaRPr lang="es-P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PE" b="1" spc="-1" dirty="0">
                <a:latin typeface="Arial Narrow"/>
                <a:ea typeface="DejaVu Sans"/>
              </a:rPr>
              <a:t>Producción</a:t>
            </a:r>
            <a:endParaRPr lang="es-P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PE" b="1" spc="-1" dirty="0" err="1">
                <a:latin typeface="Arial Narrow"/>
                <a:ea typeface="DejaVu Sans"/>
              </a:rPr>
              <a:t>3X1+4X2</a:t>
            </a:r>
            <a:r>
              <a:rPr lang="es-PE" b="1" spc="-1" dirty="0">
                <a:latin typeface="Arial Narrow"/>
                <a:ea typeface="DejaVu Sans"/>
              </a:rPr>
              <a:t>&lt;=2400</a:t>
            </a:r>
            <a:endParaRPr lang="es-PE" spc="-1" dirty="0">
              <a:latin typeface="Arial"/>
            </a:endParaRPr>
          </a:p>
        </p:txBody>
      </p:sp>
      <p:sp>
        <p:nvSpPr>
          <p:cNvPr id="978" name="Line 27"/>
          <p:cNvSpPr/>
          <p:nvPr/>
        </p:nvSpPr>
        <p:spPr>
          <a:xfrm>
            <a:off x="2915625" y="3780429"/>
            <a:ext cx="282600" cy="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9" name="CustomShape 28"/>
          <p:cNvSpPr/>
          <p:nvPr/>
        </p:nvSpPr>
        <p:spPr>
          <a:xfrm>
            <a:off x="3085430" y="1828800"/>
            <a:ext cx="2102032" cy="2951031"/>
          </a:xfrm>
          <a:custGeom>
            <a:avLst/>
            <a:gdLst/>
            <a:ahLst/>
            <a:cxnLst/>
            <a:rect l="l" t="t" r="r" b="b"/>
            <a:pathLst>
              <a:path w="1201" h="1782">
                <a:moveTo>
                  <a:pt x="25" y="0"/>
                </a:moveTo>
                <a:lnTo>
                  <a:pt x="1200" y="1781"/>
                </a:lnTo>
                <a:lnTo>
                  <a:pt x="0" y="1149"/>
                </a:lnTo>
                <a:lnTo>
                  <a:pt x="25" y="0"/>
                </a:lnTo>
              </a:path>
            </a:pathLst>
          </a:custGeom>
          <a:solidFill>
            <a:schemeClr val="bg1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0" name="Line 29"/>
          <p:cNvSpPr/>
          <p:nvPr/>
        </p:nvSpPr>
        <p:spPr>
          <a:xfrm>
            <a:off x="3198225" y="3211989"/>
            <a:ext cx="3309840" cy="2327040"/>
          </a:xfrm>
          <a:prstGeom prst="line">
            <a:avLst/>
          </a:prstGeom>
          <a:ln w="254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1" name="Line 30"/>
          <p:cNvSpPr/>
          <p:nvPr/>
        </p:nvSpPr>
        <p:spPr>
          <a:xfrm>
            <a:off x="3217305" y="1310109"/>
            <a:ext cx="0" cy="4245120"/>
          </a:xfrm>
          <a:prstGeom prst="line">
            <a:avLst/>
          </a:prstGeom>
          <a:ln w="76320">
            <a:solidFill>
              <a:schemeClr val="accent2"/>
            </a:solidFill>
            <a:round/>
            <a:head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2" name="CustomShape 31"/>
          <p:cNvSpPr/>
          <p:nvPr/>
        </p:nvSpPr>
        <p:spPr>
          <a:xfrm>
            <a:off x="4902465" y="2662990"/>
            <a:ext cx="5143072" cy="3700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 dirty="0">
                <a:solidFill>
                  <a:srgbClr val="00B050"/>
                </a:solidFill>
                <a:latin typeface="Arial Narrow"/>
                <a:ea typeface="DejaVu Sans"/>
              </a:rPr>
              <a:t> Restricción del total de producción:  </a:t>
            </a:r>
            <a:r>
              <a:rPr lang="es-PE" b="1" spc="-1" dirty="0" err="1">
                <a:solidFill>
                  <a:srgbClr val="00B050"/>
                </a:solidFill>
                <a:latin typeface="Arial Narrow"/>
                <a:ea typeface="DejaVu Sans"/>
              </a:rPr>
              <a:t>X1+X2</a:t>
            </a:r>
            <a:r>
              <a:rPr lang="es-PE" b="1" spc="-1" dirty="0">
                <a:solidFill>
                  <a:srgbClr val="00B050"/>
                </a:solidFill>
                <a:latin typeface="Arial Narrow"/>
                <a:ea typeface="DejaVu Sans"/>
              </a:rPr>
              <a:t>&lt;=800</a:t>
            </a:r>
            <a:endParaRPr lang="es-PE" spc="-1" dirty="0">
              <a:solidFill>
                <a:srgbClr val="00B050"/>
              </a:solidFill>
              <a:latin typeface="Arial"/>
            </a:endParaRPr>
          </a:p>
        </p:txBody>
      </p:sp>
      <p:sp>
        <p:nvSpPr>
          <p:cNvPr id="983" name="Line 32"/>
          <p:cNvSpPr/>
          <p:nvPr/>
        </p:nvSpPr>
        <p:spPr>
          <a:xfrm flipV="1">
            <a:off x="3701562" y="2859272"/>
            <a:ext cx="1321780" cy="684027"/>
          </a:xfrm>
          <a:prstGeom prst="line">
            <a:avLst/>
          </a:prstGeom>
          <a:ln w="12600">
            <a:solidFill>
              <a:srgbClr val="000000"/>
            </a:solidFill>
            <a:round/>
            <a:head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4" name="Line 33"/>
          <p:cNvSpPr/>
          <p:nvPr/>
        </p:nvSpPr>
        <p:spPr>
          <a:xfrm>
            <a:off x="6546225" y="5574309"/>
            <a:ext cx="0" cy="21240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5" name="CustomShape 34"/>
          <p:cNvSpPr/>
          <p:nvPr/>
        </p:nvSpPr>
        <p:spPr>
          <a:xfrm>
            <a:off x="2437545" y="3613749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 dirty="0">
                <a:solidFill>
                  <a:srgbClr val="FF0000"/>
                </a:solidFill>
                <a:latin typeface="Arial"/>
                <a:ea typeface="DejaVu Sans"/>
              </a:rPr>
              <a:t>600</a:t>
            </a:r>
            <a:endParaRPr lang="es-PE" sz="1700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86" name="CustomShape 35"/>
          <p:cNvSpPr/>
          <p:nvPr/>
        </p:nvSpPr>
        <p:spPr>
          <a:xfrm>
            <a:off x="6166425" y="5761509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800</a:t>
            </a:r>
            <a:endParaRPr lang="es-PE" sz="1700" spc="-1">
              <a:latin typeface="Arial"/>
            </a:endParaRPr>
          </a:p>
        </p:txBody>
      </p:sp>
      <p:sp>
        <p:nvSpPr>
          <p:cNvPr id="996" name="CustomShape 45"/>
          <p:cNvSpPr/>
          <p:nvPr/>
        </p:nvSpPr>
        <p:spPr>
          <a:xfrm>
            <a:off x="3746145" y="5123589"/>
            <a:ext cx="62640" cy="62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99" name="CustomShape 48"/>
          <p:cNvSpPr/>
          <p:nvPr/>
        </p:nvSpPr>
        <p:spPr>
          <a:xfrm>
            <a:off x="5139705" y="5331309"/>
            <a:ext cx="62640" cy="62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2" name="CustomShape 51"/>
          <p:cNvSpPr/>
          <p:nvPr/>
        </p:nvSpPr>
        <p:spPr>
          <a:xfrm>
            <a:off x="5338425" y="5217189"/>
            <a:ext cx="62640" cy="62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3" name="CustomShape 52"/>
          <p:cNvSpPr/>
          <p:nvPr/>
        </p:nvSpPr>
        <p:spPr>
          <a:xfrm>
            <a:off x="9115905" y="5629749"/>
            <a:ext cx="453566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X1</a:t>
            </a:r>
            <a:endParaRPr lang="es-PE" sz="1700" spc="-1">
              <a:latin typeface="Arial"/>
            </a:endParaRPr>
          </a:p>
        </p:txBody>
      </p:sp>
      <p:grpSp>
        <p:nvGrpSpPr>
          <p:cNvPr id="52" name="Group 36"/>
          <p:cNvGrpSpPr/>
          <p:nvPr/>
        </p:nvGrpSpPr>
        <p:grpSpPr>
          <a:xfrm>
            <a:off x="4902105" y="3773229"/>
            <a:ext cx="5143432" cy="1830599"/>
            <a:chOff x="3705120" y="3268440"/>
            <a:chExt cx="5143432" cy="1774080"/>
          </a:xfrm>
        </p:grpSpPr>
        <p:sp>
          <p:nvSpPr>
            <p:cNvPr id="54" name="CustomShape 38"/>
            <p:cNvSpPr/>
            <p:nvPr/>
          </p:nvSpPr>
          <p:spPr>
            <a:xfrm>
              <a:off x="3776759" y="4690133"/>
              <a:ext cx="670917" cy="352387"/>
            </a:xfrm>
            <a:custGeom>
              <a:avLst/>
              <a:gdLst/>
              <a:ahLst/>
              <a:cxnLst/>
              <a:rect l="l" t="t" r="r" b="b"/>
              <a:pathLst>
                <a:path w="410" h="186">
                  <a:moveTo>
                    <a:pt x="281" y="0"/>
                  </a:moveTo>
                  <a:lnTo>
                    <a:pt x="409" y="185"/>
                  </a:lnTo>
                  <a:lnTo>
                    <a:pt x="0" y="167"/>
                  </a:lnTo>
                  <a:lnTo>
                    <a:pt x="281" y="0"/>
                  </a:lnTo>
                </a:path>
              </a:pathLst>
            </a:custGeom>
            <a:solidFill>
              <a:schemeClr val="bg1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PE"/>
            </a:p>
          </p:txBody>
        </p:sp>
        <p:sp>
          <p:nvSpPr>
            <p:cNvPr id="55" name="CustomShape 39"/>
            <p:cNvSpPr/>
            <p:nvPr/>
          </p:nvSpPr>
          <p:spPr>
            <a:xfrm>
              <a:off x="5977080" y="3770280"/>
              <a:ext cx="2871472" cy="647058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2160" tIns="46080" rIns="92160" bIns="4608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PE" b="1" spc="-1" dirty="0">
                  <a:solidFill>
                    <a:srgbClr val="00B0F0"/>
                  </a:solidFill>
                  <a:latin typeface="Arial Narrow"/>
                  <a:ea typeface="DejaVu Sans"/>
                </a:rPr>
                <a:t>Restricción del exceso de producción: </a:t>
              </a:r>
              <a:r>
                <a:rPr lang="es-PE" b="1" spc="-1" dirty="0" err="1">
                  <a:solidFill>
                    <a:srgbClr val="00B0F0"/>
                  </a:solidFill>
                  <a:latin typeface="Arial Narrow"/>
                  <a:ea typeface="DejaVu Sans"/>
                </a:rPr>
                <a:t>X1-X2</a:t>
              </a:r>
              <a:r>
                <a:rPr lang="es-PE" b="1" spc="-1" dirty="0">
                  <a:solidFill>
                    <a:srgbClr val="00B0F0"/>
                  </a:solidFill>
                  <a:latin typeface="Arial Narrow"/>
                  <a:ea typeface="DejaVu Sans"/>
                </a:rPr>
                <a:t>&lt;=450</a:t>
              </a:r>
              <a:endParaRPr lang="es-PE" spc="-1" dirty="0">
                <a:solidFill>
                  <a:srgbClr val="00B0F0"/>
                </a:solidFill>
                <a:latin typeface="Arial"/>
              </a:endParaRPr>
            </a:p>
          </p:txBody>
        </p:sp>
        <p:sp>
          <p:nvSpPr>
            <p:cNvPr id="53" name="Line 37"/>
            <p:cNvSpPr/>
            <p:nvPr/>
          </p:nvSpPr>
          <p:spPr>
            <a:xfrm flipV="1">
              <a:off x="3705120" y="3268440"/>
              <a:ext cx="2976480" cy="1752480"/>
            </a:xfrm>
            <a:prstGeom prst="line">
              <a:avLst/>
            </a:prstGeom>
            <a:ln w="25400">
              <a:solidFill>
                <a:srgbClr val="00B0F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56" name="CustomShape 34"/>
          <p:cNvSpPr/>
          <p:nvPr/>
        </p:nvSpPr>
        <p:spPr>
          <a:xfrm>
            <a:off x="2459383" y="3009773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 dirty="0">
                <a:solidFill>
                  <a:srgbClr val="FF0000"/>
                </a:solidFill>
                <a:latin typeface="Arial"/>
                <a:ea typeface="DejaVu Sans"/>
              </a:rPr>
              <a:t>800</a:t>
            </a:r>
            <a:endParaRPr lang="es-PE" sz="1700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75" name="Line 24"/>
          <p:cNvSpPr/>
          <p:nvPr/>
        </p:nvSpPr>
        <p:spPr>
          <a:xfrm>
            <a:off x="3177345" y="3764437"/>
            <a:ext cx="3356280" cy="1774080"/>
          </a:xfrm>
          <a:prstGeom prst="line">
            <a:avLst/>
          </a:prstGeom>
          <a:ln w="254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92" name="Line 41"/>
          <p:cNvSpPr/>
          <p:nvPr/>
        </p:nvSpPr>
        <p:spPr>
          <a:xfrm>
            <a:off x="3198225" y="1872069"/>
            <a:ext cx="2469960" cy="3714840"/>
          </a:xfrm>
          <a:prstGeom prst="line">
            <a:avLst/>
          </a:prstGeom>
          <a:ln w="25400">
            <a:solidFill>
              <a:srgbClr val="0033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91" name="Line 40"/>
          <p:cNvSpPr/>
          <p:nvPr/>
        </p:nvSpPr>
        <p:spPr>
          <a:xfrm>
            <a:off x="3177345" y="5578989"/>
            <a:ext cx="5896080" cy="0"/>
          </a:xfrm>
          <a:prstGeom prst="line">
            <a:avLst/>
          </a:prstGeom>
          <a:ln w="76320">
            <a:solidFill>
              <a:schemeClr val="accent2"/>
            </a:solidFill>
            <a:round/>
            <a:tail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cxnSp>
        <p:nvCxnSpPr>
          <p:cNvPr id="3" name="2 Conector recto"/>
          <p:cNvCxnSpPr/>
          <p:nvPr/>
        </p:nvCxnSpPr>
        <p:spPr>
          <a:xfrm>
            <a:off x="3010603" y="2908869"/>
            <a:ext cx="3379742" cy="3729536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2978445" y="3415061"/>
            <a:ext cx="3379742" cy="3729536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2988753" y="2450445"/>
            <a:ext cx="3379742" cy="3729536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stomShape 2">
            <a:extLst>
              <a:ext uri="{FF2B5EF4-FFF2-40B4-BE49-F238E27FC236}">
                <a16:creationId xmlns:a16="http://schemas.microsoft.com/office/drawing/2014/main" id="{70E3C6F8-ECE8-4CDD-B1CB-11812493589E}"/>
              </a:ext>
            </a:extLst>
          </p:cNvPr>
          <p:cNvSpPr/>
          <p:nvPr/>
        </p:nvSpPr>
        <p:spPr>
          <a:xfrm>
            <a:off x="6096000" y="24467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Solución gráfica</a:t>
            </a:r>
          </a:p>
        </p:txBody>
      </p:sp>
      <p:sp>
        <p:nvSpPr>
          <p:cNvPr id="977" name="Line 26"/>
          <p:cNvSpPr/>
          <p:nvPr/>
        </p:nvSpPr>
        <p:spPr>
          <a:xfrm flipV="1">
            <a:off x="2445824" y="3991708"/>
            <a:ext cx="1141437" cy="744161"/>
          </a:xfrm>
          <a:prstGeom prst="line">
            <a:avLst/>
          </a:prstGeom>
          <a:ln w="12600">
            <a:solidFill>
              <a:srgbClr val="333300"/>
            </a:solidFill>
            <a:round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47" name="4 Rectángulo">
            <a:extLst>
              <a:ext uri="{FF2B5EF4-FFF2-40B4-BE49-F238E27FC236}">
                <a16:creationId xmlns:a16="http://schemas.microsoft.com/office/drawing/2014/main" id="{E04FAA03-8461-4F4E-A438-28AD2EBEFA81}"/>
              </a:ext>
            </a:extLst>
          </p:cNvPr>
          <p:cNvSpPr/>
          <p:nvPr/>
        </p:nvSpPr>
        <p:spPr>
          <a:xfrm>
            <a:off x="9954187" y="1308939"/>
            <a:ext cx="2152489" cy="378885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s-PE" dirty="0"/>
              <a:t>Max </a:t>
            </a:r>
            <a:r>
              <a:rPr lang="es-PE" dirty="0" err="1"/>
              <a:t>8x1</a:t>
            </a:r>
            <a:r>
              <a:rPr lang="es-PE" dirty="0"/>
              <a:t> + </a:t>
            </a:r>
            <a:r>
              <a:rPr lang="es-PE" dirty="0" err="1"/>
              <a:t>5x2</a:t>
            </a:r>
            <a:r>
              <a:rPr lang="es-PE" dirty="0"/>
              <a:t>        </a:t>
            </a:r>
          </a:p>
          <a:p>
            <a:pPr lvl="0">
              <a:lnSpc>
                <a:spcPct val="150000"/>
              </a:lnSpc>
            </a:pPr>
            <a:r>
              <a:rPr lang="es-PE" dirty="0" err="1"/>
              <a:t>SUBJECT</a:t>
            </a:r>
            <a:r>
              <a:rPr lang="es-PE" dirty="0"/>
              <a:t> </a:t>
            </a:r>
            <a:r>
              <a:rPr lang="es-PE" dirty="0" err="1"/>
              <a:t>TO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dirty="0" err="1"/>
              <a:t>2X1</a:t>
            </a:r>
            <a:r>
              <a:rPr lang="es-PE" dirty="0"/>
              <a:t> + </a:t>
            </a:r>
            <a:r>
              <a:rPr lang="es-PE" dirty="0" err="1"/>
              <a:t>1X2</a:t>
            </a:r>
            <a:r>
              <a:rPr lang="es-PE" dirty="0"/>
              <a:t> &lt;= 1200 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3X1</a:t>
            </a:r>
            <a:r>
              <a:rPr lang="es-PE" dirty="0"/>
              <a:t> + </a:t>
            </a:r>
            <a:r>
              <a:rPr lang="es-PE" dirty="0" err="1"/>
              <a:t>4X2</a:t>
            </a:r>
            <a:r>
              <a:rPr lang="es-PE" dirty="0"/>
              <a:t> &lt;= 2400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X1</a:t>
            </a:r>
            <a:r>
              <a:rPr lang="es-PE" dirty="0"/>
              <a:t>  +  </a:t>
            </a:r>
            <a:r>
              <a:rPr lang="es-PE" dirty="0" err="1"/>
              <a:t>X2</a:t>
            </a:r>
            <a:r>
              <a:rPr lang="es-PE" dirty="0"/>
              <a:t>  &lt;=  800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X1</a:t>
            </a:r>
            <a:r>
              <a:rPr lang="es-PE" dirty="0"/>
              <a:t>  -  </a:t>
            </a:r>
            <a:r>
              <a:rPr lang="es-PE" dirty="0" err="1"/>
              <a:t>X2</a:t>
            </a:r>
            <a:r>
              <a:rPr lang="es-PE" dirty="0"/>
              <a:t>   &lt;=  450  </a:t>
            </a:r>
          </a:p>
          <a:p>
            <a:pPr>
              <a:lnSpc>
                <a:spcPct val="150000"/>
              </a:lnSpc>
            </a:pPr>
            <a:r>
              <a:rPr lang="es-PE" dirty="0" err="1"/>
              <a:t>END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dirty="0" err="1"/>
              <a:t>GIN</a:t>
            </a:r>
            <a:r>
              <a:rPr lang="es-PE" dirty="0"/>
              <a:t> </a:t>
            </a:r>
            <a:r>
              <a:rPr lang="es-PE" dirty="0" err="1"/>
              <a:t>X1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dirty="0" err="1"/>
              <a:t>GIN</a:t>
            </a:r>
            <a:r>
              <a:rPr lang="es-PE" dirty="0"/>
              <a:t> </a:t>
            </a:r>
            <a:r>
              <a:rPr lang="es-PE" dirty="0" err="1"/>
              <a:t>X2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81791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1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0"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9"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  <p:animClr clrSpc="rgb" dir="cw">
                                      <p:cBhvr>
                                        <p:cTn id="40" dur="1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9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1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Line 1"/>
          <p:cNvSpPr/>
          <p:nvPr/>
        </p:nvSpPr>
        <p:spPr>
          <a:xfrm>
            <a:off x="758398" y="3624300"/>
            <a:ext cx="311040" cy="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5" name="Line 2"/>
          <p:cNvSpPr/>
          <p:nvPr/>
        </p:nvSpPr>
        <p:spPr>
          <a:xfrm>
            <a:off x="758398" y="1552500"/>
            <a:ext cx="311040" cy="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6" name="Line 3"/>
          <p:cNvSpPr/>
          <p:nvPr/>
        </p:nvSpPr>
        <p:spPr>
          <a:xfrm>
            <a:off x="758398" y="3014820"/>
            <a:ext cx="311040" cy="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7" name="Line 4"/>
          <p:cNvSpPr/>
          <p:nvPr/>
        </p:nvSpPr>
        <p:spPr>
          <a:xfrm flipV="1">
            <a:off x="3734878" y="5576940"/>
            <a:ext cx="0" cy="24120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8" name="Line 5"/>
          <p:cNvSpPr/>
          <p:nvPr/>
        </p:nvSpPr>
        <p:spPr>
          <a:xfrm>
            <a:off x="4674838" y="5578380"/>
            <a:ext cx="0" cy="24120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9" name="Line 6"/>
          <p:cNvSpPr/>
          <p:nvPr/>
        </p:nvSpPr>
        <p:spPr>
          <a:xfrm>
            <a:off x="2793478" y="5578380"/>
            <a:ext cx="0" cy="24120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10" name="CustomShape 7"/>
          <p:cNvSpPr/>
          <p:nvPr/>
        </p:nvSpPr>
        <p:spPr>
          <a:xfrm>
            <a:off x="1069798" y="3645180"/>
            <a:ext cx="2363040" cy="1982160"/>
          </a:xfrm>
          <a:custGeom>
            <a:avLst/>
            <a:gdLst/>
            <a:ahLst/>
            <a:cxnLst/>
            <a:rect l="l" t="t" r="r" b="b"/>
            <a:pathLst>
              <a:path w="1489" h="1249">
                <a:moveTo>
                  <a:pt x="0" y="0"/>
                </a:moveTo>
                <a:lnTo>
                  <a:pt x="1392" y="768"/>
                </a:lnTo>
                <a:lnTo>
                  <a:pt x="1488" y="912"/>
                </a:lnTo>
                <a:lnTo>
                  <a:pt x="1056" y="1248"/>
                </a:lnTo>
                <a:lnTo>
                  <a:pt x="0" y="1248"/>
                </a:lnTo>
                <a:lnTo>
                  <a:pt x="0" y="0"/>
                </a:lnTo>
              </a:path>
            </a:pathLst>
          </a:custGeom>
          <a:solidFill>
            <a:srgbClr val="BE6502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11" name="CustomShape 8"/>
          <p:cNvSpPr/>
          <p:nvPr/>
        </p:nvSpPr>
        <p:spPr>
          <a:xfrm>
            <a:off x="612598" y="1511460"/>
            <a:ext cx="4419000" cy="456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15" name="Line 12"/>
          <p:cNvSpPr/>
          <p:nvPr/>
        </p:nvSpPr>
        <p:spPr>
          <a:xfrm>
            <a:off x="1069438" y="1311300"/>
            <a:ext cx="0" cy="4263840"/>
          </a:xfrm>
          <a:prstGeom prst="line">
            <a:avLst/>
          </a:prstGeom>
          <a:ln w="76320">
            <a:solidFill>
              <a:schemeClr val="accent2"/>
            </a:solidFill>
            <a:round/>
            <a:head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16" name="Line 13"/>
          <p:cNvSpPr/>
          <p:nvPr/>
        </p:nvSpPr>
        <p:spPr>
          <a:xfrm>
            <a:off x="1048918" y="5599260"/>
            <a:ext cx="4523746" cy="16536"/>
          </a:xfrm>
          <a:prstGeom prst="line">
            <a:avLst/>
          </a:prstGeom>
          <a:ln w="76320">
            <a:solidFill>
              <a:schemeClr val="accent2"/>
            </a:solidFill>
            <a:round/>
            <a:tail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17" name="CustomShape 14"/>
          <p:cNvSpPr/>
          <p:nvPr/>
        </p:nvSpPr>
        <p:spPr>
          <a:xfrm>
            <a:off x="193558" y="336078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600</a:t>
            </a:r>
            <a:endParaRPr lang="es-PE" sz="1900" spc="-1">
              <a:latin typeface="Arial"/>
            </a:endParaRPr>
          </a:p>
        </p:txBody>
      </p:sp>
      <p:sp>
        <p:nvSpPr>
          <p:cNvPr id="1018" name="CustomShape 15"/>
          <p:cNvSpPr/>
          <p:nvPr/>
        </p:nvSpPr>
        <p:spPr>
          <a:xfrm>
            <a:off x="193558" y="275130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800</a:t>
            </a:r>
            <a:endParaRPr lang="es-PE" sz="1900" spc="-1">
              <a:latin typeface="Arial"/>
            </a:endParaRPr>
          </a:p>
        </p:txBody>
      </p:sp>
      <p:sp>
        <p:nvSpPr>
          <p:cNvPr id="1019" name="CustomShape 16"/>
          <p:cNvSpPr/>
          <p:nvPr/>
        </p:nvSpPr>
        <p:spPr>
          <a:xfrm>
            <a:off x="36238" y="1289340"/>
            <a:ext cx="730628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1200</a:t>
            </a:r>
            <a:endParaRPr lang="es-PE" sz="1900" spc="-1">
              <a:latin typeface="Arial"/>
            </a:endParaRPr>
          </a:p>
        </p:txBody>
      </p:sp>
      <p:sp>
        <p:nvSpPr>
          <p:cNvPr id="1020" name="CustomShape 17"/>
          <p:cNvSpPr/>
          <p:nvPr/>
        </p:nvSpPr>
        <p:spPr>
          <a:xfrm>
            <a:off x="2544358" y="579942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400</a:t>
            </a:r>
            <a:endParaRPr lang="es-PE" sz="1900" spc="-1">
              <a:latin typeface="Arial"/>
            </a:endParaRPr>
          </a:p>
        </p:txBody>
      </p:sp>
      <p:sp>
        <p:nvSpPr>
          <p:cNvPr id="1021" name="CustomShape 18"/>
          <p:cNvSpPr/>
          <p:nvPr/>
        </p:nvSpPr>
        <p:spPr>
          <a:xfrm>
            <a:off x="3328798" y="579942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600</a:t>
            </a:r>
            <a:endParaRPr lang="es-PE" sz="1900" spc="-1">
              <a:latin typeface="Arial"/>
            </a:endParaRPr>
          </a:p>
        </p:txBody>
      </p:sp>
      <p:sp>
        <p:nvSpPr>
          <p:cNvPr id="1022" name="CustomShape 19"/>
          <p:cNvSpPr/>
          <p:nvPr/>
        </p:nvSpPr>
        <p:spPr>
          <a:xfrm>
            <a:off x="4270198" y="579942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800</a:t>
            </a:r>
            <a:endParaRPr lang="es-PE" sz="1900" spc="-1">
              <a:latin typeface="Arial"/>
            </a:endParaRPr>
          </a:p>
        </p:txBody>
      </p:sp>
      <p:sp>
        <p:nvSpPr>
          <p:cNvPr id="1023" name="Line 20"/>
          <p:cNvSpPr/>
          <p:nvPr/>
        </p:nvSpPr>
        <p:spPr>
          <a:xfrm>
            <a:off x="3266518" y="4846500"/>
            <a:ext cx="154080" cy="241560"/>
          </a:xfrm>
          <a:prstGeom prst="line">
            <a:avLst/>
          </a:prstGeom>
          <a:ln w="50760">
            <a:solidFill>
              <a:srgbClr val="0033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24" name="Line 21"/>
          <p:cNvSpPr/>
          <p:nvPr/>
        </p:nvSpPr>
        <p:spPr>
          <a:xfrm>
            <a:off x="1072678" y="3627540"/>
            <a:ext cx="2190600" cy="1216080"/>
          </a:xfrm>
          <a:prstGeom prst="line">
            <a:avLst/>
          </a:prstGeom>
          <a:ln w="50760">
            <a:solidFill>
              <a:srgbClr val="0033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25" name="Line 22"/>
          <p:cNvSpPr/>
          <p:nvPr/>
        </p:nvSpPr>
        <p:spPr>
          <a:xfrm flipV="1">
            <a:off x="2795278" y="5089500"/>
            <a:ext cx="623880" cy="484200"/>
          </a:xfrm>
          <a:prstGeom prst="line">
            <a:avLst/>
          </a:prstGeom>
          <a:ln w="50760">
            <a:solidFill>
              <a:srgbClr val="0033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26" name="CustomShape 23"/>
          <p:cNvSpPr/>
          <p:nvPr/>
        </p:nvSpPr>
        <p:spPr>
          <a:xfrm>
            <a:off x="1133158" y="1166940"/>
            <a:ext cx="48402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CC3300"/>
                </a:solidFill>
                <a:latin typeface="Arial"/>
                <a:ea typeface="DejaVu Sans"/>
              </a:rPr>
              <a:t>X2</a:t>
            </a:r>
            <a:endParaRPr lang="es-PE" sz="1900" spc="-1">
              <a:latin typeface="Arial"/>
            </a:endParaRPr>
          </a:p>
        </p:txBody>
      </p:sp>
      <p:sp>
        <p:nvSpPr>
          <p:cNvPr id="1027" name="CustomShape 24"/>
          <p:cNvSpPr/>
          <p:nvPr/>
        </p:nvSpPr>
        <p:spPr>
          <a:xfrm>
            <a:off x="5106838" y="5803686"/>
            <a:ext cx="48402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 dirty="0" err="1">
                <a:solidFill>
                  <a:srgbClr val="CC3300"/>
                </a:solidFill>
                <a:latin typeface="Arial"/>
                <a:ea typeface="DejaVu Sans"/>
              </a:rPr>
              <a:t>X1</a:t>
            </a:r>
            <a:endParaRPr lang="es-PE" sz="1900" spc="-1" dirty="0">
              <a:latin typeface="Arial"/>
            </a:endParaRPr>
          </a:p>
        </p:txBody>
      </p:sp>
      <p:sp>
        <p:nvSpPr>
          <p:cNvPr id="1028" name="Line 25"/>
          <p:cNvSpPr/>
          <p:nvPr/>
        </p:nvSpPr>
        <p:spPr>
          <a:xfrm>
            <a:off x="3263278" y="5578380"/>
            <a:ext cx="0" cy="119160"/>
          </a:xfrm>
          <a:prstGeom prst="line">
            <a:avLst/>
          </a:prstGeom>
          <a:ln w="2556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33" name="Line 30"/>
          <p:cNvSpPr/>
          <p:nvPr/>
        </p:nvSpPr>
        <p:spPr>
          <a:xfrm flipV="1">
            <a:off x="2063398" y="2881223"/>
            <a:ext cx="421018" cy="1837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48" name="Line 45"/>
          <p:cNvSpPr/>
          <p:nvPr/>
        </p:nvSpPr>
        <p:spPr>
          <a:xfrm>
            <a:off x="1931638" y="3295620"/>
            <a:ext cx="2197080" cy="2525760"/>
          </a:xfrm>
          <a:prstGeom prst="line">
            <a:avLst/>
          </a:prstGeom>
          <a:ln w="507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49" name="CustomShape 46"/>
          <p:cNvSpPr/>
          <p:nvPr/>
        </p:nvSpPr>
        <p:spPr>
          <a:xfrm>
            <a:off x="3209638" y="4794300"/>
            <a:ext cx="138960" cy="138960"/>
          </a:xfrm>
          <a:prstGeom prst="ellipse">
            <a:avLst/>
          </a:prstGeom>
          <a:solidFill>
            <a:srgbClr val="EF2F09"/>
          </a:solidFill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50" name="Line 47"/>
          <p:cNvSpPr/>
          <p:nvPr/>
        </p:nvSpPr>
        <p:spPr>
          <a:xfrm flipH="1" flipV="1">
            <a:off x="2061598" y="2884500"/>
            <a:ext cx="1233720" cy="1908000"/>
          </a:xfrm>
          <a:prstGeom prst="line">
            <a:avLst/>
          </a:prstGeom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52" name="CustomShape 49"/>
          <p:cNvSpPr/>
          <p:nvPr/>
        </p:nvSpPr>
        <p:spPr>
          <a:xfrm>
            <a:off x="2409528" y="2571192"/>
            <a:ext cx="2579083" cy="52394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2800" b="1" spc="-1" dirty="0">
                <a:solidFill>
                  <a:srgbClr val="000000"/>
                </a:solidFill>
                <a:latin typeface="Arial Narrow"/>
                <a:ea typeface="DejaVu Sans"/>
              </a:rPr>
              <a:t>Ganancia =$5040</a:t>
            </a:r>
            <a:endParaRPr lang="es-PE" sz="2800" spc="-1" dirty="0">
              <a:latin typeface="Arial"/>
            </a:endParaRPr>
          </a:p>
        </p:txBody>
      </p:sp>
      <p:sp>
        <p:nvSpPr>
          <p:cNvPr id="52" name="Line 45"/>
          <p:cNvSpPr/>
          <p:nvPr/>
        </p:nvSpPr>
        <p:spPr>
          <a:xfrm>
            <a:off x="1322878" y="3321720"/>
            <a:ext cx="2197080" cy="2525760"/>
          </a:xfrm>
          <a:prstGeom prst="line">
            <a:avLst/>
          </a:prstGeom>
          <a:ln w="507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48" name="Line 45"/>
          <p:cNvSpPr/>
          <p:nvPr/>
        </p:nvSpPr>
        <p:spPr>
          <a:xfrm>
            <a:off x="699766" y="3228332"/>
            <a:ext cx="2197080" cy="2525760"/>
          </a:xfrm>
          <a:prstGeom prst="line">
            <a:avLst/>
          </a:prstGeom>
          <a:ln w="507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50" name="Line 45"/>
          <p:cNvSpPr/>
          <p:nvPr/>
        </p:nvSpPr>
        <p:spPr>
          <a:xfrm>
            <a:off x="699766" y="3999060"/>
            <a:ext cx="1909048" cy="2187080"/>
          </a:xfrm>
          <a:prstGeom prst="line">
            <a:avLst/>
          </a:prstGeom>
          <a:ln w="507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55" name="CustomShape 2">
            <a:extLst>
              <a:ext uri="{FF2B5EF4-FFF2-40B4-BE49-F238E27FC236}">
                <a16:creationId xmlns:a16="http://schemas.microsoft.com/office/drawing/2014/main" id="{FBB00DE9-8A99-4516-A315-2C48085648D2}"/>
              </a:ext>
            </a:extLst>
          </p:cNvPr>
          <p:cNvSpPr/>
          <p:nvPr/>
        </p:nvSpPr>
        <p:spPr>
          <a:xfrm>
            <a:off x="6096000" y="244671"/>
            <a:ext cx="6096000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Solución gráfica</a:t>
            </a:r>
          </a:p>
        </p:txBody>
      </p:sp>
      <p:sp>
        <p:nvSpPr>
          <p:cNvPr id="39" name="CustomShape 1">
            <a:extLst>
              <a:ext uri="{FF2B5EF4-FFF2-40B4-BE49-F238E27FC236}">
                <a16:creationId xmlns:a16="http://schemas.microsoft.com/office/drawing/2014/main" id="{5E20CA12-A18D-468B-8526-0BAD2287E447}"/>
              </a:ext>
            </a:extLst>
          </p:cNvPr>
          <p:cNvSpPr/>
          <p:nvPr/>
        </p:nvSpPr>
        <p:spPr>
          <a:xfrm>
            <a:off x="6323165" y="1352027"/>
            <a:ext cx="4180214" cy="436728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4)Hallando la Solución Óptima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La solución es la intersección de I y II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I)    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2X1+X2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=1200   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u="sng" spc="-1" dirty="0">
                <a:solidFill>
                  <a:schemeClr val="bg2">
                    <a:lumMod val="10000"/>
                  </a:schemeClr>
                </a:solidFill>
                <a:latin typeface="Arial Narrow"/>
                <a:ea typeface="Microsoft YaHei"/>
              </a:rPr>
              <a:t>II)   </a:t>
            </a:r>
            <a:r>
              <a:rPr lang="es-PE" sz="2000" u="sng" spc="-1" dirty="0" err="1">
                <a:solidFill>
                  <a:schemeClr val="bg2">
                    <a:lumMod val="10000"/>
                  </a:schemeClr>
                </a:solidFill>
                <a:latin typeface="Arial Narrow"/>
                <a:ea typeface="Microsoft YaHei"/>
              </a:rPr>
              <a:t>3</a:t>
            </a:r>
            <a:r>
              <a:rPr lang="es-PE" sz="2000" u="sng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X1+4X2</a:t>
            </a:r>
            <a:r>
              <a:rPr lang="es-PE" sz="2000" u="sng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=2400 </a:t>
            </a:r>
            <a:endParaRPr lang="es-PE" sz="2000" u="sng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III)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8X1+4X2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=4800   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u="sng" spc="-1" dirty="0">
                <a:solidFill>
                  <a:schemeClr val="bg2">
                    <a:lumMod val="10000"/>
                  </a:schemeClr>
                </a:solidFill>
                <a:latin typeface="Arial Narrow"/>
                <a:ea typeface="Microsoft YaHei"/>
              </a:rPr>
              <a:t>IV)  </a:t>
            </a:r>
            <a:r>
              <a:rPr lang="es-PE" sz="2000" u="sng" spc="-1" dirty="0" err="1">
                <a:solidFill>
                  <a:schemeClr val="bg2">
                    <a:lumMod val="10000"/>
                  </a:schemeClr>
                </a:solidFill>
                <a:latin typeface="Arial Narrow"/>
                <a:ea typeface="Microsoft YaHei"/>
              </a:rPr>
              <a:t>3</a:t>
            </a:r>
            <a:r>
              <a:rPr lang="es-PE" sz="2000" u="sng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X1+4X2</a:t>
            </a:r>
            <a:r>
              <a:rPr lang="es-PE" sz="2000" u="sng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=2400 </a:t>
            </a:r>
            <a:endParaRPr lang="es-PE" sz="2000" u="sng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     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5X1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       =2400  →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X1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=480,  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X2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=240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  <a:ea typeface="Microsoft YaHei"/>
              </a:rPr>
              <a:t>La solución optima es: 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X1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=480,   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X2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=240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  <a:p>
            <a:pPr marL="609480" indent="-608760">
              <a:lnSpc>
                <a:spcPct val="150000"/>
              </a:lnSpc>
            </a:pP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Valor de la 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F.O.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Symbol"/>
              </a:rPr>
              <a:t></a:t>
            </a:r>
            <a:r>
              <a:rPr lang="es-PE" sz="2000" spc="-1" dirty="0" err="1">
                <a:solidFill>
                  <a:schemeClr val="bg2">
                    <a:lumMod val="10000"/>
                  </a:schemeClr>
                </a:solidFill>
                <a:latin typeface="Arial Narrow"/>
              </a:rPr>
              <a:t>Z</a:t>
            </a:r>
            <a:r>
              <a:rPr lang="es-PE" sz="2000" spc="-1" dirty="0">
                <a:solidFill>
                  <a:schemeClr val="bg2">
                    <a:lumMod val="10000"/>
                  </a:schemeClr>
                </a:solidFill>
                <a:latin typeface="Arial Narrow"/>
              </a:rPr>
              <a:t> = 5040</a:t>
            </a:r>
            <a:endParaRPr lang="es-PE" sz="2000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graphicFrame>
        <p:nvGraphicFramePr>
          <p:cNvPr id="40" name="Diagrama 39">
            <a:extLst>
              <a:ext uri="{FF2B5EF4-FFF2-40B4-BE49-F238E27FC236}">
                <a16:creationId xmlns:a16="http://schemas.microsoft.com/office/drawing/2014/main" id="{530E6CC4-3648-4FBA-B6FE-F52159CA1713}"/>
              </a:ext>
            </a:extLst>
          </p:cNvPr>
          <p:cNvGraphicFramePr/>
          <p:nvPr/>
        </p:nvGraphicFramePr>
        <p:xfrm>
          <a:off x="9747503" y="2484274"/>
          <a:ext cx="2601912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67953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871864" y="1268761"/>
            <a:ext cx="579613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OBJECTIVE FUNCTION VALUE</a:t>
            </a:r>
          </a:p>
          <a:p>
            <a:endParaRPr lang="en-US" dirty="0"/>
          </a:p>
          <a:p>
            <a:r>
              <a:rPr lang="en-US" dirty="0"/>
              <a:t>        1)      5040.000</a:t>
            </a:r>
          </a:p>
          <a:p>
            <a:r>
              <a:rPr lang="en-US" dirty="0"/>
              <a:t>  VARIABLE        VALUE          REDUCED COST</a:t>
            </a:r>
          </a:p>
          <a:p>
            <a:r>
              <a:rPr lang="en-US" dirty="0"/>
              <a:t>        </a:t>
            </a:r>
            <a:r>
              <a:rPr lang="en-US" dirty="0" err="1"/>
              <a:t>X1</a:t>
            </a:r>
            <a:r>
              <a:rPr lang="en-US" dirty="0"/>
              <a:t>       480.000000          0.000000</a:t>
            </a:r>
          </a:p>
          <a:p>
            <a:r>
              <a:rPr lang="en-US" dirty="0"/>
              <a:t>        </a:t>
            </a:r>
            <a:r>
              <a:rPr lang="en-US" dirty="0" err="1"/>
              <a:t>X2</a:t>
            </a:r>
            <a:r>
              <a:rPr lang="en-US" dirty="0"/>
              <a:t>       240.000000          0.000000</a:t>
            </a:r>
          </a:p>
          <a:p>
            <a:r>
              <a:rPr lang="en-US" dirty="0"/>
              <a:t>       ROW   SLACK OR SURPLUS     DUAL PRICES</a:t>
            </a:r>
          </a:p>
          <a:p>
            <a:r>
              <a:rPr lang="en-US" dirty="0"/>
              <a:t>        2)         0.000000             	3.400000</a:t>
            </a:r>
          </a:p>
          <a:p>
            <a:r>
              <a:rPr lang="en-US" dirty="0"/>
              <a:t>        3)         0.000000          		0.400000</a:t>
            </a:r>
          </a:p>
          <a:p>
            <a:r>
              <a:rPr lang="en-US" dirty="0"/>
              <a:t>        4)        80.000000          		0.000000</a:t>
            </a:r>
          </a:p>
          <a:p>
            <a:r>
              <a:rPr lang="en-US" dirty="0"/>
              <a:t>        5)       210.000000          		0.000000</a:t>
            </a:r>
          </a:p>
          <a:p>
            <a:r>
              <a:rPr lang="en-US" dirty="0"/>
              <a:t> NO. ITERATIONS=       2</a:t>
            </a:r>
          </a:p>
          <a:p>
            <a:r>
              <a:rPr lang="en-US" dirty="0"/>
              <a:t> RANGES IN WHICH THE BASIS IS UNCHANGED:</a:t>
            </a:r>
          </a:p>
          <a:p>
            <a:r>
              <a:rPr lang="en-US" dirty="0"/>
              <a:t>                           </a:t>
            </a:r>
            <a:r>
              <a:rPr lang="en-US" dirty="0" err="1"/>
              <a:t>OBJ</a:t>
            </a:r>
            <a:r>
              <a:rPr lang="en-US" dirty="0"/>
              <a:t> COEFFICIENT RANGES</a:t>
            </a:r>
          </a:p>
          <a:p>
            <a:r>
              <a:rPr lang="en-US" dirty="0"/>
              <a:t> VARIABLE         CURRENT        ALLOWABLE        ALLOWABLE</a:t>
            </a:r>
          </a:p>
          <a:p>
            <a:r>
              <a:rPr lang="en-US" dirty="0"/>
              <a:t>                   </a:t>
            </a:r>
            <a:r>
              <a:rPr lang="en-US" dirty="0" err="1"/>
              <a:t>COEF</a:t>
            </a:r>
            <a:r>
              <a:rPr lang="en-US" dirty="0"/>
              <a:t>          INCREASE         DECREASE</a:t>
            </a:r>
          </a:p>
          <a:p>
            <a:r>
              <a:rPr lang="en-US" dirty="0"/>
              <a:t>       </a:t>
            </a:r>
            <a:r>
              <a:rPr lang="en-US" dirty="0" err="1"/>
              <a:t>X1</a:t>
            </a:r>
            <a:r>
              <a:rPr lang="en-US" dirty="0"/>
              <a:t>        8.000000         2.000000         4.250000</a:t>
            </a:r>
          </a:p>
          <a:p>
            <a:r>
              <a:rPr lang="en-US" dirty="0"/>
              <a:t>       </a:t>
            </a:r>
            <a:r>
              <a:rPr lang="en-US" dirty="0" err="1"/>
              <a:t>X2</a:t>
            </a:r>
            <a:r>
              <a:rPr lang="en-US" dirty="0"/>
              <a:t>        5.000000         5.666667         1.000000</a:t>
            </a:r>
            <a:endParaRPr lang="es-PE" dirty="0"/>
          </a:p>
        </p:txBody>
      </p:sp>
      <p:sp>
        <p:nvSpPr>
          <p:cNvPr id="3" name="2 Rectángulo"/>
          <p:cNvSpPr/>
          <p:nvPr/>
        </p:nvSpPr>
        <p:spPr>
          <a:xfrm>
            <a:off x="1631504" y="1556793"/>
            <a:ext cx="3168352" cy="45243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/>
              <a:t>Max </a:t>
            </a:r>
            <a:r>
              <a:rPr lang="en-US" dirty="0" err="1"/>
              <a:t>8X1</a:t>
            </a:r>
            <a:r>
              <a:rPr lang="en-US" dirty="0"/>
              <a:t> + </a:t>
            </a:r>
            <a:r>
              <a:rPr lang="en-US" dirty="0" err="1"/>
              <a:t>5X2</a:t>
            </a:r>
            <a:r>
              <a:rPr lang="en-US" dirty="0"/>
              <a:t>   </a:t>
            </a:r>
          </a:p>
          <a:p>
            <a:r>
              <a:rPr lang="en-US" dirty="0"/>
              <a:t>ST</a:t>
            </a:r>
          </a:p>
          <a:p>
            <a:r>
              <a:rPr lang="en-US" dirty="0" err="1"/>
              <a:t>2X1</a:t>
            </a:r>
            <a:r>
              <a:rPr lang="en-US" dirty="0"/>
              <a:t> + </a:t>
            </a:r>
            <a:r>
              <a:rPr lang="en-US" dirty="0" err="1"/>
              <a:t>1X2</a:t>
            </a:r>
            <a:r>
              <a:rPr lang="en-US" dirty="0"/>
              <a:t> &lt;= 1200        </a:t>
            </a:r>
          </a:p>
          <a:p>
            <a:r>
              <a:rPr lang="en-US" dirty="0" err="1"/>
              <a:t>3X1</a:t>
            </a:r>
            <a:r>
              <a:rPr lang="en-US" dirty="0"/>
              <a:t> + </a:t>
            </a:r>
            <a:r>
              <a:rPr lang="en-US" dirty="0" err="1"/>
              <a:t>4X2</a:t>
            </a:r>
            <a:r>
              <a:rPr lang="en-US" dirty="0"/>
              <a:t> &lt;= 2400        </a:t>
            </a:r>
          </a:p>
          <a:p>
            <a:r>
              <a:rPr lang="en-US" dirty="0" err="1"/>
              <a:t>X1</a:t>
            </a:r>
            <a:r>
              <a:rPr lang="en-US" dirty="0"/>
              <a:t>  +  </a:t>
            </a:r>
            <a:r>
              <a:rPr lang="en-US" dirty="0" err="1"/>
              <a:t>X2</a:t>
            </a:r>
            <a:r>
              <a:rPr lang="en-US" dirty="0"/>
              <a:t>  &lt;=  800          </a:t>
            </a:r>
          </a:p>
          <a:p>
            <a:r>
              <a:rPr lang="en-US" dirty="0" err="1"/>
              <a:t>X1</a:t>
            </a:r>
            <a:r>
              <a:rPr lang="en-US" dirty="0"/>
              <a:t>  -  </a:t>
            </a:r>
            <a:r>
              <a:rPr lang="en-US" dirty="0" err="1"/>
              <a:t>X2</a:t>
            </a:r>
            <a:r>
              <a:rPr lang="en-US" dirty="0"/>
              <a:t>   &lt;=  450 </a:t>
            </a:r>
          </a:p>
          <a:p>
            <a:endParaRPr lang="en-US" dirty="0">
              <a:latin typeface="Arial Narrow" pitchFamily="34" charset="0"/>
            </a:endParaRPr>
          </a:p>
          <a:p>
            <a:r>
              <a:rPr lang="en-US" dirty="0" err="1">
                <a:latin typeface="Arial Narrow" pitchFamily="34" charset="0"/>
              </a:rPr>
              <a:t>ANALISIS</a:t>
            </a:r>
            <a:r>
              <a:rPr lang="en-US" dirty="0">
                <a:latin typeface="Arial Narrow" pitchFamily="34" charset="0"/>
              </a:rPr>
              <a:t> DE LOS </a:t>
            </a:r>
            <a:r>
              <a:rPr lang="en-US" dirty="0" err="1">
                <a:latin typeface="Arial Narrow" pitchFamily="34" charset="0"/>
              </a:rPr>
              <a:t>COEFICIENTES</a:t>
            </a:r>
            <a:r>
              <a:rPr lang="en-US" dirty="0">
                <a:latin typeface="Arial Narrow" pitchFamily="34" charset="0"/>
              </a:rPr>
              <a:t> DE LA </a:t>
            </a:r>
            <a:r>
              <a:rPr lang="en-US" dirty="0" err="1">
                <a:latin typeface="Arial Narrow" pitchFamily="34" charset="0"/>
              </a:rPr>
              <a:t>FUNCION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OBJETIVO</a:t>
            </a:r>
            <a:endParaRPr lang="en-US" dirty="0">
              <a:latin typeface="Arial Narrow" pitchFamily="34" charset="0"/>
            </a:endParaRPr>
          </a:p>
          <a:p>
            <a:r>
              <a:rPr lang="en-US" dirty="0">
                <a:latin typeface="Arial Narrow" pitchFamily="34" charset="0"/>
              </a:rPr>
              <a:t>   3,75  ≤ </a:t>
            </a:r>
            <a:r>
              <a:rPr lang="el-GR" dirty="0">
                <a:latin typeface="Arial Narrow" pitchFamily="34" charset="0"/>
              </a:rPr>
              <a:t>α</a:t>
            </a:r>
            <a:r>
              <a:rPr lang="en-US" dirty="0">
                <a:latin typeface="Arial Narrow" pitchFamily="34" charset="0"/>
              </a:rPr>
              <a:t> ≤ 10</a:t>
            </a:r>
          </a:p>
          <a:p>
            <a:r>
              <a:rPr lang="en-US" dirty="0">
                <a:latin typeface="Arial Narrow" pitchFamily="34" charset="0"/>
              </a:rPr>
              <a:t>        4  ≤ </a:t>
            </a:r>
            <a:r>
              <a:rPr lang="el-GR" dirty="0">
                <a:latin typeface="Arial Narrow" pitchFamily="34" charset="0"/>
              </a:rPr>
              <a:t>β</a:t>
            </a:r>
            <a:r>
              <a:rPr lang="en-US" dirty="0">
                <a:latin typeface="Arial Narrow" pitchFamily="34" charset="0"/>
              </a:rPr>
              <a:t> ≤ 10,67</a:t>
            </a:r>
          </a:p>
          <a:p>
            <a:endParaRPr lang="en-US" dirty="0">
              <a:latin typeface="Arial Narrow" pitchFamily="34" charset="0"/>
            </a:endParaRPr>
          </a:p>
          <a:p>
            <a:r>
              <a:rPr lang="en-US" dirty="0" err="1">
                <a:latin typeface="Arial Narrow" pitchFamily="34" charset="0"/>
              </a:rPr>
              <a:t>ANALISIS</a:t>
            </a:r>
            <a:r>
              <a:rPr lang="en-US" dirty="0">
                <a:latin typeface="Arial Narrow" pitchFamily="34" charset="0"/>
              </a:rPr>
              <a:t> DEL </a:t>
            </a:r>
            <a:r>
              <a:rPr lang="en-US" dirty="0" err="1">
                <a:latin typeface="Arial Narrow" pitchFamily="34" charset="0"/>
              </a:rPr>
              <a:t>LADO</a:t>
            </a:r>
            <a:r>
              <a:rPr lang="en-US" dirty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DERECHO</a:t>
            </a:r>
            <a:endParaRPr lang="en-US" dirty="0">
              <a:latin typeface="Arial Narrow" pitchFamily="34" charset="0"/>
            </a:endParaRPr>
          </a:p>
          <a:p>
            <a:r>
              <a:rPr lang="en-US" dirty="0">
                <a:latin typeface="Arial Narrow" pitchFamily="34" charset="0"/>
              </a:rPr>
              <a:t>m=3,4   (</a:t>
            </a:r>
            <a:r>
              <a:rPr lang="en-US" dirty="0" err="1">
                <a:latin typeface="Arial Narrow" pitchFamily="34" charset="0"/>
              </a:rPr>
              <a:t>Primera</a:t>
            </a:r>
            <a:r>
              <a:rPr lang="en-US" dirty="0">
                <a:latin typeface="Arial Narrow" pitchFamily="34" charset="0"/>
              </a:rPr>
              <a:t> Rest.)</a:t>
            </a:r>
          </a:p>
          <a:p>
            <a:r>
              <a:rPr lang="en-US" dirty="0">
                <a:latin typeface="Arial Narrow" pitchFamily="34" charset="0"/>
              </a:rPr>
              <a:t>m=0,4   (</a:t>
            </a:r>
            <a:r>
              <a:rPr lang="en-US" dirty="0" err="1">
                <a:latin typeface="Arial Narrow" pitchFamily="34" charset="0"/>
              </a:rPr>
              <a:t>Segunda</a:t>
            </a:r>
            <a:r>
              <a:rPr lang="en-US" dirty="0">
                <a:latin typeface="Arial Narrow" pitchFamily="34" charset="0"/>
              </a:rPr>
              <a:t> Rest.)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0595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/>
        </p:nvGraphicFramePr>
        <p:xfrm>
          <a:off x="2063552" y="1268640"/>
          <a:ext cx="8136904" cy="5112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2 Rectángulo"/>
          <p:cNvSpPr/>
          <p:nvPr/>
        </p:nvSpPr>
        <p:spPr>
          <a:xfrm>
            <a:off x="6096000" y="290025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PE" sz="2800" dirty="0">
                <a:solidFill>
                  <a:schemeClr val="bg1"/>
                </a:solidFill>
              </a:rPr>
              <a:t>Resumen de la solución óptima</a:t>
            </a:r>
          </a:p>
        </p:txBody>
      </p:sp>
    </p:spTree>
    <p:extLst>
      <p:ext uri="{BB962C8B-B14F-4D97-AF65-F5344CB8AC3E}">
        <p14:creationId xmlns:p14="http://schemas.microsoft.com/office/powerpoint/2010/main" val="1722993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CustomShape 1"/>
          <p:cNvSpPr/>
          <p:nvPr/>
        </p:nvSpPr>
        <p:spPr>
          <a:xfrm>
            <a:off x="2638560" y="1000080"/>
            <a:ext cx="6730200" cy="44791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53" name="Line 2"/>
          <p:cNvSpPr/>
          <p:nvPr/>
        </p:nvSpPr>
        <p:spPr>
          <a:xfrm>
            <a:off x="3214560" y="1392120"/>
            <a:ext cx="282600" cy="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54" name="Line 3"/>
          <p:cNvSpPr/>
          <p:nvPr/>
        </p:nvSpPr>
        <p:spPr>
          <a:xfrm flipV="1">
            <a:off x="5932200" y="5011560"/>
            <a:ext cx="0" cy="21096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55" name="CustomShape 4"/>
          <p:cNvSpPr/>
          <p:nvPr/>
        </p:nvSpPr>
        <p:spPr>
          <a:xfrm>
            <a:off x="2597879" y="1228680"/>
            <a:ext cx="6729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 dirty="0">
                <a:solidFill>
                  <a:srgbClr val="FF0000"/>
                </a:solidFill>
                <a:latin typeface="Arial"/>
                <a:ea typeface="DejaVu Sans"/>
              </a:rPr>
              <a:t>1200</a:t>
            </a:r>
            <a:endParaRPr lang="es-PE" sz="1700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56" name="CustomShape 5"/>
          <p:cNvSpPr/>
          <p:nvPr/>
        </p:nvSpPr>
        <p:spPr>
          <a:xfrm>
            <a:off x="5552760" y="5200560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600</a:t>
            </a:r>
            <a:endParaRPr lang="es-PE" sz="1700" spc="-1">
              <a:latin typeface="Arial"/>
            </a:endParaRPr>
          </a:p>
        </p:txBody>
      </p:sp>
      <p:sp>
        <p:nvSpPr>
          <p:cNvPr id="960" name="CustomShape 9"/>
          <p:cNvSpPr/>
          <p:nvPr/>
        </p:nvSpPr>
        <p:spPr>
          <a:xfrm>
            <a:off x="3528840" y="1572121"/>
            <a:ext cx="2438280" cy="3486599"/>
          </a:xfrm>
          <a:prstGeom prst="rtTriangle">
            <a:avLst/>
          </a:prstGeom>
          <a:solidFill>
            <a:srgbClr val="FFC0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61" name="CustomShape 10"/>
          <p:cNvSpPr/>
          <p:nvPr/>
        </p:nvSpPr>
        <p:spPr>
          <a:xfrm>
            <a:off x="3598089" y="4019664"/>
            <a:ext cx="1295976" cy="954834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2800" b="1" spc="-1" dirty="0">
                <a:solidFill>
                  <a:srgbClr val="334635"/>
                </a:solidFill>
                <a:latin typeface="Arial Narrow"/>
                <a:ea typeface="DejaVu Sans"/>
              </a:rPr>
              <a:t>Región</a:t>
            </a:r>
          </a:p>
          <a:p>
            <a:pPr>
              <a:lnSpc>
                <a:spcPct val="100000"/>
              </a:lnSpc>
            </a:pPr>
            <a:r>
              <a:rPr lang="es-PE" sz="2800" b="1" spc="-1" dirty="0">
                <a:solidFill>
                  <a:srgbClr val="334635"/>
                </a:solidFill>
                <a:latin typeface="Arial Narrow"/>
                <a:ea typeface="DejaVu Sans"/>
              </a:rPr>
              <a:t>Factible</a:t>
            </a:r>
            <a:endParaRPr lang="es-PE" sz="2800" spc="-1" dirty="0">
              <a:latin typeface="Arial"/>
            </a:endParaRPr>
          </a:p>
        </p:txBody>
      </p:sp>
      <p:grpSp>
        <p:nvGrpSpPr>
          <p:cNvPr id="962" name="Group 11"/>
          <p:cNvGrpSpPr/>
          <p:nvPr/>
        </p:nvGrpSpPr>
        <p:grpSpPr>
          <a:xfrm>
            <a:off x="4143360" y="1407587"/>
            <a:ext cx="17685360" cy="11210760"/>
            <a:chOff x="2619360" y="1346040"/>
            <a:chExt cx="17685360" cy="11210760"/>
          </a:xfrm>
        </p:grpSpPr>
        <p:grpSp>
          <p:nvGrpSpPr>
            <p:cNvPr id="963" name="Group 12"/>
            <p:cNvGrpSpPr/>
            <p:nvPr/>
          </p:nvGrpSpPr>
          <p:grpSpPr>
            <a:xfrm>
              <a:off x="3677400" y="1346040"/>
              <a:ext cx="16627320" cy="11210760"/>
              <a:chOff x="3677400" y="1346040"/>
              <a:chExt cx="16627320" cy="11210760"/>
            </a:xfrm>
          </p:grpSpPr>
          <p:sp>
            <p:nvSpPr>
              <p:cNvPr id="965" name="CustomShape 14"/>
              <p:cNvSpPr/>
              <p:nvPr/>
            </p:nvSpPr>
            <p:spPr>
              <a:xfrm rot="10800000" flipH="1" flipV="1">
                <a:off x="14174280" y="8778600"/>
                <a:ext cx="6130440" cy="3778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8894" y="21600"/>
                    </a:lnTo>
                    <a:lnTo>
                      <a:pt x="12706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4B82B5"/>
              </a:solidFill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s-PE"/>
              </a:p>
            </p:txBody>
          </p:sp>
          <p:grpSp>
            <p:nvGrpSpPr>
              <p:cNvPr id="967" name="Group 16"/>
              <p:cNvGrpSpPr/>
              <p:nvPr/>
            </p:nvGrpSpPr>
            <p:grpSpPr>
              <a:xfrm>
                <a:off x="3677400" y="1346040"/>
                <a:ext cx="4213440" cy="370059"/>
                <a:chOff x="3677400" y="1346040"/>
                <a:chExt cx="4213440" cy="370059"/>
              </a:xfrm>
            </p:grpSpPr>
            <p:sp>
              <p:nvSpPr>
                <p:cNvPr id="968" name="CustomShape 17"/>
                <p:cNvSpPr/>
                <p:nvPr/>
              </p:nvSpPr>
              <p:spPr>
                <a:xfrm>
                  <a:off x="3677400" y="1363320"/>
                  <a:ext cx="3886200" cy="338040"/>
                </a:xfrm>
                <a:prstGeom prst="rect">
                  <a:avLst/>
                </a:prstGeom>
                <a:solidFill>
                  <a:srgbClr val="4B82B5"/>
                </a:solidFill>
                <a:ln w="936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s-PE"/>
                </a:p>
              </p:txBody>
            </p:sp>
            <p:sp>
              <p:nvSpPr>
                <p:cNvPr id="969" name="CustomShape 18"/>
                <p:cNvSpPr/>
                <p:nvPr/>
              </p:nvSpPr>
              <p:spPr>
                <a:xfrm>
                  <a:off x="3677400" y="1346040"/>
                  <a:ext cx="4213440" cy="370059"/>
                </a:xfrm>
                <a:prstGeom prst="rect">
                  <a:avLst/>
                </a:prstGeom>
                <a:solidFill>
                  <a:srgbClr val="4B82B5"/>
                </a:solidFill>
                <a:ln w="936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2160" tIns="46080" rIns="92160" bIns="46080">
                  <a:sp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es-PE" b="1" spc="-1" dirty="0">
                      <a:solidFill>
                        <a:srgbClr val="000000"/>
                      </a:solidFill>
                      <a:latin typeface="Arial Narrow"/>
                      <a:ea typeface="DejaVu Sans"/>
                    </a:rPr>
                    <a:t>Restricción del plástico: </a:t>
                  </a:r>
                  <a:r>
                    <a:rPr lang="es-PE" b="1" spc="-1" dirty="0" err="1">
                      <a:solidFill>
                        <a:srgbClr val="000000"/>
                      </a:solidFill>
                      <a:latin typeface="Arial Narrow"/>
                      <a:ea typeface="DejaVu Sans"/>
                    </a:rPr>
                    <a:t>2X1+X2</a:t>
                  </a:r>
                  <a:r>
                    <a:rPr lang="es-PE" b="1" spc="-1" dirty="0">
                      <a:solidFill>
                        <a:srgbClr val="000000"/>
                      </a:solidFill>
                      <a:latin typeface="Arial Narrow"/>
                      <a:ea typeface="DejaVu Sans"/>
                    </a:rPr>
                    <a:t>&lt;=1200</a:t>
                  </a:r>
                  <a:endParaRPr lang="es-PE" spc="-1" dirty="0">
                    <a:latin typeface="Arial"/>
                  </a:endParaRPr>
                </a:p>
              </p:txBody>
            </p:sp>
          </p:grpSp>
        </p:grpSp>
        <p:sp>
          <p:nvSpPr>
            <p:cNvPr id="970" name="Line 19"/>
            <p:cNvSpPr/>
            <p:nvPr/>
          </p:nvSpPr>
          <p:spPr>
            <a:xfrm flipH="1">
              <a:off x="2619360" y="1701360"/>
              <a:ext cx="1057680" cy="498960"/>
            </a:xfrm>
            <a:prstGeom prst="line">
              <a:avLst/>
            </a:prstGeom>
            <a:ln w="12600">
              <a:solidFill>
                <a:schemeClr val="tx1"/>
              </a:solidFill>
              <a:round/>
              <a:tailEnd type="stealth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971" name="CustomShape 20"/>
          <p:cNvSpPr/>
          <p:nvPr/>
        </p:nvSpPr>
        <p:spPr>
          <a:xfrm>
            <a:off x="3547200" y="741240"/>
            <a:ext cx="453566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X2</a:t>
            </a:r>
            <a:endParaRPr lang="es-PE" sz="1700" spc="-1">
              <a:latin typeface="Arial"/>
            </a:endParaRPr>
          </a:p>
        </p:txBody>
      </p:sp>
      <p:sp>
        <p:nvSpPr>
          <p:cNvPr id="973" name="CustomShape 22"/>
          <p:cNvSpPr/>
          <p:nvPr/>
        </p:nvSpPr>
        <p:spPr>
          <a:xfrm>
            <a:off x="3500400" y="4341960"/>
            <a:ext cx="1999440" cy="68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4" name="CustomShape 23"/>
          <p:cNvSpPr/>
          <p:nvPr/>
        </p:nvSpPr>
        <p:spPr>
          <a:xfrm>
            <a:off x="5495880" y="4392720"/>
            <a:ext cx="403920" cy="640800"/>
          </a:xfrm>
          <a:prstGeom prst="rtTriangle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6" name="CustomShape 25"/>
          <p:cNvSpPr/>
          <p:nvPr/>
        </p:nvSpPr>
        <p:spPr>
          <a:xfrm>
            <a:off x="1839721" y="4076267"/>
            <a:ext cx="1615935" cy="92405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 dirty="0">
                <a:latin typeface="Arial Narrow"/>
                <a:ea typeface="DejaVu Sans"/>
              </a:rPr>
              <a:t>Horas de</a:t>
            </a:r>
            <a:endParaRPr lang="es-P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PE" b="1" spc="-1" dirty="0">
                <a:latin typeface="Arial Narrow"/>
                <a:ea typeface="DejaVu Sans"/>
              </a:rPr>
              <a:t>Producción</a:t>
            </a:r>
            <a:endParaRPr lang="es-P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PE" b="1" spc="-1" dirty="0" err="1">
                <a:latin typeface="Arial Narrow"/>
                <a:ea typeface="DejaVu Sans"/>
              </a:rPr>
              <a:t>3X1+4X2</a:t>
            </a:r>
            <a:r>
              <a:rPr lang="es-PE" b="1" spc="-1" dirty="0">
                <a:latin typeface="Arial Narrow"/>
                <a:ea typeface="DejaVu Sans"/>
              </a:rPr>
              <a:t>&lt;=2400</a:t>
            </a:r>
            <a:endParaRPr lang="es-PE" spc="-1" dirty="0">
              <a:latin typeface="Arial"/>
            </a:endParaRPr>
          </a:p>
        </p:txBody>
      </p:sp>
      <p:sp>
        <p:nvSpPr>
          <p:cNvPr id="977" name="Line 26"/>
          <p:cNvSpPr/>
          <p:nvPr/>
        </p:nvSpPr>
        <p:spPr>
          <a:xfrm flipV="1">
            <a:off x="2744760" y="3506760"/>
            <a:ext cx="1065240" cy="684000"/>
          </a:xfrm>
          <a:prstGeom prst="line">
            <a:avLst/>
          </a:prstGeom>
          <a:ln w="12600">
            <a:solidFill>
              <a:srgbClr val="333300"/>
            </a:solidFill>
            <a:round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8" name="Line 27"/>
          <p:cNvSpPr/>
          <p:nvPr/>
        </p:nvSpPr>
        <p:spPr>
          <a:xfrm>
            <a:off x="3214560" y="3235320"/>
            <a:ext cx="282600" cy="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79" name="CustomShape 28"/>
          <p:cNvSpPr/>
          <p:nvPr/>
        </p:nvSpPr>
        <p:spPr>
          <a:xfrm>
            <a:off x="3384365" y="1325391"/>
            <a:ext cx="2054275" cy="2865369"/>
          </a:xfrm>
          <a:custGeom>
            <a:avLst/>
            <a:gdLst/>
            <a:ahLst/>
            <a:cxnLst/>
            <a:rect l="l" t="t" r="r" b="b"/>
            <a:pathLst>
              <a:path w="1201" h="1782">
                <a:moveTo>
                  <a:pt x="25" y="0"/>
                </a:moveTo>
                <a:lnTo>
                  <a:pt x="1200" y="1781"/>
                </a:lnTo>
                <a:lnTo>
                  <a:pt x="0" y="1149"/>
                </a:lnTo>
                <a:lnTo>
                  <a:pt x="25" y="0"/>
                </a:lnTo>
              </a:path>
            </a:pathLst>
          </a:custGeom>
          <a:solidFill>
            <a:schemeClr val="bg1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0" name="Line 29"/>
          <p:cNvSpPr/>
          <p:nvPr/>
        </p:nvSpPr>
        <p:spPr>
          <a:xfrm>
            <a:off x="3497160" y="2666880"/>
            <a:ext cx="3309840" cy="2327040"/>
          </a:xfrm>
          <a:prstGeom prst="line">
            <a:avLst/>
          </a:prstGeom>
          <a:ln w="381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1" name="Line 30"/>
          <p:cNvSpPr/>
          <p:nvPr/>
        </p:nvSpPr>
        <p:spPr>
          <a:xfrm>
            <a:off x="3516240" y="765000"/>
            <a:ext cx="0" cy="4245120"/>
          </a:xfrm>
          <a:prstGeom prst="line">
            <a:avLst/>
          </a:prstGeom>
          <a:ln w="76320">
            <a:solidFill>
              <a:schemeClr val="accent2"/>
            </a:solidFill>
            <a:round/>
            <a:head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2" name="CustomShape 31"/>
          <p:cNvSpPr/>
          <p:nvPr/>
        </p:nvSpPr>
        <p:spPr>
          <a:xfrm>
            <a:off x="5201400" y="2117881"/>
            <a:ext cx="5143072" cy="3700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 dirty="0">
                <a:solidFill>
                  <a:srgbClr val="00B050"/>
                </a:solidFill>
                <a:latin typeface="Arial Narrow"/>
                <a:ea typeface="DejaVu Sans"/>
              </a:rPr>
              <a:t> Restricción del total de producción:  </a:t>
            </a:r>
            <a:r>
              <a:rPr lang="es-PE" b="1" spc="-1" dirty="0" err="1">
                <a:solidFill>
                  <a:srgbClr val="00B050"/>
                </a:solidFill>
                <a:latin typeface="Arial Narrow"/>
                <a:ea typeface="DejaVu Sans"/>
              </a:rPr>
              <a:t>X1+X2</a:t>
            </a:r>
            <a:r>
              <a:rPr lang="es-PE" b="1" spc="-1" dirty="0">
                <a:solidFill>
                  <a:srgbClr val="00B050"/>
                </a:solidFill>
                <a:latin typeface="Arial Narrow"/>
                <a:ea typeface="DejaVu Sans"/>
              </a:rPr>
              <a:t>&lt;=800</a:t>
            </a:r>
            <a:endParaRPr lang="es-PE" spc="-1" dirty="0">
              <a:solidFill>
                <a:srgbClr val="00B050"/>
              </a:solidFill>
              <a:latin typeface="Arial"/>
            </a:endParaRPr>
          </a:p>
        </p:txBody>
      </p:sp>
      <p:sp>
        <p:nvSpPr>
          <p:cNvPr id="983" name="Line 32"/>
          <p:cNvSpPr/>
          <p:nvPr/>
        </p:nvSpPr>
        <p:spPr>
          <a:xfrm flipV="1">
            <a:off x="4299439" y="2504437"/>
            <a:ext cx="1075592" cy="678378"/>
          </a:xfrm>
          <a:prstGeom prst="line">
            <a:avLst/>
          </a:prstGeom>
          <a:ln w="12600">
            <a:solidFill>
              <a:srgbClr val="000000"/>
            </a:solidFill>
            <a:round/>
            <a:head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4" name="Line 33"/>
          <p:cNvSpPr/>
          <p:nvPr/>
        </p:nvSpPr>
        <p:spPr>
          <a:xfrm>
            <a:off x="6845160" y="5029200"/>
            <a:ext cx="0" cy="212400"/>
          </a:xfrm>
          <a:prstGeom prst="line">
            <a:avLst/>
          </a:prstGeom>
          <a:ln w="12600">
            <a:solidFill>
              <a:srgbClr val="CC33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85" name="CustomShape 34"/>
          <p:cNvSpPr/>
          <p:nvPr/>
        </p:nvSpPr>
        <p:spPr>
          <a:xfrm>
            <a:off x="2736480" y="3068640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 dirty="0">
                <a:solidFill>
                  <a:srgbClr val="FF0000"/>
                </a:solidFill>
                <a:latin typeface="Arial"/>
                <a:ea typeface="DejaVu Sans"/>
              </a:rPr>
              <a:t>600</a:t>
            </a:r>
            <a:endParaRPr lang="es-PE" sz="1700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86" name="CustomShape 35"/>
          <p:cNvSpPr/>
          <p:nvPr/>
        </p:nvSpPr>
        <p:spPr>
          <a:xfrm>
            <a:off x="6465360" y="5216400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800</a:t>
            </a:r>
            <a:endParaRPr lang="es-PE" sz="1700" spc="-1">
              <a:latin typeface="Arial"/>
            </a:endParaRPr>
          </a:p>
        </p:txBody>
      </p:sp>
      <p:sp>
        <p:nvSpPr>
          <p:cNvPr id="996" name="CustomShape 45"/>
          <p:cNvSpPr/>
          <p:nvPr/>
        </p:nvSpPr>
        <p:spPr>
          <a:xfrm>
            <a:off x="4045080" y="4578480"/>
            <a:ext cx="62640" cy="62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99" name="CustomShape 48"/>
          <p:cNvSpPr/>
          <p:nvPr/>
        </p:nvSpPr>
        <p:spPr>
          <a:xfrm>
            <a:off x="5438640" y="4786200"/>
            <a:ext cx="62640" cy="62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2" name="CustomShape 51"/>
          <p:cNvSpPr/>
          <p:nvPr/>
        </p:nvSpPr>
        <p:spPr>
          <a:xfrm>
            <a:off x="5637360" y="4672080"/>
            <a:ext cx="62640" cy="6264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003" name="CustomShape 52"/>
          <p:cNvSpPr/>
          <p:nvPr/>
        </p:nvSpPr>
        <p:spPr>
          <a:xfrm>
            <a:off x="9414840" y="5084640"/>
            <a:ext cx="453566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>
                <a:solidFill>
                  <a:srgbClr val="CC3300"/>
                </a:solidFill>
                <a:latin typeface="Arial"/>
                <a:ea typeface="DejaVu Sans"/>
              </a:rPr>
              <a:t>X1</a:t>
            </a:r>
            <a:endParaRPr lang="es-PE" sz="1700" spc="-1">
              <a:latin typeface="Arial"/>
            </a:endParaRPr>
          </a:p>
        </p:txBody>
      </p:sp>
      <p:grpSp>
        <p:nvGrpSpPr>
          <p:cNvPr id="52" name="Group 36"/>
          <p:cNvGrpSpPr/>
          <p:nvPr/>
        </p:nvGrpSpPr>
        <p:grpSpPr>
          <a:xfrm>
            <a:off x="5201040" y="3228120"/>
            <a:ext cx="5143432" cy="1830599"/>
            <a:chOff x="3705120" y="3268440"/>
            <a:chExt cx="5143432" cy="1774080"/>
          </a:xfrm>
        </p:grpSpPr>
        <p:sp>
          <p:nvSpPr>
            <p:cNvPr id="54" name="CustomShape 38"/>
            <p:cNvSpPr/>
            <p:nvPr/>
          </p:nvSpPr>
          <p:spPr>
            <a:xfrm>
              <a:off x="3776760" y="4748040"/>
              <a:ext cx="650160" cy="294480"/>
            </a:xfrm>
            <a:custGeom>
              <a:avLst/>
              <a:gdLst/>
              <a:ahLst/>
              <a:cxnLst/>
              <a:rect l="l" t="t" r="r" b="b"/>
              <a:pathLst>
                <a:path w="410" h="186">
                  <a:moveTo>
                    <a:pt x="281" y="0"/>
                  </a:moveTo>
                  <a:lnTo>
                    <a:pt x="409" y="185"/>
                  </a:lnTo>
                  <a:lnTo>
                    <a:pt x="0" y="167"/>
                  </a:lnTo>
                  <a:lnTo>
                    <a:pt x="281" y="0"/>
                  </a:lnTo>
                </a:path>
              </a:pathLst>
            </a:custGeom>
            <a:solidFill>
              <a:schemeClr val="bg1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PE"/>
            </a:p>
          </p:txBody>
        </p:sp>
        <p:sp>
          <p:nvSpPr>
            <p:cNvPr id="55" name="CustomShape 39"/>
            <p:cNvSpPr/>
            <p:nvPr/>
          </p:nvSpPr>
          <p:spPr>
            <a:xfrm>
              <a:off x="5977080" y="3770280"/>
              <a:ext cx="2871472" cy="647058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2160" tIns="46080" rIns="92160" bIns="4608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PE" b="1" spc="-1" dirty="0">
                  <a:solidFill>
                    <a:srgbClr val="00B0F0"/>
                  </a:solidFill>
                  <a:latin typeface="Arial Narrow"/>
                  <a:ea typeface="DejaVu Sans"/>
                </a:rPr>
                <a:t>Restricción del exceso de producción: </a:t>
              </a:r>
              <a:r>
                <a:rPr lang="es-PE" b="1" spc="-1" dirty="0" err="1">
                  <a:solidFill>
                    <a:srgbClr val="00B0F0"/>
                  </a:solidFill>
                  <a:latin typeface="Arial Narrow"/>
                  <a:ea typeface="DejaVu Sans"/>
                </a:rPr>
                <a:t>X1-X2</a:t>
              </a:r>
              <a:r>
                <a:rPr lang="es-PE" b="1" spc="-1" dirty="0">
                  <a:solidFill>
                    <a:srgbClr val="00B0F0"/>
                  </a:solidFill>
                  <a:latin typeface="Arial Narrow"/>
                  <a:ea typeface="DejaVu Sans"/>
                </a:rPr>
                <a:t>&lt;=450</a:t>
              </a:r>
              <a:endParaRPr lang="es-PE" spc="-1" dirty="0">
                <a:solidFill>
                  <a:srgbClr val="00B0F0"/>
                </a:solidFill>
                <a:latin typeface="Arial"/>
              </a:endParaRPr>
            </a:p>
          </p:txBody>
        </p:sp>
        <p:sp>
          <p:nvSpPr>
            <p:cNvPr id="53" name="Line 37"/>
            <p:cNvSpPr/>
            <p:nvPr/>
          </p:nvSpPr>
          <p:spPr>
            <a:xfrm flipV="1">
              <a:off x="3705120" y="3268440"/>
              <a:ext cx="2976480" cy="1752480"/>
            </a:xfrm>
            <a:prstGeom prst="line">
              <a:avLst/>
            </a:prstGeom>
            <a:ln w="38100">
              <a:solidFill>
                <a:srgbClr val="00B0F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56" name="CustomShape 34"/>
          <p:cNvSpPr/>
          <p:nvPr/>
        </p:nvSpPr>
        <p:spPr>
          <a:xfrm>
            <a:off x="2758318" y="2464664"/>
            <a:ext cx="551220" cy="35467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700" b="1" spc="-1" dirty="0">
                <a:solidFill>
                  <a:srgbClr val="FF0000"/>
                </a:solidFill>
                <a:latin typeface="Arial"/>
                <a:ea typeface="DejaVu Sans"/>
              </a:rPr>
              <a:t>800</a:t>
            </a:r>
            <a:endParaRPr lang="es-PE" sz="1700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975" name="Line 24"/>
          <p:cNvSpPr/>
          <p:nvPr/>
        </p:nvSpPr>
        <p:spPr>
          <a:xfrm>
            <a:off x="3476280" y="3228120"/>
            <a:ext cx="3356280" cy="1774080"/>
          </a:xfrm>
          <a:prstGeom prst="line">
            <a:avLst/>
          </a:prstGeom>
          <a:ln w="381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92" name="Line 41"/>
          <p:cNvSpPr/>
          <p:nvPr/>
        </p:nvSpPr>
        <p:spPr>
          <a:xfrm>
            <a:off x="3497160" y="1326960"/>
            <a:ext cx="2469960" cy="3714840"/>
          </a:xfrm>
          <a:prstGeom prst="line">
            <a:avLst/>
          </a:prstGeom>
          <a:ln w="38100">
            <a:solidFill>
              <a:srgbClr val="0033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991" name="Line 40"/>
          <p:cNvSpPr/>
          <p:nvPr/>
        </p:nvSpPr>
        <p:spPr>
          <a:xfrm>
            <a:off x="3476280" y="5033880"/>
            <a:ext cx="5896080" cy="0"/>
          </a:xfrm>
          <a:prstGeom prst="line">
            <a:avLst/>
          </a:prstGeom>
          <a:ln w="76320">
            <a:solidFill>
              <a:schemeClr val="accent2"/>
            </a:solidFill>
            <a:round/>
            <a:tail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836850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1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0"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9"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  <p:animClr clrSpc="rgb" dir="cw">
                                      <p:cBhvr>
                                        <p:cTn id="40" dur="1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9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1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CustomShape 1"/>
          <p:cNvSpPr/>
          <p:nvPr/>
        </p:nvSpPr>
        <p:spPr>
          <a:xfrm>
            <a:off x="6096000" y="0"/>
            <a:ext cx="6096000" cy="104379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Los efectos del cambios en un coeficiente de </a:t>
            </a:r>
            <a:r>
              <a:rPr lang="es-PE" sz="2800" dirty="0" err="1">
                <a:solidFill>
                  <a:schemeClr val="bg1"/>
                </a:solidFill>
                <a:latin typeface="Bauhaus 93" pitchFamily="82" charset="0"/>
              </a:rPr>
              <a:t>F.O</a:t>
            </a:r>
            <a:endParaRPr lang="es-PE" sz="2800" dirty="0">
              <a:solidFill>
                <a:schemeClr val="bg1"/>
              </a:solidFill>
              <a:latin typeface="Bauhaus 93" pitchFamily="82" charset="0"/>
            </a:endParaRPr>
          </a:p>
        </p:txBody>
      </p:sp>
      <p:sp>
        <p:nvSpPr>
          <p:cNvPr id="1112" name="CustomShape 2"/>
          <p:cNvSpPr/>
          <p:nvPr/>
        </p:nvSpPr>
        <p:spPr>
          <a:xfrm>
            <a:off x="3657720" y="3733920"/>
            <a:ext cx="2363040" cy="1982160"/>
          </a:xfrm>
          <a:custGeom>
            <a:avLst/>
            <a:gdLst/>
            <a:ahLst/>
            <a:cxnLst/>
            <a:rect l="l" t="t" r="r" b="b"/>
            <a:pathLst>
              <a:path w="1489" h="1249">
                <a:moveTo>
                  <a:pt x="0" y="0"/>
                </a:moveTo>
                <a:lnTo>
                  <a:pt x="1392" y="768"/>
                </a:lnTo>
                <a:lnTo>
                  <a:pt x="1488" y="912"/>
                </a:lnTo>
                <a:lnTo>
                  <a:pt x="1056" y="1248"/>
                </a:lnTo>
                <a:lnTo>
                  <a:pt x="0" y="1248"/>
                </a:lnTo>
                <a:lnTo>
                  <a:pt x="0" y="0"/>
                </a:lnTo>
              </a:path>
            </a:pathLst>
          </a:custGeom>
          <a:solidFill>
            <a:srgbClr val="FFFF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3" name="CustomShape 3"/>
          <p:cNvSpPr/>
          <p:nvPr/>
        </p:nvSpPr>
        <p:spPr>
          <a:xfrm>
            <a:off x="3200520" y="1600200"/>
            <a:ext cx="4419000" cy="456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4" name="Line 4"/>
          <p:cNvSpPr/>
          <p:nvPr/>
        </p:nvSpPr>
        <p:spPr>
          <a:xfrm>
            <a:off x="3657360" y="1400040"/>
            <a:ext cx="0" cy="4263840"/>
          </a:xfrm>
          <a:prstGeom prst="line">
            <a:avLst/>
          </a:prstGeom>
          <a:ln w="76320">
            <a:solidFill>
              <a:schemeClr val="accent2"/>
            </a:solidFill>
            <a:round/>
            <a:head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5" name="Line 5"/>
          <p:cNvSpPr/>
          <p:nvPr/>
        </p:nvSpPr>
        <p:spPr>
          <a:xfrm>
            <a:off x="3636840" y="5688000"/>
            <a:ext cx="5797440" cy="0"/>
          </a:xfrm>
          <a:prstGeom prst="line">
            <a:avLst/>
          </a:prstGeom>
          <a:ln w="76320">
            <a:solidFill>
              <a:schemeClr val="accent2"/>
            </a:solidFill>
            <a:round/>
            <a:tailEnd type="stealth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6" name="Line 6"/>
          <p:cNvSpPr/>
          <p:nvPr/>
        </p:nvSpPr>
        <p:spPr>
          <a:xfrm>
            <a:off x="3346320" y="3713040"/>
            <a:ext cx="311040" cy="0"/>
          </a:xfrm>
          <a:prstGeom prst="line">
            <a:avLst/>
          </a:prstGeom>
          <a:ln w="255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7" name="Line 7"/>
          <p:cNvSpPr/>
          <p:nvPr/>
        </p:nvSpPr>
        <p:spPr>
          <a:xfrm>
            <a:off x="3346320" y="1641240"/>
            <a:ext cx="311040" cy="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8" name="Line 8"/>
          <p:cNvSpPr/>
          <p:nvPr/>
        </p:nvSpPr>
        <p:spPr>
          <a:xfrm>
            <a:off x="3346320" y="2950920"/>
            <a:ext cx="311040" cy="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19" name="Line 9"/>
          <p:cNvSpPr/>
          <p:nvPr/>
        </p:nvSpPr>
        <p:spPr>
          <a:xfrm flipV="1">
            <a:off x="6322800" y="5665680"/>
            <a:ext cx="0" cy="2412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20" name="Line 10"/>
          <p:cNvSpPr/>
          <p:nvPr/>
        </p:nvSpPr>
        <p:spPr>
          <a:xfrm>
            <a:off x="7262760" y="5667120"/>
            <a:ext cx="0" cy="2412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21" name="Line 11"/>
          <p:cNvSpPr/>
          <p:nvPr/>
        </p:nvSpPr>
        <p:spPr>
          <a:xfrm>
            <a:off x="5381400" y="5667120"/>
            <a:ext cx="0" cy="24120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22" name="CustomShape 12"/>
          <p:cNvSpPr/>
          <p:nvPr/>
        </p:nvSpPr>
        <p:spPr>
          <a:xfrm>
            <a:off x="2781840" y="344952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600</a:t>
            </a:r>
            <a:endParaRPr lang="es-PE" sz="1900" spc="-1">
              <a:latin typeface="Arial"/>
            </a:endParaRPr>
          </a:p>
        </p:txBody>
      </p:sp>
      <p:sp>
        <p:nvSpPr>
          <p:cNvPr id="1123" name="CustomShape 13"/>
          <p:cNvSpPr/>
          <p:nvPr/>
        </p:nvSpPr>
        <p:spPr>
          <a:xfrm>
            <a:off x="2781840" y="268776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800</a:t>
            </a:r>
            <a:endParaRPr lang="es-PE" sz="1900" spc="-1">
              <a:latin typeface="Arial"/>
            </a:endParaRPr>
          </a:p>
        </p:txBody>
      </p:sp>
      <p:sp>
        <p:nvSpPr>
          <p:cNvPr id="1124" name="CustomShape 14"/>
          <p:cNvSpPr/>
          <p:nvPr/>
        </p:nvSpPr>
        <p:spPr>
          <a:xfrm>
            <a:off x="2624880" y="1378080"/>
            <a:ext cx="730628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1200</a:t>
            </a:r>
            <a:endParaRPr lang="es-PE" sz="1900" spc="-1">
              <a:latin typeface="Arial"/>
            </a:endParaRPr>
          </a:p>
        </p:txBody>
      </p:sp>
      <p:sp>
        <p:nvSpPr>
          <p:cNvPr id="1125" name="Line 15"/>
          <p:cNvSpPr/>
          <p:nvPr/>
        </p:nvSpPr>
        <p:spPr>
          <a:xfrm>
            <a:off x="5854440" y="4935240"/>
            <a:ext cx="154080" cy="241560"/>
          </a:xfrm>
          <a:prstGeom prst="line">
            <a:avLst/>
          </a:prstGeom>
          <a:ln w="50760">
            <a:solidFill>
              <a:srgbClr val="00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26" name="Line 16"/>
          <p:cNvSpPr/>
          <p:nvPr/>
        </p:nvSpPr>
        <p:spPr>
          <a:xfrm>
            <a:off x="3660600" y="3716280"/>
            <a:ext cx="2190600" cy="1216080"/>
          </a:xfrm>
          <a:prstGeom prst="line">
            <a:avLst/>
          </a:prstGeom>
          <a:ln w="50760">
            <a:solidFill>
              <a:srgbClr val="00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27" name="Line 17"/>
          <p:cNvSpPr/>
          <p:nvPr/>
        </p:nvSpPr>
        <p:spPr>
          <a:xfrm flipV="1">
            <a:off x="5383200" y="5178240"/>
            <a:ext cx="623880" cy="484200"/>
          </a:xfrm>
          <a:prstGeom prst="line">
            <a:avLst/>
          </a:prstGeom>
          <a:ln w="50760">
            <a:solidFill>
              <a:srgbClr val="00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28" name="CustomShape 18"/>
          <p:cNvSpPr/>
          <p:nvPr/>
        </p:nvSpPr>
        <p:spPr>
          <a:xfrm>
            <a:off x="3721080" y="1255680"/>
            <a:ext cx="48402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X2</a:t>
            </a:r>
            <a:endParaRPr lang="es-PE" sz="1900" spc="-1">
              <a:latin typeface="Arial"/>
            </a:endParaRPr>
          </a:p>
        </p:txBody>
      </p:sp>
      <p:sp>
        <p:nvSpPr>
          <p:cNvPr id="1129" name="CustomShape 19"/>
          <p:cNvSpPr/>
          <p:nvPr/>
        </p:nvSpPr>
        <p:spPr>
          <a:xfrm>
            <a:off x="9523560" y="5400720"/>
            <a:ext cx="48402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X1</a:t>
            </a:r>
            <a:endParaRPr lang="es-PE" sz="1900" spc="-1">
              <a:latin typeface="Arial"/>
            </a:endParaRPr>
          </a:p>
        </p:txBody>
      </p:sp>
      <p:sp>
        <p:nvSpPr>
          <p:cNvPr id="1130" name="Line 20"/>
          <p:cNvSpPr/>
          <p:nvPr/>
        </p:nvSpPr>
        <p:spPr>
          <a:xfrm>
            <a:off x="5851200" y="5667120"/>
            <a:ext cx="0" cy="119160"/>
          </a:xfrm>
          <a:prstGeom prst="line">
            <a:avLst/>
          </a:prstGeom>
          <a:ln w="255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31" name="Line 21"/>
          <p:cNvSpPr/>
          <p:nvPr/>
        </p:nvSpPr>
        <p:spPr>
          <a:xfrm>
            <a:off x="4384560" y="3259080"/>
            <a:ext cx="2197080" cy="2525760"/>
          </a:xfrm>
          <a:prstGeom prst="line">
            <a:avLst/>
          </a:prstGeom>
          <a:ln w="255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32" name="CustomShape 22"/>
          <p:cNvSpPr/>
          <p:nvPr/>
        </p:nvSpPr>
        <p:spPr>
          <a:xfrm rot="3060000">
            <a:off x="4131503" y="3394632"/>
            <a:ext cx="1457237" cy="3700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>
                <a:solidFill>
                  <a:srgbClr val="006600"/>
                </a:solidFill>
                <a:latin typeface="Arial Narrow"/>
                <a:ea typeface="DejaVu Sans"/>
              </a:rPr>
              <a:t>Max 8x1 + 5x2</a:t>
            </a:r>
            <a:endParaRPr lang="es-PE" spc="-1">
              <a:latin typeface="Arial"/>
            </a:endParaRPr>
          </a:p>
        </p:txBody>
      </p:sp>
      <p:sp>
        <p:nvSpPr>
          <p:cNvPr id="1134" name="Line 24"/>
          <p:cNvSpPr/>
          <p:nvPr/>
        </p:nvSpPr>
        <p:spPr>
          <a:xfrm>
            <a:off x="4368720" y="3373200"/>
            <a:ext cx="2290680" cy="2408400"/>
          </a:xfrm>
          <a:prstGeom prst="line">
            <a:avLst/>
          </a:prstGeom>
          <a:ln w="255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37" name="Line 27"/>
          <p:cNvSpPr/>
          <p:nvPr/>
        </p:nvSpPr>
        <p:spPr>
          <a:xfrm>
            <a:off x="4246320" y="3427200"/>
            <a:ext cx="2505240" cy="2330640"/>
          </a:xfrm>
          <a:prstGeom prst="line">
            <a:avLst/>
          </a:prstGeom>
          <a:ln w="255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39" name="Line 29"/>
          <p:cNvSpPr/>
          <p:nvPr/>
        </p:nvSpPr>
        <p:spPr>
          <a:xfrm>
            <a:off x="4203480" y="3481200"/>
            <a:ext cx="2602080" cy="2233800"/>
          </a:xfrm>
          <a:prstGeom prst="line">
            <a:avLst/>
          </a:prstGeom>
          <a:ln w="255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41" name="Line 31"/>
          <p:cNvSpPr/>
          <p:nvPr/>
        </p:nvSpPr>
        <p:spPr>
          <a:xfrm>
            <a:off x="4170360" y="3536640"/>
            <a:ext cx="2701800" cy="2197080"/>
          </a:xfrm>
          <a:prstGeom prst="line">
            <a:avLst/>
          </a:prstGeom>
          <a:ln w="255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45" name="CustomShape 35"/>
          <p:cNvSpPr/>
          <p:nvPr/>
        </p:nvSpPr>
        <p:spPr>
          <a:xfrm rot="2280000">
            <a:off x="3518423" y="3473832"/>
            <a:ext cx="1457237" cy="3700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>
                <a:solidFill>
                  <a:srgbClr val="000000"/>
                </a:solidFill>
                <a:latin typeface="Arial Narrow"/>
                <a:ea typeface="DejaVu Sans"/>
              </a:rPr>
              <a:t>Max 4x1 + 5x2</a:t>
            </a:r>
            <a:endParaRPr lang="es-PE" spc="-1">
              <a:latin typeface="Arial"/>
            </a:endParaRPr>
          </a:p>
        </p:txBody>
      </p:sp>
      <p:sp>
        <p:nvSpPr>
          <p:cNvPr id="1146" name="Line 36"/>
          <p:cNvSpPr/>
          <p:nvPr/>
        </p:nvSpPr>
        <p:spPr>
          <a:xfrm>
            <a:off x="3979560" y="3665520"/>
            <a:ext cx="2894040" cy="1941480"/>
          </a:xfrm>
          <a:prstGeom prst="line">
            <a:avLst/>
          </a:prstGeom>
          <a:ln w="255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47" name="Line 37"/>
          <p:cNvSpPr/>
          <p:nvPr/>
        </p:nvSpPr>
        <p:spPr>
          <a:xfrm>
            <a:off x="3920880" y="3703320"/>
            <a:ext cx="2933640" cy="1884600"/>
          </a:xfrm>
          <a:prstGeom prst="line">
            <a:avLst/>
          </a:prstGeom>
          <a:ln w="25560">
            <a:solidFill>
              <a:srgbClr val="006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50" name="CustomShape 40"/>
          <p:cNvSpPr/>
          <p:nvPr/>
        </p:nvSpPr>
        <p:spPr>
          <a:xfrm>
            <a:off x="5779920" y="4863960"/>
            <a:ext cx="138960" cy="138960"/>
          </a:xfrm>
          <a:prstGeom prst="ellipse">
            <a:avLst/>
          </a:prstGeom>
          <a:solidFill>
            <a:srgbClr val="EF2F09"/>
          </a:solidFill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51" name="CustomShape 41"/>
          <p:cNvSpPr/>
          <p:nvPr/>
        </p:nvSpPr>
        <p:spPr>
          <a:xfrm rot="1740000">
            <a:off x="3606686" y="3829872"/>
            <a:ext cx="1721348" cy="3700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>
                <a:solidFill>
                  <a:srgbClr val="006600"/>
                </a:solidFill>
                <a:latin typeface="Arial Narrow"/>
                <a:ea typeface="DejaVu Sans"/>
              </a:rPr>
              <a:t>Max 3.75x1 + 5x2</a:t>
            </a:r>
            <a:endParaRPr lang="es-PE" spc="-1">
              <a:latin typeface="Arial"/>
            </a:endParaRPr>
          </a:p>
        </p:txBody>
      </p:sp>
      <p:sp>
        <p:nvSpPr>
          <p:cNvPr id="1152" name="Line 42"/>
          <p:cNvSpPr/>
          <p:nvPr/>
        </p:nvSpPr>
        <p:spPr>
          <a:xfrm>
            <a:off x="3736920" y="3743280"/>
            <a:ext cx="3090600" cy="1719000"/>
          </a:xfrm>
          <a:prstGeom prst="line">
            <a:avLst/>
          </a:prstGeom>
          <a:ln w="255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53" name="CustomShape 43"/>
          <p:cNvSpPr/>
          <p:nvPr/>
        </p:nvSpPr>
        <p:spPr>
          <a:xfrm>
            <a:off x="3578160" y="3632040"/>
            <a:ext cx="138960" cy="138960"/>
          </a:xfrm>
          <a:prstGeom prst="ellipse">
            <a:avLst/>
          </a:prstGeom>
          <a:solidFill>
            <a:srgbClr val="EF2F09"/>
          </a:solidFill>
          <a:ln w="126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59" name="Line 49"/>
          <p:cNvSpPr/>
          <p:nvPr/>
        </p:nvSpPr>
        <p:spPr>
          <a:xfrm>
            <a:off x="3660600" y="3719160"/>
            <a:ext cx="3137040" cy="13813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PE"/>
          </a:p>
        </p:txBody>
      </p:sp>
      <p:sp>
        <p:nvSpPr>
          <p:cNvPr id="1160" name="CustomShape 50"/>
          <p:cNvSpPr/>
          <p:nvPr/>
        </p:nvSpPr>
        <p:spPr>
          <a:xfrm rot="1380000">
            <a:off x="5407703" y="4455552"/>
            <a:ext cx="1457237" cy="3700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b="1" spc="-1">
                <a:solidFill>
                  <a:srgbClr val="006600"/>
                </a:solidFill>
                <a:latin typeface="Arial Narrow"/>
                <a:ea typeface="DejaVu Sans"/>
              </a:rPr>
              <a:t>Max 2x1 + 5x2</a:t>
            </a:r>
            <a:endParaRPr lang="es-PE" spc="-1">
              <a:latin typeface="Arial"/>
            </a:endParaRPr>
          </a:p>
        </p:txBody>
      </p:sp>
      <p:sp>
        <p:nvSpPr>
          <p:cNvPr id="1161" name="CustomShape 51"/>
          <p:cNvSpPr/>
          <p:nvPr/>
        </p:nvSpPr>
        <p:spPr>
          <a:xfrm>
            <a:off x="5132640" y="588816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400</a:t>
            </a:r>
            <a:endParaRPr lang="es-PE" sz="1900" spc="-1">
              <a:latin typeface="Arial"/>
            </a:endParaRPr>
          </a:p>
        </p:txBody>
      </p:sp>
      <p:sp>
        <p:nvSpPr>
          <p:cNvPr id="1162" name="CustomShape 52"/>
          <p:cNvSpPr/>
          <p:nvPr/>
        </p:nvSpPr>
        <p:spPr>
          <a:xfrm>
            <a:off x="5917080" y="588816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600</a:t>
            </a:r>
            <a:endParaRPr lang="es-PE" sz="1900" spc="-1">
              <a:latin typeface="Arial"/>
            </a:endParaRPr>
          </a:p>
        </p:txBody>
      </p:sp>
      <p:sp>
        <p:nvSpPr>
          <p:cNvPr id="1163" name="CustomShape 53"/>
          <p:cNvSpPr/>
          <p:nvPr/>
        </p:nvSpPr>
        <p:spPr>
          <a:xfrm>
            <a:off x="6858480" y="5888160"/>
            <a:ext cx="594502" cy="38544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</a:pPr>
            <a:r>
              <a:rPr lang="es-PE" sz="1900" b="1" spc="-1">
                <a:solidFill>
                  <a:srgbClr val="000000"/>
                </a:solidFill>
                <a:latin typeface="Arial"/>
                <a:ea typeface="DejaVu Sans"/>
              </a:rPr>
              <a:t>800</a:t>
            </a:r>
            <a:endParaRPr lang="es-PE" sz="1900" spc="-1">
              <a:latin typeface="Arial"/>
            </a:endParaRPr>
          </a:p>
        </p:txBody>
      </p:sp>
      <p:cxnSp>
        <p:nvCxnSpPr>
          <p:cNvPr id="3" name="2 Conector recto"/>
          <p:cNvCxnSpPr/>
          <p:nvPr/>
        </p:nvCxnSpPr>
        <p:spPr>
          <a:xfrm>
            <a:off x="5918880" y="2276872"/>
            <a:ext cx="2409368" cy="2587088"/>
          </a:xfrm>
          <a:prstGeom prst="line">
            <a:avLst/>
          </a:prstGeom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4 Conector recto"/>
          <p:cNvCxnSpPr/>
          <p:nvPr/>
        </p:nvCxnSpPr>
        <p:spPr>
          <a:xfrm>
            <a:off x="7262760" y="2056680"/>
            <a:ext cx="0" cy="2946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6210840" y="3704295"/>
            <a:ext cx="2407952" cy="28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56312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 additive="repl">
                                        <p:cTn id="10"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75"/>
                            </p:stCondLst>
                            <p:childTnLst>
                              <p:par>
                                <p:cTn id="15" presetID="1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50"/>
                            </p:stCondLst>
                            <p:childTnLst>
                              <p:par>
                                <p:cTn id="18" presetID="1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25"/>
                            </p:stCondLst>
                            <p:childTnLst>
                              <p:par>
                                <p:cTn id="21" presetID="1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Clr clrSpc="rgb" dir="cw">
                                      <p:cBhvr>
                                        <p:cTn id="28" dur="1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9BEA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"/>
                            </p:stCondLst>
                            <p:childTnLst>
                              <p:par>
                                <p:cTn id="34" presetID="1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"/>
                            </p:stCondLst>
                            <p:childTnLst>
                              <p:par>
                                <p:cTn id="37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Clr clrSpc="rgb" dir="cw">
                                      <p:cBhvr>
                                        <p:cTn id="41" dur="1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9BEA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"/>
                            </p:stCondLst>
                            <p:childTnLst>
                              <p:par>
                                <p:cTn id="43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9" dur="5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Clr clrSpc="rgb" dir="cw">
                                      <p:cBhvr>
                                        <p:cTn id="53" dur="1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9BEA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Clr clrSpc="rgb" dir="cw">
                                      <p:cBhvr>
                                        <p:cTn id="59" dur="1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9BEA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42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</a:t>
            </a:r>
            <a: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4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6042</TotalTime>
  <Words>5138</Words>
  <Application>Microsoft Office PowerPoint</Application>
  <PresentationFormat>Panorámica</PresentationFormat>
  <Paragraphs>853</Paragraphs>
  <Slides>42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42</vt:i4>
      </vt:variant>
    </vt:vector>
  </HeadingPairs>
  <TitlesOfParts>
    <vt:vector size="56" baseType="lpstr">
      <vt:lpstr>Arial</vt:lpstr>
      <vt:lpstr>Arial</vt:lpstr>
      <vt:lpstr>Arial Black</vt:lpstr>
      <vt:lpstr>Arial Narrow</vt:lpstr>
      <vt:lpstr>Bauhaus 93</vt:lpstr>
      <vt:lpstr>Bodoni MT Black</vt:lpstr>
      <vt:lpstr>Calibri</vt:lpstr>
      <vt:lpstr>Calibri Light</vt:lpstr>
      <vt:lpstr>Cambria Math</vt:lpstr>
      <vt:lpstr>Lexend Deca</vt:lpstr>
      <vt:lpstr>Signika</vt:lpstr>
      <vt:lpstr>Symbol</vt:lpstr>
      <vt:lpstr>Times New Roman</vt:lpstr>
      <vt:lpstr>Tema de Office</vt:lpstr>
      <vt:lpstr>Presentación de PowerPoint</vt:lpstr>
      <vt:lpstr>ANÁLISIS DE SENSIBILIDAD</vt:lpstr>
      <vt:lpstr>Orientaciones</vt:lpstr>
      <vt:lpstr>Contenido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303</cp:revision>
  <dcterms:created xsi:type="dcterms:W3CDTF">2021-09-08T13:14:39Z</dcterms:created>
  <dcterms:modified xsi:type="dcterms:W3CDTF">2026-08-16T17:20:56Z</dcterms:modified>
</cp:coreProperties>
</file>
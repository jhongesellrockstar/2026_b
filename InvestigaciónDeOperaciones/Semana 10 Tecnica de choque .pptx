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handoutMasterIdLst>
    <p:handoutMasterId r:id="rId41"/>
  </p:handoutMasterIdLst>
  <p:sldIdLst>
    <p:sldId id="481" r:id="rId2"/>
    <p:sldId id="353" r:id="rId3"/>
    <p:sldId id="355" r:id="rId4"/>
    <p:sldId id="311" r:id="rId5"/>
    <p:sldId id="312" r:id="rId6"/>
    <p:sldId id="313" r:id="rId7"/>
    <p:sldId id="358" r:id="rId8"/>
    <p:sldId id="356" r:id="rId9"/>
    <p:sldId id="315" r:id="rId10"/>
    <p:sldId id="367" r:id="rId11"/>
    <p:sldId id="359" r:id="rId12"/>
    <p:sldId id="360" r:id="rId13"/>
    <p:sldId id="317" r:id="rId14"/>
    <p:sldId id="318" r:id="rId15"/>
    <p:sldId id="320" r:id="rId16"/>
    <p:sldId id="321" r:id="rId17"/>
    <p:sldId id="323" r:id="rId18"/>
    <p:sldId id="368" r:id="rId19"/>
    <p:sldId id="361" r:id="rId20"/>
    <p:sldId id="324" r:id="rId21"/>
    <p:sldId id="325" r:id="rId22"/>
    <p:sldId id="362" r:id="rId23"/>
    <p:sldId id="366" r:id="rId24"/>
    <p:sldId id="328" r:id="rId25"/>
    <p:sldId id="363" r:id="rId26"/>
    <p:sldId id="329" r:id="rId27"/>
    <p:sldId id="330" r:id="rId28"/>
    <p:sldId id="331" r:id="rId29"/>
    <p:sldId id="332" r:id="rId30"/>
    <p:sldId id="333" r:id="rId31"/>
    <p:sldId id="334" r:id="rId32"/>
    <p:sldId id="335" r:id="rId33"/>
    <p:sldId id="336" r:id="rId34"/>
    <p:sldId id="337" r:id="rId35"/>
    <p:sldId id="338" r:id="rId36"/>
    <p:sldId id="339" r:id="rId37"/>
    <p:sldId id="340" r:id="rId38"/>
    <p:sldId id="280" r:id="rId39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158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828" y="1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FFDA7DC-4313-4870-B0AE-F859481756E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C9190E6E-E06D-4E80-8577-25C20C6E11BE}">
      <dgm:prSet custT="1"/>
      <dgm:spPr/>
      <dgm:t>
        <a:bodyPr/>
        <a:lstStyle/>
        <a:p>
          <a:pPr rtl="0"/>
          <a:r>
            <a:rPr lang="es-MX" sz="2400" b="0" dirty="0"/>
            <a:t>Tiempo Normal </a:t>
          </a:r>
          <a:r>
            <a:rPr lang="es-MX" sz="2400" b="0" dirty="0" err="1"/>
            <a:t>T.N</a:t>
          </a:r>
          <a:r>
            <a:rPr lang="es-MX" sz="2400" b="0" dirty="0"/>
            <a:t>., es el tiempo en condiciones normales.</a:t>
          </a:r>
          <a:endParaRPr lang="es-PE" sz="2400" dirty="0"/>
        </a:p>
      </dgm:t>
    </dgm:pt>
    <dgm:pt modelId="{175E585A-DF0B-49CB-9A5F-2B4FC70D07C9}" type="parTrans" cxnId="{74A3773A-D56D-4022-8319-C553D059B47F}">
      <dgm:prSet/>
      <dgm:spPr/>
      <dgm:t>
        <a:bodyPr/>
        <a:lstStyle/>
        <a:p>
          <a:endParaRPr lang="es-PE" sz="2400"/>
        </a:p>
      </dgm:t>
    </dgm:pt>
    <dgm:pt modelId="{FD2799D4-ECF8-4451-AAED-639F75B6456D}" type="sibTrans" cxnId="{74A3773A-D56D-4022-8319-C553D059B47F}">
      <dgm:prSet/>
      <dgm:spPr/>
      <dgm:t>
        <a:bodyPr/>
        <a:lstStyle/>
        <a:p>
          <a:endParaRPr lang="es-PE" sz="2400"/>
        </a:p>
      </dgm:t>
    </dgm:pt>
    <dgm:pt modelId="{B177E324-B9C3-4858-81C9-3D9D2EEC6812}">
      <dgm:prSet custT="1"/>
      <dgm:spPr/>
      <dgm:t>
        <a:bodyPr/>
        <a:lstStyle/>
        <a:p>
          <a:pPr rtl="0"/>
          <a:r>
            <a:rPr lang="es-MX" sz="2400" b="0"/>
            <a:t>Costo Normal C.N., está relacionado con el T.N.</a:t>
          </a:r>
          <a:endParaRPr lang="es-PE" sz="2400"/>
        </a:p>
      </dgm:t>
    </dgm:pt>
    <dgm:pt modelId="{8AD1C299-B922-4D83-8660-8C75E82867F0}" type="parTrans" cxnId="{F2A10E41-EBF4-4FE0-B3FC-7CD07AF7AC28}">
      <dgm:prSet/>
      <dgm:spPr/>
      <dgm:t>
        <a:bodyPr/>
        <a:lstStyle/>
        <a:p>
          <a:endParaRPr lang="es-PE" sz="2400"/>
        </a:p>
      </dgm:t>
    </dgm:pt>
    <dgm:pt modelId="{9F9CF3A8-74F1-4922-8CDC-1B41862D4B9C}" type="sibTrans" cxnId="{F2A10E41-EBF4-4FE0-B3FC-7CD07AF7AC28}">
      <dgm:prSet/>
      <dgm:spPr/>
      <dgm:t>
        <a:bodyPr/>
        <a:lstStyle/>
        <a:p>
          <a:endParaRPr lang="es-PE" sz="2400"/>
        </a:p>
      </dgm:t>
    </dgm:pt>
    <dgm:pt modelId="{2D50E5C6-B845-4BEB-9938-C90442571D57}">
      <dgm:prSet custT="1"/>
      <dgm:spPr/>
      <dgm:t>
        <a:bodyPr/>
        <a:lstStyle/>
        <a:p>
          <a:pPr rtl="0"/>
          <a:r>
            <a:rPr lang="es-MX" sz="2400" b="0"/>
            <a:t>Tiempo de choque T.Ch., es el tiempo más corto posible.</a:t>
          </a:r>
          <a:endParaRPr lang="es-PE" sz="2400"/>
        </a:p>
      </dgm:t>
    </dgm:pt>
    <dgm:pt modelId="{B77C5688-0B3A-439A-86A9-79A6E4763671}" type="parTrans" cxnId="{17E40959-77D8-4216-B09D-28B4F69E0CD4}">
      <dgm:prSet/>
      <dgm:spPr/>
      <dgm:t>
        <a:bodyPr/>
        <a:lstStyle/>
        <a:p>
          <a:endParaRPr lang="es-PE" sz="2400"/>
        </a:p>
      </dgm:t>
    </dgm:pt>
    <dgm:pt modelId="{DAB62D66-8811-48DE-910E-A7341626E671}" type="sibTrans" cxnId="{17E40959-77D8-4216-B09D-28B4F69E0CD4}">
      <dgm:prSet/>
      <dgm:spPr/>
      <dgm:t>
        <a:bodyPr/>
        <a:lstStyle/>
        <a:p>
          <a:endParaRPr lang="es-PE" sz="2400"/>
        </a:p>
      </dgm:t>
    </dgm:pt>
    <dgm:pt modelId="{59368B8A-635A-4497-AC8C-FC9B333A33C8}">
      <dgm:prSet custT="1"/>
      <dgm:spPr/>
      <dgm:t>
        <a:bodyPr/>
        <a:lstStyle/>
        <a:p>
          <a:pPr rtl="0"/>
          <a:r>
            <a:rPr lang="es-MX" sz="2400" b="0"/>
            <a:t>Costo de choque C.Ch., está relacionado con el T.Ch.</a:t>
          </a:r>
          <a:endParaRPr lang="es-PE" sz="2400"/>
        </a:p>
      </dgm:t>
    </dgm:pt>
    <dgm:pt modelId="{2E45E474-7E3F-4AA7-BE67-36A44467EDEB}" type="parTrans" cxnId="{34826C2D-1062-443A-8156-42C4E28C14A5}">
      <dgm:prSet/>
      <dgm:spPr/>
      <dgm:t>
        <a:bodyPr/>
        <a:lstStyle/>
        <a:p>
          <a:endParaRPr lang="es-PE" sz="2400"/>
        </a:p>
      </dgm:t>
    </dgm:pt>
    <dgm:pt modelId="{F59E23E0-489E-43F9-901B-76BDEFE4AB41}" type="sibTrans" cxnId="{34826C2D-1062-443A-8156-42C4E28C14A5}">
      <dgm:prSet/>
      <dgm:spPr/>
      <dgm:t>
        <a:bodyPr/>
        <a:lstStyle/>
        <a:p>
          <a:endParaRPr lang="es-PE" sz="2400"/>
        </a:p>
      </dgm:t>
    </dgm:pt>
    <dgm:pt modelId="{93A43F54-995F-4DF2-A0F8-EC44113C7A53}">
      <dgm:prSet custT="1"/>
      <dgm:spPr/>
      <dgm:t>
        <a:bodyPr/>
        <a:lstStyle/>
        <a:p>
          <a:pPr rtl="0"/>
          <a:r>
            <a:rPr lang="es-MX" sz="2400" b="0" dirty="0"/>
            <a:t>Suponiendo una relación lineal entre tiempos y costos. </a:t>
          </a:r>
          <a:endParaRPr lang="es-PE" sz="2400" dirty="0"/>
        </a:p>
      </dgm:t>
    </dgm:pt>
    <dgm:pt modelId="{7E2E7821-70E8-45CF-AE19-EEB2C25FE011}" type="parTrans" cxnId="{797929C3-4244-4710-A61B-A5155DD9F463}">
      <dgm:prSet/>
      <dgm:spPr/>
      <dgm:t>
        <a:bodyPr/>
        <a:lstStyle/>
        <a:p>
          <a:endParaRPr lang="es-PE" sz="2400"/>
        </a:p>
      </dgm:t>
    </dgm:pt>
    <dgm:pt modelId="{0A220180-8EFC-47E5-8683-D65A1F2414F2}" type="sibTrans" cxnId="{797929C3-4244-4710-A61B-A5155DD9F463}">
      <dgm:prSet/>
      <dgm:spPr/>
      <dgm:t>
        <a:bodyPr/>
        <a:lstStyle/>
        <a:p>
          <a:endParaRPr lang="es-PE" sz="2400"/>
        </a:p>
      </dgm:t>
    </dgm:pt>
    <dgm:pt modelId="{C9F2C2C0-F3D8-469C-A095-450F73D138F6}" type="pres">
      <dgm:prSet presAssocID="{2FFDA7DC-4313-4870-B0AE-F859481756E8}" presName="linear" presStyleCnt="0">
        <dgm:presLayoutVars>
          <dgm:animLvl val="lvl"/>
          <dgm:resizeHandles val="exact"/>
        </dgm:presLayoutVars>
      </dgm:prSet>
      <dgm:spPr/>
    </dgm:pt>
    <dgm:pt modelId="{06C19B74-D05A-469C-B30B-69ED5808A6B5}" type="pres">
      <dgm:prSet presAssocID="{C9190E6E-E06D-4E80-8577-25C20C6E11BE}" presName="parentText" presStyleLbl="node1" presStyleIdx="0" presStyleCnt="5" custScaleY="136831">
        <dgm:presLayoutVars>
          <dgm:chMax val="0"/>
          <dgm:bulletEnabled val="1"/>
        </dgm:presLayoutVars>
      </dgm:prSet>
      <dgm:spPr/>
    </dgm:pt>
    <dgm:pt modelId="{7A6095FA-B4AC-4F96-9EAF-7561BD9A3DD3}" type="pres">
      <dgm:prSet presAssocID="{FD2799D4-ECF8-4451-AAED-639F75B6456D}" presName="spacer" presStyleCnt="0"/>
      <dgm:spPr/>
    </dgm:pt>
    <dgm:pt modelId="{A017F6A5-B9F9-400E-8A17-3E799E63DEA2}" type="pres">
      <dgm:prSet presAssocID="{B177E324-B9C3-4858-81C9-3D9D2EEC681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E95A21C2-BE47-4F4B-AA4F-672E60013EFA}" type="pres">
      <dgm:prSet presAssocID="{9F9CF3A8-74F1-4922-8CDC-1B41862D4B9C}" presName="spacer" presStyleCnt="0"/>
      <dgm:spPr/>
    </dgm:pt>
    <dgm:pt modelId="{87A8B694-1730-4E02-878A-71F4E62B7C8F}" type="pres">
      <dgm:prSet presAssocID="{2D50E5C6-B845-4BEB-9938-C90442571D5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09069C4F-FD09-4C53-AE68-D5C837DD05C5}" type="pres">
      <dgm:prSet presAssocID="{DAB62D66-8811-48DE-910E-A7341626E671}" presName="spacer" presStyleCnt="0"/>
      <dgm:spPr/>
    </dgm:pt>
    <dgm:pt modelId="{FF3944A2-2E0C-4656-B322-151D0D162EB7}" type="pres">
      <dgm:prSet presAssocID="{59368B8A-635A-4497-AC8C-FC9B333A33C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7CD67C8F-B3AB-4E75-A5E9-80F593D0150C}" type="pres">
      <dgm:prSet presAssocID="{F59E23E0-489E-43F9-901B-76BDEFE4AB41}" presName="spacer" presStyleCnt="0"/>
      <dgm:spPr/>
    </dgm:pt>
    <dgm:pt modelId="{216D0C4C-D065-4593-AE58-5B56E2B3A4F0}" type="pres">
      <dgm:prSet presAssocID="{93A43F54-995F-4DF2-A0F8-EC44113C7A53}" presName="parentText" presStyleLbl="node1" presStyleIdx="4" presStyleCnt="5" custScaleY="112567">
        <dgm:presLayoutVars>
          <dgm:chMax val="0"/>
          <dgm:bulletEnabled val="1"/>
        </dgm:presLayoutVars>
      </dgm:prSet>
      <dgm:spPr/>
    </dgm:pt>
  </dgm:ptLst>
  <dgm:cxnLst>
    <dgm:cxn modelId="{34826C2D-1062-443A-8156-42C4E28C14A5}" srcId="{2FFDA7DC-4313-4870-B0AE-F859481756E8}" destId="{59368B8A-635A-4497-AC8C-FC9B333A33C8}" srcOrd="3" destOrd="0" parTransId="{2E45E474-7E3F-4AA7-BE67-36A44467EDEB}" sibTransId="{F59E23E0-489E-43F9-901B-76BDEFE4AB41}"/>
    <dgm:cxn modelId="{02B3E332-4C07-4755-96CB-F335EAFD3C26}" type="presOf" srcId="{59368B8A-635A-4497-AC8C-FC9B333A33C8}" destId="{FF3944A2-2E0C-4656-B322-151D0D162EB7}" srcOrd="0" destOrd="0" presId="urn:microsoft.com/office/officeart/2005/8/layout/vList2"/>
    <dgm:cxn modelId="{74A3773A-D56D-4022-8319-C553D059B47F}" srcId="{2FFDA7DC-4313-4870-B0AE-F859481756E8}" destId="{C9190E6E-E06D-4E80-8577-25C20C6E11BE}" srcOrd="0" destOrd="0" parTransId="{175E585A-DF0B-49CB-9A5F-2B4FC70D07C9}" sibTransId="{FD2799D4-ECF8-4451-AAED-639F75B6456D}"/>
    <dgm:cxn modelId="{3A587A3F-31B5-4105-AE8D-5D1A83B8BF66}" type="presOf" srcId="{B177E324-B9C3-4858-81C9-3D9D2EEC6812}" destId="{A017F6A5-B9F9-400E-8A17-3E799E63DEA2}" srcOrd="0" destOrd="0" presId="urn:microsoft.com/office/officeart/2005/8/layout/vList2"/>
    <dgm:cxn modelId="{F2A10E41-EBF4-4FE0-B3FC-7CD07AF7AC28}" srcId="{2FFDA7DC-4313-4870-B0AE-F859481756E8}" destId="{B177E324-B9C3-4858-81C9-3D9D2EEC6812}" srcOrd="1" destOrd="0" parTransId="{8AD1C299-B922-4D83-8660-8C75E82867F0}" sibTransId="{9F9CF3A8-74F1-4922-8CDC-1B41862D4B9C}"/>
    <dgm:cxn modelId="{0F29BA65-EC8F-477E-A39B-738FB263FAF2}" type="presOf" srcId="{C9190E6E-E06D-4E80-8577-25C20C6E11BE}" destId="{06C19B74-D05A-469C-B30B-69ED5808A6B5}" srcOrd="0" destOrd="0" presId="urn:microsoft.com/office/officeart/2005/8/layout/vList2"/>
    <dgm:cxn modelId="{7B69BF76-6FB3-42C1-BEF8-D2136A329C87}" type="presOf" srcId="{2D50E5C6-B845-4BEB-9938-C90442571D57}" destId="{87A8B694-1730-4E02-878A-71F4E62B7C8F}" srcOrd="0" destOrd="0" presId="urn:microsoft.com/office/officeart/2005/8/layout/vList2"/>
    <dgm:cxn modelId="{17E40959-77D8-4216-B09D-28B4F69E0CD4}" srcId="{2FFDA7DC-4313-4870-B0AE-F859481756E8}" destId="{2D50E5C6-B845-4BEB-9938-C90442571D57}" srcOrd="2" destOrd="0" parTransId="{B77C5688-0B3A-439A-86A9-79A6E4763671}" sibTransId="{DAB62D66-8811-48DE-910E-A7341626E671}"/>
    <dgm:cxn modelId="{69142A8C-62E9-4834-9C4E-C03E9F15F5C8}" type="presOf" srcId="{93A43F54-995F-4DF2-A0F8-EC44113C7A53}" destId="{216D0C4C-D065-4593-AE58-5B56E2B3A4F0}" srcOrd="0" destOrd="0" presId="urn:microsoft.com/office/officeart/2005/8/layout/vList2"/>
    <dgm:cxn modelId="{797929C3-4244-4710-A61B-A5155DD9F463}" srcId="{2FFDA7DC-4313-4870-B0AE-F859481756E8}" destId="{93A43F54-995F-4DF2-A0F8-EC44113C7A53}" srcOrd="4" destOrd="0" parTransId="{7E2E7821-70E8-45CF-AE19-EEB2C25FE011}" sibTransId="{0A220180-8EFC-47E5-8683-D65A1F2414F2}"/>
    <dgm:cxn modelId="{5915E6D9-0ECC-43AD-8A26-072DC6D56559}" type="presOf" srcId="{2FFDA7DC-4313-4870-B0AE-F859481756E8}" destId="{C9F2C2C0-F3D8-469C-A095-450F73D138F6}" srcOrd="0" destOrd="0" presId="urn:microsoft.com/office/officeart/2005/8/layout/vList2"/>
    <dgm:cxn modelId="{EA82375C-F5F3-402A-BC51-C608AC809136}" type="presParOf" srcId="{C9F2C2C0-F3D8-469C-A095-450F73D138F6}" destId="{06C19B74-D05A-469C-B30B-69ED5808A6B5}" srcOrd="0" destOrd="0" presId="urn:microsoft.com/office/officeart/2005/8/layout/vList2"/>
    <dgm:cxn modelId="{C5D464C3-DB78-44BE-8F7A-5D1B76A49EB5}" type="presParOf" srcId="{C9F2C2C0-F3D8-469C-A095-450F73D138F6}" destId="{7A6095FA-B4AC-4F96-9EAF-7561BD9A3DD3}" srcOrd="1" destOrd="0" presId="urn:microsoft.com/office/officeart/2005/8/layout/vList2"/>
    <dgm:cxn modelId="{8078C850-044F-4974-B634-9C18936E362E}" type="presParOf" srcId="{C9F2C2C0-F3D8-469C-A095-450F73D138F6}" destId="{A017F6A5-B9F9-400E-8A17-3E799E63DEA2}" srcOrd="2" destOrd="0" presId="urn:microsoft.com/office/officeart/2005/8/layout/vList2"/>
    <dgm:cxn modelId="{919F757B-781C-4C7E-BF7E-94D448642DE4}" type="presParOf" srcId="{C9F2C2C0-F3D8-469C-A095-450F73D138F6}" destId="{E95A21C2-BE47-4F4B-AA4F-672E60013EFA}" srcOrd="3" destOrd="0" presId="urn:microsoft.com/office/officeart/2005/8/layout/vList2"/>
    <dgm:cxn modelId="{3E3AE767-3E79-45CB-A407-A1C9E3846B1F}" type="presParOf" srcId="{C9F2C2C0-F3D8-469C-A095-450F73D138F6}" destId="{87A8B694-1730-4E02-878A-71F4E62B7C8F}" srcOrd="4" destOrd="0" presId="urn:microsoft.com/office/officeart/2005/8/layout/vList2"/>
    <dgm:cxn modelId="{27F7CCDF-F1D4-4AE9-B30D-DE3D255521B4}" type="presParOf" srcId="{C9F2C2C0-F3D8-469C-A095-450F73D138F6}" destId="{09069C4F-FD09-4C53-AE68-D5C837DD05C5}" srcOrd="5" destOrd="0" presId="urn:microsoft.com/office/officeart/2005/8/layout/vList2"/>
    <dgm:cxn modelId="{2F488E4B-F322-45CF-9441-DC0329CF3058}" type="presParOf" srcId="{C9F2C2C0-F3D8-469C-A095-450F73D138F6}" destId="{FF3944A2-2E0C-4656-B322-151D0D162EB7}" srcOrd="6" destOrd="0" presId="urn:microsoft.com/office/officeart/2005/8/layout/vList2"/>
    <dgm:cxn modelId="{45C36B49-F97B-4DB3-806D-52064F1D9881}" type="presParOf" srcId="{C9F2C2C0-F3D8-469C-A095-450F73D138F6}" destId="{7CD67C8F-B3AB-4E75-A5E9-80F593D0150C}" srcOrd="7" destOrd="0" presId="urn:microsoft.com/office/officeart/2005/8/layout/vList2"/>
    <dgm:cxn modelId="{A275990B-BC4C-4BE0-9C88-5199512EFB70}" type="presParOf" srcId="{C9F2C2C0-F3D8-469C-A095-450F73D138F6}" destId="{216D0C4C-D065-4593-AE58-5B56E2B3A4F0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C19B74-D05A-469C-B30B-69ED5808A6B5}">
      <dsp:nvSpPr>
        <dsp:cNvPr id="0" name=""/>
        <dsp:cNvSpPr/>
      </dsp:nvSpPr>
      <dsp:spPr>
        <a:xfrm>
          <a:off x="0" y="200887"/>
          <a:ext cx="7224963" cy="78695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b="0" kern="1200" dirty="0"/>
            <a:t>Tiempo Normal </a:t>
          </a:r>
          <a:r>
            <a:rPr lang="es-MX" sz="2400" b="0" kern="1200" dirty="0" err="1"/>
            <a:t>T.N</a:t>
          </a:r>
          <a:r>
            <a:rPr lang="es-MX" sz="2400" b="0" kern="1200" dirty="0"/>
            <a:t>., es el tiempo en condiciones normales.</a:t>
          </a:r>
          <a:endParaRPr lang="es-PE" sz="2400" kern="1200" dirty="0"/>
        </a:p>
      </dsp:txBody>
      <dsp:txXfrm>
        <a:off x="38416" y="239303"/>
        <a:ext cx="7148131" cy="710125"/>
      </dsp:txXfrm>
    </dsp:sp>
    <dsp:sp modelId="{A017F6A5-B9F9-400E-8A17-3E799E63DEA2}">
      <dsp:nvSpPr>
        <dsp:cNvPr id="0" name=""/>
        <dsp:cNvSpPr/>
      </dsp:nvSpPr>
      <dsp:spPr>
        <a:xfrm>
          <a:off x="0" y="997562"/>
          <a:ext cx="7224963" cy="5751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b="0" kern="1200"/>
            <a:t>Costo Normal C.N., está relacionado con el T.N.</a:t>
          </a:r>
          <a:endParaRPr lang="es-PE" sz="2400" kern="1200"/>
        </a:p>
      </dsp:txBody>
      <dsp:txXfrm>
        <a:off x="28076" y="1025638"/>
        <a:ext cx="7168811" cy="518978"/>
      </dsp:txXfrm>
    </dsp:sp>
    <dsp:sp modelId="{87A8B694-1730-4E02-878A-71F4E62B7C8F}">
      <dsp:nvSpPr>
        <dsp:cNvPr id="0" name=""/>
        <dsp:cNvSpPr/>
      </dsp:nvSpPr>
      <dsp:spPr>
        <a:xfrm>
          <a:off x="0" y="1582410"/>
          <a:ext cx="7224963" cy="5751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b="0" kern="1200"/>
            <a:t>Tiempo de choque T.Ch., es el tiempo más corto posible.</a:t>
          </a:r>
          <a:endParaRPr lang="es-PE" sz="2400" kern="1200"/>
        </a:p>
      </dsp:txBody>
      <dsp:txXfrm>
        <a:off x="28076" y="1610486"/>
        <a:ext cx="7168811" cy="518978"/>
      </dsp:txXfrm>
    </dsp:sp>
    <dsp:sp modelId="{FF3944A2-2E0C-4656-B322-151D0D162EB7}">
      <dsp:nvSpPr>
        <dsp:cNvPr id="0" name=""/>
        <dsp:cNvSpPr/>
      </dsp:nvSpPr>
      <dsp:spPr>
        <a:xfrm>
          <a:off x="0" y="2167258"/>
          <a:ext cx="7224963" cy="5751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b="0" kern="1200"/>
            <a:t>Costo de choque C.Ch., está relacionado con el T.Ch.</a:t>
          </a:r>
          <a:endParaRPr lang="es-PE" sz="2400" kern="1200"/>
        </a:p>
      </dsp:txBody>
      <dsp:txXfrm>
        <a:off x="28076" y="2195334"/>
        <a:ext cx="7168811" cy="518978"/>
      </dsp:txXfrm>
    </dsp:sp>
    <dsp:sp modelId="{216D0C4C-D065-4593-AE58-5B56E2B3A4F0}">
      <dsp:nvSpPr>
        <dsp:cNvPr id="0" name=""/>
        <dsp:cNvSpPr/>
      </dsp:nvSpPr>
      <dsp:spPr>
        <a:xfrm>
          <a:off x="0" y="2752106"/>
          <a:ext cx="7224963" cy="64740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b="0" kern="1200" dirty="0"/>
            <a:t>Suponiendo una relación lineal entre tiempos y costos. </a:t>
          </a:r>
          <a:endParaRPr lang="es-PE" sz="2400" kern="1200" dirty="0"/>
        </a:p>
      </dsp:txBody>
      <dsp:txXfrm>
        <a:off x="31604" y="2783710"/>
        <a:ext cx="7161755" cy="5841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5178B7CE-16B1-4D5A-BEDA-E05D7C0F0E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5CE36C0-2D64-40DB-852E-EFE530BD79E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03D107-6AA0-4BB9-B3AF-2511759F0087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BB9BBA3-CB3B-42EF-AC1C-A77E63AFD7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59A3671-5C2E-4C01-9181-86F7078515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4CDB2B-DC05-4B7E-84A4-8E8FE9CBF71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674508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1D54B5-B035-46F5-86D2-1F43704B1BDB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836FA3-1F11-49F4-B68F-8771EDD4DFA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81994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7FDB4C-8DB5-4895-9E8B-EB4F1648811C}" type="slidenum">
              <a:rPr lang="es-ES" smtClean="0"/>
              <a:pPr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104022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s-ES_tradnl"/>
              <a:t>PERU 2021</a:t>
            </a: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4412" cy="3429000"/>
          </a:xfrm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2878"/>
            <a:ext cx="5486400" cy="4114558"/>
          </a:xfrm>
          <a:noFill/>
          <a:ln/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85611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s-ES_tradnl" dirty="0"/>
              <a:t>PERÚ 2021</a:t>
            </a:r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90550" y="803275"/>
            <a:ext cx="5676900" cy="3194050"/>
          </a:xfrm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151217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s-ES_tradnl" dirty="0"/>
              <a:t>PERÚ 2021</a:t>
            </a:r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90550" y="803275"/>
            <a:ext cx="5676900" cy="3194050"/>
          </a:xfrm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151217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s-ES_tradnl" dirty="0"/>
              <a:t>PERÚ 2021</a:t>
            </a:r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90550" y="803275"/>
            <a:ext cx="5676900" cy="3194050"/>
          </a:xfrm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580424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s-ES_tradnl" dirty="0"/>
              <a:t>PERÚ 2021</a:t>
            </a:r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90550" y="803275"/>
            <a:ext cx="5676900" cy="3194050"/>
          </a:xfrm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04056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s-ES_tradnl" dirty="0"/>
              <a:t>PERÚ 2021</a:t>
            </a: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90550" y="803275"/>
            <a:ext cx="5676900" cy="3194050"/>
          </a:xfrm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9499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s-ES_tradnl" dirty="0"/>
              <a:t>PERÚ 2021</a:t>
            </a: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90550" y="803275"/>
            <a:ext cx="5676900" cy="3194050"/>
          </a:xfrm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546286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s-ES_tradnl" dirty="0"/>
              <a:t>PERÚ 2021</a:t>
            </a:r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90550" y="803275"/>
            <a:ext cx="5676900" cy="3194050"/>
          </a:xfrm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614061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s-ES_tradnl" dirty="0"/>
              <a:t>PERÚ 2021</a:t>
            </a:r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90550" y="803275"/>
            <a:ext cx="5676900" cy="3194050"/>
          </a:xfrm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620099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5f391192_0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5f391192_0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20E13C-61E5-46CC-960D-63C41DAD06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63684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6267FC4-894E-4993-BA18-2C880EE5C7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FA1ECE-8248-44B1-88C7-8265017B7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7FFCCB-2285-4BA7-B745-4CE0B16C5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464D61-7B3F-4D44-B814-04BD0FE4C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84842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2F9EE1-AB02-439C-A953-D0BD302CF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391F11-EC76-4F7E-AC56-EAD0CEBCA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B378AEF-A6A9-47DF-9C5C-6B5007007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8D63CA0-8BC2-4AA4-81B5-97227686E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A60248-016B-4028-85F2-75F83EB91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73057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0EA209-C4D8-4196-890A-95A7CD4C0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7D6A4D1-0438-48FA-ADCC-AC432CD76F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542E60-612D-41CC-9EE5-C343BC61B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A065A3-6AD0-4723-847E-57B36A32A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EC95E3-1973-401E-B849-5F2F2C425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37268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FDB3A3-9D86-449F-A088-128C6B5F0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EF8CB9-38CA-4EBF-8F62-EE68B4D6F6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5BC23C3-AE0F-4F5F-B104-BC7EA7551C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FCBCC75-FAFB-4988-ADC8-1E30F0A4E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7CF524-1AD2-4D6E-AF46-445C3506E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FB533D9-E06A-43BB-8FFF-B7E7E56A3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39711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E725AD-02A9-499A-B864-01AF086F4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A753734-FC45-4B55-9A29-B26B4CA130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198FBB3-E4E6-411C-A6B3-B26D063353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EBACB3A-C4CB-4902-9988-B007A97C90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EE2010D-8FDA-4E19-9A31-23C0FE9DC2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D1D191B-5CF0-419F-BF5B-EA606AC8D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D8A4629-604A-46AD-BB45-292C54D7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C5A188A-724B-44E9-BEF7-9E257530E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49276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94FFE6-E44F-47FD-8C64-C1FC42A7E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168DDD2-028A-4549-9EB3-E84318877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D50669B-5EDE-4060-A1CA-FE7DBD964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F429BDB-A623-46DB-A3B7-8B68CD92E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76645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578ADCC-78DF-44C4-A2C7-A7CF24269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B7367FB-6CD9-4469-A229-B61F0DC43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301C5A5-C7FD-466A-934B-60249339D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52191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11FB1A-74AA-4E0D-83B3-1170F865B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D0C1AE-BAE4-48E0-88AC-F6958D0E8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F3CCC19-652F-4628-8819-4FD180AB86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33BD21F-BC06-43CD-9F66-5FD87304E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82DF95C-F515-4AB8-9206-5F559DA0B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3A0F4A3-A4A8-4405-B84F-C1D44A15E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78757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593BB7-CA9F-4940-8C7F-2CBF43BB5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045E52B-AEB7-42F1-BC8E-CA7E0DDCD4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93A4FC1-5C27-4983-99E0-60D4F82D50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FFB805C-3A94-453E-BC4E-88A5F9C85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448EB1F-6B71-43D0-B4BB-2F47A94BA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90476AE-7DAC-4DCA-A6E4-E2E505CBF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19759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15B00E-0B7A-4AA1-B637-DC7127C42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82176F4-1231-4795-897F-95458CBCE8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6A9332-3346-4724-9DEE-503B007FA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A3589D-3073-43DA-AEA2-6F6C05DA5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EE47B5-2AEE-4851-B029-9988B8B57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1582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4AFE1D6-7CA5-4A02-A9CE-8A394A8F3E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218F9D7-F895-4417-B97E-7076B31845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A8AE240-89B5-46F0-94D1-CF5205BCB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EB6FE0-843B-48B7-80F0-575414327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2CE9982-F23C-426D-A95A-1B50FADA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70270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title"/>
          </p:nvPr>
        </p:nvSpPr>
        <p:spPr>
          <a:xfrm>
            <a:off x="974400" y="3986567"/>
            <a:ext cx="5629600" cy="122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400"/>
              <a:buNone/>
              <a:defRPr sz="12535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s-ES"/>
              <a:t>Haga clic para modificar el estilo de título del patrón</a:t>
            </a:r>
          </a:p>
        </p:txBody>
      </p:sp>
      <p:grpSp>
        <p:nvGrpSpPr>
          <p:cNvPr id="10" name="Google Shape;10;p2"/>
          <p:cNvGrpSpPr/>
          <p:nvPr/>
        </p:nvGrpSpPr>
        <p:grpSpPr>
          <a:xfrm>
            <a:off x="4658468" y="-60667"/>
            <a:ext cx="7533533" cy="6979333"/>
            <a:chOff x="970375" y="238125"/>
            <a:chExt cx="5650150" cy="5234500"/>
          </a:xfrm>
        </p:grpSpPr>
        <p:sp>
          <p:nvSpPr>
            <p:cNvPr id="11" name="Google Shape;11;p2"/>
            <p:cNvSpPr/>
            <p:nvPr/>
          </p:nvSpPr>
          <p:spPr>
            <a:xfrm>
              <a:off x="970375" y="238125"/>
              <a:ext cx="1456750" cy="5234500"/>
            </a:xfrm>
            <a:custGeom>
              <a:avLst/>
              <a:gdLst/>
              <a:ahLst/>
              <a:cxnLst/>
              <a:rect l="l" t="t" r="r" b="b"/>
              <a:pathLst>
                <a:path w="58270" h="209380" extrusionOk="0">
                  <a:moveTo>
                    <a:pt x="55587" y="0"/>
                  </a:moveTo>
                  <a:lnTo>
                    <a:pt x="7833" y="82697"/>
                  </a:lnTo>
                  <a:cubicBezTo>
                    <a:pt x="0" y="96268"/>
                    <a:pt x="16" y="113111"/>
                    <a:pt x="7833" y="126682"/>
                  </a:cubicBezTo>
                  <a:lnTo>
                    <a:pt x="55587" y="209379"/>
                  </a:lnTo>
                  <a:lnTo>
                    <a:pt x="58270" y="209379"/>
                  </a:lnTo>
                  <a:lnTo>
                    <a:pt x="9849" y="125519"/>
                  </a:lnTo>
                  <a:cubicBezTo>
                    <a:pt x="2435" y="112677"/>
                    <a:pt x="2435" y="96718"/>
                    <a:pt x="9849" y="83860"/>
                  </a:cubicBezTo>
                  <a:lnTo>
                    <a:pt x="5827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1607825" y="238125"/>
              <a:ext cx="5012700" cy="5234500"/>
            </a:xfrm>
            <a:custGeom>
              <a:avLst/>
              <a:gdLst/>
              <a:ahLst/>
              <a:cxnLst/>
              <a:rect l="l" t="t" r="r" b="b"/>
              <a:pathLst>
                <a:path w="200508" h="209380" extrusionOk="0">
                  <a:moveTo>
                    <a:pt x="58300" y="0"/>
                  </a:moveTo>
                  <a:lnTo>
                    <a:pt x="3490" y="94919"/>
                  </a:lnTo>
                  <a:cubicBezTo>
                    <a:pt x="0" y="100967"/>
                    <a:pt x="0" y="108412"/>
                    <a:pt x="3490" y="114461"/>
                  </a:cubicBezTo>
                  <a:lnTo>
                    <a:pt x="58300" y="209379"/>
                  </a:lnTo>
                  <a:lnTo>
                    <a:pt x="200507" y="209379"/>
                  </a:lnTo>
                  <a:lnTo>
                    <a:pt x="20050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" name="Google Shape;13;p2"/>
          <p:cNvSpPr/>
          <p:nvPr/>
        </p:nvSpPr>
        <p:spPr>
          <a:xfrm rot="1799984">
            <a:off x="7317323" y="61421"/>
            <a:ext cx="28460" cy="2319628"/>
          </a:xfrm>
          <a:custGeom>
            <a:avLst/>
            <a:gdLst/>
            <a:ahLst/>
            <a:cxnLst/>
            <a:rect l="l" t="t" r="r" b="b"/>
            <a:pathLst>
              <a:path w="2187" h="207239" extrusionOk="0">
                <a:moveTo>
                  <a:pt x="1094" y="0"/>
                </a:moveTo>
                <a:cubicBezTo>
                  <a:pt x="500" y="0"/>
                  <a:pt x="1" y="469"/>
                  <a:pt x="1" y="1063"/>
                </a:cubicBezTo>
                <a:lnTo>
                  <a:pt x="1" y="206145"/>
                </a:lnTo>
                <a:cubicBezTo>
                  <a:pt x="1" y="206739"/>
                  <a:pt x="500" y="207239"/>
                  <a:pt x="1094" y="207239"/>
                </a:cubicBezTo>
                <a:cubicBezTo>
                  <a:pt x="1281" y="207239"/>
                  <a:pt x="1469" y="207176"/>
                  <a:pt x="1625" y="207083"/>
                </a:cubicBezTo>
                <a:cubicBezTo>
                  <a:pt x="1968" y="206895"/>
                  <a:pt x="2187" y="206552"/>
                  <a:pt x="2187" y="206145"/>
                </a:cubicBezTo>
                <a:lnTo>
                  <a:pt x="2187" y="1063"/>
                </a:lnTo>
                <a:cubicBezTo>
                  <a:pt x="2187" y="469"/>
                  <a:pt x="1687" y="0"/>
                  <a:pt x="1094" y="0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" name="Google Shape;14;p2"/>
          <p:cNvSpPr/>
          <p:nvPr/>
        </p:nvSpPr>
        <p:spPr>
          <a:xfrm rot="1799984">
            <a:off x="8289458" y="-929179"/>
            <a:ext cx="28460" cy="2319628"/>
          </a:xfrm>
          <a:custGeom>
            <a:avLst/>
            <a:gdLst/>
            <a:ahLst/>
            <a:cxnLst/>
            <a:rect l="l" t="t" r="r" b="b"/>
            <a:pathLst>
              <a:path w="2187" h="207239" extrusionOk="0">
                <a:moveTo>
                  <a:pt x="1094" y="0"/>
                </a:moveTo>
                <a:cubicBezTo>
                  <a:pt x="500" y="0"/>
                  <a:pt x="1" y="469"/>
                  <a:pt x="1" y="1063"/>
                </a:cubicBezTo>
                <a:lnTo>
                  <a:pt x="1" y="206145"/>
                </a:lnTo>
                <a:cubicBezTo>
                  <a:pt x="1" y="206739"/>
                  <a:pt x="500" y="207239"/>
                  <a:pt x="1094" y="207239"/>
                </a:cubicBezTo>
                <a:cubicBezTo>
                  <a:pt x="1281" y="207239"/>
                  <a:pt x="1469" y="207176"/>
                  <a:pt x="1625" y="207083"/>
                </a:cubicBezTo>
                <a:cubicBezTo>
                  <a:pt x="1968" y="206895"/>
                  <a:pt x="2187" y="206552"/>
                  <a:pt x="2187" y="206145"/>
                </a:cubicBezTo>
                <a:lnTo>
                  <a:pt x="2187" y="1063"/>
                </a:lnTo>
                <a:cubicBezTo>
                  <a:pt x="2187" y="469"/>
                  <a:pt x="1687" y="0"/>
                  <a:pt x="1094" y="0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" name="Google Shape;15;p2"/>
          <p:cNvGrpSpPr/>
          <p:nvPr/>
        </p:nvGrpSpPr>
        <p:grpSpPr>
          <a:xfrm>
            <a:off x="1016002" y="1081899"/>
            <a:ext cx="620999" cy="573676"/>
            <a:chOff x="1877325" y="757774"/>
            <a:chExt cx="581969" cy="537619"/>
          </a:xfrm>
        </p:grpSpPr>
        <p:sp>
          <p:nvSpPr>
            <p:cNvPr id="16" name="Google Shape;16;p2"/>
            <p:cNvSpPr/>
            <p:nvPr/>
          </p:nvSpPr>
          <p:spPr>
            <a:xfrm>
              <a:off x="1877325" y="757774"/>
              <a:ext cx="63598" cy="63598"/>
            </a:xfrm>
            <a:custGeom>
              <a:avLst/>
              <a:gdLst/>
              <a:ahLst/>
              <a:cxnLst/>
              <a:rect l="l" t="t" r="r" b="b"/>
              <a:pathLst>
                <a:path w="13312" h="13312" extrusionOk="0">
                  <a:moveTo>
                    <a:pt x="6656" y="0"/>
                  </a:moveTo>
                  <a:cubicBezTo>
                    <a:pt x="3026" y="0"/>
                    <a:pt x="0" y="3026"/>
                    <a:pt x="0" y="6656"/>
                  </a:cubicBezTo>
                  <a:cubicBezTo>
                    <a:pt x="0" y="10387"/>
                    <a:pt x="3026" y="13312"/>
                    <a:pt x="6656" y="13312"/>
                  </a:cubicBezTo>
                  <a:cubicBezTo>
                    <a:pt x="10387" y="13312"/>
                    <a:pt x="13311" y="10387"/>
                    <a:pt x="13311" y="6656"/>
                  </a:cubicBezTo>
                  <a:cubicBezTo>
                    <a:pt x="13311" y="3026"/>
                    <a:pt x="10387" y="0"/>
                    <a:pt x="66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050274" y="757774"/>
              <a:ext cx="63598" cy="63598"/>
            </a:xfrm>
            <a:custGeom>
              <a:avLst/>
              <a:gdLst/>
              <a:ahLst/>
              <a:cxnLst/>
              <a:rect l="l" t="t" r="r" b="b"/>
              <a:pathLst>
                <a:path w="13312" h="13312" extrusionOk="0">
                  <a:moveTo>
                    <a:pt x="6656" y="0"/>
                  </a:moveTo>
                  <a:cubicBezTo>
                    <a:pt x="3026" y="0"/>
                    <a:pt x="1" y="3026"/>
                    <a:pt x="1" y="6656"/>
                  </a:cubicBezTo>
                  <a:cubicBezTo>
                    <a:pt x="1" y="10387"/>
                    <a:pt x="3026" y="13312"/>
                    <a:pt x="6656" y="13312"/>
                  </a:cubicBezTo>
                  <a:cubicBezTo>
                    <a:pt x="10287" y="13312"/>
                    <a:pt x="13312" y="10387"/>
                    <a:pt x="13312" y="6656"/>
                  </a:cubicBezTo>
                  <a:cubicBezTo>
                    <a:pt x="13312" y="3026"/>
                    <a:pt x="10287" y="0"/>
                    <a:pt x="66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223224" y="757774"/>
              <a:ext cx="63603" cy="63598"/>
            </a:xfrm>
            <a:custGeom>
              <a:avLst/>
              <a:gdLst/>
              <a:ahLst/>
              <a:cxnLst/>
              <a:rect l="l" t="t" r="r" b="b"/>
              <a:pathLst>
                <a:path w="13313" h="13312" extrusionOk="0">
                  <a:moveTo>
                    <a:pt x="6657" y="0"/>
                  </a:moveTo>
                  <a:cubicBezTo>
                    <a:pt x="2925" y="0"/>
                    <a:pt x="1" y="3026"/>
                    <a:pt x="1" y="6656"/>
                  </a:cubicBezTo>
                  <a:cubicBezTo>
                    <a:pt x="1" y="10387"/>
                    <a:pt x="2925" y="13312"/>
                    <a:pt x="6657" y="13312"/>
                  </a:cubicBezTo>
                  <a:cubicBezTo>
                    <a:pt x="10287" y="13312"/>
                    <a:pt x="13312" y="10387"/>
                    <a:pt x="13312" y="6656"/>
                  </a:cubicBezTo>
                  <a:cubicBezTo>
                    <a:pt x="13312" y="3026"/>
                    <a:pt x="10287" y="0"/>
                    <a:pt x="66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2395695" y="757774"/>
              <a:ext cx="63598" cy="63598"/>
            </a:xfrm>
            <a:custGeom>
              <a:avLst/>
              <a:gdLst/>
              <a:ahLst/>
              <a:cxnLst/>
              <a:rect l="l" t="t" r="r" b="b"/>
              <a:pathLst>
                <a:path w="13312" h="13312" extrusionOk="0">
                  <a:moveTo>
                    <a:pt x="6656" y="0"/>
                  </a:moveTo>
                  <a:cubicBezTo>
                    <a:pt x="3026" y="0"/>
                    <a:pt x="0" y="3026"/>
                    <a:pt x="0" y="6656"/>
                  </a:cubicBezTo>
                  <a:cubicBezTo>
                    <a:pt x="0" y="10387"/>
                    <a:pt x="3026" y="13312"/>
                    <a:pt x="6656" y="13312"/>
                  </a:cubicBezTo>
                  <a:cubicBezTo>
                    <a:pt x="10387" y="13312"/>
                    <a:pt x="13312" y="10387"/>
                    <a:pt x="13312" y="6656"/>
                  </a:cubicBezTo>
                  <a:cubicBezTo>
                    <a:pt x="13312" y="3026"/>
                    <a:pt x="10387" y="0"/>
                    <a:pt x="66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877325" y="915780"/>
              <a:ext cx="63598" cy="63598"/>
            </a:xfrm>
            <a:custGeom>
              <a:avLst/>
              <a:gdLst/>
              <a:ahLst/>
              <a:cxnLst/>
              <a:rect l="l" t="t" r="r" b="b"/>
              <a:pathLst>
                <a:path w="13312" h="13312" extrusionOk="0">
                  <a:moveTo>
                    <a:pt x="6656" y="1"/>
                  </a:moveTo>
                  <a:cubicBezTo>
                    <a:pt x="3026" y="1"/>
                    <a:pt x="0" y="3026"/>
                    <a:pt x="0" y="6656"/>
                  </a:cubicBezTo>
                  <a:cubicBezTo>
                    <a:pt x="0" y="10387"/>
                    <a:pt x="3026" y="13312"/>
                    <a:pt x="6656" y="13312"/>
                  </a:cubicBezTo>
                  <a:cubicBezTo>
                    <a:pt x="10387" y="13312"/>
                    <a:pt x="13311" y="10387"/>
                    <a:pt x="13311" y="6656"/>
                  </a:cubicBezTo>
                  <a:cubicBezTo>
                    <a:pt x="13311" y="3026"/>
                    <a:pt x="10387" y="1"/>
                    <a:pt x="66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2050274" y="915780"/>
              <a:ext cx="63598" cy="63598"/>
            </a:xfrm>
            <a:custGeom>
              <a:avLst/>
              <a:gdLst/>
              <a:ahLst/>
              <a:cxnLst/>
              <a:rect l="l" t="t" r="r" b="b"/>
              <a:pathLst>
                <a:path w="13312" h="13312" extrusionOk="0">
                  <a:moveTo>
                    <a:pt x="6656" y="1"/>
                  </a:moveTo>
                  <a:cubicBezTo>
                    <a:pt x="3026" y="1"/>
                    <a:pt x="1" y="3026"/>
                    <a:pt x="1" y="6656"/>
                  </a:cubicBezTo>
                  <a:cubicBezTo>
                    <a:pt x="1" y="10387"/>
                    <a:pt x="3026" y="13312"/>
                    <a:pt x="6656" y="13312"/>
                  </a:cubicBezTo>
                  <a:cubicBezTo>
                    <a:pt x="10287" y="13312"/>
                    <a:pt x="13312" y="10387"/>
                    <a:pt x="13312" y="6656"/>
                  </a:cubicBezTo>
                  <a:cubicBezTo>
                    <a:pt x="13312" y="3026"/>
                    <a:pt x="10287" y="1"/>
                    <a:pt x="66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2223224" y="915780"/>
              <a:ext cx="63603" cy="63598"/>
            </a:xfrm>
            <a:custGeom>
              <a:avLst/>
              <a:gdLst/>
              <a:ahLst/>
              <a:cxnLst/>
              <a:rect l="l" t="t" r="r" b="b"/>
              <a:pathLst>
                <a:path w="13313" h="13312" extrusionOk="0">
                  <a:moveTo>
                    <a:pt x="6657" y="1"/>
                  </a:moveTo>
                  <a:cubicBezTo>
                    <a:pt x="2925" y="1"/>
                    <a:pt x="1" y="3026"/>
                    <a:pt x="1" y="6656"/>
                  </a:cubicBezTo>
                  <a:cubicBezTo>
                    <a:pt x="1" y="10387"/>
                    <a:pt x="2925" y="13312"/>
                    <a:pt x="6657" y="13312"/>
                  </a:cubicBezTo>
                  <a:cubicBezTo>
                    <a:pt x="10287" y="13312"/>
                    <a:pt x="13312" y="10387"/>
                    <a:pt x="13312" y="6656"/>
                  </a:cubicBezTo>
                  <a:cubicBezTo>
                    <a:pt x="13312" y="3026"/>
                    <a:pt x="10287" y="1"/>
                    <a:pt x="66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2395695" y="915780"/>
              <a:ext cx="63598" cy="63598"/>
            </a:xfrm>
            <a:custGeom>
              <a:avLst/>
              <a:gdLst/>
              <a:ahLst/>
              <a:cxnLst/>
              <a:rect l="l" t="t" r="r" b="b"/>
              <a:pathLst>
                <a:path w="13312" h="13312" extrusionOk="0">
                  <a:moveTo>
                    <a:pt x="6656" y="1"/>
                  </a:moveTo>
                  <a:cubicBezTo>
                    <a:pt x="3026" y="1"/>
                    <a:pt x="0" y="3026"/>
                    <a:pt x="0" y="6656"/>
                  </a:cubicBezTo>
                  <a:cubicBezTo>
                    <a:pt x="0" y="10387"/>
                    <a:pt x="3026" y="13312"/>
                    <a:pt x="6656" y="13312"/>
                  </a:cubicBezTo>
                  <a:cubicBezTo>
                    <a:pt x="10387" y="13312"/>
                    <a:pt x="13312" y="10387"/>
                    <a:pt x="13312" y="6656"/>
                  </a:cubicBezTo>
                  <a:cubicBezTo>
                    <a:pt x="13312" y="3026"/>
                    <a:pt x="10387" y="1"/>
                    <a:pt x="66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1877325" y="1073785"/>
              <a:ext cx="63598" cy="63603"/>
            </a:xfrm>
            <a:custGeom>
              <a:avLst/>
              <a:gdLst/>
              <a:ahLst/>
              <a:cxnLst/>
              <a:rect l="l" t="t" r="r" b="b"/>
              <a:pathLst>
                <a:path w="13312" h="13313" extrusionOk="0">
                  <a:moveTo>
                    <a:pt x="6656" y="1"/>
                  </a:moveTo>
                  <a:cubicBezTo>
                    <a:pt x="3026" y="1"/>
                    <a:pt x="0" y="3026"/>
                    <a:pt x="0" y="6656"/>
                  </a:cubicBezTo>
                  <a:cubicBezTo>
                    <a:pt x="0" y="10287"/>
                    <a:pt x="3026" y="13312"/>
                    <a:pt x="6656" y="13312"/>
                  </a:cubicBezTo>
                  <a:cubicBezTo>
                    <a:pt x="10387" y="13312"/>
                    <a:pt x="13311" y="10287"/>
                    <a:pt x="13311" y="6656"/>
                  </a:cubicBezTo>
                  <a:cubicBezTo>
                    <a:pt x="13311" y="3026"/>
                    <a:pt x="10387" y="1"/>
                    <a:pt x="66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2050274" y="1073785"/>
              <a:ext cx="63598" cy="63603"/>
            </a:xfrm>
            <a:custGeom>
              <a:avLst/>
              <a:gdLst/>
              <a:ahLst/>
              <a:cxnLst/>
              <a:rect l="l" t="t" r="r" b="b"/>
              <a:pathLst>
                <a:path w="13312" h="13313" extrusionOk="0">
                  <a:moveTo>
                    <a:pt x="6656" y="1"/>
                  </a:moveTo>
                  <a:cubicBezTo>
                    <a:pt x="3026" y="1"/>
                    <a:pt x="1" y="3026"/>
                    <a:pt x="1" y="6656"/>
                  </a:cubicBezTo>
                  <a:cubicBezTo>
                    <a:pt x="1" y="10287"/>
                    <a:pt x="3026" y="13312"/>
                    <a:pt x="6656" y="13312"/>
                  </a:cubicBezTo>
                  <a:cubicBezTo>
                    <a:pt x="10287" y="13312"/>
                    <a:pt x="13312" y="10287"/>
                    <a:pt x="13312" y="6656"/>
                  </a:cubicBezTo>
                  <a:cubicBezTo>
                    <a:pt x="13312" y="3026"/>
                    <a:pt x="10287" y="1"/>
                    <a:pt x="66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2223224" y="1073785"/>
              <a:ext cx="63603" cy="63603"/>
            </a:xfrm>
            <a:custGeom>
              <a:avLst/>
              <a:gdLst/>
              <a:ahLst/>
              <a:cxnLst/>
              <a:rect l="l" t="t" r="r" b="b"/>
              <a:pathLst>
                <a:path w="13313" h="13313" extrusionOk="0">
                  <a:moveTo>
                    <a:pt x="6657" y="1"/>
                  </a:moveTo>
                  <a:cubicBezTo>
                    <a:pt x="2925" y="1"/>
                    <a:pt x="1" y="3026"/>
                    <a:pt x="1" y="6656"/>
                  </a:cubicBezTo>
                  <a:cubicBezTo>
                    <a:pt x="1" y="10287"/>
                    <a:pt x="2925" y="13312"/>
                    <a:pt x="6657" y="13312"/>
                  </a:cubicBezTo>
                  <a:cubicBezTo>
                    <a:pt x="10287" y="13312"/>
                    <a:pt x="13312" y="10287"/>
                    <a:pt x="13312" y="6656"/>
                  </a:cubicBezTo>
                  <a:cubicBezTo>
                    <a:pt x="13312" y="3026"/>
                    <a:pt x="10287" y="1"/>
                    <a:pt x="66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2395695" y="1073785"/>
              <a:ext cx="63598" cy="63603"/>
            </a:xfrm>
            <a:custGeom>
              <a:avLst/>
              <a:gdLst/>
              <a:ahLst/>
              <a:cxnLst/>
              <a:rect l="l" t="t" r="r" b="b"/>
              <a:pathLst>
                <a:path w="13312" h="13313" extrusionOk="0">
                  <a:moveTo>
                    <a:pt x="6656" y="1"/>
                  </a:moveTo>
                  <a:cubicBezTo>
                    <a:pt x="3026" y="1"/>
                    <a:pt x="0" y="3026"/>
                    <a:pt x="0" y="6656"/>
                  </a:cubicBezTo>
                  <a:cubicBezTo>
                    <a:pt x="0" y="10287"/>
                    <a:pt x="3026" y="13312"/>
                    <a:pt x="6656" y="13312"/>
                  </a:cubicBezTo>
                  <a:cubicBezTo>
                    <a:pt x="10387" y="13312"/>
                    <a:pt x="13312" y="10287"/>
                    <a:pt x="13312" y="6656"/>
                  </a:cubicBezTo>
                  <a:cubicBezTo>
                    <a:pt x="13312" y="3026"/>
                    <a:pt x="10387" y="1"/>
                    <a:pt x="66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1877325" y="1231796"/>
              <a:ext cx="63598" cy="63598"/>
            </a:xfrm>
            <a:custGeom>
              <a:avLst/>
              <a:gdLst/>
              <a:ahLst/>
              <a:cxnLst/>
              <a:rect l="l" t="t" r="r" b="b"/>
              <a:pathLst>
                <a:path w="13312" h="13312" extrusionOk="0">
                  <a:moveTo>
                    <a:pt x="6656" y="0"/>
                  </a:moveTo>
                  <a:cubicBezTo>
                    <a:pt x="3026" y="0"/>
                    <a:pt x="0" y="2925"/>
                    <a:pt x="0" y="6656"/>
                  </a:cubicBezTo>
                  <a:cubicBezTo>
                    <a:pt x="0" y="10286"/>
                    <a:pt x="3026" y="13311"/>
                    <a:pt x="6656" y="13311"/>
                  </a:cubicBezTo>
                  <a:cubicBezTo>
                    <a:pt x="10387" y="13311"/>
                    <a:pt x="13311" y="10286"/>
                    <a:pt x="13311" y="6656"/>
                  </a:cubicBezTo>
                  <a:cubicBezTo>
                    <a:pt x="13311" y="2925"/>
                    <a:pt x="10387" y="0"/>
                    <a:pt x="66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2050274" y="1231796"/>
              <a:ext cx="63598" cy="63598"/>
            </a:xfrm>
            <a:custGeom>
              <a:avLst/>
              <a:gdLst/>
              <a:ahLst/>
              <a:cxnLst/>
              <a:rect l="l" t="t" r="r" b="b"/>
              <a:pathLst>
                <a:path w="13312" h="13312" extrusionOk="0">
                  <a:moveTo>
                    <a:pt x="6656" y="0"/>
                  </a:moveTo>
                  <a:cubicBezTo>
                    <a:pt x="3026" y="0"/>
                    <a:pt x="1" y="2925"/>
                    <a:pt x="1" y="6656"/>
                  </a:cubicBezTo>
                  <a:cubicBezTo>
                    <a:pt x="1" y="10286"/>
                    <a:pt x="3026" y="13311"/>
                    <a:pt x="6656" y="13311"/>
                  </a:cubicBezTo>
                  <a:cubicBezTo>
                    <a:pt x="10287" y="13311"/>
                    <a:pt x="13312" y="10286"/>
                    <a:pt x="13312" y="6656"/>
                  </a:cubicBezTo>
                  <a:cubicBezTo>
                    <a:pt x="13312" y="2925"/>
                    <a:pt x="10287" y="0"/>
                    <a:pt x="66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2223224" y="1231796"/>
              <a:ext cx="63603" cy="63598"/>
            </a:xfrm>
            <a:custGeom>
              <a:avLst/>
              <a:gdLst/>
              <a:ahLst/>
              <a:cxnLst/>
              <a:rect l="l" t="t" r="r" b="b"/>
              <a:pathLst>
                <a:path w="13313" h="13312" extrusionOk="0">
                  <a:moveTo>
                    <a:pt x="6657" y="0"/>
                  </a:moveTo>
                  <a:cubicBezTo>
                    <a:pt x="2925" y="0"/>
                    <a:pt x="1" y="2925"/>
                    <a:pt x="1" y="6656"/>
                  </a:cubicBezTo>
                  <a:cubicBezTo>
                    <a:pt x="1" y="10286"/>
                    <a:pt x="2925" y="13311"/>
                    <a:pt x="6657" y="13311"/>
                  </a:cubicBezTo>
                  <a:cubicBezTo>
                    <a:pt x="10287" y="13311"/>
                    <a:pt x="13312" y="10286"/>
                    <a:pt x="13312" y="6656"/>
                  </a:cubicBezTo>
                  <a:cubicBezTo>
                    <a:pt x="13312" y="2925"/>
                    <a:pt x="10287" y="0"/>
                    <a:pt x="66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2395695" y="1231796"/>
              <a:ext cx="63598" cy="63598"/>
            </a:xfrm>
            <a:custGeom>
              <a:avLst/>
              <a:gdLst/>
              <a:ahLst/>
              <a:cxnLst/>
              <a:rect l="l" t="t" r="r" b="b"/>
              <a:pathLst>
                <a:path w="13312" h="13312" extrusionOk="0">
                  <a:moveTo>
                    <a:pt x="6656" y="0"/>
                  </a:moveTo>
                  <a:cubicBezTo>
                    <a:pt x="3026" y="0"/>
                    <a:pt x="0" y="2925"/>
                    <a:pt x="0" y="6656"/>
                  </a:cubicBezTo>
                  <a:cubicBezTo>
                    <a:pt x="0" y="10286"/>
                    <a:pt x="3026" y="13311"/>
                    <a:pt x="6656" y="13311"/>
                  </a:cubicBezTo>
                  <a:cubicBezTo>
                    <a:pt x="10387" y="13311"/>
                    <a:pt x="13312" y="10286"/>
                    <a:pt x="13312" y="6656"/>
                  </a:cubicBezTo>
                  <a:cubicBezTo>
                    <a:pt x="13312" y="2925"/>
                    <a:pt x="10387" y="0"/>
                    <a:pt x="66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2" name="Google Shape;32;p2"/>
          <p:cNvSpPr/>
          <p:nvPr/>
        </p:nvSpPr>
        <p:spPr>
          <a:xfrm>
            <a:off x="7726169" y="5880102"/>
            <a:ext cx="947851" cy="117881"/>
          </a:xfrm>
          <a:custGeom>
            <a:avLst/>
            <a:gdLst/>
            <a:ahLst/>
            <a:cxnLst/>
            <a:rect l="l" t="t" r="r" b="b"/>
            <a:pathLst>
              <a:path w="178391" h="22186" extrusionOk="0">
                <a:moveTo>
                  <a:pt x="173752" y="13009"/>
                </a:moveTo>
                <a:cubicBezTo>
                  <a:pt x="172743" y="13009"/>
                  <a:pt x="171836" y="12807"/>
                  <a:pt x="171130" y="12202"/>
                </a:cubicBezTo>
                <a:cubicBezTo>
                  <a:pt x="170525" y="11698"/>
                  <a:pt x="170020" y="10992"/>
                  <a:pt x="169718" y="9883"/>
                </a:cubicBezTo>
                <a:cubicBezTo>
                  <a:pt x="168911" y="6958"/>
                  <a:pt x="167298" y="4437"/>
                  <a:pt x="165079" y="2723"/>
                </a:cubicBezTo>
                <a:cubicBezTo>
                  <a:pt x="162760" y="1009"/>
                  <a:pt x="159936" y="0"/>
                  <a:pt x="156911" y="0"/>
                </a:cubicBezTo>
                <a:cubicBezTo>
                  <a:pt x="153785" y="0"/>
                  <a:pt x="150961" y="1009"/>
                  <a:pt x="148642" y="2723"/>
                </a:cubicBezTo>
                <a:cubicBezTo>
                  <a:pt x="146423" y="4437"/>
                  <a:pt x="144810" y="6958"/>
                  <a:pt x="144003" y="9883"/>
                </a:cubicBezTo>
                <a:cubicBezTo>
                  <a:pt x="143701" y="10992"/>
                  <a:pt x="143196" y="11698"/>
                  <a:pt x="142591" y="12202"/>
                </a:cubicBezTo>
                <a:cubicBezTo>
                  <a:pt x="141885" y="12807"/>
                  <a:pt x="140978" y="13009"/>
                  <a:pt x="139969" y="13009"/>
                </a:cubicBezTo>
                <a:cubicBezTo>
                  <a:pt x="138961" y="13009"/>
                  <a:pt x="138053" y="12807"/>
                  <a:pt x="137348" y="12202"/>
                </a:cubicBezTo>
                <a:cubicBezTo>
                  <a:pt x="136642" y="11698"/>
                  <a:pt x="136137" y="10891"/>
                  <a:pt x="135936" y="9883"/>
                </a:cubicBezTo>
                <a:cubicBezTo>
                  <a:pt x="135129" y="6958"/>
                  <a:pt x="133516" y="4437"/>
                  <a:pt x="131196" y="2723"/>
                </a:cubicBezTo>
                <a:cubicBezTo>
                  <a:pt x="128877" y="1009"/>
                  <a:pt x="126053" y="0"/>
                  <a:pt x="123028" y="0"/>
                </a:cubicBezTo>
                <a:cubicBezTo>
                  <a:pt x="120003" y="0"/>
                  <a:pt x="117179" y="1009"/>
                  <a:pt x="114860" y="2723"/>
                </a:cubicBezTo>
                <a:cubicBezTo>
                  <a:pt x="112540" y="4437"/>
                  <a:pt x="110927" y="6958"/>
                  <a:pt x="110120" y="9883"/>
                </a:cubicBezTo>
                <a:cubicBezTo>
                  <a:pt x="109918" y="10992"/>
                  <a:pt x="109414" y="11698"/>
                  <a:pt x="108708" y="12202"/>
                </a:cubicBezTo>
                <a:cubicBezTo>
                  <a:pt x="108002" y="12807"/>
                  <a:pt x="107095" y="13009"/>
                  <a:pt x="106086" y="13009"/>
                </a:cubicBezTo>
                <a:cubicBezTo>
                  <a:pt x="105078" y="13009"/>
                  <a:pt x="104170" y="12807"/>
                  <a:pt x="103465" y="12202"/>
                </a:cubicBezTo>
                <a:cubicBezTo>
                  <a:pt x="102859" y="11698"/>
                  <a:pt x="102355" y="10992"/>
                  <a:pt x="102053" y="9883"/>
                </a:cubicBezTo>
                <a:cubicBezTo>
                  <a:pt x="101246" y="6958"/>
                  <a:pt x="99633" y="4437"/>
                  <a:pt x="97313" y="2723"/>
                </a:cubicBezTo>
                <a:cubicBezTo>
                  <a:pt x="95095" y="1009"/>
                  <a:pt x="92271" y="0"/>
                  <a:pt x="89145" y="0"/>
                </a:cubicBezTo>
                <a:cubicBezTo>
                  <a:pt x="86120" y="0"/>
                  <a:pt x="83296" y="1009"/>
                  <a:pt x="80977" y="2723"/>
                </a:cubicBezTo>
                <a:cubicBezTo>
                  <a:pt x="78758" y="4437"/>
                  <a:pt x="77044" y="6958"/>
                  <a:pt x="76338" y="9883"/>
                </a:cubicBezTo>
                <a:cubicBezTo>
                  <a:pt x="76035" y="10891"/>
                  <a:pt x="75531" y="11698"/>
                  <a:pt x="74926" y="12202"/>
                </a:cubicBezTo>
                <a:cubicBezTo>
                  <a:pt x="74220" y="12807"/>
                  <a:pt x="73313" y="13009"/>
                  <a:pt x="72304" y="13009"/>
                </a:cubicBezTo>
                <a:cubicBezTo>
                  <a:pt x="71195" y="13009"/>
                  <a:pt x="70287" y="12807"/>
                  <a:pt x="69682" y="12202"/>
                </a:cubicBezTo>
                <a:cubicBezTo>
                  <a:pt x="68977" y="11698"/>
                  <a:pt x="68472" y="10891"/>
                  <a:pt x="68170" y="9883"/>
                </a:cubicBezTo>
                <a:cubicBezTo>
                  <a:pt x="67464" y="6958"/>
                  <a:pt x="65750" y="4437"/>
                  <a:pt x="63531" y="2723"/>
                </a:cubicBezTo>
                <a:cubicBezTo>
                  <a:pt x="61212" y="1009"/>
                  <a:pt x="58388" y="0"/>
                  <a:pt x="55363" y="0"/>
                </a:cubicBezTo>
                <a:cubicBezTo>
                  <a:pt x="52237" y="0"/>
                  <a:pt x="49413" y="1009"/>
                  <a:pt x="47195" y="2723"/>
                </a:cubicBezTo>
                <a:cubicBezTo>
                  <a:pt x="44875" y="4437"/>
                  <a:pt x="43262" y="6958"/>
                  <a:pt x="42455" y="9883"/>
                </a:cubicBezTo>
                <a:cubicBezTo>
                  <a:pt x="42153" y="10992"/>
                  <a:pt x="41749" y="11698"/>
                  <a:pt x="41043" y="12202"/>
                </a:cubicBezTo>
                <a:cubicBezTo>
                  <a:pt x="40337" y="12807"/>
                  <a:pt x="39430" y="13009"/>
                  <a:pt x="38421" y="13009"/>
                </a:cubicBezTo>
                <a:cubicBezTo>
                  <a:pt x="37413" y="13009"/>
                  <a:pt x="36505" y="12807"/>
                  <a:pt x="35799" y="12202"/>
                </a:cubicBezTo>
                <a:cubicBezTo>
                  <a:pt x="35094" y="11698"/>
                  <a:pt x="34589" y="10992"/>
                  <a:pt x="34388" y="9883"/>
                </a:cubicBezTo>
                <a:cubicBezTo>
                  <a:pt x="33581" y="6958"/>
                  <a:pt x="31967" y="4437"/>
                  <a:pt x="29648" y="2723"/>
                </a:cubicBezTo>
                <a:cubicBezTo>
                  <a:pt x="27329" y="1009"/>
                  <a:pt x="24505" y="0"/>
                  <a:pt x="21480" y="0"/>
                </a:cubicBezTo>
                <a:cubicBezTo>
                  <a:pt x="18455" y="0"/>
                  <a:pt x="15631" y="1009"/>
                  <a:pt x="13312" y="2723"/>
                </a:cubicBezTo>
                <a:cubicBezTo>
                  <a:pt x="10992" y="4437"/>
                  <a:pt x="9379" y="6958"/>
                  <a:pt x="8572" y="9883"/>
                </a:cubicBezTo>
                <a:cubicBezTo>
                  <a:pt x="8370" y="10891"/>
                  <a:pt x="7866" y="11698"/>
                  <a:pt x="7160" y="12202"/>
                </a:cubicBezTo>
                <a:cubicBezTo>
                  <a:pt x="6555" y="12807"/>
                  <a:pt x="5648" y="13009"/>
                  <a:pt x="4538" y="13009"/>
                </a:cubicBezTo>
                <a:cubicBezTo>
                  <a:pt x="2017" y="13009"/>
                  <a:pt x="0" y="15127"/>
                  <a:pt x="0" y="17648"/>
                </a:cubicBezTo>
                <a:cubicBezTo>
                  <a:pt x="0" y="20169"/>
                  <a:pt x="2017" y="22186"/>
                  <a:pt x="4538" y="22186"/>
                </a:cubicBezTo>
                <a:cubicBezTo>
                  <a:pt x="7664" y="22186"/>
                  <a:pt x="10488" y="21278"/>
                  <a:pt x="12707" y="19463"/>
                </a:cubicBezTo>
                <a:cubicBezTo>
                  <a:pt x="15026" y="17748"/>
                  <a:pt x="16639" y="15227"/>
                  <a:pt x="17446" y="12303"/>
                </a:cubicBezTo>
                <a:cubicBezTo>
                  <a:pt x="17749" y="11295"/>
                  <a:pt x="18152" y="10488"/>
                  <a:pt x="18858" y="9984"/>
                </a:cubicBezTo>
                <a:cubicBezTo>
                  <a:pt x="19564" y="9479"/>
                  <a:pt x="20471" y="9177"/>
                  <a:pt x="21480" y="9177"/>
                </a:cubicBezTo>
                <a:cubicBezTo>
                  <a:pt x="22488" y="9177"/>
                  <a:pt x="23396" y="9479"/>
                  <a:pt x="24102" y="9984"/>
                </a:cubicBezTo>
                <a:cubicBezTo>
                  <a:pt x="24808" y="10488"/>
                  <a:pt x="25211" y="11295"/>
                  <a:pt x="25514" y="12303"/>
                </a:cubicBezTo>
                <a:cubicBezTo>
                  <a:pt x="26320" y="15227"/>
                  <a:pt x="27934" y="17748"/>
                  <a:pt x="30253" y="19463"/>
                </a:cubicBezTo>
                <a:cubicBezTo>
                  <a:pt x="32472" y="21278"/>
                  <a:pt x="35396" y="22186"/>
                  <a:pt x="38421" y="22186"/>
                </a:cubicBezTo>
                <a:cubicBezTo>
                  <a:pt x="41447" y="22186"/>
                  <a:pt x="44270" y="21278"/>
                  <a:pt x="46590" y="19463"/>
                </a:cubicBezTo>
                <a:cubicBezTo>
                  <a:pt x="48909" y="17748"/>
                  <a:pt x="50522" y="15227"/>
                  <a:pt x="51329" y="12303"/>
                </a:cubicBezTo>
                <a:cubicBezTo>
                  <a:pt x="51531" y="11295"/>
                  <a:pt x="52035" y="10488"/>
                  <a:pt x="52741" y="9984"/>
                </a:cubicBezTo>
                <a:cubicBezTo>
                  <a:pt x="53346" y="9479"/>
                  <a:pt x="54254" y="9177"/>
                  <a:pt x="55363" y="9177"/>
                </a:cubicBezTo>
                <a:cubicBezTo>
                  <a:pt x="56371" y="9177"/>
                  <a:pt x="57279" y="9479"/>
                  <a:pt x="57985" y="9984"/>
                </a:cubicBezTo>
                <a:cubicBezTo>
                  <a:pt x="58590" y="10488"/>
                  <a:pt x="59094" y="11295"/>
                  <a:pt x="59397" y="12303"/>
                </a:cubicBezTo>
                <a:cubicBezTo>
                  <a:pt x="60203" y="15227"/>
                  <a:pt x="61817" y="17748"/>
                  <a:pt x="64035" y="19463"/>
                </a:cubicBezTo>
                <a:cubicBezTo>
                  <a:pt x="66355" y="21278"/>
                  <a:pt x="69178" y="22186"/>
                  <a:pt x="72203" y="22186"/>
                </a:cubicBezTo>
                <a:cubicBezTo>
                  <a:pt x="75330" y="22186"/>
                  <a:pt x="78153" y="21278"/>
                  <a:pt x="80473" y="19463"/>
                </a:cubicBezTo>
                <a:cubicBezTo>
                  <a:pt x="82691" y="17748"/>
                  <a:pt x="84305" y="15227"/>
                  <a:pt x="85111" y="12303"/>
                </a:cubicBezTo>
                <a:cubicBezTo>
                  <a:pt x="85414" y="11295"/>
                  <a:pt x="85918" y="10488"/>
                  <a:pt x="86523" y="9984"/>
                </a:cubicBezTo>
                <a:cubicBezTo>
                  <a:pt x="87229" y="9479"/>
                  <a:pt x="88137" y="9177"/>
                  <a:pt x="89145" y="9177"/>
                </a:cubicBezTo>
                <a:cubicBezTo>
                  <a:pt x="90254" y="9177"/>
                  <a:pt x="91162" y="9479"/>
                  <a:pt x="91767" y="9984"/>
                </a:cubicBezTo>
                <a:cubicBezTo>
                  <a:pt x="92473" y="10488"/>
                  <a:pt x="92977" y="11295"/>
                  <a:pt x="93179" y="12303"/>
                </a:cubicBezTo>
                <a:cubicBezTo>
                  <a:pt x="93985" y="15227"/>
                  <a:pt x="95599" y="17748"/>
                  <a:pt x="97918" y="19463"/>
                </a:cubicBezTo>
                <a:cubicBezTo>
                  <a:pt x="100238" y="21278"/>
                  <a:pt x="103061" y="22186"/>
                  <a:pt x="106086" y="22186"/>
                </a:cubicBezTo>
                <a:cubicBezTo>
                  <a:pt x="109112" y="22186"/>
                  <a:pt x="112036" y="21278"/>
                  <a:pt x="114255" y="19463"/>
                </a:cubicBezTo>
                <a:cubicBezTo>
                  <a:pt x="116574" y="17748"/>
                  <a:pt x="118187" y="15227"/>
                  <a:pt x="118994" y="12303"/>
                </a:cubicBezTo>
                <a:cubicBezTo>
                  <a:pt x="119297" y="11295"/>
                  <a:pt x="119700" y="10488"/>
                  <a:pt x="120406" y="9984"/>
                </a:cubicBezTo>
                <a:cubicBezTo>
                  <a:pt x="121112" y="9479"/>
                  <a:pt x="122019" y="9177"/>
                  <a:pt x="123028" y="9177"/>
                </a:cubicBezTo>
                <a:cubicBezTo>
                  <a:pt x="124036" y="9177"/>
                  <a:pt x="124944" y="9479"/>
                  <a:pt x="125650" y="9984"/>
                </a:cubicBezTo>
                <a:cubicBezTo>
                  <a:pt x="126356" y="10488"/>
                  <a:pt x="126759" y="11295"/>
                  <a:pt x="127062" y="12303"/>
                </a:cubicBezTo>
                <a:cubicBezTo>
                  <a:pt x="127868" y="15227"/>
                  <a:pt x="129482" y="17748"/>
                  <a:pt x="131801" y="19463"/>
                </a:cubicBezTo>
                <a:cubicBezTo>
                  <a:pt x="134020" y="21278"/>
                  <a:pt x="136843" y="22186"/>
                  <a:pt x="139969" y="22186"/>
                </a:cubicBezTo>
                <a:cubicBezTo>
                  <a:pt x="142995" y="22186"/>
                  <a:pt x="145818" y="21278"/>
                  <a:pt x="148138" y="19463"/>
                </a:cubicBezTo>
                <a:cubicBezTo>
                  <a:pt x="150356" y="17748"/>
                  <a:pt x="152070" y="15227"/>
                  <a:pt x="152776" y="12303"/>
                </a:cubicBezTo>
                <a:cubicBezTo>
                  <a:pt x="153079" y="11295"/>
                  <a:pt x="153583" y="10488"/>
                  <a:pt x="154289" y="9984"/>
                </a:cubicBezTo>
                <a:cubicBezTo>
                  <a:pt x="154894" y="9479"/>
                  <a:pt x="155802" y="9177"/>
                  <a:pt x="156911" y="9177"/>
                </a:cubicBezTo>
                <a:cubicBezTo>
                  <a:pt x="157919" y="9177"/>
                  <a:pt x="158827" y="9479"/>
                  <a:pt x="159533" y="9984"/>
                </a:cubicBezTo>
                <a:cubicBezTo>
                  <a:pt x="160138" y="10488"/>
                  <a:pt x="160642" y="11295"/>
                  <a:pt x="160945" y="12303"/>
                </a:cubicBezTo>
                <a:cubicBezTo>
                  <a:pt x="161751" y="15227"/>
                  <a:pt x="163365" y="17748"/>
                  <a:pt x="165583" y="19463"/>
                </a:cubicBezTo>
                <a:cubicBezTo>
                  <a:pt x="167903" y="21278"/>
                  <a:pt x="170726" y="22186"/>
                  <a:pt x="173752" y="22186"/>
                </a:cubicBezTo>
                <a:cubicBezTo>
                  <a:pt x="176273" y="22186"/>
                  <a:pt x="178390" y="20169"/>
                  <a:pt x="178390" y="17648"/>
                </a:cubicBezTo>
                <a:cubicBezTo>
                  <a:pt x="178390" y="15127"/>
                  <a:pt x="176273" y="13009"/>
                  <a:pt x="173752" y="1300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3" name="Google Shape;33;p2"/>
          <p:cNvSpPr/>
          <p:nvPr/>
        </p:nvSpPr>
        <p:spPr>
          <a:xfrm>
            <a:off x="1016000" y="5406567"/>
            <a:ext cx="838000" cy="119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4" name="Google Shape;34;p2"/>
          <p:cNvSpPr txBox="1">
            <a:spLocks noGrp="1"/>
          </p:cNvSpPr>
          <p:nvPr>
            <p:ph type="subTitle" idx="1"/>
          </p:nvPr>
        </p:nvSpPr>
        <p:spPr>
          <a:xfrm>
            <a:off x="974400" y="2720472"/>
            <a:ext cx="5706000" cy="1162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5465" b="1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9pPr>
          </a:lstStyle>
          <a:p>
            <a:r>
              <a:rPr lang="es-ES"/>
              <a:t>Haga clic para editar el estilo de subtítulo del patrón</a:t>
            </a:r>
          </a:p>
        </p:txBody>
      </p:sp>
      <p:sp>
        <p:nvSpPr>
          <p:cNvPr id="35" name="Google Shape;35;p2"/>
          <p:cNvSpPr txBox="1">
            <a:spLocks noGrp="1"/>
          </p:cNvSpPr>
          <p:nvPr>
            <p:ph type="subTitle" idx="2"/>
          </p:nvPr>
        </p:nvSpPr>
        <p:spPr>
          <a:xfrm>
            <a:off x="974400" y="5716467"/>
            <a:ext cx="4996800" cy="3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2135">
                <a:latin typeface="Signika"/>
                <a:ea typeface="Signika"/>
                <a:cs typeface="Signika"/>
                <a:sym typeface="Signi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2135"/>
              </a:spcBef>
              <a:spcAft>
                <a:spcPts val="2135"/>
              </a:spcAft>
              <a:buSzPts val="1400"/>
              <a:buNone/>
              <a:defRPr/>
            </a:lvl9pPr>
          </a:lstStyle>
          <a:p>
            <a:r>
              <a:rPr lang="es-ES"/>
              <a:t>Haga clic para editar el estilo de subtítulo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622341512"/>
      </p:ext>
    </p:extLst>
  </p:cSld>
  <p:clrMapOvr>
    <a:masterClrMapping/>
  </p:clrMapOvr>
  <p:transition>
    <p:fade thruBlk="1"/>
  </p:transition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Sub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>
            <a:spLocks noGrp="1"/>
          </p:cNvSpPr>
          <p:nvPr>
            <p:ph type="ctrTitle"/>
          </p:nvPr>
        </p:nvSpPr>
        <p:spPr>
          <a:xfrm>
            <a:off x="914400" y="2212733"/>
            <a:ext cx="5685200" cy="154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914400" y="3888339"/>
            <a:ext cx="5685200" cy="104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498017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· Big circuit">
  <p:cSld name="Blank · Big circui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s-PE" smtClean="0"/>
              <a:pPr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795358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1AAE89-7064-421D-9916-420AA2E7F7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6A12CE-274A-4C60-9546-77A9682AF5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73BBF9-6C16-49C0-B59C-BBB728D49E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0E9423-4AA5-436D-A3A1-72E3B07693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1A87426-75BB-4DA5-A531-460DD7508A1B}"/>
              </a:ext>
            </a:extLst>
          </p:cNvPr>
          <p:cNvSpPr/>
          <p:nvPr userDrawn="1"/>
        </p:nvSpPr>
        <p:spPr>
          <a:xfrm>
            <a:off x="6096000" y="-9331"/>
            <a:ext cx="6096000" cy="107325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90ED3DD-A7C3-4095-9269-329F194BB6AC}"/>
              </a:ext>
            </a:extLst>
          </p:cNvPr>
          <p:cNvSpPr/>
          <p:nvPr userDrawn="1"/>
        </p:nvSpPr>
        <p:spPr>
          <a:xfrm>
            <a:off x="0" y="1073257"/>
            <a:ext cx="12192000" cy="1515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11" name="Imagen 10" descr="Resultado de imagen para LOGO UNAC">
            <a:extLst>
              <a:ext uri="{FF2B5EF4-FFF2-40B4-BE49-F238E27FC236}">
                <a16:creationId xmlns:a16="http://schemas.microsoft.com/office/drawing/2014/main" id="{C8363EE3-3A68-4118-94B3-883E5C704F10}"/>
              </a:ext>
            </a:extLst>
          </p:cNvPr>
          <p:cNvPicPr/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732" y="188233"/>
            <a:ext cx="537224" cy="6846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80173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5" r:id="rId12"/>
    <p:sldLayoutId id="2147483666" r:id="rId13"/>
    <p:sldLayoutId id="2147483667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oleObject" Target="../embeddings/oleObject1.bin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9.wmf"/><Relationship Id="rId9" Type="http://schemas.microsoft.com/office/2007/relationships/diagramDrawing" Target="../diagrams/drawing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emf"/><Relationship Id="rId4" Type="http://schemas.openxmlformats.org/officeDocument/2006/relationships/oleObject" Target="../embeddings/oleObject3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024" y="2518396"/>
            <a:ext cx="4913785" cy="291665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Picture 2" descr="UNA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071" y="190477"/>
            <a:ext cx="2855333" cy="674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ángulo 18"/>
          <p:cNvSpPr/>
          <p:nvPr/>
        </p:nvSpPr>
        <p:spPr>
          <a:xfrm>
            <a:off x="7261461" y="5795306"/>
            <a:ext cx="467139" cy="450222"/>
          </a:xfrm>
          <a:prstGeom prst="rect">
            <a:avLst/>
          </a:prstGeom>
          <a:solidFill>
            <a:srgbClr val="D7E7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10" name="Título 2"/>
          <p:cNvSpPr txBox="1"/>
          <p:nvPr/>
        </p:nvSpPr>
        <p:spPr>
          <a:xfrm>
            <a:off x="8321150" y="5795306"/>
            <a:ext cx="2803628" cy="697178"/>
          </a:xfrm>
          <a:prstGeom prst="roundRect">
            <a:avLst/>
          </a:prstGeom>
          <a:solidFill>
            <a:schemeClr val="bg1"/>
          </a:solidFill>
          <a:ln w="28575">
            <a:noFill/>
            <a:prstDash val="lgDashDot"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PE" sz="1800" dirty="0">
                <a:solidFill>
                  <a:srgbClr val="002060"/>
                </a:solidFill>
                <a:latin typeface="Bodoni MT Black" panose="02070A03080606020203" pitchFamily="18" charset="0"/>
                <a:cs typeface="Leelawadee UI" panose="020B0502040204020203" pitchFamily="34" charset="-34"/>
              </a:rPr>
              <a:t>SEMESTRE ACADÉMICO 2026 B</a:t>
            </a:r>
            <a:endParaRPr lang="es-ES" sz="1800" dirty="0">
              <a:solidFill>
                <a:srgbClr val="002060"/>
              </a:solidFill>
              <a:latin typeface="Bodoni MT Black" panose="02070A03080606020203" pitchFamily="18" charset="0"/>
              <a:cs typeface="Leelawadee UI" panose="020B0502040204020203" pitchFamily="34" charset="-34"/>
            </a:endParaRPr>
          </a:p>
        </p:txBody>
      </p:sp>
      <p:pic>
        <p:nvPicPr>
          <p:cNvPr id="26" name="Imagen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1461" y="0"/>
            <a:ext cx="4923006" cy="1400220"/>
          </a:xfrm>
          <a:prstGeom prst="rect">
            <a:avLst/>
          </a:prstGeom>
        </p:spPr>
      </p:pic>
      <p:sp>
        <p:nvSpPr>
          <p:cNvPr id="15" name="4 CuadroTexto">
            <a:extLst>
              <a:ext uri="{FF2B5EF4-FFF2-40B4-BE49-F238E27FC236}">
                <a16:creationId xmlns:a16="http://schemas.microsoft.com/office/drawing/2014/main" id="{4365F436-E173-4817-8107-4110CE39FADE}"/>
              </a:ext>
            </a:extLst>
          </p:cNvPr>
          <p:cNvSpPr txBox="1"/>
          <p:nvPr/>
        </p:nvSpPr>
        <p:spPr>
          <a:xfrm>
            <a:off x="0" y="4134513"/>
            <a:ext cx="6096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rgbClr val="700000"/>
                </a:solidFill>
              </a:rPr>
              <a:t>Docente:</a:t>
            </a:r>
          </a:p>
          <a:p>
            <a:pPr algn="ctr"/>
            <a:r>
              <a:rPr lang="es-ES" sz="2400" b="1" dirty="0" err="1">
                <a:solidFill>
                  <a:srgbClr val="700000"/>
                </a:solidFill>
              </a:rPr>
              <a:t>ANIVAL</a:t>
            </a:r>
            <a:r>
              <a:rPr lang="es-ES" sz="2400" b="1" dirty="0">
                <a:solidFill>
                  <a:srgbClr val="700000"/>
                </a:solidFill>
              </a:rPr>
              <a:t> TORRE CAMONES</a:t>
            </a:r>
            <a:endParaRPr lang="es-PE" sz="2400" b="1" dirty="0">
              <a:solidFill>
                <a:srgbClr val="700000"/>
              </a:solidFill>
            </a:endParaRPr>
          </a:p>
        </p:txBody>
      </p:sp>
      <p:sp>
        <p:nvSpPr>
          <p:cNvPr id="2" name="5 Rectángulo">
            <a:extLst>
              <a:ext uri="{FF2B5EF4-FFF2-40B4-BE49-F238E27FC236}">
                <a16:creationId xmlns:a16="http://schemas.microsoft.com/office/drawing/2014/main" id="{3267FC93-B427-4E7C-B243-BE63C44CB29D}"/>
              </a:ext>
            </a:extLst>
          </p:cNvPr>
          <p:cNvSpPr/>
          <p:nvPr/>
        </p:nvSpPr>
        <p:spPr>
          <a:xfrm>
            <a:off x="390" y="2394096"/>
            <a:ext cx="6096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4000" b="1" dirty="0">
                <a:solidFill>
                  <a:srgbClr val="700000"/>
                </a:solidFill>
              </a:rPr>
              <a:t>INVESTIGACION DE OPERACIONES</a:t>
            </a:r>
            <a:endParaRPr lang="es-PE" sz="4000" b="1" dirty="0">
              <a:solidFill>
                <a:srgbClr val="700000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F291808-C582-26D7-9A61-E42C7376AD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7736" y="3366595"/>
            <a:ext cx="1097308" cy="1097308"/>
          </a:xfrm>
          <a:prstGeom prst="rect">
            <a:avLst/>
          </a:prstGeom>
        </p:spPr>
      </p:pic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" b="0" dirty="0">
                <a:solidFill>
                  <a:srgbClr val="FF0000"/>
                </a:solidFill>
                <a:latin typeface="Bauhaus 93" pitchFamily="82" charset="0"/>
              </a:rPr>
              <a:t>Técnica de choque</a:t>
            </a:r>
            <a:endParaRPr lang="es-ES" b="0" dirty="0">
              <a:solidFill>
                <a:srgbClr val="FF0000"/>
              </a:solidFill>
            </a:endParaRPr>
          </a:p>
        </p:txBody>
      </p:sp>
      <p:sp>
        <p:nvSpPr>
          <p:cNvPr id="83" name="Google Shape;83;p15"/>
          <p:cNvSpPr txBox="1">
            <a:spLocks noGrp="1"/>
          </p:cNvSpPr>
          <p:nvPr>
            <p:ph type="sldNum" idx="4294967295"/>
          </p:nvPr>
        </p:nvSpPr>
        <p:spPr>
          <a:xfrm>
            <a:off x="10118726" y="6332538"/>
            <a:ext cx="549275" cy="525462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2</a:t>
            </a:fld>
            <a:endParaRPr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black">
          <a:xfrm>
            <a:off x="6096000" y="136562"/>
            <a:ext cx="6096000" cy="858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2pPr>
            <a:lvl3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3pPr>
            <a:lvl4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4pPr>
            <a:lvl5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5pPr>
            <a:lvl6pPr marL="4572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6pPr>
            <a:lvl7pPr marL="9144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7pPr>
            <a:lvl8pPr marL="13716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8pPr>
            <a:lvl9pPr marL="18288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>
              <a:buSzPts val="3600"/>
            </a:pPr>
            <a:r>
              <a:rPr lang="es-ES" sz="3200" b="0" i="0" dirty="0">
                <a:solidFill>
                  <a:schemeClr val="bg1"/>
                </a:solidFill>
                <a:latin typeface="Bauhaus 93" pitchFamily="82" charset="0"/>
              </a:rPr>
              <a:t>Décima semana</a:t>
            </a:r>
            <a:endParaRPr lang="en-US" sz="3200" b="0" i="0" dirty="0">
              <a:solidFill>
                <a:schemeClr val="bg1"/>
              </a:solidFill>
              <a:latin typeface="Bauhaus 93" pitchFamily="82" charset="0"/>
            </a:endParaRPr>
          </a:p>
        </p:txBody>
      </p:sp>
      <p:pic>
        <p:nvPicPr>
          <p:cNvPr id="8" name="Google Shape;6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6237" y="2564904"/>
            <a:ext cx="1782850" cy="19889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97255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0" y="152070"/>
            <a:ext cx="6096000" cy="566762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spcFirstLastPara="1"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UY" sz="3200" dirty="0">
                <a:solidFill>
                  <a:schemeClr val="bg1"/>
                </a:solidFill>
                <a:latin typeface="Bauhaus 93" pitchFamily="82" charset="0"/>
                <a:ea typeface="+mn-ea"/>
                <a:cs typeface="+mn-cs"/>
              </a:rPr>
              <a:t>Contenido</a:t>
            </a:r>
          </a:p>
        </p:txBody>
      </p:sp>
      <p:grpSp>
        <p:nvGrpSpPr>
          <p:cNvPr id="67587" name="Group 3"/>
          <p:cNvGrpSpPr>
            <a:grpSpLocks/>
          </p:cNvGrpSpPr>
          <p:nvPr/>
        </p:nvGrpSpPr>
        <p:grpSpPr bwMode="auto">
          <a:xfrm>
            <a:off x="3352800" y="2024063"/>
            <a:ext cx="762000" cy="665162"/>
            <a:chOff x="1110" y="2656"/>
            <a:chExt cx="1549" cy="1351"/>
          </a:xfrm>
        </p:grpSpPr>
        <p:sp>
          <p:nvSpPr>
            <p:cNvPr id="67588" name="AutoShape 4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dirty="0"/>
            </a:p>
          </p:txBody>
        </p:sp>
        <p:sp>
          <p:nvSpPr>
            <p:cNvPr id="67589" name="AutoShape 5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499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dirty="0"/>
            </a:p>
          </p:txBody>
        </p:sp>
        <p:sp>
          <p:nvSpPr>
            <p:cNvPr id="67590" name="AutoShape 6"/>
            <p:cNvSpPr>
              <a:spLocks noChangeArrowheads="1"/>
            </p:cNvSpPr>
            <p:nvPr/>
          </p:nvSpPr>
          <p:spPr bwMode="gray">
            <a:xfrm>
              <a:off x="1200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100000">
                  <a:schemeClr val="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dirty="0"/>
            </a:p>
          </p:txBody>
        </p:sp>
      </p:grpSp>
      <p:grpSp>
        <p:nvGrpSpPr>
          <p:cNvPr id="67591" name="Group 7"/>
          <p:cNvGrpSpPr>
            <a:grpSpLocks/>
          </p:cNvGrpSpPr>
          <p:nvPr/>
        </p:nvGrpSpPr>
        <p:grpSpPr bwMode="auto">
          <a:xfrm>
            <a:off x="3352800" y="2938463"/>
            <a:ext cx="762000" cy="665162"/>
            <a:chOff x="3174" y="2656"/>
            <a:chExt cx="1549" cy="1351"/>
          </a:xfrm>
        </p:grpSpPr>
        <p:sp>
          <p:nvSpPr>
            <p:cNvPr id="67592" name="AutoShape 8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dirty="0"/>
            </a:p>
          </p:txBody>
        </p:sp>
        <p:sp>
          <p:nvSpPr>
            <p:cNvPr id="67593" name="AutoShape 9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499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dirty="0"/>
            </a:p>
          </p:txBody>
        </p:sp>
        <p:sp>
          <p:nvSpPr>
            <p:cNvPr id="67594" name="AutoShape 10"/>
            <p:cNvSpPr>
              <a:spLocks noChangeArrowheads="1"/>
            </p:cNvSpPr>
            <p:nvPr/>
          </p:nvSpPr>
          <p:spPr bwMode="gray">
            <a:xfrm>
              <a:off x="3264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dirty="0"/>
            </a:p>
          </p:txBody>
        </p:sp>
      </p:grpSp>
      <p:sp>
        <p:nvSpPr>
          <p:cNvPr id="67595" name="Line 11"/>
          <p:cNvSpPr>
            <a:spLocks noChangeShapeType="1"/>
          </p:cNvSpPr>
          <p:nvPr/>
        </p:nvSpPr>
        <p:spPr bwMode="auto">
          <a:xfrm>
            <a:off x="3962400" y="2633663"/>
            <a:ext cx="48006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es-ES" dirty="0"/>
          </a:p>
        </p:txBody>
      </p:sp>
      <p:sp>
        <p:nvSpPr>
          <p:cNvPr id="67596" name="Text Box 12"/>
          <p:cNvSpPr txBox="1">
            <a:spLocks noChangeArrowheads="1"/>
          </p:cNvSpPr>
          <p:nvPr/>
        </p:nvSpPr>
        <p:spPr bwMode="auto">
          <a:xfrm>
            <a:off x="4238612" y="2100264"/>
            <a:ext cx="5214974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s-ES_tradnl" sz="2400" dirty="0">
                <a:solidFill>
                  <a:schemeClr val="tx2"/>
                </a:solidFill>
              </a:rPr>
              <a:t>Proyecto e inversión</a:t>
            </a:r>
          </a:p>
        </p:txBody>
      </p:sp>
      <p:sp>
        <p:nvSpPr>
          <p:cNvPr id="67597" name="Text Box 13"/>
          <p:cNvSpPr txBox="1">
            <a:spLocks noChangeArrowheads="1"/>
          </p:cNvSpPr>
          <p:nvPr/>
        </p:nvSpPr>
        <p:spPr bwMode="gray">
          <a:xfrm>
            <a:off x="3556579" y="2122489"/>
            <a:ext cx="340157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sz="2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67598" name="Line 14"/>
          <p:cNvSpPr>
            <a:spLocks noChangeShapeType="1"/>
          </p:cNvSpPr>
          <p:nvPr/>
        </p:nvSpPr>
        <p:spPr bwMode="auto">
          <a:xfrm>
            <a:off x="3962400" y="3548063"/>
            <a:ext cx="48006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es-ES" dirty="0"/>
          </a:p>
        </p:txBody>
      </p:sp>
      <p:sp>
        <p:nvSpPr>
          <p:cNvPr id="67599" name="Text Box 15"/>
          <p:cNvSpPr txBox="1">
            <a:spLocks noChangeArrowheads="1"/>
          </p:cNvSpPr>
          <p:nvPr/>
        </p:nvSpPr>
        <p:spPr bwMode="auto">
          <a:xfrm>
            <a:off x="4238612" y="3014664"/>
            <a:ext cx="4714908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s-ES_tradnl" sz="2400" dirty="0">
                <a:solidFill>
                  <a:schemeClr val="tx2"/>
                </a:solidFill>
              </a:rPr>
              <a:t>Problemas determinísticos</a:t>
            </a:r>
          </a:p>
        </p:txBody>
      </p:sp>
      <p:sp>
        <p:nvSpPr>
          <p:cNvPr id="67600" name="Text Box 16"/>
          <p:cNvSpPr txBox="1">
            <a:spLocks noChangeArrowheads="1"/>
          </p:cNvSpPr>
          <p:nvPr/>
        </p:nvSpPr>
        <p:spPr bwMode="gray">
          <a:xfrm>
            <a:off x="3556579" y="3036889"/>
            <a:ext cx="340157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sz="2400" dirty="0">
                <a:solidFill>
                  <a:schemeClr val="bg1"/>
                </a:solidFill>
              </a:rPr>
              <a:t>2</a:t>
            </a:r>
          </a:p>
        </p:txBody>
      </p:sp>
      <p:grpSp>
        <p:nvGrpSpPr>
          <p:cNvPr id="67601" name="Group 17"/>
          <p:cNvGrpSpPr>
            <a:grpSpLocks/>
          </p:cNvGrpSpPr>
          <p:nvPr/>
        </p:nvGrpSpPr>
        <p:grpSpPr bwMode="auto">
          <a:xfrm>
            <a:off x="3352800" y="3830638"/>
            <a:ext cx="762000" cy="665162"/>
            <a:chOff x="1110" y="2656"/>
            <a:chExt cx="1549" cy="1351"/>
          </a:xfrm>
        </p:grpSpPr>
        <p:sp>
          <p:nvSpPr>
            <p:cNvPr id="67602" name="AutoShape 18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dirty="0"/>
            </a:p>
          </p:txBody>
        </p:sp>
        <p:sp>
          <p:nvSpPr>
            <p:cNvPr id="67603" name="AutoShape 19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499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dirty="0"/>
            </a:p>
          </p:txBody>
        </p:sp>
        <p:sp>
          <p:nvSpPr>
            <p:cNvPr id="67604" name="AutoShape 20"/>
            <p:cNvSpPr>
              <a:spLocks noChangeArrowheads="1"/>
            </p:cNvSpPr>
            <p:nvPr/>
          </p:nvSpPr>
          <p:spPr bwMode="gray">
            <a:xfrm>
              <a:off x="1200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100000">
                  <a:schemeClr val="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dirty="0"/>
            </a:p>
          </p:txBody>
        </p:sp>
      </p:grpSp>
      <p:grpSp>
        <p:nvGrpSpPr>
          <p:cNvPr id="67605" name="Group 21"/>
          <p:cNvGrpSpPr>
            <a:grpSpLocks/>
          </p:cNvGrpSpPr>
          <p:nvPr/>
        </p:nvGrpSpPr>
        <p:grpSpPr bwMode="auto">
          <a:xfrm>
            <a:off x="3352800" y="4745038"/>
            <a:ext cx="762000" cy="665162"/>
            <a:chOff x="3174" y="2656"/>
            <a:chExt cx="1549" cy="1351"/>
          </a:xfrm>
        </p:grpSpPr>
        <p:sp>
          <p:nvSpPr>
            <p:cNvPr id="67606" name="AutoShape 22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dirty="0"/>
            </a:p>
          </p:txBody>
        </p:sp>
        <p:sp>
          <p:nvSpPr>
            <p:cNvPr id="67607" name="AutoShape 23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499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dirty="0"/>
            </a:p>
          </p:txBody>
        </p:sp>
        <p:sp>
          <p:nvSpPr>
            <p:cNvPr id="67608" name="AutoShape 24"/>
            <p:cNvSpPr>
              <a:spLocks noChangeArrowheads="1"/>
            </p:cNvSpPr>
            <p:nvPr/>
          </p:nvSpPr>
          <p:spPr bwMode="gray">
            <a:xfrm>
              <a:off x="3264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dirty="0"/>
            </a:p>
          </p:txBody>
        </p:sp>
      </p:grpSp>
      <p:sp>
        <p:nvSpPr>
          <p:cNvPr id="67609" name="Line 25"/>
          <p:cNvSpPr>
            <a:spLocks noChangeShapeType="1"/>
          </p:cNvSpPr>
          <p:nvPr/>
        </p:nvSpPr>
        <p:spPr bwMode="auto">
          <a:xfrm>
            <a:off x="3962400" y="4440238"/>
            <a:ext cx="48006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es-ES" dirty="0"/>
          </a:p>
        </p:txBody>
      </p:sp>
      <p:sp>
        <p:nvSpPr>
          <p:cNvPr id="67610" name="Text Box 26"/>
          <p:cNvSpPr txBox="1">
            <a:spLocks noChangeArrowheads="1"/>
          </p:cNvSpPr>
          <p:nvPr/>
        </p:nvSpPr>
        <p:spPr bwMode="auto">
          <a:xfrm>
            <a:off x="4238612" y="4857761"/>
            <a:ext cx="4572032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s-ES_tradnl" sz="2400" b="1" dirty="0">
                <a:solidFill>
                  <a:srgbClr val="7030A0"/>
                </a:solidFill>
              </a:rPr>
              <a:t>Problemas probabilísticos</a:t>
            </a:r>
          </a:p>
        </p:txBody>
      </p:sp>
      <p:sp>
        <p:nvSpPr>
          <p:cNvPr id="67611" name="Text Box 27"/>
          <p:cNvSpPr txBox="1">
            <a:spLocks noChangeArrowheads="1"/>
          </p:cNvSpPr>
          <p:nvPr/>
        </p:nvSpPr>
        <p:spPr bwMode="gray">
          <a:xfrm>
            <a:off x="3556579" y="3929064"/>
            <a:ext cx="340157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sz="24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67612" name="Line 28"/>
          <p:cNvSpPr>
            <a:spLocks noChangeShapeType="1"/>
          </p:cNvSpPr>
          <p:nvPr/>
        </p:nvSpPr>
        <p:spPr bwMode="auto">
          <a:xfrm>
            <a:off x="3962400" y="5354638"/>
            <a:ext cx="48006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es-ES" dirty="0"/>
          </a:p>
        </p:txBody>
      </p:sp>
      <p:sp>
        <p:nvSpPr>
          <p:cNvPr id="67613" name="Text Box 29"/>
          <p:cNvSpPr txBox="1">
            <a:spLocks noChangeArrowheads="1"/>
          </p:cNvSpPr>
          <p:nvPr/>
        </p:nvSpPr>
        <p:spPr bwMode="auto">
          <a:xfrm>
            <a:off x="4238612" y="4000505"/>
            <a:ext cx="3587290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s-ES_tradnl" sz="2400" b="1" dirty="0">
                <a:solidFill>
                  <a:srgbClr val="7030A0"/>
                </a:solidFill>
              </a:rPr>
              <a:t>Técnica de choque</a:t>
            </a:r>
          </a:p>
        </p:txBody>
      </p:sp>
      <p:sp>
        <p:nvSpPr>
          <p:cNvPr id="67614" name="Text Box 30"/>
          <p:cNvSpPr txBox="1">
            <a:spLocks noChangeArrowheads="1"/>
          </p:cNvSpPr>
          <p:nvPr/>
        </p:nvSpPr>
        <p:spPr bwMode="gray">
          <a:xfrm>
            <a:off x="3556579" y="4843464"/>
            <a:ext cx="340157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sz="2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7615" name="Text Box 31"/>
          <p:cNvSpPr txBox="1">
            <a:spLocks noChangeArrowheads="1"/>
          </p:cNvSpPr>
          <p:nvPr/>
        </p:nvSpPr>
        <p:spPr bwMode="auto">
          <a:xfrm>
            <a:off x="3184525" y="722313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s-ES" dirty="0"/>
          </a:p>
        </p:txBody>
      </p:sp>
      <p:sp>
        <p:nvSpPr>
          <p:cNvPr id="2" name="1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ANIVAL TORRE</a:t>
            </a:r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38C50-023F-42B7-BFCC-78669C22CA39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9" name="Text Box 27"/>
          <p:cNvSpPr txBox="1">
            <a:spLocks noChangeArrowheads="1"/>
          </p:cNvSpPr>
          <p:nvPr/>
        </p:nvSpPr>
        <p:spPr bwMode="gray">
          <a:xfrm>
            <a:off x="3514246" y="5748476"/>
            <a:ext cx="340157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sz="2400" dirty="0">
                <a:solidFill>
                  <a:schemeClr val="bg1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89934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ANIVAL TORRE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7123F-EA94-4AF6-90FD-8402484B591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54CC21BF-1132-63D8-63C0-65AA7C747A85}"/>
              </a:ext>
            </a:extLst>
          </p:cNvPr>
          <p:cNvSpPr/>
          <p:nvPr/>
        </p:nvSpPr>
        <p:spPr>
          <a:xfrm>
            <a:off x="4228692" y="1609246"/>
            <a:ext cx="7704857" cy="2062039"/>
          </a:xfrm>
          <a:custGeom>
            <a:avLst/>
            <a:gdLst>
              <a:gd name="connsiteX0" fmla="*/ 0 w 7704857"/>
              <a:gd name="connsiteY0" fmla="*/ 343680 h 2062039"/>
              <a:gd name="connsiteX1" fmla="*/ 343680 w 7704857"/>
              <a:gd name="connsiteY1" fmla="*/ 0 h 2062039"/>
              <a:gd name="connsiteX2" fmla="*/ 7361177 w 7704857"/>
              <a:gd name="connsiteY2" fmla="*/ 0 h 2062039"/>
              <a:gd name="connsiteX3" fmla="*/ 7704857 w 7704857"/>
              <a:gd name="connsiteY3" fmla="*/ 343680 h 2062039"/>
              <a:gd name="connsiteX4" fmla="*/ 7704857 w 7704857"/>
              <a:gd name="connsiteY4" fmla="*/ 1718359 h 2062039"/>
              <a:gd name="connsiteX5" fmla="*/ 7361177 w 7704857"/>
              <a:gd name="connsiteY5" fmla="*/ 2062039 h 2062039"/>
              <a:gd name="connsiteX6" fmla="*/ 343680 w 7704857"/>
              <a:gd name="connsiteY6" fmla="*/ 2062039 h 2062039"/>
              <a:gd name="connsiteX7" fmla="*/ 0 w 7704857"/>
              <a:gd name="connsiteY7" fmla="*/ 1718359 h 2062039"/>
              <a:gd name="connsiteX8" fmla="*/ 0 w 7704857"/>
              <a:gd name="connsiteY8" fmla="*/ 343680 h 2062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704857" h="2062039">
                <a:moveTo>
                  <a:pt x="0" y="343680"/>
                </a:moveTo>
                <a:cubicBezTo>
                  <a:pt x="0" y="153871"/>
                  <a:pt x="153871" y="0"/>
                  <a:pt x="343680" y="0"/>
                </a:cubicBezTo>
                <a:lnTo>
                  <a:pt x="7361177" y="0"/>
                </a:lnTo>
                <a:cubicBezTo>
                  <a:pt x="7550986" y="0"/>
                  <a:pt x="7704857" y="153871"/>
                  <a:pt x="7704857" y="343680"/>
                </a:cubicBezTo>
                <a:lnTo>
                  <a:pt x="7704857" y="1718359"/>
                </a:lnTo>
                <a:cubicBezTo>
                  <a:pt x="7704857" y="1908168"/>
                  <a:pt x="7550986" y="2062039"/>
                  <a:pt x="7361177" y="2062039"/>
                </a:cubicBezTo>
                <a:lnTo>
                  <a:pt x="343680" y="2062039"/>
                </a:lnTo>
                <a:cubicBezTo>
                  <a:pt x="153871" y="2062039"/>
                  <a:pt x="0" y="1908168"/>
                  <a:pt x="0" y="1718359"/>
                </a:cubicBezTo>
                <a:lnTo>
                  <a:pt x="0" y="34368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92100" tIns="192100" rIns="192100" bIns="192100" numCol="1" spcCol="1270" anchor="ctr" anchorCtr="0">
            <a:noAutofit/>
          </a:bodyPr>
          <a:lstStyle/>
          <a:p>
            <a:pPr marL="0" lvl="0" indent="0" algn="just" defTabSz="10668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PE" sz="2400" b="0" kern="1200"/>
              <a:t>La técnica de choque es una mejora a las técnicas anteriores de PERT y CPM donde se   considera el tiempo normal, tiempo de choque, costo normal y el costo de choque para cada tarea. </a:t>
            </a:r>
            <a:endParaRPr lang="es-PE" sz="2400" kern="1200"/>
          </a:p>
        </p:txBody>
      </p:sp>
      <p:sp>
        <p:nvSpPr>
          <p:cNvPr id="6" name="Rectángulo 5"/>
          <p:cNvSpPr/>
          <p:nvPr/>
        </p:nvSpPr>
        <p:spPr>
          <a:xfrm>
            <a:off x="6096000" y="136525"/>
            <a:ext cx="6096000" cy="57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spcFirstLastPara="1"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5800"/>
              </a:lnSpc>
              <a:spcBef>
                <a:spcPct val="0"/>
              </a:spcBef>
            </a:pPr>
            <a:r>
              <a:rPr lang="es-PE" sz="3200" dirty="0">
                <a:solidFill>
                  <a:schemeClr val="bg1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Bauhaus 93" pitchFamily="82" charset="0"/>
              </a:rPr>
              <a:t>Técnica de choque</a:t>
            </a:r>
          </a:p>
        </p:txBody>
      </p:sp>
      <p:pic>
        <p:nvPicPr>
          <p:cNvPr id="1026" name="Picture 2" descr="RMFLS 2022: OCBC Bank (BM) - RinggitPlus">
            <a:extLst>
              <a:ext uri="{FF2B5EF4-FFF2-40B4-BE49-F238E27FC236}">
                <a16:creationId xmlns:a16="http://schemas.microsoft.com/office/drawing/2014/main" id="{60E8ED24-C63C-CCB3-3E9B-C9C5488E0E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915031"/>
            <a:ext cx="3707503" cy="3336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rma libre: forma 8">
            <a:extLst>
              <a:ext uri="{FF2B5EF4-FFF2-40B4-BE49-F238E27FC236}">
                <a16:creationId xmlns:a16="http://schemas.microsoft.com/office/drawing/2014/main" id="{8EA0629E-8802-A4A4-9F61-ED8B0319A555}"/>
              </a:ext>
            </a:extLst>
          </p:cNvPr>
          <p:cNvSpPr/>
          <p:nvPr/>
        </p:nvSpPr>
        <p:spPr>
          <a:xfrm>
            <a:off x="4228692" y="3858486"/>
            <a:ext cx="7704857" cy="2062039"/>
          </a:xfrm>
          <a:custGeom>
            <a:avLst/>
            <a:gdLst>
              <a:gd name="connsiteX0" fmla="*/ 0 w 7704857"/>
              <a:gd name="connsiteY0" fmla="*/ 343680 h 2062039"/>
              <a:gd name="connsiteX1" fmla="*/ 343680 w 7704857"/>
              <a:gd name="connsiteY1" fmla="*/ 0 h 2062039"/>
              <a:gd name="connsiteX2" fmla="*/ 7361177 w 7704857"/>
              <a:gd name="connsiteY2" fmla="*/ 0 h 2062039"/>
              <a:gd name="connsiteX3" fmla="*/ 7704857 w 7704857"/>
              <a:gd name="connsiteY3" fmla="*/ 343680 h 2062039"/>
              <a:gd name="connsiteX4" fmla="*/ 7704857 w 7704857"/>
              <a:gd name="connsiteY4" fmla="*/ 1718359 h 2062039"/>
              <a:gd name="connsiteX5" fmla="*/ 7361177 w 7704857"/>
              <a:gd name="connsiteY5" fmla="*/ 2062039 h 2062039"/>
              <a:gd name="connsiteX6" fmla="*/ 343680 w 7704857"/>
              <a:gd name="connsiteY6" fmla="*/ 2062039 h 2062039"/>
              <a:gd name="connsiteX7" fmla="*/ 0 w 7704857"/>
              <a:gd name="connsiteY7" fmla="*/ 1718359 h 2062039"/>
              <a:gd name="connsiteX8" fmla="*/ 0 w 7704857"/>
              <a:gd name="connsiteY8" fmla="*/ 343680 h 2062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704857" h="2062039">
                <a:moveTo>
                  <a:pt x="0" y="343680"/>
                </a:moveTo>
                <a:cubicBezTo>
                  <a:pt x="0" y="153871"/>
                  <a:pt x="153871" y="0"/>
                  <a:pt x="343680" y="0"/>
                </a:cubicBezTo>
                <a:lnTo>
                  <a:pt x="7361177" y="0"/>
                </a:lnTo>
                <a:cubicBezTo>
                  <a:pt x="7550986" y="0"/>
                  <a:pt x="7704857" y="153871"/>
                  <a:pt x="7704857" y="343680"/>
                </a:cubicBezTo>
                <a:lnTo>
                  <a:pt x="7704857" y="1718359"/>
                </a:lnTo>
                <a:cubicBezTo>
                  <a:pt x="7704857" y="1908168"/>
                  <a:pt x="7550986" y="2062039"/>
                  <a:pt x="7361177" y="2062039"/>
                </a:cubicBezTo>
                <a:lnTo>
                  <a:pt x="343680" y="2062039"/>
                </a:lnTo>
                <a:cubicBezTo>
                  <a:pt x="153871" y="2062039"/>
                  <a:pt x="0" y="1908168"/>
                  <a:pt x="0" y="1718359"/>
                </a:cubicBezTo>
                <a:lnTo>
                  <a:pt x="0" y="34368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92100" tIns="192100" rIns="192100" bIns="192100" numCol="1" spcCol="1270" anchor="ctr" anchorCtr="0">
            <a:noAutofit/>
          </a:bodyPr>
          <a:lstStyle/>
          <a:p>
            <a:pPr marL="0" lvl="0" indent="0" algn="just" defTabSz="10668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PE" sz="2400" b="0" kern="1200" dirty="0"/>
              <a:t>Para disminuir la duración del proyecto, se debe disminuir una tarea que esté en la ruta crítica y que tenga menor costo por unidad de tiempo. Si se resuelve manualmente debe disminuir de uno en uno, porque se pueden generar nuevas rutas. </a:t>
            </a:r>
            <a:endParaRPr lang="es-PE" sz="2400" kern="1200" dirty="0"/>
          </a:p>
        </p:txBody>
      </p:sp>
    </p:spTree>
    <p:extLst>
      <p:ext uri="{BB962C8B-B14F-4D97-AF65-F5344CB8AC3E}">
        <p14:creationId xmlns:p14="http://schemas.microsoft.com/office/powerpoint/2010/main" val="1773028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8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502296" y="1268760"/>
            <a:ext cx="9144000" cy="576064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spcFirstLastPara="1"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s-MX" sz="3200" dirty="0">
                <a:solidFill>
                  <a:srgbClr val="FF0000"/>
                </a:solidFill>
                <a:latin typeface="Bauhaus 93" pitchFamily="82" charset="0"/>
                <a:ea typeface="+mn-ea"/>
                <a:cs typeface="+mn-cs"/>
              </a:rPr>
              <a:t>Consideraciones sobre costos</a:t>
            </a:r>
            <a:endParaRPr lang="es-ES" sz="3200" dirty="0">
              <a:solidFill>
                <a:srgbClr val="FF0000"/>
              </a:solidFill>
              <a:latin typeface="Bauhaus 93" pitchFamily="82" charset="0"/>
              <a:ea typeface="+mn-ea"/>
              <a:cs typeface="+mn-cs"/>
            </a:endParaRPr>
          </a:p>
        </p:txBody>
      </p:sp>
      <p:sp>
        <p:nvSpPr>
          <p:cNvPr id="2" name="1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ANIVAL TORRE</a:t>
            </a:r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38C50-023F-42B7-BFCC-78669C22CA39}" type="slidenum">
              <a:rPr lang="en-US" smtClean="0"/>
              <a:pPr/>
              <a:t>5</a:t>
            </a:fld>
            <a:endParaRPr lang="en-US"/>
          </a:p>
        </p:txBody>
      </p:sp>
      <p:graphicFrame>
        <p:nvGraphicFramePr>
          <p:cNvPr id="8" name="Objeto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1700508"/>
              </p:ext>
            </p:extLst>
          </p:nvPr>
        </p:nvGraphicFramePr>
        <p:xfrm>
          <a:off x="589802" y="2761610"/>
          <a:ext cx="3384376" cy="8926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346040" imgH="393480" progId="">
                  <p:embed/>
                </p:oleObj>
              </mc:Choice>
              <mc:Fallback>
                <p:oleObj r:id="rId3" imgW="1346040" imgH="393480" progId="">
                  <p:embed/>
                  <p:pic>
                    <p:nvPicPr>
                      <p:cNvPr id="8" name="Objeto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89802" y="2761610"/>
                        <a:ext cx="3384376" cy="892651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5 Diagrama"/>
          <p:cNvGraphicFramePr/>
          <p:nvPr>
            <p:extLst>
              <p:ext uri="{D42A27DB-BD31-4B8C-83A1-F6EECF244321}">
                <p14:modId xmlns:p14="http://schemas.microsoft.com/office/powerpoint/2010/main" val="213672488"/>
              </p:ext>
            </p:extLst>
          </p:nvPr>
        </p:nvGraphicFramePr>
        <p:xfrm>
          <a:off x="4824663" y="1844824"/>
          <a:ext cx="7224963" cy="36004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4" name="Rectángulo 3">
            <a:extLst>
              <a:ext uri="{FF2B5EF4-FFF2-40B4-BE49-F238E27FC236}">
                <a16:creationId xmlns:a16="http://schemas.microsoft.com/office/drawing/2014/main" id="{C114DF06-5252-EA65-E231-75C51E45FEFD}"/>
              </a:ext>
            </a:extLst>
          </p:cNvPr>
          <p:cNvSpPr/>
          <p:nvPr/>
        </p:nvSpPr>
        <p:spPr>
          <a:xfrm>
            <a:off x="6096000" y="136525"/>
            <a:ext cx="6096000" cy="57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spcFirstLastPara="1"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5800"/>
              </a:lnSpc>
              <a:spcBef>
                <a:spcPct val="0"/>
              </a:spcBef>
            </a:pPr>
            <a:r>
              <a:rPr lang="es-PE" sz="3200" dirty="0">
                <a:solidFill>
                  <a:schemeClr val="bg1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Bauhaus 93" pitchFamily="82" charset="0"/>
              </a:rPr>
              <a:t>Técnica de choque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5B1C543-D95F-F620-642F-F022F9F596A6}"/>
              </a:ext>
            </a:extLst>
          </p:cNvPr>
          <p:cNvSpPr txBox="1"/>
          <p:nvPr/>
        </p:nvSpPr>
        <p:spPr>
          <a:xfrm>
            <a:off x="142374" y="2170162"/>
            <a:ext cx="43900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s-MX" sz="2400" b="0" dirty="0"/>
              <a:t>Costo  para acortar una semana:</a:t>
            </a:r>
            <a:endParaRPr lang="es-PE" sz="2400" dirty="0"/>
          </a:p>
        </p:txBody>
      </p:sp>
    </p:spTree>
    <p:extLst>
      <p:ext uri="{BB962C8B-B14F-4D97-AF65-F5344CB8AC3E}">
        <p14:creationId xmlns:p14="http://schemas.microsoft.com/office/powerpoint/2010/main" val="1440408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 bwMode="auto">
          <a:xfrm>
            <a:off x="936054" y="5005122"/>
            <a:ext cx="3102546" cy="648072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s-PE" sz="2000" b="1">
              <a:latin typeface="Arial" charset="0"/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ANIVAL TORRE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7123F-EA94-4AF6-90FD-8402484B591B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5" name="Tab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5661280"/>
              </p:ext>
            </p:extLst>
          </p:nvPr>
        </p:nvGraphicFramePr>
        <p:xfrm>
          <a:off x="47616" y="1268761"/>
          <a:ext cx="6450774" cy="370384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09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5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51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51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05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751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370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Tarea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 err="1">
                          <a:effectLst/>
                        </a:rPr>
                        <a:t>Prece</a:t>
                      </a:r>
                      <a:r>
                        <a:rPr lang="es-ES" sz="2000" dirty="0">
                          <a:effectLst/>
                        </a:rPr>
                        <a:t>-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 err="1">
                          <a:effectLst/>
                        </a:rPr>
                        <a:t>dencia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Tiempo</a:t>
                      </a:r>
                      <a:endParaRPr lang="es-PE" sz="20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Normal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Costo</a:t>
                      </a:r>
                      <a:endParaRPr lang="es-PE" sz="20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Normal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>
                          <a:effectLst/>
                        </a:rPr>
                        <a:t>Tiempo</a:t>
                      </a:r>
                      <a:endParaRPr lang="es-PE" sz="200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>
                          <a:effectLst/>
                        </a:rPr>
                        <a:t>Choque</a:t>
                      </a:r>
                      <a:endParaRPr lang="es-PE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>
                          <a:effectLst/>
                        </a:rPr>
                        <a:t>Costo</a:t>
                      </a:r>
                      <a:endParaRPr lang="es-PE" sz="200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>
                          <a:effectLst/>
                        </a:rPr>
                        <a:t>Choque</a:t>
                      </a:r>
                      <a:endParaRPr lang="es-PE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34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A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 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30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>
                          <a:effectLst/>
                        </a:rPr>
                        <a:t>5000</a:t>
                      </a:r>
                      <a:endParaRPr lang="es-PE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>
                          <a:effectLst/>
                        </a:rPr>
                        <a:t>26</a:t>
                      </a:r>
                      <a:endParaRPr lang="es-PE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9000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7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B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A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6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>
                          <a:effectLst/>
                        </a:rPr>
                        <a:t>6000</a:t>
                      </a:r>
                      <a:endParaRPr lang="es-PE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>
                          <a:effectLst/>
                        </a:rPr>
                        <a:t>4</a:t>
                      </a:r>
                      <a:endParaRPr lang="es-PE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9000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58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000" dirty="0">
                          <a:effectLst/>
                        </a:rPr>
                        <a:t>C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 err="1">
                          <a:effectLst/>
                        </a:rPr>
                        <a:t>B,G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4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>
                          <a:effectLst/>
                        </a:rPr>
                        <a:t>10000</a:t>
                      </a:r>
                      <a:endParaRPr lang="es-PE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>
                          <a:effectLst/>
                        </a:rPr>
                        <a:t>3</a:t>
                      </a:r>
                      <a:endParaRPr lang="es-PE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>
                          <a:effectLst/>
                        </a:rPr>
                        <a:t>10500</a:t>
                      </a:r>
                      <a:endParaRPr lang="es-PE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84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000" dirty="0">
                          <a:effectLst/>
                        </a:rPr>
                        <a:t>D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A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000" dirty="0">
                          <a:effectLst/>
                        </a:rPr>
                        <a:t>5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>
                          <a:effectLst/>
                        </a:rPr>
                        <a:t>5000</a:t>
                      </a:r>
                      <a:endParaRPr lang="es-PE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>
                          <a:effectLst/>
                        </a:rPr>
                        <a:t>3</a:t>
                      </a:r>
                      <a:endParaRPr lang="es-PE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>
                          <a:effectLst/>
                        </a:rPr>
                        <a:t>6500</a:t>
                      </a:r>
                      <a:endParaRPr lang="es-PE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47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000" dirty="0">
                          <a:effectLst/>
                        </a:rPr>
                        <a:t>E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D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000" dirty="0">
                          <a:effectLst/>
                        </a:rPr>
                        <a:t>10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4500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>
                          <a:effectLst/>
                        </a:rPr>
                        <a:t>7</a:t>
                      </a:r>
                      <a:endParaRPr lang="es-PE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>
                          <a:effectLst/>
                        </a:rPr>
                        <a:t>6300</a:t>
                      </a:r>
                      <a:endParaRPr lang="es-PE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58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000">
                          <a:effectLst/>
                        </a:rPr>
                        <a:t>F</a:t>
                      </a:r>
                      <a:endParaRPr lang="es-PE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 err="1">
                          <a:effectLst/>
                        </a:rPr>
                        <a:t>E,G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000" dirty="0">
                          <a:effectLst/>
                        </a:rPr>
                        <a:t>8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20000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>
                          <a:effectLst/>
                        </a:rPr>
                        <a:t>6</a:t>
                      </a:r>
                      <a:endParaRPr lang="es-PE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>
                          <a:effectLst/>
                        </a:rPr>
                        <a:t>22500</a:t>
                      </a:r>
                      <a:endParaRPr lang="es-PE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58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000">
                          <a:effectLst/>
                        </a:rPr>
                        <a:t>G</a:t>
                      </a:r>
                      <a:endParaRPr lang="es-PE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A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14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10000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12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>
                          <a:effectLst/>
                        </a:rPr>
                        <a:t>15000</a:t>
                      </a:r>
                      <a:endParaRPr lang="es-PE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58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000">
                          <a:effectLst/>
                        </a:rPr>
                        <a:t>H</a:t>
                      </a:r>
                      <a:endParaRPr lang="es-PE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 err="1">
                          <a:effectLst/>
                        </a:rPr>
                        <a:t>C,F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2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25000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2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25000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ectángulo 5"/>
          <p:cNvSpPr/>
          <p:nvPr/>
        </p:nvSpPr>
        <p:spPr>
          <a:xfrm>
            <a:off x="183947" y="5685707"/>
            <a:ext cx="819805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0215" algn="just">
              <a:tabLst>
                <a:tab pos="-457200" algn="l"/>
              </a:tabLst>
            </a:pPr>
            <a:r>
              <a:rPr lang="es-PE" sz="2000" b="1" spc="-15" dirty="0">
                <a:latin typeface="Times New Roman" panose="02020603050405020304" pitchFamily="18" charset="0"/>
                <a:ea typeface="Calibri" panose="020F0502020204030204" pitchFamily="34" charset="0"/>
              </a:rPr>
              <a:t>Se pide:</a:t>
            </a:r>
            <a:endParaRPr lang="es-PE" sz="20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indent="-342900">
              <a:buFont typeface="+mj-lt"/>
              <a:buAutoNum type="alphaLcParenR"/>
              <a:tabLst>
                <a:tab pos="-457200" algn="l"/>
                <a:tab pos="897890" algn="l"/>
              </a:tabLst>
            </a:pPr>
            <a:r>
              <a:rPr lang="es-PE" sz="2000" b="1" spc="-15" dirty="0">
                <a:latin typeface="Times New Roman" panose="02020603050405020304" pitchFamily="18" charset="0"/>
                <a:ea typeface="Calibri" panose="020F0502020204030204" pitchFamily="34" charset="0"/>
              </a:rPr>
              <a:t>Ruta crítica y duración del proyecto.</a:t>
            </a:r>
            <a:endParaRPr lang="es-PE" sz="20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indent="-342900">
              <a:buFont typeface="+mj-lt"/>
              <a:buAutoNum type="alphaLcParenR"/>
              <a:tabLst>
                <a:tab pos="-457200" algn="l"/>
                <a:tab pos="897890" algn="l"/>
              </a:tabLst>
            </a:pPr>
            <a:r>
              <a:rPr lang="es-PE" sz="2000" b="1" spc="-15" dirty="0">
                <a:latin typeface="Times New Roman" panose="02020603050405020304" pitchFamily="18" charset="0"/>
                <a:ea typeface="Calibri" panose="020F0502020204030204" pitchFamily="34" charset="0"/>
              </a:rPr>
              <a:t>Desarrollar un modelo matemático para reducir la duración a 47 días.</a:t>
            </a:r>
            <a:endParaRPr lang="es-PE" sz="20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graphicFrame>
        <p:nvGraphicFramePr>
          <p:cNvPr id="7" name="Objeto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746670"/>
              </p:ext>
            </p:extLst>
          </p:nvPr>
        </p:nvGraphicFramePr>
        <p:xfrm>
          <a:off x="1059889" y="5144836"/>
          <a:ext cx="2854875" cy="32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562040" imgH="177480" progId="">
                  <p:embed/>
                </p:oleObj>
              </mc:Choice>
              <mc:Fallback>
                <p:oleObj r:id="rId2" imgW="1562040" imgH="177480" progId="">
                  <p:embed/>
                  <p:pic>
                    <p:nvPicPr>
                      <p:cNvPr id="7" name="Objeto 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59889" y="5144836"/>
                        <a:ext cx="2854875" cy="3254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ángulo 9">
            <a:extLst>
              <a:ext uri="{FF2B5EF4-FFF2-40B4-BE49-F238E27FC236}">
                <a16:creationId xmlns:a16="http://schemas.microsoft.com/office/drawing/2014/main" id="{3A462879-62D5-4528-4D6C-379B6B385AAD}"/>
              </a:ext>
            </a:extLst>
          </p:cNvPr>
          <p:cNvSpPr/>
          <p:nvPr/>
        </p:nvSpPr>
        <p:spPr>
          <a:xfrm>
            <a:off x="6096000" y="136525"/>
            <a:ext cx="6096000" cy="57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spcFirstLastPara="1"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5800"/>
              </a:lnSpc>
              <a:spcBef>
                <a:spcPct val="0"/>
              </a:spcBef>
            </a:pPr>
            <a:r>
              <a:rPr lang="es-PE" sz="3200" dirty="0">
                <a:solidFill>
                  <a:schemeClr val="bg1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Bauhaus 93" pitchFamily="82" charset="0"/>
              </a:rPr>
              <a:t>Técnica de choque</a:t>
            </a:r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A817FAA8-B44E-11DE-F202-07074ADA6F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2609824"/>
              </p:ext>
            </p:extLst>
          </p:nvPr>
        </p:nvGraphicFramePr>
        <p:xfrm>
          <a:off x="7329824" y="1268761"/>
          <a:ext cx="1157831" cy="370384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57831">
                  <a:extLst>
                    <a:ext uri="{9D8B030D-6E8A-4147-A177-3AD203B41FA5}">
                      <a16:colId xmlns:a16="http://schemas.microsoft.com/office/drawing/2014/main" val="70594625"/>
                    </a:ext>
                  </a:extLst>
                </a:gridCol>
              </a:tblGrid>
              <a:tr h="5370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u="sng" dirty="0">
                          <a:effectLst/>
                        </a:rPr>
                        <a:t>Costo</a:t>
                      </a:r>
                      <a:endParaRPr lang="es-PE" sz="2000" dirty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día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23870161"/>
                  </a:ext>
                </a:extLst>
              </a:tr>
              <a:tr h="35734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solidFill>
                            <a:schemeClr val="tx1"/>
                          </a:solidFill>
                          <a:effectLst/>
                        </a:rPr>
                        <a:t>1000</a:t>
                      </a:r>
                      <a:r>
                        <a:rPr lang="es-ES" sz="2000" dirty="0">
                          <a:solidFill>
                            <a:srgbClr val="FF0000"/>
                          </a:solidFill>
                          <a:effectLst/>
                        </a:rPr>
                        <a:t>*</a:t>
                      </a:r>
                      <a:endParaRPr lang="es-PE" sz="2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9167869"/>
                  </a:ext>
                </a:extLst>
              </a:tr>
              <a:tr h="3447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solidFill>
                            <a:schemeClr val="tx1"/>
                          </a:solidFill>
                          <a:effectLst/>
                        </a:rPr>
                        <a:t>1500</a:t>
                      </a:r>
                      <a:endParaRPr lang="es-PE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356297"/>
                  </a:ext>
                </a:extLst>
              </a:tr>
              <a:tr h="40658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solidFill>
                            <a:schemeClr val="tx1"/>
                          </a:solidFill>
                          <a:effectLst/>
                        </a:rPr>
                        <a:t>500</a:t>
                      </a:r>
                      <a:endParaRPr lang="es-PE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271032"/>
                  </a:ext>
                </a:extLst>
              </a:tr>
              <a:tr h="35184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solidFill>
                            <a:schemeClr val="tx1"/>
                          </a:solidFill>
                          <a:effectLst/>
                        </a:rPr>
                        <a:t>750</a:t>
                      </a:r>
                      <a:r>
                        <a:rPr lang="es-ES" sz="2000" dirty="0">
                          <a:solidFill>
                            <a:srgbClr val="FF0000"/>
                          </a:solidFill>
                          <a:effectLst/>
                        </a:rPr>
                        <a:t>*</a:t>
                      </a:r>
                      <a:endParaRPr lang="es-PE" sz="2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7476220"/>
                  </a:ext>
                </a:extLst>
              </a:tr>
              <a:tr h="3447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solidFill>
                            <a:schemeClr val="tx1"/>
                          </a:solidFill>
                          <a:effectLst/>
                        </a:rPr>
                        <a:t>600</a:t>
                      </a:r>
                      <a:r>
                        <a:rPr lang="es-ES" sz="2000" dirty="0">
                          <a:solidFill>
                            <a:srgbClr val="FF0000"/>
                          </a:solidFill>
                          <a:effectLst/>
                        </a:rPr>
                        <a:t>*</a:t>
                      </a:r>
                      <a:endParaRPr lang="es-PE" sz="2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67147"/>
                  </a:ext>
                </a:extLst>
              </a:tr>
              <a:tr h="40658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solidFill>
                            <a:schemeClr val="tx1"/>
                          </a:solidFill>
                          <a:effectLst/>
                        </a:rPr>
                        <a:t>1250</a:t>
                      </a:r>
                      <a:r>
                        <a:rPr lang="es-ES" sz="2000" dirty="0">
                          <a:solidFill>
                            <a:srgbClr val="FF0000"/>
                          </a:solidFill>
                          <a:effectLst/>
                        </a:rPr>
                        <a:t>*</a:t>
                      </a:r>
                      <a:endParaRPr lang="es-PE" sz="2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985441"/>
                  </a:ext>
                </a:extLst>
              </a:tr>
              <a:tr h="40658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solidFill>
                            <a:schemeClr val="tx1"/>
                          </a:solidFill>
                          <a:effectLst/>
                        </a:rPr>
                        <a:t>2500</a:t>
                      </a:r>
                      <a:endParaRPr lang="es-PE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7691494"/>
                  </a:ext>
                </a:extLst>
              </a:tr>
              <a:tr h="40658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solidFill>
                            <a:schemeClr val="tx1"/>
                          </a:solidFill>
                          <a:effectLst/>
                        </a:rPr>
                        <a:t>-----</a:t>
                      </a:r>
                      <a:r>
                        <a:rPr lang="es-ES" sz="2000" dirty="0">
                          <a:solidFill>
                            <a:srgbClr val="FF0000"/>
                          </a:solidFill>
                          <a:effectLst/>
                        </a:rPr>
                        <a:t>*</a:t>
                      </a:r>
                      <a:endParaRPr lang="es-PE" sz="2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848267"/>
                  </a:ext>
                </a:extLst>
              </a:tr>
            </a:tbl>
          </a:graphicData>
        </a:graphic>
      </p:graphicFrame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38802F85-0A63-B395-5F8A-B2E49B0383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96317"/>
              </p:ext>
            </p:extLst>
          </p:nvPr>
        </p:nvGraphicFramePr>
        <p:xfrm>
          <a:off x="6541947" y="1268761"/>
          <a:ext cx="744320" cy="370384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44320">
                  <a:extLst>
                    <a:ext uri="{9D8B030D-6E8A-4147-A177-3AD203B41FA5}">
                      <a16:colId xmlns:a16="http://schemas.microsoft.com/office/drawing/2014/main" val="2785195758"/>
                    </a:ext>
                  </a:extLst>
                </a:gridCol>
              </a:tblGrid>
              <a:tr h="53700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Red. Max.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16283197"/>
                  </a:ext>
                </a:extLst>
              </a:tr>
              <a:tr h="357348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s-PE" sz="20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482224"/>
                  </a:ext>
                </a:extLst>
              </a:tr>
              <a:tr h="34474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s-PE" sz="20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973063"/>
                  </a:ext>
                </a:extLst>
              </a:tr>
              <a:tr h="406589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s-PE" sz="20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277286"/>
                  </a:ext>
                </a:extLst>
              </a:tr>
              <a:tr h="351844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s-PE" sz="20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724534"/>
                  </a:ext>
                </a:extLst>
              </a:tr>
              <a:tr h="34474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s-PE" sz="20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104953"/>
                  </a:ext>
                </a:extLst>
              </a:tr>
              <a:tr h="406589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s-PE" sz="20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877206"/>
                  </a:ext>
                </a:extLst>
              </a:tr>
              <a:tr h="406589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s-PE" sz="20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224151"/>
                  </a:ext>
                </a:extLst>
              </a:tr>
              <a:tr h="406589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s-PE" sz="20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496341"/>
                  </a:ext>
                </a:extLst>
              </a:tr>
            </a:tbl>
          </a:graphicData>
        </a:graphic>
      </p:graphicFrame>
      <p:graphicFrame>
        <p:nvGraphicFramePr>
          <p:cNvPr id="12" name="Objeto 11">
            <a:extLst>
              <a:ext uri="{FF2B5EF4-FFF2-40B4-BE49-F238E27FC236}">
                <a16:creationId xmlns:a16="http://schemas.microsoft.com/office/drawing/2014/main" id="{ED98D5B7-D0C4-5CBF-296F-589A925C2B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0258183"/>
              </p:ext>
            </p:extLst>
          </p:nvPr>
        </p:nvGraphicFramePr>
        <p:xfrm>
          <a:off x="5201403" y="5005122"/>
          <a:ext cx="2326515" cy="680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297511" imgH="379854" progId="">
                  <p:embed/>
                </p:oleObj>
              </mc:Choice>
              <mc:Fallback>
                <p:oleObj r:id="rId4" imgW="1297511" imgH="379854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201403" y="5005122"/>
                        <a:ext cx="2326515" cy="68058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93968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ANIVAL TORRE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7123F-EA94-4AF6-90FD-8402484B591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2" name="Oval 1017"/>
          <p:cNvSpPr>
            <a:spLocks noChangeArrowheads="1"/>
          </p:cNvSpPr>
          <p:nvPr/>
        </p:nvSpPr>
        <p:spPr bwMode="auto">
          <a:xfrm>
            <a:off x="3339802" y="4051134"/>
            <a:ext cx="436493" cy="424489"/>
          </a:xfrm>
          <a:prstGeom prst="ellipse">
            <a:avLst/>
          </a:prstGeom>
          <a:solidFill>
            <a:srgbClr val="FFFF00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>
              <a:latin typeface="Arial Narrow" pitchFamily="34" charset="0"/>
            </a:endParaRPr>
          </a:p>
        </p:txBody>
      </p:sp>
      <p:sp>
        <p:nvSpPr>
          <p:cNvPr id="33" name="Oval 1018"/>
          <p:cNvSpPr>
            <a:spLocks noChangeArrowheads="1"/>
          </p:cNvSpPr>
          <p:nvPr/>
        </p:nvSpPr>
        <p:spPr bwMode="auto">
          <a:xfrm>
            <a:off x="4646761" y="4051134"/>
            <a:ext cx="436493" cy="424489"/>
          </a:xfrm>
          <a:prstGeom prst="ellipse">
            <a:avLst/>
          </a:prstGeom>
          <a:solidFill>
            <a:srgbClr val="FFFF00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>
              <a:latin typeface="Arial Narrow" pitchFamily="34" charset="0"/>
            </a:endParaRPr>
          </a:p>
        </p:txBody>
      </p:sp>
      <p:sp>
        <p:nvSpPr>
          <p:cNvPr id="35" name="Oval 1020"/>
          <p:cNvSpPr>
            <a:spLocks noChangeArrowheads="1"/>
          </p:cNvSpPr>
          <p:nvPr/>
        </p:nvSpPr>
        <p:spPr bwMode="auto">
          <a:xfrm>
            <a:off x="5953719" y="5325047"/>
            <a:ext cx="436495" cy="424489"/>
          </a:xfrm>
          <a:prstGeom prst="ellipse">
            <a:avLst/>
          </a:prstGeom>
          <a:solidFill>
            <a:srgbClr val="FFFF00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>
              <a:latin typeface="Arial Narrow" pitchFamily="34" charset="0"/>
            </a:endParaRPr>
          </a:p>
        </p:txBody>
      </p:sp>
      <p:sp>
        <p:nvSpPr>
          <p:cNvPr id="37" name="Oval 1025"/>
          <p:cNvSpPr>
            <a:spLocks noChangeArrowheads="1"/>
          </p:cNvSpPr>
          <p:nvPr/>
        </p:nvSpPr>
        <p:spPr bwMode="auto">
          <a:xfrm>
            <a:off x="5941103" y="2620627"/>
            <a:ext cx="436495" cy="424491"/>
          </a:xfrm>
          <a:prstGeom prst="ellipse">
            <a:avLst/>
          </a:prstGeom>
          <a:solidFill>
            <a:srgbClr val="FFFF00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>
              <a:latin typeface="Arial Narrow" pitchFamily="34" charset="0"/>
            </a:endParaRPr>
          </a:p>
        </p:txBody>
      </p:sp>
      <p:sp>
        <p:nvSpPr>
          <p:cNvPr id="40" name="Line 1022"/>
          <p:cNvSpPr>
            <a:spLocks noChangeShapeType="1"/>
          </p:cNvSpPr>
          <p:nvPr/>
        </p:nvSpPr>
        <p:spPr bwMode="auto">
          <a:xfrm>
            <a:off x="4974353" y="4491112"/>
            <a:ext cx="1086478" cy="916929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>
              <a:latin typeface="Arial Narrow" pitchFamily="34" charset="0"/>
            </a:endParaRPr>
          </a:p>
        </p:txBody>
      </p:sp>
      <p:sp>
        <p:nvSpPr>
          <p:cNvPr id="41" name="Line 1023"/>
          <p:cNvSpPr>
            <a:spLocks noChangeShapeType="1"/>
          </p:cNvSpPr>
          <p:nvPr/>
        </p:nvSpPr>
        <p:spPr bwMode="auto">
          <a:xfrm>
            <a:off x="3776295" y="4312894"/>
            <a:ext cx="870466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>
              <a:latin typeface="Arial Narrow" pitchFamily="34" charset="0"/>
            </a:endParaRPr>
          </a:p>
        </p:txBody>
      </p:sp>
      <p:sp>
        <p:nvSpPr>
          <p:cNvPr id="42" name="Line 1024"/>
          <p:cNvSpPr>
            <a:spLocks noChangeShapeType="1"/>
          </p:cNvSpPr>
          <p:nvPr/>
        </p:nvSpPr>
        <p:spPr bwMode="auto">
          <a:xfrm flipV="1">
            <a:off x="5111007" y="4288213"/>
            <a:ext cx="830096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>
              <a:latin typeface="Arial Narrow" pitchFamily="34" charset="0"/>
            </a:endParaRPr>
          </a:p>
        </p:txBody>
      </p:sp>
      <p:sp>
        <p:nvSpPr>
          <p:cNvPr id="43" name="Line 1028"/>
          <p:cNvSpPr>
            <a:spLocks noChangeShapeType="1"/>
          </p:cNvSpPr>
          <p:nvPr/>
        </p:nvSpPr>
        <p:spPr bwMode="auto">
          <a:xfrm flipV="1">
            <a:off x="5030270" y="2993166"/>
            <a:ext cx="936064" cy="113851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>
              <a:latin typeface="Arial Narrow" pitchFamily="34" charset="0"/>
            </a:endParaRPr>
          </a:p>
        </p:txBody>
      </p:sp>
      <p:sp>
        <p:nvSpPr>
          <p:cNvPr id="49" name="Line 1034"/>
          <p:cNvSpPr>
            <a:spLocks noChangeShapeType="1"/>
          </p:cNvSpPr>
          <p:nvPr/>
        </p:nvSpPr>
        <p:spPr bwMode="auto">
          <a:xfrm flipV="1">
            <a:off x="6159350" y="3045118"/>
            <a:ext cx="0" cy="1059998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>
              <a:latin typeface="Arial Narrow" pitchFamily="34" charset="0"/>
            </a:endParaRPr>
          </a:p>
        </p:txBody>
      </p:sp>
      <p:sp>
        <p:nvSpPr>
          <p:cNvPr id="60" name="Oval 1025"/>
          <p:cNvSpPr>
            <a:spLocks noChangeArrowheads="1"/>
          </p:cNvSpPr>
          <p:nvPr/>
        </p:nvSpPr>
        <p:spPr bwMode="auto">
          <a:xfrm>
            <a:off x="5993110" y="4067417"/>
            <a:ext cx="436495" cy="424491"/>
          </a:xfrm>
          <a:prstGeom prst="ellipse">
            <a:avLst/>
          </a:prstGeom>
          <a:solidFill>
            <a:srgbClr val="FFFF00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>
              <a:latin typeface="Arial Narrow" pitchFamily="34" charset="0"/>
            </a:endParaRPr>
          </a:p>
        </p:txBody>
      </p:sp>
      <p:sp>
        <p:nvSpPr>
          <p:cNvPr id="61" name="CuadroTexto 60"/>
          <p:cNvSpPr txBox="1"/>
          <p:nvPr/>
        </p:nvSpPr>
        <p:spPr>
          <a:xfrm>
            <a:off x="6020438" y="2658120"/>
            <a:ext cx="332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Arial Narrow" pitchFamily="34" charset="0"/>
              </a:rPr>
              <a:t>3</a:t>
            </a:r>
          </a:p>
        </p:txBody>
      </p:sp>
      <p:sp>
        <p:nvSpPr>
          <p:cNvPr id="65" name="CuadroTexto 64"/>
          <p:cNvSpPr txBox="1"/>
          <p:nvPr/>
        </p:nvSpPr>
        <p:spPr>
          <a:xfrm>
            <a:off x="6045212" y="5375521"/>
            <a:ext cx="332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Arial Narrow" pitchFamily="34" charset="0"/>
              </a:rPr>
              <a:t>4</a:t>
            </a:r>
          </a:p>
        </p:txBody>
      </p:sp>
      <p:sp>
        <p:nvSpPr>
          <p:cNvPr id="66" name="CuadroTexto 65"/>
          <p:cNvSpPr txBox="1"/>
          <p:nvPr/>
        </p:nvSpPr>
        <p:spPr>
          <a:xfrm>
            <a:off x="6061791" y="4075546"/>
            <a:ext cx="332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Arial Narrow" pitchFamily="34" charset="0"/>
              </a:rPr>
              <a:t>2</a:t>
            </a:r>
          </a:p>
        </p:txBody>
      </p:sp>
      <p:sp>
        <p:nvSpPr>
          <p:cNvPr id="67" name="CuadroTexto 66"/>
          <p:cNvSpPr txBox="1"/>
          <p:nvPr/>
        </p:nvSpPr>
        <p:spPr>
          <a:xfrm>
            <a:off x="4743563" y="4094476"/>
            <a:ext cx="332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Arial Narrow" pitchFamily="34" charset="0"/>
              </a:rPr>
              <a:t>1</a:t>
            </a:r>
          </a:p>
        </p:txBody>
      </p:sp>
      <p:sp>
        <p:nvSpPr>
          <p:cNvPr id="68" name="CuadroTexto 67"/>
          <p:cNvSpPr txBox="1"/>
          <p:nvPr/>
        </p:nvSpPr>
        <p:spPr>
          <a:xfrm>
            <a:off x="3429879" y="4094996"/>
            <a:ext cx="332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Arial Narrow" pitchFamily="34" charset="0"/>
              </a:rPr>
              <a:t>0</a:t>
            </a:r>
          </a:p>
        </p:txBody>
      </p:sp>
      <p:sp>
        <p:nvSpPr>
          <p:cNvPr id="69" name="CuadroTexto 68"/>
          <p:cNvSpPr txBox="1"/>
          <p:nvPr/>
        </p:nvSpPr>
        <p:spPr>
          <a:xfrm>
            <a:off x="4019028" y="3959847"/>
            <a:ext cx="376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Arial Narrow" pitchFamily="34" charset="0"/>
              </a:rPr>
              <a:t>A</a:t>
            </a:r>
          </a:p>
        </p:txBody>
      </p:sp>
      <p:sp>
        <p:nvSpPr>
          <p:cNvPr id="70" name="CuadroTexto 69"/>
          <p:cNvSpPr txBox="1"/>
          <p:nvPr/>
        </p:nvSpPr>
        <p:spPr>
          <a:xfrm>
            <a:off x="3952395" y="4370932"/>
            <a:ext cx="604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Arial Narrow" pitchFamily="34" charset="0"/>
              </a:rPr>
              <a:t>30</a:t>
            </a:r>
          </a:p>
        </p:txBody>
      </p:sp>
      <p:sp>
        <p:nvSpPr>
          <p:cNvPr id="73" name="CuadroTexto 72"/>
          <p:cNvSpPr txBox="1"/>
          <p:nvPr/>
        </p:nvSpPr>
        <p:spPr>
          <a:xfrm>
            <a:off x="5414130" y="5091681"/>
            <a:ext cx="376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Arial Narrow" pitchFamily="34" charset="0"/>
              </a:rPr>
              <a:t>D</a:t>
            </a:r>
          </a:p>
        </p:txBody>
      </p:sp>
      <p:sp>
        <p:nvSpPr>
          <p:cNvPr id="75" name="CuadroTexto 74"/>
          <p:cNvSpPr txBox="1"/>
          <p:nvPr/>
        </p:nvSpPr>
        <p:spPr>
          <a:xfrm>
            <a:off x="5156100" y="3118818"/>
            <a:ext cx="547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Arial Narrow" pitchFamily="34" charset="0"/>
              </a:rPr>
              <a:t>B</a:t>
            </a:r>
          </a:p>
        </p:txBody>
      </p:sp>
      <p:sp>
        <p:nvSpPr>
          <p:cNvPr id="79" name="CuadroTexto 78"/>
          <p:cNvSpPr txBox="1"/>
          <p:nvPr/>
        </p:nvSpPr>
        <p:spPr>
          <a:xfrm>
            <a:off x="5329755" y="3959847"/>
            <a:ext cx="376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Arial Narrow" pitchFamily="34" charset="0"/>
              </a:rPr>
              <a:t>G</a:t>
            </a:r>
          </a:p>
        </p:txBody>
      </p:sp>
      <p:sp>
        <p:nvSpPr>
          <p:cNvPr id="80" name="CuadroTexto 79"/>
          <p:cNvSpPr txBox="1"/>
          <p:nvPr/>
        </p:nvSpPr>
        <p:spPr>
          <a:xfrm>
            <a:off x="5329755" y="4351314"/>
            <a:ext cx="908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Arial Narrow" pitchFamily="34" charset="0"/>
              </a:rPr>
              <a:t>14</a:t>
            </a:r>
          </a:p>
        </p:txBody>
      </p:sp>
      <p:sp>
        <p:nvSpPr>
          <p:cNvPr id="82" name="CuadroTexto 81"/>
          <p:cNvSpPr txBox="1"/>
          <p:nvPr/>
        </p:nvSpPr>
        <p:spPr>
          <a:xfrm>
            <a:off x="5156100" y="4832054"/>
            <a:ext cx="298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Arial Narrow" pitchFamily="34" charset="0"/>
              </a:rPr>
              <a:t>5</a:t>
            </a:r>
          </a:p>
        </p:txBody>
      </p:sp>
      <p:sp>
        <p:nvSpPr>
          <p:cNvPr id="76" name="CuadroTexto 82"/>
          <p:cNvSpPr txBox="1"/>
          <p:nvPr/>
        </p:nvSpPr>
        <p:spPr>
          <a:xfrm>
            <a:off x="5505748" y="3411415"/>
            <a:ext cx="406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Arial Narrow" pitchFamily="34" charset="0"/>
              </a:rPr>
              <a:t>6</a:t>
            </a:r>
          </a:p>
        </p:txBody>
      </p:sp>
      <p:sp>
        <p:nvSpPr>
          <p:cNvPr id="53" name="52 CuadroTexto"/>
          <p:cNvSpPr txBox="1"/>
          <p:nvPr/>
        </p:nvSpPr>
        <p:spPr>
          <a:xfrm>
            <a:off x="6136341" y="3378469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Arial Narrow" pitchFamily="34" charset="0"/>
              </a:rPr>
              <a:t>Figurada</a:t>
            </a:r>
            <a:endParaRPr lang="es-PE" dirty="0">
              <a:latin typeface="Arial Narrow" pitchFamily="34" charset="0"/>
            </a:endParaRPr>
          </a:p>
        </p:txBody>
      </p:sp>
      <p:sp>
        <p:nvSpPr>
          <p:cNvPr id="31" name="Line 1029">
            <a:extLst>
              <a:ext uri="{FF2B5EF4-FFF2-40B4-BE49-F238E27FC236}">
                <a16:creationId xmlns:a16="http://schemas.microsoft.com/office/drawing/2014/main" id="{C04B5C43-47ED-4969-A8BD-5DD2763C749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37564" y="2828829"/>
            <a:ext cx="214239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>
              <a:latin typeface="Arial Narrow" pitchFamily="34" charset="0"/>
            </a:endParaRPr>
          </a:p>
        </p:txBody>
      </p:sp>
      <p:sp>
        <p:nvSpPr>
          <p:cNvPr id="34" name="Line 1031">
            <a:extLst>
              <a:ext uri="{FF2B5EF4-FFF2-40B4-BE49-F238E27FC236}">
                <a16:creationId xmlns:a16="http://schemas.microsoft.com/office/drawing/2014/main" id="{D64DDB63-B6C5-46DE-A01B-3227F49F5E3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50478" y="5538003"/>
            <a:ext cx="2200999" cy="6611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>
              <a:latin typeface="Arial Narrow" pitchFamily="34" charset="0"/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6687BBC5-721C-447F-8C0D-C30C7B01412E}"/>
              </a:ext>
            </a:extLst>
          </p:cNvPr>
          <p:cNvSpPr txBox="1"/>
          <p:nvPr/>
        </p:nvSpPr>
        <p:spPr>
          <a:xfrm>
            <a:off x="7414712" y="5112424"/>
            <a:ext cx="376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Arial Narrow" pitchFamily="34" charset="0"/>
              </a:rPr>
              <a:t>E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E3428DE8-40FF-42F6-9DD7-19041FA60D1F}"/>
              </a:ext>
            </a:extLst>
          </p:cNvPr>
          <p:cNvSpPr txBox="1"/>
          <p:nvPr/>
        </p:nvSpPr>
        <p:spPr>
          <a:xfrm>
            <a:off x="7301552" y="2454741"/>
            <a:ext cx="376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Arial Narrow" pitchFamily="34" charset="0"/>
              </a:rPr>
              <a:t>C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C37FEECC-D019-478E-AC42-D8E1B725F506}"/>
              </a:ext>
            </a:extLst>
          </p:cNvPr>
          <p:cNvSpPr txBox="1"/>
          <p:nvPr/>
        </p:nvSpPr>
        <p:spPr>
          <a:xfrm>
            <a:off x="7191555" y="5570439"/>
            <a:ext cx="899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dirty="0">
                <a:latin typeface="Arial Narrow" pitchFamily="34" charset="0"/>
              </a:rPr>
              <a:t>10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AC3EE167-3E5E-481D-B153-6B9A5FCD1D9F}"/>
              </a:ext>
            </a:extLst>
          </p:cNvPr>
          <p:cNvSpPr txBox="1"/>
          <p:nvPr/>
        </p:nvSpPr>
        <p:spPr>
          <a:xfrm>
            <a:off x="7286578" y="2828829"/>
            <a:ext cx="406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Arial Narrow" pitchFamily="34" charset="0"/>
              </a:rPr>
              <a:t>4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AA12E94-EBF5-C693-9866-A3B1979A1C6E}"/>
              </a:ext>
            </a:extLst>
          </p:cNvPr>
          <p:cNvSpPr/>
          <p:nvPr/>
        </p:nvSpPr>
        <p:spPr>
          <a:xfrm>
            <a:off x="6096000" y="136525"/>
            <a:ext cx="6096000" cy="57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spcFirstLastPara="1"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5800"/>
              </a:lnSpc>
              <a:spcBef>
                <a:spcPct val="0"/>
              </a:spcBef>
            </a:pPr>
            <a:r>
              <a:rPr lang="es-PE" sz="3200" dirty="0">
                <a:solidFill>
                  <a:schemeClr val="bg1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Bauhaus 93" pitchFamily="82" charset="0"/>
              </a:rPr>
              <a:t>Técnica de choque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FC59BFCF-1510-F886-297D-E3EEE6161C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608991"/>
              </p:ext>
            </p:extLst>
          </p:nvPr>
        </p:nvGraphicFramePr>
        <p:xfrm>
          <a:off x="35946" y="1264908"/>
          <a:ext cx="3059983" cy="370384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09725">
                  <a:extLst>
                    <a:ext uri="{9D8B030D-6E8A-4147-A177-3AD203B41FA5}">
                      <a16:colId xmlns:a16="http://schemas.microsoft.com/office/drawing/2014/main" val="1800597284"/>
                    </a:ext>
                  </a:extLst>
                </a:gridCol>
                <a:gridCol w="1075129">
                  <a:extLst>
                    <a:ext uri="{9D8B030D-6E8A-4147-A177-3AD203B41FA5}">
                      <a16:colId xmlns:a16="http://schemas.microsoft.com/office/drawing/2014/main" val="1448160801"/>
                    </a:ext>
                  </a:extLst>
                </a:gridCol>
                <a:gridCol w="1075129">
                  <a:extLst>
                    <a:ext uri="{9D8B030D-6E8A-4147-A177-3AD203B41FA5}">
                      <a16:colId xmlns:a16="http://schemas.microsoft.com/office/drawing/2014/main" val="3638592826"/>
                    </a:ext>
                  </a:extLst>
                </a:gridCol>
              </a:tblGrid>
              <a:tr h="5370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Tarea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 err="1">
                          <a:effectLst/>
                        </a:rPr>
                        <a:t>Prece</a:t>
                      </a:r>
                      <a:r>
                        <a:rPr lang="es-ES" sz="2000" dirty="0">
                          <a:effectLst/>
                        </a:rPr>
                        <a:t>-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 err="1">
                          <a:effectLst/>
                        </a:rPr>
                        <a:t>dencia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>
                          <a:effectLst/>
                        </a:rPr>
                        <a:t>Tiempo</a:t>
                      </a:r>
                      <a:endParaRPr lang="es-PE" sz="200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>
                          <a:effectLst/>
                        </a:rPr>
                        <a:t>Normal</a:t>
                      </a:r>
                      <a:endParaRPr lang="es-PE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94382284"/>
                  </a:ext>
                </a:extLst>
              </a:tr>
              <a:tr h="35734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A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 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30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69058096"/>
                  </a:ext>
                </a:extLst>
              </a:tr>
              <a:tr h="3447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B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A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6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92335345"/>
                  </a:ext>
                </a:extLst>
              </a:tr>
              <a:tr h="40658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000" dirty="0">
                          <a:effectLst/>
                        </a:rPr>
                        <a:t>C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 err="1">
                          <a:effectLst/>
                        </a:rPr>
                        <a:t>B,G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4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93433579"/>
                  </a:ext>
                </a:extLst>
              </a:tr>
              <a:tr h="35184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000" dirty="0">
                          <a:effectLst/>
                        </a:rPr>
                        <a:t>D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A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000" dirty="0">
                          <a:effectLst/>
                        </a:rPr>
                        <a:t>5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18340974"/>
                  </a:ext>
                </a:extLst>
              </a:tr>
              <a:tr h="3447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000" dirty="0">
                          <a:effectLst/>
                        </a:rPr>
                        <a:t>E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D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000" dirty="0">
                          <a:effectLst/>
                        </a:rPr>
                        <a:t>10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78137060"/>
                  </a:ext>
                </a:extLst>
              </a:tr>
              <a:tr h="40658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000">
                          <a:effectLst/>
                        </a:rPr>
                        <a:t>F</a:t>
                      </a:r>
                      <a:endParaRPr lang="es-PE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 err="1">
                          <a:effectLst/>
                        </a:rPr>
                        <a:t>E,G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000" dirty="0">
                          <a:effectLst/>
                        </a:rPr>
                        <a:t>8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95016959"/>
                  </a:ext>
                </a:extLst>
              </a:tr>
              <a:tr h="40658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000">
                          <a:effectLst/>
                        </a:rPr>
                        <a:t>G</a:t>
                      </a:r>
                      <a:endParaRPr lang="es-PE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A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14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08029568"/>
                  </a:ext>
                </a:extLst>
              </a:tr>
              <a:tr h="40658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000">
                          <a:effectLst/>
                        </a:rPr>
                        <a:t>H</a:t>
                      </a:r>
                      <a:endParaRPr lang="es-PE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 err="1">
                          <a:effectLst/>
                        </a:rPr>
                        <a:t>C,F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2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605852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9077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7" grpId="0" animBg="1"/>
      <p:bldP spid="40" grpId="0" animBg="1"/>
      <p:bldP spid="42" grpId="0" animBg="1"/>
      <p:bldP spid="43" grpId="0" animBg="1"/>
      <p:bldP spid="49" grpId="0" animBg="1"/>
      <p:bldP spid="60" grpId="0" animBg="1"/>
      <p:bldP spid="61" grpId="0"/>
      <p:bldP spid="65" grpId="0"/>
      <p:bldP spid="66" grpId="0"/>
      <p:bldP spid="73" grpId="0"/>
      <p:bldP spid="75" grpId="0"/>
      <p:bldP spid="79" grpId="0"/>
      <p:bldP spid="80" grpId="0"/>
      <p:bldP spid="82" grpId="0"/>
      <p:bldP spid="76" grpId="0"/>
      <p:bldP spid="53" grpId="0"/>
      <p:bldP spid="31" grpId="0" animBg="1"/>
      <p:bldP spid="34" grpId="0" animBg="1"/>
      <p:bldP spid="36" grpId="0"/>
      <p:bldP spid="38" grpId="0"/>
      <p:bldP spid="39" grpId="0"/>
      <p:bldP spid="4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ANIVAL TORRE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7123F-EA94-4AF6-90FD-8402484B591B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1" name="CuadroTexto 70"/>
          <p:cNvSpPr txBox="1"/>
          <p:nvPr/>
        </p:nvSpPr>
        <p:spPr>
          <a:xfrm>
            <a:off x="8404067" y="3940961"/>
            <a:ext cx="376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solidFill>
                  <a:srgbClr val="FF0000"/>
                </a:solidFill>
                <a:latin typeface="Arial Narrow" pitchFamily="34" charset="0"/>
              </a:rPr>
              <a:t>F</a:t>
            </a:r>
          </a:p>
        </p:txBody>
      </p:sp>
      <p:grpSp>
        <p:nvGrpSpPr>
          <p:cNvPr id="87" name="Grupo 86"/>
          <p:cNvGrpSpPr/>
          <p:nvPr/>
        </p:nvGrpSpPr>
        <p:grpSpPr>
          <a:xfrm>
            <a:off x="3344966" y="2445227"/>
            <a:ext cx="7993136" cy="3494544"/>
            <a:chOff x="665028" y="2445227"/>
            <a:chExt cx="7993136" cy="3494544"/>
          </a:xfrm>
        </p:grpSpPr>
        <p:grpSp>
          <p:nvGrpSpPr>
            <p:cNvPr id="59" name="Grupo 58"/>
            <p:cNvGrpSpPr/>
            <p:nvPr/>
          </p:nvGrpSpPr>
          <p:grpSpPr>
            <a:xfrm>
              <a:off x="665028" y="2564904"/>
              <a:ext cx="7993136" cy="3185343"/>
              <a:chOff x="693664" y="2763937"/>
              <a:chExt cx="5029200" cy="2060861"/>
            </a:xfrm>
          </p:grpSpPr>
          <p:sp>
            <p:nvSpPr>
              <p:cNvPr id="32" name="Oval 1017"/>
              <p:cNvSpPr>
                <a:spLocks noChangeArrowheads="1"/>
              </p:cNvSpPr>
              <p:nvPr/>
            </p:nvSpPr>
            <p:spPr bwMode="auto">
              <a:xfrm>
                <a:off x="693664" y="3725962"/>
                <a:ext cx="274637" cy="274637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PE">
                  <a:latin typeface="Arial Narrow" pitchFamily="34" charset="0"/>
                </a:endParaRPr>
              </a:p>
            </p:txBody>
          </p:sp>
          <p:sp>
            <p:nvSpPr>
              <p:cNvPr id="33" name="Oval 1018"/>
              <p:cNvSpPr>
                <a:spLocks noChangeArrowheads="1"/>
              </p:cNvSpPr>
              <p:nvPr/>
            </p:nvSpPr>
            <p:spPr bwMode="auto">
              <a:xfrm>
                <a:off x="1515989" y="3725962"/>
                <a:ext cx="274637" cy="274637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PE">
                  <a:latin typeface="Arial Narrow" pitchFamily="34" charset="0"/>
                </a:endParaRPr>
              </a:p>
            </p:txBody>
          </p:sp>
          <p:sp>
            <p:nvSpPr>
              <p:cNvPr id="35" name="Oval 1020"/>
              <p:cNvSpPr>
                <a:spLocks noChangeArrowheads="1"/>
              </p:cNvSpPr>
              <p:nvPr/>
            </p:nvSpPr>
            <p:spPr bwMode="auto">
              <a:xfrm>
                <a:off x="2338314" y="4550161"/>
                <a:ext cx="274638" cy="274637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PE">
                  <a:latin typeface="Arial Narrow" pitchFamily="34" charset="0"/>
                </a:endParaRPr>
              </a:p>
            </p:txBody>
          </p:sp>
          <p:sp>
            <p:nvSpPr>
              <p:cNvPr id="36" name="Oval 1021"/>
              <p:cNvSpPr>
                <a:spLocks noChangeArrowheads="1"/>
              </p:cNvSpPr>
              <p:nvPr/>
            </p:nvSpPr>
            <p:spPr bwMode="auto">
              <a:xfrm>
                <a:off x="4012718" y="4513771"/>
                <a:ext cx="274637" cy="274637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PE">
                  <a:latin typeface="Arial Narrow" pitchFamily="34" charset="0"/>
                </a:endParaRPr>
              </a:p>
            </p:txBody>
          </p:sp>
          <p:sp>
            <p:nvSpPr>
              <p:cNvPr id="37" name="Oval 1025"/>
              <p:cNvSpPr>
                <a:spLocks noChangeArrowheads="1"/>
              </p:cNvSpPr>
              <p:nvPr/>
            </p:nvSpPr>
            <p:spPr bwMode="auto">
              <a:xfrm>
                <a:off x="2330376" y="2800449"/>
                <a:ext cx="274638" cy="27463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PE">
                  <a:latin typeface="Arial Narrow" pitchFamily="34" charset="0"/>
                </a:endParaRPr>
              </a:p>
            </p:txBody>
          </p:sp>
          <p:sp>
            <p:nvSpPr>
              <p:cNvPr id="38" name="Oval 1026"/>
              <p:cNvSpPr>
                <a:spLocks noChangeArrowheads="1"/>
              </p:cNvSpPr>
              <p:nvPr/>
            </p:nvSpPr>
            <p:spPr bwMode="auto">
              <a:xfrm>
                <a:off x="5448226" y="2763937"/>
                <a:ext cx="274638" cy="274637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PE">
                  <a:latin typeface="Arial Narrow" pitchFamily="34" charset="0"/>
                </a:endParaRPr>
              </a:p>
            </p:txBody>
          </p:sp>
          <p:sp>
            <p:nvSpPr>
              <p:cNvPr id="39" name="Oval 1027"/>
              <p:cNvSpPr>
                <a:spLocks noChangeArrowheads="1"/>
              </p:cNvSpPr>
              <p:nvPr/>
            </p:nvSpPr>
            <p:spPr bwMode="auto">
              <a:xfrm>
                <a:off x="3976614" y="2800449"/>
                <a:ext cx="274637" cy="27463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PE">
                  <a:latin typeface="Arial Narrow" pitchFamily="34" charset="0"/>
                </a:endParaRPr>
              </a:p>
            </p:txBody>
          </p:sp>
          <p:sp>
            <p:nvSpPr>
              <p:cNvPr id="40" name="Line 1022"/>
              <p:cNvSpPr>
                <a:spLocks noChangeShapeType="1"/>
              </p:cNvSpPr>
              <p:nvPr/>
            </p:nvSpPr>
            <p:spPr bwMode="auto">
              <a:xfrm>
                <a:off x="1722107" y="4010620"/>
                <a:ext cx="683601" cy="593237"/>
              </a:xfrm>
              <a:prstGeom prst="line">
                <a:avLst/>
              </a:prstGeom>
              <a:noFill/>
              <a:ln w="63500" cmpd="dbl">
                <a:solidFill>
                  <a:srgbClr val="FF0000"/>
                </a:solidFill>
                <a:round/>
                <a:headEnd type="none" w="sm" len="med"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PE">
                  <a:latin typeface="Arial Narrow" pitchFamily="34" charset="0"/>
                </a:endParaRPr>
              </a:p>
            </p:txBody>
          </p:sp>
          <p:sp>
            <p:nvSpPr>
              <p:cNvPr id="41" name="Line 1023"/>
              <p:cNvSpPr>
                <a:spLocks noChangeShapeType="1"/>
              </p:cNvSpPr>
              <p:nvPr/>
            </p:nvSpPr>
            <p:spPr bwMode="auto">
              <a:xfrm>
                <a:off x="968301" y="3895316"/>
                <a:ext cx="547688" cy="0"/>
              </a:xfrm>
              <a:prstGeom prst="line">
                <a:avLst/>
              </a:prstGeom>
              <a:noFill/>
              <a:ln w="63500" cmpd="dbl">
                <a:solidFill>
                  <a:srgbClr val="FF0000"/>
                </a:solidFill>
                <a:round/>
                <a:headEnd type="none" w="sm" len="med"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PE" dirty="0">
                  <a:latin typeface="Arial Narrow" pitchFamily="34" charset="0"/>
                </a:endParaRPr>
              </a:p>
            </p:txBody>
          </p:sp>
          <p:sp>
            <p:nvSpPr>
              <p:cNvPr id="42" name="Line 1024"/>
              <p:cNvSpPr>
                <a:spLocks noChangeShapeType="1"/>
              </p:cNvSpPr>
              <p:nvPr/>
            </p:nvSpPr>
            <p:spPr bwMode="auto">
              <a:xfrm flipV="1">
                <a:off x="1808088" y="3879348"/>
                <a:ext cx="522288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med"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PE">
                  <a:latin typeface="Arial Narrow" pitchFamily="34" charset="0"/>
                </a:endParaRPr>
              </a:p>
            </p:txBody>
          </p:sp>
          <p:sp>
            <p:nvSpPr>
              <p:cNvPr id="43" name="Line 1028"/>
              <p:cNvSpPr>
                <a:spLocks noChangeShapeType="1"/>
              </p:cNvSpPr>
              <p:nvPr/>
            </p:nvSpPr>
            <p:spPr bwMode="auto">
              <a:xfrm flipV="1">
                <a:off x="1757289" y="3041475"/>
                <a:ext cx="588962" cy="7366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PE">
                  <a:latin typeface="Arial Narrow" pitchFamily="34" charset="0"/>
                </a:endParaRPr>
              </a:p>
            </p:txBody>
          </p:sp>
          <p:sp>
            <p:nvSpPr>
              <p:cNvPr id="44" name="Line 1029"/>
              <p:cNvSpPr>
                <a:spLocks noChangeShapeType="1"/>
              </p:cNvSpPr>
              <p:nvPr/>
            </p:nvSpPr>
            <p:spPr bwMode="auto">
              <a:xfrm flipV="1">
                <a:off x="2628639" y="2934692"/>
                <a:ext cx="134797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PE">
                  <a:latin typeface="Arial Narrow" pitchFamily="34" charset="0"/>
                </a:endParaRPr>
              </a:p>
            </p:txBody>
          </p:sp>
          <p:sp>
            <p:nvSpPr>
              <p:cNvPr id="45" name="Line 1030"/>
              <p:cNvSpPr>
                <a:spLocks noChangeShapeType="1"/>
              </p:cNvSpPr>
              <p:nvPr/>
            </p:nvSpPr>
            <p:spPr bwMode="auto">
              <a:xfrm>
                <a:off x="4251251" y="2934692"/>
                <a:ext cx="1196975" cy="0"/>
              </a:xfrm>
              <a:prstGeom prst="line">
                <a:avLst/>
              </a:prstGeom>
              <a:noFill/>
              <a:ln w="63500" cmpd="dbl">
                <a:solidFill>
                  <a:srgbClr val="FF0000"/>
                </a:solidFill>
                <a:round/>
                <a:headEnd type="none" w="sm" len="med"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PE">
                  <a:latin typeface="Arial Narrow" pitchFamily="34" charset="0"/>
                </a:endParaRPr>
              </a:p>
            </p:txBody>
          </p:sp>
          <p:sp>
            <p:nvSpPr>
              <p:cNvPr id="46" name="Line 1031"/>
              <p:cNvSpPr>
                <a:spLocks noChangeShapeType="1"/>
              </p:cNvSpPr>
              <p:nvPr/>
            </p:nvSpPr>
            <p:spPr bwMode="auto">
              <a:xfrm>
                <a:off x="2636764" y="4687479"/>
                <a:ext cx="1384846" cy="4277"/>
              </a:xfrm>
              <a:prstGeom prst="line">
                <a:avLst/>
              </a:prstGeom>
              <a:noFill/>
              <a:ln w="63500" cmpd="dbl">
                <a:solidFill>
                  <a:srgbClr val="FF0000"/>
                </a:solidFill>
                <a:round/>
                <a:headEnd type="none" w="sm" len="med"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PE">
                  <a:latin typeface="Arial Narrow" pitchFamily="34" charset="0"/>
                </a:endParaRPr>
              </a:p>
            </p:txBody>
          </p:sp>
          <p:sp>
            <p:nvSpPr>
              <p:cNvPr id="47" name="Line 1032"/>
              <p:cNvSpPr>
                <a:spLocks noChangeShapeType="1"/>
              </p:cNvSpPr>
              <p:nvPr/>
            </p:nvSpPr>
            <p:spPr bwMode="auto">
              <a:xfrm flipH="1" flipV="1">
                <a:off x="4114738" y="3112233"/>
                <a:ext cx="11407" cy="1357392"/>
              </a:xfrm>
              <a:prstGeom prst="line">
                <a:avLst/>
              </a:prstGeom>
              <a:noFill/>
              <a:ln w="63500" cmpd="dbl">
                <a:solidFill>
                  <a:srgbClr val="FF0000"/>
                </a:solidFill>
                <a:round/>
                <a:headEnd type="none" w="sm" len="med"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PE">
                  <a:latin typeface="Arial Narrow" pitchFamily="34" charset="0"/>
                </a:endParaRPr>
              </a:p>
            </p:txBody>
          </p:sp>
          <p:sp>
            <p:nvSpPr>
              <p:cNvPr id="48" name="Line 1033"/>
              <p:cNvSpPr>
                <a:spLocks noChangeShapeType="1"/>
              </p:cNvSpPr>
              <p:nvPr/>
            </p:nvSpPr>
            <p:spPr bwMode="auto">
              <a:xfrm>
                <a:off x="2605014" y="3922329"/>
                <a:ext cx="1476130" cy="6247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PE">
                  <a:latin typeface="Arial Narrow" pitchFamily="34" charset="0"/>
                </a:endParaRPr>
              </a:p>
            </p:txBody>
          </p:sp>
          <p:sp>
            <p:nvSpPr>
              <p:cNvPr id="49" name="Line 1034"/>
              <p:cNvSpPr>
                <a:spLocks noChangeShapeType="1"/>
              </p:cNvSpPr>
              <p:nvPr/>
            </p:nvSpPr>
            <p:spPr bwMode="auto">
              <a:xfrm flipV="1">
                <a:off x="2467695" y="3075087"/>
                <a:ext cx="0" cy="6858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PE">
                  <a:latin typeface="Arial Narrow" pitchFamily="34" charset="0"/>
                </a:endParaRPr>
              </a:p>
            </p:txBody>
          </p:sp>
        </p:grpSp>
        <p:sp>
          <p:nvSpPr>
            <p:cNvPr id="60" name="Oval 1025"/>
            <p:cNvSpPr>
              <a:spLocks noChangeArrowheads="1"/>
            </p:cNvSpPr>
            <p:nvPr/>
          </p:nvSpPr>
          <p:spPr bwMode="auto">
            <a:xfrm>
              <a:off x="3301780" y="4051843"/>
              <a:ext cx="436495" cy="424491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>
                <a:latin typeface="Arial Narrow" pitchFamily="34" charset="0"/>
              </a:endParaRPr>
            </a:p>
          </p:txBody>
        </p:sp>
        <p:sp>
          <p:nvSpPr>
            <p:cNvPr id="61" name="CuadroTexto 60"/>
            <p:cNvSpPr txBox="1"/>
            <p:nvPr/>
          </p:nvSpPr>
          <p:spPr>
            <a:xfrm>
              <a:off x="3329108" y="2642546"/>
              <a:ext cx="3322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latin typeface="Arial Narrow" pitchFamily="34" charset="0"/>
                </a:rPr>
                <a:t>3</a:t>
              </a:r>
            </a:p>
          </p:txBody>
        </p:sp>
        <p:sp>
          <p:nvSpPr>
            <p:cNvPr id="62" name="CuadroTexto 61"/>
            <p:cNvSpPr txBox="1"/>
            <p:nvPr/>
          </p:nvSpPr>
          <p:spPr>
            <a:xfrm>
              <a:off x="8325875" y="2592482"/>
              <a:ext cx="3322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latin typeface="Arial Narrow" pitchFamily="34" charset="0"/>
                </a:rPr>
                <a:t>7</a:t>
              </a:r>
            </a:p>
          </p:txBody>
        </p:sp>
        <p:sp>
          <p:nvSpPr>
            <p:cNvPr id="63" name="CuadroTexto 62"/>
            <p:cNvSpPr txBox="1"/>
            <p:nvPr/>
          </p:nvSpPr>
          <p:spPr>
            <a:xfrm>
              <a:off x="5954284" y="2642546"/>
              <a:ext cx="3322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latin typeface="Arial Narrow" pitchFamily="34" charset="0"/>
                </a:rPr>
                <a:t>6</a:t>
              </a:r>
            </a:p>
          </p:txBody>
        </p:sp>
        <p:sp>
          <p:nvSpPr>
            <p:cNvPr id="64" name="CuadroTexto 63"/>
            <p:cNvSpPr txBox="1"/>
            <p:nvPr/>
          </p:nvSpPr>
          <p:spPr>
            <a:xfrm>
              <a:off x="6116696" y="5297090"/>
              <a:ext cx="3322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latin typeface="Arial Narrow" pitchFamily="34" charset="0"/>
                </a:rPr>
                <a:t>5</a:t>
              </a:r>
            </a:p>
          </p:txBody>
        </p:sp>
        <p:sp>
          <p:nvSpPr>
            <p:cNvPr id="65" name="CuadroTexto 64"/>
            <p:cNvSpPr txBox="1"/>
            <p:nvPr/>
          </p:nvSpPr>
          <p:spPr>
            <a:xfrm>
              <a:off x="3353882" y="5359947"/>
              <a:ext cx="3322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latin typeface="Arial Narrow" pitchFamily="34" charset="0"/>
                </a:rPr>
                <a:t>4</a:t>
              </a:r>
            </a:p>
          </p:txBody>
        </p:sp>
        <p:sp>
          <p:nvSpPr>
            <p:cNvPr id="66" name="CuadroTexto 65"/>
            <p:cNvSpPr txBox="1"/>
            <p:nvPr/>
          </p:nvSpPr>
          <p:spPr>
            <a:xfrm>
              <a:off x="3370461" y="4059972"/>
              <a:ext cx="3322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latin typeface="Arial Narrow" pitchFamily="34" charset="0"/>
                </a:rPr>
                <a:t>2</a:t>
              </a:r>
            </a:p>
          </p:txBody>
        </p:sp>
        <p:sp>
          <p:nvSpPr>
            <p:cNvPr id="67" name="CuadroTexto 66"/>
            <p:cNvSpPr txBox="1"/>
            <p:nvPr/>
          </p:nvSpPr>
          <p:spPr>
            <a:xfrm>
              <a:off x="2052233" y="4078902"/>
              <a:ext cx="3322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latin typeface="Arial Narrow" pitchFamily="34" charset="0"/>
                </a:rPr>
                <a:t>1</a:t>
              </a:r>
            </a:p>
          </p:txBody>
        </p:sp>
        <p:sp>
          <p:nvSpPr>
            <p:cNvPr id="68" name="CuadroTexto 67"/>
            <p:cNvSpPr txBox="1"/>
            <p:nvPr/>
          </p:nvSpPr>
          <p:spPr>
            <a:xfrm>
              <a:off x="738549" y="4079422"/>
              <a:ext cx="3322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latin typeface="Arial Narrow" pitchFamily="34" charset="0"/>
                </a:rPr>
                <a:t>0</a:t>
              </a:r>
            </a:p>
          </p:txBody>
        </p:sp>
        <p:sp>
          <p:nvSpPr>
            <p:cNvPr id="69" name="CuadroTexto 68"/>
            <p:cNvSpPr txBox="1"/>
            <p:nvPr/>
          </p:nvSpPr>
          <p:spPr>
            <a:xfrm>
              <a:off x="1327698" y="3944273"/>
              <a:ext cx="376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srgbClr val="FF0000"/>
                  </a:solidFill>
                  <a:latin typeface="Arial Narrow" pitchFamily="34" charset="0"/>
                </a:rPr>
                <a:t>A</a:t>
              </a:r>
            </a:p>
          </p:txBody>
        </p:sp>
        <p:sp>
          <p:nvSpPr>
            <p:cNvPr id="70" name="CuadroTexto 69"/>
            <p:cNvSpPr txBox="1"/>
            <p:nvPr/>
          </p:nvSpPr>
          <p:spPr>
            <a:xfrm>
              <a:off x="1261065" y="4355358"/>
              <a:ext cx="6041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latin typeface="Arial Narrow" pitchFamily="34" charset="0"/>
                </a:rPr>
                <a:t>30</a:t>
              </a:r>
            </a:p>
          </p:txBody>
        </p:sp>
        <p:sp>
          <p:nvSpPr>
            <p:cNvPr id="72" name="CuadroTexto 71"/>
            <p:cNvSpPr txBox="1"/>
            <p:nvPr/>
          </p:nvSpPr>
          <p:spPr>
            <a:xfrm>
              <a:off x="4717519" y="5112424"/>
              <a:ext cx="376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latin typeface="Arial Narrow" pitchFamily="34" charset="0"/>
                </a:rPr>
                <a:t>E</a:t>
              </a:r>
            </a:p>
          </p:txBody>
        </p:sp>
        <p:sp>
          <p:nvSpPr>
            <p:cNvPr id="73" name="CuadroTexto 72"/>
            <p:cNvSpPr txBox="1"/>
            <p:nvPr/>
          </p:nvSpPr>
          <p:spPr>
            <a:xfrm>
              <a:off x="2722800" y="5076107"/>
              <a:ext cx="376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latin typeface="Arial Narrow" pitchFamily="34" charset="0"/>
                </a:rPr>
                <a:t>D</a:t>
              </a:r>
            </a:p>
          </p:txBody>
        </p:sp>
        <p:sp>
          <p:nvSpPr>
            <p:cNvPr id="74" name="CuadroTexto 73"/>
            <p:cNvSpPr txBox="1"/>
            <p:nvPr/>
          </p:nvSpPr>
          <p:spPr>
            <a:xfrm>
              <a:off x="4604359" y="2454741"/>
              <a:ext cx="376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latin typeface="Arial Narrow" pitchFamily="34" charset="0"/>
                </a:rPr>
                <a:t>C</a:t>
              </a:r>
            </a:p>
          </p:txBody>
        </p:sp>
        <p:sp>
          <p:nvSpPr>
            <p:cNvPr id="75" name="CuadroTexto 74"/>
            <p:cNvSpPr txBox="1"/>
            <p:nvPr/>
          </p:nvSpPr>
          <p:spPr>
            <a:xfrm>
              <a:off x="2464770" y="3103244"/>
              <a:ext cx="5471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latin typeface="Arial Narrow" pitchFamily="34" charset="0"/>
                </a:rPr>
                <a:t>B</a:t>
              </a:r>
            </a:p>
          </p:txBody>
        </p:sp>
        <p:sp>
          <p:nvSpPr>
            <p:cNvPr id="78" name="CuadroTexto 77"/>
            <p:cNvSpPr txBox="1"/>
            <p:nvPr/>
          </p:nvSpPr>
          <p:spPr>
            <a:xfrm>
              <a:off x="7220096" y="2445227"/>
              <a:ext cx="376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srgbClr val="FF0000"/>
                  </a:solidFill>
                  <a:latin typeface="Arial Narrow" pitchFamily="34" charset="0"/>
                </a:rPr>
                <a:t>H</a:t>
              </a:r>
            </a:p>
          </p:txBody>
        </p:sp>
        <p:sp>
          <p:nvSpPr>
            <p:cNvPr id="79" name="CuadroTexto 78"/>
            <p:cNvSpPr txBox="1"/>
            <p:nvPr/>
          </p:nvSpPr>
          <p:spPr>
            <a:xfrm>
              <a:off x="2638425" y="3944273"/>
              <a:ext cx="376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latin typeface="Arial Narrow" pitchFamily="34" charset="0"/>
                </a:rPr>
                <a:t>G</a:t>
              </a:r>
            </a:p>
          </p:txBody>
        </p:sp>
        <p:sp>
          <p:nvSpPr>
            <p:cNvPr id="80" name="CuadroTexto 79"/>
            <p:cNvSpPr txBox="1"/>
            <p:nvPr/>
          </p:nvSpPr>
          <p:spPr>
            <a:xfrm>
              <a:off x="2638425" y="4335740"/>
              <a:ext cx="9082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latin typeface="Arial Narrow" pitchFamily="34" charset="0"/>
                </a:rPr>
                <a:t>14</a:t>
              </a:r>
            </a:p>
          </p:txBody>
        </p:sp>
        <p:sp>
          <p:nvSpPr>
            <p:cNvPr id="81" name="CuadroTexto 80"/>
            <p:cNvSpPr txBox="1"/>
            <p:nvPr/>
          </p:nvSpPr>
          <p:spPr>
            <a:xfrm>
              <a:off x="4494362" y="5570439"/>
              <a:ext cx="8997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PE" dirty="0">
                  <a:latin typeface="Arial Narrow" pitchFamily="34" charset="0"/>
                </a:rPr>
                <a:t>10</a:t>
              </a:r>
            </a:p>
          </p:txBody>
        </p:sp>
        <p:sp>
          <p:nvSpPr>
            <p:cNvPr id="82" name="CuadroTexto 81"/>
            <p:cNvSpPr txBox="1"/>
            <p:nvPr/>
          </p:nvSpPr>
          <p:spPr>
            <a:xfrm>
              <a:off x="2464770" y="4816480"/>
              <a:ext cx="298939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rtlCol="0">
              <a:spAutoFit/>
            </a:bodyPr>
            <a:lstStyle/>
            <a:p>
              <a:r>
                <a:rPr lang="es-PE">
                  <a:latin typeface="Arial Narrow" pitchFamily="34" charset="0"/>
                </a:rPr>
                <a:t>5</a:t>
              </a:r>
              <a:endParaRPr lang="es-PE" dirty="0">
                <a:latin typeface="Arial Narrow" pitchFamily="34" charset="0"/>
              </a:endParaRPr>
            </a:p>
          </p:txBody>
        </p:sp>
        <p:sp>
          <p:nvSpPr>
            <p:cNvPr id="83" name="CuadroTexto 82"/>
            <p:cNvSpPr txBox="1"/>
            <p:nvPr/>
          </p:nvSpPr>
          <p:spPr>
            <a:xfrm>
              <a:off x="4589386" y="2828829"/>
              <a:ext cx="406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latin typeface="Arial Narrow" pitchFamily="34" charset="0"/>
                </a:rPr>
                <a:t>4</a:t>
              </a:r>
            </a:p>
          </p:txBody>
        </p:sp>
        <p:sp>
          <p:nvSpPr>
            <p:cNvPr id="85" name="CuadroTexto 84"/>
            <p:cNvSpPr txBox="1"/>
            <p:nvPr/>
          </p:nvSpPr>
          <p:spPr>
            <a:xfrm>
              <a:off x="7220096" y="2844226"/>
              <a:ext cx="6383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latin typeface="Arial Narrow" pitchFamily="34" charset="0"/>
                </a:rPr>
                <a:t>2</a:t>
              </a:r>
            </a:p>
          </p:txBody>
        </p:sp>
        <p:sp>
          <p:nvSpPr>
            <p:cNvPr id="86" name="CuadroTexto 85"/>
            <p:cNvSpPr txBox="1"/>
            <p:nvPr/>
          </p:nvSpPr>
          <p:spPr>
            <a:xfrm>
              <a:off x="6282840" y="3940961"/>
              <a:ext cx="8997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latin typeface="Arial Narrow" pitchFamily="34" charset="0"/>
                </a:rPr>
                <a:t>8</a:t>
              </a:r>
            </a:p>
          </p:txBody>
        </p:sp>
      </p:grpSp>
      <p:sp>
        <p:nvSpPr>
          <p:cNvPr id="51" name="2 Marcador de contenido"/>
          <p:cNvSpPr txBox="1">
            <a:spLocks/>
          </p:cNvSpPr>
          <p:nvPr/>
        </p:nvSpPr>
        <p:spPr>
          <a:xfrm>
            <a:off x="9286940" y="3349732"/>
            <a:ext cx="2714644" cy="1160639"/>
          </a:xfrm>
          <a:prstGeom prst="rect">
            <a:avLst/>
          </a:prstGeom>
          <a:solidFill>
            <a:srgbClr val="FFFF00"/>
          </a:solidFill>
        </p:spPr>
        <p:txBody>
          <a:bodyPr/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defRPr/>
            </a:pPr>
            <a:r>
              <a:rPr lang="es-PE" sz="2000" kern="0" dirty="0">
                <a:latin typeface="Arial Narrow" pitchFamily="34" charset="0"/>
              </a:rPr>
              <a:t>RESPUESTA: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defRPr/>
            </a:pPr>
            <a:r>
              <a:rPr lang="es-PE" sz="2000" kern="0" dirty="0">
                <a:latin typeface="Arial Narrow" pitchFamily="34" charset="0"/>
              </a:rPr>
              <a:t>Duración del proyecto:  55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defRPr/>
            </a:pPr>
            <a:r>
              <a:rPr lang="es-PE" sz="2000" kern="0" dirty="0">
                <a:latin typeface="Arial Narrow" pitchFamily="34" charset="0"/>
              </a:rPr>
              <a:t>Ruta crítica: </a:t>
            </a:r>
            <a:r>
              <a:rPr lang="es-PE" sz="2000" kern="0" dirty="0" err="1">
                <a:latin typeface="Arial Narrow" pitchFamily="34" charset="0"/>
              </a:rPr>
              <a:t>ADEFH</a:t>
            </a:r>
            <a:endParaRPr lang="es-PE" sz="2000" kern="0" dirty="0">
              <a:latin typeface="Arial Narrow" pitchFamily="34" charset="0"/>
            </a:endParaRPr>
          </a:p>
        </p:txBody>
      </p:sp>
      <p:sp>
        <p:nvSpPr>
          <p:cNvPr id="76" name="CuadroTexto 82"/>
          <p:cNvSpPr txBox="1"/>
          <p:nvPr/>
        </p:nvSpPr>
        <p:spPr>
          <a:xfrm>
            <a:off x="5488494" y="3411415"/>
            <a:ext cx="406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Arial Narrow" pitchFamily="34" charset="0"/>
              </a:rPr>
              <a:t>6</a:t>
            </a:r>
          </a:p>
        </p:txBody>
      </p:sp>
      <p:sp>
        <p:nvSpPr>
          <p:cNvPr id="2" name="1 CuadroTexto"/>
          <p:cNvSpPr txBox="1"/>
          <p:nvPr/>
        </p:nvSpPr>
        <p:spPr>
          <a:xfrm>
            <a:off x="10147657" y="1253350"/>
            <a:ext cx="1853927" cy="132343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s-ES" sz="2000" dirty="0" err="1">
                <a:latin typeface="Arial Narrow" pitchFamily="34" charset="0"/>
              </a:rPr>
              <a:t>ABCH</a:t>
            </a:r>
            <a:r>
              <a:rPr lang="es-ES" sz="2000" dirty="0">
                <a:latin typeface="Arial Narrow" pitchFamily="34" charset="0"/>
              </a:rPr>
              <a:t>=42</a:t>
            </a:r>
          </a:p>
          <a:p>
            <a:r>
              <a:rPr lang="es-ES" sz="2000" dirty="0" err="1">
                <a:latin typeface="Arial Narrow" pitchFamily="34" charset="0"/>
              </a:rPr>
              <a:t>AGCH</a:t>
            </a:r>
            <a:r>
              <a:rPr lang="es-ES" sz="2000" dirty="0">
                <a:latin typeface="Arial Narrow" pitchFamily="34" charset="0"/>
              </a:rPr>
              <a:t>=50</a:t>
            </a:r>
          </a:p>
          <a:p>
            <a:r>
              <a:rPr lang="es-ES" sz="2000" dirty="0" err="1">
                <a:latin typeface="Arial Narrow" pitchFamily="34" charset="0"/>
              </a:rPr>
              <a:t>AGFH</a:t>
            </a:r>
            <a:r>
              <a:rPr lang="es-ES" sz="2000" dirty="0">
                <a:latin typeface="Arial Narrow" pitchFamily="34" charset="0"/>
              </a:rPr>
              <a:t>=54</a:t>
            </a:r>
          </a:p>
          <a:p>
            <a:r>
              <a:rPr lang="es-ES" sz="2000" dirty="0" err="1">
                <a:latin typeface="Arial Narrow" pitchFamily="34" charset="0"/>
              </a:rPr>
              <a:t>ADEFH</a:t>
            </a:r>
            <a:r>
              <a:rPr lang="es-ES" sz="2000" dirty="0">
                <a:latin typeface="Arial Narrow" pitchFamily="34" charset="0"/>
              </a:rPr>
              <a:t>=55</a:t>
            </a:r>
            <a:endParaRPr lang="es-PE" sz="2000" dirty="0">
              <a:latin typeface="Arial Narrow" pitchFamily="34" charset="0"/>
            </a:endParaRPr>
          </a:p>
        </p:txBody>
      </p:sp>
      <p:sp>
        <p:nvSpPr>
          <p:cNvPr id="5" name="4 CuadroTexto"/>
          <p:cNvSpPr txBox="1"/>
          <p:nvPr/>
        </p:nvSpPr>
        <p:spPr>
          <a:xfrm>
            <a:off x="7035914" y="4313605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Arial Narrow" pitchFamily="34" charset="0"/>
              </a:rPr>
              <a:t>Figurada</a:t>
            </a:r>
            <a:endParaRPr lang="es-PE" dirty="0">
              <a:latin typeface="Arial Narrow" pitchFamily="34" charset="0"/>
            </a:endParaRPr>
          </a:p>
        </p:txBody>
      </p:sp>
      <p:sp>
        <p:nvSpPr>
          <p:cNvPr id="53" name="52 CuadroTexto"/>
          <p:cNvSpPr txBox="1"/>
          <p:nvPr/>
        </p:nvSpPr>
        <p:spPr>
          <a:xfrm>
            <a:off x="6119087" y="3378469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Arial Narrow" pitchFamily="34" charset="0"/>
              </a:rPr>
              <a:t>Figurada</a:t>
            </a:r>
            <a:endParaRPr lang="es-PE" dirty="0">
              <a:latin typeface="Arial Narrow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E561858-7089-AE00-B918-62328214AFFB}"/>
              </a:ext>
            </a:extLst>
          </p:cNvPr>
          <p:cNvSpPr/>
          <p:nvPr/>
        </p:nvSpPr>
        <p:spPr>
          <a:xfrm>
            <a:off x="6096000" y="136525"/>
            <a:ext cx="6096000" cy="57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spcFirstLastPara="1"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5800"/>
              </a:lnSpc>
              <a:spcBef>
                <a:spcPct val="0"/>
              </a:spcBef>
            </a:pPr>
            <a:r>
              <a:rPr lang="es-PE" sz="3200" dirty="0">
                <a:solidFill>
                  <a:schemeClr val="bg1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Bauhaus 93" pitchFamily="82" charset="0"/>
              </a:rPr>
              <a:t>Técnica de choque</a:t>
            </a:r>
          </a:p>
        </p:txBody>
      </p:sp>
      <p:graphicFrame>
        <p:nvGraphicFramePr>
          <p:cNvPr id="54" name="Tabla 53">
            <a:extLst>
              <a:ext uri="{FF2B5EF4-FFF2-40B4-BE49-F238E27FC236}">
                <a16:creationId xmlns:a16="http://schemas.microsoft.com/office/drawing/2014/main" id="{6B0653D6-AAFD-2E73-3F85-6D8C236AF2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5050671"/>
              </p:ext>
            </p:extLst>
          </p:nvPr>
        </p:nvGraphicFramePr>
        <p:xfrm>
          <a:off x="35946" y="1264908"/>
          <a:ext cx="3059983" cy="370384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09725">
                  <a:extLst>
                    <a:ext uri="{9D8B030D-6E8A-4147-A177-3AD203B41FA5}">
                      <a16:colId xmlns:a16="http://schemas.microsoft.com/office/drawing/2014/main" val="1800597284"/>
                    </a:ext>
                  </a:extLst>
                </a:gridCol>
                <a:gridCol w="1075129">
                  <a:extLst>
                    <a:ext uri="{9D8B030D-6E8A-4147-A177-3AD203B41FA5}">
                      <a16:colId xmlns:a16="http://schemas.microsoft.com/office/drawing/2014/main" val="1448160801"/>
                    </a:ext>
                  </a:extLst>
                </a:gridCol>
                <a:gridCol w="1075129">
                  <a:extLst>
                    <a:ext uri="{9D8B030D-6E8A-4147-A177-3AD203B41FA5}">
                      <a16:colId xmlns:a16="http://schemas.microsoft.com/office/drawing/2014/main" val="3638592826"/>
                    </a:ext>
                  </a:extLst>
                </a:gridCol>
              </a:tblGrid>
              <a:tr h="5370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Tarea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 err="1">
                          <a:effectLst/>
                        </a:rPr>
                        <a:t>Prece</a:t>
                      </a:r>
                      <a:r>
                        <a:rPr lang="es-ES" sz="2000" dirty="0">
                          <a:effectLst/>
                        </a:rPr>
                        <a:t>-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 err="1">
                          <a:effectLst/>
                        </a:rPr>
                        <a:t>dencia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>
                          <a:effectLst/>
                        </a:rPr>
                        <a:t>Tiempo</a:t>
                      </a:r>
                      <a:endParaRPr lang="es-PE" sz="200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>
                          <a:effectLst/>
                        </a:rPr>
                        <a:t>Normal</a:t>
                      </a:r>
                      <a:endParaRPr lang="es-PE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94382284"/>
                  </a:ext>
                </a:extLst>
              </a:tr>
              <a:tr h="35734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A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 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30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69058096"/>
                  </a:ext>
                </a:extLst>
              </a:tr>
              <a:tr h="3447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B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A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6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92335345"/>
                  </a:ext>
                </a:extLst>
              </a:tr>
              <a:tr h="40658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000" dirty="0">
                          <a:effectLst/>
                        </a:rPr>
                        <a:t>C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 err="1">
                          <a:effectLst/>
                        </a:rPr>
                        <a:t>B,G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4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93433579"/>
                  </a:ext>
                </a:extLst>
              </a:tr>
              <a:tr h="35184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000" dirty="0">
                          <a:effectLst/>
                        </a:rPr>
                        <a:t>D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A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000" dirty="0">
                          <a:effectLst/>
                        </a:rPr>
                        <a:t>5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18340974"/>
                  </a:ext>
                </a:extLst>
              </a:tr>
              <a:tr h="3447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000" dirty="0">
                          <a:effectLst/>
                        </a:rPr>
                        <a:t>E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D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000" dirty="0">
                          <a:effectLst/>
                        </a:rPr>
                        <a:t>10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78137060"/>
                  </a:ext>
                </a:extLst>
              </a:tr>
              <a:tr h="40658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000">
                          <a:effectLst/>
                        </a:rPr>
                        <a:t>F</a:t>
                      </a:r>
                      <a:endParaRPr lang="es-PE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 err="1">
                          <a:effectLst/>
                        </a:rPr>
                        <a:t>E,G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000" dirty="0">
                          <a:effectLst/>
                        </a:rPr>
                        <a:t>8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95016959"/>
                  </a:ext>
                </a:extLst>
              </a:tr>
              <a:tr h="40658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000">
                          <a:effectLst/>
                        </a:rPr>
                        <a:t>G</a:t>
                      </a:r>
                      <a:endParaRPr lang="es-PE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A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14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08029568"/>
                  </a:ext>
                </a:extLst>
              </a:tr>
              <a:tr h="40658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000">
                          <a:effectLst/>
                        </a:rPr>
                        <a:t>H</a:t>
                      </a:r>
                      <a:endParaRPr lang="es-PE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 err="1">
                          <a:effectLst/>
                        </a:rPr>
                        <a:t>C,F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2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605852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2052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ANIVAL TORRE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7123F-EA94-4AF6-90FD-8402484B591B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5" name="Tab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4380177"/>
              </p:ext>
            </p:extLst>
          </p:nvPr>
        </p:nvGraphicFramePr>
        <p:xfrm>
          <a:off x="656400" y="1267200"/>
          <a:ext cx="10879200" cy="518748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03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80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17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361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8028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800" dirty="0">
                          <a:effectLst/>
                        </a:rPr>
                        <a:t>RUTAS</a:t>
                      </a:r>
                      <a:endParaRPr lang="es-PE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800" dirty="0">
                          <a:effectLst/>
                        </a:rPr>
                        <a:t>DURACIÓN</a:t>
                      </a:r>
                      <a:endParaRPr lang="es-PE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800" dirty="0">
                          <a:effectLst/>
                        </a:rPr>
                        <a:t>TAREAS A REDUCIR</a:t>
                      </a:r>
                      <a:endParaRPr lang="es-PE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800">
                          <a:effectLst/>
                        </a:rPr>
                        <a:t>COSTO ADICIONAL</a:t>
                      </a:r>
                      <a:endParaRPr lang="es-PE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899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800" dirty="0" err="1">
                          <a:effectLst/>
                        </a:rPr>
                        <a:t>ADEFH</a:t>
                      </a:r>
                      <a:endParaRPr lang="es-PE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55</a:t>
                      </a:r>
                      <a:endParaRPr lang="es-PE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-</a:t>
                      </a:r>
                      <a:endParaRPr lang="es-PE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C=0</a:t>
                      </a:r>
                      <a:endParaRPr lang="es-PE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899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800" dirty="0" err="1">
                          <a:effectLst/>
                        </a:rPr>
                        <a:t>ADEFH</a:t>
                      </a:r>
                      <a:r>
                        <a:rPr lang="es-ES" sz="2800" dirty="0">
                          <a:effectLst/>
                        </a:rPr>
                        <a:t>/</a:t>
                      </a:r>
                      <a:r>
                        <a:rPr lang="es-ES" sz="2800" dirty="0" err="1">
                          <a:effectLst/>
                        </a:rPr>
                        <a:t>AGFH</a:t>
                      </a:r>
                      <a:endParaRPr lang="es-PE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54</a:t>
                      </a:r>
                      <a:endParaRPr lang="es-PE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E</a:t>
                      </a:r>
                      <a:endParaRPr lang="es-PE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C=0+600</a:t>
                      </a:r>
                      <a:endParaRPr lang="es-PE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899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800" dirty="0" err="1">
                          <a:effectLst/>
                        </a:rPr>
                        <a:t>ADEFH</a:t>
                      </a:r>
                      <a:r>
                        <a:rPr lang="es-ES" sz="2800" dirty="0">
                          <a:effectLst/>
                        </a:rPr>
                        <a:t>/</a:t>
                      </a:r>
                      <a:r>
                        <a:rPr lang="es-ES" sz="2800" dirty="0" err="1">
                          <a:effectLst/>
                        </a:rPr>
                        <a:t>AGFH</a:t>
                      </a:r>
                      <a:endParaRPr lang="es-PE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53</a:t>
                      </a:r>
                      <a:endParaRPr lang="es-PE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A</a:t>
                      </a:r>
                      <a:endParaRPr lang="es-PE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C=600+1000</a:t>
                      </a:r>
                      <a:endParaRPr lang="es-PE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4899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800" dirty="0" err="1">
                          <a:effectLst/>
                        </a:rPr>
                        <a:t>ADEFH</a:t>
                      </a:r>
                      <a:r>
                        <a:rPr lang="es-ES" sz="2800" dirty="0">
                          <a:effectLst/>
                        </a:rPr>
                        <a:t>/</a:t>
                      </a:r>
                      <a:r>
                        <a:rPr lang="es-ES" sz="2800" dirty="0" err="1">
                          <a:effectLst/>
                        </a:rPr>
                        <a:t>AGFH</a:t>
                      </a:r>
                      <a:endParaRPr lang="es-PE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52</a:t>
                      </a:r>
                      <a:endParaRPr lang="es-PE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s-ES" sz="2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A</a:t>
                      </a:r>
                      <a:endParaRPr lang="es-PE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C=1600+1000</a:t>
                      </a:r>
                      <a:endParaRPr lang="es-PE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4899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800" dirty="0" err="1">
                          <a:effectLst/>
                        </a:rPr>
                        <a:t>ADEFH</a:t>
                      </a:r>
                      <a:r>
                        <a:rPr lang="es-ES" sz="2800" dirty="0">
                          <a:effectLst/>
                        </a:rPr>
                        <a:t>/</a:t>
                      </a:r>
                      <a:r>
                        <a:rPr lang="es-ES" sz="2800" dirty="0" err="1">
                          <a:effectLst/>
                        </a:rPr>
                        <a:t>AGFH</a:t>
                      </a:r>
                      <a:endParaRPr lang="es-PE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51</a:t>
                      </a:r>
                      <a:endParaRPr lang="es-PE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s-ES" sz="2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A</a:t>
                      </a:r>
                      <a:endParaRPr lang="es-PE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C=2600+1000</a:t>
                      </a:r>
                      <a:endParaRPr lang="es-PE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4899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800" dirty="0" err="1">
                          <a:effectLst/>
                        </a:rPr>
                        <a:t>ADEFH</a:t>
                      </a:r>
                      <a:r>
                        <a:rPr lang="es-ES" sz="2800" dirty="0">
                          <a:effectLst/>
                        </a:rPr>
                        <a:t>/</a:t>
                      </a:r>
                      <a:r>
                        <a:rPr lang="es-ES" sz="2800" dirty="0" err="1">
                          <a:effectLst/>
                        </a:rPr>
                        <a:t>AGFH</a:t>
                      </a:r>
                      <a:endParaRPr lang="es-PE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50</a:t>
                      </a:r>
                      <a:endParaRPr lang="es-PE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s-ES" sz="2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A</a:t>
                      </a:r>
                      <a:endParaRPr lang="es-PE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C=3600+1000</a:t>
                      </a:r>
                      <a:endParaRPr lang="es-PE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489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endParaRPr lang="es-PE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49</a:t>
                      </a:r>
                      <a:endParaRPr lang="es-PE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F</a:t>
                      </a:r>
                      <a:endParaRPr lang="es-PE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C=4600+1250</a:t>
                      </a:r>
                      <a:endParaRPr lang="es-PE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489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endParaRPr lang="es-PE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48</a:t>
                      </a:r>
                      <a:endParaRPr lang="es-PE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F</a:t>
                      </a:r>
                      <a:endParaRPr lang="es-PE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C=5850+1250</a:t>
                      </a:r>
                      <a:endParaRPr lang="es-PE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6967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endParaRPr lang="es-PE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47</a:t>
                      </a:r>
                      <a:endParaRPr lang="es-PE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8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E+G</a:t>
                      </a:r>
                      <a:endParaRPr lang="es-PE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C=7100+600+2500 =10200</a:t>
                      </a:r>
                      <a:endParaRPr lang="es-PE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" name="Rectángulo 1">
            <a:extLst>
              <a:ext uri="{FF2B5EF4-FFF2-40B4-BE49-F238E27FC236}">
                <a16:creationId xmlns:a16="http://schemas.microsoft.com/office/drawing/2014/main" id="{705039FD-7F45-0259-B1F4-43212F2BF108}"/>
              </a:ext>
            </a:extLst>
          </p:cNvPr>
          <p:cNvSpPr/>
          <p:nvPr/>
        </p:nvSpPr>
        <p:spPr>
          <a:xfrm>
            <a:off x="6096000" y="136525"/>
            <a:ext cx="6096000" cy="57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spcFirstLastPara="1"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5800"/>
              </a:lnSpc>
              <a:spcBef>
                <a:spcPct val="0"/>
              </a:spcBef>
            </a:pPr>
            <a:r>
              <a:rPr lang="es-PE" sz="3200" dirty="0">
                <a:solidFill>
                  <a:schemeClr val="bg1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Bauhaus 93" pitchFamily="82" charset="0"/>
              </a:rPr>
              <a:t>Técnica de choque</a:t>
            </a:r>
          </a:p>
        </p:txBody>
      </p:sp>
    </p:spTree>
    <p:extLst>
      <p:ext uri="{BB962C8B-B14F-4D97-AF65-F5344CB8AC3E}">
        <p14:creationId xmlns:p14="http://schemas.microsoft.com/office/powerpoint/2010/main" val="3430487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ANIVAL TORRE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7123F-EA94-4AF6-90FD-8402484B591B}" type="slidenum">
              <a:rPr lang="en-US" smtClean="0"/>
              <a:pPr/>
              <a:t>10</a:t>
            </a:fld>
            <a:endParaRPr lang="en-US" dirty="0"/>
          </a:p>
        </p:txBody>
      </p:sp>
      <p:graphicFrame>
        <p:nvGraphicFramePr>
          <p:cNvPr id="5" name="Tabla 4"/>
          <p:cNvGraphicFramePr>
            <a:graphicFrameLocks noGrp="1"/>
          </p:cNvGraphicFramePr>
          <p:nvPr/>
        </p:nvGraphicFramePr>
        <p:xfrm>
          <a:off x="1847529" y="1700813"/>
          <a:ext cx="8496945" cy="439248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55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4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90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085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9779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RUTAS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DURACIÓN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TAREAS A REDUCIR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>
                          <a:effectLst/>
                        </a:rPr>
                        <a:t>COSTO ADICIONAL</a:t>
                      </a:r>
                      <a:endParaRPr lang="es-PE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62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 err="1">
                          <a:effectLst/>
                        </a:rPr>
                        <a:t>ADEFH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55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>
                          <a:effectLst/>
                        </a:rPr>
                        <a:t>----</a:t>
                      </a:r>
                      <a:endParaRPr lang="es-PE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>
                          <a:effectLst/>
                        </a:rPr>
                        <a:t>Costo=0</a:t>
                      </a:r>
                      <a:endParaRPr lang="es-PE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62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 err="1">
                          <a:effectLst/>
                        </a:rPr>
                        <a:t>ADEFH</a:t>
                      </a:r>
                      <a:r>
                        <a:rPr lang="es-ES" sz="2000" dirty="0">
                          <a:effectLst/>
                        </a:rPr>
                        <a:t>/</a:t>
                      </a:r>
                      <a:r>
                        <a:rPr lang="es-ES" sz="2000" dirty="0" err="1">
                          <a:effectLst/>
                        </a:rPr>
                        <a:t>AGFH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54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E(1)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Costo=600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62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s-ES" sz="2000" dirty="0" err="1">
                          <a:effectLst/>
                        </a:rPr>
                        <a:t>ADEFH</a:t>
                      </a:r>
                      <a:r>
                        <a:rPr lang="es-ES" sz="2000" dirty="0">
                          <a:effectLst/>
                        </a:rPr>
                        <a:t>/</a:t>
                      </a:r>
                      <a:r>
                        <a:rPr lang="es-ES" sz="2000" dirty="0" err="1">
                          <a:effectLst/>
                        </a:rPr>
                        <a:t>AGFH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53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>
                          <a:effectLst/>
                        </a:rPr>
                        <a:t>A(1)</a:t>
                      </a:r>
                      <a:endParaRPr lang="es-PE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>
                          <a:effectLst/>
                        </a:rPr>
                        <a:t>Costo=600+1000</a:t>
                      </a:r>
                      <a:endParaRPr lang="es-PE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62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s-ES" sz="2000" dirty="0" err="1">
                          <a:effectLst/>
                        </a:rPr>
                        <a:t>ADEFH</a:t>
                      </a:r>
                      <a:r>
                        <a:rPr lang="es-ES" sz="2000" dirty="0">
                          <a:effectLst/>
                        </a:rPr>
                        <a:t>/</a:t>
                      </a:r>
                      <a:r>
                        <a:rPr lang="es-ES" sz="2000" dirty="0" err="1">
                          <a:effectLst/>
                        </a:rPr>
                        <a:t>AGFH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52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s-ES" sz="2000">
                          <a:effectLst/>
                        </a:rPr>
                        <a:t>A(1)</a:t>
                      </a:r>
                      <a:endParaRPr lang="es-PE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>
                          <a:effectLst/>
                        </a:rPr>
                        <a:t>Costo=1600+1000</a:t>
                      </a:r>
                      <a:endParaRPr lang="es-PE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62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s-ES" sz="2000" dirty="0" err="1">
                          <a:effectLst/>
                        </a:rPr>
                        <a:t>ADEFH</a:t>
                      </a:r>
                      <a:r>
                        <a:rPr lang="es-ES" sz="2000" dirty="0">
                          <a:effectLst/>
                        </a:rPr>
                        <a:t>/</a:t>
                      </a:r>
                      <a:r>
                        <a:rPr lang="es-ES" sz="2000" dirty="0" err="1">
                          <a:effectLst/>
                        </a:rPr>
                        <a:t>AGFH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51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s-ES" sz="2000" dirty="0">
                          <a:effectLst/>
                        </a:rPr>
                        <a:t>A(1)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>
                          <a:effectLst/>
                        </a:rPr>
                        <a:t>Costo=2600+1000</a:t>
                      </a:r>
                      <a:endParaRPr lang="es-PE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62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s-ES" sz="2000" dirty="0" err="1">
                          <a:effectLst/>
                        </a:rPr>
                        <a:t>ADEFH</a:t>
                      </a:r>
                      <a:r>
                        <a:rPr lang="es-ES" sz="2000" dirty="0">
                          <a:effectLst/>
                        </a:rPr>
                        <a:t>/</a:t>
                      </a:r>
                      <a:r>
                        <a:rPr lang="es-ES" sz="2000" dirty="0" err="1">
                          <a:effectLst/>
                        </a:rPr>
                        <a:t>AGFH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>
                          <a:effectLst/>
                        </a:rPr>
                        <a:t>50</a:t>
                      </a:r>
                      <a:endParaRPr lang="es-PE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s-ES" sz="2000" dirty="0">
                          <a:effectLst/>
                        </a:rPr>
                        <a:t>A(1)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>
                          <a:effectLst/>
                        </a:rPr>
                        <a:t>Costo=3600+1000</a:t>
                      </a:r>
                      <a:endParaRPr lang="es-PE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62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s-ES" sz="2000" dirty="0" err="1">
                          <a:effectLst/>
                        </a:rPr>
                        <a:t>ADEFH</a:t>
                      </a:r>
                      <a:r>
                        <a:rPr lang="es-ES" sz="2000" dirty="0">
                          <a:effectLst/>
                        </a:rPr>
                        <a:t>/</a:t>
                      </a:r>
                      <a:r>
                        <a:rPr lang="es-ES" sz="2000" dirty="0" err="1">
                          <a:effectLst/>
                        </a:rPr>
                        <a:t>AGFH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>
                          <a:effectLst/>
                        </a:rPr>
                        <a:t>49</a:t>
                      </a:r>
                      <a:endParaRPr lang="es-PE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F(1)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>
                          <a:effectLst/>
                        </a:rPr>
                        <a:t>Costo=4600+1250</a:t>
                      </a:r>
                      <a:endParaRPr lang="es-PE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262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s-ES" sz="2000" dirty="0" err="1">
                          <a:effectLst/>
                        </a:rPr>
                        <a:t>ADEFH</a:t>
                      </a:r>
                      <a:r>
                        <a:rPr lang="es-ES" sz="2000" dirty="0">
                          <a:effectLst/>
                        </a:rPr>
                        <a:t>/</a:t>
                      </a:r>
                      <a:r>
                        <a:rPr lang="es-ES" sz="2000" dirty="0" err="1">
                          <a:effectLst/>
                        </a:rPr>
                        <a:t>AGFH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48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F(1)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>
                          <a:effectLst/>
                        </a:rPr>
                        <a:t>Costo=5850+1250</a:t>
                      </a:r>
                      <a:endParaRPr lang="es-PE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168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s-ES" sz="2000">
                          <a:effectLst/>
                        </a:rPr>
                        <a:t>ADEFH/AGFH</a:t>
                      </a:r>
                      <a:endParaRPr lang="es-PE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47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E(1)+G(1)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Costo=7100+3100=10200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" name="Rectángulo 1">
            <a:extLst>
              <a:ext uri="{FF2B5EF4-FFF2-40B4-BE49-F238E27FC236}">
                <a16:creationId xmlns:a16="http://schemas.microsoft.com/office/drawing/2014/main" id="{705039FD-7F45-0259-B1F4-43212F2BF108}"/>
              </a:ext>
            </a:extLst>
          </p:cNvPr>
          <p:cNvSpPr/>
          <p:nvPr/>
        </p:nvSpPr>
        <p:spPr>
          <a:xfrm>
            <a:off x="6096000" y="136525"/>
            <a:ext cx="6096000" cy="57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spcFirstLastPara="1"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5800"/>
              </a:lnSpc>
              <a:spcBef>
                <a:spcPct val="0"/>
              </a:spcBef>
            </a:pPr>
            <a:r>
              <a:rPr lang="es-PE" sz="3200" dirty="0">
                <a:solidFill>
                  <a:schemeClr val="bg1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Bauhaus 93" pitchFamily="82" charset="0"/>
              </a:rPr>
              <a:t>Técnica de choque</a:t>
            </a:r>
          </a:p>
        </p:txBody>
      </p:sp>
    </p:spTree>
    <p:extLst>
      <p:ext uri="{BB962C8B-B14F-4D97-AF65-F5344CB8AC3E}">
        <p14:creationId xmlns:p14="http://schemas.microsoft.com/office/powerpoint/2010/main" val="2345281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ANIVAL TORRE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7123F-EA94-4AF6-90FD-8402484B591B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1" name="CuadroTexto 70"/>
          <p:cNvSpPr txBox="1"/>
          <p:nvPr/>
        </p:nvSpPr>
        <p:spPr>
          <a:xfrm>
            <a:off x="7436579" y="3940961"/>
            <a:ext cx="3768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000" dirty="0">
                <a:latin typeface="Arial Narrow" pitchFamily="34" charset="0"/>
              </a:rPr>
              <a:t>F</a:t>
            </a:r>
          </a:p>
        </p:txBody>
      </p:sp>
      <p:grpSp>
        <p:nvGrpSpPr>
          <p:cNvPr id="87" name="Grupo 86"/>
          <p:cNvGrpSpPr/>
          <p:nvPr/>
        </p:nvGrpSpPr>
        <p:grpSpPr>
          <a:xfrm>
            <a:off x="2189028" y="2445227"/>
            <a:ext cx="7993136" cy="3525322"/>
            <a:chOff x="665028" y="2445227"/>
            <a:chExt cx="7993136" cy="3525322"/>
          </a:xfrm>
        </p:grpSpPr>
        <p:grpSp>
          <p:nvGrpSpPr>
            <p:cNvPr id="59" name="Grupo 58"/>
            <p:cNvGrpSpPr/>
            <p:nvPr/>
          </p:nvGrpSpPr>
          <p:grpSpPr>
            <a:xfrm>
              <a:off x="665028" y="2564904"/>
              <a:ext cx="7993136" cy="3185343"/>
              <a:chOff x="693664" y="2763937"/>
              <a:chExt cx="5029200" cy="2060861"/>
            </a:xfrm>
          </p:grpSpPr>
          <p:sp>
            <p:nvSpPr>
              <p:cNvPr id="32" name="Oval 1017"/>
              <p:cNvSpPr>
                <a:spLocks noChangeArrowheads="1"/>
              </p:cNvSpPr>
              <p:nvPr/>
            </p:nvSpPr>
            <p:spPr bwMode="auto">
              <a:xfrm>
                <a:off x="693664" y="3725962"/>
                <a:ext cx="274637" cy="274637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PE" sz="2000">
                  <a:latin typeface="Arial Narrow" pitchFamily="34" charset="0"/>
                </a:endParaRPr>
              </a:p>
            </p:txBody>
          </p:sp>
          <p:sp>
            <p:nvSpPr>
              <p:cNvPr id="33" name="Oval 1018"/>
              <p:cNvSpPr>
                <a:spLocks noChangeArrowheads="1"/>
              </p:cNvSpPr>
              <p:nvPr/>
            </p:nvSpPr>
            <p:spPr bwMode="auto">
              <a:xfrm>
                <a:off x="1515989" y="3725962"/>
                <a:ext cx="274637" cy="274637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PE" sz="2000">
                  <a:latin typeface="Arial Narrow" pitchFamily="34" charset="0"/>
                </a:endParaRPr>
              </a:p>
            </p:txBody>
          </p:sp>
          <p:sp>
            <p:nvSpPr>
              <p:cNvPr id="35" name="Oval 1020"/>
              <p:cNvSpPr>
                <a:spLocks noChangeArrowheads="1"/>
              </p:cNvSpPr>
              <p:nvPr/>
            </p:nvSpPr>
            <p:spPr bwMode="auto">
              <a:xfrm>
                <a:off x="2338314" y="4550161"/>
                <a:ext cx="274638" cy="274637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PE" sz="2000">
                  <a:latin typeface="Arial Narrow" pitchFamily="34" charset="0"/>
                </a:endParaRPr>
              </a:p>
            </p:txBody>
          </p:sp>
          <p:sp>
            <p:nvSpPr>
              <p:cNvPr id="36" name="Oval 1021"/>
              <p:cNvSpPr>
                <a:spLocks noChangeArrowheads="1"/>
              </p:cNvSpPr>
              <p:nvPr/>
            </p:nvSpPr>
            <p:spPr bwMode="auto">
              <a:xfrm>
                <a:off x="4012718" y="4513771"/>
                <a:ext cx="274637" cy="274637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PE" sz="2000">
                  <a:latin typeface="Arial Narrow" pitchFamily="34" charset="0"/>
                </a:endParaRPr>
              </a:p>
            </p:txBody>
          </p:sp>
          <p:sp>
            <p:nvSpPr>
              <p:cNvPr id="37" name="Oval 1025"/>
              <p:cNvSpPr>
                <a:spLocks noChangeArrowheads="1"/>
              </p:cNvSpPr>
              <p:nvPr/>
            </p:nvSpPr>
            <p:spPr bwMode="auto">
              <a:xfrm>
                <a:off x="2330376" y="2800449"/>
                <a:ext cx="274638" cy="27463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PE" sz="2000">
                  <a:latin typeface="Arial Narrow" pitchFamily="34" charset="0"/>
                </a:endParaRPr>
              </a:p>
            </p:txBody>
          </p:sp>
          <p:sp>
            <p:nvSpPr>
              <p:cNvPr id="38" name="Oval 1026"/>
              <p:cNvSpPr>
                <a:spLocks noChangeArrowheads="1"/>
              </p:cNvSpPr>
              <p:nvPr/>
            </p:nvSpPr>
            <p:spPr bwMode="auto">
              <a:xfrm>
                <a:off x="5448226" y="2763937"/>
                <a:ext cx="274638" cy="274637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PE" sz="2000">
                  <a:latin typeface="Arial Narrow" pitchFamily="34" charset="0"/>
                </a:endParaRPr>
              </a:p>
            </p:txBody>
          </p:sp>
          <p:sp>
            <p:nvSpPr>
              <p:cNvPr id="39" name="Oval 1027"/>
              <p:cNvSpPr>
                <a:spLocks noChangeArrowheads="1"/>
              </p:cNvSpPr>
              <p:nvPr/>
            </p:nvSpPr>
            <p:spPr bwMode="auto">
              <a:xfrm>
                <a:off x="3976614" y="2800449"/>
                <a:ext cx="274637" cy="27463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PE" sz="2000">
                  <a:latin typeface="Arial Narrow" pitchFamily="34" charset="0"/>
                </a:endParaRPr>
              </a:p>
            </p:txBody>
          </p:sp>
          <p:sp>
            <p:nvSpPr>
              <p:cNvPr id="40" name="Line 1022"/>
              <p:cNvSpPr>
                <a:spLocks noChangeShapeType="1"/>
              </p:cNvSpPr>
              <p:nvPr/>
            </p:nvSpPr>
            <p:spPr bwMode="auto">
              <a:xfrm>
                <a:off x="1722107" y="4010620"/>
                <a:ext cx="683601" cy="593237"/>
              </a:xfrm>
              <a:prstGeom prst="line">
                <a:avLst/>
              </a:prstGeom>
              <a:noFill/>
              <a:ln w="63500" cmpd="dbl">
                <a:solidFill>
                  <a:srgbClr val="FF0000"/>
                </a:solidFill>
                <a:round/>
                <a:headEnd type="none" w="sm" len="med"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PE" sz="2000">
                  <a:latin typeface="Arial Narrow" pitchFamily="34" charset="0"/>
                </a:endParaRPr>
              </a:p>
            </p:txBody>
          </p:sp>
          <p:sp>
            <p:nvSpPr>
              <p:cNvPr id="41" name="Line 1023"/>
              <p:cNvSpPr>
                <a:spLocks noChangeShapeType="1"/>
              </p:cNvSpPr>
              <p:nvPr/>
            </p:nvSpPr>
            <p:spPr bwMode="auto">
              <a:xfrm>
                <a:off x="968301" y="3895316"/>
                <a:ext cx="547688" cy="0"/>
              </a:xfrm>
              <a:prstGeom prst="line">
                <a:avLst/>
              </a:prstGeom>
              <a:noFill/>
              <a:ln w="63500" cmpd="dbl">
                <a:solidFill>
                  <a:srgbClr val="FF0000"/>
                </a:solidFill>
                <a:round/>
                <a:headEnd type="none" w="sm" len="med"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PE" sz="2000" dirty="0">
                  <a:latin typeface="Arial Narrow" pitchFamily="34" charset="0"/>
                </a:endParaRPr>
              </a:p>
            </p:txBody>
          </p:sp>
          <p:sp>
            <p:nvSpPr>
              <p:cNvPr id="42" name="Line 1024"/>
              <p:cNvSpPr>
                <a:spLocks noChangeShapeType="1"/>
              </p:cNvSpPr>
              <p:nvPr/>
            </p:nvSpPr>
            <p:spPr bwMode="auto">
              <a:xfrm flipV="1">
                <a:off x="1808088" y="3879348"/>
                <a:ext cx="522288" cy="0"/>
              </a:xfrm>
              <a:prstGeom prst="line">
                <a:avLst/>
              </a:prstGeom>
              <a:noFill/>
              <a:ln w="63500" cmpd="dbl">
                <a:solidFill>
                  <a:srgbClr val="FF0000"/>
                </a:solidFill>
                <a:round/>
                <a:headEnd type="none" w="sm" len="med"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PE" sz="2000">
                  <a:latin typeface="Arial Narrow" pitchFamily="34" charset="0"/>
                </a:endParaRPr>
              </a:p>
            </p:txBody>
          </p:sp>
          <p:sp>
            <p:nvSpPr>
              <p:cNvPr id="43" name="Line 1028"/>
              <p:cNvSpPr>
                <a:spLocks noChangeShapeType="1"/>
              </p:cNvSpPr>
              <p:nvPr/>
            </p:nvSpPr>
            <p:spPr bwMode="auto">
              <a:xfrm flipV="1">
                <a:off x="1757289" y="3041475"/>
                <a:ext cx="588962" cy="7366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PE" sz="2000">
                  <a:latin typeface="Arial Narrow" pitchFamily="34" charset="0"/>
                </a:endParaRPr>
              </a:p>
            </p:txBody>
          </p:sp>
          <p:sp>
            <p:nvSpPr>
              <p:cNvPr id="44" name="Line 1029"/>
              <p:cNvSpPr>
                <a:spLocks noChangeShapeType="1"/>
              </p:cNvSpPr>
              <p:nvPr/>
            </p:nvSpPr>
            <p:spPr bwMode="auto">
              <a:xfrm flipV="1">
                <a:off x="2628639" y="2934692"/>
                <a:ext cx="134797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PE" sz="2000">
                  <a:latin typeface="Arial Narrow" pitchFamily="34" charset="0"/>
                </a:endParaRPr>
              </a:p>
            </p:txBody>
          </p:sp>
          <p:sp>
            <p:nvSpPr>
              <p:cNvPr id="45" name="Line 1030"/>
              <p:cNvSpPr>
                <a:spLocks noChangeShapeType="1"/>
              </p:cNvSpPr>
              <p:nvPr/>
            </p:nvSpPr>
            <p:spPr bwMode="auto">
              <a:xfrm>
                <a:off x="4251251" y="2934692"/>
                <a:ext cx="1196975" cy="0"/>
              </a:xfrm>
              <a:prstGeom prst="line">
                <a:avLst/>
              </a:prstGeom>
              <a:noFill/>
              <a:ln w="63500" cmpd="dbl">
                <a:solidFill>
                  <a:srgbClr val="FF0000"/>
                </a:solidFill>
                <a:round/>
                <a:headEnd type="none" w="sm" len="med"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PE" sz="2000">
                  <a:latin typeface="Arial Narrow" pitchFamily="34" charset="0"/>
                </a:endParaRPr>
              </a:p>
            </p:txBody>
          </p:sp>
          <p:sp>
            <p:nvSpPr>
              <p:cNvPr id="46" name="Line 1031"/>
              <p:cNvSpPr>
                <a:spLocks noChangeShapeType="1"/>
              </p:cNvSpPr>
              <p:nvPr/>
            </p:nvSpPr>
            <p:spPr bwMode="auto">
              <a:xfrm>
                <a:off x="2636764" y="4687479"/>
                <a:ext cx="1384846" cy="4277"/>
              </a:xfrm>
              <a:prstGeom prst="line">
                <a:avLst/>
              </a:prstGeom>
              <a:noFill/>
              <a:ln w="63500" cmpd="dbl">
                <a:solidFill>
                  <a:srgbClr val="FF0000"/>
                </a:solidFill>
                <a:round/>
                <a:headEnd type="none" w="sm" len="med"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PE" sz="2000">
                  <a:latin typeface="Arial Narrow" pitchFamily="34" charset="0"/>
                </a:endParaRPr>
              </a:p>
            </p:txBody>
          </p:sp>
          <p:sp>
            <p:nvSpPr>
              <p:cNvPr id="47" name="Line 1032"/>
              <p:cNvSpPr>
                <a:spLocks noChangeShapeType="1"/>
              </p:cNvSpPr>
              <p:nvPr/>
            </p:nvSpPr>
            <p:spPr bwMode="auto">
              <a:xfrm flipH="1" flipV="1">
                <a:off x="4114738" y="3112233"/>
                <a:ext cx="11407" cy="1357392"/>
              </a:xfrm>
              <a:prstGeom prst="line">
                <a:avLst/>
              </a:prstGeom>
              <a:noFill/>
              <a:ln w="63500" cmpd="dbl">
                <a:solidFill>
                  <a:srgbClr val="FF0000"/>
                </a:solidFill>
                <a:round/>
                <a:headEnd type="none" w="sm" len="med"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PE" sz="2000">
                  <a:latin typeface="Arial Narrow" pitchFamily="34" charset="0"/>
                </a:endParaRPr>
              </a:p>
            </p:txBody>
          </p:sp>
          <p:sp>
            <p:nvSpPr>
              <p:cNvPr id="48" name="Line 1033"/>
              <p:cNvSpPr>
                <a:spLocks noChangeShapeType="1"/>
              </p:cNvSpPr>
              <p:nvPr/>
            </p:nvSpPr>
            <p:spPr bwMode="auto">
              <a:xfrm>
                <a:off x="2605014" y="3922329"/>
                <a:ext cx="1476130" cy="624755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PE" sz="2000">
                  <a:latin typeface="Arial Narrow" pitchFamily="34" charset="0"/>
                </a:endParaRPr>
              </a:p>
            </p:txBody>
          </p:sp>
          <p:sp>
            <p:nvSpPr>
              <p:cNvPr id="49" name="Line 1034"/>
              <p:cNvSpPr>
                <a:spLocks noChangeShapeType="1"/>
              </p:cNvSpPr>
              <p:nvPr/>
            </p:nvSpPr>
            <p:spPr bwMode="auto">
              <a:xfrm flipV="1">
                <a:off x="2467695" y="3075087"/>
                <a:ext cx="0" cy="6858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PE" sz="2000">
                  <a:latin typeface="Arial Narrow" pitchFamily="34" charset="0"/>
                </a:endParaRPr>
              </a:p>
            </p:txBody>
          </p:sp>
        </p:grpSp>
        <p:sp>
          <p:nvSpPr>
            <p:cNvPr id="60" name="Oval 1025"/>
            <p:cNvSpPr>
              <a:spLocks noChangeArrowheads="1"/>
            </p:cNvSpPr>
            <p:nvPr/>
          </p:nvSpPr>
          <p:spPr bwMode="auto">
            <a:xfrm>
              <a:off x="3301780" y="4051843"/>
              <a:ext cx="436495" cy="424491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2000">
                <a:latin typeface="Arial Narrow" pitchFamily="34" charset="0"/>
              </a:endParaRPr>
            </a:p>
          </p:txBody>
        </p:sp>
        <p:sp>
          <p:nvSpPr>
            <p:cNvPr id="61" name="CuadroTexto 60"/>
            <p:cNvSpPr txBox="1"/>
            <p:nvPr/>
          </p:nvSpPr>
          <p:spPr>
            <a:xfrm>
              <a:off x="3329108" y="2642546"/>
              <a:ext cx="33228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2000" dirty="0">
                  <a:latin typeface="Arial Narrow" pitchFamily="34" charset="0"/>
                </a:rPr>
                <a:t>3</a:t>
              </a:r>
            </a:p>
          </p:txBody>
        </p:sp>
        <p:sp>
          <p:nvSpPr>
            <p:cNvPr id="62" name="CuadroTexto 61"/>
            <p:cNvSpPr txBox="1"/>
            <p:nvPr/>
          </p:nvSpPr>
          <p:spPr>
            <a:xfrm>
              <a:off x="8325875" y="2592482"/>
              <a:ext cx="33228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2000" dirty="0">
                  <a:latin typeface="Arial Narrow" pitchFamily="34" charset="0"/>
                </a:rPr>
                <a:t>7</a:t>
              </a:r>
            </a:p>
          </p:txBody>
        </p:sp>
        <p:sp>
          <p:nvSpPr>
            <p:cNvPr id="63" name="CuadroTexto 62"/>
            <p:cNvSpPr txBox="1"/>
            <p:nvPr/>
          </p:nvSpPr>
          <p:spPr>
            <a:xfrm>
              <a:off x="5954284" y="2642546"/>
              <a:ext cx="33228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2000" dirty="0">
                  <a:latin typeface="Arial Narrow" pitchFamily="34" charset="0"/>
                </a:rPr>
                <a:t>6</a:t>
              </a:r>
            </a:p>
          </p:txBody>
        </p:sp>
        <p:sp>
          <p:nvSpPr>
            <p:cNvPr id="64" name="CuadroTexto 63"/>
            <p:cNvSpPr txBox="1"/>
            <p:nvPr/>
          </p:nvSpPr>
          <p:spPr>
            <a:xfrm>
              <a:off x="6116696" y="5297090"/>
              <a:ext cx="33228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2000" dirty="0">
                  <a:latin typeface="Arial Narrow" pitchFamily="34" charset="0"/>
                </a:rPr>
                <a:t>5</a:t>
              </a:r>
            </a:p>
          </p:txBody>
        </p:sp>
        <p:sp>
          <p:nvSpPr>
            <p:cNvPr id="65" name="CuadroTexto 64"/>
            <p:cNvSpPr txBox="1"/>
            <p:nvPr/>
          </p:nvSpPr>
          <p:spPr>
            <a:xfrm>
              <a:off x="3353882" y="5359947"/>
              <a:ext cx="33228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2000" dirty="0">
                  <a:latin typeface="Arial Narrow" pitchFamily="34" charset="0"/>
                </a:rPr>
                <a:t>4</a:t>
              </a:r>
            </a:p>
          </p:txBody>
        </p:sp>
        <p:sp>
          <p:nvSpPr>
            <p:cNvPr id="66" name="CuadroTexto 65"/>
            <p:cNvSpPr txBox="1"/>
            <p:nvPr/>
          </p:nvSpPr>
          <p:spPr>
            <a:xfrm>
              <a:off x="3370461" y="4059972"/>
              <a:ext cx="33228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2000" dirty="0">
                  <a:latin typeface="Arial Narrow" pitchFamily="34" charset="0"/>
                </a:rPr>
                <a:t>2</a:t>
              </a:r>
            </a:p>
          </p:txBody>
        </p:sp>
        <p:sp>
          <p:nvSpPr>
            <p:cNvPr id="67" name="CuadroTexto 66"/>
            <p:cNvSpPr txBox="1"/>
            <p:nvPr/>
          </p:nvSpPr>
          <p:spPr>
            <a:xfrm>
              <a:off x="2052233" y="4078902"/>
              <a:ext cx="33228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2000" dirty="0">
                  <a:latin typeface="Arial Narrow" pitchFamily="34" charset="0"/>
                </a:rPr>
                <a:t>1</a:t>
              </a:r>
            </a:p>
          </p:txBody>
        </p:sp>
        <p:sp>
          <p:nvSpPr>
            <p:cNvPr id="68" name="CuadroTexto 67"/>
            <p:cNvSpPr txBox="1"/>
            <p:nvPr/>
          </p:nvSpPr>
          <p:spPr>
            <a:xfrm>
              <a:off x="738549" y="4079422"/>
              <a:ext cx="33228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2000" dirty="0">
                  <a:latin typeface="Arial Narrow" pitchFamily="34" charset="0"/>
                </a:rPr>
                <a:t>0</a:t>
              </a:r>
            </a:p>
          </p:txBody>
        </p:sp>
        <p:sp>
          <p:nvSpPr>
            <p:cNvPr id="69" name="CuadroTexto 68"/>
            <p:cNvSpPr txBox="1"/>
            <p:nvPr/>
          </p:nvSpPr>
          <p:spPr>
            <a:xfrm>
              <a:off x="1327698" y="3944273"/>
              <a:ext cx="3768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2000" dirty="0">
                  <a:latin typeface="Arial Narrow" pitchFamily="34" charset="0"/>
                </a:rPr>
                <a:t>A</a:t>
              </a:r>
            </a:p>
          </p:txBody>
        </p:sp>
        <p:sp>
          <p:nvSpPr>
            <p:cNvPr id="70" name="CuadroTexto 69"/>
            <p:cNvSpPr txBox="1"/>
            <p:nvPr/>
          </p:nvSpPr>
          <p:spPr>
            <a:xfrm>
              <a:off x="1261065" y="4355358"/>
              <a:ext cx="6041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2000" dirty="0">
                  <a:latin typeface="Arial Narrow" pitchFamily="34" charset="0"/>
                </a:rPr>
                <a:t>30</a:t>
              </a:r>
            </a:p>
          </p:txBody>
        </p:sp>
        <p:sp>
          <p:nvSpPr>
            <p:cNvPr id="72" name="CuadroTexto 71"/>
            <p:cNvSpPr txBox="1"/>
            <p:nvPr/>
          </p:nvSpPr>
          <p:spPr>
            <a:xfrm>
              <a:off x="4717519" y="5112424"/>
              <a:ext cx="3768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2000" dirty="0">
                  <a:latin typeface="Arial Narrow" pitchFamily="34" charset="0"/>
                </a:rPr>
                <a:t>E</a:t>
              </a:r>
            </a:p>
          </p:txBody>
        </p:sp>
        <p:sp>
          <p:nvSpPr>
            <p:cNvPr id="73" name="CuadroTexto 72"/>
            <p:cNvSpPr txBox="1"/>
            <p:nvPr/>
          </p:nvSpPr>
          <p:spPr>
            <a:xfrm>
              <a:off x="2722800" y="5076107"/>
              <a:ext cx="3768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2000" dirty="0">
                  <a:latin typeface="Arial Narrow" pitchFamily="34" charset="0"/>
                </a:rPr>
                <a:t>D</a:t>
              </a:r>
            </a:p>
          </p:txBody>
        </p:sp>
        <p:sp>
          <p:nvSpPr>
            <p:cNvPr id="74" name="CuadroTexto 73"/>
            <p:cNvSpPr txBox="1"/>
            <p:nvPr/>
          </p:nvSpPr>
          <p:spPr>
            <a:xfrm>
              <a:off x="4604359" y="2454741"/>
              <a:ext cx="3768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2000" dirty="0">
                  <a:latin typeface="Arial Narrow" pitchFamily="34" charset="0"/>
                </a:rPr>
                <a:t>C</a:t>
              </a:r>
            </a:p>
          </p:txBody>
        </p:sp>
        <p:sp>
          <p:nvSpPr>
            <p:cNvPr id="75" name="CuadroTexto 74"/>
            <p:cNvSpPr txBox="1"/>
            <p:nvPr/>
          </p:nvSpPr>
          <p:spPr>
            <a:xfrm>
              <a:off x="2464770" y="3103244"/>
              <a:ext cx="5471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2000" dirty="0">
                  <a:latin typeface="Arial Narrow" pitchFamily="34" charset="0"/>
                </a:rPr>
                <a:t>B</a:t>
              </a:r>
            </a:p>
          </p:txBody>
        </p:sp>
        <p:sp>
          <p:nvSpPr>
            <p:cNvPr id="78" name="CuadroTexto 77"/>
            <p:cNvSpPr txBox="1"/>
            <p:nvPr/>
          </p:nvSpPr>
          <p:spPr>
            <a:xfrm>
              <a:off x="7220096" y="2445227"/>
              <a:ext cx="3768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2000" dirty="0">
                  <a:latin typeface="Arial Narrow" pitchFamily="34" charset="0"/>
                </a:rPr>
                <a:t>H</a:t>
              </a:r>
            </a:p>
          </p:txBody>
        </p:sp>
        <p:sp>
          <p:nvSpPr>
            <p:cNvPr id="79" name="CuadroTexto 78"/>
            <p:cNvSpPr txBox="1"/>
            <p:nvPr/>
          </p:nvSpPr>
          <p:spPr>
            <a:xfrm>
              <a:off x="2638425" y="3944273"/>
              <a:ext cx="376875" cy="4001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rtlCol="0">
              <a:spAutoFit/>
            </a:bodyPr>
            <a:lstStyle/>
            <a:p>
              <a:r>
                <a:rPr lang="es-PE" sz="2000">
                  <a:latin typeface="Arial Narrow" pitchFamily="34" charset="0"/>
                </a:rPr>
                <a:t>G</a:t>
              </a:r>
              <a:endParaRPr lang="es-PE" sz="2000" dirty="0">
                <a:latin typeface="Arial Narrow" pitchFamily="34" charset="0"/>
              </a:endParaRPr>
            </a:p>
          </p:txBody>
        </p:sp>
        <p:sp>
          <p:nvSpPr>
            <p:cNvPr id="80" name="CuadroTexto 79"/>
            <p:cNvSpPr txBox="1"/>
            <p:nvPr/>
          </p:nvSpPr>
          <p:spPr>
            <a:xfrm>
              <a:off x="2638425" y="4335740"/>
              <a:ext cx="9082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2000" dirty="0">
                  <a:latin typeface="Arial Narrow" pitchFamily="34" charset="0"/>
                </a:rPr>
                <a:t>14</a:t>
              </a:r>
            </a:p>
          </p:txBody>
        </p:sp>
        <p:sp>
          <p:nvSpPr>
            <p:cNvPr id="81" name="CuadroTexto 80"/>
            <p:cNvSpPr txBox="1"/>
            <p:nvPr/>
          </p:nvSpPr>
          <p:spPr>
            <a:xfrm>
              <a:off x="4494362" y="5570439"/>
              <a:ext cx="8997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PE" sz="2000" dirty="0">
                  <a:latin typeface="Arial Narrow" pitchFamily="34" charset="0"/>
                </a:rPr>
                <a:t>10</a:t>
              </a:r>
            </a:p>
          </p:txBody>
        </p:sp>
        <p:sp>
          <p:nvSpPr>
            <p:cNvPr id="82" name="CuadroTexto 81"/>
            <p:cNvSpPr txBox="1"/>
            <p:nvPr/>
          </p:nvSpPr>
          <p:spPr>
            <a:xfrm>
              <a:off x="2464770" y="4816480"/>
              <a:ext cx="298939" cy="4001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rtlCol="0">
              <a:spAutoFit/>
            </a:bodyPr>
            <a:lstStyle/>
            <a:p>
              <a:r>
                <a:rPr lang="es-PE" sz="2000">
                  <a:latin typeface="Arial Narrow" pitchFamily="34" charset="0"/>
                </a:rPr>
                <a:t>5</a:t>
              </a:r>
              <a:endParaRPr lang="es-PE" sz="2000" dirty="0">
                <a:latin typeface="Arial Narrow" pitchFamily="34" charset="0"/>
              </a:endParaRPr>
            </a:p>
          </p:txBody>
        </p:sp>
        <p:sp>
          <p:nvSpPr>
            <p:cNvPr id="83" name="CuadroTexto 82"/>
            <p:cNvSpPr txBox="1"/>
            <p:nvPr/>
          </p:nvSpPr>
          <p:spPr>
            <a:xfrm>
              <a:off x="4589386" y="2828829"/>
              <a:ext cx="4068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2000" dirty="0">
                  <a:latin typeface="Arial Narrow" pitchFamily="34" charset="0"/>
                </a:rPr>
                <a:t>4</a:t>
              </a:r>
            </a:p>
          </p:txBody>
        </p:sp>
        <p:sp>
          <p:nvSpPr>
            <p:cNvPr id="85" name="CuadroTexto 84"/>
            <p:cNvSpPr txBox="1"/>
            <p:nvPr/>
          </p:nvSpPr>
          <p:spPr>
            <a:xfrm>
              <a:off x="7220096" y="2844226"/>
              <a:ext cx="63830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2000" dirty="0">
                  <a:latin typeface="Arial Narrow" pitchFamily="34" charset="0"/>
                </a:rPr>
                <a:t>2</a:t>
              </a:r>
            </a:p>
          </p:txBody>
        </p:sp>
        <p:sp>
          <p:nvSpPr>
            <p:cNvPr id="86" name="CuadroTexto 85"/>
            <p:cNvSpPr txBox="1"/>
            <p:nvPr/>
          </p:nvSpPr>
          <p:spPr>
            <a:xfrm>
              <a:off x="6282840" y="3940961"/>
              <a:ext cx="8997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2000" dirty="0">
                  <a:latin typeface="Arial Narrow" pitchFamily="34" charset="0"/>
                </a:rPr>
                <a:t>8</a:t>
              </a:r>
            </a:p>
          </p:txBody>
        </p:sp>
      </p:grpSp>
      <p:sp>
        <p:nvSpPr>
          <p:cNvPr id="76" name="CuadroTexto 82"/>
          <p:cNvSpPr txBox="1"/>
          <p:nvPr/>
        </p:nvSpPr>
        <p:spPr>
          <a:xfrm>
            <a:off x="4332556" y="3411415"/>
            <a:ext cx="4068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000" dirty="0">
                <a:latin typeface="Arial Narrow" pitchFamily="34" charset="0"/>
              </a:rPr>
              <a:t>6</a:t>
            </a:r>
          </a:p>
        </p:txBody>
      </p:sp>
      <p:sp>
        <p:nvSpPr>
          <p:cNvPr id="5" name="4 CuadroTexto"/>
          <p:cNvSpPr txBox="1"/>
          <p:nvPr/>
        </p:nvSpPr>
        <p:spPr>
          <a:xfrm>
            <a:off x="5879976" y="4313605"/>
            <a:ext cx="1152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latin typeface="Arial Narrow" pitchFamily="34" charset="0"/>
              </a:rPr>
              <a:t>Figurada</a:t>
            </a:r>
            <a:endParaRPr lang="es-PE" sz="2000" dirty="0">
              <a:latin typeface="Arial Narrow" pitchFamily="34" charset="0"/>
            </a:endParaRPr>
          </a:p>
        </p:txBody>
      </p:sp>
      <p:sp>
        <p:nvSpPr>
          <p:cNvPr id="53" name="52 CuadroTexto"/>
          <p:cNvSpPr txBox="1"/>
          <p:nvPr/>
        </p:nvSpPr>
        <p:spPr>
          <a:xfrm>
            <a:off x="4963149" y="3378469"/>
            <a:ext cx="1152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latin typeface="Arial Narrow" pitchFamily="34" charset="0"/>
              </a:rPr>
              <a:t>Figurada</a:t>
            </a:r>
            <a:endParaRPr lang="es-PE" sz="2000" dirty="0">
              <a:latin typeface="Arial Narrow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C1B0034-AC8D-2CF6-0033-D85560D45FAD}"/>
              </a:ext>
            </a:extLst>
          </p:cNvPr>
          <p:cNvSpPr/>
          <p:nvPr/>
        </p:nvSpPr>
        <p:spPr>
          <a:xfrm>
            <a:off x="6096000" y="136525"/>
            <a:ext cx="6096000" cy="57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spcFirstLastPara="1"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5800"/>
              </a:lnSpc>
              <a:spcBef>
                <a:spcPct val="0"/>
              </a:spcBef>
            </a:pPr>
            <a:r>
              <a:rPr lang="es-PE" sz="3200" dirty="0">
                <a:solidFill>
                  <a:schemeClr val="bg1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Bauhaus 93" pitchFamily="82" charset="0"/>
              </a:rPr>
              <a:t>Técnica de choque</a:t>
            </a:r>
          </a:p>
        </p:txBody>
      </p:sp>
    </p:spTree>
    <p:extLst>
      <p:ext uri="{BB962C8B-B14F-4D97-AF65-F5344CB8AC3E}">
        <p14:creationId xmlns:p14="http://schemas.microsoft.com/office/powerpoint/2010/main" val="234114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ANIVAL TORRE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7123F-EA94-4AF6-90FD-8402484B591B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1" name="CuadroTexto 70"/>
          <p:cNvSpPr txBox="1"/>
          <p:nvPr/>
        </p:nvSpPr>
        <p:spPr>
          <a:xfrm>
            <a:off x="7311369" y="3940961"/>
            <a:ext cx="3768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000" dirty="0">
                <a:latin typeface="Arial Narrow" pitchFamily="34" charset="0"/>
              </a:rPr>
              <a:t>F</a:t>
            </a:r>
          </a:p>
        </p:txBody>
      </p:sp>
      <p:grpSp>
        <p:nvGrpSpPr>
          <p:cNvPr id="87" name="Grupo 86"/>
          <p:cNvGrpSpPr/>
          <p:nvPr/>
        </p:nvGrpSpPr>
        <p:grpSpPr>
          <a:xfrm>
            <a:off x="2165072" y="2445227"/>
            <a:ext cx="8118161" cy="3525322"/>
            <a:chOff x="641071" y="2445227"/>
            <a:chExt cx="8118161" cy="3525322"/>
          </a:xfrm>
        </p:grpSpPr>
        <p:grpSp>
          <p:nvGrpSpPr>
            <p:cNvPr id="59" name="Grupo 58"/>
            <p:cNvGrpSpPr/>
            <p:nvPr/>
          </p:nvGrpSpPr>
          <p:grpSpPr>
            <a:xfrm>
              <a:off x="665028" y="2564904"/>
              <a:ext cx="7993136" cy="3185343"/>
              <a:chOff x="693664" y="2763937"/>
              <a:chExt cx="5029200" cy="2060861"/>
            </a:xfrm>
          </p:grpSpPr>
          <p:sp>
            <p:nvSpPr>
              <p:cNvPr id="32" name="Oval 1017"/>
              <p:cNvSpPr>
                <a:spLocks noChangeArrowheads="1"/>
              </p:cNvSpPr>
              <p:nvPr/>
            </p:nvSpPr>
            <p:spPr bwMode="auto">
              <a:xfrm>
                <a:off x="693664" y="3725962"/>
                <a:ext cx="274637" cy="274637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PE" sz="2000">
                  <a:latin typeface="Arial Narrow" pitchFamily="34" charset="0"/>
                </a:endParaRPr>
              </a:p>
            </p:txBody>
          </p:sp>
          <p:sp>
            <p:nvSpPr>
              <p:cNvPr id="33" name="Oval 1018"/>
              <p:cNvSpPr>
                <a:spLocks noChangeArrowheads="1"/>
              </p:cNvSpPr>
              <p:nvPr/>
            </p:nvSpPr>
            <p:spPr bwMode="auto">
              <a:xfrm>
                <a:off x="1515989" y="3725962"/>
                <a:ext cx="274637" cy="274637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PE" sz="2000">
                  <a:latin typeface="Arial Narrow" pitchFamily="34" charset="0"/>
                </a:endParaRPr>
              </a:p>
            </p:txBody>
          </p:sp>
          <p:sp>
            <p:nvSpPr>
              <p:cNvPr id="35" name="Oval 1020"/>
              <p:cNvSpPr>
                <a:spLocks noChangeArrowheads="1"/>
              </p:cNvSpPr>
              <p:nvPr/>
            </p:nvSpPr>
            <p:spPr bwMode="auto">
              <a:xfrm>
                <a:off x="2338314" y="4550161"/>
                <a:ext cx="274638" cy="274637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PE" sz="2000">
                  <a:latin typeface="Arial Narrow" pitchFamily="34" charset="0"/>
                </a:endParaRPr>
              </a:p>
            </p:txBody>
          </p:sp>
          <p:sp>
            <p:nvSpPr>
              <p:cNvPr id="36" name="Oval 1021"/>
              <p:cNvSpPr>
                <a:spLocks noChangeArrowheads="1"/>
              </p:cNvSpPr>
              <p:nvPr/>
            </p:nvSpPr>
            <p:spPr bwMode="auto">
              <a:xfrm>
                <a:off x="4012718" y="4513771"/>
                <a:ext cx="274637" cy="274637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PE" sz="2000">
                  <a:latin typeface="Arial Narrow" pitchFamily="34" charset="0"/>
                </a:endParaRPr>
              </a:p>
            </p:txBody>
          </p:sp>
          <p:sp>
            <p:nvSpPr>
              <p:cNvPr id="37" name="Oval 1025"/>
              <p:cNvSpPr>
                <a:spLocks noChangeArrowheads="1"/>
              </p:cNvSpPr>
              <p:nvPr/>
            </p:nvSpPr>
            <p:spPr bwMode="auto">
              <a:xfrm>
                <a:off x="2330376" y="2800449"/>
                <a:ext cx="274638" cy="27463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PE" sz="2000">
                  <a:latin typeface="Arial Narrow" pitchFamily="34" charset="0"/>
                </a:endParaRPr>
              </a:p>
            </p:txBody>
          </p:sp>
          <p:sp>
            <p:nvSpPr>
              <p:cNvPr id="38" name="Oval 1026"/>
              <p:cNvSpPr>
                <a:spLocks noChangeArrowheads="1"/>
              </p:cNvSpPr>
              <p:nvPr/>
            </p:nvSpPr>
            <p:spPr bwMode="auto">
              <a:xfrm>
                <a:off x="5448226" y="2763937"/>
                <a:ext cx="274638" cy="274637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PE" sz="2000">
                  <a:latin typeface="Arial Narrow" pitchFamily="34" charset="0"/>
                </a:endParaRPr>
              </a:p>
            </p:txBody>
          </p:sp>
          <p:sp>
            <p:nvSpPr>
              <p:cNvPr id="39" name="Oval 1027"/>
              <p:cNvSpPr>
                <a:spLocks noChangeArrowheads="1"/>
              </p:cNvSpPr>
              <p:nvPr/>
            </p:nvSpPr>
            <p:spPr bwMode="auto">
              <a:xfrm>
                <a:off x="3976614" y="2800449"/>
                <a:ext cx="274637" cy="27463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PE" sz="2000">
                  <a:latin typeface="Arial Narrow" pitchFamily="34" charset="0"/>
                </a:endParaRPr>
              </a:p>
            </p:txBody>
          </p:sp>
          <p:sp>
            <p:nvSpPr>
              <p:cNvPr id="40" name="Line 1022"/>
              <p:cNvSpPr>
                <a:spLocks noChangeShapeType="1"/>
              </p:cNvSpPr>
              <p:nvPr/>
            </p:nvSpPr>
            <p:spPr bwMode="auto">
              <a:xfrm>
                <a:off x="1722107" y="4010620"/>
                <a:ext cx="683601" cy="593237"/>
              </a:xfrm>
              <a:prstGeom prst="line">
                <a:avLst/>
              </a:prstGeom>
              <a:noFill/>
              <a:ln w="63500" cmpd="dbl">
                <a:solidFill>
                  <a:srgbClr val="FF0000"/>
                </a:solidFill>
                <a:round/>
                <a:headEnd type="none" w="sm" len="med"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PE" sz="2000">
                  <a:latin typeface="Arial Narrow" pitchFamily="34" charset="0"/>
                </a:endParaRPr>
              </a:p>
            </p:txBody>
          </p:sp>
          <p:sp>
            <p:nvSpPr>
              <p:cNvPr id="41" name="Line 1023"/>
              <p:cNvSpPr>
                <a:spLocks noChangeShapeType="1"/>
              </p:cNvSpPr>
              <p:nvPr/>
            </p:nvSpPr>
            <p:spPr bwMode="auto">
              <a:xfrm>
                <a:off x="968301" y="3895316"/>
                <a:ext cx="547688" cy="0"/>
              </a:xfrm>
              <a:prstGeom prst="line">
                <a:avLst/>
              </a:prstGeom>
              <a:noFill/>
              <a:ln w="63500" cmpd="dbl">
                <a:solidFill>
                  <a:srgbClr val="FF0000"/>
                </a:solidFill>
                <a:round/>
                <a:headEnd type="none" w="sm" len="med"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PE" sz="2000" dirty="0">
                  <a:latin typeface="Arial Narrow" pitchFamily="34" charset="0"/>
                </a:endParaRPr>
              </a:p>
            </p:txBody>
          </p:sp>
          <p:sp>
            <p:nvSpPr>
              <p:cNvPr id="42" name="Line 1024"/>
              <p:cNvSpPr>
                <a:spLocks noChangeShapeType="1"/>
              </p:cNvSpPr>
              <p:nvPr/>
            </p:nvSpPr>
            <p:spPr bwMode="auto">
              <a:xfrm flipV="1">
                <a:off x="1808088" y="3879348"/>
                <a:ext cx="522288" cy="0"/>
              </a:xfrm>
              <a:prstGeom prst="line">
                <a:avLst/>
              </a:prstGeom>
              <a:noFill/>
              <a:ln w="63500" cmpd="dbl">
                <a:solidFill>
                  <a:srgbClr val="FF0000"/>
                </a:solidFill>
                <a:round/>
                <a:headEnd type="none" w="sm" len="med"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PE" sz="2000">
                  <a:latin typeface="Arial Narrow" pitchFamily="34" charset="0"/>
                </a:endParaRPr>
              </a:p>
            </p:txBody>
          </p:sp>
          <p:sp>
            <p:nvSpPr>
              <p:cNvPr id="43" name="Line 1028"/>
              <p:cNvSpPr>
                <a:spLocks noChangeShapeType="1"/>
              </p:cNvSpPr>
              <p:nvPr/>
            </p:nvSpPr>
            <p:spPr bwMode="auto">
              <a:xfrm flipV="1">
                <a:off x="1757289" y="3041475"/>
                <a:ext cx="588962" cy="7366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PE" sz="2000">
                  <a:latin typeface="Arial Narrow" pitchFamily="34" charset="0"/>
                </a:endParaRPr>
              </a:p>
            </p:txBody>
          </p:sp>
          <p:sp>
            <p:nvSpPr>
              <p:cNvPr id="44" name="Line 1029"/>
              <p:cNvSpPr>
                <a:spLocks noChangeShapeType="1"/>
              </p:cNvSpPr>
              <p:nvPr/>
            </p:nvSpPr>
            <p:spPr bwMode="auto">
              <a:xfrm flipV="1">
                <a:off x="2628639" y="2934692"/>
                <a:ext cx="134797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PE" sz="2000">
                  <a:latin typeface="Arial Narrow" pitchFamily="34" charset="0"/>
                </a:endParaRPr>
              </a:p>
            </p:txBody>
          </p:sp>
          <p:sp>
            <p:nvSpPr>
              <p:cNvPr id="45" name="Line 1030"/>
              <p:cNvSpPr>
                <a:spLocks noChangeShapeType="1"/>
              </p:cNvSpPr>
              <p:nvPr/>
            </p:nvSpPr>
            <p:spPr bwMode="auto">
              <a:xfrm>
                <a:off x="4251251" y="2934692"/>
                <a:ext cx="1196975" cy="0"/>
              </a:xfrm>
              <a:prstGeom prst="line">
                <a:avLst/>
              </a:prstGeom>
              <a:noFill/>
              <a:ln w="63500" cmpd="dbl">
                <a:solidFill>
                  <a:srgbClr val="FF0000"/>
                </a:solidFill>
                <a:round/>
                <a:headEnd type="none" w="sm" len="med"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PE" sz="2000">
                  <a:latin typeface="Arial Narrow" pitchFamily="34" charset="0"/>
                </a:endParaRPr>
              </a:p>
            </p:txBody>
          </p:sp>
          <p:sp>
            <p:nvSpPr>
              <p:cNvPr id="46" name="Line 1031"/>
              <p:cNvSpPr>
                <a:spLocks noChangeShapeType="1"/>
              </p:cNvSpPr>
              <p:nvPr/>
            </p:nvSpPr>
            <p:spPr bwMode="auto">
              <a:xfrm>
                <a:off x="2636764" y="4687479"/>
                <a:ext cx="1384846" cy="4277"/>
              </a:xfrm>
              <a:prstGeom prst="line">
                <a:avLst/>
              </a:prstGeom>
              <a:noFill/>
              <a:ln w="63500" cmpd="dbl">
                <a:solidFill>
                  <a:srgbClr val="FF0000"/>
                </a:solidFill>
                <a:round/>
                <a:headEnd type="none" w="sm" len="med"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PE" sz="2000">
                  <a:latin typeface="Arial Narrow" pitchFamily="34" charset="0"/>
                </a:endParaRPr>
              </a:p>
            </p:txBody>
          </p:sp>
          <p:sp>
            <p:nvSpPr>
              <p:cNvPr id="47" name="Line 1032"/>
              <p:cNvSpPr>
                <a:spLocks noChangeShapeType="1"/>
              </p:cNvSpPr>
              <p:nvPr/>
            </p:nvSpPr>
            <p:spPr bwMode="auto">
              <a:xfrm flipH="1" flipV="1">
                <a:off x="4114738" y="3112233"/>
                <a:ext cx="11407" cy="1357392"/>
              </a:xfrm>
              <a:prstGeom prst="line">
                <a:avLst/>
              </a:prstGeom>
              <a:noFill/>
              <a:ln w="63500" cmpd="dbl">
                <a:solidFill>
                  <a:srgbClr val="FF0000"/>
                </a:solidFill>
                <a:round/>
                <a:headEnd type="none" w="sm" len="med"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PE" sz="2000">
                  <a:latin typeface="Arial Narrow" pitchFamily="34" charset="0"/>
                </a:endParaRPr>
              </a:p>
            </p:txBody>
          </p:sp>
          <p:sp>
            <p:nvSpPr>
              <p:cNvPr id="48" name="Line 1033"/>
              <p:cNvSpPr>
                <a:spLocks noChangeShapeType="1"/>
              </p:cNvSpPr>
              <p:nvPr/>
            </p:nvSpPr>
            <p:spPr bwMode="auto">
              <a:xfrm>
                <a:off x="2605014" y="3922329"/>
                <a:ext cx="1476130" cy="624755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PE" sz="2000">
                  <a:latin typeface="Arial Narrow" pitchFamily="34" charset="0"/>
                </a:endParaRPr>
              </a:p>
            </p:txBody>
          </p:sp>
          <p:sp>
            <p:nvSpPr>
              <p:cNvPr id="49" name="Line 1034"/>
              <p:cNvSpPr>
                <a:spLocks noChangeShapeType="1"/>
              </p:cNvSpPr>
              <p:nvPr/>
            </p:nvSpPr>
            <p:spPr bwMode="auto">
              <a:xfrm flipV="1">
                <a:off x="2467695" y="3075087"/>
                <a:ext cx="0" cy="6858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PE" sz="2000">
                  <a:latin typeface="Arial Narrow" pitchFamily="34" charset="0"/>
                </a:endParaRPr>
              </a:p>
            </p:txBody>
          </p:sp>
        </p:grpSp>
        <p:sp>
          <p:nvSpPr>
            <p:cNvPr id="60" name="Oval 1025"/>
            <p:cNvSpPr>
              <a:spLocks noChangeArrowheads="1"/>
            </p:cNvSpPr>
            <p:nvPr/>
          </p:nvSpPr>
          <p:spPr bwMode="auto">
            <a:xfrm>
              <a:off x="3301780" y="4051843"/>
              <a:ext cx="436495" cy="424491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sz="2000">
                <a:latin typeface="Arial Narrow" pitchFamily="34" charset="0"/>
              </a:endParaRPr>
            </a:p>
          </p:txBody>
        </p:sp>
        <p:sp>
          <p:nvSpPr>
            <p:cNvPr id="61" name="CuadroTexto 60"/>
            <p:cNvSpPr txBox="1"/>
            <p:nvPr/>
          </p:nvSpPr>
          <p:spPr>
            <a:xfrm>
              <a:off x="3233640" y="2642546"/>
              <a:ext cx="481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2000" dirty="0" err="1">
                  <a:latin typeface="Arial Narrow" pitchFamily="34" charset="0"/>
                </a:rPr>
                <a:t>X3</a:t>
              </a:r>
              <a:endParaRPr lang="es-PE" sz="2000" dirty="0">
                <a:latin typeface="Arial Narrow" pitchFamily="34" charset="0"/>
              </a:endParaRPr>
            </a:p>
          </p:txBody>
        </p:sp>
        <p:sp>
          <p:nvSpPr>
            <p:cNvPr id="62" name="CuadroTexto 61"/>
            <p:cNvSpPr txBox="1"/>
            <p:nvPr/>
          </p:nvSpPr>
          <p:spPr>
            <a:xfrm>
              <a:off x="8252250" y="2592482"/>
              <a:ext cx="5069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2000" dirty="0" err="1">
                  <a:latin typeface="Arial Narrow" pitchFamily="34" charset="0"/>
                </a:rPr>
                <a:t>X7</a:t>
              </a:r>
              <a:endParaRPr lang="es-PE" sz="2000" dirty="0">
                <a:latin typeface="Arial Narrow" pitchFamily="34" charset="0"/>
              </a:endParaRPr>
            </a:p>
          </p:txBody>
        </p:sp>
        <p:sp>
          <p:nvSpPr>
            <p:cNvPr id="63" name="CuadroTexto 62"/>
            <p:cNvSpPr txBox="1"/>
            <p:nvPr/>
          </p:nvSpPr>
          <p:spPr>
            <a:xfrm>
              <a:off x="5850078" y="2642546"/>
              <a:ext cx="5265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2000" dirty="0" err="1">
                  <a:latin typeface="Arial Narrow" pitchFamily="34" charset="0"/>
                </a:rPr>
                <a:t>X6</a:t>
              </a:r>
              <a:endParaRPr lang="es-PE" sz="2000" dirty="0">
                <a:latin typeface="Arial Narrow" pitchFamily="34" charset="0"/>
              </a:endParaRPr>
            </a:p>
          </p:txBody>
        </p:sp>
        <p:sp>
          <p:nvSpPr>
            <p:cNvPr id="64" name="CuadroTexto 63"/>
            <p:cNvSpPr txBox="1"/>
            <p:nvPr/>
          </p:nvSpPr>
          <p:spPr>
            <a:xfrm>
              <a:off x="5954284" y="5297090"/>
              <a:ext cx="4947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2000" dirty="0" err="1">
                  <a:latin typeface="Arial Narrow" pitchFamily="34" charset="0"/>
                </a:rPr>
                <a:t>X5</a:t>
              </a:r>
              <a:endParaRPr lang="es-PE" sz="2000" dirty="0">
                <a:latin typeface="Arial Narrow" pitchFamily="34" charset="0"/>
              </a:endParaRPr>
            </a:p>
          </p:txBody>
        </p:sp>
        <p:sp>
          <p:nvSpPr>
            <p:cNvPr id="65" name="CuadroTexto 64"/>
            <p:cNvSpPr txBox="1"/>
            <p:nvPr/>
          </p:nvSpPr>
          <p:spPr>
            <a:xfrm>
              <a:off x="3275825" y="5359947"/>
              <a:ext cx="50078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2000" dirty="0" err="1">
                  <a:latin typeface="Arial Narrow" pitchFamily="34" charset="0"/>
                </a:rPr>
                <a:t>X4</a:t>
              </a:r>
              <a:endParaRPr lang="es-PE" sz="2000" dirty="0">
                <a:latin typeface="Arial Narrow" pitchFamily="34" charset="0"/>
              </a:endParaRPr>
            </a:p>
          </p:txBody>
        </p:sp>
        <p:sp>
          <p:nvSpPr>
            <p:cNvPr id="66" name="CuadroTexto 65"/>
            <p:cNvSpPr txBox="1"/>
            <p:nvPr/>
          </p:nvSpPr>
          <p:spPr>
            <a:xfrm>
              <a:off x="3275825" y="4059972"/>
              <a:ext cx="5007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2000" dirty="0" err="1">
                  <a:latin typeface="Arial Narrow" pitchFamily="34" charset="0"/>
                </a:rPr>
                <a:t>X2</a:t>
              </a:r>
              <a:endParaRPr lang="es-PE" sz="2000" dirty="0">
                <a:latin typeface="Arial Narrow" pitchFamily="34" charset="0"/>
              </a:endParaRPr>
            </a:p>
          </p:txBody>
        </p:sp>
        <p:sp>
          <p:nvSpPr>
            <p:cNvPr id="67" name="CuadroTexto 66"/>
            <p:cNvSpPr txBox="1"/>
            <p:nvPr/>
          </p:nvSpPr>
          <p:spPr>
            <a:xfrm>
              <a:off x="1970196" y="4078902"/>
              <a:ext cx="49457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2000" dirty="0" err="1">
                  <a:latin typeface="Arial Narrow" pitchFamily="34" charset="0"/>
                </a:rPr>
                <a:t>X1</a:t>
              </a:r>
              <a:endParaRPr lang="es-PE" sz="2000" dirty="0">
                <a:latin typeface="Arial Narrow" pitchFamily="34" charset="0"/>
              </a:endParaRPr>
            </a:p>
          </p:txBody>
        </p:sp>
        <p:sp>
          <p:nvSpPr>
            <p:cNvPr id="68" name="CuadroTexto 67"/>
            <p:cNvSpPr txBox="1"/>
            <p:nvPr/>
          </p:nvSpPr>
          <p:spPr>
            <a:xfrm>
              <a:off x="641071" y="4079422"/>
              <a:ext cx="48640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2000" dirty="0" err="1">
                  <a:latin typeface="Arial Narrow" pitchFamily="34" charset="0"/>
                </a:rPr>
                <a:t>X0</a:t>
              </a:r>
              <a:endParaRPr lang="es-PE" sz="2000" dirty="0">
                <a:latin typeface="Arial Narrow" pitchFamily="34" charset="0"/>
              </a:endParaRPr>
            </a:p>
          </p:txBody>
        </p:sp>
        <p:sp>
          <p:nvSpPr>
            <p:cNvPr id="69" name="CuadroTexto 68"/>
            <p:cNvSpPr txBox="1"/>
            <p:nvPr/>
          </p:nvSpPr>
          <p:spPr>
            <a:xfrm>
              <a:off x="1327698" y="3944273"/>
              <a:ext cx="3768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2000" dirty="0">
                  <a:latin typeface="Arial Narrow" pitchFamily="34" charset="0"/>
                </a:rPr>
                <a:t>A</a:t>
              </a:r>
            </a:p>
          </p:txBody>
        </p:sp>
        <p:sp>
          <p:nvSpPr>
            <p:cNvPr id="70" name="CuadroTexto 69"/>
            <p:cNvSpPr txBox="1"/>
            <p:nvPr/>
          </p:nvSpPr>
          <p:spPr>
            <a:xfrm>
              <a:off x="1261064" y="4355358"/>
              <a:ext cx="7831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2000" dirty="0">
                  <a:latin typeface="Arial Narrow" pitchFamily="34" charset="0"/>
                </a:rPr>
                <a:t>30-YA</a:t>
              </a:r>
            </a:p>
          </p:txBody>
        </p:sp>
        <p:sp>
          <p:nvSpPr>
            <p:cNvPr id="72" name="CuadroTexto 71"/>
            <p:cNvSpPr txBox="1"/>
            <p:nvPr/>
          </p:nvSpPr>
          <p:spPr>
            <a:xfrm>
              <a:off x="4717519" y="5112424"/>
              <a:ext cx="3768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2000" dirty="0">
                  <a:latin typeface="Arial Narrow" pitchFamily="34" charset="0"/>
                </a:rPr>
                <a:t>E</a:t>
              </a:r>
            </a:p>
          </p:txBody>
        </p:sp>
        <p:sp>
          <p:nvSpPr>
            <p:cNvPr id="73" name="CuadroTexto 72"/>
            <p:cNvSpPr txBox="1"/>
            <p:nvPr/>
          </p:nvSpPr>
          <p:spPr>
            <a:xfrm>
              <a:off x="3103122" y="4789716"/>
              <a:ext cx="3768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2000" dirty="0">
                  <a:latin typeface="Arial Narrow" pitchFamily="34" charset="0"/>
                </a:rPr>
                <a:t>D</a:t>
              </a:r>
            </a:p>
          </p:txBody>
        </p:sp>
        <p:sp>
          <p:nvSpPr>
            <p:cNvPr id="74" name="CuadroTexto 73"/>
            <p:cNvSpPr txBox="1"/>
            <p:nvPr/>
          </p:nvSpPr>
          <p:spPr>
            <a:xfrm>
              <a:off x="4604359" y="2454741"/>
              <a:ext cx="3768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2000" dirty="0">
                  <a:latin typeface="Arial Narrow" pitchFamily="34" charset="0"/>
                </a:rPr>
                <a:t>C</a:t>
              </a:r>
            </a:p>
          </p:txBody>
        </p:sp>
        <p:sp>
          <p:nvSpPr>
            <p:cNvPr id="75" name="CuadroTexto 74"/>
            <p:cNvSpPr txBox="1"/>
            <p:nvPr/>
          </p:nvSpPr>
          <p:spPr>
            <a:xfrm>
              <a:off x="2464770" y="3103244"/>
              <a:ext cx="5471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2000" dirty="0">
                  <a:latin typeface="Arial Narrow" pitchFamily="34" charset="0"/>
                </a:rPr>
                <a:t>B</a:t>
              </a:r>
            </a:p>
          </p:txBody>
        </p:sp>
        <p:sp>
          <p:nvSpPr>
            <p:cNvPr id="78" name="CuadroTexto 77"/>
            <p:cNvSpPr txBox="1"/>
            <p:nvPr/>
          </p:nvSpPr>
          <p:spPr>
            <a:xfrm>
              <a:off x="7220096" y="2445227"/>
              <a:ext cx="3768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2000" dirty="0">
                  <a:latin typeface="Arial Narrow" pitchFamily="34" charset="0"/>
                </a:rPr>
                <a:t>H</a:t>
              </a:r>
            </a:p>
          </p:txBody>
        </p:sp>
        <p:sp>
          <p:nvSpPr>
            <p:cNvPr id="79" name="CuadroTexto 78"/>
            <p:cNvSpPr txBox="1"/>
            <p:nvPr/>
          </p:nvSpPr>
          <p:spPr>
            <a:xfrm>
              <a:off x="2638425" y="3944273"/>
              <a:ext cx="376875" cy="4001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rtlCol="0">
              <a:spAutoFit/>
            </a:bodyPr>
            <a:lstStyle/>
            <a:p>
              <a:r>
                <a:rPr lang="es-PE" sz="2000">
                  <a:latin typeface="Arial Narrow" pitchFamily="34" charset="0"/>
                </a:rPr>
                <a:t>G</a:t>
              </a:r>
              <a:endParaRPr lang="es-PE" sz="2000" dirty="0">
                <a:latin typeface="Arial Narrow" pitchFamily="34" charset="0"/>
              </a:endParaRPr>
            </a:p>
          </p:txBody>
        </p:sp>
        <p:sp>
          <p:nvSpPr>
            <p:cNvPr id="80" name="CuadroTexto 79"/>
            <p:cNvSpPr txBox="1"/>
            <p:nvPr/>
          </p:nvSpPr>
          <p:spPr>
            <a:xfrm>
              <a:off x="2638425" y="4335740"/>
              <a:ext cx="9082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2000" dirty="0">
                  <a:latin typeface="Arial Narrow" pitchFamily="34" charset="0"/>
                </a:rPr>
                <a:t>14-</a:t>
              </a:r>
              <a:r>
                <a:rPr lang="es-PE" sz="2000" dirty="0" err="1">
                  <a:latin typeface="Arial Narrow" pitchFamily="34" charset="0"/>
                </a:rPr>
                <a:t>YG</a:t>
              </a:r>
              <a:endParaRPr lang="es-PE" sz="2000" dirty="0">
                <a:latin typeface="Arial Narrow" pitchFamily="34" charset="0"/>
              </a:endParaRPr>
            </a:p>
          </p:txBody>
        </p:sp>
        <p:sp>
          <p:nvSpPr>
            <p:cNvPr id="81" name="CuadroTexto 80"/>
            <p:cNvSpPr txBox="1"/>
            <p:nvPr/>
          </p:nvSpPr>
          <p:spPr>
            <a:xfrm>
              <a:off x="4494362" y="5570439"/>
              <a:ext cx="8997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PE" sz="2000" dirty="0">
                  <a:latin typeface="Arial Narrow" pitchFamily="34" charset="0"/>
                </a:rPr>
                <a:t>10-YE</a:t>
              </a:r>
            </a:p>
          </p:txBody>
        </p:sp>
        <p:sp>
          <p:nvSpPr>
            <p:cNvPr id="82" name="CuadroTexto 81"/>
            <p:cNvSpPr txBox="1"/>
            <p:nvPr/>
          </p:nvSpPr>
          <p:spPr>
            <a:xfrm>
              <a:off x="2130552" y="4816480"/>
              <a:ext cx="726514" cy="4001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rtlCol="0">
              <a:spAutoFit/>
            </a:bodyPr>
            <a:lstStyle/>
            <a:p>
              <a:r>
                <a:rPr lang="es-PE" sz="2000" dirty="0">
                  <a:latin typeface="Arial Narrow" pitchFamily="34" charset="0"/>
                </a:rPr>
                <a:t>5-YD</a:t>
              </a:r>
            </a:p>
          </p:txBody>
        </p:sp>
        <p:sp>
          <p:nvSpPr>
            <p:cNvPr id="83" name="CuadroTexto 82"/>
            <p:cNvSpPr txBox="1"/>
            <p:nvPr/>
          </p:nvSpPr>
          <p:spPr>
            <a:xfrm>
              <a:off x="4589385" y="2828829"/>
              <a:ext cx="66868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2000" dirty="0">
                  <a:latin typeface="Arial Narrow" pitchFamily="34" charset="0"/>
                </a:rPr>
                <a:t>4-</a:t>
              </a:r>
              <a:r>
                <a:rPr lang="es-PE" sz="2000" dirty="0" err="1">
                  <a:latin typeface="Arial Narrow" pitchFamily="34" charset="0"/>
                </a:rPr>
                <a:t>YC</a:t>
              </a:r>
              <a:endParaRPr lang="es-PE" sz="2000" dirty="0">
                <a:latin typeface="Arial Narrow" pitchFamily="34" charset="0"/>
              </a:endParaRPr>
            </a:p>
          </p:txBody>
        </p:sp>
        <p:sp>
          <p:nvSpPr>
            <p:cNvPr id="85" name="CuadroTexto 84"/>
            <p:cNvSpPr txBox="1"/>
            <p:nvPr/>
          </p:nvSpPr>
          <p:spPr>
            <a:xfrm>
              <a:off x="7220096" y="2844226"/>
              <a:ext cx="72722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2000" dirty="0">
                  <a:latin typeface="Arial Narrow" pitchFamily="34" charset="0"/>
                </a:rPr>
                <a:t>2-</a:t>
              </a:r>
              <a:r>
                <a:rPr lang="es-PE" sz="2000" dirty="0" err="1">
                  <a:latin typeface="Arial Narrow" pitchFamily="34" charset="0"/>
                </a:rPr>
                <a:t>YH</a:t>
              </a:r>
              <a:endParaRPr lang="es-PE" sz="2000" dirty="0">
                <a:latin typeface="Arial Narrow" pitchFamily="34" charset="0"/>
              </a:endParaRPr>
            </a:p>
          </p:txBody>
        </p:sp>
        <p:sp>
          <p:nvSpPr>
            <p:cNvPr id="86" name="CuadroTexto 85"/>
            <p:cNvSpPr txBox="1"/>
            <p:nvPr/>
          </p:nvSpPr>
          <p:spPr>
            <a:xfrm>
              <a:off x="6282840" y="3940961"/>
              <a:ext cx="8997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2000" dirty="0">
                  <a:latin typeface="Arial Narrow" pitchFamily="34" charset="0"/>
                </a:rPr>
                <a:t>8-</a:t>
              </a:r>
              <a:r>
                <a:rPr lang="es-PE" sz="2000" dirty="0" err="1">
                  <a:latin typeface="Arial Narrow" pitchFamily="34" charset="0"/>
                </a:rPr>
                <a:t>YF</a:t>
              </a:r>
              <a:endParaRPr lang="es-PE" sz="2000" dirty="0">
                <a:latin typeface="Arial Narrow" pitchFamily="34" charset="0"/>
              </a:endParaRPr>
            </a:p>
          </p:txBody>
        </p:sp>
      </p:grpSp>
      <p:sp>
        <p:nvSpPr>
          <p:cNvPr id="76" name="CuadroTexto 82"/>
          <p:cNvSpPr txBox="1"/>
          <p:nvPr/>
        </p:nvSpPr>
        <p:spPr>
          <a:xfrm>
            <a:off x="4332555" y="3411415"/>
            <a:ext cx="7060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000" dirty="0">
                <a:latin typeface="Arial Narrow" pitchFamily="34" charset="0"/>
              </a:rPr>
              <a:t>6-YB</a:t>
            </a:r>
          </a:p>
        </p:txBody>
      </p:sp>
      <p:sp>
        <p:nvSpPr>
          <p:cNvPr id="5" name="4 CuadroTexto"/>
          <p:cNvSpPr txBox="1"/>
          <p:nvPr/>
        </p:nvSpPr>
        <p:spPr>
          <a:xfrm>
            <a:off x="5879976" y="4313605"/>
            <a:ext cx="1152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latin typeface="Arial Narrow" pitchFamily="34" charset="0"/>
              </a:rPr>
              <a:t>Figurada</a:t>
            </a:r>
            <a:endParaRPr lang="es-PE" sz="2000" dirty="0">
              <a:latin typeface="Arial Narrow" pitchFamily="34" charset="0"/>
            </a:endParaRPr>
          </a:p>
        </p:txBody>
      </p:sp>
      <p:sp>
        <p:nvSpPr>
          <p:cNvPr id="53" name="52 CuadroTexto"/>
          <p:cNvSpPr txBox="1"/>
          <p:nvPr/>
        </p:nvSpPr>
        <p:spPr>
          <a:xfrm>
            <a:off x="4963149" y="3378469"/>
            <a:ext cx="1152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latin typeface="Arial Narrow" pitchFamily="34" charset="0"/>
              </a:rPr>
              <a:t>Figurada</a:t>
            </a:r>
            <a:endParaRPr lang="es-PE" sz="2000" dirty="0">
              <a:latin typeface="Arial Narrow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9358630-80E3-40A9-A87B-EC745005DC9D}"/>
              </a:ext>
            </a:extLst>
          </p:cNvPr>
          <p:cNvSpPr/>
          <p:nvPr/>
        </p:nvSpPr>
        <p:spPr>
          <a:xfrm>
            <a:off x="1631504" y="1268761"/>
            <a:ext cx="980712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sz="2000" b="1" dirty="0">
                <a:solidFill>
                  <a:schemeClr val="tx2"/>
                </a:solidFill>
                <a:latin typeface="Arial Narrow" pitchFamily="34" charset="0"/>
              </a:rPr>
              <a:t>Yi   = Número de días a reducir a la tarea i (i=</a:t>
            </a:r>
            <a:r>
              <a:rPr lang="es-PE" sz="2000" b="1" dirty="0" err="1">
                <a:solidFill>
                  <a:schemeClr val="tx2"/>
                </a:solidFill>
                <a:latin typeface="Arial Narrow" pitchFamily="34" charset="0"/>
              </a:rPr>
              <a:t>A,B,C,D,E,F,G,H</a:t>
            </a:r>
            <a:r>
              <a:rPr lang="es-PE" sz="2000" b="1" dirty="0">
                <a:solidFill>
                  <a:schemeClr val="tx2"/>
                </a:solidFill>
                <a:latin typeface="Arial Narrow" pitchFamily="34" charset="0"/>
              </a:rPr>
              <a:t>)</a:t>
            </a:r>
          </a:p>
          <a:p>
            <a:r>
              <a:rPr lang="es-PE" sz="2000" b="1" dirty="0" err="1">
                <a:solidFill>
                  <a:schemeClr val="tx2"/>
                </a:solidFill>
                <a:latin typeface="Arial Narrow" pitchFamily="34" charset="0"/>
              </a:rPr>
              <a:t>Xj</a:t>
            </a:r>
            <a:r>
              <a:rPr lang="es-PE" sz="2000" b="1" dirty="0">
                <a:solidFill>
                  <a:schemeClr val="tx2"/>
                </a:solidFill>
                <a:latin typeface="Arial Narrow" pitchFamily="34" charset="0"/>
              </a:rPr>
              <a:t>   = Tiempo en que todas las tareas que salen del nodo j pueden comenzar (j=0, 1,2,3,4,5,6,7)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9206B1C-9C6C-1B34-40D5-5EB5ABDFB6ED}"/>
              </a:ext>
            </a:extLst>
          </p:cNvPr>
          <p:cNvSpPr/>
          <p:nvPr/>
        </p:nvSpPr>
        <p:spPr>
          <a:xfrm>
            <a:off x="6096000" y="136525"/>
            <a:ext cx="6096000" cy="57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spcFirstLastPara="1"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5800"/>
              </a:lnSpc>
              <a:spcBef>
                <a:spcPct val="0"/>
              </a:spcBef>
            </a:pPr>
            <a:r>
              <a:rPr lang="es-PE" sz="3200" dirty="0">
                <a:solidFill>
                  <a:schemeClr val="bg1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Bauhaus 93" pitchFamily="82" charset="0"/>
              </a:rPr>
              <a:t>Técnica de choque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3DEF002-6CFF-BCA0-436D-D9C7F04A4952}"/>
              </a:ext>
            </a:extLst>
          </p:cNvPr>
          <p:cNvSpPr txBox="1"/>
          <p:nvPr/>
        </p:nvSpPr>
        <p:spPr>
          <a:xfrm>
            <a:off x="60757" y="2151758"/>
            <a:ext cx="183293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err="1"/>
              <a:t>X1</a:t>
            </a:r>
            <a:r>
              <a:rPr lang="es-ES" b="1" dirty="0"/>
              <a:t>&gt;=</a:t>
            </a:r>
            <a:r>
              <a:rPr lang="es-ES" b="1" dirty="0" err="1"/>
              <a:t>X0</a:t>
            </a:r>
            <a:r>
              <a:rPr lang="es-ES" b="1" dirty="0"/>
              <a:t>+(30-YA)</a:t>
            </a:r>
          </a:p>
          <a:p>
            <a:r>
              <a:rPr lang="es-ES" b="1" dirty="0" err="1"/>
              <a:t>X2</a:t>
            </a:r>
            <a:r>
              <a:rPr lang="es-ES" b="1" dirty="0"/>
              <a:t>&gt;=</a:t>
            </a:r>
            <a:r>
              <a:rPr lang="es-ES" b="1" dirty="0" err="1"/>
              <a:t>X1</a:t>
            </a:r>
            <a:r>
              <a:rPr lang="es-ES" b="1" dirty="0"/>
              <a:t>+(14-</a:t>
            </a:r>
            <a:r>
              <a:rPr lang="es-ES" b="1" dirty="0" err="1"/>
              <a:t>YG</a:t>
            </a:r>
            <a:r>
              <a:rPr lang="es-ES" b="1" dirty="0"/>
              <a:t>)</a:t>
            </a:r>
          </a:p>
          <a:p>
            <a:r>
              <a:rPr lang="es-ES" b="1" dirty="0" err="1"/>
              <a:t>X3</a:t>
            </a:r>
            <a:r>
              <a:rPr lang="es-ES" b="1" dirty="0"/>
              <a:t>&gt;=</a:t>
            </a:r>
            <a:r>
              <a:rPr lang="es-ES" b="1" dirty="0" err="1"/>
              <a:t>X1</a:t>
            </a:r>
            <a:r>
              <a:rPr lang="es-ES" b="1" dirty="0"/>
              <a:t>+(6-YB)</a:t>
            </a:r>
          </a:p>
          <a:p>
            <a:r>
              <a:rPr lang="es-ES" b="1" dirty="0" err="1"/>
              <a:t>X3</a:t>
            </a:r>
            <a:r>
              <a:rPr lang="es-ES" b="1" dirty="0"/>
              <a:t>&gt;=</a:t>
            </a:r>
            <a:r>
              <a:rPr lang="es-ES" b="1" dirty="0" err="1"/>
              <a:t>X2</a:t>
            </a:r>
            <a:endParaRPr lang="es-ES" b="1" dirty="0"/>
          </a:p>
          <a:p>
            <a:r>
              <a:rPr lang="es-ES" b="1" dirty="0" err="1"/>
              <a:t>X4</a:t>
            </a:r>
            <a:r>
              <a:rPr lang="es-ES" b="1" dirty="0"/>
              <a:t>&gt;=</a:t>
            </a:r>
            <a:r>
              <a:rPr lang="es-ES" b="1" dirty="0" err="1"/>
              <a:t>X1</a:t>
            </a:r>
            <a:r>
              <a:rPr lang="es-ES" b="1" dirty="0"/>
              <a:t>+(5-YD)</a:t>
            </a:r>
          </a:p>
          <a:p>
            <a:r>
              <a:rPr lang="es-ES" b="1" dirty="0" err="1"/>
              <a:t>X5</a:t>
            </a:r>
            <a:r>
              <a:rPr lang="es-ES" b="1" dirty="0"/>
              <a:t>&gt;=</a:t>
            </a:r>
            <a:r>
              <a:rPr lang="es-ES" b="1" dirty="0" err="1"/>
              <a:t>X2</a:t>
            </a:r>
            <a:endParaRPr lang="es-ES" b="1" dirty="0"/>
          </a:p>
          <a:p>
            <a:r>
              <a:rPr lang="es-ES" b="1" dirty="0" err="1"/>
              <a:t>X5</a:t>
            </a:r>
            <a:r>
              <a:rPr lang="es-ES" b="1" dirty="0"/>
              <a:t>&gt;=</a:t>
            </a:r>
            <a:r>
              <a:rPr lang="es-ES" b="1" dirty="0" err="1"/>
              <a:t>X4</a:t>
            </a:r>
            <a:r>
              <a:rPr lang="es-ES" b="1" dirty="0"/>
              <a:t>+(10-YE)</a:t>
            </a:r>
          </a:p>
          <a:p>
            <a:r>
              <a:rPr lang="es-ES" b="1" dirty="0" err="1"/>
              <a:t>X6</a:t>
            </a:r>
            <a:r>
              <a:rPr lang="es-ES" b="1" dirty="0"/>
              <a:t>&gt;</a:t>
            </a:r>
            <a:r>
              <a:rPr lang="es-ES" b="1" dirty="0" err="1"/>
              <a:t>X3</a:t>
            </a:r>
            <a:r>
              <a:rPr lang="es-ES" b="1" dirty="0"/>
              <a:t>+(4-</a:t>
            </a:r>
            <a:r>
              <a:rPr lang="es-ES" b="1" dirty="0" err="1"/>
              <a:t>YC</a:t>
            </a:r>
            <a:r>
              <a:rPr lang="es-ES" b="1" dirty="0"/>
              <a:t>)</a:t>
            </a:r>
          </a:p>
          <a:p>
            <a:r>
              <a:rPr lang="es-ES" b="1" dirty="0" err="1"/>
              <a:t>X6</a:t>
            </a:r>
            <a:r>
              <a:rPr lang="es-ES" b="1" dirty="0"/>
              <a:t>&gt;=</a:t>
            </a:r>
            <a:r>
              <a:rPr lang="es-ES" b="1" dirty="0" err="1"/>
              <a:t>X5</a:t>
            </a:r>
            <a:r>
              <a:rPr lang="es-ES" b="1" dirty="0"/>
              <a:t>+(8-</a:t>
            </a:r>
            <a:r>
              <a:rPr lang="es-ES" b="1" dirty="0" err="1"/>
              <a:t>YF</a:t>
            </a:r>
            <a:r>
              <a:rPr lang="es-ES" b="1" dirty="0"/>
              <a:t>)</a:t>
            </a:r>
          </a:p>
          <a:p>
            <a:r>
              <a:rPr lang="es-ES" b="1" dirty="0" err="1"/>
              <a:t>X7</a:t>
            </a:r>
            <a:r>
              <a:rPr lang="es-ES" b="1" dirty="0"/>
              <a:t>&gt;=</a:t>
            </a:r>
            <a:r>
              <a:rPr lang="es-ES" b="1" dirty="0" err="1"/>
              <a:t>X6</a:t>
            </a:r>
            <a:r>
              <a:rPr lang="es-ES" b="1" dirty="0"/>
              <a:t>+(2-</a:t>
            </a:r>
            <a:r>
              <a:rPr lang="es-ES" b="1" dirty="0" err="1"/>
              <a:t>YH</a:t>
            </a:r>
            <a:r>
              <a:rPr lang="es-ES" b="1" dirty="0"/>
              <a:t>)</a:t>
            </a:r>
            <a:endParaRPr lang="es-PE" b="1" dirty="0"/>
          </a:p>
        </p:txBody>
      </p:sp>
    </p:spTree>
    <p:extLst>
      <p:ext uri="{BB962C8B-B14F-4D97-AF65-F5344CB8AC3E}">
        <p14:creationId xmlns:p14="http://schemas.microsoft.com/office/powerpoint/2010/main" val="8832192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ANIVAL TORRE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7123F-EA94-4AF6-90FD-8402484B591B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7" name="Rectángulo 5"/>
          <p:cNvSpPr/>
          <p:nvPr/>
        </p:nvSpPr>
        <p:spPr>
          <a:xfrm>
            <a:off x="6096000" y="136525"/>
            <a:ext cx="6096000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spcFirstLastPara="1"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5800"/>
              </a:lnSpc>
              <a:spcBef>
                <a:spcPct val="0"/>
              </a:spcBef>
            </a:pPr>
            <a:r>
              <a:rPr lang="es-PE" sz="3200" dirty="0">
                <a:solidFill>
                  <a:schemeClr val="bg1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Bauhaus 93" pitchFamily="82" charset="0"/>
              </a:rPr>
              <a:t>Modelo matemático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0D263D1-C7CD-C0C9-A10F-F53F904A4260}"/>
              </a:ext>
            </a:extLst>
          </p:cNvPr>
          <p:cNvSpPr txBox="1"/>
          <p:nvPr/>
        </p:nvSpPr>
        <p:spPr>
          <a:xfrm>
            <a:off x="323490" y="2803534"/>
            <a:ext cx="571278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000" b="1" kern="1200" dirty="0">
                <a:solidFill>
                  <a:srgbClr val="FF0000"/>
                </a:solidFill>
                <a:effectLst/>
                <a:latin typeface="Arial Narrow" pitchFamily="34" charset="0"/>
                <a:ea typeface="+mn-ea"/>
                <a:cs typeface="+mn-cs"/>
              </a:rPr>
              <a:t>IDENTIFICACIÓN DE LA FUNCIÓN OBJETIVO</a:t>
            </a:r>
          </a:p>
          <a:p>
            <a:r>
              <a:rPr lang="es-PE" sz="2000" b="1" kern="1200" dirty="0">
                <a:solidFill>
                  <a:schemeClr val="tx2"/>
                </a:solidFill>
                <a:effectLst/>
                <a:latin typeface="Arial Narrow" pitchFamily="34" charset="0"/>
                <a:ea typeface="+mn-ea"/>
                <a:cs typeface="+mn-cs"/>
              </a:rPr>
              <a:t>MIN 	1000YA + 1500YB + 500YC + 750YD +</a:t>
            </a:r>
          </a:p>
          <a:p>
            <a:r>
              <a:rPr lang="es-PE" sz="2000" b="1" kern="1200" dirty="0">
                <a:solidFill>
                  <a:schemeClr val="tx2"/>
                </a:solidFill>
                <a:effectLst/>
                <a:latin typeface="Arial Narrow" pitchFamily="34" charset="0"/>
                <a:ea typeface="+mn-ea"/>
                <a:cs typeface="+mn-cs"/>
              </a:rPr>
              <a:t>                  600YE +1250YF + 2500YG + 0YH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2EDDC97-0B94-2803-BBD5-1795E9FE044A}"/>
              </a:ext>
            </a:extLst>
          </p:cNvPr>
          <p:cNvSpPr txBox="1"/>
          <p:nvPr/>
        </p:nvSpPr>
        <p:spPr>
          <a:xfrm>
            <a:off x="323491" y="3687901"/>
            <a:ext cx="5712781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000" b="1" kern="1200" dirty="0">
                <a:solidFill>
                  <a:srgbClr val="FF0000"/>
                </a:solidFill>
                <a:effectLst/>
                <a:latin typeface="Arial Narrow" pitchFamily="34" charset="0"/>
                <a:ea typeface="+mn-ea"/>
                <a:cs typeface="+mn-cs"/>
              </a:rPr>
              <a:t>IDENTIFICACIÓN DE LAS RESTRICCIONES</a:t>
            </a:r>
          </a:p>
          <a:p>
            <a:r>
              <a:rPr lang="es-PE" sz="2000" b="1" kern="1200" dirty="0">
                <a:solidFill>
                  <a:schemeClr val="tx2"/>
                </a:solidFill>
                <a:effectLst/>
                <a:latin typeface="Arial Narrow" pitchFamily="34" charset="0"/>
                <a:ea typeface="+mn-ea"/>
                <a:cs typeface="+mn-cs"/>
              </a:rPr>
              <a:t>Restricciones de límite de la reducción </a:t>
            </a:r>
            <a:r>
              <a:rPr lang="es-PE" sz="2000" b="1" kern="1200" dirty="0" err="1">
                <a:solidFill>
                  <a:schemeClr val="tx2"/>
                </a:solidFill>
                <a:effectLst/>
                <a:latin typeface="Arial Narrow" pitchFamily="34" charset="0"/>
                <a:ea typeface="+mn-ea"/>
                <a:cs typeface="+mn-cs"/>
              </a:rPr>
              <a:t>max</a:t>
            </a:r>
            <a:r>
              <a:rPr lang="es-PE" sz="2000" b="1" kern="1200" dirty="0">
                <a:solidFill>
                  <a:schemeClr val="tx2"/>
                </a:solidFill>
                <a:effectLst/>
                <a:latin typeface="Arial Narrow" pitchFamily="34" charset="0"/>
                <a:ea typeface="+mn-ea"/>
                <a:cs typeface="+mn-cs"/>
              </a:rPr>
              <a:t>.		</a:t>
            </a:r>
          </a:p>
          <a:p>
            <a:r>
              <a:rPr lang="es-PE" sz="2000" b="1" dirty="0">
                <a:solidFill>
                  <a:schemeClr val="tx2"/>
                </a:solidFill>
                <a:latin typeface="Arial Narrow" pitchFamily="34" charset="0"/>
              </a:rPr>
              <a:t>                  </a:t>
            </a:r>
            <a:r>
              <a:rPr lang="es-PE" sz="2000" b="1" kern="1200" dirty="0">
                <a:solidFill>
                  <a:schemeClr val="tx2"/>
                </a:solidFill>
                <a:effectLst/>
                <a:latin typeface="Arial Narrow" pitchFamily="34" charset="0"/>
                <a:ea typeface="+mn-ea"/>
                <a:cs typeface="+mn-cs"/>
              </a:rPr>
              <a:t>0 </a:t>
            </a:r>
            <a:r>
              <a:rPr lang="es-PE" sz="2000" b="1" kern="1200" dirty="0">
                <a:solidFill>
                  <a:schemeClr val="tx2"/>
                </a:solidFill>
                <a:effectLst/>
                <a:latin typeface="Arial Narrow" pitchFamily="34" charset="0"/>
                <a:ea typeface="+mn-ea"/>
                <a:cs typeface="+mn-cs"/>
                <a:sym typeface="Symbol" panose="05050102010706020507" pitchFamily="18" charset="2"/>
              </a:rPr>
              <a:t></a:t>
            </a:r>
            <a:r>
              <a:rPr lang="es-PE" sz="2000" b="1" kern="1200" dirty="0">
                <a:solidFill>
                  <a:schemeClr val="tx2"/>
                </a:solidFill>
                <a:effectLst/>
                <a:latin typeface="Arial Narrow" pitchFamily="34" charset="0"/>
                <a:ea typeface="+mn-ea"/>
                <a:cs typeface="+mn-cs"/>
              </a:rPr>
              <a:t> YA </a:t>
            </a:r>
            <a:r>
              <a:rPr lang="es-PE" sz="2000" b="1" kern="1200" dirty="0">
                <a:solidFill>
                  <a:schemeClr val="tx2"/>
                </a:solidFill>
                <a:effectLst/>
                <a:latin typeface="Arial Narrow" pitchFamily="34" charset="0"/>
                <a:ea typeface="+mn-ea"/>
                <a:cs typeface="+mn-cs"/>
                <a:sym typeface="Symbol" panose="05050102010706020507" pitchFamily="18" charset="2"/>
              </a:rPr>
              <a:t></a:t>
            </a:r>
            <a:r>
              <a:rPr lang="es-PE" sz="2000" b="1" kern="1200" dirty="0">
                <a:solidFill>
                  <a:schemeClr val="tx2"/>
                </a:solidFill>
                <a:effectLst/>
                <a:latin typeface="Arial Narrow" pitchFamily="34" charset="0"/>
                <a:ea typeface="+mn-ea"/>
                <a:cs typeface="+mn-cs"/>
              </a:rPr>
              <a:t> 4			</a:t>
            </a:r>
          </a:p>
          <a:p>
            <a:r>
              <a:rPr lang="es-PE" sz="2000" b="1" kern="1200" dirty="0">
                <a:solidFill>
                  <a:schemeClr val="tx2"/>
                </a:solidFill>
                <a:effectLst/>
                <a:latin typeface="Arial Narrow" pitchFamily="34" charset="0"/>
                <a:ea typeface="+mn-ea"/>
                <a:cs typeface="+mn-cs"/>
              </a:rPr>
              <a:t>	</a:t>
            </a:r>
            <a:r>
              <a:rPr lang="es-ES" sz="2000" b="1" kern="1200" dirty="0">
                <a:solidFill>
                  <a:schemeClr val="tx2"/>
                </a:solidFill>
                <a:effectLst/>
                <a:latin typeface="Arial Narrow" pitchFamily="34" charset="0"/>
                <a:ea typeface="+mn-ea"/>
                <a:cs typeface="+mn-cs"/>
              </a:rPr>
              <a:t>0 </a:t>
            </a:r>
            <a:r>
              <a:rPr lang="es-PE" sz="2000" b="1" kern="1200" dirty="0">
                <a:solidFill>
                  <a:schemeClr val="tx2"/>
                </a:solidFill>
                <a:effectLst/>
                <a:latin typeface="Arial Narrow" pitchFamily="34" charset="0"/>
                <a:ea typeface="+mn-ea"/>
                <a:cs typeface="+mn-cs"/>
                <a:sym typeface="Symbol" panose="05050102010706020507" pitchFamily="18" charset="2"/>
              </a:rPr>
              <a:t></a:t>
            </a:r>
            <a:r>
              <a:rPr lang="es-ES" sz="2000" b="1" kern="1200" dirty="0">
                <a:solidFill>
                  <a:schemeClr val="tx2"/>
                </a:solidFill>
                <a:effectLst/>
                <a:latin typeface="Arial Narrow" pitchFamily="34" charset="0"/>
                <a:ea typeface="+mn-ea"/>
                <a:cs typeface="+mn-cs"/>
              </a:rPr>
              <a:t> YB </a:t>
            </a:r>
            <a:r>
              <a:rPr lang="es-PE" sz="2000" b="1" kern="1200" dirty="0">
                <a:solidFill>
                  <a:schemeClr val="tx2"/>
                </a:solidFill>
                <a:effectLst/>
                <a:latin typeface="Arial Narrow" pitchFamily="34" charset="0"/>
                <a:ea typeface="+mn-ea"/>
                <a:cs typeface="+mn-cs"/>
                <a:sym typeface="Symbol" panose="05050102010706020507" pitchFamily="18" charset="2"/>
              </a:rPr>
              <a:t></a:t>
            </a:r>
            <a:r>
              <a:rPr lang="es-ES" sz="2000" b="1" kern="1200" dirty="0">
                <a:solidFill>
                  <a:schemeClr val="tx2"/>
                </a:solidFill>
                <a:effectLst/>
                <a:latin typeface="Arial Narrow" pitchFamily="34" charset="0"/>
                <a:ea typeface="+mn-ea"/>
                <a:cs typeface="+mn-cs"/>
              </a:rPr>
              <a:t> 2</a:t>
            </a:r>
            <a:endParaRPr lang="es-PE" sz="2000" b="1" kern="1200" dirty="0">
              <a:solidFill>
                <a:schemeClr val="tx2"/>
              </a:solidFill>
              <a:effectLst/>
              <a:latin typeface="Arial Narrow" pitchFamily="34" charset="0"/>
              <a:ea typeface="+mn-ea"/>
              <a:cs typeface="+mn-cs"/>
            </a:endParaRPr>
          </a:p>
          <a:p>
            <a:r>
              <a:rPr lang="es-ES" sz="2000" b="1" kern="1200" dirty="0">
                <a:solidFill>
                  <a:schemeClr val="tx2"/>
                </a:solidFill>
                <a:effectLst/>
                <a:latin typeface="Arial Narrow" pitchFamily="34" charset="0"/>
                <a:ea typeface="+mn-ea"/>
                <a:cs typeface="+mn-cs"/>
              </a:rPr>
              <a:t>	0 </a:t>
            </a:r>
            <a:r>
              <a:rPr lang="es-PE" sz="2000" b="1" kern="1200" dirty="0">
                <a:solidFill>
                  <a:schemeClr val="tx2"/>
                </a:solidFill>
                <a:effectLst/>
                <a:latin typeface="Arial Narrow" pitchFamily="34" charset="0"/>
                <a:ea typeface="+mn-ea"/>
                <a:cs typeface="+mn-cs"/>
                <a:sym typeface="Symbol" panose="05050102010706020507" pitchFamily="18" charset="2"/>
              </a:rPr>
              <a:t></a:t>
            </a:r>
            <a:r>
              <a:rPr lang="es-ES" sz="2000" b="1" kern="1200" dirty="0">
                <a:solidFill>
                  <a:schemeClr val="tx2"/>
                </a:solidFill>
                <a:effectLst/>
                <a:latin typeface="Arial Narrow" pitchFamily="34" charset="0"/>
                <a:ea typeface="+mn-ea"/>
                <a:cs typeface="+mn-cs"/>
              </a:rPr>
              <a:t> YC </a:t>
            </a:r>
            <a:r>
              <a:rPr lang="es-PE" sz="2000" b="1" kern="1200" dirty="0">
                <a:solidFill>
                  <a:schemeClr val="tx2"/>
                </a:solidFill>
                <a:effectLst/>
                <a:latin typeface="Arial Narrow" pitchFamily="34" charset="0"/>
                <a:ea typeface="+mn-ea"/>
                <a:cs typeface="+mn-cs"/>
                <a:sym typeface="Symbol" panose="05050102010706020507" pitchFamily="18" charset="2"/>
              </a:rPr>
              <a:t></a:t>
            </a:r>
            <a:r>
              <a:rPr lang="es-ES" sz="2000" b="1" kern="1200" dirty="0">
                <a:solidFill>
                  <a:schemeClr val="tx2"/>
                </a:solidFill>
                <a:effectLst/>
                <a:latin typeface="Arial Narrow" pitchFamily="34" charset="0"/>
                <a:ea typeface="+mn-ea"/>
                <a:cs typeface="+mn-cs"/>
              </a:rPr>
              <a:t> 1	</a:t>
            </a:r>
            <a:endParaRPr lang="es-PE" sz="2000" b="1" kern="1200" dirty="0">
              <a:solidFill>
                <a:schemeClr val="tx2"/>
              </a:solidFill>
              <a:effectLst/>
              <a:latin typeface="Arial Narrow" pitchFamily="34" charset="0"/>
              <a:ea typeface="+mn-ea"/>
              <a:cs typeface="+mn-cs"/>
            </a:endParaRPr>
          </a:p>
          <a:p>
            <a:r>
              <a:rPr lang="es-ES" sz="2000" b="1" kern="1200" dirty="0">
                <a:solidFill>
                  <a:schemeClr val="tx2"/>
                </a:solidFill>
                <a:effectLst/>
                <a:latin typeface="Arial Narrow" pitchFamily="34" charset="0"/>
                <a:ea typeface="+mn-ea"/>
                <a:cs typeface="+mn-cs"/>
              </a:rPr>
              <a:t>	0 </a:t>
            </a:r>
            <a:r>
              <a:rPr lang="es-PE" sz="2000" b="1" kern="1200" dirty="0">
                <a:solidFill>
                  <a:schemeClr val="tx2"/>
                </a:solidFill>
                <a:effectLst/>
                <a:latin typeface="Arial Narrow" pitchFamily="34" charset="0"/>
                <a:ea typeface="+mn-ea"/>
                <a:cs typeface="+mn-cs"/>
                <a:sym typeface="Symbol" panose="05050102010706020507" pitchFamily="18" charset="2"/>
              </a:rPr>
              <a:t></a:t>
            </a:r>
            <a:r>
              <a:rPr lang="es-ES" sz="2000" b="1" kern="1200" dirty="0">
                <a:solidFill>
                  <a:schemeClr val="tx2"/>
                </a:solidFill>
                <a:effectLst/>
                <a:latin typeface="Arial Narrow" pitchFamily="34" charset="0"/>
                <a:ea typeface="+mn-ea"/>
                <a:cs typeface="+mn-cs"/>
              </a:rPr>
              <a:t> YD </a:t>
            </a:r>
            <a:r>
              <a:rPr lang="es-PE" sz="2000" b="1" kern="1200" dirty="0">
                <a:solidFill>
                  <a:schemeClr val="tx2"/>
                </a:solidFill>
                <a:effectLst/>
                <a:latin typeface="Arial Narrow" pitchFamily="34" charset="0"/>
                <a:ea typeface="+mn-ea"/>
                <a:cs typeface="+mn-cs"/>
                <a:sym typeface="Symbol" panose="05050102010706020507" pitchFamily="18" charset="2"/>
              </a:rPr>
              <a:t></a:t>
            </a:r>
            <a:r>
              <a:rPr lang="es-ES" sz="2000" b="1" kern="1200" dirty="0">
                <a:solidFill>
                  <a:schemeClr val="tx2"/>
                </a:solidFill>
                <a:effectLst/>
                <a:latin typeface="Arial Narrow" pitchFamily="34" charset="0"/>
                <a:ea typeface="+mn-ea"/>
                <a:cs typeface="+mn-cs"/>
              </a:rPr>
              <a:t> 2</a:t>
            </a:r>
            <a:endParaRPr lang="es-PE" sz="2000" b="1" kern="1200" dirty="0">
              <a:solidFill>
                <a:schemeClr val="tx2"/>
              </a:solidFill>
              <a:effectLst/>
              <a:latin typeface="Arial Narrow" pitchFamily="34" charset="0"/>
              <a:ea typeface="+mn-ea"/>
              <a:cs typeface="+mn-cs"/>
            </a:endParaRPr>
          </a:p>
          <a:p>
            <a:r>
              <a:rPr lang="es-ES" sz="2000" b="1" kern="1200" dirty="0">
                <a:solidFill>
                  <a:schemeClr val="tx2"/>
                </a:solidFill>
                <a:effectLst/>
                <a:latin typeface="Arial Narrow" pitchFamily="34" charset="0"/>
                <a:ea typeface="+mn-ea"/>
                <a:cs typeface="+mn-cs"/>
              </a:rPr>
              <a:t>	0 </a:t>
            </a:r>
            <a:r>
              <a:rPr lang="es-PE" sz="2000" b="1" kern="1200" dirty="0">
                <a:solidFill>
                  <a:schemeClr val="tx2"/>
                </a:solidFill>
                <a:effectLst/>
                <a:latin typeface="Arial Narrow" pitchFamily="34" charset="0"/>
                <a:ea typeface="+mn-ea"/>
                <a:cs typeface="+mn-cs"/>
                <a:sym typeface="Symbol" panose="05050102010706020507" pitchFamily="18" charset="2"/>
              </a:rPr>
              <a:t></a:t>
            </a:r>
            <a:r>
              <a:rPr lang="es-ES" sz="2000" b="1" kern="1200" dirty="0">
                <a:solidFill>
                  <a:schemeClr val="tx2"/>
                </a:solidFill>
                <a:effectLst/>
                <a:latin typeface="Arial Narrow" pitchFamily="34" charset="0"/>
                <a:ea typeface="+mn-ea"/>
                <a:cs typeface="+mn-cs"/>
              </a:rPr>
              <a:t> YE </a:t>
            </a:r>
            <a:r>
              <a:rPr lang="es-PE" sz="2000" b="1" kern="1200" dirty="0">
                <a:solidFill>
                  <a:schemeClr val="tx2"/>
                </a:solidFill>
                <a:effectLst/>
                <a:latin typeface="Arial Narrow" pitchFamily="34" charset="0"/>
                <a:ea typeface="+mn-ea"/>
                <a:cs typeface="+mn-cs"/>
                <a:sym typeface="Symbol" panose="05050102010706020507" pitchFamily="18" charset="2"/>
              </a:rPr>
              <a:t></a:t>
            </a:r>
            <a:r>
              <a:rPr lang="es-ES" sz="2000" b="1" kern="1200" dirty="0">
                <a:solidFill>
                  <a:schemeClr val="tx2"/>
                </a:solidFill>
                <a:effectLst/>
                <a:latin typeface="Arial Narrow" pitchFamily="34" charset="0"/>
                <a:ea typeface="+mn-ea"/>
                <a:cs typeface="+mn-cs"/>
              </a:rPr>
              <a:t> 3			</a:t>
            </a:r>
            <a:endParaRPr lang="es-PE" sz="2000" b="1" kern="1200" dirty="0">
              <a:solidFill>
                <a:schemeClr val="tx2"/>
              </a:solidFill>
              <a:effectLst/>
              <a:latin typeface="Arial Narrow" pitchFamily="34" charset="0"/>
              <a:ea typeface="+mn-ea"/>
              <a:cs typeface="+mn-cs"/>
            </a:endParaRPr>
          </a:p>
          <a:p>
            <a:r>
              <a:rPr lang="es-ES" sz="2000" b="1" kern="1200" dirty="0">
                <a:solidFill>
                  <a:schemeClr val="tx2"/>
                </a:solidFill>
                <a:effectLst/>
                <a:latin typeface="Arial Narrow" pitchFamily="34" charset="0"/>
                <a:ea typeface="+mn-ea"/>
                <a:cs typeface="+mn-cs"/>
              </a:rPr>
              <a:t>	0 </a:t>
            </a:r>
            <a:r>
              <a:rPr lang="es-PE" sz="2000" b="1" kern="1200" dirty="0">
                <a:solidFill>
                  <a:schemeClr val="tx2"/>
                </a:solidFill>
                <a:effectLst/>
                <a:latin typeface="Arial Narrow" pitchFamily="34" charset="0"/>
                <a:ea typeface="+mn-ea"/>
                <a:cs typeface="+mn-cs"/>
                <a:sym typeface="Symbol" panose="05050102010706020507" pitchFamily="18" charset="2"/>
              </a:rPr>
              <a:t></a:t>
            </a:r>
            <a:r>
              <a:rPr lang="es-ES" sz="2000" b="1" kern="1200" dirty="0">
                <a:solidFill>
                  <a:schemeClr val="tx2"/>
                </a:solidFill>
                <a:effectLst/>
                <a:latin typeface="Arial Narrow" pitchFamily="34" charset="0"/>
                <a:ea typeface="+mn-ea"/>
                <a:cs typeface="+mn-cs"/>
              </a:rPr>
              <a:t> YF </a:t>
            </a:r>
            <a:r>
              <a:rPr lang="es-PE" sz="2000" b="1" kern="1200" dirty="0">
                <a:solidFill>
                  <a:schemeClr val="tx2"/>
                </a:solidFill>
                <a:effectLst/>
                <a:latin typeface="Arial Narrow" pitchFamily="34" charset="0"/>
                <a:ea typeface="+mn-ea"/>
                <a:cs typeface="+mn-cs"/>
                <a:sym typeface="Symbol" panose="05050102010706020507" pitchFamily="18" charset="2"/>
              </a:rPr>
              <a:t></a:t>
            </a:r>
            <a:r>
              <a:rPr lang="es-ES" sz="2000" b="1" kern="1200" dirty="0">
                <a:solidFill>
                  <a:schemeClr val="tx2"/>
                </a:solidFill>
                <a:effectLst/>
                <a:latin typeface="Arial Narrow" pitchFamily="34" charset="0"/>
                <a:ea typeface="+mn-ea"/>
                <a:cs typeface="+mn-cs"/>
              </a:rPr>
              <a:t> 2</a:t>
            </a:r>
            <a:endParaRPr lang="es-PE" sz="2000" b="1" kern="1200" dirty="0">
              <a:solidFill>
                <a:schemeClr val="tx2"/>
              </a:solidFill>
              <a:effectLst/>
              <a:latin typeface="Arial Narrow" pitchFamily="34" charset="0"/>
              <a:ea typeface="+mn-ea"/>
              <a:cs typeface="+mn-cs"/>
            </a:endParaRPr>
          </a:p>
          <a:p>
            <a:r>
              <a:rPr lang="es-ES" sz="2000" b="1" kern="1200" dirty="0">
                <a:solidFill>
                  <a:schemeClr val="tx2"/>
                </a:solidFill>
                <a:effectLst/>
                <a:latin typeface="Arial Narrow" pitchFamily="34" charset="0"/>
                <a:ea typeface="+mn-ea"/>
                <a:cs typeface="+mn-cs"/>
              </a:rPr>
              <a:t>	0 </a:t>
            </a:r>
            <a:r>
              <a:rPr lang="es-PE" sz="2000" b="1" kern="1200" dirty="0">
                <a:solidFill>
                  <a:schemeClr val="tx2"/>
                </a:solidFill>
                <a:effectLst/>
                <a:latin typeface="Arial Narrow" pitchFamily="34" charset="0"/>
                <a:ea typeface="+mn-ea"/>
                <a:cs typeface="+mn-cs"/>
                <a:sym typeface="Symbol" panose="05050102010706020507" pitchFamily="18" charset="2"/>
              </a:rPr>
              <a:t></a:t>
            </a:r>
            <a:r>
              <a:rPr lang="es-ES" sz="2000" b="1" kern="1200" dirty="0">
                <a:solidFill>
                  <a:schemeClr val="tx2"/>
                </a:solidFill>
                <a:effectLst/>
                <a:latin typeface="Arial Narrow" pitchFamily="34" charset="0"/>
                <a:ea typeface="+mn-ea"/>
                <a:cs typeface="+mn-cs"/>
              </a:rPr>
              <a:t> YG </a:t>
            </a:r>
            <a:r>
              <a:rPr lang="es-PE" sz="2000" b="1" kern="1200" dirty="0">
                <a:solidFill>
                  <a:schemeClr val="tx2"/>
                </a:solidFill>
                <a:effectLst/>
                <a:latin typeface="Arial Narrow" pitchFamily="34" charset="0"/>
                <a:ea typeface="+mn-ea"/>
                <a:cs typeface="+mn-cs"/>
                <a:sym typeface="Symbol" panose="05050102010706020507" pitchFamily="18" charset="2"/>
              </a:rPr>
              <a:t></a:t>
            </a:r>
            <a:r>
              <a:rPr lang="es-ES" sz="2000" b="1" kern="1200" dirty="0">
                <a:solidFill>
                  <a:schemeClr val="tx2"/>
                </a:solidFill>
                <a:effectLst/>
                <a:latin typeface="Arial Narrow" pitchFamily="34" charset="0"/>
                <a:ea typeface="+mn-ea"/>
                <a:cs typeface="+mn-cs"/>
              </a:rPr>
              <a:t> 2		</a:t>
            </a:r>
            <a:endParaRPr lang="es-PE" sz="2000" b="1" kern="1200" dirty="0">
              <a:solidFill>
                <a:schemeClr val="tx2"/>
              </a:solidFill>
              <a:effectLst/>
              <a:latin typeface="Arial Narrow" pitchFamily="34" charset="0"/>
              <a:ea typeface="+mn-ea"/>
              <a:cs typeface="+mn-cs"/>
            </a:endParaRPr>
          </a:p>
          <a:p>
            <a:r>
              <a:rPr lang="es-ES" sz="2000" b="1" kern="1200" dirty="0">
                <a:solidFill>
                  <a:schemeClr val="tx2"/>
                </a:solidFill>
                <a:effectLst/>
                <a:latin typeface="Arial Narrow" pitchFamily="34" charset="0"/>
                <a:ea typeface="+mn-ea"/>
                <a:cs typeface="+mn-cs"/>
              </a:rPr>
              <a:t>	0 </a:t>
            </a:r>
            <a:r>
              <a:rPr lang="es-PE" sz="2000" b="1" kern="1200" dirty="0">
                <a:solidFill>
                  <a:schemeClr val="tx2"/>
                </a:solidFill>
                <a:effectLst/>
                <a:latin typeface="Arial Narrow" pitchFamily="34" charset="0"/>
                <a:ea typeface="+mn-ea"/>
                <a:cs typeface="+mn-cs"/>
                <a:sym typeface="Symbol" panose="05050102010706020507" pitchFamily="18" charset="2"/>
              </a:rPr>
              <a:t></a:t>
            </a:r>
            <a:r>
              <a:rPr lang="es-ES" sz="2000" b="1" kern="1200" dirty="0">
                <a:solidFill>
                  <a:schemeClr val="tx2"/>
                </a:solidFill>
                <a:effectLst/>
                <a:latin typeface="Arial Narrow" pitchFamily="34" charset="0"/>
                <a:ea typeface="+mn-ea"/>
                <a:cs typeface="+mn-cs"/>
              </a:rPr>
              <a:t> YH </a:t>
            </a:r>
            <a:r>
              <a:rPr lang="es-PE" sz="2000" b="1" kern="1200" dirty="0">
                <a:solidFill>
                  <a:schemeClr val="tx2"/>
                </a:solidFill>
                <a:effectLst/>
                <a:latin typeface="Arial Narrow" pitchFamily="34" charset="0"/>
                <a:ea typeface="+mn-ea"/>
                <a:cs typeface="+mn-cs"/>
                <a:sym typeface="Symbol" panose="05050102010706020507" pitchFamily="18" charset="2"/>
              </a:rPr>
              <a:t></a:t>
            </a:r>
            <a:r>
              <a:rPr lang="es-ES" sz="2000" b="1" kern="1200" dirty="0">
                <a:solidFill>
                  <a:schemeClr val="tx2"/>
                </a:solidFill>
                <a:effectLst/>
                <a:latin typeface="Arial Narrow" pitchFamily="34" charset="0"/>
                <a:ea typeface="+mn-ea"/>
                <a:cs typeface="+mn-cs"/>
              </a:rPr>
              <a:t> 0</a:t>
            </a:r>
            <a:endParaRPr lang="es-PE" sz="2000" dirty="0">
              <a:solidFill>
                <a:schemeClr val="tx2"/>
              </a:solidFill>
              <a:latin typeface="Arial Narrow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FC2BC71-E72C-1DDC-C5A3-F281271872E7}"/>
              </a:ext>
            </a:extLst>
          </p:cNvPr>
          <p:cNvSpPr txBox="1"/>
          <p:nvPr/>
        </p:nvSpPr>
        <p:spPr>
          <a:xfrm>
            <a:off x="323491" y="1228069"/>
            <a:ext cx="571278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000" b="1" kern="1200" dirty="0">
                <a:solidFill>
                  <a:srgbClr val="FF0000"/>
                </a:solidFill>
                <a:effectLst/>
                <a:latin typeface="Arial Narrow" pitchFamily="34" charset="0"/>
                <a:ea typeface="+mn-ea"/>
                <a:cs typeface="+mn-cs"/>
              </a:rPr>
              <a:t>IDENTIFICACIÓN DE LAS VARIABLES</a:t>
            </a:r>
          </a:p>
          <a:p>
            <a:r>
              <a:rPr lang="es-PE" sz="2000" b="1" kern="1200" dirty="0">
                <a:solidFill>
                  <a:schemeClr val="tx2"/>
                </a:solidFill>
                <a:effectLst/>
                <a:latin typeface="Arial Narrow" pitchFamily="34" charset="0"/>
                <a:ea typeface="+mn-ea"/>
                <a:cs typeface="+mn-cs"/>
              </a:rPr>
              <a:t>Yi   = Número de días a reducir a la tarea i (i=A,B,C,D,E,F,G,H)</a:t>
            </a:r>
          </a:p>
          <a:p>
            <a:r>
              <a:rPr lang="es-PE" sz="2000" b="1" kern="1200" dirty="0" err="1">
                <a:solidFill>
                  <a:schemeClr val="tx2"/>
                </a:solidFill>
                <a:effectLst/>
                <a:latin typeface="Arial Narrow" pitchFamily="34" charset="0"/>
                <a:ea typeface="+mn-ea"/>
                <a:cs typeface="+mn-cs"/>
              </a:rPr>
              <a:t>Xj</a:t>
            </a:r>
            <a:r>
              <a:rPr lang="es-PE" sz="2000" b="1" kern="1200" dirty="0">
                <a:solidFill>
                  <a:schemeClr val="tx2"/>
                </a:solidFill>
                <a:effectLst/>
                <a:latin typeface="Arial Narrow" pitchFamily="34" charset="0"/>
                <a:ea typeface="+mn-ea"/>
                <a:cs typeface="+mn-cs"/>
              </a:rPr>
              <a:t>   = Tiempo en que todas las tareas que salen del nodo j pueden comenzar</a:t>
            </a:r>
            <a:r>
              <a:rPr lang="es-PE" sz="2000" b="1" kern="1200" baseline="0" dirty="0">
                <a:solidFill>
                  <a:schemeClr val="tx2"/>
                </a:solidFill>
                <a:effectLst/>
                <a:latin typeface="Arial Narrow" pitchFamily="34" charset="0"/>
                <a:ea typeface="+mn-ea"/>
                <a:cs typeface="+mn-cs"/>
              </a:rPr>
              <a:t> (j=0, 1,2,3,4,5,6,7)</a:t>
            </a:r>
            <a:endParaRPr lang="es-PE" sz="2000" b="1" kern="1200" dirty="0">
              <a:solidFill>
                <a:schemeClr val="tx2"/>
              </a:solidFill>
              <a:effectLst/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78A86F1-46D9-9695-1BFE-861501E917C5}"/>
              </a:ext>
            </a:extLst>
          </p:cNvPr>
          <p:cNvSpPr txBox="1"/>
          <p:nvPr/>
        </p:nvSpPr>
        <p:spPr>
          <a:xfrm>
            <a:off x="7940843" y="1703119"/>
            <a:ext cx="341295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914400" rtl="0" eaLnBrk="1" latinLnBrk="0" hangingPunct="1"/>
            <a:r>
              <a:rPr lang="es-PE" sz="2000" b="1" kern="1200" dirty="0">
                <a:solidFill>
                  <a:schemeClr val="tx2"/>
                </a:solidFill>
                <a:effectLst/>
                <a:latin typeface="Arial Narrow" pitchFamily="34" charset="0"/>
                <a:ea typeface="+mn-ea"/>
                <a:cs typeface="+mn-cs"/>
              </a:rPr>
              <a:t>X0 = 0 	</a:t>
            </a:r>
          </a:p>
          <a:p>
            <a:pPr marL="0" algn="l" defTabSz="914400" rtl="0" eaLnBrk="1" latinLnBrk="0" hangingPunct="1"/>
            <a:r>
              <a:rPr lang="es-PE" sz="2000" b="1" kern="1200" dirty="0">
                <a:solidFill>
                  <a:schemeClr val="tx2"/>
                </a:solidFill>
                <a:effectLst/>
                <a:latin typeface="Arial Narrow" pitchFamily="34" charset="0"/>
                <a:ea typeface="+mn-ea"/>
                <a:cs typeface="+mn-cs"/>
              </a:rPr>
              <a:t>X7 = 47</a:t>
            </a:r>
          </a:p>
          <a:p>
            <a:pPr marL="0" algn="l" defTabSz="914400" rtl="0" eaLnBrk="1" latinLnBrk="0" hangingPunct="1"/>
            <a:r>
              <a:rPr lang="es-PE" sz="2000" b="1" kern="1200" dirty="0">
                <a:solidFill>
                  <a:schemeClr val="tx2"/>
                </a:solidFill>
                <a:effectLst/>
                <a:latin typeface="Arial Narrow" pitchFamily="34" charset="0"/>
                <a:ea typeface="+mn-ea"/>
                <a:cs typeface="+mn-cs"/>
              </a:rPr>
              <a:t>X1  &gt;=  X0 +( 30-YA)</a:t>
            </a:r>
          </a:p>
          <a:p>
            <a:pPr marL="0" algn="l" defTabSz="914400" rtl="0" eaLnBrk="1" latinLnBrk="0" hangingPunct="1"/>
            <a:r>
              <a:rPr lang="en-US" sz="2000" b="1" kern="1200" dirty="0">
                <a:solidFill>
                  <a:schemeClr val="tx2"/>
                </a:solidFill>
                <a:effectLst/>
                <a:latin typeface="Arial Narrow" pitchFamily="34" charset="0"/>
                <a:ea typeface="+mn-ea"/>
                <a:cs typeface="+mn-cs"/>
              </a:rPr>
              <a:t>X2 &gt;=  X1 + (14-YG)</a:t>
            </a:r>
            <a:endParaRPr lang="es-PE" sz="2000" b="1" kern="1200" dirty="0">
              <a:solidFill>
                <a:schemeClr val="tx2"/>
              </a:solidFill>
              <a:effectLst/>
              <a:latin typeface="Arial Narrow" pitchFamily="34" charset="0"/>
              <a:ea typeface="+mn-ea"/>
              <a:cs typeface="+mn-cs"/>
            </a:endParaRPr>
          </a:p>
          <a:p>
            <a:pPr marL="0" algn="l" defTabSz="914400" rtl="0" eaLnBrk="1" latinLnBrk="0" hangingPunct="1"/>
            <a:r>
              <a:rPr lang="en-US" sz="2000" b="1" kern="1200" dirty="0">
                <a:solidFill>
                  <a:schemeClr val="tx2"/>
                </a:solidFill>
                <a:effectLst/>
                <a:latin typeface="Arial Narrow" pitchFamily="34" charset="0"/>
                <a:ea typeface="+mn-ea"/>
                <a:cs typeface="+mn-cs"/>
              </a:rPr>
              <a:t>X3 &gt;= X1 + (6-YB)</a:t>
            </a:r>
            <a:endParaRPr lang="es-PE" sz="2000" b="1" kern="1200" dirty="0">
              <a:solidFill>
                <a:schemeClr val="tx2"/>
              </a:solidFill>
              <a:effectLst/>
              <a:latin typeface="Arial Narrow" pitchFamily="34" charset="0"/>
              <a:ea typeface="+mn-ea"/>
              <a:cs typeface="+mn-cs"/>
            </a:endParaRPr>
          </a:p>
          <a:p>
            <a:pPr marL="0" algn="l" defTabSz="914400" rtl="0" eaLnBrk="1" latinLnBrk="0" hangingPunct="1"/>
            <a:r>
              <a:rPr lang="en-US" sz="2000" b="1" kern="1200" dirty="0">
                <a:solidFill>
                  <a:schemeClr val="tx2"/>
                </a:solidFill>
                <a:effectLst/>
                <a:latin typeface="Arial Narrow" pitchFamily="34" charset="0"/>
                <a:ea typeface="+mn-ea"/>
                <a:cs typeface="+mn-cs"/>
              </a:rPr>
              <a:t>X3 &gt;= X2 </a:t>
            </a:r>
            <a:endParaRPr lang="es-PE" sz="2000" b="1" kern="1200" dirty="0">
              <a:solidFill>
                <a:schemeClr val="tx2"/>
              </a:solidFill>
              <a:effectLst/>
              <a:latin typeface="Arial Narrow" pitchFamily="34" charset="0"/>
              <a:ea typeface="+mn-ea"/>
              <a:cs typeface="+mn-cs"/>
            </a:endParaRPr>
          </a:p>
          <a:p>
            <a:pPr marL="0" algn="l" defTabSz="914400" rtl="0" eaLnBrk="1" latinLnBrk="0" hangingPunct="1"/>
            <a:r>
              <a:rPr lang="en-US" sz="2000" b="1" kern="1200" dirty="0">
                <a:solidFill>
                  <a:schemeClr val="tx2"/>
                </a:solidFill>
                <a:effectLst/>
                <a:latin typeface="Arial Narrow" pitchFamily="34" charset="0"/>
                <a:ea typeface="+mn-ea"/>
                <a:cs typeface="+mn-cs"/>
              </a:rPr>
              <a:t>X4 &gt;= X1 + (5-YD)</a:t>
            </a:r>
            <a:endParaRPr lang="es-PE" sz="2000" b="1" kern="1200" dirty="0">
              <a:solidFill>
                <a:schemeClr val="tx2"/>
              </a:solidFill>
              <a:effectLst/>
              <a:latin typeface="Arial Narrow" pitchFamily="34" charset="0"/>
              <a:ea typeface="+mn-ea"/>
              <a:cs typeface="+mn-cs"/>
            </a:endParaRPr>
          </a:p>
          <a:p>
            <a:pPr marL="0" algn="l" defTabSz="914400" rtl="0" eaLnBrk="1" latinLnBrk="0" hangingPunct="1"/>
            <a:r>
              <a:rPr lang="en-US" sz="2000" b="1" kern="1200" dirty="0">
                <a:solidFill>
                  <a:schemeClr val="tx2"/>
                </a:solidFill>
                <a:effectLst/>
                <a:latin typeface="Arial Narrow" pitchFamily="34" charset="0"/>
                <a:ea typeface="+mn-ea"/>
                <a:cs typeface="+mn-cs"/>
              </a:rPr>
              <a:t>X5 &gt;=X2  </a:t>
            </a:r>
            <a:endParaRPr lang="es-PE" sz="2000" b="1" kern="1200" dirty="0">
              <a:solidFill>
                <a:schemeClr val="tx2"/>
              </a:solidFill>
              <a:effectLst/>
              <a:latin typeface="Arial Narrow" pitchFamily="34" charset="0"/>
              <a:ea typeface="+mn-ea"/>
              <a:cs typeface="+mn-cs"/>
            </a:endParaRPr>
          </a:p>
          <a:p>
            <a:pPr marL="0" algn="l" defTabSz="914400" rtl="0" eaLnBrk="1" latinLnBrk="0" hangingPunct="1"/>
            <a:r>
              <a:rPr lang="en-US" sz="2000" b="1" kern="1200" dirty="0">
                <a:solidFill>
                  <a:schemeClr val="tx2"/>
                </a:solidFill>
                <a:effectLst/>
                <a:latin typeface="Arial Narrow" pitchFamily="34" charset="0"/>
                <a:ea typeface="+mn-ea"/>
                <a:cs typeface="+mn-cs"/>
              </a:rPr>
              <a:t>X5 &gt;= X4 +(10- YE)</a:t>
            </a:r>
            <a:endParaRPr lang="es-PE" sz="2000" b="1" kern="1200" dirty="0">
              <a:solidFill>
                <a:schemeClr val="tx2"/>
              </a:solidFill>
              <a:effectLst/>
              <a:latin typeface="Arial Narrow" pitchFamily="34" charset="0"/>
              <a:ea typeface="+mn-ea"/>
              <a:cs typeface="+mn-cs"/>
            </a:endParaRPr>
          </a:p>
          <a:p>
            <a:pPr marL="0" algn="l" defTabSz="914400" rtl="0" eaLnBrk="1" latinLnBrk="0" hangingPunct="1"/>
            <a:r>
              <a:rPr lang="en-US" sz="2000" b="1" kern="1200" dirty="0">
                <a:solidFill>
                  <a:schemeClr val="tx2"/>
                </a:solidFill>
                <a:effectLst/>
                <a:latin typeface="Arial Narrow" pitchFamily="34" charset="0"/>
                <a:ea typeface="+mn-ea"/>
                <a:cs typeface="+mn-cs"/>
              </a:rPr>
              <a:t>X6 &gt;= X3 +(4- YC) </a:t>
            </a:r>
            <a:endParaRPr lang="es-PE" sz="2000" b="1" kern="1200" dirty="0">
              <a:solidFill>
                <a:schemeClr val="tx2"/>
              </a:solidFill>
              <a:effectLst/>
              <a:latin typeface="Arial Narrow" pitchFamily="34" charset="0"/>
              <a:ea typeface="+mn-ea"/>
              <a:cs typeface="+mn-cs"/>
            </a:endParaRPr>
          </a:p>
          <a:p>
            <a:pPr marL="0" algn="l" defTabSz="914400" rtl="0" eaLnBrk="1" latinLnBrk="0" hangingPunct="1"/>
            <a:r>
              <a:rPr lang="en-US" sz="2000" b="1" kern="1200" dirty="0">
                <a:solidFill>
                  <a:schemeClr val="tx2"/>
                </a:solidFill>
                <a:effectLst/>
                <a:latin typeface="Arial Narrow" pitchFamily="34" charset="0"/>
                <a:ea typeface="+mn-ea"/>
                <a:cs typeface="+mn-cs"/>
              </a:rPr>
              <a:t>X6 &gt;= X5 + (8-YF)</a:t>
            </a:r>
            <a:endParaRPr lang="es-PE" sz="2000" b="1" kern="1200" dirty="0">
              <a:solidFill>
                <a:schemeClr val="tx2"/>
              </a:solidFill>
              <a:effectLst/>
              <a:latin typeface="Arial Narrow" pitchFamily="34" charset="0"/>
              <a:ea typeface="+mn-ea"/>
              <a:cs typeface="+mn-cs"/>
            </a:endParaRPr>
          </a:p>
          <a:p>
            <a:pPr marL="0" algn="l" defTabSz="914400" rtl="0" eaLnBrk="1" latinLnBrk="0" hangingPunct="1"/>
            <a:r>
              <a:rPr lang="en-US" sz="2000" b="1" kern="1200" dirty="0">
                <a:solidFill>
                  <a:schemeClr val="tx2"/>
                </a:solidFill>
                <a:effectLst/>
                <a:latin typeface="Arial Narrow" pitchFamily="34" charset="0"/>
                <a:ea typeface="+mn-ea"/>
                <a:cs typeface="+mn-cs"/>
              </a:rPr>
              <a:t>X7 &gt;= X6 + (2-YH)</a:t>
            </a:r>
            <a:endParaRPr lang="es-PE" sz="2000" dirty="0"/>
          </a:p>
        </p:txBody>
      </p:sp>
    </p:spTree>
    <p:extLst>
      <p:ext uri="{BB962C8B-B14F-4D97-AF65-F5344CB8AC3E}">
        <p14:creationId xmlns:p14="http://schemas.microsoft.com/office/powerpoint/2010/main" val="2101044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ANIVAL TORRE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7123F-EA94-4AF6-90FD-8402484B591B}" type="slidenum">
              <a:rPr lang="en-US" smtClean="0"/>
              <a:pPr/>
              <a:t>14</a:t>
            </a:fld>
            <a:endParaRPr lang="en-US" dirty="0"/>
          </a:p>
        </p:txBody>
      </p:sp>
      <p:graphicFrame>
        <p:nvGraphicFramePr>
          <p:cNvPr id="7" name="Tab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535333"/>
              </p:ext>
            </p:extLst>
          </p:nvPr>
        </p:nvGraphicFramePr>
        <p:xfrm>
          <a:off x="170329" y="2011680"/>
          <a:ext cx="5925672" cy="4209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23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968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400" b="1" kern="1200" dirty="0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SUBJECT TO</a:t>
                      </a:r>
                    </a:p>
                    <a:p>
                      <a:pPr marL="0" algn="l" defTabSz="914400" rtl="0" eaLnBrk="1" latinLnBrk="0" hangingPunct="1"/>
                      <a:r>
                        <a:rPr lang="es-PE" sz="2400" b="1" kern="1200" dirty="0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YA &lt;=  4	</a:t>
                      </a:r>
                    </a:p>
                    <a:p>
                      <a:pPr marL="0" algn="l" defTabSz="914400" rtl="0" eaLnBrk="1" latinLnBrk="0" hangingPunct="1"/>
                      <a:r>
                        <a:rPr lang="es-PE" sz="2400" b="1" kern="1200" dirty="0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YB &lt;=  2</a:t>
                      </a:r>
                    </a:p>
                    <a:p>
                      <a:pPr marL="0" algn="l" defTabSz="914400" rtl="0" eaLnBrk="1" latinLnBrk="0" hangingPunct="1"/>
                      <a:r>
                        <a:rPr lang="es-PE" sz="2400" b="1" kern="1200" dirty="0" err="1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YC</a:t>
                      </a:r>
                      <a:r>
                        <a:rPr lang="es-PE" sz="2400" b="1" kern="1200" dirty="0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 &lt;=  1	</a:t>
                      </a:r>
                    </a:p>
                    <a:p>
                      <a:pPr marL="0" algn="l" defTabSz="914400" rtl="0" eaLnBrk="1" latinLnBrk="0" hangingPunct="1"/>
                      <a:r>
                        <a:rPr lang="es-PE" sz="2400" b="1" kern="1200" dirty="0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YD &lt;=  2</a:t>
                      </a:r>
                    </a:p>
                    <a:p>
                      <a:pPr marL="0" algn="l" defTabSz="914400" rtl="0" eaLnBrk="1" latinLnBrk="0" hangingPunct="1"/>
                      <a:r>
                        <a:rPr lang="es-PE" sz="2400" b="1" kern="1200" dirty="0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YE &lt;=  3	</a:t>
                      </a:r>
                    </a:p>
                    <a:p>
                      <a:pPr marL="0" algn="l" defTabSz="914400" rtl="0" eaLnBrk="1" latinLnBrk="0" hangingPunct="1"/>
                      <a:r>
                        <a:rPr lang="es-PE" sz="2400" b="1" kern="1200" dirty="0" err="1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YF</a:t>
                      </a:r>
                      <a:r>
                        <a:rPr lang="es-PE" sz="2400" b="1" kern="1200" dirty="0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 &lt;=  2</a:t>
                      </a:r>
                    </a:p>
                    <a:p>
                      <a:pPr marL="0" algn="l" defTabSz="914400" rtl="0" eaLnBrk="1" latinLnBrk="0" hangingPunct="1"/>
                      <a:r>
                        <a:rPr lang="es-PE" sz="2400" b="1" kern="1200" dirty="0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YG &lt;=  2	</a:t>
                      </a:r>
                    </a:p>
                    <a:p>
                      <a:pPr marL="0" algn="l" defTabSz="914400" rtl="0" eaLnBrk="1" latinLnBrk="0" hangingPunct="1"/>
                      <a:r>
                        <a:rPr lang="es-PE" sz="2400" b="1" kern="1200" dirty="0" err="1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YH</a:t>
                      </a:r>
                      <a:r>
                        <a:rPr lang="es-PE" sz="2400" b="1" kern="1200" dirty="0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 &lt;=  0</a:t>
                      </a:r>
                    </a:p>
                    <a:p>
                      <a:pPr marL="0" algn="l" defTabSz="914400" rtl="0" eaLnBrk="1" latinLnBrk="0" hangingPunct="1"/>
                      <a:r>
                        <a:rPr lang="es-PE" sz="2400" b="1" kern="1200" dirty="0" err="1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X0</a:t>
                      </a:r>
                      <a:r>
                        <a:rPr lang="es-PE" sz="2400" b="1" kern="1200" dirty="0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 = 0 	</a:t>
                      </a:r>
                    </a:p>
                    <a:p>
                      <a:pPr marL="0" algn="l" defTabSz="914400" rtl="0" eaLnBrk="1" latinLnBrk="0" hangingPunct="1"/>
                      <a:r>
                        <a:rPr lang="es-PE" sz="2400" b="1" kern="1200" dirty="0" err="1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X7</a:t>
                      </a:r>
                      <a:r>
                        <a:rPr lang="es-PE" sz="2400" b="1" kern="1200" dirty="0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 = 47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s-PE" sz="2400" b="1" kern="1200" dirty="0">
                        <a:solidFill>
                          <a:schemeClr val="tx2"/>
                        </a:solidFill>
                        <a:effectLst/>
                        <a:latin typeface="Arial Narrow" pitchFamily="34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s-PE" sz="2400" b="1" kern="1200" dirty="0" err="1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X1</a:t>
                      </a:r>
                      <a:r>
                        <a:rPr lang="es-PE" sz="2400" b="1" kern="1200" dirty="0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 - </a:t>
                      </a:r>
                      <a:r>
                        <a:rPr lang="es-PE" sz="2400" b="1" kern="1200" dirty="0" err="1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X0</a:t>
                      </a:r>
                      <a:r>
                        <a:rPr lang="es-PE" sz="2400" b="1" kern="1200" dirty="0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 + YA &gt;= 30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2400" b="1" kern="1200" dirty="0" err="1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X2</a:t>
                      </a:r>
                      <a:r>
                        <a:rPr lang="en-US" sz="2400" b="1" kern="1200" dirty="0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 - </a:t>
                      </a:r>
                      <a:r>
                        <a:rPr lang="en-US" sz="2400" b="1" kern="1200" dirty="0" err="1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X1</a:t>
                      </a:r>
                      <a:r>
                        <a:rPr lang="en-US" sz="2400" b="1" kern="1200" dirty="0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 + </a:t>
                      </a:r>
                      <a:r>
                        <a:rPr lang="en-US" sz="2400" b="1" kern="1200" dirty="0" err="1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YG</a:t>
                      </a:r>
                      <a:r>
                        <a:rPr lang="en-US" sz="2400" b="1" kern="1200" dirty="0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 &gt;= 14</a:t>
                      </a:r>
                      <a:endParaRPr lang="es-PE" sz="2400" b="1" kern="1200" dirty="0">
                        <a:solidFill>
                          <a:schemeClr val="tx2"/>
                        </a:solidFill>
                        <a:effectLst/>
                        <a:latin typeface="Arial Narrow" pitchFamily="34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sz="2400" b="1" kern="1200" dirty="0" err="1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X3</a:t>
                      </a:r>
                      <a:r>
                        <a:rPr lang="en-US" sz="2400" b="1" kern="1200" dirty="0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 - </a:t>
                      </a:r>
                      <a:r>
                        <a:rPr lang="en-US" sz="2400" b="1" kern="1200" dirty="0" err="1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X1</a:t>
                      </a:r>
                      <a:r>
                        <a:rPr lang="en-US" sz="2400" b="1" kern="1200" dirty="0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 + </a:t>
                      </a:r>
                      <a:r>
                        <a:rPr lang="en-US" sz="2400" b="1" kern="1200" dirty="0" err="1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YB</a:t>
                      </a:r>
                      <a:r>
                        <a:rPr lang="en-US" sz="2400" b="1" kern="1200" dirty="0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 &gt;= 6</a:t>
                      </a:r>
                      <a:endParaRPr lang="es-PE" sz="2400" b="1" kern="1200" dirty="0">
                        <a:solidFill>
                          <a:schemeClr val="tx2"/>
                        </a:solidFill>
                        <a:effectLst/>
                        <a:latin typeface="Arial Narrow" pitchFamily="34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sz="2400" b="1" kern="1200" dirty="0" err="1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X3</a:t>
                      </a:r>
                      <a:r>
                        <a:rPr lang="en-US" sz="2400" b="1" kern="1200" dirty="0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 - </a:t>
                      </a:r>
                      <a:r>
                        <a:rPr lang="en-US" sz="2400" b="1" kern="1200" dirty="0" err="1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X2</a:t>
                      </a:r>
                      <a:r>
                        <a:rPr lang="en-US" sz="2400" b="1" kern="1200" dirty="0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 &gt;=0</a:t>
                      </a:r>
                      <a:endParaRPr lang="es-PE" sz="2400" b="1" kern="1200" dirty="0">
                        <a:solidFill>
                          <a:schemeClr val="tx2"/>
                        </a:solidFill>
                        <a:effectLst/>
                        <a:latin typeface="Arial Narrow" pitchFamily="34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sz="2400" b="1" kern="1200" dirty="0" err="1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X4</a:t>
                      </a:r>
                      <a:r>
                        <a:rPr lang="en-US" sz="2400" b="1" kern="1200" dirty="0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 - </a:t>
                      </a:r>
                      <a:r>
                        <a:rPr lang="en-US" sz="2400" b="1" kern="1200" dirty="0" err="1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X1</a:t>
                      </a:r>
                      <a:r>
                        <a:rPr lang="en-US" sz="2400" b="1" kern="1200" dirty="0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 + </a:t>
                      </a:r>
                      <a:r>
                        <a:rPr lang="en-US" sz="2400" b="1" kern="1200" dirty="0" err="1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YD</a:t>
                      </a:r>
                      <a:r>
                        <a:rPr lang="en-US" sz="2400" b="1" kern="1200" dirty="0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 &gt;= 5</a:t>
                      </a:r>
                      <a:endParaRPr lang="es-PE" sz="2400" b="1" kern="1200" dirty="0">
                        <a:solidFill>
                          <a:schemeClr val="tx2"/>
                        </a:solidFill>
                        <a:effectLst/>
                        <a:latin typeface="Arial Narrow" pitchFamily="34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sz="2400" b="1" kern="1200" dirty="0" err="1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X5</a:t>
                      </a:r>
                      <a:r>
                        <a:rPr lang="en-US" sz="2400" b="1" kern="1200" dirty="0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 -</a:t>
                      </a:r>
                      <a:r>
                        <a:rPr lang="en-US" sz="2400" b="1" kern="1200" dirty="0" err="1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X2</a:t>
                      </a:r>
                      <a:r>
                        <a:rPr lang="en-US" sz="2400" b="1" kern="1200" dirty="0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 &gt;= 0  </a:t>
                      </a:r>
                      <a:endParaRPr lang="es-PE" sz="2400" b="1" kern="1200" dirty="0">
                        <a:solidFill>
                          <a:schemeClr val="tx2"/>
                        </a:solidFill>
                        <a:effectLst/>
                        <a:latin typeface="Arial Narrow" pitchFamily="34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sz="2400" b="1" kern="1200" dirty="0" err="1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X5</a:t>
                      </a:r>
                      <a:r>
                        <a:rPr lang="en-US" sz="2400" b="1" kern="1200" dirty="0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 - </a:t>
                      </a:r>
                      <a:r>
                        <a:rPr lang="en-US" sz="2400" b="1" kern="1200" dirty="0" err="1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X4</a:t>
                      </a:r>
                      <a:r>
                        <a:rPr lang="en-US" sz="2400" b="1" kern="1200" dirty="0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 + YE &gt;=10</a:t>
                      </a:r>
                      <a:endParaRPr lang="es-PE" sz="2400" b="1" kern="1200" dirty="0">
                        <a:solidFill>
                          <a:schemeClr val="tx2"/>
                        </a:solidFill>
                        <a:effectLst/>
                        <a:latin typeface="Arial Narrow" pitchFamily="34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sz="2400" b="1" kern="1200" dirty="0" err="1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X6</a:t>
                      </a:r>
                      <a:r>
                        <a:rPr lang="en-US" sz="2400" b="1" kern="1200" dirty="0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 - </a:t>
                      </a:r>
                      <a:r>
                        <a:rPr lang="en-US" sz="2400" b="1" kern="1200" dirty="0" err="1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X3</a:t>
                      </a:r>
                      <a:r>
                        <a:rPr lang="en-US" sz="2400" b="1" kern="1200" dirty="0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 + </a:t>
                      </a:r>
                      <a:r>
                        <a:rPr lang="en-US" sz="2400" b="1" kern="1200" dirty="0" err="1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YC</a:t>
                      </a:r>
                      <a:r>
                        <a:rPr lang="en-US" sz="2400" b="1" kern="1200" dirty="0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 &gt;= 4</a:t>
                      </a:r>
                      <a:endParaRPr lang="es-PE" sz="2400" b="1" kern="1200" dirty="0">
                        <a:solidFill>
                          <a:schemeClr val="tx2"/>
                        </a:solidFill>
                        <a:effectLst/>
                        <a:latin typeface="Arial Narrow" pitchFamily="34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sz="2400" b="1" kern="1200" dirty="0" err="1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X6</a:t>
                      </a:r>
                      <a:r>
                        <a:rPr lang="en-US" sz="2400" b="1" kern="1200" dirty="0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 - </a:t>
                      </a:r>
                      <a:r>
                        <a:rPr lang="en-US" sz="2400" b="1" kern="1200" dirty="0" err="1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X5</a:t>
                      </a:r>
                      <a:r>
                        <a:rPr lang="en-US" sz="2400" b="1" kern="1200" dirty="0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 + </a:t>
                      </a:r>
                      <a:r>
                        <a:rPr lang="en-US" sz="2400" b="1" kern="1200" dirty="0" err="1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YF</a:t>
                      </a:r>
                      <a:r>
                        <a:rPr lang="en-US" sz="2400" b="1" kern="1200" dirty="0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 &gt;= 8</a:t>
                      </a:r>
                      <a:endParaRPr lang="es-PE" sz="2400" b="1" kern="1200" dirty="0">
                        <a:solidFill>
                          <a:schemeClr val="tx2"/>
                        </a:solidFill>
                        <a:effectLst/>
                        <a:latin typeface="Arial Narrow" pitchFamily="34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sz="2400" b="1" kern="1200" dirty="0" err="1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X7</a:t>
                      </a:r>
                      <a:r>
                        <a:rPr lang="en-US" sz="2400" b="1" kern="1200" dirty="0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 - </a:t>
                      </a:r>
                      <a:r>
                        <a:rPr lang="en-US" sz="2400" b="1" kern="1200" dirty="0" err="1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X6</a:t>
                      </a:r>
                      <a:r>
                        <a:rPr lang="en-US" sz="2400" b="1" kern="1200" dirty="0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 + </a:t>
                      </a:r>
                      <a:r>
                        <a:rPr lang="en-US" sz="2400" b="1" kern="1200" dirty="0" err="1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YH</a:t>
                      </a:r>
                      <a:r>
                        <a:rPr lang="en-US" sz="2400" b="1" kern="1200" dirty="0"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  <a:ea typeface="+mn-ea"/>
                          <a:cs typeface="+mn-cs"/>
                        </a:rPr>
                        <a:t> &gt;= 2</a:t>
                      </a:r>
                      <a:endParaRPr lang="es-PE" sz="2400" b="1" kern="1200" dirty="0">
                        <a:solidFill>
                          <a:schemeClr val="tx2"/>
                        </a:solidFill>
                        <a:effectLst/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4 Rectángulo"/>
          <p:cNvSpPr/>
          <p:nvPr/>
        </p:nvSpPr>
        <p:spPr>
          <a:xfrm>
            <a:off x="168760" y="1255120"/>
            <a:ext cx="5927240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sz="2400" b="1" dirty="0">
                <a:solidFill>
                  <a:schemeClr val="tx2"/>
                </a:solidFill>
                <a:latin typeface="Arial Narrow" pitchFamily="34" charset="0"/>
              </a:rPr>
              <a:t>MIN 	</a:t>
            </a:r>
            <a:r>
              <a:rPr lang="es-ES" sz="2400" b="1" dirty="0" err="1">
                <a:solidFill>
                  <a:schemeClr val="tx2"/>
                </a:solidFill>
                <a:latin typeface="Arial Narrow" pitchFamily="34" charset="0"/>
              </a:rPr>
              <a:t>1000YA</a:t>
            </a:r>
            <a:r>
              <a:rPr lang="es-ES" sz="2400" b="1" dirty="0">
                <a:solidFill>
                  <a:schemeClr val="tx2"/>
                </a:solidFill>
                <a:latin typeface="Arial Narrow" pitchFamily="34" charset="0"/>
              </a:rPr>
              <a:t> + </a:t>
            </a:r>
            <a:r>
              <a:rPr lang="es-ES" sz="2400" b="1" dirty="0" err="1">
                <a:solidFill>
                  <a:schemeClr val="tx2"/>
                </a:solidFill>
                <a:latin typeface="Arial Narrow" pitchFamily="34" charset="0"/>
              </a:rPr>
              <a:t>1500YB</a:t>
            </a:r>
            <a:r>
              <a:rPr lang="es-ES" sz="2400" b="1" dirty="0">
                <a:solidFill>
                  <a:schemeClr val="tx2"/>
                </a:solidFill>
                <a:latin typeface="Arial Narrow" pitchFamily="34" charset="0"/>
              </a:rPr>
              <a:t> + </a:t>
            </a:r>
            <a:r>
              <a:rPr lang="es-ES" sz="2400" b="1" dirty="0" err="1">
                <a:solidFill>
                  <a:schemeClr val="tx2"/>
                </a:solidFill>
                <a:latin typeface="Arial Narrow" pitchFamily="34" charset="0"/>
              </a:rPr>
              <a:t>500YC</a:t>
            </a:r>
            <a:r>
              <a:rPr lang="es-ES" sz="2400" b="1" dirty="0">
                <a:solidFill>
                  <a:schemeClr val="tx2"/>
                </a:solidFill>
                <a:latin typeface="Arial Narrow" pitchFamily="34" charset="0"/>
              </a:rPr>
              <a:t> +</a:t>
            </a:r>
            <a:r>
              <a:rPr lang="es-ES" sz="2400" b="1" dirty="0" err="1">
                <a:solidFill>
                  <a:schemeClr val="tx2"/>
                </a:solidFill>
                <a:latin typeface="Arial Narrow" pitchFamily="34" charset="0"/>
              </a:rPr>
              <a:t>750YD</a:t>
            </a:r>
            <a:r>
              <a:rPr lang="es-ES" sz="2400" b="1" dirty="0">
                <a:solidFill>
                  <a:schemeClr val="tx2"/>
                </a:solidFill>
                <a:latin typeface="Arial Narrow" pitchFamily="34" charset="0"/>
              </a:rPr>
              <a:t> </a:t>
            </a:r>
          </a:p>
          <a:p>
            <a:r>
              <a:rPr lang="es-ES" sz="2400" b="1" dirty="0">
                <a:solidFill>
                  <a:schemeClr val="tx2"/>
                </a:solidFill>
                <a:latin typeface="Arial Narrow" pitchFamily="34" charset="0"/>
              </a:rPr>
              <a:t>          + </a:t>
            </a:r>
            <a:r>
              <a:rPr lang="es-ES" sz="2400" b="1" dirty="0" err="1">
                <a:solidFill>
                  <a:schemeClr val="tx2"/>
                </a:solidFill>
                <a:latin typeface="Arial Narrow" pitchFamily="34" charset="0"/>
              </a:rPr>
              <a:t>600YE</a:t>
            </a:r>
            <a:r>
              <a:rPr lang="es-ES" sz="2400" b="1" dirty="0">
                <a:solidFill>
                  <a:schemeClr val="tx2"/>
                </a:solidFill>
                <a:latin typeface="Arial Narrow" pitchFamily="34" charset="0"/>
              </a:rPr>
              <a:t> </a:t>
            </a:r>
            <a:r>
              <a:rPr lang="en-US" sz="2400" b="1" dirty="0">
                <a:solidFill>
                  <a:schemeClr val="tx2"/>
                </a:solidFill>
                <a:latin typeface="Arial Narrow" pitchFamily="34" charset="0"/>
              </a:rPr>
              <a:t>+</a:t>
            </a:r>
            <a:r>
              <a:rPr lang="en-US" sz="2400" b="1" dirty="0" err="1">
                <a:solidFill>
                  <a:schemeClr val="tx2"/>
                </a:solidFill>
                <a:latin typeface="Arial Narrow" pitchFamily="34" charset="0"/>
              </a:rPr>
              <a:t>1250YF</a:t>
            </a:r>
            <a:r>
              <a:rPr lang="en-US" sz="2400" b="1" dirty="0">
                <a:solidFill>
                  <a:schemeClr val="tx2"/>
                </a:solidFill>
                <a:latin typeface="Arial Narrow" pitchFamily="34" charset="0"/>
              </a:rPr>
              <a:t> + </a:t>
            </a:r>
            <a:r>
              <a:rPr lang="en-US" sz="2400" b="1" dirty="0" err="1">
                <a:solidFill>
                  <a:schemeClr val="tx2"/>
                </a:solidFill>
                <a:latin typeface="Arial Narrow" pitchFamily="34" charset="0"/>
              </a:rPr>
              <a:t>2500YG</a:t>
            </a:r>
            <a:r>
              <a:rPr lang="en-US" sz="2400" b="1" dirty="0">
                <a:solidFill>
                  <a:schemeClr val="tx2"/>
                </a:solidFill>
                <a:latin typeface="Arial Narrow" pitchFamily="34" charset="0"/>
              </a:rPr>
              <a:t> + </a:t>
            </a:r>
            <a:r>
              <a:rPr lang="en-US" sz="2400" b="1" dirty="0" err="1">
                <a:solidFill>
                  <a:schemeClr val="tx2"/>
                </a:solidFill>
                <a:latin typeface="Arial Narrow" pitchFamily="34" charset="0"/>
              </a:rPr>
              <a:t>0YH</a:t>
            </a:r>
            <a:endParaRPr lang="es-PE" sz="2400" b="1" dirty="0">
              <a:solidFill>
                <a:schemeClr val="tx2"/>
              </a:solidFill>
              <a:latin typeface="Arial Narrow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CB6BF81-EBE6-B24C-D0F0-90F25A446169}"/>
              </a:ext>
            </a:extLst>
          </p:cNvPr>
          <p:cNvSpPr/>
          <p:nvPr/>
        </p:nvSpPr>
        <p:spPr>
          <a:xfrm>
            <a:off x="6096000" y="136525"/>
            <a:ext cx="6096000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spcFirstLastPara="1"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5800"/>
              </a:lnSpc>
              <a:spcBef>
                <a:spcPct val="0"/>
              </a:spcBef>
            </a:pPr>
            <a:r>
              <a:rPr lang="es-PE" sz="3200" dirty="0">
                <a:solidFill>
                  <a:schemeClr val="bg1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Bauhaus 93" pitchFamily="82" charset="0"/>
              </a:rPr>
              <a:t>Modelo matemático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A5A3E6D-7373-E5C8-6C3D-1FC10EE81CA0}"/>
              </a:ext>
            </a:extLst>
          </p:cNvPr>
          <p:cNvSpPr/>
          <p:nvPr/>
        </p:nvSpPr>
        <p:spPr>
          <a:xfrm>
            <a:off x="6882063" y="1328737"/>
            <a:ext cx="4662063" cy="541263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just">
              <a:tabLst>
                <a:tab pos="-457200" algn="l"/>
              </a:tabLst>
            </a:pPr>
            <a:r>
              <a:rPr lang="en-US" sz="1600" b="1" spc="-15" dirty="0">
                <a:latin typeface="Times New Roman" panose="02020603050405020304" pitchFamily="18" charset="0"/>
                <a:ea typeface="Calibri" panose="020F0502020204030204" pitchFamily="34" charset="0"/>
              </a:rPr>
              <a:t>1)      10200.00</a:t>
            </a:r>
            <a:endParaRPr lang="es-PE" sz="16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50215" algn="just">
              <a:lnSpc>
                <a:spcPct val="115000"/>
              </a:lnSpc>
              <a:tabLst>
                <a:tab pos="-457200" algn="l"/>
              </a:tabLst>
            </a:pPr>
            <a:r>
              <a:rPr lang="en-US" sz="1600" b="1" spc="-15" dirty="0">
                <a:latin typeface="Times New Roman" panose="02020603050405020304" pitchFamily="18" charset="0"/>
                <a:ea typeface="Calibri" panose="020F0502020204030204" pitchFamily="34" charset="0"/>
              </a:rPr>
              <a:t>VARIABLE        VALUE          REDUCED COST</a:t>
            </a:r>
            <a:endParaRPr lang="es-PE" sz="16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50215" algn="just">
              <a:lnSpc>
                <a:spcPct val="115000"/>
              </a:lnSpc>
              <a:tabLst>
                <a:tab pos="-457200" algn="l"/>
              </a:tabLst>
            </a:pPr>
            <a:r>
              <a:rPr lang="en-US" sz="1600" b="1" spc="-15" dirty="0">
                <a:latin typeface="Times New Roman" panose="02020603050405020304" pitchFamily="18" charset="0"/>
                <a:ea typeface="Calibri" panose="020F0502020204030204" pitchFamily="34" charset="0"/>
              </a:rPr>
              <a:t>YA         	  4.000000             0.000000</a:t>
            </a:r>
            <a:endParaRPr lang="es-PE" sz="16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50215" algn="just">
              <a:lnSpc>
                <a:spcPct val="115000"/>
              </a:lnSpc>
              <a:tabLst>
                <a:tab pos="-457200" algn="l"/>
              </a:tabLst>
            </a:pPr>
            <a:r>
              <a:rPr lang="en-US" sz="1600" b="1" spc="-15" dirty="0" err="1">
                <a:latin typeface="Times New Roman" panose="02020603050405020304" pitchFamily="18" charset="0"/>
                <a:ea typeface="Calibri" panose="020F0502020204030204" pitchFamily="34" charset="0"/>
              </a:rPr>
              <a:t>YB</a:t>
            </a:r>
            <a:r>
              <a:rPr lang="en-US" sz="1600" b="1" spc="-15" dirty="0">
                <a:latin typeface="Times New Roman" panose="02020603050405020304" pitchFamily="18" charset="0"/>
                <a:ea typeface="Calibri" panose="020F0502020204030204" pitchFamily="34" charset="0"/>
              </a:rPr>
              <a:t>         	  0.000000       1500.000000</a:t>
            </a:r>
            <a:endParaRPr lang="es-PE" sz="16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50215" algn="just">
              <a:lnSpc>
                <a:spcPct val="115000"/>
              </a:lnSpc>
              <a:tabLst>
                <a:tab pos="-457200" algn="l"/>
              </a:tabLst>
            </a:pPr>
            <a:r>
              <a:rPr lang="en-US" sz="1600" b="1" spc="-15" dirty="0" err="1">
                <a:latin typeface="Times New Roman" panose="02020603050405020304" pitchFamily="18" charset="0"/>
                <a:ea typeface="Calibri" panose="020F0502020204030204" pitchFamily="34" charset="0"/>
              </a:rPr>
              <a:t>YC</a:t>
            </a:r>
            <a:r>
              <a:rPr lang="en-US" sz="1600" b="1" spc="-15" dirty="0">
                <a:latin typeface="Times New Roman" panose="02020603050405020304" pitchFamily="18" charset="0"/>
                <a:ea typeface="Calibri" panose="020F0502020204030204" pitchFamily="34" charset="0"/>
              </a:rPr>
              <a:t>         	  0.000000         500.000000</a:t>
            </a:r>
            <a:endParaRPr lang="es-PE" sz="16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50215" algn="just">
              <a:lnSpc>
                <a:spcPct val="115000"/>
              </a:lnSpc>
              <a:tabLst>
                <a:tab pos="-457200" algn="l"/>
              </a:tabLst>
            </a:pPr>
            <a:r>
              <a:rPr lang="en-US" sz="1600" b="1" spc="-15" dirty="0" err="1">
                <a:latin typeface="Times New Roman" panose="02020603050405020304" pitchFamily="18" charset="0"/>
                <a:ea typeface="Calibri" panose="020F0502020204030204" pitchFamily="34" charset="0"/>
              </a:rPr>
              <a:t>YD</a:t>
            </a:r>
            <a:r>
              <a:rPr lang="en-US" sz="1600" b="1" spc="-15" dirty="0">
                <a:latin typeface="Times New Roman" panose="02020603050405020304" pitchFamily="18" charset="0"/>
                <a:ea typeface="Calibri" panose="020F0502020204030204" pitchFamily="34" charset="0"/>
              </a:rPr>
              <a:t>         	  0.000000         150.000000</a:t>
            </a:r>
            <a:endParaRPr lang="es-PE" sz="16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50215" algn="just">
              <a:lnSpc>
                <a:spcPct val="115000"/>
              </a:lnSpc>
              <a:tabLst>
                <a:tab pos="-457200" algn="l"/>
              </a:tabLst>
            </a:pPr>
            <a:r>
              <a:rPr lang="en-US" sz="1600" b="1" spc="-15" dirty="0">
                <a:latin typeface="Times New Roman" panose="02020603050405020304" pitchFamily="18" charset="0"/>
                <a:ea typeface="Calibri" panose="020F0502020204030204" pitchFamily="34" charset="0"/>
              </a:rPr>
              <a:t>YE         	  2.000000             0.000000</a:t>
            </a:r>
            <a:endParaRPr lang="es-PE" sz="16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50215" algn="just">
              <a:lnSpc>
                <a:spcPct val="115000"/>
              </a:lnSpc>
              <a:tabLst>
                <a:tab pos="-457200" algn="l"/>
              </a:tabLst>
            </a:pPr>
            <a:r>
              <a:rPr lang="en-US" sz="1600" b="1" spc="-15" dirty="0" err="1">
                <a:latin typeface="Times New Roman" panose="02020603050405020304" pitchFamily="18" charset="0"/>
                <a:ea typeface="Calibri" panose="020F0502020204030204" pitchFamily="34" charset="0"/>
              </a:rPr>
              <a:t>YF</a:t>
            </a:r>
            <a:r>
              <a:rPr lang="en-US" sz="1600" b="1" spc="-15" dirty="0">
                <a:latin typeface="Times New Roman" panose="02020603050405020304" pitchFamily="18" charset="0"/>
                <a:ea typeface="Calibri" panose="020F0502020204030204" pitchFamily="34" charset="0"/>
              </a:rPr>
              <a:t>         	  2.000000             0.000000</a:t>
            </a:r>
            <a:endParaRPr lang="es-PE" sz="16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50215" algn="just">
              <a:lnSpc>
                <a:spcPct val="115000"/>
              </a:lnSpc>
              <a:tabLst>
                <a:tab pos="-457200" algn="l"/>
              </a:tabLst>
            </a:pPr>
            <a:r>
              <a:rPr lang="en-US" sz="1600" b="1" spc="-15" dirty="0" err="1">
                <a:latin typeface="Times New Roman" panose="02020603050405020304" pitchFamily="18" charset="0"/>
                <a:ea typeface="Calibri" panose="020F0502020204030204" pitchFamily="34" charset="0"/>
              </a:rPr>
              <a:t>YG</a:t>
            </a:r>
            <a:r>
              <a:rPr lang="en-US" sz="1600" b="1" spc="-15" dirty="0">
                <a:latin typeface="Times New Roman" panose="02020603050405020304" pitchFamily="18" charset="0"/>
                <a:ea typeface="Calibri" panose="020F0502020204030204" pitchFamily="34" charset="0"/>
              </a:rPr>
              <a:t>         	  1.000000             0.000000</a:t>
            </a:r>
            <a:endParaRPr lang="es-PE" sz="16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50215" algn="just">
              <a:lnSpc>
                <a:spcPct val="115000"/>
              </a:lnSpc>
              <a:tabLst>
                <a:tab pos="-457200" algn="l"/>
              </a:tabLst>
            </a:pPr>
            <a:r>
              <a:rPr lang="en-US" sz="1600" b="1" spc="-15" dirty="0" err="1">
                <a:latin typeface="Times New Roman" panose="02020603050405020304" pitchFamily="18" charset="0"/>
                <a:ea typeface="Calibri" panose="020F0502020204030204" pitchFamily="34" charset="0"/>
              </a:rPr>
              <a:t>YH</a:t>
            </a:r>
            <a:r>
              <a:rPr lang="en-US" sz="1600" b="1" spc="-15" dirty="0">
                <a:latin typeface="Times New Roman" panose="02020603050405020304" pitchFamily="18" charset="0"/>
                <a:ea typeface="Calibri" panose="020F0502020204030204" pitchFamily="34" charset="0"/>
              </a:rPr>
              <a:t>         	  0.000000             0.000000</a:t>
            </a:r>
            <a:endParaRPr lang="es-PE" sz="16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50215" algn="just">
              <a:lnSpc>
                <a:spcPct val="115000"/>
              </a:lnSpc>
              <a:tabLst>
                <a:tab pos="-457200" algn="l"/>
              </a:tabLst>
            </a:pPr>
            <a:r>
              <a:rPr lang="en-US" sz="1600" b="1" spc="-15" dirty="0" err="1">
                <a:latin typeface="Times New Roman" panose="02020603050405020304" pitchFamily="18" charset="0"/>
                <a:ea typeface="Calibri" panose="020F0502020204030204" pitchFamily="34" charset="0"/>
              </a:rPr>
              <a:t>X0</a:t>
            </a:r>
            <a:r>
              <a:rPr lang="en-US" sz="1600" b="1" spc="-15" dirty="0">
                <a:latin typeface="Times New Roman" panose="02020603050405020304" pitchFamily="18" charset="0"/>
                <a:ea typeface="Calibri" panose="020F0502020204030204" pitchFamily="34" charset="0"/>
              </a:rPr>
              <a:t>         	  0.000000       3100.000000</a:t>
            </a:r>
            <a:endParaRPr lang="es-PE" sz="16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50215" algn="just">
              <a:lnSpc>
                <a:spcPct val="115000"/>
              </a:lnSpc>
              <a:tabLst>
                <a:tab pos="-457200" algn="l"/>
              </a:tabLst>
            </a:pPr>
            <a:r>
              <a:rPr lang="en-US" sz="1600" b="1" spc="-15" dirty="0" err="1">
                <a:latin typeface="Times New Roman" panose="02020603050405020304" pitchFamily="18" charset="0"/>
                <a:ea typeface="Calibri" panose="020F0502020204030204" pitchFamily="34" charset="0"/>
              </a:rPr>
              <a:t>X7</a:t>
            </a:r>
            <a:r>
              <a:rPr lang="en-US" sz="1600" b="1" spc="-15" dirty="0">
                <a:latin typeface="Times New Roman" panose="02020603050405020304" pitchFamily="18" charset="0"/>
                <a:ea typeface="Calibri" panose="020F0502020204030204" pitchFamily="34" charset="0"/>
              </a:rPr>
              <a:t>        	47.000000             0.000000</a:t>
            </a:r>
            <a:endParaRPr lang="es-PE" sz="16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50215" algn="just">
              <a:lnSpc>
                <a:spcPct val="115000"/>
              </a:lnSpc>
              <a:tabLst>
                <a:tab pos="-457200" algn="l"/>
              </a:tabLst>
            </a:pPr>
            <a:r>
              <a:rPr lang="en-US" sz="1600" b="1" spc="-15" dirty="0" err="1">
                <a:latin typeface="Times New Roman" panose="02020603050405020304" pitchFamily="18" charset="0"/>
                <a:ea typeface="Calibri" panose="020F0502020204030204" pitchFamily="34" charset="0"/>
              </a:rPr>
              <a:t>X1</a:t>
            </a:r>
            <a:r>
              <a:rPr lang="en-US" sz="1600" b="1" spc="-15" dirty="0">
                <a:latin typeface="Times New Roman" panose="02020603050405020304" pitchFamily="18" charset="0"/>
                <a:ea typeface="Calibri" panose="020F0502020204030204" pitchFamily="34" charset="0"/>
              </a:rPr>
              <a:t>        	26.000000             0.000000</a:t>
            </a:r>
            <a:endParaRPr lang="es-PE" sz="16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50215" algn="just">
              <a:lnSpc>
                <a:spcPct val="115000"/>
              </a:lnSpc>
              <a:tabLst>
                <a:tab pos="-457200" algn="l"/>
              </a:tabLst>
            </a:pPr>
            <a:r>
              <a:rPr lang="en-US" sz="1600" b="1" spc="-15" dirty="0" err="1">
                <a:latin typeface="Times New Roman" panose="02020603050405020304" pitchFamily="18" charset="0"/>
                <a:ea typeface="Calibri" panose="020F0502020204030204" pitchFamily="34" charset="0"/>
              </a:rPr>
              <a:t>X2</a:t>
            </a:r>
            <a:r>
              <a:rPr lang="en-US" sz="1600" b="1" spc="-15" dirty="0">
                <a:latin typeface="Times New Roman" panose="02020603050405020304" pitchFamily="18" charset="0"/>
                <a:ea typeface="Calibri" panose="020F0502020204030204" pitchFamily="34" charset="0"/>
              </a:rPr>
              <a:t>        	39.000000             0.000000</a:t>
            </a:r>
            <a:endParaRPr lang="es-PE" sz="16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50215" algn="just">
              <a:lnSpc>
                <a:spcPct val="115000"/>
              </a:lnSpc>
              <a:tabLst>
                <a:tab pos="-457200" algn="l"/>
              </a:tabLst>
            </a:pPr>
            <a:r>
              <a:rPr lang="en-US" sz="1600" b="1" spc="-15" dirty="0" err="1">
                <a:latin typeface="Times New Roman" panose="02020603050405020304" pitchFamily="18" charset="0"/>
                <a:ea typeface="Calibri" panose="020F0502020204030204" pitchFamily="34" charset="0"/>
              </a:rPr>
              <a:t>X3</a:t>
            </a:r>
            <a:r>
              <a:rPr lang="en-US" sz="1600" b="1" spc="-15" dirty="0">
                <a:latin typeface="Times New Roman" panose="02020603050405020304" pitchFamily="18" charset="0"/>
                <a:ea typeface="Calibri" panose="020F0502020204030204" pitchFamily="34" charset="0"/>
              </a:rPr>
              <a:t>        	41.000000             0.000000</a:t>
            </a:r>
            <a:endParaRPr lang="es-PE" sz="16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50215" algn="just">
              <a:lnSpc>
                <a:spcPct val="115000"/>
              </a:lnSpc>
              <a:tabLst>
                <a:tab pos="-457200" algn="l"/>
              </a:tabLst>
            </a:pPr>
            <a:r>
              <a:rPr lang="en-US" sz="1600" b="1" spc="-15" dirty="0" err="1">
                <a:latin typeface="Times New Roman" panose="02020603050405020304" pitchFamily="18" charset="0"/>
                <a:ea typeface="Calibri" panose="020F0502020204030204" pitchFamily="34" charset="0"/>
              </a:rPr>
              <a:t>X4</a:t>
            </a:r>
            <a:r>
              <a:rPr lang="en-US" sz="1600" b="1" spc="-15" dirty="0">
                <a:latin typeface="Times New Roman" panose="02020603050405020304" pitchFamily="18" charset="0"/>
                <a:ea typeface="Calibri" panose="020F0502020204030204" pitchFamily="34" charset="0"/>
              </a:rPr>
              <a:t>        	31.000000             0.000000</a:t>
            </a:r>
            <a:endParaRPr lang="es-PE" sz="16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50215" algn="just">
              <a:lnSpc>
                <a:spcPct val="115000"/>
              </a:lnSpc>
              <a:tabLst>
                <a:tab pos="-457200" algn="l"/>
              </a:tabLst>
            </a:pPr>
            <a:r>
              <a:rPr lang="es-PE" sz="1600" b="1" spc="-15" dirty="0" err="1">
                <a:latin typeface="Times New Roman" panose="02020603050405020304" pitchFamily="18" charset="0"/>
                <a:ea typeface="Calibri" panose="020F0502020204030204" pitchFamily="34" charset="0"/>
              </a:rPr>
              <a:t>X5</a:t>
            </a:r>
            <a:r>
              <a:rPr lang="es-PE" sz="1600" b="1" spc="-15" dirty="0">
                <a:latin typeface="Times New Roman" panose="02020603050405020304" pitchFamily="18" charset="0"/>
                <a:ea typeface="Calibri" panose="020F0502020204030204" pitchFamily="34" charset="0"/>
              </a:rPr>
              <a:t>        	39.000000             0.000000</a:t>
            </a:r>
            <a:endParaRPr lang="es-PE" sz="16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50215" algn="just">
              <a:lnSpc>
                <a:spcPct val="115000"/>
              </a:lnSpc>
              <a:tabLst>
                <a:tab pos="-457200" algn="l"/>
              </a:tabLst>
            </a:pPr>
            <a:r>
              <a:rPr lang="es-PE" sz="1600" b="1" spc="-15" dirty="0" err="1">
                <a:latin typeface="Times New Roman" panose="02020603050405020304" pitchFamily="18" charset="0"/>
                <a:ea typeface="Calibri" panose="020F0502020204030204" pitchFamily="34" charset="0"/>
              </a:rPr>
              <a:t>X6</a:t>
            </a:r>
            <a:r>
              <a:rPr lang="es-PE" sz="1600" b="1" spc="-15" dirty="0">
                <a:latin typeface="Times New Roman" panose="02020603050405020304" pitchFamily="18" charset="0"/>
                <a:ea typeface="Calibri" panose="020F0502020204030204" pitchFamily="34" charset="0"/>
              </a:rPr>
              <a:t>        	45.000000             0.000000</a:t>
            </a:r>
            <a:endParaRPr lang="es-PE" sz="16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6199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ANIVAL TORRE</a:t>
            </a:r>
            <a:endParaRPr lang="en-US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38C50-023F-42B7-BFCC-78669C22CA39}" type="slidenum">
              <a:rPr lang="en-US" smtClean="0"/>
              <a:pPr/>
              <a:t>15</a:t>
            </a:fld>
            <a:endParaRPr lang="en-US" dirty="0"/>
          </a:p>
        </p:txBody>
      </p:sp>
      <p:graphicFrame>
        <p:nvGraphicFramePr>
          <p:cNvPr id="6" name="Tab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0563629"/>
              </p:ext>
            </p:extLst>
          </p:nvPr>
        </p:nvGraphicFramePr>
        <p:xfrm>
          <a:off x="1775520" y="1412776"/>
          <a:ext cx="6506387" cy="50403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17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43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43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43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78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77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4851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>
                          <a:effectLst/>
                        </a:rPr>
                        <a:t>Tarea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 err="1">
                          <a:effectLst/>
                        </a:rPr>
                        <a:t>Prece</a:t>
                      </a:r>
                      <a:r>
                        <a:rPr lang="es-ES" sz="2000" b="1" dirty="0">
                          <a:effectLst/>
                        </a:rPr>
                        <a:t>-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 err="1">
                          <a:effectLst/>
                        </a:rPr>
                        <a:t>dencia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>
                          <a:effectLst/>
                        </a:rPr>
                        <a:t>Tiempo</a:t>
                      </a:r>
                      <a:endParaRPr lang="es-PE" sz="2000" b="1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>
                          <a:effectLst/>
                        </a:rPr>
                        <a:t>Normal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>
                          <a:effectLst/>
                        </a:rPr>
                        <a:t>Costo</a:t>
                      </a:r>
                      <a:endParaRPr lang="es-PE" sz="2000" b="1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>
                          <a:effectLst/>
                        </a:rPr>
                        <a:t>Normal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>
                          <a:effectLst/>
                        </a:rPr>
                        <a:t>Tiempo</a:t>
                      </a:r>
                      <a:endParaRPr lang="es-PE" sz="2000" b="1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>
                          <a:effectLst/>
                        </a:rPr>
                        <a:t>Choque</a:t>
                      </a:r>
                      <a:endParaRPr lang="es-PE" sz="20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>
                          <a:effectLst/>
                        </a:rPr>
                        <a:t>Costo</a:t>
                      </a:r>
                      <a:endParaRPr lang="es-PE" sz="2000" b="1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>
                          <a:effectLst/>
                        </a:rPr>
                        <a:t>Choque</a:t>
                      </a:r>
                      <a:endParaRPr lang="es-PE" sz="20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65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>
                          <a:effectLst/>
                        </a:rPr>
                        <a:t>A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---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10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1000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8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1200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54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>
                          <a:effectLst/>
                        </a:rPr>
                        <a:t>B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A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5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500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4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1000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8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000" b="1" dirty="0">
                          <a:effectLst/>
                        </a:rPr>
                        <a:t>C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---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15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400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12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600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93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000" b="1" dirty="0">
                          <a:effectLst/>
                        </a:rPr>
                        <a:t>D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C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11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600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10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800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54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000" b="1" dirty="0">
                          <a:effectLst/>
                        </a:rPr>
                        <a:t>E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B,</a:t>
                      </a:r>
                      <a:r>
                        <a:rPr lang="es-ES" sz="2000" b="1" baseline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 C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10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200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8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400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8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000" b="1" dirty="0">
                          <a:effectLst/>
                        </a:rPr>
                        <a:t>F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C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5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500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3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800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28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000" b="1">
                          <a:effectLst/>
                        </a:rPr>
                        <a:t>G</a:t>
                      </a:r>
                      <a:endParaRPr lang="es-PE" sz="20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F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5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300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5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300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28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000" b="1" dirty="0">
                          <a:effectLst/>
                        </a:rPr>
                        <a:t>H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E, D, G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10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500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8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600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28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I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E, D, G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10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700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8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800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28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J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H, I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15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600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10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1000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096000" y="88878"/>
            <a:ext cx="6096000" cy="631904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spcFirstLastPara="1"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s-MX" sz="3200" dirty="0">
                <a:solidFill>
                  <a:schemeClr val="bg1"/>
                </a:solidFill>
                <a:latin typeface="Bauhaus 93" pitchFamily="82" charset="0"/>
                <a:ea typeface="+mn-ea"/>
                <a:cs typeface="+mn-cs"/>
              </a:rPr>
              <a:t>EJERCICIO 10.12 Disminuir  a 47 </a:t>
            </a:r>
            <a:r>
              <a:rPr lang="es-MX" sz="3200" dirty="0" err="1">
                <a:solidFill>
                  <a:schemeClr val="bg1"/>
                </a:solidFill>
                <a:latin typeface="Bauhaus 93" pitchFamily="82" charset="0"/>
                <a:ea typeface="+mn-ea"/>
                <a:cs typeface="+mn-cs"/>
              </a:rPr>
              <a:t>sem</a:t>
            </a:r>
            <a:r>
              <a:rPr lang="es-MX" sz="3200" dirty="0">
                <a:solidFill>
                  <a:schemeClr val="bg1"/>
                </a:solidFill>
                <a:latin typeface="Bauhaus 93" pitchFamily="82" charset="0"/>
                <a:ea typeface="+mn-ea"/>
                <a:cs typeface="+mn-cs"/>
              </a:rPr>
              <a:t>.</a:t>
            </a:r>
            <a:endParaRPr lang="es-ES" sz="3200" dirty="0">
              <a:solidFill>
                <a:schemeClr val="bg1"/>
              </a:solidFill>
              <a:latin typeface="Bauhaus 93" pitchFamily="82" charset="0"/>
              <a:ea typeface="+mn-ea"/>
              <a:cs typeface="+mn-cs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88CE0301-CAD5-D382-F6A8-1A9CA2E123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8983283"/>
              </p:ext>
            </p:extLst>
          </p:nvPr>
        </p:nvGraphicFramePr>
        <p:xfrm>
          <a:off x="9255357" y="1423987"/>
          <a:ext cx="1167813" cy="501797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67813">
                  <a:extLst>
                    <a:ext uri="{9D8B030D-6E8A-4147-A177-3AD203B41FA5}">
                      <a16:colId xmlns:a16="http://schemas.microsoft.com/office/drawing/2014/main" val="3248153866"/>
                    </a:ext>
                  </a:extLst>
                </a:gridCol>
              </a:tblGrid>
              <a:tr h="102609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u="sng" dirty="0">
                          <a:effectLst/>
                        </a:rPr>
                        <a:t>Costo</a:t>
                      </a:r>
                      <a:endParaRPr lang="es-PE" sz="20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Semana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93626562"/>
                  </a:ext>
                </a:extLst>
              </a:tr>
              <a:tr h="37165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100</a:t>
                      </a:r>
                      <a:endParaRPr lang="es-PE" sz="2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906351"/>
                  </a:ext>
                </a:extLst>
              </a:tr>
              <a:tr h="35854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500</a:t>
                      </a:r>
                      <a:endParaRPr lang="es-PE" sz="2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7643767"/>
                  </a:ext>
                </a:extLst>
              </a:tr>
              <a:tr h="4228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66,67</a:t>
                      </a:r>
                      <a:r>
                        <a:rPr lang="es-E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*</a:t>
                      </a:r>
                      <a:endParaRPr lang="es-PE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204688"/>
                  </a:ext>
                </a:extLst>
              </a:tr>
              <a:tr h="36593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200</a:t>
                      </a:r>
                      <a:r>
                        <a:rPr lang="es-E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*</a:t>
                      </a:r>
                      <a:endParaRPr lang="es-PE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868707"/>
                  </a:ext>
                </a:extLst>
              </a:tr>
              <a:tr h="35854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100</a:t>
                      </a:r>
                      <a:endParaRPr lang="es-PE" sz="2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4274458"/>
                  </a:ext>
                </a:extLst>
              </a:tr>
              <a:tr h="4228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150</a:t>
                      </a:r>
                      <a:endParaRPr lang="es-PE" sz="2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609911"/>
                  </a:ext>
                </a:extLst>
              </a:tr>
              <a:tr h="4228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--</a:t>
                      </a:r>
                      <a:endParaRPr lang="es-PE" sz="2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2048409"/>
                  </a:ext>
                </a:extLst>
              </a:tr>
              <a:tr h="4228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50</a:t>
                      </a:r>
                      <a:r>
                        <a:rPr lang="es-E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*</a:t>
                      </a:r>
                      <a:endParaRPr lang="es-PE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730888"/>
                  </a:ext>
                </a:extLst>
              </a:tr>
              <a:tr h="4228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50</a:t>
                      </a:r>
                      <a:r>
                        <a:rPr lang="es-E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*</a:t>
                      </a:r>
                      <a:endParaRPr lang="es-PE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7332121"/>
                  </a:ext>
                </a:extLst>
              </a:tr>
              <a:tr h="4228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80</a:t>
                      </a:r>
                      <a:r>
                        <a:rPr lang="es-E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*</a:t>
                      </a:r>
                      <a:endParaRPr lang="es-PE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654657"/>
                  </a:ext>
                </a:extLst>
              </a:tr>
            </a:tbl>
          </a:graphicData>
        </a:graphic>
      </p:graphicFrame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1D16489F-A040-7AC8-B7D6-7B5E039A53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0714883"/>
              </p:ext>
            </p:extLst>
          </p:nvPr>
        </p:nvGraphicFramePr>
        <p:xfrm>
          <a:off x="8393264" y="1412776"/>
          <a:ext cx="750736" cy="50403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50736">
                  <a:extLst>
                    <a:ext uri="{9D8B030D-6E8A-4147-A177-3AD203B41FA5}">
                      <a16:colId xmlns:a16="http://schemas.microsoft.com/office/drawing/2014/main" val="530054111"/>
                    </a:ext>
                  </a:extLst>
                </a:gridCol>
              </a:tblGrid>
              <a:tr h="104851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Red. Max.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08166223"/>
                  </a:ext>
                </a:extLst>
              </a:tr>
              <a:tr h="37165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2</a:t>
                      </a:r>
                      <a:endParaRPr lang="es-PE" sz="2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4617683"/>
                  </a:ext>
                </a:extLst>
              </a:tr>
              <a:tr h="35854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1</a:t>
                      </a:r>
                      <a:endParaRPr lang="es-PE" sz="2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483098"/>
                  </a:ext>
                </a:extLst>
              </a:tr>
              <a:tr h="4228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3</a:t>
                      </a:r>
                      <a:endParaRPr lang="es-PE" sz="2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866588"/>
                  </a:ext>
                </a:extLst>
              </a:tr>
              <a:tr h="36593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1</a:t>
                      </a:r>
                      <a:endParaRPr lang="es-PE" sz="2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4486"/>
                  </a:ext>
                </a:extLst>
              </a:tr>
              <a:tr h="35854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2</a:t>
                      </a:r>
                      <a:endParaRPr lang="es-PE" sz="2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511965"/>
                  </a:ext>
                </a:extLst>
              </a:tr>
              <a:tr h="4228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2</a:t>
                      </a:r>
                      <a:endParaRPr lang="es-PE" sz="2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9338312"/>
                  </a:ext>
                </a:extLst>
              </a:tr>
              <a:tr h="4228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--</a:t>
                      </a:r>
                      <a:endParaRPr lang="es-PE" sz="2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980417"/>
                  </a:ext>
                </a:extLst>
              </a:tr>
              <a:tr h="4228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2</a:t>
                      </a:r>
                      <a:endParaRPr lang="es-PE" sz="2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3289355"/>
                  </a:ext>
                </a:extLst>
              </a:tr>
              <a:tr h="4228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2</a:t>
                      </a:r>
                      <a:endParaRPr lang="es-PE" sz="2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878394"/>
                  </a:ext>
                </a:extLst>
              </a:tr>
              <a:tr h="4228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5</a:t>
                      </a:r>
                      <a:endParaRPr lang="es-PE" sz="2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4547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621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107086" y="143100"/>
            <a:ext cx="9148483" cy="672017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spcFirstLastPara="1"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s-MX" sz="3200" dirty="0">
                <a:solidFill>
                  <a:srgbClr val="FF0000"/>
                </a:solidFill>
                <a:latin typeface="Bauhaus 93" pitchFamily="82" charset="0"/>
                <a:ea typeface="+mn-ea"/>
                <a:cs typeface="+mn-cs"/>
              </a:rPr>
              <a:t>Red del 10.12</a:t>
            </a:r>
            <a:endParaRPr lang="es-ES" sz="3200" dirty="0">
              <a:solidFill>
                <a:srgbClr val="FF0000"/>
              </a:solidFill>
              <a:latin typeface="Bauhaus 93" pitchFamily="82" charset="0"/>
              <a:ea typeface="+mn-ea"/>
              <a:cs typeface="+mn-cs"/>
            </a:endParaRPr>
          </a:p>
        </p:txBody>
      </p:sp>
      <p:sp>
        <p:nvSpPr>
          <p:cNvPr id="52227" name="Oval 3">
            <a:hlinkHover r:id="" action="ppaction://noaction">
              <a:snd r:embed="rId3" name="gunshot.wav"/>
            </a:hlinkHover>
          </p:cNvPr>
          <p:cNvSpPr>
            <a:spLocks noChangeArrowheads="1"/>
          </p:cNvSpPr>
          <p:nvPr/>
        </p:nvSpPr>
        <p:spPr bwMode="auto">
          <a:xfrm>
            <a:off x="3151275" y="3448893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0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28" name="Oval 4"/>
          <p:cNvSpPr>
            <a:spLocks noChangeArrowheads="1"/>
          </p:cNvSpPr>
          <p:nvPr/>
        </p:nvSpPr>
        <p:spPr bwMode="auto">
          <a:xfrm>
            <a:off x="5997663" y="5393581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4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29" name="Oval 5"/>
          <p:cNvSpPr>
            <a:spLocks noChangeArrowheads="1"/>
          </p:cNvSpPr>
          <p:nvPr/>
        </p:nvSpPr>
        <p:spPr bwMode="auto">
          <a:xfrm>
            <a:off x="5947061" y="1290464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3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30" name="Oval 6"/>
          <p:cNvSpPr>
            <a:spLocks noChangeArrowheads="1"/>
          </p:cNvSpPr>
          <p:nvPr/>
        </p:nvSpPr>
        <p:spPr bwMode="auto">
          <a:xfrm>
            <a:off x="9294913" y="3306017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7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31" name="Oval 7"/>
          <p:cNvSpPr>
            <a:spLocks noChangeArrowheads="1"/>
          </p:cNvSpPr>
          <p:nvPr/>
        </p:nvSpPr>
        <p:spPr bwMode="auto">
          <a:xfrm>
            <a:off x="4124413" y="5393581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2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32" name="Oval 8"/>
          <p:cNvSpPr>
            <a:spLocks noChangeArrowheads="1"/>
          </p:cNvSpPr>
          <p:nvPr/>
        </p:nvSpPr>
        <p:spPr bwMode="auto">
          <a:xfrm>
            <a:off x="4146235" y="1277605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1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33" name="Oval 9"/>
          <p:cNvSpPr>
            <a:spLocks noChangeArrowheads="1"/>
          </p:cNvSpPr>
          <p:nvPr/>
        </p:nvSpPr>
        <p:spPr bwMode="auto">
          <a:xfrm>
            <a:off x="7508963" y="3306017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5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34" name="Oval 10"/>
          <p:cNvSpPr>
            <a:spLocks noChangeArrowheads="1"/>
          </p:cNvSpPr>
          <p:nvPr/>
        </p:nvSpPr>
        <p:spPr bwMode="auto">
          <a:xfrm>
            <a:off x="9366351" y="5449157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6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35" name="Oval 11"/>
          <p:cNvSpPr>
            <a:spLocks noChangeArrowheads="1"/>
          </p:cNvSpPr>
          <p:nvPr/>
        </p:nvSpPr>
        <p:spPr bwMode="auto">
          <a:xfrm>
            <a:off x="11072920" y="3377455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8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36" name="Line 12"/>
          <p:cNvSpPr>
            <a:spLocks noChangeShapeType="1"/>
          </p:cNvSpPr>
          <p:nvPr/>
        </p:nvSpPr>
        <p:spPr bwMode="auto">
          <a:xfrm flipV="1">
            <a:off x="3865651" y="2168035"/>
            <a:ext cx="535567" cy="1352296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2237" name="Line 13"/>
          <p:cNvSpPr>
            <a:spLocks noChangeShapeType="1"/>
          </p:cNvSpPr>
          <p:nvPr/>
        </p:nvSpPr>
        <p:spPr bwMode="auto">
          <a:xfrm>
            <a:off x="3794187" y="4377587"/>
            <a:ext cx="546100" cy="108743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2238" name="Line 14"/>
          <p:cNvSpPr>
            <a:spLocks noChangeShapeType="1"/>
          </p:cNvSpPr>
          <p:nvPr/>
        </p:nvSpPr>
        <p:spPr bwMode="auto">
          <a:xfrm>
            <a:off x="5067977" y="5896818"/>
            <a:ext cx="9042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2239" name="Line 15"/>
          <p:cNvSpPr>
            <a:spLocks noChangeShapeType="1"/>
          </p:cNvSpPr>
          <p:nvPr/>
        </p:nvSpPr>
        <p:spPr bwMode="auto">
          <a:xfrm flipV="1">
            <a:off x="6794585" y="4163273"/>
            <a:ext cx="928693" cy="1357321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2242" name="Line 18"/>
          <p:cNvSpPr>
            <a:spLocks noChangeShapeType="1"/>
          </p:cNvSpPr>
          <p:nvPr/>
        </p:nvSpPr>
        <p:spPr bwMode="auto">
          <a:xfrm>
            <a:off x="8294781" y="4091835"/>
            <a:ext cx="1285884" cy="142876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2243" name="Line 19"/>
          <p:cNvSpPr>
            <a:spLocks noChangeShapeType="1"/>
          </p:cNvSpPr>
          <p:nvPr/>
        </p:nvSpPr>
        <p:spPr bwMode="auto">
          <a:xfrm>
            <a:off x="5067977" y="1735194"/>
            <a:ext cx="8493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2244" name="Line 20"/>
          <p:cNvSpPr>
            <a:spLocks noChangeShapeType="1"/>
          </p:cNvSpPr>
          <p:nvPr/>
        </p:nvSpPr>
        <p:spPr bwMode="auto">
          <a:xfrm>
            <a:off x="6651708" y="2087023"/>
            <a:ext cx="1071570" cy="129043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2245" name="Line 21"/>
          <p:cNvSpPr>
            <a:spLocks noChangeShapeType="1"/>
          </p:cNvSpPr>
          <p:nvPr/>
        </p:nvSpPr>
        <p:spPr bwMode="auto">
          <a:xfrm flipV="1">
            <a:off x="4773702" y="2180893"/>
            <a:ext cx="1369015" cy="3257136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2246" name="Line 22"/>
          <p:cNvSpPr>
            <a:spLocks noChangeShapeType="1"/>
          </p:cNvSpPr>
          <p:nvPr/>
        </p:nvSpPr>
        <p:spPr bwMode="auto">
          <a:xfrm flipV="1">
            <a:off x="5008651" y="4020397"/>
            <a:ext cx="2571751" cy="1736721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2247" name="Text Box 23"/>
          <p:cNvSpPr txBox="1">
            <a:spLocks noChangeArrowheads="1"/>
          </p:cNvSpPr>
          <p:nvPr/>
        </p:nvSpPr>
        <p:spPr bwMode="auto">
          <a:xfrm>
            <a:off x="3762316" y="2448768"/>
            <a:ext cx="32573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A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48" name="Text Box 24"/>
          <p:cNvSpPr txBox="1">
            <a:spLocks noChangeArrowheads="1"/>
          </p:cNvSpPr>
          <p:nvPr/>
        </p:nvSpPr>
        <p:spPr bwMode="auto">
          <a:xfrm>
            <a:off x="3605072" y="4734777"/>
            <a:ext cx="33695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C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49" name="Text Box 25"/>
          <p:cNvSpPr txBox="1">
            <a:spLocks noChangeArrowheads="1"/>
          </p:cNvSpPr>
          <p:nvPr/>
        </p:nvSpPr>
        <p:spPr bwMode="auto">
          <a:xfrm>
            <a:off x="5302582" y="1229713"/>
            <a:ext cx="32573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defPPr>
              <a:defRPr lang="es-ES"/>
            </a:defPPr>
            <a:lvl1pPr algn="ctr">
              <a:defRPr sz="2000">
                <a:latin typeface="Arial Narrow" pitchFamily="34" charset="0"/>
              </a:defRPr>
            </a:lvl1pPr>
          </a:lstStyle>
          <a:p>
            <a:r>
              <a:rPr lang="es-MX" dirty="0"/>
              <a:t>B</a:t>
            </a:r>
            <a:endParaRPr lang="es-ES" dirty="0"/>
          </a:p>
        </p:txBody>
      </p:sp>
      <p:sp>
        <p:nvSpPr>
          <p:cNvPr id="52250" name="Text Box 26"/>
          <p:cNvSpPr txBox="1">
            <a:spLocks noChangeArrowheads="1"/>
          </p:cNvSpPr>
          <p:nvPr/>
        </p:nvSpPr>
        <p:spPr bwMode="auto">
          <a:xfrm>
            <a:off x="6785832" y="2677338"/>
            <a:ext cx="32573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E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51" name="Text Box 27"/>
          <p:cNvSpPr txBox="1">
            <a:spLocks noChangeArrowheads="1"/>
          </p:cNvSpPr>
          <p:nvPr/>
        </p:nvSpPr>
        <p:spPr bwMode="auto">
          <a:xfrm>
            <a:off x="8423363" y="4480939"/>
            <a:ext cx="24237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I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52" name="Text Box 28"/>
          <p:cNvSpPr txBox="1">
            <a:spLocks noChangeArrowheads="1"/>
          </p:cNvSpPr>
          <p:nvPr/>
        </p:nvSpPr>
        <p:spPr bwMode="auto">
          <a:xfrm>
            <a:off x="8685901" y="3234579"/>
            <a:ext cx="33695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H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53" name="Text Box 29"/>
          <p:cNvSpPr txBox="1">
            <a:spLocks noChangeArrowheads="1"/>
          </p:cNvSpPr>
          <p:nvPr/>
        </p:nvSpPr>
        <p:spPr bwMode="auto">
          <a:xfrm>
            <a:off x="10444295" y="3234579"/>
            <a:ext cx="29046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J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54" name="Text Box 30"/>
          <p:cNvSpPr txBox="1">
            <a:spLocks noChangeArrowheads="1"/>
          </p:cNvSpPr>
          <p:nvPr/>
        </p:nvSpPr>
        <p:spPr bwMode="auto">
          <a:xfrm>
            <a:off x="6920601" y="4563318"/>
            <a:ext cx="34817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G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55" name="Text Box 31"/>
          <p:cNvSpPr txBox="1">
            <a:spLocks noChangeArrowheads="1"/>
          </p:cNvSpPr>
          <p:nvPr/>
        </p:nvSpPr>
        <p:spPr bwMode="auto">
          <a:xfrm>
            <a:off x="5370516" y="5465018"/>
            <a:ext cx="31290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F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56" name="Text Box 32"/>
          <p:cNvSpPr txBox="1">
            <a:spLocks noChangeArrowheads="1"/>
          </p:cNvSpPr>
          <p:nvPr/>
        </p:nvSpPr>
        <p:spPr bwMode="auto">
          <a:xfrm>
            <a:off x="5895088" y="4563318"/>
            <a:ext cx="33695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D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57" name="Text Box 33"/>
          <p:cNvSpPr txBox="1">
            <a:spLocks noChangeArrowheads="1"/>
          </p:cNvSpPr>
          <p:nvPr/>
        </p:nvSpPr>
        <p:spPr bwMode="auto">
          <a:xfrm>
            <a:off x="4191865" y="2612961"/>
            <a:ext cx="41870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10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58" name="Text Box 34"/>
          <p:cNvSpPr txBox="1">
            <a:spLocks noChangeArrowheads="1"/>
          </p:cNvSpPr>
          <p:nvPr/>
        </p:nvSpPr>
        <p:spPr bwMode="auto">
          <a:xfrm>
            <a:off x="4083508" y="4591901"/>
            <a:ext cx="41870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15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59" name="Text Box 35"/>
          <p:cNvSpPr txBox="1">
            <a:spLocks noChangeArrowheads="1"/>
          </p:cNvSpPr>
          <p:nvPr/>
        </p:nvSpPr>
        <p:spPr bwMode="auto">
          <a:xfrm>
            <a:off x="5363754" y="5963447"/>
            <a:ext cx="30168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5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60" name="Text Box 36"/>
          <p:cNvSpPr txBox="1">
            <a:spLocks noChangeArrowheads="1"/>
          </p:cNvSpPr>
          <p:nvPr/>
        </p:nvSpPr>
        <p:spPr bwMode="auto">
          <a:xfrm>
            <a:off x="7358120" y="4562993"/>
            <a:ext cx="30168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5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61" name="Text Box 37"/>
          <p:cNvSpPr txBox="1">
            <a:spLocks noChangeArrowheads="1"/>
          </p:cNvSpPr>
          <p:nvPr/>
        </p:nvSpPr>
        <p:spPr bwMode="auto">
          <a:xfrm>
            <a:off x="8686017" y="3806083"/>
            <a:ext cx="41870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10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62" name="Text Box 38"/>
          <p:cNvSpPr txBox="1">
            <a:spLocks noChangeArrowheads="1"/>
          </p:cNvSpPr>
          <p:nvPr/>
        </p:nvSpPr>
        <p:spPr bwMode="auto">
          <a:xfrm>
            <a:off x="10446319" y="3806083"/>
            <a:ext cx="41870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15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63" name="Text Box 39"/>
          <p:cNvSpPr txBox="1">
            <a:spLocks noChangeArrowheads="1"/>
          </p:cNvSpPr>
          <p:nvPr/>
        </p:nvSpPr>
        <p:spPr bwMode="auto">
          <a:xfrm>
            <a:off x="8862313" y="4419619"/>
            <a:ext cx="41870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10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64" name="Text Box 40"/>
          <p:cNvSpPr txBox="1">
            <a:spLocks noChangeArrowheads="1"/>
          </p:cNvSpPr>
          <p:nvPr/>
        </p:nvSpPr>
        <p:spPr bwMode="auto">
          <a:xfrm>
            <a:off x="7371049" y="2585753"/>
            <a:ext cx="41870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10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65" name="Text Box 41"/>
          <p:cNvSpPr txBox="1">
            <a:spLocks noChangeArrowheads="1"/>
          </p:cNvSpPr>
          <p:nvPr/>
        </p:nvSpPr>
        <p:spPr bwMode="auto">
          <a:xfrm>
            <a:off x="5330849" y="1706604"/>
            <a:ext cx="30168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5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66" name="Text Box 42"/>
          <p:cNvSpPr txBox="1">
            <a:spLocks noChangeArrowheads="1"/>
          </p:cNvSpPr>
          <p:nvPr/>
        </p:nvSpPr>
        <p:spPr bwMode="auto">
          <a:xfrm>
            <a:off x="6435147" y="4775536"/>
            <a:ext cx="40331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11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67" name="Line 43"/>
          <p:cNvSpPr>
            <a:spLocks noChangeShapeType="1"/>
          </p:cNvSpPr>
          <p:nvPr/>
        </p:nvSpPr>
        <p:spPr bwMode="auto">
          <a:xfrm flipH="1" flipV="1">
            <a:off x="9769261" y="4234711"/>
            <a:ext cx="54291" cy="1203318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2268" name="Text Box 44"/>
          <p:cNvSpPr txBox="1">
            <a:spLocks noChangeArrowheads="1"/>
          </p:cNvSpPr>
          <p:nvPr/>
        </p:nvSpPr>
        <p:spPr bwMode="auto">
          <a:xfrm>
            <a:off x="5553164" y="3352228"/>
            <a:ext cx="101502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Figurada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2" name="1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524691" y="6376244"/>
            <a:ext cx="2847975" cy="365125"/>
          </a:xfrm>
        </p:spPr>
        <p:txBody>
          <a:bodyPr/>
          <a:lstStyle/>
          <a:p>
            <a:r>
              <a:rPr lang="en-US" sz="2000" dirty="0">
                <a:latin typeface="Arial Narrow" pitchFamily="34" charset="0"/>
              </a:rPr>
              <a:t>ANIVAL TORRE</a:t>
            </a:r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1408804" y="6376244"/>
            <a:ext cx="561975" cy="365125"/>
          </a:xfrm>
        </p:spPr>
        <p:txBody>
          <a:bodyPr/>
          <a:lstStyle/>
          <a:p>
            <a:fld id="{55F7123F-EA94-4AF6-90FD-8402484B591B}" type="slidenum">
              <a:rPr lang="en-US" sz="2000">
                <a:latin typeface="Arial Narrow" pitchFamily="34" charset="0"/>
              </a:rPr>
              <a:pPr/>
              <a:t>16</a:t>
            </a:fld>
            <a:endParaRPr lang="en-US" sz="2000" dirty="0">
              <a:latin typeface="Arial Narrow" pitchFamily="34" charset="0"/>
            </a:endParaRPr>
          </a:p>
        </p:txBody>
      </p:sp>
      <p:sp>
        <p:nvSpPr>
          <p:cNvPr id="47" name="2 Marcador de contenido"/>
          <p:cNvSpPr txBox="1">
            <a:spLocks/>
          </p:cNvSpPr>
          <p:nvPr/>
        </p:nvSpPr>
        <p:spPr>
          <a:xfrm>
            <a:off x="9271532" y="1243745"/>
            <a:ext cx="2814189" cy="1557333"/>
          </a:xfrm>
          <a:prstGeom prst="rect">
            <a:avLst/>
          </a:prstGeom>
          <a:solidFill>
            <a:srgbClr val="FFFF00"/>
          </a:solidFill>
        </p:spPr>
        <p:txBody>
          <a:bodyPr/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defRPr/>
            </a:pPr>
            <a:r>
              <a:rPr lang="es-PE" sz="2000" b="1" kern="0" dirty="0">
                <a:latin typeface="Arial Narrow" pitchFamily="34" charset="0"/>
              </a:rPr>
              <a:t>RESPUESTA: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defRPr/>
            </a:pPr>
            <a:r>
              <a:rPr lang="es-PE" sz="2000" b="1" kern="0" dirty="0">
                <a:latin typeface="Arial Narrow" pitchFamily="34" charset="0"/>
              </a:rPr>
              <a:t>Duración del proyecto:  51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defRPr/>
            </a:pPr>
            <a:r>
              <a:rPr lang="es-PE" sz="2000" b="1" kern="0" dirty="0">
                <a:latin typeface="Arial Narrow" pitchFamily="34" charset="0"/>
              </a:rPr>
              <a:t>Rutas críticas: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defRPr/>
            </a:pPr>
            <a:r>
              <a:rPr lang="es-PE" sz="2000" b="1" kern="0" dirty="0">
                <a:latin typeface="Arial Narrow" pitchFamily="34" charset="0"/>
              </a:rPr>
              <a:t>CDHJ  /   CDIJ</a:t>
            </a:r>
          </a:p>
        </p:txBody>
      </p:sp>
      <p:sp>
        <p:nvSpPr>
          <p:cNvPr id="48" name="Line 19"/>
          <p:cNvSpPr>
            <a:spLocks noChangeShapeType="1"/>
          </p:cNvSpPr>
          <p:nvPr/>
        </p:nvSpPr>
        <p:spPr bwMode="auto">
          <a:xfrm>
            <a:off x="8437658" y="3806083"/>
            <a:ext cx="84931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49" name="Line 19"/>
          <p:cNvSpPr>
            <a:spLocks noChangeShapeType="1"/>
          </p:cNvSpPr>
          <p:nvPr/>
        </p:nvSpPr>
        <p:spPr bwMode="auto">
          <a:xfrm>
            <a:off x="10223608" y="3806083"/>
            <a:ext cx="84931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0" name="Text Box 44"/>
          <p:cNvSpPr txBox="1">
            <a:spLocks noChangeArrowheads="1"/>
          </p:cNvSpPr>
          <p:nvPr/>
        </p:nvSpPr>
        <p:spPr bwMode="auto">
          <a:xfrm>
            <a:off x="9725736" y="4575481"/>
            <a:ext cx="101502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Figurada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7625639" y="23932"/>
            <a:ext cx="1595447" cy="255454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err="1"/>
              <a:t>ABEHJ</a:t>
            </a:r>
            <a:r>
              <a:rPr lang="es-ES" sz="2000" b="1" dirty="0"/>
              <a:t>=50</a:t>
            </a:r>
          </a:p>
          <a:p>
            <a:pPr algn="ctr"/>
            <a:r>
              <a:rPr lang="es-ES" sz="2000" b="1" dirty="0" err="1"/>
              <a:t>ABEIJ</a:t>
            </a:r>
            <a:r>
              <a:rPr lang="es-ES" sz="2000" b="1" dirty="0"/>
              <a:t>=50</a:t>
            </a:r>
          </a:p>
          <a:p>
            <a:pPr algn="ctr"/>
            <a:r>
              <a:rPr lang="es-ES" sz="2000" b="1" dirty="0" err="1"/>
              <a:t>CEHJ</a:t>
            </a:r>
            <a:r>
              <a:rPr lang="es-ES" sz="2000" b="1" dirty="0"/>
              <a:t>=50</a:t>
            </a:r>
          </a:p>
          <a:p>
            <a:pPr algn="ctr"/>
            <a:r>
              <a:rPr lang="es-ES" sz="2000" b="1" dirty="0" err="1"/>
              <a:t>CEIJ</a:t>
            </a:r>
            <a:r>
              <a:rPr lang="es-ES" sz="2000" b="1" dirty="0"/>
              <a:t>=50</a:t>
            </a:r>
          </a:p>
          <a:p>
            <a:pPr algn="ctr"/>
            <a:r>
              <a:rPr lang="es-ES" sz="2000" b="1" dirty="0" err="1">
                <a:solidFill>
                  <a:srgbClr val="FF0000"/>
                </a:solidFill>
              </a:rPr>
              <a:t>CDHJ</a:t>
            </a:r>
            <a:r>
              <a:rPr lang="es-ES" sz="2000" b="1" dirty="0">
                <a:solidFill>
                  <a:srgbClr val="FF0000"/>
                </a:solidFill>
              </a:rPr>
              <a:t>=51</a:t>
            </a:r>
          </a:p>
          <a:p>
            <a:pPr algn="ctr"/>
            <a:r>
              <a:rPr lang="es-ES" sz="2000" b="1" dirty="0" err="1">
                <a:solidFill>
                  <a:srgbClr val="FF0000"/>
                </a:solidFill>
              </a:rPr>
              <a:t>CDIJ</a:t>
            </a:r>
            <a:r>
              <a:rPr lang="es-ES" sz="2000" b="1" dirty="0">
                <a:solidFill>
                  <a:srgbClr val="FF0000"/>
                </a:solidFill>
              </a:rPr>
              <a:t>=51</a:t>
            </a:r>
          </a:p>
          <a:p>
            <a:pPr algn="ctr"/>
            <a:r>
              <a:rPr lang="es-ES" sz="2000" b="1" dirty="0" err="1"/>
              <a:t>CFGHJ</a:t>
            </a:r>
            <a:r>
              <a:rPr lang="es-ES" sz="2000" b="1" dirty="0"/>
              <a:t>=50</a:t>
            </a:r>
          </a:p>
          <a:p>
            <a:pPr algn="ctr"/>
            <a:r>
              <a:rPr lang="es-ES" sz="2000" b="1" dirty="0" err="1"/>
              <a:t>CFGIJ</a:t>
            </a:r>
            <a:r>
              <a:rPr lang="es-ES" sz="2000" b="1" dirty="0"/>
              <a:t>=50</a:t>
            </a:r>
            <a:endParaRPr lang="es-PE" sz="2000" b="1" dirty="0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5F870B16-EDE3-C1ED-F6E3-D1A581ABDB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22198"/>
              </p:ext>
            </p:extLst>
          </p:nvPr>
        </p:nvGraphicFramePr>
        <p:xfrm>
          <a:off x="20238" y="1335850"/>
          <a:ext cx="3086363" cy="50403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17567">
                  <a:extLst>
                    <a:ext uri="{9D8B030D-6E8A-4147-A177-3AD203B41FA5}">
                      <a16:colId xmlns:a16="http://schemas.microsoft.com/office/drawing/2014/main" val="2121272160"/>
                    </a:ext>
                  </a:extLst>
                </a:gridCol>
                <a:gridCol w="1084398">
                  <a:extLst>
                    <a:ext uri="{9D8B030D-6E8A-4147-A177-3AD203B41FA5}">
                      <a16:colId xmlns:a16="http://schemas.microsoft.com/office/drawing/2014/main" val="471462776"/>
                    </a:ext>
                  </a:extLst>
                </a:gridCol>
                <a:gridCol w="1084398">
                  <a:extLst>
                    <a:ext uri="{9D8B030D-6E8A-4147-A177-3AD203B41FA5}">
                      <a16:colId xmlns:a16="http://schemas.microsoft.com/office/drawing/2014/main" val="1407521772"/>
                    </a:ext>
                  </a:extLst>
                </a:gridCol>
              </a:tblGrid>
              <a:tr h="104851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>
                          <a:effectLst/>
                        </a:rPr>
                        <a:t>Tarea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 err="1">
                          <a:effectLst/>
                        </a:rPr>
                        <a:t>Prece</a:t>
                      </a:r>
                      <a:r>
                        <a:rPr lang="es-ES" sz="2000" b="1" dirty="0">
                          <a:effectLst/>
                        </a:rPr>
                        <a:t>-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 err="1">
                          <a:effectLst/>
                        </a:rPr>
                        <a:t>dencia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>
                          <a:effectLst/>
                        </a:rPr>
                        <a:t>Tiempo</a:t>
                      </a:r>
                      <a:endParaRPr lang="es-PE" sz="2000" b="1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>
                          <a:effectLst/>
                        </a:rPr>
                        <a:t>Normal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74679675"/>
                  </a:ext>
                </a:extLst>
              </a:tr>
              <a:tr h="37165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>
                          <a:effectLst/>
                        </a:rPr>
                        <a:t>A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---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10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74765560"/>
                  </a:ext>
                </a:extLst>
              </a:tr>
              <a:tr h="35854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>
                          <a:effectLst/>
                        </a:rPr>
                        <a:t>B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A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5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87061475"/>
                  </a:ext>
                </a:extLst>
              </a:tr>
              <a:tr h="4228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000" b="1" dirty="0">
                          <a:effectLst/>
                        </a:rPr>
                        <a:t>C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---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15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9486556"/>
                  </a:ext>
                </a:extLst>
              </a:tr>
              <a:tr h="36593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000" b="1" dirty="0">
                          <a:effectLst/>
                        </a:rPr>
                        <a:t>D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C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11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04419185"/>
                  </a:ext>
                </a:extLst>
              </a:tr>
              <a:tr h="35854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000" b="1" dirty="0">
                          <a:effectLst/>
                        </a:rPr>
                        <a:t>E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B,</a:t>
                      </a:r>
                      <a:r>
                        <a:rPr lang="es-ES" sz="2000" b="1" baseline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 C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10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77733127"/>
                  </a:ext>
                </a:extLst>
              </a:tr>
              <a:tr h="4228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000" b="1" dirty="0">
                          <a:effectLst/>
                        </a:rPr>
                        <a:t>F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C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5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51869165"/>
                  </a:ext>
                </a:extLst>
              </a:tr>
              <a:tr h="4228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000" b="1">
                          <a:effectLst/>
                        </a:rPr>
                        <a:t>G</a:t>
                      </a:r>
                      <a:endParaRPr lang="es-PE" sz="20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F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5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35872848"/>
                  </a:ext>
                </a:extLst>
              </a:tr>
              <a:tr h="4228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000" b="1" dirty="0">
                          <a:effectLst/>
                        </a:rPr>
                        <a:t>H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E, D, G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10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4541164"/>
                  </a:ext>
                </a:extLst>
              </a:tr>
              <a:tr h="4228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I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E, D, G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10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77024314"/>
                  </a:ext>
                </a:extLst>
              </a:tr>
              <a:tr h="4228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J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H, I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15</a:t>
                      </a:r>
                      <a:endParaRPr lang="es-PE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015394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210386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8" grpId="0" animBg="1"/>
      <p:bldP spid="52229" grpId="0" animBg="1"/>
      <p:bldP spid="52230" grpId="0" animBg="1"/>
      <p:bldP spid="52233" grpId="0" animBg="1"/>
      <p:bldP spid="52234" grpId="0" animBg="1"/>
      <p:bldP spid="52235" grpId="0" animBg="1"/>
      <p:bldP spid="52238" grpId="0" animBg="1"/>
      <p:bldP spid="52239" grpId="0" animBg="1"/>
      <p:bldP spid="52242" grpId="0" animBg="1"/>
      <p:bldP spid="52243" grpId="0" animBg="1"/>
      <p:bldP spid="52244" grpId="0" animBg="1"/>
      <p:bldP spid="52246" grpId="0" animBg="1"/>
      <p:bldP spid="52249" grpId="0"/>
      <p:bldP spid="52250" grpId="0"/>
      <p:bldP spid="52251" grpId="0"/>
      <p:bldP spid="52252" grpId="0"/>
      <p:bldP spid="52253" grpId="0"/>
      <p:bldP spid="52254" grpId="0"/>
      <p:bldP spid="52255" grpId="0"/>
      <p:bldP spid="52256" grpId="0"/>
      <p:bldP spid="52259" grpId="0"/>
      <p:bldP spid="52260" grpId="0"/>
      <p:bldP spid="52261" grpId="0"/>
      <p:bldP spid="52262" grpId="0"/>
      <p:bldP spid="52263" grpId="0"/>
      <p:bldP spid="52264" grpId="0"/>
      <p:bldP spid="52265" grpId="0"/>
      <p:bldP spid="52266" grpId="0"/>
      <p:bldP spid="52267" grpId="0" animBg="1"/>
      <p:bldP spid="52268" grpId="0"/>
      <p:bldP spid="3" grpId="0"/>
      <p:bldP spid="47" grpId="0" animBg="1"/>
      <p:bldP spid="48" grpId="0" animBg="1"/>
      <p:bldP spid="49" grpId="0" animBg="1"/>
      <p:bldP spid="50" grpId="0"/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ANIVAL TORRE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7123F-EA94-4AF6-90FD-8402484B591B}" type="slidenum">
              <a:rPr lang="en-US" smtClean="0"/>
              <a:pPr/>
              <a:t>17</a:t>
            </a:fld>
            <a:endParaRPr lang="en-US" dirty="0"/>
          </a:p>
        </p:txBody>
      </p:sp>
      <p:graphicFrame>
        <p:nvGraphicFramePr>
          <p:cNvPr id="5" name="4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9892412"/>
              </p:ext>
            </p:extLst>
          </p:nvPr>
        </p:nvGraphicFramePr>
        <p:xfrm>
          <a:off x="1775518" y="0"/>
          <a:ext cx="9712111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1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5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24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26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08726">
                <a:tc>
                  <a:txBody>
                    <a:bodyPr/>
                    <a:lstStyle/>
                    <a:p>
                      <a:pPr algn="ctr"/>
                      <a:r>
                        <a:rPr lang="es-PE" sz="2400" b="1" dirty="0">
                          <a:latin typeface="Arial Narrow" pitchFamily="34" charset="0"/>
                        </a:rPr>
                        <a:t>RUTAS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400" b="1" dirty="0">
                          <a:latin typeface="Arial Narrow" pitchFamily="34" charset="0"/>
                        </a:rPr>
                        <a:t>DURACIÓN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400" b="1" dirty="0">
                          <a:latin typeface="Arial Narrow" pitchFamily="34" charset="0"/>
                        </a:rPr>
                        <a:t>TAREAS A REDUCIR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400" b="1" dirty="0">
                          <a:latin typeface="Arial Narrow" pitchFamily="34" charset="0"/>
                        </a:rPr>
                        <a:t>COSTO ADICIONAL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1514">
                <a:tc>
                  <a:txBody>
                    <a:bodyPr/>
                    <a:lstStyle/>
                    <a:p>
                      <a:pPr algn="ctr"/>
                      <a:r>
                        <a:rPr lang="es-PE" sz="2400" b="1" dirty="0">
                          <a:latin typeface="Arial Narrow" pitchFamily="34" charset="0"/>
                        </a:rPr>
                        <a:t>CDHJ/CDIJ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400" b="1" dirty="0">
                          <a:latin typeface="Arial Narrow" pitchFamily="34" charset="0"/>
                        </a:rPr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PE" sz="2400" b="1" dirty="0">
                        <a:latin typeface="Arial Narrow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2400" b="1" dirty="0">
                          <a:latin typeface="Arial Narrow" pitchFamily="34" charset="0"/>
                        </a:rPr>
                        <a:t>C=0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872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2400" b="1" dirty="0">
                          <a:latin typeface="Arial Narrow" pitchFamily="34" charset="0"/>
                        </a:rPr>
                        <a:t>CDHJ/CDIJ</a:t>
                      </a:r>
                    </a:p>
                    <a:p>
                      <a:pPr algn="ctr"/>
                      <a:r>
                        <a:rPr lang="es-PE" sz="2400" b="1" dirty="0">
                          <a:latin typeface="Arial Narrow" pitchFamily="34" charset="0"/>
                        </a:rPr>
                        <a:t>ABEHJ/ABEIJ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1" dirty="0">
                          <a:latin typeface="Arial Narrow" pitchFamily="34" charset="0"/>
                        </a:rPr>
                        <a:t>50</a:t>
                      </a:r>
                      <a:endParaRPr lang="es-PE" sz="2400" b="1" dirty="0">
                        <a:latin typeface="Arial Narrow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1" dirty="0">
                          <a:latin typeface="Arial Narrow" pitchFamily="34" charset="0"/>
                        </a:rPr>
                        <a:t>C</a:t>
                      </a:r>
                      <a:endParaRPr lang="es-PE" sz="2400" b="1" dirty="0">
                        <a:latin typeface="Arial Narrow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2400" b="1" dirty="0">
                          <a:latin typeface="Arial Narrow" pitchFamily="34" charset="0"/>
                        </a:rPr>
                        <a:t>C=0+66.67</a:t>
                      </a:r>
                      <a:endParaRPr lang="es-PE" sz="2400" b="1" dirty="0">
                        <a:latin typeface="Arial Narrow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158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2400" b="1" dirty="0">
                          <a:latin typeface="Arial Narrow" pitchFamily="34" charset="0"/>
                        </a:rPr>
                        <a:t>CDHJ/CDIJ</a:t>
                      </a:r>
                    </a:p>
                    <a:p>
                      <a:pPr algn="ctr"/>
                      <a:r>
                        <a:rPr lang="es-PE" sz="2400" b="1" dirty="0">
                          <a:latin typeface="Arial Narrow" pitchFamily="34" charset="0"/>
                        </a:rPr>
                        <a:t>ABEHJ/ABEIJ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1" dirty="0">
                          <a:latin typeface="Arial Narrow" pitchFamily="34" charset="0"/>
                        </a:rPr>
                        <a:t>49</a:t>
                      </a:r>
                    </a:p>
                    <a:p>
                      <a:pPr algn="ctr"/>
                      <a:endParaRPr lang="es-PE" sz="2400" b="1" dirty="0">
                        <a:latin typeface="Arial Narrow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1" dirty="0">
                          <a:latin typeface="Arial Narrow" pitchFamily="34" charset="0"/>
                        </a:rPr>
                        <a:t>J</a:t>
                      </a:r>
                      <a:endParaRPr lang="es-PE" sz="2400" b="1" dirty="0">
                        <a:latin typeface="Arial Narrow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2400" b="1" dirty="0">
                          <a:latin typeface="Arial Narrow" pitchFamily="34" charset="0"/>
                        </a:rPr>
                        <a:t>C=66.7+80</a:t>
                      </a:r>
                      <a:endParaRPr lang="es-PE" sz="2400" b="1" dirty="0">
                        <a:latin typeface="Arial Narrow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0872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2400" b="1" dirty="0">
                          <a:latin typeface="Arial Narrow" pitchFamily="34" charset="0"/>
                        </a:rPr>
                        <a:t>CDHJ/CDIJ</a:t>
                      </a:r>
                    </a:p>
                    <a:p>
                      <a:pPr algn="ctr"/>
                      <a:r>
                        <a:rPr lang="es-PE" sz="2400" b="1" dirty="0">
                          <a:latin typeface="Arial Narrow" pitchFamily="34" charset="0"/>
                        </a:rPr>
                        <a:t>ABEHJ/ABEIJ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1" dirty="0">
                          <a:latin typeface="Arial Narrow" pitchFamily="34" charset="0"/>
                        </a:rPr>
                        <a:t>48</a:t>
                      </a:r>
                      <a:endParaRPr lang="es-PE" sz="2400" b="1" dirty="0">
                        <a:latin typeface="Arial Narrow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1" dirty="0">
                          <a:latin typeface="Arial Narrow" pitchFamily="34" charset="0"/>
                        </a:rPr>
                        <a:t>J</a:t>
                      </a:r>
                      <a:endParaRPr lang="es-PE" sz="2400" b="1" dirty="0">
                        <a:latin typeface="Arial Narrow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2400" b="1" dirty="0">
                          <a:latin typeface="Arial Narrow" pitchFamily="34" charset="0"/>
                        </a:rPr>
                        <a:t>C=146.7+80</a:t>
                      </a:r>
                      <a:endParaRPr lang="es-PE" sz="2400" b="1" dirty="0">
                        <a:latin typeface="Arial Narrow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0872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2400" b="1" dirty="0">
                          <a:latin typeface="Arial Narrow" pitchFamily="34" charset="0"/>
                        </a:rPr>
                        <a:t>CDHJ/CDIJ</a:t>
                      </a:r>
                    </a:p>
                    <a:p>
                      <a:pPr algn="ctr"/>
                      <a:r>
                        <a:rPr lang="es-PE" sz="2400" b="1" dirty="0">
                          <a:latin typeface="Arial Narrow" pitchFamily="34" charset="0"/>
                        </a:rPr>
                        <a:t>ABEHJ/ABEIJ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1" dirty="0">
                          <a:solidFill>
                            <a:srgbClr val="FF0000"/>
                          </a:solidFill>
                          <a:latin typeface="Arial Narrow" pitchFamily="34" charset="0"/>
                        </a:rPr>
                        <a:t>47</a:t>
                      </a:r>
                      <a:endParaRPr lang="es-PE" sz="2400" b="1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1" dirty="0">
                          <a:latin typeface="Arial Narrow" pitchFamily="34" charset="0"/>
                        </a:rPr>
                        <a:t>J</a:t>
                      </a:r>
                      <a:endParaRPr lang="es-PE" sz="2400" b="1" dirty="0">
                        <a:latin typeface="Arial Narrow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2400" b="1" dirty="0">
                          <a:latin typeface="Arial Narrow" pitchFamily="34" charset="0"/>
                        </a:rPr>
                        <a:t>C=226.7+80=306.7</a:t>
                      </a:r>
                      <a:endParaRPr lang="es-PE" sz="2400" b="1" dirty="0">
                        <a:latin typeface="Arial Narrow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13630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ANIVAL TORRE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7123F-EA94-4AF6-90FD-8402484B591B}" type="slidenum">
              <a:rPr lang="en-US" smtClean="0"/>
              <a:pPr/>
              <a:t>18</a:t>
            </a:fld>
            <a:endParaRPr lang="en-US" dirty="0"/>
          </a:p>
        </p:txBody>
      </p:sp>
      <p:graphicFrame>
        <p:nvGraphicFramePr>
          <p:cNvPr id="5" name="4 Tabla"/>
          <p:cNvGraphicFramePr>
            <a:graphicFrameLocks noGrp="1"/>
          </p:cNvGraphicFramePr>
          <p:nvPr/>
        </p:nvGraphicFramePr>
        <p:xfrm>
          <a:off x="1775520" y="1397000"/>
          <a:ext cx="8640960" cy="4669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8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1937">
                <a:tc>
                  <a:txBody>
                    <a:bodyPr/>
                    <a:lstStyle/>
                    <a:p>
                      <a:pPr algn="ctr"/>
                      <a:r>
                        <a:rPr lang="es-PE" sz="2400" dirty="0">
                          <a:latin typeface="Arial Narrow" pitchFamily="34" charset="0"/>
                        </a:rPr>
                        <a:t>RUTAS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400" dirty="0">
                          <a:latin typeface="Arial Narrow" pitchFamily="34" charset="0"/>
                        </a:rPr>
                        <a:t>DURACIÓN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400" dirty="0">
                          <a:latin typeface="Arial Narrow" pitchFamily="34" charset="0"/>
                        </a:rPr>
                        <a:t>TAREAS A REDUCIR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400" dirty="0">
                          <a:latin typeface="Arial Narrow" pitchFamily="34" charset="0"/>
                        </a:rPr>
                        <a:t>COSTO ADICIONAL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440">
                <a:tc>
                  <a:txBody>
                    <a:bodyPr/>
                    <a:lstStyle/>
                    <a:p>
                      <a:pPr algn="ctr"/>
                      <a:r>
                        <a:rPr lang="es-PE" sz="2400" dirty="0">
                          <a:latin typeface="Arial Narrow" pitchFamily="34" charset="0"/>
                        </a:rPr>
                        <a:t>CDHJ/CDIJ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400" dirty="0">
                          <a:latin typeface="Arial Narrow" pitchFamily="34" charset="0"/>
                        </a:rPr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PE" sz="2400" dirty="0">
                        <a:latin typeface="Arial Narrow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2400" dirty="0">
                          <a:latin typeface="Arial Narrow" pitchFamily="34" charset="0"/>
                        </a:rPr>
                        <a:t>C=0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66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2400" dirty="0">
                          <a:latin typeface="Arial Narrow" pitchFamily="34" charset="0"/>
                        </a:rPr>
                        <a:t>CDHJ/CDIJ</a:t>
                      </a:r>
                    </a:p>
                    <a:p>
                      <a:pPr algn="ctr"/>
                      <a:r>
                        <a:rPr lang="es-PE" sz="2400" dirty="0">
                          <a:latin typeface="Arial Narrow" pitchFamily="34" charset="0"/>
                        </a:rPr>
                        <a:t>ABEHJ/ABEIJ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400" dirty="0">
                          <a:latin typeface="Arial Narrow" pitchFamily="34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400" dirty="0">
                          <a:latin typeface="Arial Narrow" pitchFamily="34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2400" dirty="0">
                          <a:latin typeface="Arial Narrow" pitchFamily="34" charset="0"/>
                        </a:rPr>
                        <a:t>C=66,67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022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2400" dirty="0">
                          <a:latin typeface="Arial Narrow" pitchFamily="34" charset="0"/>
                        </a:rPr>
                        <a:t>CDHJ/CDIJ</a:t>
                      </a:r>
                    </a:p>
                    <a:p>
                      <a:pPr algn="ctr"/>
                      <a:r>
                        <a:rPr lang="es-PE" sz="2400" dirty="0">
                          <a:latin typeface="Arial Narrow" pitchFamily="34" charset="0"/>
                        </a:rPr>
                        <a:t>ABEHJ/ABEIJ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400" dirty="0">
                          <a:latin typeface="Arial Narrow" pitchFamily="34" charset="0"/>
                        </a:rPr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400" dirty="0">
                          <a:latin typeface="Arial Narrow" pitchFamily="34" charset="0"/>
                        </a:rPr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2400" dirty="0">
                          <a:latin typeface="Arial Narrow" pitchFamily="34" charset="0"/>
                        </a:rPr>
                        <a:t>C=66,67+80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4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2400" dirty="0">
                          <a:latin typeface="Arial Narrow" pitchFamily="34" charset="0"/>
                        </a:rPr>
                        <a:t>CDHJ/CDIJ</a:t>
                      </a:r>
                    </a:p>
                    <a:p>
                      <a:pPr algn="ctr"/>
                      <a:r>
                        <a:rPr lang="es-PE" sz="2400" dirty="0">
                          <a:latin typeface="Arial Narrow" pitchFamily="34" charset="0"/>
                        </a:rPr>
                        <a:t>ABEHJ/ABEIJ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400" dirty="0">
                          <a:latin typeface="Arial Narrow" pitchFamily="34" charset="0"/>
                        </a:rP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400" dirty="0">
                          <a:latin typeface="Arial Narrow" pitchFamily="34" charset="0"/>
                        </a:rPr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2400" dirty="0">
                          <a:latin typeface="Arial Narrow" pitchFamily="34" charset="0"/>
                        </a:rPr>
                        <a:t>C=146,67+80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4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2400" dirty="0">
                          <a:latin typeface="Arial Narrow" pitchFamily="34" charset="0"/>
                        </a:rPr>
                        <a:t>CDHJ/CDIJ</a:t>
                      </a:r>
                    </a:p>
                    <a:p>
                      <a:pPr algn="ctr"/>
                      <a:r>
                        <a:rPr lang="es-PE" sz="2400" dirty="0">
                          <a:latin typeface="Arial Narrow" pitchFamily="34" charset="0"/>
                        </a:rPr>
                        <a:t>ABEHJ/ABEIJ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400" dirty="0">
                          <a:solidFill>
                            <a:srgbClr val="FF0000"/>
                          </a:solidFill>
                          <a:latin typeface="Arial Narrow" pitchFamily="34" charset="0"/>
                        </a:rPr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400" dirty="0">
                          <a:latin typeface="Arial Narrow" pitchFamily="34" charset="0"/>
                        </a:rPr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2400" dirty="0">
                          <a:latin typeface="Arial Narrow" pitchFamily="34" charset="0"/>
                        </a:rPr>
                        <a:t>C=226,67+80</a:t>
                      </a:r>
                    </a:p>
                    <a:p>
                      <a:pPr algn="l"/>
                      <a:r>
                        <a:rPr lang="es-PE" sz="2400" dirty="0">
                          <a:latin typeface="Arial Narrow" pitchFamily="34" charset="0"/>
                        </a:rPr>
                        <a:t>=306,67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53336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Oval 3">
            <a:hlinkHover r:id="" action="ppaction://noaction">
              <a:snd r:embed="rId3" name="gunshot.wav"/>
            </a:hlinkHover>
          </p:cNvPr>
          <p:cNvSpPr>
            <a:spLocks noChangeArrowheads="1"/>
          </p:cNvSpPr>
          <p:nvPr/>
        </p:nvSpPr>
        <p:spPr bwMode="auto">
          <a:xfrm>
            <a:off x="1809750" y="3429000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 err="1">
                <a:solidFill>
                  <a:schemeClr val="bg1"/>
                </a:solidFill>
                <a:latin typeface="Arial Narrow" pitchFamily="34" charset="0"/>
              </a:rPr>
              <a:t>X0</a:t>
            </a:r>
            <a:endParaRPr lang="es-ES" sz="200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52228" name="Oval 4"/>
          <p:cNvSpPr>
            <a:spLocks noChangeArrowheads="1"/>
          </p:cNvSpPr>
          <p:nvPr/>
        </p:nvSpPr>
        <p:spPr bwMode="auto">
          <a:xfrm>
            <a:off x="4656138" y="5373688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 err="1">
                <a:solidFill>
                  <a:schemeClr val="bg1"/>
                </a:solidFill>
                <a:latin typeface="Arial Narrow" pitchFamily="34" charset="0"/>
              </a:rPr>
              <a:t>X4</a:t>
            </a:r>
            <a:endParaRPr lang="es-ES" sz="200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52229" name="Oval 5"/>
          <p:cNvSpPr>
            <a:spLocks noChangeArrowheads="1"/>
          </p:cNvSpPr>
          <p:nvPr/>
        </p:nvSpPr>
        <p:spPr bwMode="auto">
          <a:xfrm>
            <a:off x="4664676" y="1290464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 err="1">
                <a:solidFill>
                  <a:schemeClr val="bg1"/>
                </a:solidFill>
                <a:latin typeface="Arial Narrow" pitchFamily="34" charset="0"/>
              </a:rPr>
              <a:t>X3</a:t>
            </a:r>
            <a:endParaRPr lang="es-ES" sz="200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52230" name="Oval 6"/>
          <p:cNvSpPr>
            <a:spLocks noChangeArrowheads="1"/>
          </p:cNvSpPr>
          <p:nvPr/>
        </p:nvSpPr>
        <p:spPr bwMode="auto">
          <a:xfrm>
            <a:off x="7953388" y="3286124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 err="1">
                <a:solidFill>
                  <a:schemeClr val="bg1"/>
                </a:solidFill>
                <a:latin typeface="Arial Narrow" pitchFamily="34" charset="0"/>
              </a:rPr>
              <a:t>X7</a:t>
            </a:r>
            <a:endParaRPr lang="es-ES" sz="200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52231" name="Oval 7"/>
          <p:cNvSpPr>
            <a:spLocks noChangeArrowheads="1"/>
          </p:cNvSpPr>
          <p:nvPr/>
        </p:nvSpPr>
        <p:spPr bwMode="auto">
          <a:xfrm>
            <a:off x="2782888" y="5373688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 err="1">
                <a:solidFill>
                  <a:schemeClr val="bg1"/>
                </a:solidFill>
                <a:latin typeface="Arial Narrow" pitchFamily="34" charset="0"/>
              </a:rPr>
              <a:t>X2</a:t>
            </a:r>
            <a:endParaRPr lang="es-ES" sz="200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52232" name="Oval 8"/>
          <p:cNvSpPr>
            <a:spLocks noChangeArrowheads="1"/>
          </p:cNvSpPr>
          <p:nvPr/>
        </p:nvSpPr>
        <p:spPr bwMode="auto">
          <a:xfrm>
            <a:off x="2820169" y="1290464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 err="1">
                <a:solidFill>
                  <a:schemeClr val="bg1"/>
                </a:solidFill>
                <a:latin typeface="Arial Narrow" pitchFamily="34" charset="0"/>
              </a:rPr>
              <a:t>X1</a:t>
            </a:r>
            <a:endParaRPr lang="es-ES" sz="200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52233" name="Oval 9"/>
          <p:cNvSpPr>
            <a:spLocks noChangeArrowheads="1"/>
          </p:cNvSpPr>
          <p:nvPr/>
        </p:nvSpPr>
        <p:spPr bwMode="auto">
          <a:xfrm>
            <a:off x="6167438" y="3286124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 err="1">
                <a:solidFill>
                  <a:schemeClr val="bg1"/>
                </a:solidFill>
                <a:latin typeface="Arial Narrow" pitchFamily="34" charset="0"/>
              </a:rPr>
              <a:t>X5</a:t>
            </a:r>
            <a:endParaRPr lang="es-ES" sz="200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52234" name="Oval 10"/>
          <p:cNvSpPr>
            <a:spLocks noChangeArrowheads="1"/>
          </p:cNvSpPr>
          <p:nvPr/>
        </p:nvSpPr>
        <p:spPr bwMode="auto">
          <a:xfrm>
            <a:off x="8024826" y="5429264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 err="1">
                <a:solidFill>
                  <a:schemeClr val="bg1"/>
                </a:solidFill>
                <a:latin typeface="Arial Narrow" pitchFamily="34" charset="0"/>
              </a:rPr>
              <a:t>X6</a:t>
            </a:r>
            <a:endParaRPr lang="es-ES" sz="200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52235" name="Oval 11"/>
          <p:cNvSpPr>
            <a:spLocks noChangeArrowheads="1"/>
          </p:cNvSpPr>
          <p:nvPr/>
        </p:nvSpPr>
        <p:spPr bwMode="auto">
          <a:xfrm>
            <a:off x="9753600" y="3357562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 err="1">
                <a:solidFill>
                  <a:schemeClr val="bg1"/>
                </a:solidFill>
                <a:latin typeface="Arial Narrow" pitchFamily="34" charset="0"/>
              </a:rPr>
              <a:t>X8</a:t>
            </a:r>
            <a:endParaRPr lang="es-ES" sz="200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52236" name="Line 12"/>
          <p:cNvSpPr>
            <a:spLocks noChangeShapeType="1"/>
          </p:cNvSpPr>
          <p:nvPr/>
        </p:nvSpPr>
        <p:spPr bwMode="auto">
          <a:xfrm flipV="1">
            <a:off x="2452663" y="2190624"/>
            <a:ext cx="604863" cy="1250429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2237" name="Line 13"/>
          <p:cNvSpPr>
            <a:spLocks noChangeShapeType="1"/>
          </p:cNvSpPr>
          <p:nvPr/>
        </p:nvSpPr>
        <p:spPr bwMode="auto">
          <a:xfrm>
            <a:off x="2452662" y="4357694"/>
            <a:ext cx="546100" cy="108743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2238" name="Line 14"/>
          <p:cNvSpPr>
            <a:spLocks noChangeShapeType="1"/>
          </p:cNvSpPr>
          <p:nvPr/>
        </p:nvSpPr>
        <p:spPr bwMode="auto">
          <a:xfrm>
            <a:off x="3792538" y="5876925"/>
            <a:ext cx="838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2239" name="Line 15"/>
          <p:cNvSpPr>
            <a:spLocks noChangeShapeType="1"/>
          </p:cNvSpPr>
          <p:nvPr/>
        </p:nvSpPr>
        <p:spPr bwMode="auto">
          <a:xfrm flipV="1">
            <a:off x="5453060" y="4143380"/>
            <a:ext cx="928693" cy="1357321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2242" name="Line 18"/>
          <p:cNvSpPr>
            <a:spLocks noChangeShapeType="1"/>
          </p:cNvSpPr>
          <p:nvPr/>
        </p:nvSpPr>
        <p:spPr bwMode="auto">
          <a:xfrm>
            <a:off x="6953256" y="4071942"/>
            <a:ext cx="1285884" cy="142876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2243" name="Line 19"/>
          <p:cNvSpPr>
            <a:spLocks noChangeShapeType="1"/>
          </p:cNvSpPr>
          <p:nvPr/>
        </p:nvSpPr>
        <p:spPr bwMode="auto">
          <a:xfrm>
            <a:off x="3772907" y="1738141"/>
            <a:ext cx="8493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2244" name="Line 20"/>
          <p:cNvSpPr>
            <a:spLocks noChangeShapeType="1"/>
          </p:cNvSpPr>
          <p:nvPr/>
        </p:nvSpPr>
        <p:spPr bwMode="auto">
          <a:xfrm>
            <a:off x="5453059" y="2060848"/>
            <a:ext cx="928694" cy="1296714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2245" name="Line 21"/>
          <p:cNvSpPr>
            <a:spLocks noChangeShapeType="1"/>
          </p:cNvSpPr>
          <p:nvPr/>
        </p:nvSpPr>
        <p:spPr bwMode="auto">
          <a:xfrm flipV="1">
            <a:off x="3432175" y="2190623"/>
            <a:ext cx="1458340" cy="3227515"/>
          </a:xfrm>
          <a:prstGeom prst="line">
            <a:avLst/>
          </a:prstGeom>
          <a:noFill/>
          <a:ln w="34925">
            <a:solidFill>
              <a:schemeClr val="tx1"/>
            </a:solidFill>
            <a:prstDash val="lgDash"/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2246" name="Line 22"/>
          <p:cNvSpPr>
            <a:spLocks noChangeShapeType="1"/>
          </p:cNvSpPr>
          <p:nvPr/>
        </p:nvSpPr>
        <p:spPr bwMode="auto">
          <a:xfrm flipV="1">
            <a:off x="3667126" y="4000504"/>
            <a:ext cx="2571751" cy="1736721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2247" name="Text Box 23"/>
          <p:cNvSpPr txBox="1">
            <a:spLocks noChangeArrowheads="1"/>
          </p:cNvSpPr>
          <p:nvPr/>
        </p:nvSpPr>
        <p:spPr bwMode="auto">
          <a:xfrm>
            <a:off x="2420791" y="2428875"/>
            <a:ext cx="32573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A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48" name="Text Box 24"/>
          <p:cNvSpPr txBox="1">
            <a:spLocks noChangeArrowheads="1"/>
          </p:cNvSpPr>
          <p:nvPr/>
        </p:nvSpPr>
        <p:spPr bwMode="auto">
          <a:xfrm>
            <a:off x="2263547" y="4714884"/>
            <a:ext cx="33695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C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49" name="Text Box 25"/>
          <p:cNvSpPr txBox="1">
            <a:spLocks noChangeArrowheads="1"/>
          </p:cNvSpPr>
          <p:nvPr/>
        </p:nvSpPr>
        <p:spPr bwMode="auto">
          <a:xfrm>
            <a:off x="4065416" y="1290464"/>
            <a:ext cx="32573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B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50" name="Text Box 26"/>
          <p:cNvSpPr txBox="1">
            <a:spLocks noChangeArrowheads="1"/>
          </p:cNvSpPr>
          <p:nvPr/>
        </p:nvSpPr>
        <p:spPr bwMode="auto">
          <a:xfrm>
            <a:off x="5618016" y="2857500"/>
            <a:ext cx="32573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E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51" name="Text Box 27"/>
          <p:cNvSpPr txBox="1">
            <a:spLocks noChangeArrowheads="1"/>
          </p:cNvSpPr>
          <p:nvPr/>
        </p:nvSpPr>
        <p:spPr bwMode="auto">
          <a:xfrm>
            <a:off x="7189258" y="4572008"/>
            <a:ext cx="24237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I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52" name="Text Box 28"/>
          <p:cNvSpPr txBox="1">
            <a:spLocks noChangeArrowheads="1"/>
          </p:cNvSpPr>
          <p:nvPr/>
        </p:nvSpPr>
        <p:spPr bwMode="auto">
          <a:xfrm>
            <a:off x="7344376" y="3214686"/>
            <a:ext cx="33695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H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53" name="Text Box 29"/>
          <p:cNvSpPr txBox="1">
            <a:spLocks noChangeArrowheads="1"/>
          </p:cNvSpPr>
          <p:nvPr/>
        </p:nvSpPr>
        <p:spPr bwMode="auto">
          <a:xfrm>
            <a:off x="9102770" y="3214686"/>
            <a:ext cx="29046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J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54" name="Text Box 30"/>
          <p:cNvSpPr txBox="1">
            <a:spLocks noChangeArrowheads="1"/>
          </p:cNvSpPr>
          <p:nvPr/>
        </p:nvSpPr>
        <p:spPr bwMode="auto">
          <a:xfrm>
            <a:off x="5579076" y="4543425"/>
            <a:ext cx="34817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G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55" name="Text Box 31"/>
          <p:cNvSpPr txBox="1">
            <a:spLocks noChangeArrowheads="1"/>
          </p:cNvSpPr>
          <p:nvPr/>
        </p:nvSpPr>
        <p:spPr bwMode="auto">
          <a:xfrm>
            <a:off x="4028991" y="5445125"/>
            <a:ext cx="31290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F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56" name="Text Box 32"/>
          <p:cNvSpPr txBox="1">
            <a:spLocks noChangeArrowheads="1"/>
          </p:cNvSpPr>
          <p:nvPr/>
        </p:nvSpPr>
        <p:spPr bwMode="auto">
          <a:xfrm>
            <a:off x="4553563" y="4543425"/>
            <a:ext cx="33695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D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57" name="Text Box 33"/>
          <p:cNvSpPr txBox="1">
            <a:spLocks noChangeArrowheads="1"/>
          </p:cNvSpPr>
          <p:nvPr/>
        </p:nvSpPr>
        <p:spPr bwMode="auto">
          <a:xfrm>
            <a:off x="2946899" y="2643188"/>
            <a:ext cx="75597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10-YA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58" name="Text Box 34"/>
          <p:cNvSpPr txBox="1">
            <a:spLocks noChangeArrowheads="1"/>
          </p:cNvSpPr>
          <p:nvPr/>
        </p:nvSpPr>
        <p:spPr bwMode="auto">
          <a:xfrm>
            <a:off x="2804834" y="4572008"/>
            <a:ext cx="78258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15-YC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59" name="Text Box 35"/>
          <p:cNvSpPr txBox="1">
            <a:spLocks noChangeArrowheads="1"/>
          </p:cNvSpPr>
          <p:nvPr/>
        </p:nvSpPr>
        <p:spPr bwMode="auto">
          <a:xfrm>
            <a:off x="3968971" y="5949950"/>
            <a:ext cx="64152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defPPr>
              <a:defRPr lang="es-ES"/>
            </a:defPPr>
            <a:lvl1pPr algn="ctr">
              <a:defRPr sz="2000">
                <a:latin typeface="Arial Narrow" pitchFamily="34" charset="0"/>
              </a:defRPr>
            </a:lvl1pPr>
          </a:lstStyle>
          <a:p>
            <a:r>
              <a:rPr lang="es-MX" dirty="0"/>
              <a:t>5-YF</a:t>
            </a:r>
            <a:endParaRPr lang="es-ES" dirty="0"/>
          </a:p>
        </p:txBody>
      </p:sp>
      <p:sp>
        <p:nvSpPr>
          <p:cNvPr id="52260" name="Text Box 36"/>
          <p:cNvSpPr txBox="1">
            <a:spLocks noChangeArrowheads="1"/>
          </p:cNvSpPr>
          <p:nvPr/>
        </p:nvSpPr>
        <p:spPr bwMode="auto">
          <a:xfrm>
            <a:off x="5900481" y="4869789"/>
            <a:ext cx="67678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5-YG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61" name="Text Box 37"/>
          <p:cNvSpPr txBox="1">
            <a:spLocks noChangeArrowheads="1"/>
          </p:cNvSpPr>
          <p:nvPr/>
        </p:nvSpPr>
        <p:spPr bwMode="auto">
          <a:xfrm>
            <a:off x="7162552" y="3786190"/>
            <a:ext cx="78258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10-YH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62" name="Text Box 38"/>
          <p:cNvSpPr txBox="1">
            <a:spLocks noChangeArrowheads="1"/>
          </p:cNvSpPr>
          <p:nvPr/>
        </p:nvSpPr>
        <p:spPr bwMode="auto">
          <a:xfrm>
            <a:off x="8946099" y="3786190"/>
            <a:ext cx="73609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15-YJ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63" name="Text Box 39"/>
          <p:cNvSpPr txBox="1">
            <a:spLocks noChangeArrowheads="1"/>
          </p:cNvSpPr>
          <p:nvPr/>
        </p:nvSpPr>
        <p:spPr bwMode="auto">
          <a:xfrm>
            <a:off x="7569540" y="4429132"/>
            <a:ext cx="68800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10-YI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64" name="Text Box 40"/>
          <p:cNvSpPr txBox="1">
            <a:spLocks noChangeArrowheads="1"/>
          </p:cNvSpPr>
          <p:nvPr/>
        </p:nvSpPr>
        <p:spPr bwMode="auto">
          <a:xfrm>
            <a:off x="6230654" y="2500313"/>
            <a:ext cx="77136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10-YE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65" name="Text Box 41"/>
          <p:cNvSpPr txBox="1">
            <a:spLocks noChangeArrowheads="1"/>
          </p:cNvSpPr>
          <p:nvPr/>
        </p:nvSpPr>
        <p:spPr bwMode="auto">
          <a:xfrm>
            <a:off x="3936494" y="1790514"/>
            <a:ext cx="65434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5-YB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66" name="Text Box 42"/>
          <p:cNvSpPr txBox="1">
            <a:spLocks noChangeArrowheads="1"/>
          </p:cNvSpPr>
          <p:nvPr/>
        </p:nvSpPr>
        <p:spPr bwMode="auto">
          <a:xfrm>
            <a:off x="4787876" y="4122088"/>
            <a:ext cx="76719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11-YD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67" name="Line 43"/>
          <p:cNvSpPr>
            <a:spLocks noChangeShapeType="1"/>
          </p:cNvSpPr>
          <p:nvPr/>
        </p:nvSpPr>
        <p:spPr bwMode="auto">
          <a:xfrm flipV="1">
            <a:off x="8382017" y="4214818"/>
            <a:ext cx="45719" cy="1285884"/>
          </a:xfrm>
          <a:prstGeom prst="line">
            <a:avLst/>
          </a:prstGeom>
          <a:noFill/>
          <a:ln w="34925">
            <a:solidFill>
              <a:schemeClr val="tx1"/>
            </a:solidFill>
            <a:prstDash val="lgDash"/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2268" name="Text Box 44"/>
          <p:cNvSpPr txBox="1">
            <a:spLocks noChangeArrowheads="1"/>
          </p:cNvSpPr>
          <p:nvPr/>
        </p:nvSpPr>
        <p:spPr bwMode="auto">
          <a:xfrm>
            <a:off x="4293681" y="3441053"/>
            <a:ext cx="101502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Figurado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2" name="1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ANIVAL TORRE</a:t>
            </a:r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7123F-EA94-4AF6-90FD-8402484B591B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7" name="2 Marcador de contenido"/>
          <p:cNvSpPr txBox="1">
            <a:spLocks/>
          </p:cNvSpPr>
          <p:nvPr/>
        </p:nvSpPr>
        <p:spPr>
          <a:xfrm>
            <a:off x="7667636" y="1428737"/>
            <a:ext cx="2714644" cy="1557333"/>
          </a:xfrm>
          <a:prstGeom prst="rect">
            <a:avLst/>
          </a:prstGeom>
          <a:solidFill>
            <a:srgbClr val="FFFF00"/>
          </a:solidFill>
        </p:spPr>
        <p:txBody>
          <a:bodyPr/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defRPr/>
            </a:pPr>
            <a:r>
              <a:rPr lang="es-PE" sz="2000" kern="0" dirty="0">
                <a:latin typeface="Arial Narrow" pitchFamily="34" charset="0"/>
              </a:rPr>
              <a:t>RESPUESTA: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defRPr/>
            </a:pPr>
            <a:r>
              <a:rPr lang="es-PE" sz="2000" kern="0" dirty="0">
                <a:latin typeface="Arial Narrow" pitchFamily="34" charset="0"/>
              </a:rPr>
              <a:t>Duración del proyecto:  51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defRPr/>
            </a:pPr>
            <a:r>
              <a:rPr lang="es-PE" sz="2000" kern="0" dirty="0">
                <a:latin typeface="Arial Narrow" pitchFamily="34" charset="0"/>
              </a:rPr>
              <a:t>Rutas críticas: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defRPr/>
            </a:pPr>
            <a:r>
              <a:rPr lang="es-PE" sz="2000" kern="0" dirty="0">
                <a:latin typeface="Arial Narrow" pitchFamily="34" charset="0"/>
              </a:rPr>
              <a:t>CDHJ  /   CDIJ</a:t>
            </a:r>
          </a:p>
        </p:txBody>
      </p:sp>
      <p:sp>
        <p:nvSpPr>
          <p:cNvPr id="48" name="Line 19"/>
          <p:cNvSpPr>
            <a:spLocks noChangeShapeType="1"/>
          </p:cNvSpPr>
          <p:nvPr/>
        </p:nvSpPr>
        <p:spPr bwMode="auto">
          <a:xfrm>
            <a:off x="7096133" y="3786190"/>
            <a:ext cx="84931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49" name="Line 19"/>
          <p:cNvSpPr>
            <a:spLocks noChangeShapeType="1"/>
          </p:cNvSpPr>
          <p:nvPr/>
        </p:nvSpPr>
        <p:spPr bwMode="auto">
          <a:xfrm>
            <a:off x="8882083" y="3786190"/>
            <a:ext cx="84931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519518" y="548681"/>
            <a:ext cx="9148483" cy="672017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spcFirstLastPara="1"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s-MX" sz="3200" dirty="0">
                <a:solidFill>
                  <a:schemeClr val="bg1"/>
                </a:solidFill>
                <a:latin typeface="Bauhaus 93" pitchFamily="82" charset="0"/>
                <a:ea typeface="+mn-ea"/>
                <a:cs typeface="+mn-cs"/>
              </a:rPr>
              <a:t>Red del 10.12</a:t>
            </a:r>
            <a:endParaRPr lang="es-ES" sz="3200" dirty="0">
              <a:solidFill>
                <a:schemeClr val="bg1"/>
              </a:solidFill>
              <a:latin typeface="Bauhaus 93" pitchFamily="8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3802230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ANIVAL TORRE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7123F-EA94-4AF6-90FD-8402484B591B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6" name="2 Marcador de contenido"/>
          <p:cNvSpPr txBox="1">
            <a:spLocks/>
          </p:cNvSpPr>
          <p:nvPr/>
        </p:nvSpPr>
        <p:spPr>
          <a:xfrm>
            <a:off x="9409162" y="3582472"/>
            <a:ext cx="2714644" cy="1557333"/>
          </a:xfrm>
          <a:prstGeom prst="rect">
            <a:avLst/>
          </a:prstGeom>
          <a:solidFill>
            <a:srgbClr val="FFFF00"/>
          </a:solidFill>
        </p:spPr>
        <p:txBody>
          <a:bodyPr/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defRPr/>
            </a:pPr>
            <a:r>
              <a:rPr lang="es-PE" sz="2000" b="1" kern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RESPUESTA: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defRPr/>
            </a:pPr>
            <a:r>
              <a:rPr lang="es-PE" sz="2000" b="1" kern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Costo adicional 306,66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defRPr/>
            </a:pPr>
            <a:r>
              <a:rPr lang="es-PE" sz="2000" b="1" kern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Tareas a reducir :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defRPr/>
            </a:pPr>
            <a:r>
              <a:rPr lang="es-PE" sz="2000" b="1" kern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C(1)    J(3)</a:t>
            </a:r>
          </a:p>
        </p:txBody>
      </p:sp>
      <p:sp>
        <p:nvSpPr>
          <p:cNvPr id="5" name="4 Rectángulo"/>
          <p:cNvSpPr/>
          <p:nvPr/>
        </p:nvSpPr>
        <p:spPr>
          <a:xfrm>
            <a:off x="1" y="1149896"/>
            <a:ext cx="12192000" cy="16312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tabLst>
                <a:tab pos="630238" algn="l"/>
              </a:tabLst>
            </a:pPr>
            <a:r>
              <a:rPr lang="es-MX" sz="20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I      </a:t>
            </a:r>
            <a:r>
              <a:rPr lang="es-MX" sz="2000" b="1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Identificación de las variables:</a:t>
            </a:r>
            <a:endParaRPr lang="es-PE" sz="20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indent="450850" eaLnBrk="0" hangingPunct="0">
              <a:tabLst>
                <a:tab pos="630238" algn="l"/>
              </a:tabLst>
            </a:pPr>
            <a:r>
              <a:rPr lang="es-MX" sz="20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Y i</a:t>
            </a:r>
            <a:r>
              <a:rPr lang="es-MX" sz="2000" b="1" baseline="-30000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lang="es-MX" sz="20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= Número de semanas en que se puede reducir la tarea i  (i = A, B, C,  … J)</a:t>
            </a:r>
            <a:endParaRPr lang="es-PE" sz="2000" b="1" dirty="0">
              <a:latin typeface="Arial" pitchFamily="34" charset="0"/>
              <a:cs typeface="Arial" pitchFamily="34" charset="0"/>
            </a:endParaRPr>
          </a:p>
          <a:p>
            <a:pPr indent="450850" eaLnBrk="0" hangingPunct="0">
              <a:tabLst>
                <a:tab pos="630238" algn="l"/>
              </a:tabLst>
            </a:pPr>
            <a:r>
              <a:rPr lang="es-MX" sz="20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X j</a:t>
            </a:r>
            <a:r>
              <a:rPr lang="es-MX" sz="2000" b="1" baseline="-30000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lang="es-MX" sz="20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= Tiempo en la cual todas las tareas que salen del nodo j pueden empezar.</a:t>
            </a:r>
          </a:p>
          <a:p>
            <a:pPr eaLnBrk="0" hangingPunct="0">
              <a:tabLst>
                <a:tab pos="630238" algn="l"/>
              </a:tabLst>
            </a:pPr>
            <a:r>
              <a:rPr lang="es-MX" sz="20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II     </a:t>
            </a:r>
            <a:r>
              <a:rPr lang="es-MX" sz="2000" b="1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Identificación de la Función objetivo:</a:t>
            </a:r>
            <a:endParaRPr lang="es-PE" sz="20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indent="450850" eaLnBrk="0" hangingPunct="0">
              <a:tabLst>
                <a:tab pos="630238" algn="l"/>
              </a:tabLst>
            </a:pPr>
            <a:r>
              <a:rPr lang="es-MX" sz="20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MIN 100YA + 500YB +66.67 YC + 200YD + 100YE + 150YF + 0YG + 50YH +  50YI + 80YJ</a:t>
            </a:r>
            <a:endParaRPr lang="es-PE" sz="2000" b="1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7" name="6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37033"/>
              </p:ext>
            </p:extLst>
          </p:nvPr>
        </p:nvGraphicFramePr>
        <p:xfrm>
          <a:off x="0" y="2704197"/>
          <a:ext cx="8639065" cy="435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154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36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ES_tradnl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III    </a:t>
                      </a:r>
                      <a:r>
                        <a:rPr kumimoji="0" lang="es-ES_tradnl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Identificación de las restricciones:</a:t>
                      </a:r>
                      <a:endParaRPr kumimoji="0" lang="es-ES_tradnl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ES_tradnl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      </a:t>
                      </a:r>
                      <a:r>
                        <a:rPr kumimoji="0" lang="es-MX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0 </a:t>
                      </a:r>
                      <a:r>
                        <a:rPr kumimoji="0" lang="es-MX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</a:t>
                      </a:r>
                      <a:r>
                        <a:rPr kumimoji="0" lang="es-MX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 YA ≤ 2</a:t>
                      </a: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0 </a:t>
                      </a:r>
                      <a:r>
                        <a:rPr kumimoji="0" lang="es-MX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 YB ≤ 1</a:t>
                      </a: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0 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</a:t>
                      </a:r>
                      <a:r>
                        <a:rPr kumimoji="0" lang="es-MX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 </a:t>
                      </a:r>
                      <a:r>
                        <a:rPr kumimoji="0" lang="es-MX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YC</a:t>
                      </a:r>
                      <a:r>
                        <a:rPr kumimoji="0" lang="es-MX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 </a:t>
                      </a:r>
                      <a:r>
                        <a:rPr kumimoji="0" lang="es-MX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</a:t>
                      </a:r>
                      <a:r>
                        <a:rPr kumimoji="0" lang="es-MX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 3</a:t>
                      </a:r>
                      <a:r>
                        <a:rPr kumimoji="0" lang="es-MX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</a:t>
                      </a: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0 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</a:t>
                      </a:r>
                      <a:r>
                        <a:rPr kumimoji="0" lang="es-MX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 YD ≤ 1      </a:t>
                      </a: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0 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</a:t>
                      </a:r>
                      <a:r>
                        <a:rPr kumimoji="0" lang="es-MX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 YE ≤ 2</a:t>
                      </a:r>
                      <a:r>
                        <a:rPr kumimoji="0" lang="es-MX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	</a:t>
                      </a: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0 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</a:t>
                      </a:r>
                      <a:r>
                        <a:rPr kumimoji="0" lang="es-MX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 </a:t>
                      </a:r>
                      <a:r>
                        <a:rPr kumimoji="0" lang="es-MX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YF</a:t>
                      </a:r>
                      <a:r>
                        <a:rPr kumimoji="0" lang="es-MX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 ≤ 2</a:t>
                      </a:r>
                      <a:r>
                        <a:rPr kumimoji="0" lang="es-MX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	       </a:t>
                      </a: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0 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</a:t>
                      </a:r>
                      <a:r>
                        <a:rPr kumimoji="0" lang="es-MX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 </a:t>
                      </a:r>
                      <a:r>
                        <a:rPr kumimoji="0" lang="es-MX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YG</a:t>
                      </a:r>
                      <a:r>
                        <a:rPr kumimoji="0" lang="es-MX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 ≤ 0</a:t>
                      </a:r>
                      <a:r>
                        <a:rPr kumimoji="0" lang="es-MX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	</a:t>
                      </a: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0 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</a:t>
                      </a:r>
                      <a:r>
                        <a:rPr kumimoji="0" lang="es-MX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 </a:t>
                      </a:r>
                      <a:r>
                        <a:rPr kumimoji="0" lang="es-MX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YH</a:t>
                      </a:r>
                      <a:r>
                        <a:rPr kumimoji="0" lang="es-MX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 ≤ 2       </a:t>
                      </a: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0 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</a:t>
                      </a:r>
                      <a:r>
                        <a:rPr kumimoji="0" lang="es-MX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 </a:t>
                      </a:r>
                      <a:r>
                        <a:rPr kumimoji="0" lang="es-MX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YI</a:t>
                      </a:r>
                      <a:r>
                        <a:rPr kumimoji="0" lang="es-MX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 ≤ 2	 </a:t>
                      </a: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0 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</a:t>
                      </a:r>
                      <a:r>
                        <a:rPr kumimoji="0" lang="es-MX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 </a:t>
                      </a:r>
                      <a:r>
                        <a:rPr kumimoji="0" lang="es-MX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YJ</a:t>
                      </a:r>
                      <a:r>
                        <a:rPr kumimoji="0" lang="es-MX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 ≤ 5</a:t>
                      </a:r>
                      <a:endParaRPr kumimoji="0" lang="es-PE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Symbol" pitchFamily="18" charset="2"/>
                      </a:endParaRP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Restricción de inicio. 	</a:t>
                      </a:r>
                      <a:r>
                        <a:rPr kumimoji="0" lang="es-MX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X0</a:t>
                      </a:r>
                      <a:r>
                        <a:rPr kumimoji="0" lang="es-MX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= 0,	</a:t>
                      </a:r>
                      <a:endParaRPr kumimoji="0" lang="es-PE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Symbol" pitchFamily="18" charset="2"/>
                      </a:endParaRP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Restricción de termino	</a:t>
                      </a:r>
                      <a:r>
                        <a:rPr kumimoji="0" lang="es-MX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X8</a:t>
                      </a:r>
                      <a:r>
                        <a:rPr kumimoji="0" lang="es-MX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= 47</a:t>
                      </a:r>
                      <a:endParaRPr kumimoji="0" lang="es-PE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Symbol" pitchFamily="18" charset="2"/>
                      </a:endParaRPr>
                    </a:p>
                    <a:p>
                      <a:endParaRPr lang="es-ES" sz="2000" b="1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Restricciones de la red</a:t>
                      </a: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X1</a:t>
                      </a:r>
                      <a:r>
                        <a:rPr kumimoji="0" lang="es-MX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≥ </a:t>
                      </a:r>
                      <a:r>
                        <a:rPr kumimoji="0" lang="es-MX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X0</a:t>
                      </a:r>
                      <a:r>
                        <a:rPr kumimoji="0" lang="es-MX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+ (10 – YA)	</a:t>
                      </a: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X2</a:t>
                      </a:r>
                      <a:r>
                        <a:rPr kumimoji="0" lang="es-MX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≥ </a:t>
                      </a:r>
                      <a:r>
                        <a:rPr kumimoji="0" lang="es-MX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X0</a:t>
                      </a:r>
                      <a:r>
                        <a:rPr kumimoji="0" lang="es-MX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+ ( 15 – </a:t>
                      </a:r>
                      <a:r>
                        <a:rPr kumimoji="0" lang="es-MX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YC</a:t>
                      </a:r>
                      <a:r>
                        <a:rPr kumimoji="0" lang="es-MX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)</a:t>
                      </a:r>
                      <a:endParaRPr kumimoji="0" lang="es-PE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  <a:sym typeface="Symbol" pitchFamily="18" charset="2"/>
                      </a:endParaRP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X3</a:t>
                      </a:r>
                      <a:r>
                        <a:rPr kumimoji="0" lang="es-MX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≥ </a:t>
                      </a:r>
                      <a:r>
                        <a:rPr kumimoji="0" lang="es-MX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X1</a:t>
                      </a:r>
                      <a:r>
                        <a:rPr kumimoji="0" lang="es-MX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+ (5 – YB)</a:t>
                      </a:r>
                      <a:endParaRPr kumimoji="0" lang="es-PE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  <a:sym typeface="Symbol" pitchFamily="18" charset="2"/>
                      </a:endParaRP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X3</a:t>
                      </a:r>
                      <a:r>
                        <a:rPr kumimoji="0" lang="es-MX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≥ </a:t>
                      </a:r>
                      <a:r>
                        <a:rPr kumimoji="0" lang="es-MX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X2</a:t>
                      </a:r>
                      <a:r>
                        <a:rPr kumimoji="0" lang="es-MX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</a:t>
                      </a: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X4</a:t>
                      </a:r>
                      <a:r>
                        <a:rPr kumimoji="0" lang="es-MX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≥ </a:t>
                      </a:r>
                      <a:r>
                        <a:rPr kumimoji="0" lang="es-MX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X2</a:t>
                      </a:r>
                      <a:r>
                        <a:rPr kumimoji="0" lang="es-MX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+ (5 – </a:t>
                      </a:r>
                      <a:r>
                        <a:rPr kumimoji="0" lang="es-MX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YF</a:t>
                      </a:r>
                      <a:r>
                        <a:rPr kumimoji="0" lang="es-MX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)</a:t>
                      </a: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X5</a:t>
                      </a:r>
                      <a:r>
                        <a:rPr kumimoji="0" lang="es-MX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≥ </a:t>
                      </a:r>
                      <a:r>
                        <a:rPr kumimoji="0" lang="es-MX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X3</a:t>
                      </a:r>
                      <a:r>
                        <a:rPr kumimoji="0" lang="es-MX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+ (10 – YE)</a:t>
                      </a:r>
                      <a:endParaRPr kumimoji="0" lang="es-PE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  <a:sym typeface="Symbol" pitchFamily="18" charset="2"/>
                      </a:endParaRP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X5</a:t>
                      </a:r>
                      <a:r>
                        <a:rPr kumimoji="0" lang="es-MX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≥ </a:t>
                      </a:r>
                      <a:r>
                        <a:rPr kumimoji="0" lang="es-MX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X2</a:t>
                      </a:r>
                      <a:r>
                        <a:rPr kumimoji="0" lang="es-MX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+ (11 – YD)</a:t>
                      </a: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X5</a:t>
                      </a:r>
                      <a:r>
                        <a:rPr kumimoji="0" lang="es-MX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≥ </a:t>
                      </a:r>
                      <a:r>
                        <a:rPr kumimoji="0" lang="es-MX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X4</a:t>
                      </a:r>
                      <a:r>
                        <a:rPr kumimoji="0" lang="es-MX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+ ( 5  –</a:t>
                      </a:r>
                      <a:r>
                        <a:rPr kumimoji="0" lang="es-MX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YG</a:t>
                      </a:r>
                      <a:r>
                        <a:rPr kumimoji="0" lang="es-MX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)</a:t>
                      </a:r>
                      <a:endParaRPr kumimoji="0" lang="es-PE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  <a:sym typeface="Symbol" pitchFamily="18" charset="2"/>
                      </a:endParaRP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X6</a:t>
                      </a:r>
                      <a:r>
                        <a:rPr kumimoji="0" lang="es-MX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≥ </a:t>
                      </a:r>
                      <a:r>
                        <a:rPr kumimoji="0" lang="es-MX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X5</a:t>
                      </a:r>
                      <a:r>
                        <a:rPr kumimoji="0" lang="es-MX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 +(10-</a:t>
                      </a:r>
                      <a:r>
                        <a:rPr kumimoji="0" lang="es-MX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YI</a:t>
                      </a:r>
                      <a:r>
                        <a:rPr kumimoji="0" lang="es-MX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)</a:t>
                      </a: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X7</a:t>
                      </a:r>
                      <a:r>
                        <a:rPr kumimoji="0" lang="es-MX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≥ </a:t>
                      </a:r>
                      <a:r>
                        <a:rPr kumimoji="0" lang="es-MX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X5</a:t>
                      </a:r>
                      <a:r>
                        <a:rPr kumimoji="0" lang="es-MX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+ (10 – </a:t>
                      </a:r>
                      <a:r>
                        <a:rPr kumimoji="0" lang="es-MX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YH</a:t>
                      </a:r>
                      <a:r>
                        <a:rPr kumimoji="0" lang="es-MX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)</a:t>
                      </a:r>
                      <a:endParaRPr kumimoji="0" lang="es-PE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  <a:sym typeface="Symbol" pitchFamily="18" charset="2"/>
                      </a:endParaRP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X7</a:t>
                      </a:r>
                      <a:r>
                        <a:rPr kumimoji="0" lang="es-MX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≥ </a:t>
                      </a:r>
                      <a:r>
                        <a:rPr kumimoji="0" lang="es-MX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X6</a:t>
                      </a:r>
                      <a:r>
                        <a:rPr kumimoji="0" lang="es-MX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	</a:t>
                      </a:r>
                      <a:endParaRPr kumimoji="0" lang="es-PE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  <a:sym typeface="Symbol" pitchFamily="18" charset="2"/>
                      </a:endParaRP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X8</a:t>
                      </a:r>
                      <a:r>
                        <a:rPr kumimoji="0" lang="es-MX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≥ </a:t>
                      </a:r>
                      <a:r>
                        <a:rPr kumimoji="0" lang="es-MX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X7</a:t>
                      </a:r>
                      <a:r>
                        <a:rPr kumimoji="0" lang="es-MX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+ (15 – </a:t>
                      </a:r>
                      <a:r>
                        <a:rPr kumimoji="0" lang="es-MX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YJ</a:t>
                      </a:r>
                      <a:r>
                        <a:rPr kumimoji="0" lang="es-MX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)</a:t>
                      </a:r>
                      <a:endParaRPr kumimoji="0" lang="es-PE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  <a:sym typeface="Symbol" pitchFamily="18" charset="2"/>
                      </a:endParaRP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Xi  ,  </a:t>
                      </a:r>
                      <a:r>
                        <a:rPr kumimoji="0" lang="es-MX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Yi</a:t>
                      </a:r>
                      <a:r>
                        <a:rPr kumimoji="0" lang="es-MX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 </a:t>
                      </a:r>
                      <a:r>
                        <a:rPr kumimoji="0" lang="es-MX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  </a:t>
                      </a:r>
                      <a:r>
                        <a:rPr kumimoji="0" lang="es-MX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0</a:t>
                      </a:r>
                      <a:endParaRPr kumimoji="0" lang="es-E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Rectángulo 5">
            <a:extLst>
              <a:ext uri="{FF2B5EF4-FFF2-40B4-BE49-F238E27FC236}">
                <a16:creationId xmlns:a16="http://schemas.microsoft.com/office/drawing/2014/main" id="{78633778-893F-F967-EC69-622AD6520080}"/>
              </a:ext>
            </a:extLst>
          </p:cNvPr>
          <p:cNvSpPr/>
          <p:nvPr/>
        </p:nvSpPr>
        <p:spPr>
          <a:xfrm>
            <a:off x="6096000" y="136525"/>
            <a:ext cx="6096000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spcFirstLastPara="1"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5800"/>
              </a:lnSpc>
              <a:spcBef>
                <a:spcPct val="0"/>
              </a:spcBef>
            </a:pPr>
            <a:r>
              <a:rPr lang="es-PE" sz="3200" dirty="0">
                <a:solidFill>
                  <a:schemeClr val="bg1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Bauhaus 93" pitchFamily="82" charset="0"/>
              </a:rPr>
              <a:t>Modelo matemático</a:t>
            </a:r>
          </a:p>
        </p:txBody>
      </p:sp>
    </p:spTree>
    <p:extLst>
      <p:ext uri="{BB962C8B-B14F-4D97-AF65-F5344CB8AC3E}">
        <p14:creationId xmlns:p14="http://schemas.microsoft.com/office/powerpoint/2010/main" val="31538304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ANIVAL TORRE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7123F-EA94-4AF6-90FD-8402484B591B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122881" name="Rectangle 1"/>
          <p:cNvSpPr>
            <a:spLocks noChangeArrowheads="1"/>
          </p:cNvSpPr>
          <p:nvPr/>
        </p:nvSpPr>
        <p:spPr bwMode="auto">
          <a:xfrm>
            <a:off x="10593" y="1338106"/>
            <a:ext cx="802075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630238" algn="l"/>
              </a:tabLst>
            </a:pPr>
            <a:r>
              <a:rPr lang="es-MX" sz="2400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MIN 	100YA + 500YB +66.66 YC + 200YD + 100YE + </a:t>
            </a:r>
          </a:p>
          <a:p>
            <a:pPr indent="450850" eaLnBrk="0" fontAlgn="base" hangingPunct="0">
              <a:spcBef>
                <a:spcPct val="0"/>
              </a:spcBef>
              <a:spcAft>
                <a:spcPct val="0"/>
              </a:spcAft>
              <a:tabLst>
                <a:tab pos="630238" algn="l"/>
              </a:tabLst>
            </a:pPr>
            <a:r>
              <a:rPr lang="es-MX" sz="2400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		</a:t>
            </a:r>
            <a:r>
              <a:rPr lang="es-MX" sz="2400" dirty="0" err="1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150YF</a:t>
            </a:r>
            <a:r>
              <a:rPr lang="es-MX" sz="2400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+ 0YG + 50YH + 50YI + 80YJ</a:t>
            </a:r>
            <a:endParaRPr lang="es-PE" sz="2400" dirty="0">
              <a:latin typeface="Arial" pitchFamily="34" charset="0"/>
              <a:cs typeface="Arial" pitchFamily="34" charset="0"/>
              <a:sym typeface="Symbol" pitchFamily="18" charset="2"/>
            </a:endParaRPr>
          </a:p>
        </p:txBody>
      </p:sp>
      <p:graphicFrame>
        <p:nvGraphicFramePr>
          <p:cNvPr id="7" name="6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7429368"/>
              </p:ext>
            </p:extLst>
          </p:nvPr>
        </p:nvGraphicFramePr>
        <p:xfrm>
          <a:off x="514141" y="2257739"/>
          <a:ext cx="7517210" cy="414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7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92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s-PE" sz="2000" dirty="0"/>
                        <a:t>SUBJECT TO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YA &lt;= 2</a:t>
                      </a: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YB &lt;= 1</a:t>
                      </a: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YC &lt;= 3</a:t>
                      </a: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YD &lt;= 1</a:t>
                      </a: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YE &lt;= 2</a:t>
                      </a: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YF &lt;= 2</a:t>
                      </a:r>
                      <a:r>
                        <a:rPr kumimoji="0" lang="es-MX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	       </a:t>
                      </a: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YG &lt;= 0</a:t>
                      </a: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YH &lt;= 2      </a:t>
                      </a: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YI</a:t>
                      </a:r>
                      <a:r>
                        <a:rPr kumimoji="0" lang="es-MX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 </a:t>
                      </a:r>
                      <a:r>
                        <a:rPr kumimoji="0" lang="es-MX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&lt;=</a:t>
                      </a:r>
                      <a:r>
                        <a:rPr kumimoji="0" lang="es-MX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2</a:t>
                      </a: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YJ &lt;= 5</a:t>
                      </a: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  <a:sym typeface="Symbol" pitchFamily="18" charset="2"/>
                        </a:rPr>
                        <a:t>X0=0</a:t>
                      </a: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  <a:sym typeface="Symbol" pitchFamily="18" charset="2"/>
                        </a:rPr>
                        <a:t>X8=47</a:t>
                      </a:r>
                      <a:endParaRPr lang="es-P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X1 – X0 +YA &gt;= 10		</a:t>
                      </a:r>
                      <a:endParaRPr kumimoji="0" lang="es-PE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Symbol" pitchFamily="18" charset="2"/>
                      </a:endParaRP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X2 -  X0 +YC&gt;= 15</a:t>
                      </a:r>
                      <a:endParaRPr kumimoji="0" lang="es-PE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Symbol" pitchFamily="18" charset="2"/>
                      </a:endParaRP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X3 - X1 + YB&gt;= 5</a:t>
                      </a:r>
                      <a:endParaRPr kumimoji="0" lang="es-PE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Symbol" pitchFamily="18" charset="2"/>
                      </a:endParaRPr>
                    </a:p>
                    <a:p>
                      <a:pPr lvl="0" indent="450850" eaLnBrk="0" hangingPunct="0">
                        <a:tabLst>
                          <a:tab pos="630238" algn="l"/>
                        </a:tabLst>
                      </a:pPr>
                      <a:r>
                        <a:rPr lang="es-MX" sz="2000" b="0" dirty="0">
                          <a:solidFill>
                            <a:srgbClr val="000000"/>
                          </a:solidFill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X3 - X2  &gt;= 0 </a:t>
                      </a:r>
                    </a:p>
                    <a:p>
                      <a:pPr lvl="0" indent="450850" eaLnBrk="0" hangingPunct="0">
                        <a:tabLst>
                          <a:tab pos="630238" algn="l"/>
                        </a:tabLst>
                      </a:pPr>
                      <a:r>
                        <a:rPr kumimoji="0" lang="es-MX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X4 - X2 + YF&gt;=5		</a:t>
                      </a:r>
                      <a:endParaRPr kumimoji="0" lang="es-PE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Symbol" pitchFamily="18" charset="2"/>
                      </a:endParaRP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X5 - X3 + YE&gt;=10</a:t>
                      </a:r>
                      <a:endParaRPr kumimoji="0" lang="es-PE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Symbol" pitchFamily="18" charset="2"/>
                      </a:endParaRP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X5 - X2 + YD&gt;=11</a:t>
                      </a:r>
                      <a:endParaRPr kumimoji="0" lang="es-PE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Symbol" pitchFamily="18" charset="2"/>
                      </a:endParaRP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X5 - X4 + YG&gt;=5</a:t>
                      </a:r>
                      <a:endParaRPr kumimoji="0" lang="es-PE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Symbol" pitchFamily="18" charset="2"/>
                      </a:endParaRP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X6 - X5  +YI&gt;=10	</a:t>
                      </a: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X7 - X5 + YH&gt;=10</a:t>
                      </a:r>
                      <a:endParaRPr kumimoji="0" lang="es-PE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Symbol" pitchFamily="18" charset="2"/>
                      </a:endParaRP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X7 - X6&gt;=0 	</a:t>
                      </a:r>
                      <a:endParaRPr kumimoji="0" lang="es-PE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Symbol" pitchFamily="18" charset="2"/>
                      </a:endParaRP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X8 - X7 + YJ&gt;=15</a:t>
                      </a:r>
                      <a:endParaRPr lang="es-P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4 Rectángulo">
            <a:extLst>
              <a:ext uri="{FF2B5EF4-FFF2-40B4-BE49-F238E27FC236}">
                <a16:creationId xmlns:a16="http://schemas.microsoft.com/office/drawing/2014/main" id="{A8E0319A-D51C-7959-212C-F59362AF7D44}"/>
              </a:ext>
            </a:extLst>
          </p:cNvPr>
          <p:cNvSpPr/>
          <p:nvPr/>
        </p:nvSpPr>
        <p:spPr>
          <a:xfrm>
            <a:off x="8153400" y="1275933"/>
            <a:ext cx="3947029" cy="5509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1)      306.6600</a:t>
            </a: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VARIABLE  VALUE          REDUCED COST</a:t>
            </a: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YA         0.000000         86.660004</a:t>
            </a: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YB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 0.000000        486.660004</a:t>
            </a: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YC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 1.000000          0.000000</a:t>
            </a: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YD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 0.000000        133.339996</a:t>
            </a: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YE         0.000000         86.660004</a:t>
            </a: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YF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 0.000000        150.000000</a:t>
            </a: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YG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 0.000000          0.000000</a:t>
            </a: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YH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 0.000000          0.000000</a:t>
            </a: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YI          0.000000         20.0000</a:t>
            </a: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YJ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 3.000000          0.000000</a:t>
            </a: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X0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 0.000000         80.000000</a:t>
            </a: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X8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47.000000          0.000000</a:t>
            </a: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X1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10.000000          0.000000</a:t>
            </a: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X2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14.000000          0.000000</a:t>
            </a: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X3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15.000000          0.000000</a:t>
            </a: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X4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20.000000          0.000000</a:t>
            </a: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X5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25.000000          0.000000</a:t>
            </a: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X6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35.000000          0.000000</a:t>
            </a: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X7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35.000000          0.000000</a:t>
            </a:r>
            <a:endParaRPr lang="es-PE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8121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ANIVAL TORRE</a:t>
            </a:r>
            <a:endParaRPr lang="en-US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38C50-023F-42B7-BFCC-78669C22CA39}" type="slidenum">
              <a:rPr lang="en-US" smtClean="0"/>
              <a:pPr/>
              <a:t>22</a:t>
            </a:fld>
            <a:endParaRPr lang="en-US" dirty="0"/>
          </a:p>
        </p:txBody>
      </p:sp>
      <p:graphicFrame>
        <p:nvGraphicFramePr>
          <p:cNvPr id="6" name="Tab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3725272"/>
              </p:ext>
            </p:extLst>
          </p:nvPr>
        </p:nvGraphicFramePr>
        <p:xfrm>
          <a:off x="1775520" y="1412776"/>
          <a:ext cx="5400600" cy="483335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17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43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43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43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98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200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Tarea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 err="1">
                          <a:effectLst/>
                        </a:rPr>
                        <a:t>Prece</a:t>
                      </a:r>
                      <a:r>
                        <a:rPr lang="es-ES" sz="2000" dirty="0">
                          <a:effectLst/>
                        </a:rPr>
                        <a:t>-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 err="1">
                          <a:effectLst/>
                        </a:rPr>
                        <a:t>dencia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Tiempo</a:t>
                      </a:r>
                      <a:endParaRPr lang="es-PE" sz="20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Normal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Tiempo</a:t>
                      </a:r>
                      <a:endParaRPr lang="es-PE" sz="20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Choque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u="sng" dirty="0">
                          <a:effectLst/>
                        </a:rPr>
                        <a:t>Costo</a:t>
                      </a:r>
                      <a:endParaRPr lang="es-PE" sz="20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Semana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65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A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dirty="0">
                          <a:effectLst/>
                        </a:rPr>
                        <a:t>-</a:t>
                      </a:r>
                      <a:endParaRPr lang="es-PE" sz="24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2400" dirty="0">
                          <a:effectLst/>
                          <a:latin typeface="Times New Roman"/>
                          <a:ea typeface="Calibri"/>
                        </a:rPr>
                        <a:t>6</a:t>
                      </a:r>
                      <a:endParaRPr lang="es-PE" sz="24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38735" marR="74930" indent="-38735"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MX" sz="2400" dirty="0">
                          <a:effectLst/>
                        </a:rPr>
                        <a:t>4</a:t>
                      </a:r>
                      <a:endParaRPr lang="es-PE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500*</a:t>
                      </a:r>
                      <a:endParaRPr lang="es-PE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54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B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dirty="0">
                          <a:effectLst/>
                        </a:rPr>
                        <a:t>-</a:t>
                      </a:r>
                      <a:endParaRPr lang="es-PE" sz="24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2400" dirty="0">
                          <a:effectLst/>
                          <a:latin typeface="Times New Roman"/>
                          <a:ea typeface="Calibri"/>
                        </a:rPr>
                        <a:t>2</a:t>
                      </a:r>
                      <a:endParaRPr lang="es-PE" sz="24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38735" marR="74930" indent="-38735"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MX" sz="2400" dirty="0">
                          <a:effectLst/>
                        </a:rPr>
                        <a:t>1</a:t>
                      </a:r>
                      <a:endParaRPr lang="es-PE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400</a:t>
                      </a:r>
                      <a:endParaRPr lang="es-PE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8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000" dirty="0">
                          <a:effectLst/>
                        </a:rPr>
                        <a:t>C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dirty="0">
                          <a:effectLst/>
                        </a:rPr>
                        <a:t>A</a:t>
                      </a:r>
                      <a:endParaRPr lang="es-PE" sz="24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2400" dirty="0">
                          <a:effectLst/>
                          <a:latin typeface="Times New Roman"/>
                          <a:ea typeface="Calibri"/>
                        </a:rPr>
                        <a:t>6</a:t>
                      </a:r>
                      <a:endParaRPr lang="es-PE" sz="24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38735" marR="74930" indent="-38735"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MX" sz="2400" dirty="0">
                          <a:effectLst/>
                        </a:rPr>
                        <a:t>3</a:t>
                      </a:r>
                      <a:endParaRPr lang="es-PE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300*</a:t>
                      </a:r>
                      <a:endParaRPr lang="es-PE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93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000" dirty="0">
                          <a:effectLst/>
                        </a:rPr>
                        <a:t>D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dirty="0">
                          <a:effectLst/>
                        </a:rPr>
                        <a:t>A, B</a:t>
                      </a:r>
                      <a:endParaRPr lang="es-PE" sz="24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2400" dirty="0">
                          <a:effectLst/>
                          <a:latin typeface="Times New Roman"/>
                          <a:ea typeface="Calibri"/>
                        </a:rPr>
                        <a:t>5</a:t>
                      </a:r>
                      <a:endParaRPr lang="es-PE" sz="24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38735" marR="74930" indent="-38735"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MX" sz="2400" dirty="0">
                          <a:effectLst/>
                        </a:rPr>
                        <a:t>5</a:t>
                      </a:r>
                      <a:endParaRPr lang="es-PE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-</a:t>
                      </a:r>
                      <a:endParaRPr lang="es-PE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54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000" dirty="0">
                          <a:effectLst/>
                        </a:rPr>
                        <a:t>E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dirty="0">
                          <a:effectLst/>
                        </a:rPr>
                        <a:t>C, D</a:t>
                      </a:r>
                      <a:endParaRPr lang="es-PE" sz="24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2400" dirty="0">
                          <a:effectLst/>
                          <a:latin typeface="Times New Roman"/>
                          <a:ea typeface="Calibri"/>
                        </a:rPr>
                        <a:t>3</a:t>
                      </a:r>
                      <a:endParaRPr lang="es-PE" sz="24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38735" marR="74930" indent="-38735"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MX" sz="2400" dirty="0">
                          <a:effectLst/>
                        </a:rPr>
                        <a:t>2</a:t>
                      </a:r>
                      <a:endParaRPr lang="es-PE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200*</a:t>
                      </a:r>
                      <a:endParaRPr lang="es-PE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8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000" dirty="0">
                          <a:effectLst/>
                        </a:rPr>
                        <a:t>F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dirty="0">
                          <a:effectLst/>
                        </a:rPr>
                        <a:t>E</a:t>
                      </a:r>
                      <a:endParaRPr lang="es-PE" sz="24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2400" dirty="0">
                          <a:effectLst/>
                          <a:latin typeface="Times New Roman"/>
                          <a:ea typeface="Calibri"/>
                        </a:rPr>
                        <a:t>5.5</a:t>
                      </a:r>
                      <a:endParaRPr lang="es-PE" sz="24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38735" marR="74930" indent="-38735"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MX" sz="2400" dirty="0">
                          <a:effectLst/>
                        </a:rPr>
                        <a:t>4</a:t>
                      </a:r>
                      <a:endParaRPr lang="es-PE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100*</a:t>
                      </a:r>
                      <a:endParaRPr lang="es-PE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28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000" dirty="0">
                          <a:effectLst/>
                        </a:rPr>
                        <a:t>G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dirty="0">
                          <a:effectLst/>
                          <a:latin typeface="+mn-lt"/>
                          <a:ea typeface="+mn-ea"/>
                        </a:rPr>
                        <a:t>-</a:t>
                      </a:r>
                      <a:endParaRPr lang="es-PE" sz="24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2400" dirty="0">
                          <a:effectLst/>
                          <a:latin typeface="Times New Roman"/>
                          <a:ea typeface="Calibri"/>
                        </a:rPr>
                        <a:t>8</a:t>
                      </a:r>
                      <a:endParaRPr lang="es-PE" sz="24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38735" marR="74930" indent="-38735"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MX" sz="2400" dirty="0">
                          <a:effectLst/>
                        </a:rPr>
                        <a:t>5</a:t>
                      </a:r>
                      <a:endParaRPr lang="es-PE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150</a:t>
                      </a:r>
                      <a:endParaRPr lang="es-PE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28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000" dirty="0">
                          <a:effectLst/>
                        </a:rPr>
                        <a:t>H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dirty="0">
                          <a:effectLst/>
                        </a:rPr>
                        <a:t>G</a:t>
                      </a:r>
                      <a:endParaRPr lang="es-PE" sz="24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2400" dirty="0">
                          <a:effectLst/>
                          <a:latin typeface="Times New Roman"/>
                          <a:ea typeface="Calibri"/>
                        </a:rPr>
                        <a:t>6</a:t>
                      </a:r>
                      <a:endParaRPr lang="es-PE" sz="24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38735" marR="74930" indent="-38735"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MX" sz="2400" dirty="0">
                          <a:effectLst/>
                        </a:rPr>
                        <a:t>5</a:t>
                      </a:r>
                      <a:endParaRPr lang="es-PE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250</a:t>
                      </a:r>
                      <a:endParaRPr lang="es-PE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28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I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dirty="0">
                          <a:effectLst/>
                        </a:rPr>
                        <a:t>F, H</a:t>
                      </a:r>
                      <a:endParaRPr lang="es-PE" sz="24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2400" dirty="0">
                          <a:effectLst/>
                          <a:latin typeface="Times New Roman"/>
                          <a:ea typeface="Calibri"/>
                        </a:rPr>
                        <a:t>4.5</a:t>
                      </a:r>
                      <a:endParaRPr lang="es-PE" sz="24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38735" marR="74930" indent="-38735"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MX" sz="2400" dirty="0">
                          <a:effectLst/>
                        </a:rPr>
                        <a:t>2</a:t>
                      </a:r>
                      <a:endParaRPr lang="es-PE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350*</a:t>
                      </a:r>
                      <a:endParaRPr lang="es-PE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28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J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dirty="0">
                          <a:effectLst/>
                        </a:rPr>
                        <a:t>I</a:t>
                      </a:r>
                      <a:endParaRPr lang="es-PE" sz="24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2400" dirty="0">
                          <a:effectLst/>
                          <a:latin typeface="Times New Roman"/>
                          <a:ea typeface="Calibri"/>
                        </a:rPr>
                        <a:t>5</a:t>
                      </a:r>
                      <a:endParaRPr lang="es-PE" sz="24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marL="38735" marR="74930" indent="-38735"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MX" sz="2400" dirty="0">
                          <a:effectLst/>
                        </a:rPr>
                        <a:t>5</a:t>
                      </a:r>
                      <a:endParaRPr lang="es-PE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-*</a:t>
                      </a:r>
                      <a:endParaRPr lang="es-PE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096000" y="136525"/>
            <a:ext cx="6096000" cy="631904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spcFirstLastPara="1"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s-MX" sz="3200" dirty="0">
                <a:solidFill>
                  <a:schemeClr val="bg1"/>
                </a:solidFill>
                <a:latin typeface="Bauhaus 93" pitchFamily="82" charset="0"/>
              </a:rPr>
              <a:t>EJERCICIO 10.12 Disminuir  a 22 días.</a:t>
            </a:r>
            <a:endParaRPr lang="es-ES" sz="3200" dirty="0">
              <a:solidFill>
                <a:schemeClr val="bg1"/>
              </a:solidFill>
              <a:latin typeface="Bauhaus 93" pitchFamily="82" charset="0"/>
              <a:ea typeface="+mn-ea"/>
              <a:cs typeface="+mn-cs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4A03EDD5-86D5-AA00-C494-22CD493513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2370058"/>
              </p:ext>
            </p:extLst>
          </p:nvPr>
        </p:nvGraphicFramePr>
        <p:xfrm>
          <a:off x="7248525" y="1412776"/>
          <a:ext cx="1105787" cy="480490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05787">
                  <a:extLst>
                    <a:ext uri="{9D8B030D-6E8A-4147-A177-3AD203B41FA5}">
                      <a16:colId xmlns:a16="http://schemas.microsoft.com/office/drawing/2014/main" val="2755959101"/>
                    </a:ext>
                  </a:extLst>
                </a:gridCol>
              </a:tblGrid>
              <a:tr h="72008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Red. Max.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85729472"/>
                  </a:ext>
                </a:extLst>
              </a:tr>
              <a:tr h="371656">
                <a:tc>
                  <a:txBody>
                    <a:bodyPr/>
                    <a:lstStyle/>
                    <a:p>
                      <a:pPr marL="38735" marR="74930" indent="-38735"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2</a:t>
                      </a:r>
                      <a:endParaRPr lang="es-PE" sz="2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316694"/>
                  </a:ext>
                </a:extLst>
              </a:tr>
              <a:tr h="358546">
                <a:tc>
                  <a:txBody>
                    <a:bodyPr/>
                    <a:lstStyle/>
                    <a:p>
                      <a:pPr marL="38735" marR="74930" indent="-38735"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1</a:t>
                      </a:r>
                      <a:endParaRPr lang="es-PE" sz="2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595167"/>
                  </a:ext>
                </a:extLst>
              </a:tr>
              <a:tr h="422867">
                <a:tc>
                  <a:txBody>
                    <a:bodyPr/>
                    <a:lstStyle/>
                    <a:p>
                      <a:pPr marL="38735" marR="74930" indent="-38735"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3</a:t>
                      </a:r>
                      <a:endParaRPr lang="es-PE" sz="2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3199974"/>
                  </a:ext>
                </a:extLst>
              </a:tr>
              <a:tr h="365931">
                <a:tc>
                  <a:txBody>
                    <a:bodyPr/>
                    <a:lstStyle/>
                    <a:p>
                      <a:pPr marL="38735" marR="74930" indent="-38735"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0</a:t>
                      </a:r>
                      <a:endParaRPr lang="es-PE" sz="2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9563675"/>
                  </a:ext>
                </a:extLst>
              </a:tr>
              <a:tr h="358546">
                <a:tc>
                  <a:txBody>
                    <a:bodyPr/>
                    <a:lstStyle/>
                    <a:p>
                      <a:pPr marL="38735" marR="74930" indent="-38735"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1</a:t>
                      </a:r>
                      <a:endParaRPr lang="es-PE" sz="2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765008"/>
                  </a:ext>
                </a:extLst>
              </a:tr>
              <a:tr h="422867">
                <a:tc>
                  <a:txBody>
                    <a:bodyPr/>
                    <a:lstStyle/>
                    <a:p>
                      <a:pPr marL="38735" marR="74930" indent="-38735"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1,5</a:t>
                      </a:r>
                      <a:endParaRPr lang="es-PE" sz="2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6335041"/>
                  </a:ext>
                </a:extLst>
              </a:tr>
              <a:tr h="422867">
                <a:tc>
                  <a:txBody>
                    <a:bodyPr/>
                    <a:lstStyle/>
                    <a:p>
                      <a:pPr marL="38735" marR="74930" indent="-38735"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3</a:t>
                      </a:r>
                      <a:endParaRPr lang="es-PE" sz="2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1742347"/>
                  </a:ext>
                </a:extLst>
              </a:tr>
              <a:tr h="422867">
                <a:tc>
                  <a:txBody>
                    <a:bodyPr/>
                    <a:lstStyle/>
                    <a:p>
                      <a:pPr marL="38735" marR="74930" indent="-38735"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1</a:t>
                      </a:r>
                      <a:endParaRPr lang="es-PE" sz="2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9350082"/>
                  </a:ext>
                </a:extLst>
              </a:tr>
              <a:tr h="422867">
                <a:tc>
                  <a:txBody>
                    <a:bodyPr/>
                    <a:lstStyle/>
                    <a:p>
                      <a:pPr marL="38735" marR="74930" indent="-38735"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2.5</a:t>
                      </a:r>
                      <a:endParaRPr lang="es-PE" sz="2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930820"/>
                  </a:ext>
                </a:extLst>
              </a:tr>
              <a:tr h="422867">
                <a:tc>
                  <a:txBody>
                    <a:bodyPr/>
                    <a:lstStyle/>
                    <a:p>
                      <a:pPr marL="38735" marR="74930" indent="-38735"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0</a:t>
                      </a:r>
                      <a:endParaRPr lang="es-PE" sz="2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85404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5592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39848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Oval 3">
            <a:hlinkHover r:id="" action="ppaction://noaction">
              <a:snd r:embed="rId3" name="gunshot.wav"/>
            </a:hlinkHover>
          </p:cNvPr>
          <p:cNvSpPr>
            <a:spLocks noChangeArrowheads="1"/>
          </p:cNvSpPr>
          <p:nvPr/>
        </p:nvSpPr>
        <p:spPr bwMode="auto">
          <a:xfrm>
            <a:off x="3107517" y="3645023"/>
            <a:ext cx="728449" cy="797204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solidFill>
                  <a:schemeClr val="bg1"/>
                </a:solidFill>
                <a:latin typeface="Arial Narrow" pitchFamily="34" charset="0"/>
              </a:rPr>
              <a:t>X0</a:t>
            </a:r>
            <a:endParaRPr lang="es-ES" sz="200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52228" name="Oval 4"/>
          <p:cNvSpPr>
            <a:spLocks noChangeArrowheads="1"/>
          </p:cNvSpPr>
          <p:nvPr/>
        </p:nvSpPr>
        <p:spPr bwMode="auto">
          <a:xfrm>
            <a:off x="11096626" y="5153206"/>
            <a:ext cx="758320" cy="88480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solidFill>
                  <a:schemeClr val="bg1"/>
                </a:solidFill>
                <a:latin typeface="Arial Narrow" pitchFamily="34" charset="0"/>
              </a:rPr>
              <a:t>X8</a:t>
            </a:r>
            <a:endParaRPr lang="es-ES" sz="200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52229" name="Oval 5"/>
          <p:cNvSpPr>
            <a:spLocks noChangeArrowheads="1"/>
          </p:cNvSpPr>
          <p:nvPr/>
        </p:nvSpPr>
        <p:spPr bwMode="auto">
          <a:xfrm>
            <a:off x="6099443" y="1317481"/>
            <a:ext cx="763519" cy="84298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solidFill>
                  <a:schemeClr val="bg1"/>
                </a:solidFill>
                <a:latin typeface="Arial Narrow" pitchFamily="34" charset="0"/>
              </a:rPr>
              <a:t>X3</a:t>
            </a:r>
            <a:endParaRPr lang="es-ES" sz="200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52230" name="Oval 6"/>
          <p:cNvSpPr>
            <a:spLocks noChangeArrowheads="1"/>
          </p:cNvSpPr>
          <p:nvPr/>
        </p:nvSpPr>
        <p:spPr bwMode="auto">
          <a:xfrm>
            <a:off x="9480243" y="3474863"/>
            <a:ext cx="767095" cy="8287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solidFill>
                  <a:schemeClr val="bg1"/>
                </a:solidFill>
                <a:latin typeface="Arial Narrow" pitchFamily="34" charset="0"/>
              </a:rPr>
              <a:t>X6</a:t>
            </a:r>
            <a:endParaRPr lang="es-ES" sz="200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52231" name="Oval 7"/>
          <p:cNvSpPr>
            <a:spLocks noChangeArrowheads="1"/>
          </p:cNvSpPr>
          <p:nvPr/>
        </p:nvSpPr>
        <p:spPr bwMode="auto">
          <a:xfrm>
            <a:off x="4573829" y="5580813"/>
            <a:ext cx="720974" cy="87252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solidFill>
                  <a:schemeClr val="bg1"/>
                </a:solidFill>
                <a:latin typeface="Arial Narrow" pitchFamily="34" charset="0"/>
              </a:rPr>
              <a:t>X5</a:t>
            </a:r>
            <a:endParaRPr lang="es-ES" sz="200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52232" name="Oval 8"/>
          <p:cNvSpPr>
            <a:spLocks noChangeArrowheads="1"/>
          </p:cNvSpPr>
          <p:nvPr/>
        </p:nvSpPr>
        <p:spPr bwMode="auto">
          <a:xfrm>
            <a:off x="4442755" y="1317481"/>
            <a:ext cx="713712" cy="865044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solidFill>
                  <a:schemeClr val="bg1"/>
                </a:solidFill>
                <a:latin typeface="Arial Narrow" pitchFamily="34" charset="0"/>
              </a:rPr>
              <a:t>X1</a:t>
            </a:r>
            <a:endParaRPr lang="es-ES" sz="200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52233" name="Oval 9"/>
          <p:cNvSpPr>
            <a:spLocks noChangeArrowheads="1"/>
          </p:cNvSpPr>
          <p:nvPr/>
        </p:nvSpPr>
        <p:spPr bwMode="auto">
          <a:xfrm>
            <a:off x="7705388" y="3474863"/>
            <a:ext cx="719475" cy="8429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solidFill>
                  <a:schemeClr val="bg1"/>
                </a:solidFill>
                <a:latin typeface="Arial Narrow" pitchFamily="34" charset="0"/>
              </a:rPr>
              <a:t>X4</a:t>
            </a:r>
            <a:endParaRPr lang="es-ES" sz="200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52234" name="Oval 10"/>
          <p:cNvSpPr>
            <a:spLocks noChangeArrowheads="1"/>
          </p:cNvSpPr>
          <p:nvPr/>
        </p:nvSpPr>
        <p:spPr bwMode="auto">
          <a:xfrm>
            <a:off x="4442756" y="3645024"/>
            <a:ext cx="729376" cy="81567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solidFill>
                  <a:schemeClr val="bg1"/>
                </a:solidFill>
                <a:latin typeface="Arial Narrow" pitchFamily="34" charset="0"/>
              </a:rPr>
              <a:t>X2</a:t>
            </a:r>
            <a:endParaRPr lang="es-ES" sz="200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52235" name="Oval 11"/>
          <p:cNvSpPr>
            <a:spLocks noChangeArrowheads="1"/>
          </p:cNvSpPr>
          <p:nvPr/>
        </p:nvSpPr>
        <p:spPr bwMode="auto">
          <a:xfrm>
            <a:off x="11096626" y="3546300"/>
            <a:ext cx="758320" cy="8429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solidFill>
                  <a:schemeClr val="bg1"/>
                </a:solidFill>
                <a:latin typeface="Arial Narrow" pitchFamily="34" charset="0"/>
              </a:rPr>
              <a:t>X7</a:t>
            </a:r>
            <a:endParaRPr lang="es-ES" sz="200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52236" name="Line 12"/>
          <p:cNvSpPr>
            <a:spLocks noChangeShapeType="1"/>
          </p:cNvSpPr>
          <p:nvPr/>
        </p:nvSpPr>
        <p:spPr bwMode="auto">
          <a:xfrm flipV="1">
            <a:off x="3561409" y="2026026"/>
            <a:ext cx="927065" cy="161899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2237" name="Line 13"/>
          <p:cNvSpPr>
            <a:spLocks noChangeShapeType="1"/>
          </p:cNvSpPr>
          <p:nvPr/>
        </p:nvSpPr>
        <p:spPr bwMode="auto">
          <a:xfrm>
            <a:off x="3655834" y="4437164"/>
            <a:ext cx="976696" cy="1282782"/>
          </a:xfrm>
          <a:prstGeom prst="line">
            <a:avLst/>
          </a:prstGeom>
          <a:noFill/>
          <a:ln w="349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2239" name="Line 15"/>
          <p:cNvSpPr>
            <a:spLocks noChangeShapeType="1"/>
          </p:cNvSpPr>
          <p:nvPr/>
        </p:nvSpPr>
        <p:spPr bwMode="auto">
          <a:xfrm>
            <a:off x="11531620" y="4389263"/>
            <a:ext cx="0" cy="71674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2242" name="Line 18"/>
          <p:cNvSpPr>
            <a:spLocks noChangeShapeType="1"/>
          </p:cNvSpPr>
          <p:nvPr/>
        </p:nvSpPr>
        <p:spPr bwMode="auto">
          <a:xfrm>
            <a:off x="6736300" y="2075336"/>
            <a:ext cx="1134773" cy="147096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2243" name="Line 19"/>
          <p:cNvSpPr>
            <a:spLocks noChangeShapeType="1"/>
          </p:cNvSpPr>
          <p:nvPr/>
        </p:nvSpPr>
        <p:spPr bwMode="auto">
          <a:xfrm>
            <a:off x="5156468" y="1688913"/>
            <a:ext cx="935021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2244" name="Line 20"/>
          <p:cNvSpPr>
            <a:spLocks noChangeShapeType="1"/>
          </p:cNvSpPr>
          <p:nvPr/>
        </p:nvSpPr>
        <p:spPr bwMode="auto">
          <a:xfrm flipV="1">
            <a:off x="5109589" y="2075336"/>
            <a:ext cx="1121652" cy="1648080"/>
          </a:xfrm>
          <a:prstGeom prst="line">
            <a:avLst/>
          </a:prstGeom>
          <a:noFill/>
          <a:ln w="349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2246" name="Line 22"/>
          <p:cNvSpPr>
            <a:spLocks noChangeShapeType="1"/>
          </p:cNvSpPr>
          <p:nvPr/>
        </p:nvSpPr>
        <p:spPr bwMode="auto">
          <a:xfrm flipV="1">
            <a:off x="5294803" y="4180556"/>
            <a:ext cx="4211195" cy="1702945"/>
          </a:xfrm>
          <a:prstGeom prst="line">
            <a:avLst/>
          </a:prstGeom>
          <a:noFill/>
          <a:ln w="349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2247" name="Text Box 23"/>
          <p:cNvSpPr txBox="1">
            <a:spLocks noChangeArrowheads="1"/>
          </p:cNvSpPr>
          <p:nvPr/>
        </p:nvSpPr>
        <p:spPr bwMode="auto">
          <a:xfrm>
            <a:off x="3561409" y="2399471"/>
            <a:ext cx="32573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A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48" name="Text Box 24"/>
          <p:cNvSpPr txBox="1">
            <a:spLocks noChangeArrowheads="1"/>
          </p:cNvSpPr>
          <p:nvPr/>
        </p:nvSpPr>
        <p:spPr bwMode="auto">
          <a:xfrm>
            <a:off x="3959243" y="3523362"/>
            <a:ext cx="38343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B 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49" name="Text Box 25"/>
          <p:cNvSpPr txBox="1">
            <a:spLocks noChangeArrowheads="1"/>
          </p:cNvSpPr>
          <p:nvPr/>
        </p:nvSpPr>
        <p:spPr bwMode="auto">
          <a:xfrm>
            <a:off x="5249662" y="1117426"/>
            <a:ext cx="33695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C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50" name="Text Box 26"/>
          <p:cNvSpPr txBox="1">
            <a:spLocks noChangeArrowheads="1"/>
          </p:cNvSpPr>
          <p:nvPr/>
        </p:nvSpPr>
        <p:spPr bwMode="auto">
          <a:xfrm>
            <a:off x="5960481" y="2428343"/>
            <a:ext cx="33695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D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52" name="Text Box 28"/>
          <p:cNvSpPr txBox="1">
            <a:spLocks noChangeArrowheads="1"/>
          </p:cNvSpPr>
          <p:nvPr/>
        </p:nvSpPr>
        <p:spPr bwMode="auto">
          <a:xfrm>
            <a:off x="8699423" y="3331987"/>
            <a:ext cx="31290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F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53" name="Text Box 29"/>
          <p:cNvSpPr txBox="1">
            <a:spLocks noChangeArrowheads="1"/>
          </p:cNvSpPr>
          <p:nvPr/>
        </p:nvSpPr>
        <p:spPr bwMode="auto">
          <a:xfrm>
            <a:off x="10469839" y="3331987"/>
            <a:ext cx="24237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I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54" name="Text Box 30"/>
          <p:cNvSpPr txBox="1">
            <a:spLocks noChangeArrowheads="1"/>
          </p:cNvSpPr>
          <p:nvPr/>
        </p:nvSpPr>
        <p:spPr bwMode="auto">
          <a:xfrm>
            <a:off x="11564481" y="4460709"/>
            <a:ext cx="29046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J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55" name="Text Box 31"/>
          <p:cNvSpPr txBox="1">
            <a:spLocks noChangeArrowheads="1"/>
          </p:cNvSpPr>
          <p:nvPr/>
        </p:nvSpPr>
        <p:spPr bwMode="auto">
          <a:xfrm>
            <a:off x="6860800" y="4663618"/>
            <a:ext cx="33695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H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57" name="Text Box 33"/>
          <p:cNvSpPr txBox="1">
            <a:spLocks noChangeArrowheads="1"/>
          </p:cNvSpPr>
          <p:nvPr/>
        </p:nvSpPr>
        <p:spPr bwMode="auto">
          <a:xfrm>
            <a:off x="3891234" y="2856671"/>
            <a:ext cx="63895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6-YA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58" name="Text Box 34"/>
          <p:cNvSpPr txBox="1">
            <a:spLocks noChangeArrowheads="1"/>
          </p:cNvSpPr>
          <p:nvPr/>
        </p:nvSpPr>
        <p:spPr bwMode="auto">
          <a:xfrm>
            <a:off x="4126657" y="4855341"/>
            <a:ext cx="67678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8-YG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60" name="Text Box 36"/>
          <p:cNvSpPr txBox="1">
            <a:spLocks noChangeArrowheads="1"/>
          </p:cNvSpPr>
          <p:nvPr/>
        </p:nvSpPr>
        <p:spPr bwMode="auto">
          <a:xfrm>
            <a:off x="7069870" y="5153206"/>
            <a:ext cx="66556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6-YH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61" name="Text Box 37"/>
          <p:cNvSpPr txBox="1">
            <a:spLocks noChangeArrowheads="1"/>
          </p:cNvSpPr>
          <p:nvPr/>
        </p:nvSpPr>
        <p:spPr bwMode="auto">
          <a:xfrm>
            <a:off x="8488747" y="3903491"/>
            <a:ext cx="81624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5,5-YF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62" name="Text Box 38"/>
          <p:cNvSpPr txBox="1">
            <a:spLocks noChangeArrowheads="1"/>
          </p:cNvSpPr>
          <p:nvPr/>
        </p:nvSpPr>
        <p:spPr bwMode="auto">
          <a:xfrm>
            <a:off x="10284315" y="3903491"/>
            <a:ext cx="74571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4,5-YI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63" name="Text Box 39"/>
          <p:cNvSpPr txBox="1">
            <a:spLocks noChangeArrowheads="1"/>
          </p:cNvSpPr>
          <p:nvPr/>
        </p:nvSpPr>
        <p:spPr bwMode="auto">
          <a:xfrm>
            <a:off x="10787084" y="4794966"/>
            <a:ext cx="61908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5-YJ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64" name="Text Box 40"/>
          <p:cNvSpPr txBox="1">
            <a:spLocks noChangeArrowheads="1"/>
          </p:cNvSpPr>
          <p:nvPr/>
        </p:nvSpPr>
        <p:spPr bwMode="auto">
          <a:xfrm>
            <a:off x="7632187" y="2617614"/>
            <a:ext cx="65434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3-YE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65" name="Text Box 41"/>
          <p:cNvSpPr txBox="1">
            <a:spLocks noChangeArrowheads="1"/>
          </p:cNvSpPr>
          <p:nvPr/>
        </p:nvSpPr>
        <p:spPr bwMode="auto">
          <a:xfrm>
            <a:off x="5352783" y="1760351"/>
            <a:ext cx="66556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6-YC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66" name="Text Box 42"/>
          <p:cNvSpPr txBox="1">
            <a:spLocks noChangeArrowheads="1"/>
          </p:cNvSpPr>
          <p:nvPr/>
        </p:nvSpPr>
        <p:spPr bwMode="auto">
          <a:xfrm>
            <a:off x="5796173" y="2859622"/>
            <a:ext cx="66556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5-YD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67" name="Line 43"/>
          <p:cNvSpPr>
            <a:spLocks noChangeShapeType="1"/>
          </p:cNvSpPr>
          <p:nvPr/>
        </p:nvSpPr>
        <p:spPr bwMode="auto">
          <a:xfrm flipH="1">
            <a:off x="4796884" y="2182526"/>
            <a:ext cx="2727" cy="1462499"/>
          </a:xfrm>
          <a:prstGeom prst="line">
            <a:avLst/>
          </a:prstGeom>
          <a:noFill/>
          <a:ln w="34925">
            <a:solidFill>
              <a:schemeClr val="tx1"/>
            </a:solidFill>
            <a:prstDash val="lgDash"/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2268" name="Text Box 44"/>
          <p:cNvSpPr txBox="1">
            <a:spLocks noChangeArrowheads="1"/>
          </p:cNvSpPr>
          <p:nvPr/>
        </p:nvSpPr>
        <p:spPr bwMode="auto">
          <a:xfrm>
            <a:off x="4736770" y="2489572"/>
            <a:ext cx="101502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Figurado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2" name="1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ANIVAL TORRE</a:t>
            </a:r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7123F-EA94-4AF6-90FD-8402484B591B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47" name="2 Marcador de contenido"/>
          <p:cNvSpPr txBox="1">
            <a:spLocks/>
          </p:cNvSpPr>
          <p:nvPr/>
        </p:nvSpPr>
        <p:spPr>
          <a:xfrm>
            <a:off x="8886825" y="1546038"/>
            <a:ext cx="2838480" cy="1557333"/>
          </a:xfrm>
          <a:prstGeom prst="rect">
            <a:avLst/>
          </a:prstGeom>
          <a:solidFill>
            <a:srgbClr val="FFFF00"/>
          </a:solidFill>
        </p:spPr>
        <p:txBody>
          <a:bodyPr/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defRPr/>
            </a:pPr>
            <a:r>
              <a:rPr lang="es-PE" sz="2000" kern="0" dirty="0">
                <a:solidFill>
                  <a:srgbClr val="FF0000"/>
                </a:solidFill>
                <a:latin typeface="Arial Narrow" pitchFamily="34" charset="0"/>
              </a:rPr>
              <a:t>RESPUESTA: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defRPr/>
            </a:pPr>
            <a:r>
              <a:rPr lang="es-PE" sz="2000" kern="0" dirty="0">
                <a:solidFill>
                  <a:srgbClr val="FF0000"/>
                </a:solidFill>
                <a:latin typeface="Arial Narrow" pitchFamily="34" charset="0"/>
              </a:rPr>
              <a:t>Duración del proyecto:  30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defRPr/>
            </a:pPr>
            <a:r>
              <a:rPr lang="es-PE" sz="2000" kern="0" dirty="0">
                <a:solidFill>
                  <a:srgbClr val="FF0000"/>
                </a:solidFill>
                <a:latin typeface="Arial Narrow" pitchFamily="34" charset="0"/>
              </a:rPr>
              <a:t>Rutas críticas: ACEFIJ</a:t>
            </a:r>
          </a:p>
        </p:txBody>
      </p:sp>
      <p:sp>
        <p:nvSpPr>
          <p:cNvPr id="48" name="Line 19"/>
          <p:cNvSpPr>
            <a:spLocks noChangeShapeType="1"/>
          </p:cNvSpPr>
          <p:nvPr/>
        </p:nvSpPr>
        <p:spPr bwMode="auto">
          <a:xfrm flipV="1">
            <a:off x="8439157" y="3903491"/>
            <a:ext cx="1018880" cy="1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49" name="Line 19"/>
          <p:cNvSpPr>
            <a:spLocks noChangeShapeType="1"/>
          </p:cNvSpPr>
          <p:nvPr/>
        </p:nvSpPr>
        <p:spPr bwMode="auto">
          <a:xfrm>
            <a:off x="10247337" y="3903491"/>
            <a:ext cx="827084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0" name="Text Box 26"/>
          <p:cNvSpPr txBox="1">
            <a:spLocks noChangeArrowheads="1"/>
          </p:cNvSpPr>
          <p:nvPr/>
        </p:nvSpPr>
        <p:spPr bwMode="auto">
          <a:xfrm>
            <a:off x="7347598" y="2139565"/>
            <a:ext cx="32573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E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1" name="Line 13"/>
          <p:cNvSpPr>
            <a:spLocks noChangeShapeType="1"/>
          </p:cNvSpPr>
          <p:nvPr/>
        </p:nvSpPr>
        <p:spPr bwMode="auto">
          <a:xfrm>
            <a:off x="3835967" y="4028865"/>
            <a:ext cx="617119" cy="4399"/>
          </a:xfrm>
          <a:prstGeom prst="line">
            <a:avLst/>
          </a:prstGeom>
          <a:noFill/>
          <a:ln w="349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2" name="Text Box 31"/>
          <p:cNvSpPr txBox="1">
            <a:spLocks noChangeArrowheads="1"/>
          </p:cNvSpPr>
          <p:nvPr/>
        </p:nvSpPr>
        <p:spPr bwMode="auto">
          <a:xfrm>
            <a:off x="3620603" y="4922374"/>
            <a:ext cx="34817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G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3" name="Text Box 34"/>
          <p:cNvSpPr txBox="1">
            <a:spLocks noChangeArrowheads="1"/>
          </p:cNvSpPr>
          <p:nvPr/>
        </p:nvSpPr>
        <p:spPr bwMode="auto">
          <a:xfrm>
            <a:off x="3798740" y="4090355"/>
            <a:ext cx="65434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2-YB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4" name="Rectangle 2">
            <a:extLst>
              <a:ext uri="{FF2B5EF4-FFF2-40B4-BE49-F238E27FC236}">
                <a16:creationId xmlns:a16="http://schemas.microsoft.com/office/drawing/2014/main" id="{4F4ED6D4-2A31-4AA1-8D73-8F560297E64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6096000" y="152445"/>
            <a:ext cx="6077766" cy="631904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spcFirstLastPara="1"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s-MX" sz="3200" dirty="0">
                <a:solidFill>
                  <a:schemeClr val="bg1"/>
                </a:solidFill>
                <a:latin typeface="Bauhaus 93" pitchFamily="82" charset="0"/>
                <a:ea typeface="+mn-ea"/>
                <a:cs typeface="+mn-cs"/>
              </a:rPr>
              <a:t>EJERCICIO 10.12 Disminuir  a 22 días.</a:t>
            </a:r>
            <a:endParaRPr lang="es-ES" sz="3200" dirty="0">
              <a:solidFill>
                <a:schemeClr val="bg1"/>
              </a:solidFill>
              <a:latin typeface="Bauhaus 93" pitchFamily="82" charset="0"/>
              <a:ea typeface="+mn-ea"/>
              <a:cs typeface="+mn-cs"/>
            </a:endParaRP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B6A4899F-BA71-1F06-1B84-EC14A341E5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1550667"/>
              </p:ext>
            </p:extLst>
          </p:nvPr>
        </p:nvGraphicFramePr>
        <p:xfrm>
          <a:off x="0" y="1263650"/>
          <a:ext cx="3086363" cy="483335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17567">
                  <a:extLst>
                    <a:ext uri="{9D8B030D-6E8A-4147-A177-3AD203B41FA5}">
                      <a16:colId xmlns:a16="http://schemas.microsoft.com/office/drawing/2014/main" val="1674683056"/>
                    </a:ext>
                  </a:extLst>
                </a:gridCol>
                <a:gridCol w="1084398">
                  <a:extLst>
                    <a:ext uri="{9D8B030D-6E8A-4147-A177-3AD203B41FA5}">
                      <a16:colId xmlns:a16="http://schemas.microsoft.com/office/drawing/2014/main" val="3795741273"/>
                    </a:ext>
                  </a:extLst>
                </a:gridCol>
                <a:gridCol w="1084398">
                  <a:extLst>
                    <a:ext uri="{9D8B030D-6E8A-4147-A177-3AD203B41FA5}">
                      <a16:colId xmlns:a16="http://schemas.microsoft.com/office/drawing/2014/main" val="3116471088"/>
                    </a:ext>
                  </a:extLst>
                </a:gridCol>
              </a:tblGrid>
              <a:tr h="7200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Tarea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 err="1">
                          <a:effectLst/>
                        </a:rPr>
                        <a:t>Prece</a:t>
                      </a:r>
                      <a:r>
                        <a:rPr lang="es-ES" sz="2000" dirty="0">
                          <a:effectLst/>
                        </a:rPr>
                        <a:t>-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 err="1">
                          <a:effectLst/>
                        </a:rPr>
                        <a:t>dencia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Tiempo</a:t>
                      </a:r>
                      <a:endParaRPr lang="es-PE" sz="20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Normal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94215427"/>
                  </a:ext>
                </a:extLst>
              </a:tr>
              <a:tr h="37165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A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dirty="0">
                          <a:effectLst/>
                        </a:rPr>
                        <a:t>-</a:t>
                      </a:r>
                      <a:endParaRPr lang="es-PE" sz="24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2400" dirty="0">
                          <a:effectLst/>
                          <a:latin typeface="Times New Roman"/>
                          <a:ea typeface="Calibri"/>
                        </a:rPr>
                        <a:t>6</a:t>
                      </a:r>
                      <a:endParaRPr lang="es-PE" sz="24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2819837549"/>
                  </a:ext>
                </a:extLst>
              </a:tr>
              <a:tr h="35854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tabLst>
                          <a:tab pos="-457200" algn="l"/>
                        </a:tabLst>
                      </a:pPr>
                      <a:r>
                        <a:rPr lang="es-ES" sz="2000" dirty="0">
                          <a:effectLst/>
                        </a:rPr>
                        <a:t>B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dirty="0">
                          <a:effectLst/>
                        </a:rPr>
                        <a:t>-</a:t>
                      </a:r>
                      <a:endParaRPr lang="es-PE" sz="24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2400" dirty="0">
                          <a:effectLst/>
                          <a:latin typeface="Times New Roman"/>
                          <a:ea typeface="Calibri"/>
                        </a:rPr>
                        <a:t>2</a:t>
                      </a:r>
                      <a:endParaRPr lang="es-PE" sz="24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3182296515"/>
                  </a:ext>
                </a:extLst>
              </a:tr>
              <a:tr h="4228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000" dirty="0">
                          <a:effectLst/>
                        </a:rPr>
                        <a:t>C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dirty="0">
                          <a:effectLst/>
                        </a:rPr>
                        <a:t>A</a:t>
                      </a:r>
                      <a:endParaRPr lang="es-PE" sz="24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2400" dirty="0">
                          <a:effectLst/>
                          <a:latin typeface="Times New Roman"/>
                          <a:ea typeface="Calibri"/>
                        </a:rPr>
                        <a:t>6</a:t>
                      </a:r>
                      <a:endParaRPr lang="es-PE" sz="24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2098060982"/>
                  </a:ext>
                </a:extLst>
              </a:tr>
              <a:tr h="36593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000" dirty="0">
                          <a:effectLst/>
                        </a:rPr>
                        <a:t>D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dirty="0">
                          <a:effectLst/>
                        </a:rPr>
                        <a:t>A, B</a:t>
                      </a:r>
                      <a:endParaRPr lang="es-PE" sz="24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2400" dirty="0">
                          <a:effectLst/>
                          <a:latin typeface="Times New Roman"/>
                          <a:ea typeface="Calibri"/>
                        </a:rPr>
                        <a:t>5</a:t>
                      </a:r>
                      <a:endParaRPr lang="es-PE" sz="24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10568742"/>
                  </a:ext>
                </a:extLst>
              </a:tr>
              <a:tr h="35854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000" dirty="0">
                          <a:effectLst/>
                        </a:rPr>
                        <a:t>E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dirty="0">
                          <a:effectLst/>
                        </a:rPr>
                        <a:t>C, D</a:t>
                      </a:r>
                      <a:endParaRPr lang="es-PE" sz="24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2400" dirty="0">
                          <a:effectLst/>
                          <a:latin typeface="Times New Roman"/>
                          <a:ea typeface="Calibri"/>
                        </a:rPr>
                        <a:t>3</a:t>
                      </a:r>
                      <a:endParaRPr lang="es-PE" sz="24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3071489566"/>
                  </a:ext>
                </a:extLst>
              </a:tr>
              <a:tr h="4228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000" dirty="0">
                          <a:effectLst/>
                        </a:rPr>
                        <a:t>F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dirty="0">
                          <a:effectLst/>
                        </a:rPr>
                        <a:t>E</a:t>
                      </a:r>
                      <a:endParaRPr lang="es-PE" sz="24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2400" dirty="0">
                          <a:effectLst/>
                          <a:latin typeface="Times New Roman"/>
                          <a:ea typeface="Calibri"/>
                        </a:rPr>
                        <a:t>5.5</a:t>
                      </a:r>
                      <a:endParaRPr lang="es-PE" sz="24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3340566745"/>
                  </a:ext>
                </a:extLst>
              </a:tr>
              <a:tr h="4228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000" dirty="0">
                          <a:effectLst/>
                        </a:rPr>
                        <a:t>G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dirty="0">
                          <a:effectLst/>
                          <a:latin typeface="+mn-lt"/>
                          <a:ea typeface="+mn-ea"/>
                        </a:rPr>
                        <a:t>-</a:t>
                      </a:r>
                      <a:endParaRPr lang="es-PE" sz="24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2400" dirty="0">
                          <a:effectLst/>
                          <a:latin typeface="Times New Roman"/>
                          <a:ea typeface="Calibri"/>
                        </a:rPr>
                        <a:t>8</a:t>
                      </a:r>
                      <a:endParaRPr lang="es-PE" sz="24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813405071"/>
                  </a:ext>
                </a:extLst>
              </a:tr>
              <a:tr h="4228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000" dirty="0">
                          <a:effectLst/>
                        </a:rPr>
                        <a:t>H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dirty="0">
                          <a:effectLst/>
                        </a:rPr>
                        <a:t>G</a:t>
                      </a:r>
                      <a:endParaRPr lang="es-PE" sz="24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2400" dirty="0">
                          <a:effectLst/>
                          <a:latin typeface="Times New Roman"/>
                          <a:ea typeface="Calibri"/>
                        </a:rPr>
                        <a:t>6</a:t>
                      </a:r>
                      <a:endParaRPr lang="es-PE" sz="24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563491019"/>
                  </a:ext>
                </a:extLst>
              </a:tr>
              <a:tr h="4228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I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dirty="0">
                          <a:effectLst/>
                        </a:rPr>
                        <a:t>F, H</a:t>
                      </a:r>
                      <a:endParaRPr lang="es-PE" sz="24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2400" dirty="0">
                          <a:effectLst/>
                          <a:latin typeface="Times New Roman"/>
                          <a:ea typeface="Calibri"/>
                        </a:rPr>
                        <a:t>4.5</a:t>
                      </a:r>
                      <a:endParaRPr lang="es-PE" sz="24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389518937"/>
                  </a:ext>
                </a:extLst>
              </a:tr>
              <a:tr h="4228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s-E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J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dirty="0">
                          <a:effectLst/>
                        </a:rPr>
                        <a:t>I</a:t>
                      </a:r>
                      <a:endParaRPr lang="es-PE" sz="24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2400" dirty="0">
                          <a:effectLst/>
                          <a:latin typeface="Times New Roman"/>
                          <a:ea typeface="Calibri"/>
                        </a:rPr>
                        <a:t>5</a:t>
                      </a:r>
                      <a:endParaRPr lang="es-PE" sz="24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28143907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10723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8" grpId="0" animBg="1"/>
      <p:bldP spid="52229" grpId="0" animBg="1"/>
      <p:bldP spid="52230" grpId="0" animBg="1"/>
      <p:bldP spid="52233" grpId="0" animBg="1"/>
      <p:bldP spid="52235" grpId="0" animBg="1"/>
      <p:bldP spid="52239" grpId="0" animBg="1"/>
      <p:bldP spid="52242" grpId="0" animBg="1"/>
      <p:bldP spid="52243" grpId="0" animBg="1"/>
      <p:bldP spid="52244" grpId="0" animBg="1"/>
      <p:bldP spid="52246" grpId="0" animBg="1"/>
      <p:bldP spid="52249" grpId="0"/>
      <p:bldP spid="52250" grpId="0"/>
      <p:bldP spid="52252" grpId="0"/>
      <p:bldP spid="52253" grpId="0"/>
      <p:bldP spid="52254" grpId="0"/>
      <p:bldP spid="52255" grpId="0"/>
      <p:bldP spid="52260" grpId="0"/>
      <p:bldP spid="52261" grpId="0"/>
      <p:bldP spid="52262" grpId="0"/>
      <p:bldP spid="52263" grpId="0"/>
      <p:bldP spid="52264" grpId="0"/>
      <p:bldP spid="52265" grpId="0"/>
      <p:bldP spid="52266" grpId="0"/>
      <p:bldP spid="49" grpId="0" animBg="1"/>
      <p:bldP spid="5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4 Tabla">
            <a:extLst>
              <a:ext uri="{FF2B5EF4-FFF2-40B4-BE49-F238E27FC236}">
                <a16:creationId xmlns:a16="http://schemas.microsoft.com/office/drawing/2014/main" id="{49C855D6-B4DE-16E8-C9C5-8CD3EFE778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388142"/>
              </p:ext>
            </p:extLst>
          </p:nvPr>
        </p:nvGraphicFramePr>
        <p:xfrm>
          <a:off x="1775520" y="1397000"/>
          <a:ext cx="8640960" cy="4604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8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7774">
                <a:tc>
                  <a:txBody>
                    <a:bodyPr/>
                    <a:lstStyle/>
                    <a:p>
                      <a:pPr algn="ctr"/>
                      <a:r>
                        <a:rPr lang="es-PE" sz="2400" b="1" dirty="0">
                          <a:latin typeface="Arial Narrow" pitchFamily="34" charset="0"/>
                        </a:rPr>
                        <a:t>RUTAS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400" b="1" dirty="0">
                          <a:latin typeface="Arial Narrow" pitchFamily="34" charset="0"/>
                        </a:rPr>
                        <a:t>DURACIÓN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400" b="1" dirty="0">
                          <a:latin typeface="Arial Narrow" pitchFamily="34" charset="0"/>
                        </a:rPr>
                        <a:t>TAREAS A REDUCIR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400" b="1" dirty="0">
                          <a:latin typeface="Arial Narrow" pitchFamily="34" charset="0"/>
                        </a:rPr>
                        <a:t>COSTO ADICIONAL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874">
                <a:tc>
                  <a:txBody>
                    <a:bodyPr/>
                    <a:lstStyle/>
                    <a:p>
                      <a:pPr algn="ctr"/>
                      <a:r>
                        <a:rPr lang="es-ES" sz="2400" b="1" dirty="0">
                          <a:latin typeface="Arial Narrow" pitchFamily="34" charset="0"/>
                        </a:rPr>
                        <a:t>A</a:t>
                      </a:r>
                      <a:r>
                        <a:rPr lang="es-PE" sz="2400" b="1" dirty="0">
                          <a:latin typeface="Arial Narrow" pitchFamily="34" charset="0"/>
                        </a:rPr>
                        <a:t>CEFIJ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400" b="1" dirty="0">
                          <a:latin typeface="Arial Narrow" pitchFamily="34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1" dirty="0">
                          <a:latin typeface="Arial Narrow" pitchFamily="34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2400" b="1" dirty="0">
                          <a:latin typeface="Arial Narrow" pitchFamily="34" charset="0"/>
                        </a:rPr>
                        <a:t>C=0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6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itchFamily="34" charset="0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s-PE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itchFamily="34" charset="0"/>
                          <a:ea typeface="+mn-ea"/>
                          <a:cs typeface="+mn-cs"/>
                        </a:rPr>
                        <a:t>CEFIJ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1" dirty="0">
                          <a:latin typeface="Arial Narrow" pitchFamily="34" charset="0"/>
                        </a:rPr>
                        <a:t>29</a:t>
                      </a:r>
                      <a:endParaRPr lang="es-PE" sz="2400" b="1" dirty="0">
                        <a:latin typeface="Arial Narrow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1" dirty="0">
                          <a:latin typeface="Arial Narrow" pitchFamily="34" charset="0"/>
                        </a:rPr>
                        <a:t>F(1)</a:t>
                      </a:r>
                      <a:endParaRPr lang="es-PE" sz="2400" b="1" dirty="0">
                        <a:latin typeface="Arial Narrow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2400" b="1" dirty="0">
                          <a:latin typeface="Arial Narrow" pitchFamily="34" charset="0"/>
                        </a:rPr>
                        <a:t>C=0+100</a:t>
                      </a:r>
                      <a:endParaRPr lang="es-PE" sz="2400" b="1" dirty="0">
                        <a:latin typeface="Arial Narrow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itchFamily="34" charset="0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s-PE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itchFamily="34" charset="0"/>
                          <a:ea typeface="+mn-ea"/>
                          <a:cs typeface="+mn-cs"/>
                        </a:rPr>
                        <a:t>CEFIJ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1" dirty="0">
                          <a:latin typeface="Arial Narrow" pitchFamily="34" charset="0"/>
                        </a:rPr>
                        <a:t>28.5</a:t>
                      </a:r>
                      <a:endParaRPr lang="es-PE" sz="2400" b="1" dirty="0">
                        <a:latin typeface="Arial Narrow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1" dirty="0">
                          <a:latin typeface="Arial Narrow" pitchFamily="34" charset="0"/>
                        </a:rPr>
                        <a:t>F(0.1)</a:t>
                      </a:r>
                      <a:endParaRPr lang="es-PE" sz="2400" b="1" dirty="0">
                        <a:latin typeface="Arial Narrow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2400" b="1" dirty="0">
                          <a:latin typeface="Arial Narrow" pitchFamily="34" charset="0"/>
                        </a:rPr>
                        <a:t>C=100+50</a:t>
                      </a:r>
                      <a:endParaRPr lang="es-PE" sz="2400" b="1" dirty="0">
                        <a:latin typeface="Arial Narrow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itchFamily="34" charset="0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s-PE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itchFamily="34" charset="0"/>
                          <a:ea typeface="+mn-ea"/>
                          <a:cs typeface="+mn-cs"/>
                        </a:rPr>
                        <a:t>CEFIJ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1" dirty="0">
                          <a:latin typeface="Arial Narrow" pitchFamily="34" charset="0"/>
                        </a:rPr>
                        <a:t>27.5</a:t>
                      </a:r>
                      <a:endParaRPr lang="es-PE" sz="2400" b="1" dirty="0">
                        <a:latin typeface="Arial Narrow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1" dirty="0">
                          <a:latin typeface="Arial Narrow" pitchFamily="34" charset="0"/>
                        </a:rPr>
                        <a:t>E(1)</a:t>
                      </a:r>
                      <a:endParaRPr lang="es-PE" sz="2400" b="1" dirty="0">
                        <a:latin typeface="Arial Narrow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2400" b="1" dirty="0">
                          <a:latin typeface="Arial Narrow" pitchFamily="34" charset="0"/>
                        </a:rPr>
                        <a:t>C=150+200</a:t>
                      </a:r>
                      <a:endParaRPr lang="es-PE" sz="2400" b="1" dirty="0">
                        <a:latin typeface="Arial Narrow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itchFamily="34" charset="0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s-PE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itchFamily="34" charset="0"/>
                          <a:ea typeface="+mn-ea"/>
                          <a:cs typeface="+mn-cs"/>
                        </a:rPr>
                        <a:t>CEFIJ / ADEFIJ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1" dirty="0">
                          <a:solidFill>
                            <a:srgbClr val="FF0000"/>
                          </a:solidFill>
                          <a:latin typeface="Arial Narrow" pitchFamily="34" charset="0"/>
                        </a:rPr>
                        <a:t>26.5</a:t>
                      </a:r>
                      <a:endParaRPr lang="es-PE" sz="2400" b="1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1" dirty="0">
                          <a:latin typeface="Arial Narrow" pitchFamily="34" charset="0"/>
                        </a:rPr>
                        <a:t>C(1)</a:t>
                      </a:r>
                      <a:endParaRPr lang="es-PE" sz="2400" b="1" dirty="0">
                        <a:latin typeface="Arial Narrow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2400" b="1" dirty="0">
                          <a:latin typeface="Arial Narrow" pitchFamily="34" charset="0"/>
                        </a:rPr>
                        <a:t>C=350+300</a:t>
                      </a:r>
                      <a:endParaRPr lang="es-PE" sz="2400" b="1" dirty="0">
                        <a:latin typeface="Arial Narrow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2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itchFamily="34" charset="0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s-PE" sz="2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itchFamily="34" charset="0"/>
                          <a:ea typeface="+mn-ea"/>
                          <a:cs typeface="+mn-cs"/>
                        </a:rPr>
                        <a:t>CEFIJ / ADEFIJ</a:t>
                      </a:r>
                      <a:endParaRPr kumimoji="0" lang="es-PE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1" dirty="0">
                          <a:solidFill>
                            <a:srgbClr val="FF0000"/>
                          </a:solidFill>
                          <a:latin typeface="Arial Narrow" pitchFamily="34" charset="0"/>
                        </a:rPr>
                        <a:t>24</a:t>
                      </a:r>
                      <a:endParaRPr lang="es-PE" sz="2400" b="1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1" dirty="0">
                          <a:latin typeface="Arial Narrow" pitchFamily="34" charset="0"/>
                        </a:rPr>
                        <a:t>I(2.5)</a:t>
                      </a:r>
                      <a:endParaRPr lang="es-PE" sz="2400" b="1" dirty="0">
                        <a:latin typeface="Arial Narrow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2400" b="1" dirty="0">
                          <a:latin typeface="Arial Narrow" pitchFamily="34" charset="0"/>
                        </a:rPr>
                        <a:t>C=650+875</a:t>
                      </a:r>
                      <a:endParaRPr lang="es-PE" sz="2400" b="1" dirty="0">
                        <a:latin typeface="Arial Narrow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0893057"/>
                  </a:ext>
                </a:extLst>
              </a:tr>
              <a:tr h="50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itchFamily="34" charset="0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s-PE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itchFamily="34" charset="0"/>
                          <a:ea typeface="+mn-ea"/>
                          <a:cs typeface="+mn-cs"/>
                        </a:rPr>
                        <a:t>CEFIJ / ADEFIJ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1" dirty="0">
                          <a:solidFill>
                            <a:srgbClr val="FF0000"/>
                          </a:solidFill>
                          <a:latin typeface="Arial Narrow" pitchFamily="34" charset="0"/>
                        </a:rPr>
                        <a:t>22</a:t>
                      </a:r>
                      <a:endParaRPr lang="es-PE" sz="2400" b="1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1" dirty="0">
                          <a:latin typeface="Arial Narrow" pitchFamily="34" charset="0"/>
                        </a:rPr>
                        <a:t>A(2)</a:t>
                      </a:r>
                      <a:endParaRPr lang="es-PE" sz="2400" b="1" dirty="0">
                        <a:latin typeface="Arial Narrow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2400" b="1" dirty="0">
                          <a:latin typeface="Arial Narrow" pitchFamily="34" charset="0"/>
                        </a:rPr>
                        <a:t>C=1525+1000=2525</a:t>
                      </a:r>
                      <a:endParaRPr lang="es-PE" sz="2400" b="1" dirty="0">
                        <a:latin typeface="Arial Narrow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58711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14990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ANIVAL TORRE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7123F-EA94-4AF6-90FD-8402484B591B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122881" name="Rectangle 1"/>
          <p:cNvSpPr>
            <a:spLocks noChangeArrowheads="1"/>
          </p:cNvSpPr>
          <p:nvPr/>
        </p:nvSpPr>
        <p:spPr bwMode="auto">
          <a:xfrm>
            <a:off x="0" y="-5417"/>
            <a:ext cx="12272682" cy="68634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450850" fontAlgn="base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630238" algn="l"/>
              </a:tabLst>
            </a:pPr>
            <a:r>
              <a:rPr lang="es-MX" sz="2000" b="1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Identificación de las variables:</a:t>
            </a:r>
            <a:endParaRPr lang="es-PE" sz="20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indent="450850" eaLnBrk="0" fontAlgn="base" hangingPunct="0">
              <a:spcBef>
                <a:spcPct val="0"/>
              </a:spcBef>
              <a:spcAft>
                <a:spcPct val="0"/>
              </a:spcAft>
              <a:tabLst>
                <a:tab pos="630238" algn="l"/>
              </a:tabLst>
            </a:pPr>
            <a:r>
              <a:rPr lang="es-MX" sz="20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Y i</a:t>
            </a:r>
            <a:r>
              <a:rPr lang="es-MX" sz="2000" b="1" baseline="-30000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lang="es-MX" sz="20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= 	Número de </a:t>
            </a:r>
            <a:r>
              <a:rPr lang="es-MX" sz="2000" b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semanas</a:t>
            </a:r>
            <a:r>
              <a:rPr lang="es-MX" sz="20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en que se puede reducir la tarea i  (i = A, B, C, D,  … J)</a:t>
            </a:r>
            <a:endParaRPr lang="es-PE" sz="2000" b="1" dirty="0">
              <a:latin typeface="Arial" pitchFamily="34" charset="0"/>
              <a:cs typeface="Arial" pitchFamily="34" charset="0"/>
            </a:endParaRPr>
          </a:p>
          <a:p>
            <a:pPr indent="450850" eaLnBrk="0" fontAlgn="base" hangingPunct="0">
              <a:spcBef>
                <a:spcPct val="0"/>
              </a:spcBef>
              <a:spcAft>
                <a:spcPct val="0"/>
              </a:spcAft>
              <a:tabLst>
                <a:tab pos="630238" algn="l"/>
              </a:tabLst>
            </a:pPr>
            <a:r>
              <a:rPr lang="es-MX" sz="20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X i</a:t>
            </a:r>
            <a:r>
              <a:rPr lang="es-MX" sz="2000" b="1" baseline="-30000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lang="es-MX" sz="20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= 	Tiempo en cual todas las tareas que salen del nodo i pueden empezar (i = 0, 1, 2,.. 8)</a:t>
            </a:r>
            <a:endParaRPr lang="es-PE" sz="2000" b="1" dirty="0">
              <a:latin typeface="Arial" pitchFamily="34" charset="0"/>
              <a:cs typeface="Arial" pitchFamily="34" charset="0"/>
            </a:endParaRPr>
          </a:p>
          <a:p>
            <a:pPr indent="4508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630238" algn="l"/>
              </a:tabLst>
            </a:pPr>
            <a:r>
              <a:rPr lang="es-MX" sz="2000" b="1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Identificación de la Función objetivo:</a:t>
            </a:r>
            <a:endParaRPr lang="es-PE" sz="20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indent="450850" eaLnBrk="0" fontAlgn="base" hangingPunct="0">
              <a:spcBef>
                <a:spcPct val="0"/>
              </a:spcBef>
              <a:spcAft>
                <a:spcPct val="0"/>
              </a:spcAft>
              <a:tabLst>
                <a:tab pos="630238" algn="l"/>
              </a:tabLst>
            </a:pPr>
            <a:r>
              <a:rPr lang="es-MX" sz="20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MIN 	500YA + 400YB +300 YC + 0YD + 200YE + 100YF + 150YG + 250YH + 350YI + 0YJ</a:t>
            </a:r>
            <a:endParaRPr lang="es-PE" sz="2000" b="1" dirty="0">
              <a:latin typeface="Arial" pitchFamily="34" charset="0"/>
              <a:cs typeface="Arial" pitchFamily="34" charset="0"/>
            </a:endParaRPr>
          </a:p>
          <a:p>
            <a:pPr indent="450850" eaLnBrk="0" fontAlgn="base" hangingPunct="0">
              <a:spcBef>
                <a:spcPct val="0"/>
              </a:spcBef>
              <a:spcAft>
                <a:spcPct val="0"/>
              </a:spcAft>
              <a:tabLst>
                <a:tab pos="630238" algn="l"/>
              </a:tabLst>
            </a:pPr>
            <a:r>
              <a:rPr lang="es-ES_tradnl" sz="2000" b="1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Identificación de las restricciones:	</a:t>
            </a:r>
            <a:endParaRPr lang="es-PE" sz="20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indent="450850" eaLnBrk="0" fontAlgn="base" hangingPunct="0">
              <a:spcBef>
                <a:spcPct val="0"/>
              </a:spcBef>
              <a:spcAft>
                <a:spcPct val="0"/>
              </a:spcAft>
              <a:tabLst>
                <a:tab pos="630238" algn="l"/>
              </a:tabLst>
            </a:pPr>
            <a:r>
              <a:rPr lang="es-MX" sz="20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0 </a:t>
            </a:r>
            <a:r>
              <a:rPr lang="es-MX" sz="20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</a:t>
            </a:r>
            <a:r>
              <a:rPr lang="es-MX" sz="20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YA ≤ 2</a:t>
            </a:r>
            <a:r>
              <a:rPr lang="es-MX" sz="20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	0 </a:t>
            </a:r>
            <a:r>
              <a:rPr lang="es-MX" sz="20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YB ≤ 1</a:t>
            </a:r>
            <a:r>
              <a:rPr lang="es-MX" sz="20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     	0 </a:t>
            </a: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</a:t>
            </a:r>
            <a:r>
              <a:rPr lang="es-MX" sz="20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YC </a:t>
            </a:r>
            <a:r>
              <a:rPr lang="es-MX" sz="20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</a:t>
            </a:r>
            <a:r>
              <a:rPr lang="es-MX" sz="20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3</a:t>
            </a:r>
            <a:r>
              <a:rPr lang="es-MX" sz="20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	 0</a:t>
            </a: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</a:t>
            </a:r>
            <a:r>
              <a:rPr lang="es-MX" sz="20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YD ≤ 0      	</a:t>
            </a:r>
            <a:r>
              <a:rPr lang="es-MX" sz="20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0 </a:t>
            </a: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</a:t>
            </a:r>
            <a:r>
              <a:rPr lang="es-MX" sz="20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YE ≤ 1</a:t>
            </a:r>
            <a:r>
              <a:rPr lang="es-MX" sz="20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		0 </a:t>
            </a: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</a:t>
            </a:r>
            <a:r>
              <a:rPr lang="es-MX" sz="20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YF ≤ 1,5</a:t>
            </a:r>
            <a:endParaRPr lang="es-MX" sz="2000" b="1" dirty="0">
              <a:solidFill>
                <a:srgbClr val="000000"/>
              </a:solidFill>
              <a:latin typeface="Arial" pitchFamily="34" charset="0"/>
              <a:ea typeface="Times New Roman" pitchFamily="18" charset="0"/>
              <a:cs typeface="Arial" pitchFamily="34" charset="0"/>
              <a:sym typeface="Symbol" pitchFamily="18" charset="2"/>
            </a:endParaRPr>
          </a:p>
          <a:p>
            <a:pPr indent="450850" eaLnBrk="0" fontAlgn="base" hangingPunct="0">
              <a:spcBef>
                <a:spcPct val="0"/>
              </a:spcBef>
              <a:spcAft>
                <a:spcPct val="0"/>
              </a:spcAft>
              <a:tabLst>
                <a:tab pos="630238" algn="l"/>
              </a:tabLst>
            </a:pPr>
            <a:r>
              <a:rPr lang="es-MX" sz="20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0 </a:t>
            </a: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</a:t>
            </a:r>
            <a:r>
              <a:rPr lang="es-MX" sz="20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YG ≤ 3</a:t>
            </a:r>
            <a:r>
              <a:rPr lang="es-MX" sz="20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	0 </a:t>
            </a: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</a:t>
            </a:r>
            <a:r>
              <a:rPr lang="es-MX" sz="20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YH ≤ 1    	</a:t>
            </a:r>
            <a:r>
              <a:rPr lang="es-MX" sz="20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0 </a:t>
            </a: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</a:t>
            </a:r>
            <a:r>
              <a:rPr lang="es-MX" sz="20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YI</a:t>
            </a:r>
            <a:r>
              <a:rPr lang="es-MX" sz="20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  ≤ 2,5	 0 </a:t>
            </a: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</a:t>
            </a:r>
            <a:r>
              <a:rPr lang="es-MX" sz="20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YJ ≤ 0</a:t>
            </a:r>
            <a:endParaRPr lang="es-PE" sz="2000" b="1" dirty="0">
              <a:latin typeface="Arial" pitchFamily="34" charset="0"/>
              <a:cs typeface="Arial" pitchFamily="34" charset="0"/>
              <a:sym typeface="Symbol" pitchFamily="18" charset="2"/>
            </a:endParaRPr>
          </a:p>
          <a:p>
            <a:pPr indent="450850" eaLnBrk="0" fontAlgn="base" hangingPunct="0">
              <a:spcBef>
                <a:spcPct val="0"/>
              </a:spcBef>
              <a:spcAft>
                <a:spcPct val="0"/>
              </a:spcAft>
              <a:tabLst>
                <a:tab pos="630238" algn="l"/>
              </a:tabLst>
            </a:pPr>
            <a:r>
              <a:rPr lang="es-MX" sz="20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X0 = 0	</a:t>
            </a:r>
            <a:endParaRPr lang="es-PE" sz="2000" b="1" dirty="0">
              <a:latin typeface="Arial" pitchFamily="34" charset="0"/>
              <a:cs typeface="Arial" pitchFamily="34" charset="0"/>
              <a:sym typeface="Symbol" pitchFamily="18" charset="2"/>
            </a:endParaRPr>
          </a:p>
          <a:p>
            <a:pPr indent="450850" eaLnBrk="0" fontAlgn="base" hangingPunct="0">
              <a:spcBef>
                <a:spcPct val="0"/>
              </a:spcBef>
              <a:spcAft>
                <a:spcPct val="0"/>
              </a:spcAft>
              <a:tabLst>
                <a:tab pos="630238" algn="l"/>
              </a:tabLst>
            </a:pPr>
            <a:r>
              <a:rPr lang="es-MX" sz="20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X8 = </a:t>
            </a:r>
            <a:r>
              <a:rPr lang="es-PE" sz="20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22</a:t>
            </a:r>
            <a:endParaRPr lang="es-PE" sz="2000" b="1" dirty="0">
              <a:latin typeface="Arial" pitchFamily="34" charset="0"/>
              <a:cs typeface="Arial" pitchFamily="34" charset="0"/>
              <a:sym typeface="Symbol" pitchFamily="18" charset="2"/>
            </a:endParaRPr>
          </a:p>
          <a:p>
            <a:pPr indent="450850" eaLnBrk="0" fontAlgn="base" hangingPunct="0">
              <a:spcBef>
                <a:spcPct val="0"/>
              </a:spcBef>
              <a:spcAft>
                <a:spcPct val="0"/>
              </a:spcAft>
              <a:tabLst>
                <a:tab pos="630238" algn="l"/>
              </a:tabLst>
            </a:pPr>
            <a:r>
              <a:rPr lang="es-MX" sz="20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X1 ≥ X0 + (6 – YA)</a:t>
            </a:r>
          </a:p>
          <a:p>
            <a:pPr indent="450850" eaLnBrk="0" hangingPunct="0">
              <a:tabLst>
                <a:tab pos="630238" algn="l"/>
              </a:tabLst>
            </a:pPr>
            <a:r>
              <a:rPr lang="es-MX" sz="20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X2 ≥ X1		</a:t>
            </a:r>
            <a:endParaRPr lang="es-PE" sz="2000" b="1" dirty="0">
              <a:latin typeface="Arial" pitchFamily="34" charset="0"/>
              <a:cs typeface="Arial" pitchFamily="34" charset="0"/>
              <a:sym typeface="Symbol" pitchFamily="18" charset="2"/>
            </a:endParaRPr>
          </a:p>
          <a:p>
            <a:pPr indent="450850" eaLnBrk="0" fontAlgn="base" hangingPunct="0">
              <a:spcBef>
                <a:spcPct val="0"/>
              </a:spcBef>
              <a:spcAft>
                <a:spcPct val="0"/>
              </a:spcAft>
              <a:tabLst>
                <a:tab pos="630238" algn="l"/>
              </a:tabLst>
            </a:pPr>
            <a:r>
              <a:rPr lang="es-MX" sz="20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X2 ≥ X0 + (  2 – YB)</a:t>
            </a:r>
            <a:endParaRPr lang="es-PE" sz="2000" b="1" dirty="0">
              <a:latin typeface="Arial" pitchFamily="34" charset="0"/>
              <a:cs typeface="Arial" pitchFamily="34" charset="0"/>
              <a:sym typeface="Symbol" pitchFamily="18" charset="2"/>
            </a:endParaRPr>
          </a:p>
          <a:p>
            <a:pPr indent="450850" eaLnBrk="0" fontAlgn="base" hangingPunct="0">
              <a:spcBef>
                <a:spcPct val="0"/>
              </a:spcBef>
              <a:spcAft>
                <a:spcPct val="0"/>
              </a:spcAft>
              <a:tabLst>
                <a:tab pos="630238" algn="l"/>
              </a:tabLst>
            </a:pPr>
            <a:r>
              <a:rPr lang="es-MX" sz="20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X3 ≥ X1 + (6 – YC)</a:t>
            </a:r>
            <a:endParaRPr lang="es-PE" sz="2000" b="1" dirty="0">
              <a:latin typeface="Arial" pitchFamily="34" charset="0"/>
              <a:cs typeface="Arial" pitchFamily="34" charset="0"/>
              <a:sym typeface="Symbol" pitchFamily="18" charset="2"/>
            </a:endParaRPr>
          </a:p>
          <a:p>
            <a:pPr indent="450850" eaLnBrk="0" hangingPunct="0">
              <a:tabLst>
                <a:tab pos="630238" algn="l"/>
              </a:tabLst>
            </a:pPr>
            <a:r>
              <a:rPr lang="es-MX" sz="20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X3 ≥ X2 + (5-YD)</a:t>
            </a:r>
          </a:p>
          <a:p>
            <a:pPr indent="450850" eaLnBrk="0" hangingPunct="0">
              <a:tabLst>
                <a:tab pos="630238" algn="l"/>
              </a:tabLst>
            </a:pPr>
            <a:r>
              <a:rPr lang="es-MX" sz="20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X4 ≥ X3 + (3 – YE)		</a:t>
            </a:r>
            <a:endParaRPr lang="es-PE" sz="2000" b="1" dirty="0">
              <a:latin typeface="Arial" pitchFamily="34" charset="0"/>
              <a:cs typeface="Arial" pitchFamily="34" charset="0"/>
              <a:sym typeface="Symbol" pitchFamily="18" charset="2"/>
            </a:endParaRPr>
          </a:p>
          <a:p>
            <a:pPr indent="450850" eaLnBrk="0" fontAlgn="base" hangingPunct="0">
              <a:spcBef>
                <a:spcPct val="0"/>
              </a:spcBef>
              <a:spcAft>
                <a:spcPct val="0"/>
              </a:spcAft>
              <a:tabLst>
                <a:tab pos="630238" algn="l"/>
              </a:tabLst>
            </a:pPr>
            <a:r>
              <a:rPr lang="es-MX" sz="20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X5 ≥ X0 + (8 – YG)</a:t>
            </a:r>
            <a:endParaRPr lang="es-PE" sz="2000" b="1" dirty="0">
              <a:latin typeface="Arial" pitchFamily="34" charset="0"/>
              <a:cs typeface="Arial" pitchFamily="34" charset="0"/>
              <a:sym typeface="Symbol" pitchFamily="18" charset="2"/>
            </a:endParaRPr>
          </a:p>
          <a:p>
            <a:pPr indent="450850" eaLnBrk="0" fontAlgn="base" hangingPunct="0">
              <a:spcBef>
                <a:spcPct val="0"/>
              </a:spcBef>
              <a:spcAft>
                <a:spcPct val="0"/>
              </a:spcAft>
              <a:tabLst>
                <a:tab pos="630238" algn="l"/>
              </a:tabLst>
            </a:pPr>
            <a:r>
              <a:rPr lang="es-MX" sz="20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X6 ≥ X4 + (5,5 – YF)	</a:t>
            </a:r>
            <a:endParaRPr lang="es-PE" sz="2000" b="1" dirty="0">
              <a:latin typeface="Arial" pitchFamily="34" charset="0"/>
              <a:cs typeface="Arial" pitchFamily="34" charset="0"/>
              <a:sym typeface="Symbol" pitchFamily="18" charset="2"/>
            </a:endParaRPr>
          </a:p>
          <a:p>
            <a:pPr indent="450850" eaLnBrk="0" fontAlgn="base" hangingPunct="0">
              <a:spcBef>
                <a:spcPct val="0"/>
              </a:spcBef>
              <a:spcAft>
                <a:spcPct val="0"/>
              </a:spcAft>
              <a:tabLst>
                <a:tab pos="630238" algn="l"/>
              </a:tabLst>
            </a:pPr>
            <a:r>
              <a:rPr lang="es-MX" sz="20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X6 ≥ X5  +(6-YH)			</a:t>
            </a:r>
            <a:endParaRPr lang="es-PE" sz="2000" b="1" dirty="0">
              <a:latin typeface="Arial" pitchFamily="34" charset="0"/>
              <a:cs typeface="Arial" pitchFamily="34" charset="0"/>
              <a:sym typeface="Symbol" pitchFamily="18" charset="2"/>
            </a:endParaRPr>
          </a:p>
          <a:p>
            <a:pPr indent="450850" eaLnBrk="0" fontAlgn="base" hangingPunct="0">
              <a:spcBef>
                <a:spcPct val="0"/>
              </a:spcBef>
              <a:spcAft>
                <a:spcPct val="0"/>
              </a:spcAft>
              <a:tabLst>
                <a:tab pos="630238" algn="l"/>
              </a:tabLst>
            </a:pPr>
            <a:r>
              <a:rPr lang="es-MX" sz="20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X7 ≥ X6 + (4,5 – YI )</a:t>
            </a:r>
            <a:endParaRPr lang="es-PE" sz="2000" b="1" dirty="0">
              <a:latin typeface="Arial" pitchFamily="34" charset="0"/>
              <a:cs typeface="Arial" pitchFamily="34" charset="0"/>
              <a:sym typeface="Symbol" pitchFamily="18" charset="2"/>
            </a:endParaRPr>
          </a:p>
          <a:p>
            <a:pPr indent="450850" eaLnBrk="0" fontAlgn="base" hangingPunct="0">
              <a:spcBef>
                <a:spcPct val="0"/>
              </a:spcBef>
              <a:spcAft>
                <a:spcPct val="0"/>
              </a:spcAft>
              <a:tabLst>
                <a:tab pos="630238" algn="l"/>
              </a:tabLst>
            </a:pPr>
            <a:r>
              <a:rPr lang="es-MX" sz="20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X8 ≥ X7 + (5 – YJ)</a:t>
            </a:r>
            <a:endParaRPr lang="es-PE" sz="2000" b="1" dirty="0">
              <a:latin typeface="Arial" pitchFamily="34" charset="0"/>
              <a:cs typeface="Arial" pitchFamily="34" charset="0"/>
              <a:sym typeface="Symbol" pitchFamily="18" charset="2"/>
            </a:endParaRPr>
          </a:p>
          <a:p>
            <a:pPr indent="450850" eaLnBrk="0" fontAlgn="base" hangingPunct="0">
              <a:spcBef>
                <a:spcPct val="0"/>
              </a:spcBef>
              <a:spcAft>
                <a:spcPct val="0"/>
              </a:spcAft>
              <a:tabLst>
                <a:tab pos="630238" algn="l"/>
              </a:tabLst>
            </a:pPr>
            <a:r>
              <a:rPr lang="es-MX" sz="20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 Xi  ,  Yi  </a:t>
            </a:r>
            <a:r>
              <a:rPr lang="es-MX" sz="20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 </a:t>
            </a:r>
            <a:r>
              <a:rPr lang="es-MX" sz="20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1372559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ANIVAL TORRE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7123F-EA94-4AF6-90FD-8402484B591B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122881" name="Rectangle 1"/>
          <p:cNvSpPr>
            <a:spLocks noChangeArrowheads="1"/>
          </p:cNvSpPr>
          <p:nvPr/>
        </p:nvSpPr>
        <p:spPr bwMode="auto">
          <a:xfrm>
            <a:off x="179512" y="1410523"/>
            <a:ext cx="5916488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</a:pPr>
            <a:r>
              <a:rPr lang="es-MX" sz="2000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MIN </a:t>
            </a:r>
            <a:r>
              <a:rPr lang="es-MX" sz="2000" dirty="0" err="1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500YA</a:t>
            </a:r>
            <a:r>
              <a:rPr lang="es-MX" sz="2000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+ 400YB +300 YC + 0YD + 200YE + 100YF + 150YG +  </a:t>
            </a:r>
            <a:r>
              <a:rPr lang="es-MX" sz="2000" dirty="0" err="1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250YH</a:t>
            </a:r>
            <a:r>
              <a:rPr lang="es-MX" sz="2000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+ 350YI + 0YJ</a:t>
            </a:r>
            <a:endParaRPr lang="es-PE" sz="2000" dirty="0">
              <a:latin typeface="Arial" pitchFamily="34" charset="0"/>
              <a:cs typeface="Arial" pitchFamily="34" charset="0"/>
            </a:endParaRPr>
          </a:p>
          <a:p>
            <a:pPr indent="450850" eaLnBrk="0" fontAlgn="base" hangingPunct="0">
              <a:spcBef>
                <a:spcPct val="0"/>
              </a:spcBef>
              <a:spcAft>
                <a:spcPct val="0"/>
              </a:spcAft>
              <a:tabLst>
                <a:tab pos="630238" algn="l"/>
              </a:tabLst>
            </a:pPr>
            <a:r>
              <a:rPr lang="es-PE" sz="20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SUBJECT TO</a:t>
            </a:r>
            <a:endParaRPr lang="es-PE" sz="2000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4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6412055"/>
              </p:ext>
            </p:extLst>
          </p:nvPr>
        </p:nvGraphicFramePr>
        <p:xfrm>
          <a:off x="293440" y="2477095"/>
          <a:ext cx="5688632" cy="3828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5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93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28345">
                <a:tc>
                  <a:txBody>
                    <a:bodyPr/>
                    <a:lstStyle/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YA &lt;=2</a:t>
                      </a: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YB &lt;= 1</a:t>
                      </a:r>
                      <a:endParaRPr kumimoji="0" lang="es-MX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  <a:sym typeface="Symbol" pitchFamily="18" charset="2"/>
                      </a:endParaRP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Y</a:t>
                      </a:r>
                      <a:r>
                        <a:rPr kumimoji="0" lang="es-MX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C &lt;= 3</a:t>
                      </a: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YD &lt;= 0      </a:t>
                      </a: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YE &lt;= 1</a:t>
                      </a:r>
                      <a:endParaRPr kumimoji="0" lang="es-MX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  <a:sym typeface="Symbol" pitchFamily="18" charset="2"/>
                      </a:endParaRP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YF &lt;= 1,5</a:t>
                      </a:r>
                      <a:endParaRPr lang="es-MX" sz="2000" b="0" dirty="0">
                        <a:solidFill>
                          <a:srgbClr val="000000"/>
                        </a:solidFill>
                        <a:latin typeface="Arial" pitchFamily="34" charset="0"/>
                        <a:ea typeface="Times New Roman" pitchFamily="18" charset="0"/>
                        <a:cs typeface="Arial" pitchFamily="34" charset="0"/>
                        <a:sym typeface="Symbol" pitchFamily="18" charset="2"/>
                      </a:endParaRP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YG &lt;= 3</a:t>
                      </a:r>
                      <a:endParaRPr kumimoji="0" lang="es-MX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  <a:sym typeface="Symbol" pitchFamily="18" charset="2"/>
                      </a:endParaRP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YH &lt;= 1 </a:t>
                      </a: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YI</a:t>
                      </a:r>
                      <a:r>
                        <a:rPr kumimoji="0" lang="es-MX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 &lt;= 2,5</a:t>
                      </a: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YJ &lt;=0</a:t>
                      </a: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  <a:sym typeface="Symbol" pitchFamily="18" charset="2"/>
                        </a:rPr>
                        <a:t>X0=0</a:t>
                      </a: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X8 ≤ </a:t>
                      </a:r>
                      <a:r>
                        <a:rPr kumimoji="0" lang="es-P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22</a:t>
                      </a:r>
                      <a:endParaRPr lang="es-PE" sz="20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X1 - X0 +  YA &gt;=6</a:t>
                      </a:r>
                    </a:p>
                    <a:p>
                      <a:pPr lvl="0" indent="450850" eaLnBrk="0" hangingPunct="0">
                        <a:tabLst>
                          <a:tab pos="630238" algn="l"/>
                        </a:tabLst>
                      </a:pPr>
                      <a:r>
                        <a:rPr lang="es-MX" sz="2000" b="0" dirty="0">
                          <a:solidFill>
                            <a:srgbClr val="000000"/>
                          </a:solidFill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X2 - X1 &gt;=0</a:t>
                      </a:r>
                      <a:r>
                        <a:rPr kumimoji="0" lang="es-MX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	</a:t>
                      </a:r>
                      <a:endParaRPr kumimoji="0" lang="es-PE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Symbol" pitchFamily="18" charset="2"/>
                      </a:endParaRP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X2 - X0 + YB &gt;=2</a:t>
                      </a:r>
                      <a:endParaRPr kumimoji="0" lang="es-PE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Symbol" pitchFamily="18" charset="2"/>
                      </a:endParaRP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X3 - X1 + YC&gt;= 6</a:t>
                      </a:r>
                      <a:endParaRPr kumimoji="0" lang="es-PE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Symbol" pitchFamily="18" charset="2"/>
                      </a:endParaRPr>
                    </a:p>
                    <a:p>
                      <a:pPr lvl="0" indent="450850" eaLnBrk="0" hangingPunct="0">
                        <a:tabLst>
                          <a:tab pos="630238" algn="l"/>
                        </a:tabLst>
                      </a:pPr>
                      <a:r>
                        <a:rPr lang="es-MX" sz="2000" b="0" dirty="0">
                          <a:solidFill>
                            <a:srgbClr val="000000"/>
                          </a:solidFill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X3 - X2 + YD</a:t>
                      </a:r>
                      <a:r>
                        <a:rPr kumimoji="0" lang="es-MX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&gt;=5</a:t>
                      </a:r>
                      <a:endParaRPr lang="es-MX" sz="2000" b="0" dirty="0">
                        <a:solidFill>
                          <a:srgbClr val="000000"/>
                        </a:solidFill>
                        <a:latin typeface="Arial" pitchFamily="34" charset="0"/>
                        <a:ea typeface="Times New Roman" pitchFamily="18" charset="0"/>
                        <a:cs typeface="Arial" pitchFamily="34" charset="0"/>
                        <a:sym typeface="Symbol" pitchFamily="18" charset="2"/>
                      </a:endParaRPr>
                    </a:p>
                    <a:p>
                      <a:pPr lvl="0" indent="450850" eaLnBrk="0" hangingPunct="0">
                        <a:tabLst>
                          <a:tab pos="630238" algn="l"/>
                        </a:tabLst>
                      </a:pPr>
                      <a:r>
                        <a:rPr kumimoji="0" lang="es-MX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X4 - X3 + YE&gt;=3	</a:t>
                      </a:r>
                      <a:endParaRPr kumimoji="0" lang="es-PE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Symbol" pitchFamily="18" charset="2"/>
                      </a:endParaRP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X5 - X0 + YG&gt;=8</a:t>
                      </a:r>
                      <a:endParaRPr kumimoji="0" lang="es-PE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Symbol" pitchFamily="18" charset="2"/>
                      </a:endParaRP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X6 - X4 + YF &gt;= 5,5	</a:t>
                      </a:r>
                      <a:endParaRPr kumimoji="0" lang="es-PE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Symbol" pitchFamily="18" charset="2"/>
                      </a:endParaRP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X6 - X5  +YH&gt;=6	</a:t>
                      </a: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X7 - X6 + YI &gt;=4,5</a:t>
                      </a:r>
                      <a:endParaRPr kumimoji="0" lang="es-PE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Symbol" pitchFamily="18" charset="2"/>
                      </a:endParaRP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X8 - X7 + YJ&gt;=5</a:t>
                      </a:r>
                      <a:endParaRPr lang="es-PE" sz="20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Rectángulo 5">
            <a:extLst>
              <a:ext uri="{FF2B5EF4-FFF2-40B4-BE49-F238E27FC236}">
                <a16:creationId xmlns:a16="http://schemas.microsoft.com/office/drawing/2014/main" id="{E60BC80F-D710-93D3-7D5E-012EE669A78D}"/>
              </a:ext>
            </a:extLst>
          </p:cNvPr>
          <p:cNvSpPr/>
          <p:nvPr/>
        </p:nvSpPr>
        <p:spPr>
          <a:xfrm>
            <a:off x="179512" y="153677"/>
            <a:ext cx="6096000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spcFirstLastPara="1"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5800"/>
              </a:lnSpc>
              <a:spcBef>
                <a:spcPct val="0"/>
              </a:spcBef>
            </a:pPr>
            <a:r>
              <a:rPr lang="es-PE" sz="3200" dirty="0">
                <a:solidFill>
                  <a:srgbClr val="FF0000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Bauhaus 93" pitchFamily="82" charset="0"/>
              </a:rPr>
              <a:t>Modelo matemático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DDA18EE-C022-5BFA-67A9-8651131DAFBE}"/>
              </a:ext>
            </a:extLst>
          </p:cNvPr>
          <p:cNvSpPr txBox="1"/>
          <p:nvPr/>
        </p:nvSpPr>
        <p:spPr>
          <a:xfrm>
            <a:off x="6091238" y="0"/>
            <a:ext cx="6100762" cy="6463308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s-PE" b="1" dirty="0"/>
              <a:t>LP OPTIMUM FOUND AT STEP     20</a:t>
            </a:r>
          </a:p>
          <a:p>
            <a:r>
              <a:rPr lang="es-PE" b="1" dirty="0"/>
              <a:t>        OBJECTIVE FUNCTION VALUE</a:t>
            </a:r>
          </a:p>
          <a:p>
            <a:r>
              <a:rPr lang="es-PE" b="1" dirty="0"/>
              <a:t>        1)      2525.000</a:t>
            </a:r>
          </a:p>
          <a:p>
            <a:r>
              <a:rPr lang="es-PE" b="1" dirty="0"/>
              <a:t>  VARIABLE        VALUE          REDUCED COST</a:t>
            </a:r>
          </a:p>
          <a:p>
            <a:r>
              <a:rPr lang="es-PE" b="1" dirty="0"/>
              <a:t>        YA         2.000000          0.000000</a:t>
            </a:r>
          </a:p>
          <a:p>
            <a:r>
              <a:rPr lang="es-PE" b="1" dirty="0"/>
              <a:t>        YB         0.000000        400.000000</a:t>
            </a:r>
          </a:p>
          <a:p>
            <a:r>
              <a:rPr lang="es-PE" b="1" dirty="0"/>
              <a:t>        YC         1.000000          0.000000</a:t>
            </a:r>
          </a:p>
          <a:p>
            <a:r>
              <a:rPr lang="es-PE" b="1" dirty="0"/>
              <a:t>        YD         0.000000          0.000000</a:t>
            </a:r>
          </a:p>
          <a:p>
            <a:r>
              <a:rPr lang="es-PE" b="1" dirty="0"/>
              <a:t>        YE         1.000000          0.000000</a:t>
            </a:r>
          </a:p>
          <a:p>
            <a:r>
              <a:rPr lang="es-PE" b="1" dirty="0"/>
              <a:t>        YF         1.500000          0.000000</a:t>
            </a:r>
          </a:p>
          <a:p>
            <a:r>
              <a:rPr lang="es-PE" b="1" dirty="0"/>
              <a:t>        YG         0.000000        150.000000</a:t>
            </a:r>
          </a:p>
          <a:p>
            <a:r>
              <a:rPr lang="es-PE" b="1" dirty="0"/>
              <a:t>        YH         0.000000        250.000000</a:t>
            </a:r>
          </a:p>
          <a:p>
            <a:r>
              <a:rPr lang="es-PE" b="1" dirty="0"/>
              <a:t>        YI         2.500000          0.000000</a:t>
            </a:r>
          </a:p>
          <a:p>
            <a:r>
              <a:rPr lang="es-PE" b="1" dirty="0"/>
              <a:t>        YJ         0.000000          0.000000</a:t>
            </a:r>
          </a:p>
          <a:p>
            <a:r>
              <a:rPr lang="es-PE" b="1" dirty="0"/>
              <a:t>        X0         0.000000        500.000000</a:t>
            </a:r>
          </a:p>
          <a:p>
            <a:r>
              <a:rPr lang="es-PE" b="1" dirty="0"/>
              <a:t>        X8        22.000000          0.000000</a:t>
            </a:r>
          </a:p>
          <a:p>
            <a:r>
              <a:rPr lang="es-PE" b="1" dirty="0"/>
              <a:t>        X1         4.000000          0.000000</a:t>
            </a:r>
          </a:p>
          <a:p>
            <a:r>
              <a:rPr lang="es-PE" b="1" dirty="0"/>
              <a:t>        X2         4.000000          0.000000</a:t>
            </a:r>
          </a:p>
          <a:p>
            <a:r>
              <a:rPr lang="es-PE" b="1" dirty="0"/>
              <a:t>        X3         9.000000          0.000000</a:t>
            </a:r>
          </a:p>
          <a:p>
            <a:r>
              <a:rPr lang="es-PE" b="1" dirty="0"/>
              <a:t>        X4        11.000000          0.000000</a:t>
            </a:r>
          </a:p>
          <a:p>
            <a:r>
              <a:rPr lang="es-PE" b="1" dirty="0"/>
              <a:t>        X5         9.000000          0.000000</a:t>
            </a:r>
          </a:p>
          <a:p>
            <a:r>
              <a:rPr lang="es-PE" b="1" dirty="0"/>
              <a:t>        X6        15.000000          0.000000</a:t>
            </a:r>
          </a:p>
          <a:p>
            <a:r>
              <a:rPr lang="es-PE" b="1" dirty="0"/>
              <a:t>        X7        17.000000          0.000000</a:t>
            </a:r>
          </a:p>
        </p:txBody>
      </p:sp>
    </p:spTree>
    <p:extLst>
      <p:ext uri="{BB962C8B-B14F-4D97-AF65-F5344CB8AC3E}">
        <p14:creationId xmlns:p14="http://schemas.microsoft.com/office/powerpoint/2010/main" val="22629227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551040" y="588334"/>
            <a:ext cx="9116960" cy="581239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spcFirstLastPara="1"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s-MX" sz="3200" dirty="0">
                <a:solidFill>
                  <a:schemeClr val="bg1"/>
                </a:solidFill>
                <a:latin typeface="Bauhaus 93" pitchFamily="82" charset="0"/>
                <a:ea typeface="+mn-ea"/>
                <a:cs typeface="+mn-cs"/>
              </a:rPr>
              <a:t>Red del 10.12</a:t>
            </a:r>
            <a:endParaRPr lang="es-ES" sz="3200" dirty="0">
              <a:solidFill>
                <a:schemeClr val="bg1"/>
              </a:solidFill>
              <a:latin typeface="Bauhaus 93" pitchFamily="82" charset="0"/>
              <a:ea typeface="+mn-ea"/>
              <a:cs typeface="+mn-cs"/>
            </a:endParaRPr>
          </a:p>
        </p:txBody>
      </p:sp>
      <p:sp>
        <p:nvSpPr>
          <p:cNvPr id="52227" name="Oval 3">
            <a:hlinkHover r:id="" action="ppaction://noaction">
              <a:snd r:embed="rId3" name="gunshot.wav"/>
            </a:hlinkHover>
          </p:cNvPr>
          <p:cNvSpPr>
            <a:spLocks noChangeArrowheads="1"/>
          </p:cNvSpPr>
          <p:nvPr/>
        </p:nvSpPr>
        <p:spPr bwMode="auto">
          <a:xfrm>
            <a:off x="958063" y="3717913"/>
            <a:ext cx="914400" cy="914400"/>
          </a:xfrm>
          <a:prstGeom prst="ellipse">
            <a:avLst/>
          </a:prstGeom>
          <a:solidFill>
            <a:srgbClr val="FFFF00"/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X0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29" name="Oval 5"/>
          <p:cNvSpPr>
            <a:spLocks noChangeArrowheads="1"/>
          </p:cNvSpPr>
          <p:nvPr/>
        </p:nvSpPr>
        <p:spPr bwMode="auto">
          <a:xfrm>
            <a:off x="6181761" y="2257048"/>
            <a:ext cx="914400" cy="914400"/>
          </a:xfrm>
          <a:prstGeom prst="ellipse">
            <a:avLst/>
          </a:prstGeom>
          <a:solidFill>
            <a:srgbClr val="FFFF00"/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X4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31" name="Oval 7"/>
          <p:cNvSpPr>
            <a:spLocks noChangeArrowheads="1"/>
          </p:cNvSpPr>
          <p:nvPr/>
        </p:nvSpPr>
        <p:spPr bwMode="auto">
          <a:xfrm>
            <a:off x="2707624" y="3664017"/>
            <a:ext cx="914400" cy="914400"/>
          </a:xfrm>
          <a:prstGeom prst="ellipse">
            <a:avLst/>
          </a:prstGeom>
          <a:solidFill>
            <a:srgbClr val="FFFF00"/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X1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32" name="Oval 8"/>
          <p:cNvSpPr>
            <a:spLocks noChangeArrowheads="1"/>
          </p:cNvSpPr>
          <p:nvPr/>
        </p:nvSpPr>
        <p:spPr bwMode="auto">
          <a:xfrm>
            <a:off x="4198641" y="2311228"/>
            <a:ext cx="914400" cy="914400"/>
          </a:xfrm>
          <a:prstGeom prst="ellipse">
            <a:avLst/>
          </a:prstGeom>
          <a:solidFill>
            <a:srgbClr val="FFFF00"/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X3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33" name="Oval 9"/>
          <p:cNvSpPr>
            <a:spLocks noChangeArrowheads="1"/>
          </p:cNvSpPr>
          <p:nvPr/>
        </p:nvSpPr>
        <p:spPr bwMode="auto">
          <a:xfrm>
            <a:off x="4202862" y="1249852"/>
            <a:ext cx="914400" cy="914400"/>
          </a:xfrm>
          <a:prstGeom prst="ellipse">
            <a:avLst/>
          </a:prstGeom>
          <a:solidFill>
            <a:srgbClr val="FFFF00"/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X2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34" name="Oval 10"/>
          <p:cNvSpPr>
            <a:spLocks noChangeArrowheads="1"/>
          </p:cNvSpPr>
          <p:nvPr/>
        </p:nvSpPr>
        <p:spPr bwMode="auto">
          <a:xfrm>
            <a:off x="4272285" y="3539393"/>
            <a:ext cx="914400" cy="914400"/>
          </a:xfrm>
          <a:prstGeom prst="ellipse">
            <a:avLst/>
          </a:prstGeom>
          <a:solidFill>
            <a:srgbClr val="FFFF00"/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X5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36" name="Line 12"/>
          <p:cNvSpPr>
            <a:spLocks noChangeShapeType="1"/>
          </p:cNvSpPr>
          <p:nvPr/>
        </p:nvSpPr>
        <p:spPr bwMode="auto">
          <a:xfrm>
            <a:off x="1872462" y="4167902"/>
            <a:ext cx="845031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2237" name="Line 13"/>
          <p:cNvSpPr>
            <a:spLocks noChangeShapeType="1"/>
          </p:cNvSpPr>
          <p:nvPr/>
        </p:nvSpPr>
        <p:spPr bwMode="auto">
          <a:xfrm>
            <a:off x="1872462" y="4408549"/>
            <a:ext cx="4416699" cy="12110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2242" name="Line 18"/>
          <p:cNvSpPr>
            <a:spLocks noChangeShapeType="1"/>
          </p:cNvSpPr>
          <p:nvPr/>
        </p:nvSpPr>
        <p:spPr bwMode="auto">
          <a:xfrm>
            <a:off x="7096162" y="4060461"/>
            <a:ext cx="123208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2243" name="Line 19"/>
          <p:cNvSpPr>
            <a:spLocks noChangeShapeType="1"/>
          </p:cNvSpPr>
          <p:nvPr/>
        </p:nvSpPr>
        <p:spPr bwMode="auto">
          <a:xfrm>
            <a:off x="5186686" y="2692587"/>
            <a:ext cx="935021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2244" name="Line 20"/>
          <p:cNvSpPr>
            <a:spLocks noChangeShapeType="1"/>
          </p:cNvSpPr>
          <p:nvPr/>
        </p:nvSpPr>
        <p:spPr bwMode="auto">
          <a:xfrm flipV="1">
            <a:off x="4261117" y="3858849"/>
            <a:ext cx="394724" cy="281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2247" name="Text Box 23"/>
          <p:cNvSpPr txBox="1">
            <a:spLocks noChangeArrowheads="1"/>
          </p:cNvSpPr>
          <p:nvPr/>
        </p:nvSpPr>
        <p:spPr bwMode="auto">
          <a:xfrm>
            <a:off x="2089815" y="3815756"/>
            <a:ext cx="32573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A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49" name="Text Box 25"/>
          <p:cNvSpPr txBox="1">
            <a:spLocks noChangeArrowheads="1"/>
          </p:cNvSpPr>
          <p:nvPr/>
        </p:nvSpPr>
        <p:spPr bwMode="auto">
          <a:xfrm>
            <a:off x="3744937" y="2940615"/>
            <a:ext cx="32573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B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50" name="Text Box 26"/>
          <p:cNvSpPr txBox="1">
            <a:spLocks noChangeArrowheads="1"/>
          </p:cNvSpPr>
          <p:nvPr/>
        </p:nvSpPr>
        <p:spPr bwMode="auto">
          <a:xfrm>
            <a:off x="3803799" y="3664017"/>
            <a:ext cx="33695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D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51" name="Text Box 27"/>
          <p:cNvSpPr txBox="1">
            <a:spLocks noChangeArrowheads="1"/>
          </p:cNvSpPr>
          <p:nvPr/>
        </p:nvSpPr>
        <p:spPr bwMode="auto">
          <a:xfrm>
            <a:off x="7530735" y="4720395"/>
            <a:ext cx="24237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I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52" name="Text Box 28"/>
          <p:cNvSpPr txBox="1">
            <a:spLocks noChangeArrowheads="1"/>
          </p:cNvSpPr>
          <p:nvPr/>
        </p:nvSpPr>
        <p:spPr bwMode="auto">
          <a:xfrm>
            <a:off x="3472118" y="2205520"/>
            <a:ext cx="32573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K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55" name="Text Box 31"/>
          <p:cNvSpPr txBox="1">
            <a:spLocks noChangeArrowheads="1"/>
          </p:cNvSpPr>
          <p:nvPr/>
        </p:nvSpPr>
        <p:spPr bwMode="auto">
          <a:xfrm>
            <a:off x="5517775" y="5674022"/>
            <a:ext cx="33695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H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57" name="Text Box 33"/>
          <p:cNvSpPr txBox="1">
            <a:spLocks noChangeArrowheads="1"/>
          </p:cNvSpPr>
          <p:nvPr/>
        </p:nvSpPr>
        <p:spPr bwMode="auto">
          <a:xfrm>
            <a:off x="9157151" y="4063603"/>
            <a:ext cx="68800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9-YM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58" name="Text Box 34"/>
          <p:cNvSpPr txBox="1">
            <a:spLocks noChangeArrowheads="1"/>
          </p:cNvSpPr>
          <p:nvPr/>
        </p:nvSpPr>
        <p:spPr bwMode="auto">
          <a:xfrm>
            <a:off x="4162920" y="5120505"/>
            <a:ext cx="73609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19-YJ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60" name="Text Box 36"/>
          <p:cNvSpPr txBox="1">
            <a:spLocks noChangeArrowheads="1"/>
          </p:cNvSpPr>
          <p:nvPr/>
        </p:nvSpPr>
        <p:spPr bwMode="auto">
          <a:xfrm>
            <a:off x="5245295" y="6019618"/>
            <a:ext cx="78258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15-YH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61" name="Text Box 37"/>
          <p:cNvSpPr txBox="1">
            <a:spLocks noChangeArrowheads="1"/>
          </p:cNvSpPr>
          <p:nvPr/>
        </p:nvSpPr>
        <p:spPr bwMode="auto">
          <a:xfrm>
            <a:off x="7815594" y="4876747"/>
            <a:ext cx="57098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9-YI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64" name="Text Box 40"/>
          <p:cNvSpPr txBox="1">
            <a:spLocks noChangeArrowheads="1"/>
          </p:cNvSpPr>
          <p:nvPr/>
        </p:nvSpPr>
        <p:spPr bwMode="auto">
          <a:xfrm>
            <a:off x="6289162" y="3628018"/>
            <a:ext cx="65434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3-YE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65" name="Text Box 41"/>
          <p:cNvSpPr txBox="1">
            <a:spLocks noChangeArrowheads="1"/>
          </p:cNvSpPr>
          <p:nvPr/>
        </p:nvSpPr>
        <p:spPr bwMode="auto">
          <a:xfrm>
            <a:off x="5223639" y="2703720"/>
            <a:ext cx="76719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11-YC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66" name="Text Box 42"/>
          <p:cNvSpPr txBox="1">
            <a:spLocks noChangeArrowheads="1"/>
          </p:cNvSpPr>
          <p:nvPr/>
        </p:nvSpPr>
        <p:spPr bwMode="auto">
          <a:xfrm>
            <a:off x="5439849" y="4167902"/>
            <a:ext cx="65434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6-YE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2" name="1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ANIVAL TORRE</a:t>
            </a:r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7123F-EA94-4AF6-90FD-8402484B591B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47" name="2 Marcador de contenido"/>
          <p:cNvSpPr txBox="1">
            <a:spLocks/>
          </p:cNvSpPr>
          <p:nvPr/>
        </p:nvSpPr>
        <p:spPr>
          <a:xfrm>
            <a:off x="7910006" y="5452631"/>
            <a:ext cx="2628831" cy="1063258"/>
          </a:xfrm>
          <a:prstGeom prst="rect">
            <a:avLst/>
          </a:prstGeom>
          <a:solidFill>
            <a:srgbClr val="FFFF00"/>
          </a:solidFill>
        </p:spPr>
        <p:txBody>
          <a:bodyPr/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defRPr/>
            </a:pPr>
            <a:r>
              <a:rPr lang="es-PE" sz="2000" kern="0" dirty="0">
                <a:latin typeface="Arial Narrow" pitchFamily="34" charset="0"/>
              </a:rPr>
              <a:t>RESPUESTA: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defRPr/>
            </a:pPr>
            <a:r>
              <a:rPr lang="es-PE" sz="2000" kern="0" dirty="0">
                <a:latin typeface="Arial Narrow" pitchFamily="34" charset="0"/>
              </a:rPr>
              <a:t>Duración del proyecto: 42 Ruta </a:t>
            </a:r>
            <a:r>
              <a:rPr lang="es-PE" sz="2000" kern="0" dirty="0" err="1">
                <a:latin typeface="Arial Narrow" pitchFamily="34" charset="0"/>
              </a:rPr>
              <a:t>crítica:ABCLM</a:t>
            </a:r>
            <a:endParaRPr lang="es-PE" sz="2000" kern="0" dirty="0">
              <a:latin typeface="Arial Narrow" pitchFamily="34" charset="0"/>
            </a:endParaRPr>
          </a:p>
        </p:txBody>
      </p:sp>
      <p:sp>
        <p:nvSpPr>
          <p:cNvPr id="48" name="Line 19"/>
          <p:cNvSpPr>
            <a:spLocks noChangeShapeType="1"/>
          </p:cNvSpPr>
          <p:nvPr/>
        </p:nvSpPr>
        <p:spPr bwMode="auto">
          <a:xfrm>
            <a:off x="3647534" y="4120739"/>
            <a:ext cx="84931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0" name="Text Box 26"/>
          <p:cNvSpPr txBox="1">
            <a:spLocks noChangeArrowheads="1"/>
          </p:cNvSpPr>
          <p:nvPr/>
        </p:nvSpPr>
        <p:spPr bwMode="auto">
          <a:xfrm>
            <a:off x="5386134" y="2343545"/>
            <a:ext cx="33695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C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" name="Text Box 31"/>
          <p:cNvSpPr txBox="1">
            <a:spLocks noChangeArrowheads="1"/>
          </p:cNvSpPr>
          <p:nvPr/>
        </p:nvSpPr>
        <p:spPr bwMode="auto">
          <a:xfrm>
            <a:off x="4439021" y="4771817"/>
            <a:ext cx="29046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J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3" name="Text Box 34"/>
          <p:cNvSpPr txBox="1">
            <a:spLocks noChangeArrowheads="1"/>
          </p:cNvSpPr>
          <p:nvPr/>
        </p:nvSpPr>
        <p:spPr bwMode="auto">
          <a:xfrm>
            <a:off x="2444493" y="5296374"/>
            <a:ext cx="67678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3-YG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4" name="Text Box 31"/>
          <p:cNvSpPr txBox="1">
            <a:spLocks noChangeArrowheads="1"/>
          </p:cNvSpPr>
          <p:nvPr/>
        </p:nvSpPr>
        <p:spPr bwMode="auto">
          <a:xfrm>
            <a:off x="7500820" y="3615701"/>
            <a:ext cx="31290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F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5" name="Line 19"/>
          <p:cNvSpPr>
            <a:spLocks noChangeShapeType="1"/>
          </p:cNvSpPr>
          <p:nvPr/>
        </p:nvSpPr>
        <p:spPr bwMode="auto">
          <a:xfrm>
            <a:off x="1840763" y="4495485"/>
            <a:ext cx="2283955" cy="143282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6" name="Text Box 31"/>
          <p:cNvSpPr txBox="1">
            <a:spLocks noChangeArrowheads="1"/>
          </p:cNvSpPr>
          <p:nvPr/>
        </p:nvSpPr>
        <p:spPr bwMode="auto">
          <a:xfrm>
            <a:off x="3202495" y="4981011"/>
            <a:ext cx="34817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G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7" name="Oval 10"/>
          <p:cNvSpPr>
            <a:spLocks noChangeArrowheads="1"/>
          </p:cNvSpPr>
          <p:nvPr/>
        </p:nvSpPr>
        <p:spPr bwMode="auto">
          <a:xfrm>
            <a:off x="4198641" y="5629061"/>
            <a:ext cx="914400" cy="914400"/>
          </a:xfrm>
          <a:prstGeom prst="ellipse">
            <a:avLst/>
          </a:prstGeom>
          <a:solidFill>
            <a:srgbClr val="FFFF00"/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X7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8" name="Oval 5"/>
          <p:cNvSpPr>
            <a:spLocks noChangeArrowheads="1"/>
          </p:cNvSpPr>
          <p:nvPr/>
        </p:nvSpPr>
        <p:spPr bwMode="auto">
          <a:xfrm>
            <a:off x="6196329" y="3404468"/>
            <a:ext cx="914400" cy="914400"/>
          </a:xfrm>
          <a:prstGeom prst="ellipse">
            <a:avLst/>
          </a:prstGeom>
          <a:solidFill>
            <a:srgbClr val="FFFF00"/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X6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9" name="Text Box 28"/>
          <p:cNvSpPr txBox="1">
            <a:spLocks noChangeArrowheads="1"/>
          </p:cNvSpPr>
          <p:nvPr/>
        </p:nvSpPr>
        <p:spPr bwMode="auto">
          <a:xfrm>
            <a:off x="5591944" y="3619102"/>
            <a:ext cx="32573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E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61" name="Line 19"/>
          <p:cNvSpPr>
            <a:spLocks noChangeShapeType="1"/>
          </p:cNvSpPr>
          <p:nvPr/>
        </p:nvSpPr>
        <p:spPr bwMode="auto">
          <a:xfrm flipV="1">
            <a:off x="3259382" y="1820402"/>
            <a:ext cx="1019473" cy="1897511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62" name="Line 19"/>
          <p:cNvSpPr>
            <a:spLocks noChangeShapeType="1"/>
          </p:cNvSpPr>
          <p:nvPr/>
        </p:nvSpPr>
        <p:spPr bwMode="auto">
          <a:xfrm flipV="1">
            <a:off x="3392769" y="3019790"/>
            <a:ext cx="886087" cy="8177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63" name="Line 19"/>
          <p:cNvSpPr>
            <a:spLocks noChangeShapeType="1"/>
          </p:cNvSpPr>
          <p:nvPr/>
        </p:nvSpPr>
        <p:spPr bwMode="auto">
          <a:xfrm>
            <a:off x="5246741" y="4066102"/>
            <a:ext cx="935021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64" name="Line 18"/>
          <p:cNvSpPr>
            <a:spLocks noChangeShapeType="1"/>
          </p:cNvSpPr>
          <p:nvPr/>
        </p:nvSpPr>
        <p:spPr bwMode="auto">
          <a:xfrm flipV="1">
            <a:off x="7180360" y="4315226"/>
            <a:ext cx="1276646" cy="135879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65" name="Line 18"/>
          <p:cNvSpPr>
            <a:spLocks noChangeShapeType="1"/>
          </p:cNvSpPr>
          <p:nvPr/>
        </p:nvSpPr>
        <p:spPr bwMode="auto">
          <a:xfrm>
            <a:off x="5045919" y="6025931"/>
            <a:ext cx="123208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67" name="Oval 5"/>
          <p:cNvSpPr>
            <a:spLocks noChangeArrowheads="1"/>
          </p:cNvSpPr>
          <p:nvPr/>
        </p:nvSpPr>
        <p:spPr bwMode="auto">
          <a:xfrm>
            <a:off x="6278005" y="5348170"/>
            <a:ext cx="914400" cy="914400"/>
          </a:xfrm>
          <a:prstGeom prst="ellipse">
            <a:avLst/>
          </a:prstGeom>
          <a:solidFill>
            <a:srgbClr val="FFFF00"/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X8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68" name="Line 43"/>
          <p:cNvSpPr>
            <a:spLocks noChangeShapeType="1"/>
          </p:cNvSpPr>
          <p:nvPr/>
        </p:nvSpPr>
        <p:spPr bwMode="auto">
          <a:xfrm>
            <a:off x="5045919" y="1911118"/>
            <a:ext cx="1150410" cy="595787"/>
          </a:xfrm>
          <a:prstGeom prst="line">
            <a:avLst/>
          </a:prstGeom>
          <a:noFill/>
          <a:ln w="38100">
            <a:solidFill>
              <a:schemeClr val="tx1"/>
            </a:solidFill>
            <a:prstDash val="lgDash"/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69" name="Line 18"/>
          <p:cNvSpPr>
            <a:spLocks noChangeShapeType="1"/>
          </p:cNvSpPr>
          <p:nvPr/>
        </p:nvSpPr>
        <p:spPr bwMode="auto">
          <a:xfrm>
            <a:off x="7051604" y="2947023"/>
            <a:ext cx="1276646" cy="73953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71" name="Text Box 31"/>
          <p:cNvSpPr txBox="1">
            <a:spLocks noChangeArrowheads="1"/>
          </p:cNvSpPr>
          <p:nvPr/>
        </p:nvSpPr>
        <p:spPr bwMode="auto">
          <a:xfrm>
            <a:off x="7192701" y="3119132"/>
            <a:ext cx="30168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L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72" name="Oval 5"/>
          <p:cNvSpPr>
            <a:spLocks noChangeArrowheads="1"/>
          </p:cNvSpPr>
          <p:nvPr/>
        </p:nvSpPr>
        <p:spPr bwMode="auto">
          <a:xfrm>
            <a:off x="8242752" y="3437649"/>
            <a:ext cx="914400" cy="914400"/>
          </a:xfrm>
          <a:prstGeom prst="ellipse">
            <a:avLst/>
          </a:prstGeom>
          <a:solidFill>
            <a:srgbClr val="FFFF00"/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X9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73" name="Oval 5"/>
          <p:cNvSpPr>
            <a:spLocks noChangeArrowheads="1"/>
          </p:cNvSpPr>
          <p:nvPr/>
        </p:nvSpPr>
        <p:spPr bwMode="auto">
          <a:xfrm>
            <a:off x="9881762" y="3425683"/>
            <a:ext cx="914400" cy="914400"/>
          </a:xfrm>
          <a:prstGeom prst="ellipse">
            <a:avLst/>
          </a:prstGeom>
          <a:solidFill>
            <a:srgbClr val="FFFF00"/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X10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74" name="Line 18"/>
          <p:cNvSpPr>
            <a:spLocks noChangeShapeType="1"/>
          </p:cNvSpPr>
          <p:nvPr/>
        </p:nvSpPr>
        <p:spPr bwMode="auto">
          <a:xfrm flipV="1">
            <a:off x="9157152" y="3935038"/>
            <a:ext cx="688008" cy="16901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75" name="Text Box 31"/>
          <p:cNvSpPr txBox="1">
            <a:spLocks noChangeArrowheads="1"/>
          </p:cNvSpPr>
          <p:nvPr/>
        </p:nvSpPr>
        <p:spPr bwMode="auto">
          <a:xfrm>
            <a:off x="9304679" y="3534928"/>
            <a:ext cx="35939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M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76" name="Text Box 42"/>
          <p:cNvSpPr txBox="1">
            <a:spLocks noChangeArrowheads="1"/>
          </p:cNvSpPr>
          <p:nvPr/>
        </p:nvSpPr>
        <p:spPr bwMode="auto">
          <a:xfrm>
            <a:off x="2019747" y="4133459"/>
            <a:ext cx="63895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8-YA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77" name="Text Box 42"/>
          <p:cNvSpPr txBox="1">
            <a:spLocks noChangeArrowheads="1"/>
          </p:cNvSpPr>
          <p:nvPr/>
        </p:nvSpPr>
        <p:spPr bwMode="auto">
          <a:xfrm>
            <a:off x="7151465" y="4149458"/>
            <a:ext cx="75854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15-YF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78" name="Text Box 42"/>
          <p:cNvSpPr txBox="1">
            <a:spLocks noChangeArrowheads="1"/>
          </p:cNvSpPr>
          <p:nvPr/>
        </p:nvSpPr>
        <p:spPr bwMode="auto">
          <a:xfrm>
            <a:off x="7531639" y="2935186"/>
            <a:ext cx="63030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9-YL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79" name="Text Box 42"/>
          <p:cNvSpPr txBox="1">
            <a:spLocks noChangeArrowheads="1"/>
          </p:cNvSpPr>
          <p:nvPr/>
        </p:nvSpPr>
        <p:spPr bwMode="auto">
          <a:xfrm>
            <a:off x="3575019" y="4177349"/>
            <a:ext cx="66556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3-YD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80" name="Text Box 42"/>
          <p:cNvSpPr txBox="1">
            <a:spLocks noChangeArrowheads="1"/>
          </p:cNvSpPr>
          <p:nvPr/>
        </p:nvSpPr>
        <p:spPr bwMode="auto">
          <a:xfrm>
            <a:off x="4131305" y="3225628"/>
            <a:ext cx="65434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5-YB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81" name="Text Box 42"/>
          <p:cNvSpPr txBox="1">
            <a:spLocks noChangeArrowheads="1"/>
          </p:cNvSpPr>
          <p:nvPr/>
        </p:nvSpPr>
        <p:spPr bwMode="auto">
          <a:xfrm>
            <a:off x="2657593" y="2632474"/>
            <a:ext cx="77136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13-YK</a:t>
            </a:r>
            <a:endParaRPr lang="es-ES" sz="2000" dirty="0"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9898623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ANIVAL TORRE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7123F-EA94-4AF6-90FD-8402484B591B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122881" name="Rectangle 1"/>
          <p:cNvSpPr>
            <a:spLocks noChangeArrowheads="1"/>
          </p:cNvSpPr>
          <p:nvPr/>
        </p:nvSpPr>
        <p:spPr bwMode="auto">
          <a:xfrm>
            <a:off x="0" y="1248830"/>
            <a:ext cx="12192000" cy="563231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450850" fontAlgn="base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630238" algn="l"/>
              </a:tabLst>
            </a:pPr>
            <a:r>
              <a:rPr lang="es-MX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Identificación de las variables:</a:t>
            </a:r>
            <a:endParaRPr lang="es-PE" dirty="0">
              <a:latin typeface="Arial" pitchFamily="34" charset="0"/>
              <a:cs typeface="Arial" pitchFamily="34" charset="0"/>
            </a:endParaRPr>
          </a:p>
          <a:p>
            <a:pPr indent="450850" eaLnBrk="0" fontAlgn="base" hangingPunct="0">
              <a:spcBef>
                <a:spcPct val="0"/>
              </a:spcBef>
              <a:spcAft>
                <a:spcPct val="0"/>
              </a:spcAft>
              <a:tabLst>
                <a:tab pos="630238" algn="l"/>
              </a:tabLst>
            </a:pP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Y i</a:t>
            </a:r>
            <a:r>
              <a:rPr lang="es-MX" baseline="-30000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= 	Número de </a:t>
            </a:r>
            <a:r>
              <a:rPr lang="es-MX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meses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en que se puede reducir la tarea i  (i = A, B, C, D,  … J)</a:t>
            </a:r>
            <a:endParaRPr lang="es-PE" dirty="0">
              <a:latin typeface="Arial" pitchFamily="34" charset="0"/>
              <a:cs typeface="Arial" pitchFamily="34" charset="0"/>
            </a:endParaRPr>
          </a:p>
          <a:p>
            <a:pPr indent="450850" eaLnBrk="0" fontAlgn="base" hangingPunct="0">
              <a:spcBef>
                <a:spcPct val="0"/>
              </a:spcBef>
              <a:spcAft>
                <a:spcPct val="0"/>
              </a:spcAft>
              <a:tabLst>
                <a:tab pos="630238" algn="l"/>
              </a:tabLst>
            </a:pP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X i</a:t>
            </a:r>
            <a:r>
              <a:rPr lang="es-MX" baseline="-30000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= 	Tiempo en cual todas las tareas que salen del nodo i pueden empezar (i = 0, 1, 2, ... 8).</a:t>
            </a:r>
            <a:endParaRPr lang="es-PE" dirty="0">
              <a:latin typeface="Arial" pitchFamily="34" charset="0"/>
              <a:cs typeface="Arial" pitchFamily="34" charset="0"/>
            </a:endParaRPr>
          </a:p>
          <a:p>
            <a:pPr indent="4508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630238" algn="l"/>
              </a:tabLst>
            </a:pPr>
            <a:r>
              <a:rPr lang="es-MX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Identificación de la Función objetivo:</a:t>
            </a:r>
            <a:endParaRPr lang="es-PE" dirty="0">
              <a:latin typeface="Arial" pitchFamily="34" charset="0"/>
              <a:cs typeface="Arial" pitchFamily="34" charset="0"/>
            </a:endParaRPr>
          </a:p>
          <a:p>
            <a:pPr indent="450850" eaLnBrk="0" fontAlgn="base" hangingPunct="0">
              <a:spcBef>
                <a:spcPct val="0"/>
              </a:spcBef>
              <a:spcAft>
                <a:spcPct val="0"/>
              </a:spcAft>
              <a:tabLst>
                <a:tab pos="630238" algn="l"/>
              </a:tabLst>
            </a:pP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MIN 	130YA + 200YB +25 YC + 0YD + 80YE + 80YF + 0YG + 48YH + 26,66</a:t>
            </a:r>
          </a:p>
          <a:p>
            <a:pPr indent="450850" eaLnBrk="0" fontAlgn="base" hangingPunct="0">
              <a:spcBef>
                <a:spcPct val="0"/>
              </a:spcBef>
              <a:spcAft>
                <a:spcPct val="0"/>
              </a:spcAft>
              <a:tabLst>
                <a:tab pos="630238" algn="l"/>
              </a:tabLst>
            </a:pP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7YI + 42,86YJ+60YK+45YL+53,33YM</a:t>
            </a:r>
            <a:endParaRPr lang="es-PE" dirty="0">
              <a:latin typeface="Arial" pitchFamily="34" charset="0"/>
              <a:cs typeface="Arial" pitchFamily="34" charset="0"/>
            </a:endParaRPr>
          </a:p>
          <a:p>
            <a:pPr indent="450850" eaLnBrk="0" fontAlgn="base" hangingPunct="0">
              <a:spcBef>
                <a:spcPct val="0"/>
              </a:spcBef>
              <a:spcAft>
                <a:spcPct val="0"/>
              </a:spcAft>
              <a:tabLst>
                <a:tab pos="630238" algn="l"/>
              </a:tabLst>
            </a:pPr>
            <a:r>
              <a:rPr lang="es-ES_tradnl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III. Identificación de las restricciones:</a:t>
            </a:r>
            <a:r>
              <a:rPr lang="es-ES_tradnl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	</a:t>
            </a:r>
            <a:endParaRPr lang="es-PE" dirty="0">
              <a:latin typeface="Arial" pitchFamily="34" charset="0"/>
              <a:cs typeface="Arial" pitchFamily="34" charset="0"/>
            </a:endParaRPr>
          </a:p>
          <a:p>
            <a:pPr indent="450850" eaLnBrk="0" fontAlgn="base" hangingPunct="0">
              <a:spcBef>
                <a:spcPct val="0"/>
              </a:spcBef>
              <a:spcAft>
                <a:spcPct val="0"/>
              </a:spcAft>
              <a:tabLst>
                <a:tab pos="630238" algn="l"/>
              </a:tabLst>
            </a:pP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0 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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YA ≤ 2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	0 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YB ≤ 1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	0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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YC 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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6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	0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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YD ≤ 0      	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0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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YE ≤ 1</a:t>
            </a:r>
            <a:endParaRPr lang="es-MX" dirty="0">
              <a:solidFill>
                <a:srgbClr val="000000"/>
              </a:solidFill>
              <a:latin typeface="Arial" pitchFamily="34" charset="0"/>
              <a:ea typeface="Times New Roman" pitchFamily="18" charset="0"/>
              <a:cs typeface="Arial" pitchFamily="34" charset="0"/>
              <a:sym typeface="Symbol" pitchFamily="18" charset="2"/>
            </a:endParaRPr>
          </a:p>
          <a:p>
            <a:pPr indent="450850" eaLnBrk="0" fontAlgn="base" hangingPunct="0">
              <a:spcBef>
                <a:spcPct val="0"/>
              </a:spcBef>
              <a:spcAft>
                <a:spcPct val="0"/>
              </a:spcAft>
              <a:tabLst>
                <a:tab pos="630238" algn="l"/>
              </a:tabLst>
            </a:pP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0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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YF ≤ 5	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0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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YG ≤ 0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	0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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YH ≤ 5       	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0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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YI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  ≤3	0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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YJ ≤ 7 </a:t>
            </a:r>
          </a:p>
          <a:p>
            <a:pPr indent="450850" eaLnBrk="0" fontAlgn="base" hangingPunct="0">
              <a:spcBef>
                <a:spcPct val="0"/>
              </a:spcBef>
              <a:spcAft>
                <a:spcPct val="0"/>
              </a:spcAft>
              <a:tabLst>
                <a:tab pos="630238" algn="l"/>
              </a:tabLst>
            </a:pP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0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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YK ≤ 6        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0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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YL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  ≤4	0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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YM ≤ 3</a:t>
            </a:r>
            <a:endParaRPr lang="es-PE" dirty="0">
              <a:solidFill>
                <a:srgbClr val="000000"/>
              </a:solidFill>
              <a:latin typeface="Arial" pitchFamily="34" charset="0"/>
              <a:ea typeface="Times New Roman" pitchFamily="18" charset="0"/>
              <a:cs typeface="Arial" pitchFamily="34" charset="0"/>
              <a:sym typeface="Symbol" pitchFamily="18" charset="2"/>
            </a:endParaRPr>
          </a:p>
          <a:p>
            <a:pPr indent="450850" eaLnBrk="0" fontAlgn="base" hangingPunct="0">
              <a:spcBef>
                <a:spcPct val="0"/>
              </a:spcBef>
              <a:spcAft>
                <a:spcPct val="0"/>
              </a:spcAft>
              <a:tabLst>
                <a:tab pos="630238" algn="l"/>
              </a:tabLst>
            </a:pP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Restricción de inicio. 	X0 = 0,	</a:t>
            </a:r>
            <a:endParaRPr lang="es-PE" dirty="0">
              <a:latin typeface="Arial" pitchFamily="34" charset="0"/>
              <a:cs typeface="Arial" pitchFamily="34" charset="0"/>
              <a:sym typeface="Symbol" pitchFamily="18" charset="2"/>
            </a:endParaRPr>
          </a:p>
          <a:p>
            <a:pPr indent="450850" eaLnBrk="0" fontAlgn="base" hangingPunct="0">
              <a:spcBef>
                <a:spcPct val="0"/>
              </a:spcBef>
              <a:spcAft>
                <a:spcPct val="0"/>
              </a:spcAft>
              <a:tabLst>
                <a:tab pos="630238" algn="l"/>
              </a:tabLst>
            </a:pP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Restricción de termino	X10 ≤ </a:t>
            </a:r>
            <a:r>
              <a:rPr lang="es-PE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40</a:t>
            </a:r>
            <a:endParaRPr lang="es-PE" dirty="0">
              <a:latin typeface="Arial" pitchFamily="34" charset="0"/>
              <a:cs typeface="Arial" pitchFamily="34" charset="0"/>
              <a:sym typeface="Symbol" pitchFamily="18" charset="2"/>
            </a:endParaRPr>
          </a:p>
          <a:p>
            <a:pPr indent="450850" eaLnBrk="0" fontAlgn="base" hangingPunct="0">
              <a:spcBef>
                <a:spcPct val="0"/>
              </a:spcBef>
              <a:spcAft>
                <a:spcPct val="0"/>
              </a:spcAft>
              <a:tabLst>
                <a:tab pos="630238" algn="l"/>
              </a:tabLst>
            </a:pP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Restricciones de la red		</a:t>
            </a:r>
          </a:p>
          <a:p>
            <a:pPr indent="450850" eaLnBrk="0" fontAlgn="base" hangingPunct="0">
              <a:spcBef>
                <a:spcPct val="0"/>
              </a:spcBef>
              <a:spcAft>
                <a:spcPct val="0"/>
              </a:spcAft>
              <a:tabLst>
                <a:tab pos="630238" algn="l"/>
              </a:tabLst>
            </a:pP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X1 ≥ X0 + (8 – YA)		X2 ≥ X1  + (13-YK)	 Xi  ,  Yi  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 </a:t>
            </a: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0</a:t>
            </a:r>
          </a:p>
          <a:p>
            <a:pPr indent="450850" eaLnBrk="0" hangingPunct="0">
              <a:tabLst>
                <a:tab pos="630238" algn="l"/>
              </a:tabLst>
            </a:pP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X3 ≥ X1 + (5-YB)		X4 ≥ X2</a:t>
            </a:r>
          </a:p>
          <a:p>
            <a:pPr indent="450850" eaLnBrk="0" hangingPunct="0">
              <a:tabLst>
                <a:tab pos="630238" algn="l"/>
              </a:tabLst>
            </a:pP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X4 ≥ X3 + (11 – YC)		X5 ≥ X1 + (3 – YD)</a:t>
            </a:r>
            <a:endParaRPr lang="es-PE" dirty="0">
              <a:latin typeface="Arial" pitchFamily="34" charset="0"/>
              <a:cs typeface="Arial" pitchFamily="34" charset="0"/>
              <a:sym typeface="Symbol" pitchFamily="18" charset="2"/>
            </a:endParaRPr>
          </a:p>
          <a:p>
            <a:pPr indent="450850" eaLnBrk="0" fontAlgn="base" hangingPunct="0">
              <a:spcBef>
                <a:spcPct val="0"/>
              </a:spcBef>
              <a:spcAft>
                <a:spcPct val="0"/>
              </a:spcAft>
              <a:tabLst>
                <a:tab pos="630238" algn="l"/>
              </a:tabLst>
            </a:pP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X6 ≥ X5 + (6 – YE)		X7 ≥ X0 + (3 – YG )</a:t>
            </a:r>
            <a:endParaRPr lang="es-PE" dirty="0">
              <a:latin typeface="Arial" pitchFamily="34" charset="0"/>
              <a:cs typeface="Arial" pitchFamily="34" charset="0"/>
              <a:sym typeface="Symbol" pitchFamily="18" charset="2"/>
            </a:endParaRPr>
          </a:p>
          <a:p>
            <a:pPr indent="450850" eaLnBrk="0" hangingPunct="0">
              <a:tabLst>
                <a:tab pos="630238" algn="l"/>
              </a:tabLst>
            </a:pP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X8 ≥ X7 + (15 – YH) 		X8 ≥ X0 + (19 – YJ)</a:t>
            </a:r>
          </a:p>
          <a:p>
            <a:pPr indent="450850" eaLnBrk="0" hangingPunct="0">
              <a:tabLst>
                <a:tab pos="630238" algn="l"/>
              </a:tabLst>
            </a:pP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X9 ≥ X4 + (9 – YL)		X9 ≥ X6 + (15 – YF)	</a:t>
            </a:r>
          </a:p>
          <a:p>
            <a:pPr indent="450850" eaLnBrk="0" hangingPunct="0">
              <a:tabLst>
                <a:tab pos="630238" algn="l"/>
              </a:tabLst>
            </a:pPr>
            <a:r>
              <a:rPr lang="es-MX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X9 ≥ X8 + (9 – YI)		X10≥ X9 + (9 – YM)</a:t>
            </a:r>
          </a:p>
        </p:txBody>
      </p:sp>
      <p:sp>
        <p:nvSpPr>
          <p:cNvPr id="2" name="Rectángulo 5">
            <a:extLst>
              <a:ext uri="{FF2B5EF4-FFF2-40B4-BE49-F238E27FC236}">
                <a16:creationId xmlns:a16="http://schemas.microsoft.com/office/drawing/2014/main" id="{3A9B54CA-AC8A-98FA-361A-D89A6BF84F11}"/>
              </a:ext>
            </a:extLst>
          </p:cNvPr>
          <p:cNvSpPr/>
          <p:nvPr/>
        </p:nvSpPr>
        <p:spPr>
          <a:xfrm>
            <a:off x="6096000" y="136525"/>
            <a:ext cx="6096000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spcFirstLastPara="1"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5800"/>
              </a:lnSpc>
              <a:spcBef>
                <a:spcPct val="0"/>
              </a:spcBef>
            </a:pPr>
            <a:r>
              <a:rPr lang="es-PE" sz="3200" dirty="0">
                <a:solidFill>
                  <a:schemeClr val="bg1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Bauhaus 93" pitchFamily="82" charset="0"/>
              </a:rPr>
              <a:t>Modelo matemático</a:t>
            </a:r>
          </a:p>
        </p:txBody>
      </p:sp>
    </p:spTree>
    <p:extLst>
      <p:ext uri="{BB962C8B-B14F-4D97-AF65-F5344CB8AC3E}">
        <p14:creationId xmlns:p14="http://schemas.microsoft.com/office/powerpoint/2010/main" val="42281502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286125" y="6356350"/>
            <a:ext cx="4114800" cy="365125"/>
          </a:xfrm>
        </p:spPr>
        <p:txBody>
          <a:bodyPr/>
          <a:lstStyle/>
          <a:p>
            <a:r>
              <a:rPr lang="en-US" dirty="0"/>
              <a:t>ANIVAL TORRE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7858125" y="6356350"/>
            <a:ext cx="2743200" cy="365125"/>
          </a:xfrm>
        </p:spPr>
        <p:txBody>
          <a:bodyPr/>
          <a:lstStyle/>
          <a:p>
            <a:fld id="{55F7123F-EA94-4AF6-90FD-8402484B591B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122881" name="Rectangle 1"/>
          <p:cNvSpPr>
            <a:spLocks noChangeArrowheads="1"/>
          </p:cNvSpPr>
          <p:nvPr/>
        </p:nvSpPr>
        <p:spPr bwMode="auto">
          <a:xfrm>
            <a:off x="771525" y="1340769"/>
            <a:ext cx="8388424" cy="120032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450850" eaLnBrk="0" hangingPunct="0">
              <a:tabLst>
                <a:tab pos="630238" algn="l"/>
              </a:tabLst>
            </a:pPr>
            <a:r>
              <a:rPr lang="es-MX" sz="2400" dirty="0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</a:rPr>
              <a:t>MIN 130YA + 200YB +25 YC + 0YD + 80YE + 80YF + </a:t>
            </a:r>
            <a:r>
              <a:rPr lang="es-MX" sz="2400" dirty="0" err="1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</a:rPr>
              <a:t>0YG</a:t>
            </a:r>
            <a:r>
              <a:rPr lang="es-MX" sz="2400" dirty="0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</a:rPr>
              <a:t> </a:t>
            </a:r>
          </a:p>
          <a:p>
            <a:pPr indent="450850" eaLnBrk="0" hangingPunct="0">
              <a:tabLst>
                <a:tab pos="630238" algn="l"/>
              </a:tabLst>
            </a:pPr>
            <a:r>
              <a:rPr lang="es-MX" sz="2400" dirty="0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</a:rPr>
              <a:t>		+ 48YH + 26,67YI + 42,86YJ+60YK+45YL+53,33YM</a:t>
            </a:r>
            <a:endParaRPr lang="es-PE" sz="2400" dirty="0">
              <a:latin typeface="Arial Narrow" pitchFamily="34" charset="0"/>
              <a:cs typeface="Arial" pitchFamily="34" charset="0"/>
            </a:endParaRPr>
          </a:p>
          <a:p>
            <a:pPr indent="450850" eaLnBrk="0" fontAlgn="base" hangingPunct="0">
              <a:spcBef>
                <a:spcPct val="0"/>
              </a:spcBef>
              <a:spcAft>
                <a:spcPct val="0"/>
              </a:spcAft>
              <a:tabLst>
                <a:tab pos="630238" algn="l"/>
              </a:tabLst>
            </a:pPr>
            <a:r>
              <a:rPr lang="es-PE" sz="2400" b="1" dirty="0">
                <a:solidFill>
                  <a:srgbClr val="FF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</a:rPr>
              <a:t>SUBJECT TO</a:t>
            </a:r>
            <a:endParaRPr lang="es-PE" sz="2400" dirty="0">
              <a:solidFill>
                <a:srgbClr val="FF0000"/>
              </a:solidFill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6" name="2 Marcador de contenido"/>
          <p:cNvSpPr txBox="1">
            <a:spLocks/>
          </p:cNvSpPr>
          <p:nvPr/>
        </p:nvSpPr>
        <p:spPr>
          <a:xfrm>
            <a:off x="8367116" y="2687455"/>
            <a:ext cx="2624733" cy="3258896"/>
          </a:xfrm>
          <a:prstGeom prst="rect">
            <a:avLst/>
          </a:prstGeom>
          <a:solidFill>
            <a:srgbClr val="FFFF00"/>
          </a:solidFill>
        </p:spPr>
        <p:txBody>
          <a:bodyPr/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defRPr/>
            </a:pPr>
            <a:r>
              <a:rPr lang="es-PE" sz="2000" kern="0" dirty="0">
                <a:latin typeface="Arial Narrow" pitchFamily="34" charset="0"/>
              </a:rPr>
              <a:t>RESPUESTA: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defRPr/>
            </a:pPr>
            <a:r>
              <a:rPr lang="es-PE" sz="2000" kern="0" dirty="0">
                <a:latin typeface="Arial Narrow" pitchFamily="34" charset="0"/>
              </a:rPr>
              <a:t>Costo adicional  2325 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defRPr/>
            </a:pPr>
            <a:r>
              <a:rPr lang="es-PE" sz="2000" kern="0" dirty="0">
                <a:latin typeface="Arial Narrow" pitchFamily="34" charset="0"/>
              </a:rPr>
              <a:t>Tareas a reducir :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defRPr/>
            </a:pPr>
            <a:r>
              <a:rPr lang="es-PE" sz="2000" kern="0" dirty="0">
                <a:latin typeface="Arial Narrow" pitchFamily="34" charset="0"/>
              </a:rPr>
              <a:t>A(1)   C(2)   D(1) 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defRPr/>
            </a:pPr>
            <a:r>
              <a:rPr lang="es-PE" sz="2000" kern="0" dirty="0">
                <a:latin typeface="Arial Narrow" pitchFamily="34" charset="0"/>
              </a:rPr>
              <a:t>E(1)   F(1,5) I(2,5)</a:t>
            </a:r>
          </a:p>
        </p:txBody>
      </p:sp>
      <p:graphicFrame>
        <p:nvGraphicFramePr>
          <p:cNvPr id="5" name="4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301025"/>
              </p:ext>
            </p:extLst>
          </p:nvPr>
        </p:nvGraphicFramePr>
        <p:xfrm>
          <a:off x="771525" y="2687455"/>
          <a:ext cx="5774413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97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4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7097">
                <a:tc>
                  <a:txBody>
                    <a:bodyPr/>
                    <a:lstStyle/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YA &lt;=2</a:t>
                      </a: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YB &lt;= 1</a:t>
                      </a:r>
                      <a:endParaRPr kumimoji="0" lang="es-MX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  <a:sym typeface="Symbol" pitchFamily="18" charset="2"/>
                      </a:endParaRP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Y</a:t>
                      </a:r>
                      <a:r>
                        <a:rPr kumimoji="0" lang="es-MX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C &lt;= 6</a:t>
                      </a: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YD &lt;= 0      </a:t>
                      </a: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YE &lt;= 1</a:t>
                      </a:r>
                      <a:endParaRPr kumimoji="0" lang="es-MX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  <a:sym typeface="Symbol" pitchFamily="18" charset="2"/>
                      </a:endParaRP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YF &lt;=5</a:t>
                      </a:r>
                      <a:endParaRPr lang="es-MX" sz="1800" b="0" dirty="0">
                        <a:solidFill>
                          <a:srgbClr val="000000"/>
                        </a:solidFill>
                        <a:latin typeface="Arial" pitchFamily="34" charset="0"/>
                        <a:ea typeface="Times New Roman" pitchFamily="18" charset="0"/>
                        <a:cs typeface="Arial" pitchFamily="34" charset="0"/>
                        <a:sym typeface="Symbol" pitchFamily="18" charset="2"/>
                      </a:endParaRP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YG &lt;= 0</a:t>
                      </a:r>
                      <a:endParaRPr kumimoji="0" lang="es-MX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  <a:sym typeface="Symbol" pitchFamily="18" charset="2"/>
                      </a:endParaRP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YH &lt;= 5 </a:t>
                      </a: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YI</a:t>
                      </a:r>
                      <a:r>
                        <a:rPr kumimoji="0" lang="es-MX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 &lt;= 3</a:t>
                      </a: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YJ &lt;=7</a:t>
                      </a: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YK&lt;=6</a:t>
                      </a: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YL&lt;=4</a:t>
                      </a: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YM&lt;=3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  <a:sym typeface="Symbol" pitchFamily="18" charset="2"/>
                        </a:rPr>
                        <a:t>X0</a:t>
                      </a:r>
                      <a:r>
                        <a:rPr kumimoji="0" lang="es-MX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  <a:sym typeface="Symbol" pitchFamily="18" charset="2"/>
                        </a:rPr>
                        <a:t>=0</a:t>
                      </a: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X8</a:t>
                      </a:r>
                      <a:r>
                        <a:rPr kumimoji="0" lang="es-MX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= </a:t>
                      </a:r>
                      <a:r>
                        <a:rPr kumimoji="0" lang="es-P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22</a:t>
                      </a:r>
                      <a:endParaRPr lang="es-PE" sz="1800" dirty="0"/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X1</a:t>
                      </a:r>
                      <a:r>
                        <a:rPr kumimoji="0" lang="es-MX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 - X0 +  YA &gt;=6</a:t>
                      </a:r>
                    </a:p>
                    <a:p>
                      <a:pPr lvl="0" indent="450850" eaLnBrk="0" hangingPunct="0">
                        <a:tabLst>
                          <a:tab pos="630238" algn="l"/>
                        </a:tabLst>
                      </a:pPr>
                      <a:r>
                        <a:rPr lang="es-MX" sz="1800" b="0" dirty="0">
                          <a:solidFill>
                            <a:srgbClr val="000000"/>
                          </a:solidFill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X2 - X1 &gt;=0</a:t>
                      </a:r>
                      <a:r>
                        <a:rPr kumimoji="0" lang="es-MX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	</a:t>
                      </a:r>
                      <a:endParaRPr kumimoji="0" lang="es-PE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Symbol" pitchFamily="18" charset="2"/>
                      </a:endParaRP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X2 - X0 + YB &gt;=2</a:t>
                      </a:r>
                      <a:endParaRPr kumimoji="0" lang="es-PE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Symbol" pitchFamily="18" charset="2"/>
                      </a:endParaRP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X3 - X1 + YC&gt;= 6</a:t>
                      </a:r>
                      <a:endParaRPr kumimoji="0" lang="es-PE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Symbol" pitchFamily="18" charset="2"/>
                      </a:endParaRPr>
                    </a:p>
                    <a:p>
                      <a:pPr lvl="0" indent="450850" eaLnBrk="0" hangingPunct="0">
                        <a:tabLst>
                          <a:tab pos="630238" algn="l"/>
                        </a:tabLst>
                      </a:pPr>
                      <a:r>
                        <a:rPr lang="es-MX" sz="1800" b="0" dirty="0">
                          <a:solidFill>
                            <a:srgbClr val="000000"/>
                          </a:solidFill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X3 - X2 + YD</a:t>
                      </a:r>
                      <a:r>
                        <a:rPr kumimoji="0" lang="es-MX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&gt;=5</a:t>
                      </a:r>
                      <a:endParaRPr lang="es-MX" sz="1800" b="0" dirty="0">
                        <a:solidFill>
                          <a:srgbClr val="000000"/>
                        </a:solidFill>
                        <a:latin typeface="Arial" pitchFamily="34" charset="0"/>
                        <a:ea typeface="Times New Roman" pitchFamily="18" charset="0"/>
                        <a:cs typeface="Arial" pitchFamily="34" charset="0"/>
                        <a:sym typeface="Symbol" pitchFamily="18" charset="2"/>
                      </a:endParaRPr>
                    </a:p>
                    <a:p>
                      <a:pPr lvl="0" indent="450850" eaLnBrk="0" hangingPunct="0">
                        <a:tabLst>
                          <a:tab pos="630238" algn="l"/>
                        </a:tabLst>
                      </a:pPr>
                      <a:r>
                        <a:rPr kumimoji="0" lang="es-MX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X4 - X3 + YE&gt;=3	</a:t>
                      </a:r>
                      <a:endParaRPr kumimoji="0" lang="es-PE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Symbol" pitchFamily="18" charset="2"/>
                      </a:endParaRP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X5 - X0 + YG&gt;=8</a:t>
                      </a:r>
                      <a:endParaRPr kumimoji="0" lang="es-PE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Symbol" pitchFamily="18" charset="2"/>
                      </a:endParaRP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X6 - X4 + YF &gt;= 5,5	</a:t>
                      </a:r>
                      <a:endParaRPr kumimoji="0" lang="es-PE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Symbol" pitchFamily="18" charset="2"/>
                      </a:endParaRP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X6 - X5  +YH&gt;=6	</a:t>
                      </a: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X7 - X6 + YI &gt;=4,5</a:t>
                      </a:r>
                      <a:endParaRPr kumimoji="0" lang="es-PE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  <a:sym typeface="Symbol" pitchFamily="18" charset="2"/>
                      </a:endParaRPr>
                    </a:p>
                    <a:p>
                      <a:pPr marL="0" marR="0" lvl="0" indent="4508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kumimoji="0" lang="es-MX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Symbol" pitchFamily="18" charset="2"/>
                        </a:rPr>
                        <a:t>X8 - X7 + YJ&gt;=5</a:t>
                      </a:r>
                      <a:endParaRPr lang="es-PE" sz="1800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17552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41 Conector recto de flecha"/>
          <p:cNvCxnSpPr/>
          <p:nvPr/>
        </p:nvCxnSpPr>
        <p:spPr>
          <a:xfrm>
            <a:off x="3496445" y="3583717"/>
            <a:ext cx="642942" cy="238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51202" name="Oval 3"/>
          <p:cNvSpPr>
            <a:spLocks noChangeArrowheads="1"/>
          </p:cNvSpPr>
          <p:nvPr/>
        </p:nvSpPr>
        <p:spPr bwMode="auto">
          <a:xfrm>
            <a:off x="1703512" y="3274154"/>
            <a:ext cx="619100" cy="62388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0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1203" name="Oval 4"/>
          <p:cNvSpPr>
            <a:spLocks noChangeArrowheads="1"/>
          </p:cNvSpPr>
          <p:nvPr/>
        </p:nvSpPr>
        <p:spPr bwMode="auto">
          <a:xfrm>
            <a:off x="8458624" y="3274154"/>
            <a:ext cx="571504" cy="571504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6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1204" name="Oval 5"/>
          <p:cNvSpPr>
            <a:spLocks noChangeArrowheads="1"/>
          </p:cNvSpPr>
          <p:nvPr/>
        </p:nvSpPr>
        <p:spPr bwMode="auto">
          <a:xfrm>
            <a:off x="4141912" y="3274154"/>
            <a:ext cx="609592" cy="64294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2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1205" name="Oval 6"/>
          <p:cNvSpPr>
            <a:spLocks noChangeArrowheads="1"/>
          </p:cNvSpPr>
          <p:nvPr/>
        </p:nvSpPr>
        <p:spPr bwMode="auto">
          <a:xfrm>
            <a:off x="3036992" y="4417163"/>
            <a:ext cx="571504" cy="63816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3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1206" name="Oval 7"/>
          <p:cNvSpPr>
            <a:spLocks noChangeArrowheads="1"/>
          </p:cNvSpPr>
          <p:nvPr/>
        </p:nvSpPr>
        <p:spPr bwMode="auto">
          <a:xfrm>
            <a:off x="3014788" y="1916832"/>
            <a:ext cx="593709" cy="61754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1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1208" name="Oval 9"/>
          <p:cNvSpPr>
            <a:spLocks noChangeArrowheads="1"/>
          </p:cNvSpPr>
          <p:nvPr/>
        </p:nvSpPr>
        <p:spPr bwMode="auto">
          <a:xfrm>
            <a:off x="7048920" y="3297972"/>
            <a:ext cx="571504" cy="54768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6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1209" name="Oval 10"/>
          <p:cNvSpPr>
            <a:spLocks noChangeArrowheads="1"/>
          </p:cNvSpPr>
          <p:nvPr/>
        </p:nvSpPr>
        <p:spPr bwMode="auto">
          <a:xfrm>
            <a:off x="5631619" y="3331407"/>
            <a:ext cx="571504" cy="54768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4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1210" name="Line 11"/>
          <p:cNvSpPr>
            <a:spLocks noChangeShapeType="1"/>
          </p:cNvSpPr>
          <p:nvPr/>
        </p:nvSpPr>
        <p:spPr bwMode="auto">
          <a:xfrm>
            <a:off x="2251174" y="3845658"/>
            <a:ext cx="796629" cy="7143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1211" name="Line 12"/>
          <p:cNvSpPr>
            <a:spLocks noChangeShapeType="1"/>
          </p:cNvSpPr>
          <p:nvPr/>
        </p:nvSpPr>
        <p:spPr bwMode="auto">
          <a:xfrm flipV="1">
            <a:off x="2251174" y="2416898"/>
            <a:ext cx="785818" cy="93503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1212" name="Line 13"/>
          <p:cNvSpPr>
            <a:spLocks noChangeShapeType="1"/>
          </p:cNvSpPr>
          <p:nvPr/>
        </p:nvSpPr>
        <p:spPr bwMode="auto">
          <a:xfrm>
            <a:off x="3537058" y="2416898"/>
            <a:ext cx="857256" cy="857256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1213" name="Line 14"/>
          <p:cNvSpPr>
            <a:spLocks noChangeShapeType="1"/>
          </p:cNvSpPr>
          <p:nvPr/>
        </p:nvSpPr>
        <p:spPr bwMode="auto">
          <a:xfrm flipV="1">
            <a:off x="3608497" y="3902801"/>
            <a:ext cx="636587" cy="62548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1217" name="Line 18"/>
          <p:cNvSpPr>
            <a:spLocks noChangeShapeType="1"/>
          </p:cNvSpPr>
          <p:nvPr/>
        </p:nvSpPr>
        <p:spPr bwMode="auto">
          <a:xfrm>
            <a:off x="6192674" y="3625389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1219" name="Line 20"/>
          <p:cNvSpPr>
            <a:spLocks noChangeShapeType="1"/>
          </p:cNvSpPr>
          <p:nvPr/>
        </p:nvSpPr>
        <p:spPr bwMode="auto">
          <a:xfrm>
            <a:off x="3608496" y="4785939"/>
            <a:ext cx="199452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1220" name="Text Box 21"/>
          <p:cNvSpPr txBox="1">
            <a:spLocks noChangeArrowheads="1"/>
          </p:cNvSpPr>
          <p:nvPr/>
        </p:nvSpPr>
        <p:spPr bwMode="auto">
          <a:xfrm>
            <a:off x="2362191" y="2339115"/>
            <a:ext cx="44274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A5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1221" name="Text Box 22"/>
          <p:cNvSpPr txBox="1">
            <a:spLocks noChangeArrowheads="1"/>
          </p:cNvSpPr>
          <p:nvPr/>
        </p:nvSpPr>
        <p:spPr bwMode="auto">
          <a:xfrm>
            <a:off x="2605055" y="3131278"/>
            <a:ext cx="44274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B3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1223" name="Text Box 24"/>
          <p:cNvSpPr txBox="1">
            <a:spLocks noChangeArrowheads="1"/>
          </p:cNvSpPr>
          <p:nvPr/>
        </p:nvSpPr>
        <p:spPr bwMode="auto">
          <a:xfrm>
            <a:off x="2313691" y="4131410"/>
            <a:ext cx="45397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C4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1224" name="Text Box 25"/>
          <p:cNvSpPr txBox="1">
            <a:spLocks noChangeArrowheads="1"/>
          </p:cNvSpPr>
          <p:nvPr/>
        </p:nvSpPr>
        <p:spPr bwMode="auto">
          <a:xfrm>
            <a:off x="3742451" y="3131278"/>
            <a:ext cx="45397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D5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1225" name="Text Box 26"/>
          <p:cNvSpPr txBox="1">
            <a:spLocks noChangeArrowheads="1"/>
          </p:cNvSpPr>
          <p:nvPr/>
        </p:nvSpPr>
        <p:spPr bwMode="auto">
          <a:xfrm>
            <a:off x="4751505" y="3168198"/>
            <a:ext cx="9906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E4,33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1228" name="Text Box 29"/>
          <p:cNvSpPr txBox="1">
            <a:spLocks noChangeArrowheads="1"/>
          </p:cNvSpPr>
          <p:nvPr/>
        </p:nvSpPr>
        <p:spPr bwMode="auto">
          <a:xfrm>
            <a:off x="6396811" y="3108636"/>
            <a:ext cx="42992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F6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1229" name="Text Box 30"/>
          <p:cNvSpPr txBox="1">
            <a:spLocks noChangeArrowheads="1"/>
          </p:cNvSpPr>
          <p:nvPr/>
        </p:nvSpPr>
        <p:spPr bwMode="auto">
          <a:xfrm>
            <a:off x="4857303" y="4845790"/>
            <a:ext cx="63991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G4,5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116767" name="Rectangle 31"/>
          <p:cNvSpPr>
            <a:spLocks noChangeArrowheads="1"/>
          </p:cNvSpPr>
          <p:nvPr/>
        </p:nvSpPr>
        <p:spPr bwMode="auto">
          <a:xfrm>
            <a:off x="6096000" y="162522"/>
            <a:ext cx="6084992" cy="749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spcFirstLastPara="1"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5800"/>
              </a:lnSpc>
              <a:spcBef>
                <a:spcPct val="0"/>
              </a:spcBef>
            </a:pPr>
            <a:r>
              <a:rPr lang="es-MX" sz="3200" dirty="0">
                <a:solidFill>
                  <a:schemeClr val="bg1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Bauhaus 93" pitchFamily="82" charset="0"/>
              </a:rPr>
              <a:t>Red del ejercicio 10.10</a:t>
            </a:r>
            <a:endParaRPr lang="es-ES" sz="3200" dirty="0">
              <a:solidFill>
                <a:schemeClr val="bg1"/>
              </a:solidFill>
              <a:effectLst>
                <a:outerShdw blurRad="63500" dist="38100" dir="5400000" algn="t" rotWithShape="0">
                  <a:prstClr val="black">
                    <a:alpha val="25000"/>
                  </a:prstClr>
                </a:outerShdw>
              </a:effectLst>
              <a:latin typeface="Bauhaus 93" pitchFamily="82" charset="0"/>
            </a:endParaRPr>
          </a:p>
        </p:txBody>
      </p:sp>
      <p:sp>
        <p:nvSpPr>
          <p:cNvPr id="2" name="1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ANIVAL TORRE</a:t>
            </a:r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7123F-EA94-4AF6-90FD-8402484B591B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33" name="Oval 4"/>
          <p:cNvSpPr>
            <a:spLocks noChangeArrowheads="1"/>
          </p:cNvSpPr>
          <p:nvPr/>
        </p:nvSpPr>
        <p:spPr bwMode="auto">
          <a:xfrm>
            <a:off x="5608760" y="4417162"/>
            <a:ext cx="571504" cy="571504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6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34" name="Oval 4"/>
          <p:cNvSpPr>
            <a:spLocks noChangeArrowheads="1"/>
          </p:cNvSpPr>
          <p:nvPr/>
        </p:nvSpPr>
        <p:spPr bwMode="auto">
          <a:xfrm>
            <a:off x="9834393" y="3274154"/>
            <a:ext cx="571504" cy="571504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6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37" name="Text Box 30"/>
          <p:cNvSpPr txBox="1">
            <a:spLocks noChangeArrowheads="1"/>
          </p:cNvSpPr>
          <p:nvPr/>
        </p:nvSpPr>
        <p:spPr bwMode="auto">
          <a:xfrm>
            <a:off x="6559885" y="4329205"/>
            <a:ext cx="45397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H6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38" name="Text Box 30"/>
          <p:cNvSpPr txBox="1">
            <a:spLocks noChangeArrowheads="1"/>
          </p:cNvSpPr>
          <p:nvPr/>
        </p:nvSpPr>
        <p:spPr bwMode="auto">
          <a:xfrm>
            <a:off x="7859826" y="3143239"/>
            <a:ext cx="35939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I4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32" name="Oval 10"/>
          <p:cNvSpPr>
            <a:spLocks noChangeArrowheads="1"/>
          </p:cNvSpPr>
          <p:nvPr/>
        </p:nvSpPr>
        <p:spPr bwMode="auto">
          <a:xfrm>
            <a:off x="2965554" y="3274154"/>
            <a:ext cx="642942" cy="62864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4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45" name="Line 13"/>
          <p:cNvSpPr>
            <a:spLocks noChangeShapeType="1"/>
          </p:cNvSpPr>
          <p:nvPr/>
        </p:nvSpPr>
        <p:spPr bwMode="auto">
          <a:xfrm>
            <a:off x="5917372" y="3879094"/>
            <a:ext cx="0" cy="538069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46" name="Line 20"/>
          <p:cNvSpPr>
            <a:spLocks noChangeShapeType="1"/>
          </p:cNvSpPr>
          <p:nvPr/>
        </p:nvSpPr>
        <p:spPr bwMode="auto">
          <a:xfrm flipV="1">
            <a:off x="6140960" y="3768265"/>
            <a:ext cx="967032" cy="86916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48" name="Line 18"/>
          <p:cNvSpPr>
            <a:spLocks noChangeShapeType="1"/>
          </p:cNvSpPr>
          <p:nvPr/>
        </p:nvSpPr>
        <p:spPr bwMode="auto">
          <a:xfrm>
            <a:off x="7620424" y="3612438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cxnSp>
        <p:nvCxnSpPr>
          <p:cNvPr id="50" name="49 Conector recto de flecha"/>
          <p:cNvCxnSpPr/>
          <p:nvPr/>
        </p:nvCxnSpPr>
        <p:spPr bwMode="auto">
          <a:xfrm>
            <a:off x="9030128" y="3619435"/>
            <a:ext cx="79301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2" name="Text Box 30"/>
          <p:cNvSpPr txBox="1">
            <a:spLocks noChangeArrowheads="1"/>
          </p:cNvSpPr>
          <p:nvPr/>
        </p:nvSpPr>
        <p:spPr bwMode="auto">
          <a:xfrm>
            <a:off x="9193130" y="3107122"/>
            <a:ext cx="40748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J2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3" name="Text Box 30"/>
          <p:cNvSpPr txBox="1">
            <a:spLocks noChangeArrowheads="1"/>
          </p:cNvSpPr>
          <p:nvPr/>
        </p:nvSpPr>
        <p:spPr bwMode="auto">
          <a:xfrm>
            <a:off x="1976197" y="5420975"/>
            <a:ext cx="922980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MX" sz="2800" dirty="0">
                <a:latin typeface="Arial Narrow" pitchFamily="34" charset="0"/>
              </a:rPr>
              <a:t>Rutas críticas: BDEFIJ/BDEHIJ,  Duración: 24,33,  DS=1,8357</a:t>
            </a:r>
            <a:endParaRPr lang="es-ES" sz="2800" dirty="0">
              <a:latin typeface="Arial Narrow" pitchFamily="34" charset="0"/>
            </a:endParaRPr>
          </a:p>
        </p:txBody>
      </p:sp>
      <p:sp>
        <p:nvSpPr>
          <p:cNvPr id="47" name="Line 18"/>
          <p:cNvSpPr>
            <a:spLocks noChangeShapeType="1"/>
          </p:cNvSpPr>
          <p:nvPr/>
        </p:nvSpPr>
        <p:spPr bwMode="auto">
          <a:xfrm>
            <a:off x="4764820" y="3619435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cxnSp>
        <p:nvCxnSpPr>
          <p:cNvPr id="5" name="4 Conector recto de flecha"/>
          <p:cNvCxnSpPr>
            <a:stCxn id="51202" idx="6"/>
            <a:endCxn id="32" idx="2"/>
          </p:cNvCxnSpPr>
          <p:nvPr/>
        </p:nvCxnSpPr>
        <p:spPr>
          <a:xfrm>
            <a:off x="2322612" y="3586098"/>
            <a:ext cx="642942" cy="238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498231800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Oval 3"/>
          <p:cNvSpPr>
            <a:spLocks noChangeArrowheads="1"/>
          </p:cNvSpPr>
          <p:nvPr/>
        </p:nvSpPr>
        <p:spPr bwMode="auto">
          <a:xfrm>
            <a:off x="1991544" y="3886419"/>
            <a:ext cx="532556" cy="56516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0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1203" name="Oval 4"/>
          <p:cNvSpPr>
            <a:spLocks noChangeArrowheads="1"/>
          </p:cNvSpPr>
          <p:nvPr/>
        </p:nvSpPr>
        <p:spPr bwMode="auto">
          <a:xfrm>
            <a:off x="7567840" y="3951512"/>
            <a:ext cx="571504" cy="571504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6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1204" name="Oval 5"/>
          <p:cNvSpPr>
            <a:spLocks noChangeArrowheads="1"/>
          </p:cNvSpPr>
          <p:nvPr/>
        </p:nvSpPr>
        <p:spPr bwMode="auto">
          <a:xfrm>
            <a:off x="6238877" y="1526996"/>
            <a:ext cx="561677" cy="567129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2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1205" name="Oval 6"/>
          <p:cNvSpPr>
            <a:spLocks noChangeArrowheads="1"/>
          </p:cNvSpPr>
          <p:nvPr/>
        </p:nvSpPr>
        <p:spPr bwMode="auto">
          <a:xfrm>
            <a:off x="3238480" y="5023084"/>
            <a:ext cx="571504" cy="63816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3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1206" name="Oval 7"/>
          <p:cNvSpPr>
            <a:spLocks noChangeArrowheads="1"/>
          </p:cNvSpPr>
          <p:nvPr/>
        </p:nvSpPr>
        <p:spPr bwMode="auto">
          <a:xfrm>
            <a:off x="3287714" y="2847395"/>
            <a:ext cx="593709" cy="575534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1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1208" name="Oval 9"/>
          <p:cNvSpPr>
            <a:spLocks noChangeArrowheads="1"/>
          </p:cNvSpPr>
          <p:nvPr/>
        </p:nvSpPr>
        <p:spPr bwMode="auto">
          <a:xfrm>
            <a:off x="6229049" y="2846827"/>
            <a:ext cx="571504" cy="54768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6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1209" name="Oval 10"/>
          <p:cNvSpPr>
            <a:spLocks noChangeArrowheads="1"/>
          </p:cNvSpPr>
          <p:nvPr/>
        </p:nvSpPr>
        <p:spPr bwMode="auto">
          <a:xfrm>
            <a:off x="4810116" y="1526996"/>
            <a:ext cx="571504" cy="56275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4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1210" name="Line 11"/>
          <p:cNvSpPr>
            <a:spLocks noChangeShapeType="1"/>
          </p:cNvSpPr>
          <p:nvPr/>
        </p:nvSpPr>
        <p:spPr bwMode="auto">
          <a:xfrm>
            <a:off x="2414886" y="4451579"/>
            <a:ext cx="823594" cy="7143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1211" name="Line 12"/>
          <p:cNvSpPr>
            <a:spLocks noChangeShapeType="1"/>
          </p:cNvSpPr>
          <p:nvPr/>
        </p:nvSpPr>
        <p:spPr bwMode="auto">
          <a:xfrm flipV="1">
            <a:off x="2452662" y="3222874"/>
            <a:ext cx="857256" cy="73498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1212" name="Line 13"/>
          <p:cNvSpPr>
            <a:spLocks noChangeShapeType="1"/>
          </p:cNvSpPr>
          <p:nvPr/>
        </p:nvSpPr>
        <p:spPr bwMode="auto">
          <a:xfrm flipV="1">
            <a:off x="3584567" y="2094125"/>
            <a:ext cx="11103" cy="773909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1215" name="Line 16"/>
          <p:cNvSpPr>
            <a:spLocks noChangeShapeType="1"/>
          </p:cNvSpPr>
          <p:nvPr/>
        </p:nvSpPr>
        <p:spPr bwMode="auto">
          <a:xfrm>
            <a:off x="3738546" y="1736935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1217" name="Line 18"/>
          <p:cNvSpPr>
            <a:spLocks noChangeShapeType="1"/>
          </p:cNvSpPr>
          <p:nvPr/>
        </p:nvSpPr>
        <p:spPr bwMode="auto">
          <a:xfrm>
            <a:off x="5453058" y="1736935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1219" name="Line 20"/>
          <p:cNvSpPr>
            <a:spLocks noChangeShapeType="1"/>
          </p:cNvSpPr>
          <p:nvPr/>
        </p:nvSpPr>
        <p:spPr bwMode="auto">
          <a:xfrm flipV="1">
            <a:off x="3809984" y="3329073"/>
            <a:ext cx="2428892" cy="183688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1220" name="Text Box 21"/>
          <p:cNvSpPr txBox="1">
            <a:spLocks noChangeArrowheads="1"/>
          </p:cNvSpPr>
          <p:nvPr/>
        </p:nvSpPr>
        <p:spPr bwMode="auto">
          <a:xfrm>
            <a:off x="2446042" y="2379877"/>
            <a:ext cx="73449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A5,17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1221" name="Text Box 22"/>
          <p:cNvSpPr txBox="1">
            <a:spLocks noChangeArrowheads="1"/>
          </p:cNvSpPr>
          <p:nvPr/>
        </p:nvSpPr>
        <p:spPr bwMode="auto">
          <a:xfrm>
            <a:off x="2728031" y="3057582"/>
            <a:ext cx="50045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 err="1">
                <a:latin typeface="Arial Narrow" pitchFamily="34" charset="0"/>
              </a:rPr>
              <a:t>B,3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1223" name="Text Box 24"/>
          <p:cNvSpPr txBox="1">
            <a:spLocks noChangeArrowheads="1"/>
          </p:cNvSpPr>
          <p:nvPr/>
        </p:nvSpPr>
        <p:spPr bwMode="auto">
          <a:xfrm>
            <a:off x="3512002" y="3665761"/>
            <a:ext cx="74571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C6,67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1224" name="Text Box 25"/>
          <p:cNvSpPr txBox="1">
            <a:spLocks noChangeArrowheads="1"/>
          </p:cNvSpPr>
          <p:nvPr/>
        </p:nvSpPr>
        <p:spPr bwMode="auto">
          <a:xfrm>
            <a:off x="2414886" y="4665893"/>
            <a:ext cx="51168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 err="1">
                <a:latin typeface="Arial Narrow" pitchFamily="34" charset="0"/>
              </a:rPr>
              <a:t>D,3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1225" name="Text Box 26"/>
          <p:cNvSpPr txBox="1">
            <a:spLocks noChangeArrowheads="1"/>
          </p:cNvSpPr>
          <p:nvPr/>
        </p:nvSpPr>
        <p:spPr bwMode="auto">
          <a:xfrm>
            <a:off x="3738546" y="1236869"/>
            <a:ext cx="107157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E4,67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1228" name="Text Box 29"/>
          <p:cNvSpPr txBox="1">
            <a:spLocks noChangeArrowheads="1"/>
          </p:cNvSpPr>
          <p:nvPr/>
        </p:nvSpPr>
        <p:spPr bwMode="auto">
          <a:xfrm>
            <a:off x="5498281" y="1259880"/>
            <a:ext cx="72167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F6,17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1229" name="Text Box 30"/>
          <p:cNvSpPr txBox="1">
            <a:spLocks noChangeArrowheads="1"/>
          </p:cNvSpPr>
          <p:nvPr/>
        </p:nvSpPr>
        <p:spPr bwMode="auto">
          <a:xfrm>
            <a:off x="6800554" y="2094125"/>
            <a:ext cx="75693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G4,83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116767" name="Rectangle 31"/>
          <p:cNvSpPr>
            <a:spLocks noChangeArrowheads="1"/>
          </p:cNvSpPr>
          <p:nvPr/>
        </p:nvSpPr>
        <p:spPr bwMode="auto">
          <a:xfrm>
            <a:off x="6096000" y="87379"/>
            <a:ext cx="6043840" cy="610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spcFirstLastPara="1"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5800"/>
              </a:lnSpc>
              <a:spcBef>
                <a:spcPct val="0"/>
              </a:spcBef>
            </a:pPr>
            <a:r>
              <a:rPr lang="es-MX" sz="3200" dirty="0">
                <a:solidFill>
                  <a:schemeClr val="bg1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Bauhaus 93" pitchFamily="82" charset="0"/>
              </a:rPr>
              <a:t>Red del ejercicio 10.10</a:t>
            </a:r>
            <a:endParaRPr lang="es-ES" sz="3200" dirty="0">
              <a:solidFill>
                <a:schemeClr val="bg1"/>
              </a:solidFill>
              <a:effectLst>
                <a:outerShdw blurRad="63500" dist="38100" dir="5400000" algn="t" rotWithShape="0">
                  <a:prstClr val="black">
                    <a:alpha val="25000"/>
                  </a:prstClr>
                </a:outerShdw>
              </a:effectLst>
              <a:latin typeface="Bauhaus 93" pitchFamily="82" charset="0"/>
            </a:endParaRPr>
          </a:p>
        </p:txBody>
      </p:sp>
      <p:sp>
        <p:nvSpPr>
          <p:cNvPr id="2" name="1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ANIVAL TORRE</a:t>
            </a:r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7123F-EA94-4AF6-90FD-8402484B591B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34" name="Oval 4"/>
          <p:cNvSpPr>
            <a:spLocks noChangeArrowheads="1"/>
          </p:cNvSpPr>
          <p:nvPr/>
        </p:nvSpPr>
        <p:spPr bwMode="auto">
          <a:xfrm>
            <a:off x="9382148" y="3957856"/>
            <a:ext cx="571504" cy="571504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6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37" name="Text Box 30"/>
          <p:cNvSpPr txBox="1">
            <a:spLocks noChangeArrowheads="1"/>
          </p:cNvSpPr>
          <p:nvPr/>
        </p:nvSpPr>
        <p:spPr bwMode="auto">
          <a:xfrm>
            <a:off x="4797886" y="4523017"/>
            <a:ext cx="74571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H2,17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38" name="Text Box 30"/>
          <p:cNvSpPr txBox="1">
            <a:spLocks noChangeArrowheads="1"/>
          </p:cNvSpPr>
          <p:nvPr/>
        </p:nvSpPr>
        <p:spPr bwMode="auto">
          <a:xfrm>
            <a:off x="7208446" y="3022819"/>
            <a:ext cx="35939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I4</a:t>
            </a:r>
            <a:endParaRPr lang="es-ES" sz="2000" dirty="0">
              <a:latin typeface="Arial Narrow" pitchFamily="34" charset="0"/>
            </a:endParaRPr>
          </a:p>
        </p:txBody>
      </p:sp>
      <p:cxnSp>
        <p:nvCxnSpPr>
          <p:cNvPr id="41" name="40 Conector recto de flecha"/>
          <p:cNvCxnSpPr/>
          <p:nvPr/>
        </p:nvCxnSpPr>
        <p:spPr bwMode="auto">
          <a:xfrm>
            <a:off x="2524100" y="4237265"/>
            <a:ext cx="4996910" cy="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8" name="Line 18"/>
          <p:cNvSpPr>
            <a:spLocks noChangeShapeType="1"/>
          </p:cNvSpPr>
          <p:nvPr/>
        </p:nvSpPr>
        <p:spPr bwMode="auto">
          <a:xfrm>
            <a:off x="6519715" y="2089749"/>
            <a:ext cx="11429" cy="75707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cxnSp>
        <p:nvCxnSpPr>
          <p:cNvPr id="50" name="49 Conector recto de flecha"/>
          <p:cNvCxnSpPr/>
          <p:nvPr/>
        </p:nvCxnSpPr>
        <p:spPr bwMode="auto">
          <a:xfrm>
            <a:off x="8153066" y="4267385"/>
            <a:ext cx="1143008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2" name="Text Box 30"/>
          <p:cNvSpPr txBox="1">
            <a:spLocks noChangeArrowheads="1"/>
          </p:cNvSpPr>
          <p:nvPr/>
        </p:nvSpPr>
        <p:spPr bwMode="auto">
          <a:xfrm>
            <a:off x="8724571" y="3522885"/>
            <a:ext cx="69922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J5,17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3" name="Text Box 30"/>
          <p:cNvSpPr txBox="1">
            <a:spLocks noChangeArrowheads="1"/>
          </p:cNvSpPr>
          <p:nvPr/>
        </p:nvSpPr>
        <p:spPr bwMode="auto">
          <a:xfrm>
            <a:off x="4274331" y="5440671"/>
            <a:ext cx="719767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800" dirty="0">
                <a:latin typeface="Arial Narrow" pitchFamily="34" charset="0"/>
              </a:rPr>
              <a:t>Rutas críticas: AEFGIJ,  Duración: 30,01,  DS=1,7950</a:t>
            </a:r>
            <a:endParaRPr lang="es-ES" sz="2800" dirty="0">
              <a:latin typeface="Arial Narrow" pitchFamily="34" charset="0"/>
            </a:endParaRPr>
          </a:p>
        </p:txBody>
      </p:sp>
      <p:sp>
        <p:nvSpPr>
          <p:cNvPr id="39" name="Oval 6"/>
          <p:cNvSpPr>
            <a:spLocks noChangeArrowheads="1"/>
          </p:cNvSpPr>
          <p:nvPr/>
        </p:nvSpPr>
        <p:spPr bwMode="auto">
          <a:xfrm>
            <a:off x="3309918" y="1526996"/>
            <a:ext cx="571504" cy="56275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3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40" name="Line 12"/>
          <p:cNvSpPr>
            <a:spLocks noChangeShapeType="1"/>
          </p:cNvSpPr>
          <p:nvPr/>
        </p:nvSpPr>
        <p:spPr bwMode="auto">
          <a:xfrm flipV="1">
            <a:off x="2309786" y="1988840"/>
            <a:ext cx="1000132" cy="189757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1" name="Line 18"/>
          <p:cNvSpPr>
            <a:spLocks noChangeShapeType="1"/>
          </p:cNvSpPr>
          <p:nvPr/>
        </p:nvSpPr>
        <p:spPr bwMode="auto">
          <a:xfrm>
            <a:off x="6741399" y="3329074"/>
            <a:ext cx="875244" cy="73679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4154847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524000" y="450604"/>
            <a:ext cx="9144000" cy="785794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spcFirstLastPara="1"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s-MX" sz="3200" dirty="0">
                <a:solidFill>
                  <a:schemeClr val="bg1"/>
                </a:solidFill>
                <a:latin typeface="Bauhaus 93" pitchFamily="82" charset="0"/>
                <a:ea typeface="+mn-ea"/>
                <a:cs typeface="+mn-cs"/>
              </a:rPr>
              <a:t>Red del 10.12</a:t>
            </a:r>
            <a:endParaRPr lang="es-ES" sz="3200" dirty="0">
              <a:solidFill>
                <a:schemeClr val="bg1"/>
              </a:solidFill>
              <a:latin typeface="Bauhaus 93" pitchFamily="82" charset="0"/>
              <a:ea typeface="+mn-ea"/>
              <a:cs typeface="+mn-cs"/>
            </a:endParaRPr>
          </a:p>
        </p:txBody>
      </p:sp>
      <p:sp>
        <p:nvSpPr>
          <p:cNvPr id="52227" name="Oval 3">
            <a:hlinkHover r:id="" action="ppaction://noaction">
              <a:snd r:embed="rId3" name="gunshot.wav"/>
            </a:hlinkHover>
          </p:cNvPr>
          <p:cNvSpPr>
            <a:spLocks noChangeArrowheads="1"/>
          </p:cNvSpPr>
          <p:nvPr/>
        </p:nvSpPr>
        <p:spPr bwMode="auto">
          <a:xfrm>
            <a:off x="1578541" y="3700677"/>
            <a:ext cx="914400" cy="914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X0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28" name="Oval 4"/>
          <p:cNvSpPr>
            <a:spLocks noChangeArrowheads="1"/>
          </p:cNvSpPr>
          <p:nvPr/>
        </p:nvSpPr>
        <p:spPr bwMode="auto">
          <a:xfrm>
            <a:off x="5515313" y="3851357"/>
            <a:ext cx="914400" cy="914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X6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29" name="Oval 5"/>
          <p:cNvSpPr>
            <a:spLocks noChangeArrowheads="1"/>
          </p:cNvSpPr>
          <p:nvPr/>
        </p:nvSpPr>
        <p:spPr bwMode="auto">
          <a:xfrm>
            <a:off x="5417861" y="1353348"/>
            <a:ext cx="914400" cy="914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X4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30" name="Oval 6"/>
          <p:cNvSpPr>
            <a:spLocks noChangeArrowheads="1"/>
          </p:cNvSpPr>
          <p:nvPr/>
        </p:nvSpPr>
        <p:spPr bwMode="auto">
          <a:xfrm>
            <a:off x="7824192" y="3740597"/>
            <a:ext cx="914400" cy="914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X7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31" name="Oval 7"/>
          <p:cNvSpPr>
            <a:spLocks noChangeArrowheads="1"/>
          </p:cNvSpPr>
          <p:nvPr/>
        </p:nvSpPr>
        <p:spPr bwMode="auto">
          <a:xfrm>
            <a:off x="3683478" y="5682952"/>
            <a:ext cx="914400" cy="914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X5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32" name="Oval 8"/>
          <p:cNvSpPr>
            <a:spLocks noChangeArrowheads="1"/>
          </p:cNvSpPr>
          <p:nvPr/>
        </p:nvSpPr>
        <p:spPr bwMode="auto">
          <a:xfrm>
            <a:off x="3653299" y="1318398"/>
            <a:ext cx="914400" cy="914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X2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33" name="Oval 9"/>
          <p:cNvSpPr>
            <a:spLocks noChangeArrowheads="1"/>
          </p:cNvSpPr>
          <p:nvPr/>
        </p:nvSpPr>
        <p:spPr bwMode="auto">
          <a:xfrm>
            <a:off x="5447963" y="2636912"/>
            <a:ext cx="914400" cy="914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X3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34" name="Oval 10"/>
          <p:cNvSpPr>
            <a:spLocks noChangeArrowheads="1"/>
          </p:cNvSpPr>
          <p:nvPr/>
        </p:nvSpPr>
        <p:spPr bwMode="auto">
          <a:xfrm>
            <a:off x="3616679" y="3674795"/>
            <a:ext cx="914400" cy="914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X1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35" name="Oval 11"/>
          <p:cNvSpPr>
            <a:spLocks noChangeArrowheads="1"/>
          </p:cNvSpPr>
          <p:nvPr/>
        </p:nvSpPr>
        <p:spPr bwMode="auto">
          <a:xfrm>
            <a:off x="9696400" y="3774881"/>
            <a:ext cx="914400" cy="914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X8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36" name="Line 12"/>
          <p:cNvSpPr>
            <a:spLocks noChangeShapeType="1"/>
          </p:cNvSpPr>
          <p:nvPr/>
        </p:nvSpPr>
        <p:spPr bwMode="auto">
          <a:xfrm flipV="1">
            <a:off x="4073880" y="2204864"/>
            <a:ext cx="5897" cy="1469931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2237" name="Line 13"/>
          <p:cNvSpPr>
            <a:spLocks noChangeShapeType="1"/>
          </p:cNvSpPr>
          <p:nvPr/>
        </p:nvSpPr>
        <p:spPr bwMode="auto">
          <a:xfrm>
            <a:off x="4073880" y="4618942"/>
            <a:ext cx="0" cy="1064011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2242" name="Line 18"/>
          <p:cNvSpPr>
            <a:spLocks noChangeShapeType="1"/>
          </p:cNvSpPr>
          <p:nvPr/>
        </p:nvSpPr>
        <p:spPr bwMode="auto">
          <a:xfrm>
            <a:off x="4400367" y="2148242"/>
            <a:ext cx="1082142" cy="71438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2243" name="Line 19"/>
          <p:cNvSpPr>
            <a:spLocks noChangeShapeType="1"/>
          </p:cNvSpPr>
          <p:nvPr/>
        </p:nvSpPr>
        <p:spPr bwMode="auto">
          <a:xfrm flipV="1">
            <a:off x="4567699" y="1791051"/>
            <a:ext cx="850163" cy="1301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2246" name="Line 22"/>
          <p:cNvSpPr>
            <a:spLocks noChangeShapeType="1"/>
          </p:cNvSpPr>
          <p:nvPr/>
        </p:nvSpPr>
        <p:spPr bwMode="auto">
          <a:xfrm flipV="1">
            <a:off x="4597879" y="4539673"/>
            <a:ext cx="3355510" cy="1413021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2247" name="Text Box 23"/>
          <p:cNvSpPr txBox="1">
            <a:spLocks noChangeArrowheads="1"/>
          </p:cNvSpPr>
          <p:nvPr/>
        </p:nvSpPr>
        <p:spPr bwMode="auto">
          <a:xfrm>
            <a:off x="2545746" y="3597845"/>
            <a:ext cx="32573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A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48" name="Text Box 24"/>
          <p:cNvSpPr txBox="1">
            <a:spLocks noChangeArrowheads="1"/>
          </p:cNvSpPr>
          <p:nvPr/>
        </p:nvSpPr>
        <p:spPr bwMode="auto">
          <a:xfrm>
            <a:off x="3077223" y="2719753"/>
            <a:ext cx="32573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B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49" name="Text Box 25"/>
          <p:cNvSpPr txBox="1">
            <a:spLocks noChangeArrowheads="1"/>
          </p:cNvSpPr>
          <p:nvPr/>
        </p:nvSpPr>
        <p:spPr bwMode="auto">
          <a:xfrm>
            <a:off x="4757511" y="1245913"/>
            <a:ext cx="33695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C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50" name="Text Box 26"/>
          <p:cNvSpPr txBox="1">
            <a:spLocks noChangeArrowheads="1"/>
          </p:cNvSpPr>
          <p:nvPr/>
        </p:nvSpPr>
        <p:spPr bwMode="auto">
          <a:xfrm>
            <a:off x="4961253" y="2196009"/>
            <a:ext cx="33695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D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52" name="Text Box 28"/>
          <p:cNvSpPr txBox="1">
            <a:spLocks noChangeArrowheads="1"/>
          </p:cNvSpPr>
          <p:nvPr/>
        </p:nvSpPr>
        <p:spPr bwMode="auto">
          <a:xfrm>
            <a:off x="6563685" y="3661431"/>
            <a:ext cx="34817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G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53" name="Text Box 29"/>
          <p:cNvSpPr txBox="1">
            <a:spLocks noChangeArrowheads="1"/>
          </p:cNvSpPr>
          <p:nvPr/>
        </p:nvSpPr>
        <p:spPr bwMode="auto">
          <a:xfrm>
            <a:off x="9162608" y="3747789"/>
            <a:ext cx="32573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K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55" name="Text Box 31"/>
          <p:cNvSpPr txBox="1">
            <a:spLocks noChangeArrowheads="1"/>
          </p:cNvSpPr>
          <p:nvPr/>
        </p:nvSpPr>
        <p:spPr bwMode="auto">
          <a:xfrm>
            <a:off x="6829609" y="5105234"/>
            <a:ext cx="33695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H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57" name="Text Box 33"/>
          <p:cNvSpPr txBox="1">
            <a:spLocks noChangeArrowheads="1"/>
          </p:cNvSpPr>
          <p:nvPr/>
        </p:nvSpPr>
        <p:spPr bwMode="auto">
          <a:xfrm>
            <a:off x="2912914" y="2258088"/>
            <a:ext cx="65434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8-YB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58" name="Text Box 34"/>
          <p:cNvSpPr txBox="1">
            <a:spLocks noChangeArrowheads="1"/>
          </p:cNvSpPr>
          <p:nvPr/>
        </p:nvSpPr>
        <p:spPr bwMode="auto">
          <a:xfrm>
            <a:off x="3270401" y="5105234"/>
            <a:ext cx="65434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6-YE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60" name="Text Box 36"/>
          <p:cNvSpPr txBox="1">
            <a:spLocks noChangeArrowheads="1"/>
          </p:cNvSpPr>
          <p:nvPr/>
        </p:nvSpPr>
        <p:spPr bwMode="auto">
          <a:xfrm>
            <a:off x="6150400" y="5452119"/>
            <a:ext cx="66556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5-YH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61" name="Text Box 37"/>
          <p:cNvSpPr txBox="1">
            <a:spLocks noChangeArrowheads="1"/>
          </p:cNvSpPr>
          <p:nvPr/>
        </p:nvSpPr>
        <p:spPr bwMode="auto">
          <a:xfrm>
            <a:off x="6638954" y="4339619"/>
            <a:ext cx="67678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5-YG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62" name="Text Box 38"/>
          <p:cNvSpPr txBox="1">
            <a:spLocks noChangeArrowheads="1"/>
          </p:cNvSpPr>
          <p:nvPr/>
        </p:nvSpPr>
        <p:spPr bwMode="auto">
          <a:xfrm>
            <a:off x="8998299" y="4467295"/>
            <a:ext cx="65434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8-YK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64" name="Text Box 40"/>
          <p:cNvSpPr txBox="1">
            <a:spLocks noChangeArrowheads="1"/>
          </p:cNvSpPr>
          <p:nvPr/>
        </p:nvSpPr>
        <p:spPr bwMode="auto">
          <a:xfrm>
            <a:off x="7031570" y="2360331"/>
            <a:ext cx="64152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7-YF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65" name="Text Box 41"/>
          <p:cNvSpPr txBox="1">
            <a:spLocks noChangeArrowheads="1"/>
          </p:cNvSpPr>
          <p:nvPr/>
        </p:nvSpPr>
        <p:spPr bwMode="auto">
          <a:xfrm>
            <a:off x="4645990" y="1748132"/>
            <a:ext cx="66556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2-YC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66" name="Text Box 42"/>
          <p:cNvSpPr txBox="1">
            <a:spLocks noChangeArrowheads="1"/>
          </p:cNvSpPr>
          <p:nvPr/>
        </p:nvSpPr>
        <p:spPr bwMode="auto">
          <a:xfrm>
            <a:off x="4388868" y="2631789"/>
            <a:ext cx="66556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6-YD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67" name="Line 43"/>
          <p:cNvSpPr>
            <a:spLocks noChangeShapeType="1"/>
          </p:cNvSpPr>
          <p:nvPr/>
        </p:nvSpPr>
        <p:spPr bwMode="auto">
          <a:xfrm>
            <a:off x="5875061" y="3505565"/>
            <a:ext cx="0" cy="390227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2268" name="Text Box 44"/>
          <p:cNvSpPr txBox="1">
            <a:spLocks noChangeArrowheads="1"/>
          </p:cNvSpPr>
          <p:nvPr/>
        </p:nvSpPr>
        <p:spPr bwMode="auto">
          <a:xfrm>
            <a:off x="2093884" y="1637098"/>
            <a:ext cx="101502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Figurado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2" name="1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ANIVAL TORRE</a:t>
            </a:r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7123F-EA94-4AF6-90FD-8402484B591B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47" name="2 Marcador de contenido"/>
          <p:cNvSpPr txBox="1">
            <a:spLocks/>
          </p:cNvSpPr>
          <p:nvPr/>
        </p:nvSpPr>
        <p:spPr>
          <a:xfrm>
            <a:off x="7953387" y="1648177"/>
            <a:ext cx="4154741" cy="1127839"/>
          </a:xfrm>
          <a:prstGeom prst="rect">
            <a:avLst/>
          </a:prstGeom>
          <a:solidFill>
            <a:srgbClr val="FFFF00"/>
          </a:solidFill>
        </p:spPr>
        <p:txBody>
          <a:bodyPr/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defRPr/>
            </a:pPr>
            <a:r>
              <a:rPr lang="es-PE" sz="2800" kern="0" dirty="0">
                <a:solidFill>
                  <a:srgbClr val="FF0000"/>
                </a:solidFill>
                <a:latin typeface="Arial Narrow" pitchFamily="34" charset="0"/>
              </a:rPr>
              <a:t>RESPUESTA: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defRPr/>
            </a:pPr>
            <a:r>
              <a:rPr lang="es-PE" sz="2800" kern="0" dirty="0">
                <a:solidFill>
                  <a:srgbClr val="FF0000"/>
                </a:solidFill>
                <a:latin typeface="Arial Narrow" pitchFamily="34" charset="0"/>
              </a:rPr>
              <a:t>Duración del proyecto: 34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defRPr/>
            </a:pPr>
            <a:r>
              <a:rPr lang="es-PE" sz="2800" kern="0" dirty="0">
                <a:solidFill>
                  <a:srgbClr val="FF0000"/>
                </a:solidFill>
                <a:latin typeface="Arial Narrow" pitchFamily="34" charset="0"/>
              </a:rPr>
              <a:t>Rutas </a:t>
            </a:r>
            <a:r>
              <a:rPr lang="es-PE" sz="2800" kern="0" dirty="0" err="1">
                <a:solidFill>
                  <a:srgbClr val="FF0000"/>
                </a:solidFill>
                <a:latin typeface="Arial Narrow" pitchFamily="34" charset="0"/>
              </a:rPr>
              <a:t>críticas:ABDFK</a:t>
            </a:r>
            <a:endParaRPr lang="es-PE" sz="2800" kern="0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48" name="Line 19"/>
          <p:cNvSpPr>
            <a:spLocks noChangeShapeType="1"/>
          </p:cNvSpPr>
          <p:nvPr/>
        </p:nvSpPr>
        <p:spPr bwMode="auto">
          <a:xfrm>
            <a:off x="6286261" y="1941192"/>
            <a:ext cx="1667129" cy="192029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49" name="Line 19"/>
          <p:cNvSpPr>
            <a:spLocks noChangeShapeType="1"/>
          </p:cNvSpPr>
          <p:nvPr/>
        </p:nvSpPr>
        <p:spPr bwMode="auto">
          <a:xfrm>
            <a:off x="8857485" y="4259017"/>
            <a:ext cx="84931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0" name="Text Box 26"/>
          <p:cNvSpPr txBox="1">
            <a:spLocks noChangeArrowheads="1"/>
          </p:cNvSpPr>
          <p:nvPr/>
        </p:nvSpPr>
        <p:spPr bwMode="auto">
          <a:xfrm>
            <a:off x="6823999" y="1907487"/>
            <a:ext cx="31290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F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1" name="Line 13"/>
          <p:cNvSpPr>
            <a:spLocks noChangeShapeType="1"/>
          </p:cNvSpPr>
          <p:nvPr/>
        </p:nvSpPr>
        <p:spPr bwMode="auto">
          <a:xfrm>
            <a:off x="2492941" y="4131004"/>
            <a:ext cx="1160358" cy="991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2" name="Text Box 31"/>
          <p:cNvSpPr txBox="1">
            <a:spLocks noChangeArrowheads="1"/>
          </p:cNvSpPr>
          <p:nvPr/>
        </p:nvSpPr>
        <p:spPr bwMode="auto">
          <a:xfrm>
            <a:off x="3677338" y="4689281"/>
            <a:ext cx="32573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E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3" name="Text Box 34"/>
          <p:cNvSpPr txBox="1">
            <a:spLocks noChangeArrowheads="1"/>
          </p:cNvSpPr>
          <p:nvPr/>
        </p:nvSpPr>
        <p:spPr bwMode="auto">
          <a:xfrm>
            <a:off x="2716867" y="4264764"/>
            <a:ext cx="63895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5-YA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4" name="Line 43"/>
          <p:cNvSpPr>
            <a:spLocks noChangeShapeType="1"/>
          </p:cNvSpPr>
          <p:nvPr/>
        </p:nvSpPr>
        <p:spPr bwMode="auto">
          <a:xfrm flipV="1">
            <a:off x="5875061" y="2267749"/>
            <a:ext cx="0" cy="364041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5" name="Line 19"/>
          <p:cNvSpPr>
            <a:spLocks noChangeShapeType="1"/>
          </p:cNvSpPr>
          <p:nvPr/>
        </p:nvSpPr>
        <p:spPr bwMode="auto">
          <a:xfrm flipV="1">
            <a:off x="6384032" y="4288716"/>
            <a:ext cx="1450370" cy="4381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6" name="Line 43"/>
          <p:cNvSpPr>
            <a:spLocks noChangeShapeType="1"/>
          </p:cNvSpPr>
          <p:nvPr/>
        </p:nvSpPr>
        <p:spPr bwMode="auto">
          <a:xfrm flipV="1">
            <a:off x="4531080" y="4654997"/>
            <a:ext cx="1132873" cy="1153683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3646027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ANIVAL TORRE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7123F-EA94-4AF6-90FD-8402484B591B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122881" name="Rectangle 1"/>
          <p:cNvSpPr>
            <a:spLocks noChangeArrowheads="1"/>
          </p:cNvSpPr>
          <p:nvPr/>
        </p:nvSpPr>
        <p:spPr bwMode="auto">
          <a:xfrm>
            <a:off x="1532751" y="1146061"/>
            <a:ext cx="9144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446088" algn="l"/>
              </a:tabLst>
            </a:pPr>
            <a:r>
              <a:rPr lang="es-MX" sz="2000" b="1" dirty="0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</a:rPr>
              <a:t>	</a:t>
            </a:r>
            <a:r>
              <a:rPr lang="es-MX" sz="2000" b="1" dirty="0">
                <a:solidFill>
                  <a:srgbClr val="FF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</a:rPr>
              <a:t>Identificación de las variables:</a:t>
            </a:r>
            <a:endParaRPr lang="es-PE" sz="2000" dirty="0">
              <a:solidFill>
                <a:srgbClr val="FF0000"/>
              </a:solidFill>
              <a:latin typeface="Arial Narrow" pitchFamily="34" charset="0"/>
              <a:cs typeface="Arial" pitchFamily="34" charset="0"/>
            </a:endParaRPr>
          </a:p>
          <a:p>
            <a:pPr indent="450850" eaLnBrk="0" fontAlgn="base" hangingPunct="0">
              <a:spcBef>
                <a:spcPct val="0"/>
              </a:spcBef>
              <a:spcAft>
                <a:spcPct val="0"/>
              </a:spcAft>
              <a:tabLst>
                <a:tab pos="630238" algn="l"/>
              </a:tabLst>
            </a:pPr>
            <a:r>
              <a:rPr lang="es-MX" sz="2000" dirty="0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</a:rPr>
              <a:t>Y i</a:t>
            </a:r>
            <a:r>
              <a:rPr lang="es-MX" sz="2000" baseline="-30000" dirty="0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lang="es-MX" sz="2000" dirty="0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</a:rPr>
              <a:t>= Número de </a:t>
            </a:r>
            <a:r>
              <a:rPr lang="es-MX" sz="2000" dirty="0">
                <a:solidFill>
                  <a:srgbClr val="FF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</a:rPr>
              <a:t>días</a:t>
            </a:r>
            <a:r>
              <a:rPr lang="es-MX" sz="2000" dirty="0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</a:rPr>
              <a:t> en que se puede reducir la tarea i  (i = A, B, C, D,  … K)</a:t>
            </a:r>
            <a:endParaRPr lang="es-PE" sz="2000" dirty="0">
              <a:latin typeface="Arial Narrow" pitchFamily="34" charset="0"/>
              <a:cs typeface="Arial" pitchFamily="34" charset="0"/>
            </a:endParaRPr>
          </a:p>
          <a:p>
            <a:pPr indent="450850" eaLnBrk="0" fontAlgn="base" hangingPunct="0">
              <a:spcBef>
                <a:spcPct val="0"/>
              </a:spcBef>
              <a:spcAft>
                <a:spcPct val="0"/>
              </a:spcAft>
              <a:tabLst>
                <a:tab pos="630238" algn="l"/>
              </a:tabLst>
            </a:pPr>
            <a:r>
              <a:rPr lang="es-MX" sz="2000" dirty="0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</a:rPr>
              <a:t>X i</a:t>
            </a:r>
            <a:r>
              <a:rPr lang="es-MX" sz="2000" baseline="-30000" dirty="0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lang="es-MX" sz="2000" dirty="0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</a:rPr>
              <a:t>= Tiempo en cual todas las tareas que salen del nodo i pueden empezar </a:t>
            </a:r>
          </a:p>
          <a:p>
            <a:pPr indent="450850" eaLnBrk="0" fontAlgn="base" hangingPunct="0">
              <a:spcBef>
                <a:spcPct val="0"/>
              </a:spcBef>
              <a:spcAft>
                <a:spcPct val="0"/>
              </a:spcAft>
              <a:tabLst>
                <a:tab pos="630238" algn="l"/>
              </a:tabLst>
            </a:pPr>
            <a:r>
              <a:rPr lang="es-MX" sz="2000" b="1" dirty="0">
                <a:solidFill>
                  <a:srgbClr val="FF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</a:rPr>
              <a:t>Identificación de la Función objetivo:</a:t>
            </a:r>
            <a:endParaRPr lang="es-PE" sz="2000" dirty="0">
              <a:solidFill>
                <a:srgbClr val="FF0000"/>
              </a:solidFill>
              <a:latin typeface="Arial Narrow" pitchFamily="34" charset="0"/>
              <a:cs typeface="Arial" pitchFamily="34" charset="0"/>
            </a:endParaRPr>
          </a:p>
          <a:p>
            <a:pPr indent="450850" eaLnBrk="0" fontAlgn="base" hangingPunct="0">
              <a:spcBef>
                <a:spcPct val="0"/>
              </a:spcBef>
              <a:spcAft>
                <a:spcPct val="0"/>
              </a:spcAft>
              <a:tabLst>
                <a:tab pos="630238" algn="l"/>
              </a:tabLst>
            </a:pPr>
            <a:r>
              <a:rPr lang="es-MX" sz="2000" dirty="0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</a:rPr>
              <a:t>MIN 0YA + 2400YB +0YC + 1000YD + 1500YE + 500YF + 1500YG + 1000YH +0YK</a:t>
            </a:r>
            <a:endParaRPr lang="es-PE" sz="2000" dirty="0">
              <a:latin typeface="Arial Narrow" pitchFamily="34" charset="0"/>
              <a:cs typeface="Arial" pitchFamily="34" charset="0"/>
            </a:endParaRPr>
          </a:p>
          <a:p>
            <a:pPr indent="450850" eaLnBrk="0" fontAlgn="base" hangingPunct="0">
              <a:spcBef>
                <a:spcPct val="0"/>
              </a:spcBef>
              <a:spcAft>
                <a:spcPct val="0"/>
              </a:spcAft>
              <a:tabLst>
                <a:tab pos="630238" algn="l"/>
              </a:tabLst>
            </a:pPr>
            <a:r>
              <a:rPr lang="es-ES_tradnl" sz="2000" b="1" dirty="0">
                <a:solidFill>
                  <a:srgbClr val="FF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</a:rPr>
              <a:t>Identificación de las restricciones:</a:t>
            </a:r>
            <a:r>
              <a:rPr lang="es-ES_tradnl" sz="2000" dirty="0">
                <a:solidFill>
                  <a:srgbClr val="FF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</a:rPr>
              <a:t>	</a:t>
            </a:r>
            <a:endParaRPr lang="es-PE" sz="2000" dirty="0">
              <a:solidFill>
                <a:srgbClr val="FF0000"/>
              </a:solidFill>
              <a:latin typeface="Arial Narrow" pitchFamily="34" charset="0"/>
              <a:cs typeface="Arial" pitchFamily="34" charset="0"/>
            </a:endParaRPr>
          </a:p>
          <a:p>
            <a:pPr indent="450850" eaLnBrk="0" fontAlgn="base" hangingPunct="0">
              <a:spcBef>
                <a:spcPct val="0"/>
              </a:spcBef>
              <a:spcAft>
                <a:spcPct val="0"/>
              </a:spcAft>
              <a:tabLst>
                <a:tab pos="630238" algn="l"/>
              </a:tabLst>
            </a:pPr>
            <a:r>
              <a:rPr lang="es-MX" sz="2000" dirty="0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</a:rPr>
              <a:t>0 </a:t>
            </a:r>
            <a:r>
              <a:rPr lang="es-MX" sz="2000" dirty="0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</a:t>
            </a:r>
            <a:r>
              <a:rPr lang="es-MX" sz="2000" dirty="0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</a:rPr>
              <a:t> YA ≤ 0</a:t>
            </a:r>
            <a:r>
              <a:rPr lang="es-MX" sz="2000" dirty="0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	0 </a:t>
            </a:r>
            <a:r>
              <a:rPr lang="es-MX" sz="2000" dirty="0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</a:rPr>
              <a:t> YB ≤ 5</a:t>
            </a:r>
            <a:r>
              <a:rPr lang="es-MX" sz="2000" dirty="0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	0 </a:t>
            </a:r>
            <a:r>
              <a:rPr lang="en-US" sz="2000" dirty="0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</a:t>
            </a:r>
            <a:r>
              <a:rPr lang="es-MX" sz="2000" dirty="0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</a:rPr>
              <a:t> YC </a:t>
            </a:r>
            <a:r>
              <a:rPr lang="es-MX" sz="2000" dirty="0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</a:t>
            </a:r>
            <a:r>
              <a:rPr lang="es-MX" sz="2000" dirty="0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</a:rPr>
              <a:t> 0</a:t>
            </a:r>
            <a:r>
              <a:rPr lang="es-MX" sz="2000" dirty="0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	0 </a:t>
            </a:r>
            <a:r>
              <a:rPr lang="en-US" sz="2000" dirty="0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</a:t>
            </a:r>
            <a:r>
              <a:rPr lang="es-MX" sz="2000" dirty="0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</a:rPr>
              <a:t> YD ≤ 4      	</a:t>
            </a:r>
            <a:r>
              <a:rPr lang="es-MX" sz="2000" dirty="0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0 </a:t>
            </a:r>
            <a:r>
              <a:rPr lang="en-US" sz="2000" dirty="0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</a:t>
            </a:r>
            <a:r>
              <a:rPr lang="es-MX" sz="2000" dirty="0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</a:rPr>
              <a:t> YE ≤ 1</a:t>
            </a:r>
            <a:endParaRPr lang="es-MX" sz="2000" dirty="0">
              <a:solidFill>
                <a:srgbClr val="000000"/>
              </a:solidFill>
              <a:latin typeface="Arial Narrow" pitchFamily="34" charset="0"/>
              <a:ea typeface="Times New Roman" pitchFamily="18" charset="0"/>
              <a:cs typeface="Arial" pitchFamily="34" charset="0"/>
              <a:sym typeface="Symbol" pitchFamily="18" charset="2"/>
            </a:endParaRPr>
          </a:p>
          <a:p>
            <a:pPr indent="450850" eaLnBrk="0" fontAlgn="base" hangingPunct="0">
              <a:spcBef>
                <a:spcPct val="0"/>
              </a:spcBef>
              <a:spcAft>
                <a:spcPct val="0"/>
              </a:spcAft>
              <a:tabLst>
                <a:tab pos="630238" algn="l"/>
              </a:tabLst>
            </a:pPr>
            <a:r>
              <a:rPr lang="es-MX" sz="2000" dirty="0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0 </a:t>
            </a:r>
            <a:r>
              <a:rPr lang="en-US" sz="2000" dirty="0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</a:t>
            </a:r>
            <a:r>
              <a:rPr lang="es-MX" sz="2000" dirty="0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</a:rPr>
              <a:t> YF ≤ 4	</a:t>
            </a:r>
            <a:r>
              <a:rPr lang="es-MX" sz="2000" dirty="0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0 </a:t>
            </a:r>
            <a:r>
              <a:rPr lang="en-US" sz="2000" dirty="0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</a:t>
            </a:r>
            <a:r>
              <a:rPr lang="es-MX" sz="2000" dirty="0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</a:rPr>
              <a:t> YG ≤ 2</a:t>
            </a:r>
            <a:r>
              <a:rPr lang="es-MX" sz="2000" dirty="0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	0 </a:t>
            </a:r>
            <a:r>
              <a:rPr lang="en-US" sz="2000" dirty="0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</a:t>
            </a:r>
            <a:r>
              <a:rPr lang="es-MX" sz="2000" dirty="0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</a:rPr>
              <a:t> YH ≤ 1       	</a:t>
            </a:r>
            <a:r>
              <a:rPr lang="es-MX" sz="2000" dirty="0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0 </a:t>
            </a:r>
            <a:r>
              <a:rPr lang="en-US" sz="2000" dirty="0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</a:t>
            </a:r>
            <a:r>
              <a:rPr lang="es-MX" sz="2000" dirty="0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</a:rPr>
              <a:t> YK</a:t>
            </a:r>
            <a:r>
              <a:rPr lang="es-MX" sz="2000" dirty="0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  ≤0	0 </a:t>
            </a:r>
            <a:r>
              <a:rPr lang="en-US" sz="2000" dirty="0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</a:t>
            </a:r>
            <a:r>
              <a:rPr lang="es-MX" sz="2000" dirty="0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</a:rPr>
              <a:t> YK ≤ 0</a:t>
            </a:r>
            <a:endParaRPr lang="es-PE" sz="2000" dirty="0">
              <a:solidFill>
                <a:srgbClr val="000000"/>
              </a:solidFill>
              <a:latin typeface="Arial Narrow" pitchFamily="34" charset="0"/>
              <a:ea typeface="Times New Roman" pitchFamily="18" charset="0"/>
              <a:cs typeface="Arial" pitchFamily="34" charset="0"/>
              <a:sym typeface="Symbol" pitchFamily="18" charset="2"/>
            </a:endParaRPr>
          </a:p>
          <a:p>
            <a:pPr indent="450850" eaLnBrk="0" fontAlgn="base" hangingPunct="0">
              <a:spcBef>
                <a:spcPct val="0"/>
              </a:spcBef>
              <a:spcAft>
                <a:spcPct val="0"/>
              </a:spcAft>
              <a:tabLst>
                <a:tab pos="630238" algn="l"/>
              </a:tabLst>
            </a:pPr>
            <a:r>
              <a:rPr lang="es-MX" sz="2000" dirty="0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Restricción de inicio. 	X0 = 0	</a:t>
            </a:r>
            <a:endParaRPr lang="es-PE" sz="2000" dirty="0">
              <a:latin typeface="Arial Narrow" pitchFamily="34" charset="0"/>
              <a:cs typeface="Arial" pitchFamily="34" charset="0"/>
              <a:sym typeface="Symbol" pitchFamily="18" charset="2"/>
            </a:endParaRPr>
          </a:p>
          <a:p>
            <a:pPr indent="450850" eaLnBrk="0" fontAlgn="base" hangingPunct="0">
              <a:spcBef>
                <a:spcPct val="0"/>
              </a:spcBef>
              <a:spcAft>
                <a:spcPct val="0"/>
              </a:spcAft>
              <a:tabLst>
                <a:tab pos="630238" algn="l"/>
              </a:tabLst>
            </a:pPr>
            <a:r>
              <a:rPr lang="es-MX" sz="2000" dirty="0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Restricción de termino	X8 ≤ </a:t>
            </a:r>
            <a:r>
              <a:rPr lang="es-PE" sz="2000" dirty="0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24</a:t>
            </a:r>
            <a:endParaRPr lang="es-PE" sz="2000" dirty="0">
              <a:latin typeface="Arial Narrow" pitchFamily="34" charset="0"/>
              <a:cs typeface="Arial" pitchFamily="34" charset="0"/>
              <a:sym typeface="Symbol" pitchFamily="18" charset="2"/>
            </a:endParaRPr>
          </a:p>
          <a:p>
            <a:pPr indent="450850" eaLnBrk="0" fontAlgn="base" hangingPunct="0">
              <a:spcBef>
                <a:spcPct val="0"/>
              </a:spcBef>
              <a:spcAft>
                <a:spcPct val="0"/>
              </a:spcAft>
              <a:tabLst>
                <a:tab pos="630238" algn="l"/>
              </a:tabLst>
            </a:pPr>
            <a:r>
              <a:rPr lang="es-MX" sz="2000" dirty="0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Restricciones de la red		</a:t>
            </a:r>
          </a:p>
          <a:p>
            <a:pPr indent="450850" eaLnBrk="0" fontAlgn="base" hangingPunct="0">
              <a:spcBef>
                <a:spcPct val="0"/>
              </a:spcBef>
              <a:spcAft>
                <a:spcPct val="0"/>
              </a:spcAft>
              <a:tabLst>
                <a:tab pos="630238" algn="l"/>
              </a:tabLst>
            </a:pPr>
            <a:r>
              <a:rPr lang="es-MX" sz="2000" dirty="0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X1 ≥ X0 + (5 – YA)			</a:t>
            </a:r>
            <a:r>
              <a:rPr lang="es-MX" sz="2000" dirty="0" err="1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X2</a:t>
            </a:r>
            <a:r>
              <a:rPr lang="es-MX" sz="2000" dirty="0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 ≥ X1  + (8-YB)		</a:t>
            </a:r>
            <a:endParaRPr lang="es-PE" sz="2000" dirty="0">
              <a:latin typeface="Arial Narrow" pitchFamily="34" charset="0"/>
              <a:cs typeface="Arial" pitchFamily="34" charset="0"/>
              <a:sym typeface="Symbol" pitchFamily="18" charset="2"/>
            </a:endParaRPr>
          </a:p>
          <a:p>
            <a:pPr indent="450850" eaLnBrk="0" hangingPunct="0">
              <a:tabLst>
                <a:tab pos="630238" algn="l"/>
              </a:tabLst>
            </a:pPr>
            <a:r>
              <a:rPr lang="es-MX" sz="2000" dirty="0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X3 ≥ X2 + (6-YD)			</a:t>
            </a:r>
            <a:r>
              <a:rPr lang="es-MX" sz="2000" dirty="0" err="1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X4</a:t>
            </a:r>
            <a:r>
              <a:rPr lang="es-MX" sz="2000" dirty="0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 ≥ X2 +(2-YC)</a:t>
            </a:r>
          </a:p>
          <a:p>
            <a:pPr indent="450850" eaLnBrk="0" hangingPunct="0">
              <a:tabLst>
                <a:tab pos="630238" algn="l"/>
              </a:tabLst>
            </a:pPr>
            <a:r>
              <a:rPr lang="es-MX" sz="2000" dirty="0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X4 ≥ X3 				</a:t>
            </a:r>
            <a:r>
              <a:rPr lang="es-MX" sz="2000" dirty="0" err="1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X5</a:t>
            </a:r>
            <a:r>
              <a:rPr lang="es-MX" sz="2000" dirty="0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 ≥ X1 + (6 – YE)</a:t>
            </a:r>
            <a:endParaRPr lang="es-PE" sz="2000" dirty="0">
              <a:latin typeface="Arial Narrow" pitchFamily="34" charset="0"/>
              <a:cs typeface="Arial" pitchFamily="34" charset="0"/>
              <a:sym typeface="Symbol" pitchFamily="18" charset="2"/>
            </a:endParaRPr>
          </a:p>
          <a:p>
            <a:pPr indent="450850" eaLnBrk="0" fontAlgn="base" hangingPunct="0">
              <a:spcBef>
                <a:spcPct val="0"/>
              </a:spcBef>
              <a:spcAft>
                <a:spcPct val="0"/>
              </a:spcAft>
              <a:tabLst>
                <a:tab pos="630238" algn="l"/>
              </a:tabLst>
            </a:pPr>
            <a:r>
              <a:rPr lang="es-MX" sz="2000" dirty="0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X6 ≥ X5 				</a:t>
            </a:r>
            <a:r>
              <a:rPr lang="es-MX" sz="2000" dirty="0" err="1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X6</a:t>
            </a:r>
            <a:r>
              <a:rPr lang="es-MX" sz="2000" dirty="0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 ≥ X3 </a:t>
            </a:r>
          </a:p>
          <a:p>
            <a:pPr indent="450850" eaLnBrk="0" fontAlgn="base" hangingPunct="0">
              <a:spcBef>
                <a:spcPct val="0"/>
              </a:spcBef>
              <a:spcAft>
                <a:spcPct val="0"/>
              </a:spcAft>
              <a:tabLst>
                <a:tab pos="630238" algn="l"/>
              </a:tabLst>
            </a:pPr>
            <a:r>
              <a:rPr lang="es-MX" sz="2000" dirty="0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X7 ≥ X6 + (5 – YG) 			</a:t>
            </a:r>
            <a:r>
              <a:rPr lang="es-MX" sz="2000" dirty="0" err="1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X7</a:t>
            </a:r>
            <a:r>
              <a:rPr lang="es-MX" sz="2000" dirty="0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 ≥ X5 + (5 – YH)</a:t>
            </a:r>
          </a:p>
          <a:p>
            <a:pPr indent="450850" eaLnBrk="0" hangingPunct="0">
              <a:tabLst>
                <a:tab pos="630238" algn="l"/>
              </a:tabLst>
            </a:pPr>
            <a:r>
              <a:rPr lang="es-MX" sz="2000" dirty="0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X7 ≥ X4 + (7 – YF)			</a:t>
            </a:r>
            <a:r>
              <a:rPr lang="es-MX" sz="2000" dirty="0" err="1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X8</a:t>
            </a:r>
            <a:r>
              <a:rPr lang="es-MX" sz="2000" dirty="0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 ≥ X7 + (8 – YK)	</a:t>
            </a:r>
          </a:p>
          <a:p>
            <a:pPr indent="450850" eaLnBrk="0" fontAlgn="base" hangingPunct="0">
              <a:spcBef>
                <a:spcPct val="0"/>
              </a:spcBef>
              <a:spcAft>
                <a:spcPct val="0"/>
              </a:spcAft>
              <a:tabLst>
                <a:tab pos="630238" algn="l"/>
              </a:tabLst>
            </a:pPr>
            <a:r>
              <a:rPr lang="es-MX" sz="2000" dirty="0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 						Xi  ,  Yi  </a:t>
            </a:r>
            <a:r>
              <a:rPr lang="es-MX" sz="2000" dirty="0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</a:rPr>
              <a:t>  </a:t>
            </a:r>
            <a:r>
              <a:rPr lang="es-MX" sz="2000" dirty="0">
                <a:solidFill>
                  <a:srgbClr val="000000"/>
                </a:solidFill>
                <a:latin typeface="Arial Narrow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0</a:t>
            </a:r>
          </a:p>
        </p:txBody>
      </p:sp>
      <p:sp>
        <p:nvSpPr>
          <p:cNvPr id="2" name="Rectángulo 5">
            <a:extLst>
              <a:ext uri="{FF2B5EF4-FFF2-40B4-BE49-F238E27FC236}">
                <a16:creationId xmlns:a16="http://schemas.microsoft.com/office/drawing/2014/main" id="{CE063CE6-C95B-F54A-F80D-126ADB1BE119}"/>
              </a:ext>
            </a:extLst>
          </p:cNvPr>
          <p:cNvSpPr/>
          <p:nvPr/>
        </p:nvSpPr>
        <p:spPr>
          <a:xfrm>
            <a:off x="6096000" y="136525"/>
            <a:ext cx="6096000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spcFirstLastPara="1"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5800"/>
              </a:lnSpc>
              <a:spcBef>
                <a:spcPct val="0"/>
              </a:spcBef>
            </a:pPr>
            <a:r>
              <a:rPr lang="es-PE" sz="3200" dirty="0">
                <a:solidFill>
                  <a:schemeClr val="bg1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Bauhaus 93" pitchFamily="82" charset="0"/>
              </a:rPr>
              <a:t>Modelo matemático</a:t>
            </a:r>
          </a:p>
        </p:txBody>
      </p:sp>
    </p:spTree>
    <p:extLst>
      <p:ext uri="{BB962C8B-B14F-4D97-AF65-F5344CB8AC3E}">
        <p14:creationId xmlns:p14="http://schemas.microsoft.com/office/powerpoint/2010/main" val="24132887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ANIVAL TORRE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7123F-EA94-4AF6-90FD-8402484B591B}" type="slidenum">
              <a:rPr lang="en-US" smtClean="0"/>
              <a:pPr/>
              <a:t>35</a:t>
            </a:fld>
            <a:endParaRPr lang="en-US" dirty="0"/>
          </a:p>
        </p:txBody>
      </p:sp>
      <p:graphicFrame>
        <p:nvGraphicFramePr>
          <p:cNvPr id="2" name="1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5094763"/>
              </p:ext>
            </p:extLst>
          </p:nvPr>
        </p:nvGraphicFramePr>
        <p:xfrm>
          <a:off x="1809867" y="2204864"/>
          <a:ext cx="8496944" cy="4375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046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75408">
                <a:tc>
                  <a:txBody>
                    <a:bodyPr/>
                    <a:lstStyle/>
                    <a:p>
                      <a:pPr marL="0" marR="0" lvl="0" indent="4508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lang="es-PE" sz="2000" b="1" kern="1200" noProof="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SUBJECT</a:t>
                      </a:r>
                      <a:r>
                        <a:rPr lang="es-PE" sz="2000" b="1" kern="1200" noProof="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TO	</a:t>
                      </a:r>
                    </a:p>
                    <a:p>
                      <a:pPr marL="0" marR="0" lvl="0" indent="4508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lang="es-PE" sz="2000" b="1" kern="1200" noProof="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YA &lt;= 0</a:t>
                      </a:r>
                    </a:p>
                    <a:p>
                      <a:pPr marL="0" marR="0" lvl="0" indent="4508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lang="es-PE" sz="2000" b="1" kern="1200" noProof="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YB &lt;= 5</a:t>
                      </a:r>
                    </a:p>
                    <a:p>
                      <a:pPr marL="0" marR="0" lvl="0" indent="4508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lang="es-PE" sz="2000" b="1" kern="1200" noProof="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YC &lt;= 0</a:t>
                      </a:r>
                    </a:p>
                    <a:p>
                      <a:pPr marL="0" marR="0" lvl="0" indent="4508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lang="es-PE" sz="2000" b="1" kern="1200" noProof="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YD &lt;= 4      	</a:t>
                      </a:r>
                    </a:p>
                    <a:p>
                      <a:pPr marL="0" marR="0" lvl="0" indent="4508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lang="es-PE" sz="2000" b="1" kern="1200" noProof="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YE &lt;= 1</a:t>
                      </a:r>
                      <a:endParaRPr lang="es-PE" sz="2000" b="1" kern="1200" noProof="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  <a:sym typeface="Symbol" pitchFamily="18" charset="2"/>
                      </a:endParaRPr>
                    </a:p>
                    <a:p>
                      <a:pPr marL="0" marR="0" lvl="0" indent="4508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lang="es-PE" sz="2000" b="1" kern="1200" noProof="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YF &lt;= 4</a:t>
                      </a:r>
                    </a:p>
                    <a:p>
                      <a:pPr marL="0" marR="0" lvl="0" indent="4508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lang="es-PE" sz="2000" b="1" kern="1200" noProof="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YG &lt;= 2</a:t>
                      </a:r>
                    </a:p>
                    <a:p>
                      <a:pPr marL="0" marR="0" lvl="0" indent="4508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lang="es-PE" sz="2000" b="1" kern="1200" noProof="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YH &lt;=1</a:t>
                      </a:r>
                    </a:p>
                    <a:p>
                      <a:pPr marL="0" marR="0" lvl="0" indent="4508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lang="es-PE" sz="2000" b="1" kern="1200" noProof="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YK</a:t>
                      </a:r>
                      <a:r>
                        <a:rPr lang="es-PE" sz="2000" b="1" kern="1200" noProof="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</a:t>
                      </a:r>
                      <a:r>
                        <a:rPr lang="es-PE" sz="2000" b="1" kern="1200" noProof="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&lt;=</a:t>
                      </a:r>
                      <a:r>
                        <a:rPr lang="es-PE" sz="2000" b="1" kern="1200" noProof="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0</a:t>
                      </a:r>
                    </a:p>
                    <a:p>
                      <a:pPr marL="0" marR="0" lvl="0" indent="4508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lang="es-PE" sz="2000" b="1" kern="1200" noProof="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YK &lt;= 0</a:t>
                      </a:r>
                    </a:p>
                    <a:p>
                      <a:pPr marL="0" marR="0" lvl="0" indent="44608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lang="es-PE" sz="2000" b="1" kern="1200" noProof="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X0</a:t>
                      </a:r>
                      <a:r>
                        <a:rPr lang="es-PE" sz="2000" b="1" kern="1200" noProof="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= 0	</a:t>
                      </a:r>
                    </a:p>
                    <a:p>
                      <a:pPr marL="0" marR="0" lvl="0" indent="44608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r>
                        <a:rPr lang="es-PE" sz="2000" b="1" kern="1200" noProof="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X8</a:t>
                      </a:r>
                      <a:r>
                        <a:rPr lang="es-PE" sz="2000" b="1" kern="1200" noProof="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= 24</a:t>
                      </a:r>
                      <a:endParaRPr lang="es-PE" sz="2000" b="1" kern="1200" noProof="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</a:pPr>
                      <a:endParaRPr lang="es-PE" sz="2000" b="1" kern="1200" noProof="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  <a:sym typeface="Symbol" pitchFamily="18" charset="2"/>
                      </a:endParaRPr>
                    </a:p>
                    <a:p>
                      <a:r>
                        <a:rPr lang="es-PE" sz="2000" noProof="0" dirty="0" err="1">
                          <a:solidFill>
                            <a:schemeClr val="tx2"/>
                          </a:solidFill>
                        </a:rPr>
                        <a:t>X1</a:t>
                      </a:r>
                      <a:r>
                        <a:rPr lang="es-PE" sz="2000" noProof="0" dirty="0">
                          <a:solidFill>
                            <a:schemeClr val="tx2"/>
                          </a:solidFill>
                        </a:rPr>
                        <a:t>- X0+YA&gt;= 5</a:t>
                      </a:r>
                    </a:p>
                    <a:p>
                      <a:r>
                        <a:rPr lang="es-PE" sz="2000" noProof="0" dirty="0">
                          <a:solidFill>
                            <a:schemeClr val="tx2"/>
                          </a:solidFill>
                        </a:rPr>
                        <a:t>X2 -X1+YB&gt;= 8	</a:t>
                      </a:r>
                    </a:p>
                    <a:p>
                      <a:r>
                        <a:rPr lang="es-PE" sz="2000" noProof="0" dirty="0">
                          <a:solidFill>
                            <a:schemeClr val="tx2"/>
                          </a:solidFill>
                        </a:rPr>
                        <a:t>X3 -X2+YD&gt;=6</a:t>
                      </a:r>
                    </a:p>
                    <a:p>
                      <a:r>
                        <a:rPr lang="es-PE" sz="2000" noProof="0" dirty="0">
                          <a:solidFill>
                            <a:schemeClr val="tx2"/>
                          </a:solidFill>
                        </a:rPr>
                        <a:t>X4 -X2+YC&gt;= 2</a:t>
                      </a:r>
                    </a:p>
                    <a:p>
                      <a:r>
                        <a:rPr lang="es-PE" sz="2000" noProof="0" dirty="0">
                          <a:solidFill>
                            <a:schemeClr val="tx2"/>
                          </a:solidFill>
                        </a:rPr>
                        <a:t>X4 -X3&gt;=0 	</a:t>
                      </a:r>
                    </a:p>
                    <a:p>
                      <a:r>
                        <a:rPr lang="es-PE" sz="2000" noProof="0" dirty="0">
                          <a:solidFill>
                            <a:schemeClr val="tx2"/>
                          </a:solidFill>
                        </a:rPr>
                        <a:t>X5 -X1+YE&gt;=6 </a:t>
                      </a:r>
                    </a:p>
                    <a:p>
                      <a:r>
                        <a:rPr lang="es-PE" sz="2000" noProof="0" dirty="0">
                          <a:solidFill>
                            <a:schemeClr val="tx2"/>
                          </a:solidFill>
                        </a:rPr>
                        <a:t>X6 -X5&gt;= 0 	</a:t>
                      </a:r>
                    </a:p>
                    <a:p>
                      <a:r>
                        <a:rPr lang="es-PE" sz="2000" noProof="0" dirty="0">
                          <a:solidFill>
                            <a:schemeClr val="tx2"/>
                          </a:solidFill>
                        </a:rPr>
                        <a:t>X6 -X3&gt;= 0 </a:t>
                      </a:r>
                    </a:p>
                    <a:p>
                      <a:r>
                        <a:rPr lang="es-PE" sz="2000" noProof="0" dirty="0">
                          <a:solidFill>
                            <a:schemeClr val="tx2"/>
                          </a:solidFill>
                        </a:rPr>
                        <a:t>X7 -X6+YG&gt;= 5 </a:t>
                      </a:r>
                    </a:p>
                    <a:p>
                      <a:r>
                        <a:rPr lang="es-PE" sz="2000" noProof="0" dirty="0">
                          <a:solidFill>
                            <a:schemeClr val="tx2"/>
                          </a:solidFill>
                        </a:rPr>
                        <a:t>X7 -X5+YH&gt;= 5</a:t>
                      </a:r>
                    </a:p>
                    <a:p>
                      <a:r>
                        <a:rPr lang="es-PE" sz="2000" noProof="0" dirty="0">
                          <a:solidFill>
                            <a:schemeClr val="tx2"/>
                          </a:solidFill>
                        </a:rPr>
                        <a:t>X7 -X4+YF&gt;= 7</a:t>
                      </a:r>
                    </a:p>
                    <a:p>
                      <a:r>
                        <a:rPr lang="es-PE" sz="2000" noProof="0" dirty="0">
                          <a:solidFill>
                            <a:schemeClr val="tx2"/>
                          </a:solidFill>
                        </a:rPr>
                        <a:t>X8 -X7+YK&gt;= 8</a:t>
                      </a:r>
                      <a:endParaRPr lang="es-PE" sz="2000" noProof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4 Rectángulo"/>
          <p:cNvSpPr/>
          <p:nvPr/>
        </p:nvSpPr>
        <p:spPr>
          <a:xfrm>
            <a:off x="1775520" y="1597442"/>
            <a:ext cx="878497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630238" algn="l"/>
              </a:tabLst>
            </a:pPr>
            <a:r>
              <a:rPr lang="es-PE" sz="2000" b="1" dirty="0">
                <a:solidFill>
                  <a:schemeClr val="tx2"/>
                </a:solidFill>
              </a:rPr>
              <a:t>MIN </a:t>
            </a:r>
            <a:r>
              <a:rPr lang="es-PE" sz="2000" b="1" dirty="0" err="1">
                <a:solidFill>
                  <a:schemeClr val="tx2"/>
                </a:solidFill>
              </a:rPr>
              <a:t>0YA</a:t>
            </a:r>
            <a:r>
              <a:rPr lang="es-PE" sz="2000" b="1" dirty="0">
                <a:solidFill>
                  <a:schemeClr val="tx2"/>
                </a:solidFill>
              </a:rPr>
              <a:t> + </a:t>
            </a:r>
            <a:r>
              <a:rPr lang="es-PE" sz="2000" b="1" dirty="0" err="1">
                <a:solidFill>
                  <a:schemeClr val="tx2"/>
                </a:solidFill>
              </a:rPr>
              <a:t>2400YB</a:t>
            </a:r>
            <a:r>
              <a:rPr lang="es-PE" sz="2000" b="1" dirty="0">
                <a:solidFill>
                  <a:schemeClr val="tx2"/>
                </a:solidFill>
              </a:rPr>
              <a:t> +</a:t>
            </a:r>
            <a:r>
              <a:rPr lang="es-PE" sz="2000" b="1" dirty="0" err="1">
                <a:solidFill>
                  <a:schemeClr val="tx2"/>
                </a:solidFill>
              </a:rPr>
              <a:t>0YC</a:t>
            </a:r>
            <a:r>
              <a:rPr lang="es-PE" sz="2000" b="1" dirty="0">
                <a:solidFill>
                  <a:schemeClr val="tx2"/>
                </a:solidFill>
              </a:rPr>
              <a:t> + </a:t>
            </a:r>
            <a:r>
              <a:rPr lang="es-PE" sz="2000" b="1" dirty="0" err="1">
                <a:solidFill>
                  <a:schemeClr val="tx2"/>
                </a:solidFill>
              </a:rPr>
              <a:t>1000YD</a:t>
            </a:r>
            <a:r>
              <a:rPr lang="es-PE" sz="2000" b="1" dirty="0">
                <a:solidFill>
                  <a:schemeClr val="tx2"/>
                </a:solidFill>
              </a:rPr>
              <a:t> + </a:t>
            </a:r>
            <a:r>
              <a:rPr lang="es-PE" sz="2000" b="1" dirty="0" err="1">
                <a:solidFill>
                  <a:schemeClr val="tx2"/>
                </a:solidFill>
              </a:rPr>
              <a:t>1500YE</a:t>
            </a:r>
            <a:r>
              <a:rPr lang="es-PE" sz="2000" b="1" dirty="0">
                <a:solidFill>
                  <a:schemeClr val="tx2"/>
                </a:solidFill>
              </a:rPr>
              <a:t> + </a:t>
            </a:r>
            <a:r>
              <a:rPr lang="es-PE" sz="2000" b="1" dirty="0" err="1">
                <a:solidFill>
                  <a:schemeClr val="tx2"/>
                </a:solidFill>
              </a:rPr>
              <a:t>500YF</a:t>
            </a:r>
            <a:r>
              <a:rPr lang="es-PE" sz="2000" b="1" dirty="0">
                <a:solidFill>
                  <a:schemeClr val="tx2"/>
                </a:solidFill>
              </a:rPr>
              <a:t> + </a:t>
            </a:r>
            <a:r>
              <a:rPr lang="es-PE" sz="2000" b="1" dirty="0" err="1">
                <a:solidFill>
                  <a:schemeClr val="tx2"/>
                </a:solidFill>
              </a:rPr>
              <a:t>1500YG</a:t>
            </a:r>
            <a:r>
              <a:rPr lang="es-PE" sz="2000" b="1" dirty="0">
                <a:solidFill>
                  <a:schemeClr val="tx2"/>
                </a:solidFill>
              </a:rPr>
              <a:t> + </a:t>
            </a:r>
            <a:r>
              <a:rPr lang="es-PE" sz="2000" b="1" dirty="0" err="1">
                <a:solidFill>
                  <a:schemeClr val="tx2"/>
                </a:solidFill>
              </a:rPr>
              <a:t>1000YH</a:t>
            </a:r>
            <a:r>
              <a:rPr lang="es-PE" sz="2000" b="1" dirty="0">
                <a:solidFill>
                  <a:schemeClr val="tx2"/>
                </a:solidFill>
              </a:rPr>
              <a:t> +</a:t>
            </a:r>
            <a:r>
              <a:rPr lang="es-PE" sz="2000" b="1" dirty="0" err="1">
                <a:solidFill>
                  <a:schemeClr val="tx2"/>
                </a:solidFill>
              </a:rPr>
              <a:t>0YK</a:t>
            </a:r>
            <a:endParaRPr lang="es-PE" sz="20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65617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096000" y="195619"/>
            <a:ext cx="6069048" cy="513220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spcFirstLastPara="1"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sz="3200" dirty="0">
                <a:solidFill>
                  <a:schemeClr val="bg1"/>
                </a:solidFill>
                <a:latin typeface="Bauhaus 93" pitchFamily="82" charset="0"/>
                <a:ea typeface="+mn-ea"/>
                <a:cs typeface="+mn-cs"/>
              </a:rPr>
              <a:t>Red del 10.12</a:t>
            </a:r>
            <a:endParaRPr lang="es-ES" sz="3200" dirty="0">
              <a:solidFill>
                <a:schemeClr val="bg1"/>
              </a:solidFill>
              <a:latin typeface="Bauhaus 93" pitchFamily="82" charset="0"/>
              <a:ea typeface="+mn-ea"/>
              <a:cs typeface="+mn-cs"/>
            </a:endParaRPr>
          </a:p>
        </p:txBody>
      </p:sp>
      <p:sp>
        <p:nvSpPr>
          <p:cNvPr id="52227" name="Oval 3">
            <a:hlinkHover r:id="" action="ppaction://noaction">
              <a:snd r:embed="rId3" name="gunshot.wav"/>
            </a:hlinkHover>
          </p:cNvPr>
          <p:cNvSpPr>
            <a:spLocks noChangeArrowheads="1"/>
          </p:cNvSpPr>
          <p:nvPr/>
        </p:nvSpPr>
        <p:spPr bwMode="auto">
          <a:xfrm>
            <a:off x="1703512" y="3595561"/>
            <a:ext cx="789429" cy="808024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X0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28" name="Oval 4"/>
          <p:cNvSpPr>
            <a:spLocks noChangeArrowheads="1"/>
          </p:cNvSpPr>
          <p:nvPr/>
        </p:nvSpPr>
        <p:spPr bwMode="auto">
          <a:xfrm>
            <a:off x="5303912" y="5589240"/>
            <a:ext cx="830037" cy="781132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X4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29" name="Oval 5"/>
          <p:cNvSpPr>
            <a:spLocks noChangeArrowheads="1"/>
          </p:cNvSpPr>
          <p:nvPr/>
        </p:nvSpPr>
        <p:spPr bwMode="auto">
          <a:xfrm>
            <a:off x="6834746" y="1484784"/>
            <a:ext cx="764413" cy="819606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X5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30" name="Oval 6"/>
          <p:cNvSpPr>
            <a:spLocks noChangeArrowheads="1"/>
          </p:cNvSpPr>
          <p:nvPr/>
        </p:nvSpPr>
        <p:spPr bwMode="auto">
          <a:xfrm>
            <a:off x="6839482" y="3625002"/>
            <a:ext cx="764414" cy="823886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X6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31" name="Oval 7"/>
          <p:cNvSpPr>
            <a:spLocks noChangeArrowheads="1"/>
          </p:cNvSpPr>
          <p:nvPr/>
        </p:nvSpPr>
        <p:spPr bwMode="auto">
          <a:xfrm>
            <a:off x="2743440" y="5574638"/>
            <a:ext cx="792525" cy="795734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X2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32" name="Oval 8"/>
          <p:cNvSpPr>
            <a:spLocks noChangeArrowheads="1"/>
          </p:cNvSpPr>
          <p:nvPr/>
        </p:nvSpPr>
        <p:spPr bwMode="auto">
          <a:xfrm>
            <a:off x="2655806" y="1397407"/>
            <a:ext cx="793131" cy="765226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X1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33" name="Oval 9"/>
          <p:cNvSpPr>
            <a:spLocks noChangeArrowheads="1"/>
          </p:cNvSpPr>
          <p:nvPr/>
        </p:nvSpPr>
        <p:spPr bwMode="auto">
          <a:xfrm>
            <a:off x="8697699" y="5574638"/>
            <a:ext cx="759516" cy="795734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X9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34" name="Oval 10"/>
          <p:cNvSpPr>
            <a:spLocks noChangeArrowheads="1"/>
          </p:cNvSpPr>
          <p:nvPr/>
        </p:nvSpPr>
        <p:spPr bwMode="auto">
          <a:xfrm>
            <a:off x="3694231" y="3625002"/>
            <a:ext cx="790937" cy="778583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X3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35" name="Oval 11"/>
          <p:cNvSpPr>
            <a:spLocks noChangeArrowheads="1"/>
          </p:cNvSpPr>
          <p:nvPr/>
        </p:nvSpPr>
        <p:spPr bwMode="auto">
          <a:xfrm>
            <a:off x="8641806" y="3626189"/>
            <a:ext cx="846608" cy="851424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X8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36" name="Line 12"/>
          <p:cNvSpPr>
            <a:spLocks noChangeShapeType="1"/>
          </p:cNvSpPr>
          <p:nvPr/>
        </p:nvSpPr>
        <p:spPr bwMode="auto">
          <a:xfrm flipV="1">
            <a:off x="2221914" y="2115982"/>
            <a:ext cx="689105" cy="15285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2237" name="Line 13"/>
          <p:cNvSpPr>
            <a:spLocks noChangeShapeType="1"/>
          </p:cNvSpPr>
          <p:nvPr/>
        </p:nvSpPr>
        <p:spPr bwMode="auto">
          <a:xfrm flipV="1">
            <a:off x="4435454" y="4008793"/>
            <a:ext cx="2399290" cy="24746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2242" name="Line 18"/>
          <p:cNvSpPr>
            <a:spLocks noChangeShapeType="1"/>
          </p:cNvSpPr>
          <p:nvPr/>
        </p:nvSpPr>
        <p:spPr bwMode="auto">
          <a:xfrm>
            <a:off x="3448937" y="1870132"/>
            <a:ext cx="3180751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2246" name="Line 22"/>
          <p:cNvSpPr>
            <a:spLocks noChangeShapeType="1"/>
          </p:cNvSpPr>
          <p:nvPr/>
        </p:nvSpPr>
        <p:spPr bwMode="auto">
          <a:xfrm flipV="1">
            <a:off x="3535965" y="6003125"/>
            <a:ext cx="1767947" cy="24746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2247" name="Text Box 23"/>
          <p:cNvSpPr txBox="1">
            <a:spLocks noChangeArrowheads="1"/>
          </p:cNvSpPr>
          <p:nvPr/>
        </p:nvSpPr>
        <p:spPr bwMode="auto">
          <a:xfrm>
            <a:off x="2330075" y="2257449"/>
            <a:ext cx="32573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A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48" name="Text Box 24"/>
          <p:cNvSpPr txBox="1">
            <a:spLocks noChangeArrowheads="1"/>
          </p:cNvSpPr>
          <p:nvPr/>
        </p:nvSpPr>
        <p:spPr bwMode="auto">
          <a:xfrm>
            <a:off x="2139598" y="4769286"/>
            <a:ext cx="32573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B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49" name="Text Box 25"/>
          <p:cNvSpPr txBox="1">
            <a:spLocks noChangeArrowheads="1"/>
          </p:cNvSpPr>
          <p:nvPr/>
        </p:nvSpPr>
        <p:spPr bwMode="auto">
          <a:xfrm>
            <a:off x="4808996" y="1397407"/>
            <a:ext cx="33695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C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50" name="Text Box 26"/>
          <p:cNvSpPr txBox="1">
            <a:spLocks noChangeArrowheads="1"/>
          </p:cNvSpPr>
          <p:nvPr/>
        </p:nvSpPr>
        <p:spPr bwMode="auto">
          <a:xfrm>
            <a:off x="4730421" y="3465870"/>
            <a:ext cx="33695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D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52" name="Text Box 28"/>
          <p:cNvSpPr txBox="1">
            <a:spLocks noChangeArrowheads="1"/>
          </p:cNvSpPr>
          <p:nvPr/>
        </p:nvSpPr>
        <p:spPr bwMode="auto">
          <a:xfrm>
            <a:off x="7772362" y="3411842"/>
            <a:ext cx="34817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G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53" name="Text Box 29"/>
          <p:cNvSpPr txBox="1">
            <a:spLocks noChangeArrowheads="1"/>
          </p:cNvSpPr>
          <p:nvPr/>
        </p:nvSpPr>
        <p:spPr bwMode="auto">
          <a:xfrm>
            <a:off x="9106491" y="4549880"/>
            <a:ext cx="24237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I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55" name="Text Box 31"/>
          <p:cNvSpPr txBox="1">
            <a:spLocks noChangeArrowheads="1"/>
          </p:cNvSpPr>
          <p:nvPr/>
        </p:nvSpPr>
        <p:spPr bwMode="auto">
          <a:xfrm>
            <a:off x="6752231" y="4574876"/>
            <a:ext cx="33695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H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57" name="Text Box 33"/>
          <p:cNvSpPr txBox="1">
            <a:spLocks noChangeArrowheads="1"/>
          </p:cNvSpPr>
          <p:nvPr/>
        </p:nvSpPr>
        <p:spPr bwMode="auto">
          <a:xfrm>
            <a:off x="2589873" y="4451253"/>
            <a:ext cx="94609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2,33-YB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58" name="Text Box 34"/>
          <p:cNvSpPr txBox="1">
            <a:spLocks noChangeArrowheads="1"/>
          </p:cNvSpPr>
          <p:nvPr/>
        </p:nvSpPr>
        <p:spPr bwMode="auto">
          <a:xfrm>
            <a:off x="4159156" y="5589240"/>
            <a:ext cx="65434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6-YE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60" name="Text Box 36"/>
          <p:cNvSpPr txBox="1">
            <a:spLocks noChangeArrowheads="1"/>
          </p:cNvSpPr>
          <p:nvPr/>
        </p:nvSpPr>
        <p:spPr bwMode="auto">
          <a:xfrm>
            <a:off x="6406722" y="5014274"/>
            <a:ext cx="66556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6-YH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61" name="Text Box 37"/>
          <p:cNvSpPr txBox="1">
            <a:spLocks noChangeArrowheads="1"/>
          </p:cNvSpPr>
          <p:nvPr/>
        </p:nvSpPr>
        <p:spPr bwMode="auto">
          <a:xfrm>
            <a:off x="7717538" y="4145644"/>
            <a:ext cx="67678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5-YG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62" name="Text Box 38"/>
          <p:cNvSpPr txBox="1">
            <a:spLocks noChangeArrowheads="1"/>
          </p:cNvSpPr>
          <p:nvPr/>
        </p:nvSpPr>
        <p:spPr bwMode="auto">
          <a:xfrm>
            <a:off x="8412206" y="5045119"/>
            <a:ext cx="57098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8-YI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64" name="Text Box 40"/>
          <p:cNvSpPr txBox="1">
            <a:spLocks noChangeArrowheads="1"/>
          </p:cNvSpPr>
          <p:nvPr/>
        </p:nvSpPr>
        <p:spPr bwMode="auto">
          <a:xfrm>
            <a:off x="8010888" y="2378623"/>
            <a:ext cx="64152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7-YF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65" name="Text Box 41"/>
          <p:cNvSpPr txBox="1">
            <a:spLocks noChangeArrowheads="1"/>
          </p:cNvSpPr>
          <p:nvPr/>
        </p:nvSpPr>
        <p:spPr bwMode="auto">
          <a:xfrm>
            <a:off x="4451708" y="1943939"/>
            <a:ext cx="95731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6,33-YC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66" name="Text Box 42"/>
          <p:cNvSpPr txBox="1">
            <a:spLocks noChangeArrowheads="1"/>
          </p:cNvSpPr>
          <p:nvPr/>
        </p:nvSpPr>
        <p:spPr bwMode="auto">
          <a:xfrm>
            <a:off x="4534671" y="4084874"/>
            <a:ext cx="66556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6-YD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2267" name="Line 43"/>
          <p:cNvSpPr>
            <a:spLocks noChangeShapeType="1"/>
          </p:cNvSpPr>
          <p:nvPr/>
        </p:nvSpPr>
        <p:spPr bwMode="auto">
          <a:xfrm flipV="1">
            <a:off x="5807968" y="2292282"/>
            <a:ext cx="1026778" cy="3296958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2268" name="Text Box 44"/>
          <p:cNvSpPr txBox="1">
            <a:spLocks noChangeArrowheads="1"/>
          </p:cNvSpPr>
          <p:nvPr/>
        </p:nvSpPr>
        <p:spPr bwMode="auto">
          <a:xfrm>
            <a:off x="3676024" y="2415948"/>
            <a:ext cx="101502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Figurado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2" name="1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2183166" y="6470676"/>
            <a:ext cx="2847975" cy="365125"/>
          </a:xfrm>
        </p:spPr>
        <p:txBody>
          <a:bodyPr/>
          <a:lstStyle/>
          <a:p>
            <a:r>
              <a:rPr lang="en-US" sz="2000" dirty="0">
                <a:latin typeface="Arial Narrow" pitchFamily="34" charset="0"/>
              </a:rPr>
              <a:t>ANIVAL TORRE</a:t>
            </a:r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0056261" y="6347024"/>
            <a:ext cx="561975" cy="365125"/>
          </a:xfrm>
        </p:spPr>
        <p:txBody>
          <a:bodyPr/>
          <a:lstStyle/>
          <a:p>
            <a:fld id="{55F7123F-EA94-4AF6-90FD-8402484B591B}" type="slidenum">
              <a:rPr lang="en-US" sz="2000">
                <a:latin typeface="Arial Narrow" pitchFamily="34" charset="0"/>
              </a:rPr>
              <a:pPr/>
              <a:t>36</a:t>
            </a:fld>
            <a:endParaRPr lang="en-US" sz="2000" dirty="0">
              <a:latin typeface="Arial Narrow" pitchFamily="34" charset="0"/>
            </a:endParaRPr>
          </a:p>
        </p:txBody>
      </p:sp>
      <p:sp>
        <p:nvSpPr>
          <p:cNvPr id="47" name="2 Marcador de contenido"/>
          <p:cNvSpPr txBox="1">
            <a:spLocks/>
          </p:cNvSpPr>
          <p:nvPr/>
        </p:nvSpPr>
        <p:spPr>
          <a:xfrm>
            <a:off x="8929208" y="1252667"/>
            <a:ext cx="3179020" cy="1508882"/>
          </a:xfrm>
          <a:prstGeom prst="rect">
            <a:avLst/>
          </a:prstGeom>
          <a:solidFill>
            <a:srgbClr val="FFFF00"/>
          </a:solidFill>
        </p:spPr>
        <p:txBody>
          <a:bodyPr/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defRPr/>
            </a:pPr>
            <a:r>
              <a:rPr lang="es-PE" sz="2800" kern="0" dirty="0">
                <a:latin typeface="Arial Narrow" pitchFamily="34" charset="0"/>
              </a:rPr>
              <a:t>RESPUESTA: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defRPr/>
            </a:pPr>
            <a:r>
              <a:rPr lang="es-PE" sz="2800" kern="0" dirty="0">
                <a:latin typeface="Arial Narrow" pitchFamily="34" charset="0"/>
              </a:rPr>
              <a:t>Duración :  31,83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defRPr/>
            </a:pPr>
            <a:r>
              <a:rPr lang="es-PE" sz="2800" kern="0" dirty="0">
                <a:latin typeface="Arial Narrow" pitchFamily="34" charset="0"/>
              </a:rPr>
              <a:t>Rutas críticas:  ADGIJ</a:t>
            </a:r>
          </a:p>
        </p:txBody>
      </p:sp>
      <p:sp>
        <p:nvSpPr>
          <p:cNvPr id="48" name="Line 19"/>
          <p:cNvSpPr>
            <a:spLocks noChangeShapeType="1"/>
          </p:cNvSpPr>
          <p:nvPr/>
        </p:nvSpPr>
        <p:spPr bwMode="auto">
          <a:xfrm>
            <a:off x="9019781" y="4439251"/>
            <a:ext cx="26297" cy="1149989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49" name="Line 19"/>
          <p:cNvSpPr>
            <a:spLocks noChangeShapeType="1"/>
          </p:cNvSpPr>
          <p:nvPr/>
        </p:nvSpPr>
        <p:spPr bwMode="auto">
          <a:xfrm flipV="1">
            <a:off x="7609387" y="4008793"/>
            <a:ext cx="1032419" cy="15906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0" name="Text Box 26"/>
          <p:cNvSpPr txBox="1">
            <a:spLocks noChangeArrowheads="1"/>
          </p:cNvSpPr>
          <p:nvPr/>
        </p:nvSpPr>
        <p:spPr bwMode="auto">
          <a:xfrm>
            <a:off x="7459456" y="2472611"/>
            <a:ext cx="31290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F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1" name="Line 13"/>
          <p:cNvSpPr>
            <a:spLocks noChangeShapeType="1"/>
          </p:cNvSpPr>
          <p:nvPr/>
        </p:nvSpPr>
        <p:spPr bwMode="auto">
          <a:xfrm>
            <a:off x="2212972" y="4376477"/>
            <a:ext cx="698047" cy="1274511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2" name="Text Box 31"/>
          <p:cNvSpPr txBox="1">
            <a:spLocks noChangeArrowheads="1"/>
          </p:cNvSpPr>
          <p:nvPr/>
        </p:nvSpPr>
        <p:spPr bwMode="auto">
          <a:xfrm>
            <a:off x="4276688" y="6139540"/>
            <a:ext cx="32573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defPPr>
              <a:defRPr lang="es-ES"/>
            </a:defPPr>
            <a:lvl1pPr algn="ctr">
              <a:defRPr sz="2000">
                <a:latin typeface="Arial Narrow" pitchFamily="34" charset="0"/>
              </a:defRPr>
            </a:lvl1pPr>
          </a:lstStyle>
          <a:p>
            <a:r>
              <a:rPr lang="es-MX" dirty="0"/>
              <a:t>E</a:t>
            </a:r>
            <a:endParaRPr lang="es-ES" dirty="0"/>
          </a:p>
        </p:txBody>
      </p:sp>
      <p:sp>
        <p:nvSpPr>
          <p:cNvPr id="53" name="Text Box 34"/>
          <p:cNvSpPr txBox="1">
            <a:spLocks noChangeArrowheads="1"/>
          </p:cNvSpPr>
          <p:nvPr/>
        </p:nvSpPr>
        <p:spPr bwMode="auto">
          <a:xfrm>
            <a:off x="2743441" y="2569281"/>
            <a:ext cx="63895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8-YA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6" name="Line 43"/>
          <p:cNvSpPr>
            <a:spLocks noChangeShapeType="1"/>
          </p:cNvSpPr>
          <p:nvPr/>
        </p:nvSpPr>
        <p:spPr bwMode="auto">
          <a:xfrm flipV="1">
            <a:off x="3368218" y="4451253"/>
            <a:ext cx="567542" cy="1199734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46" name="Line 43"/>
          <p:cNvSpPr>
            <a:spLocks noChangeShapeType="1"/>
          </p:cNvSpPr>
          <p:nvPr/>
        </p:nvSpPr>
        <p:spPr bwMode="auto">
          <a:xfrm>
            <a:off x="3246656" y="2137415"/>
            <a:ext cx="689105" cy="1528511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57" name="Oval 6"/>
          <p:cNvSpPr>
            <a:spLocks noChangeArrowheads="1"/>
          </p:cNvSpPr>
          <p:nvPr/>
        </p:nvSpPr>
        <p:spPr bwMode="auto">
          <a:xfrm>
            <a:off x="6834746" y="5574638"/>
            <a:ext cx="764413" cy="795734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X7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58" name="Line 13"/>
          <p:cNvSpPr>
            <a:spLocks noChangeShapeType="1"/>
          </p:cNvSpPr>
          <p:nvPr/>
        </p:nvSpPr>
        <p:spPr bwMode="auto">
          <a:xfrm>
            <a:off x="7241209" y="4466562"/>
            <a:ext cx="0" cy="1122679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61" name="Oval 9"/>
          <p:cNvSpPr>
            <a:spLocks noChangeArrowheads="1"/>
          </p:cNvSpPr>
          <p:nvPr/>
        </p:nvSpPr>
        <p:spPr bwMode="auto">
          <a:xfrm>
            <a:off x="9785496" y="3628906"/>
            <a:ext cx="775000" cy="774679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MX" sz="2000" dirty="0">
                <a:latin typeface="Arial Narrow" pitchFamily="34" charset="0"/>
              </a:rPr>
              <a:t>X10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62" name="Line 19"/>
          <p:cNvSpPr>
            <a:spLocks noChangeShapeType="1"/>
          </p:cNvSpPr>
          <p:nvPr/>
        </p:nvSpPr>
        <p:spPr bwMode="auto">
          <a:xfrm flipV="1">
            <a:off x="9279269" y="4342345"/>
            <a:ext cx="725799" cy="130864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66" name="Text Box 29"/>
          <p:cNvSpPr txBox="1">
            <a:spLocks noChangeArrowheads="1"/>
          </p:cNvSpPr>
          <p:nvPr/>
        </p:nvSpPr>
        <p:spPr bwMode="auto">
          <a:xfrm>
            <a:off x="9507846" y="4512808"/>
            <a:ext cx="29046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J</a:t>
            </a:r>
          </a:p>
        </p:txBody>
      </p:sp>
      <p:sp>
        <p:nvSpPr>
          <p:cNvPr id="67" name="Text Box 38"/>
          <p:cNvSpPr txBox="1">
            <a:spLocks noChangeArrowheads="1"/>
          </p:cNvSpPr>
          <p:nvPr/>
        </p:nvSpPr>
        <p:spPr bwMode="auto">
          <a:xfrm>
            <a:off x="9645234" y="5027900"/>
            <a:ext cx="57098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sz="2000" dirty="0">
                <a:latin typeface="Arial Narrow" pitchFamily="34" charset="0"/>
              </a:rPr>
              <a:t>8-YI</a:t>
            </a:r>
            <a:endParaRPr lang="es-ES" sz="2000" dirty="0">
              <a:latin typeface="Arial Narrow" pitchFamily="34" charset="0"/>
            </a:endParaRPr>
          </a:p>
        </p:txBody>
      </p:sp>
      <p:sp>
        <p:nvSpPr>
          <p:cNvPr id="68" name="Line 13"/>
          <p:cNvSpPr>
            <a:spLocks noChangeShapeType="1"/>
          </p:cNvSpPr>
          <p:nvPr/>
        </p:nvSpPr>
        <p:spPr bwMode="auto">
          <a:xfrm>
            <a:off x="7503483" y="2188768"/>
            <a:ext cx="1280326" cy="150888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  <p:sp>
        <p:nvSpPr>
          <p:cNvPr id="69" name="Line 43"/>
          <p:cNvSpPr>
            <a:spLocks noChangeShapeType="1"/>
          </p:cNvSpPr>
          <p:nvPr/>
        </p:nvSpPr>
        <p:spPr bwMode="auto">
          <a:xfrm flipV="1">
            <a:off x="7544087" y="4376477"/>
            <a:ext cx="1216209" cy="1412819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s-ES" sz="2000" dirty="0"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2044935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ANIVAL TORRE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7123F-EA94-4AF6-90FD-8402484B591B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122881" name="Rectangle 1"/>
          <p:cNvSpPr>
            <a:spLocks noChangeArrowheads="1"/>
          </p:cNvSpPr>
          <p:nvPr/>
        </p:nvSpPr>
        <p:spPr bwMode="auto">
          <a:xfrm>
            <a:off x="235248" y="1338912"/>
            <a:ext cx="10964618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450850" fontAlgn="base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630238" algn="l"/>
              </a:tabLst>
            </a:pPr>
            <a:r>
              <a:rPr lang="es-ES" sz="2000" dirty="0">
                <a:latin typeface="Arial" pitchFamily="34" charset="0"/>
                <a:cs typeface="Arial" pitchFamily="34" charset="0"/>
              </a:rPr>
              <a:t>MODELO DE CHOQUE</a:t>
            </a:r>
            <a:endParaRPr lang="es-PE" sz="2000" dirty="0">
              <a:latin typeface="Arial" pitchFamily="34" charset="0"/>
              <a:cs typeface="Arial" pitchFamily="34" charset="0"/>
            </a:endParaRPr>
          </a:p>
          <a:p>
            <a:pPr indent="450850" eaLnBrk="0" hangingPunct="0">
              <a:tabLst>
                <a:tab pos="630238" algn="l"/>
              </a:tabLst>
            </a:pPr>
            <a:r>
              <a:rPr lang="es-MX" sz="2000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MIN 500YA + 400YB +300YC + 0YD + 200YE + </a:t>
            </a:r>
            <a:r>
              <a:rPr lang="es-MX" sz="2000" dirty="0" err="1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100YF</a:t>
            </a:r>
            <a:r>
              <a:rPr lang="es-MX" sz="2000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+</a:t>
            </a:r>
            <a:r>
              <a:rPr lang="es-MX" sz="2000" dirty="0" err="1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150YG</a:t>
            </a:r>
            <a:r>
              <a:rPr lang="es-MX" sz="2000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+ 250YH + 350YI +0YJ</a:t>
            </a:r>
          </a:p>
          <a:p>
            <a:pPr indent="450850" eaLnBrk="0" hangingPunct="0">
              <a:tabLst>
                <a:tab pos="630238" algn="l"/>
              </a:tabLst>
            </a:pPr>
            <a:r>
              <a:rPr lang="es-PE" sz="2000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SUBJECT TO</a:t>
            </a:r>
            <a:endParaRPr lang="es-PE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2 Marcador de contenido"/>
          <p:cNvSpPr txBox="1">
            <a:spLocks/>
          </p:cNvSpPr>
          <p:nvPr/>
        </p:nvSpPr>
        <p:spPr>
          <a:xfrm>
            <a:off x="8440496" y="2734893"/>
            <a:ext cx="2520030" cy="1845158"/>
          </a:xfrm>
          <a:prstGeom prst="rect">
            <a:avLst/>
          </a:prstGeom>
          <a:solidFill>
            <a:srgbClr val="FFFF00"/>
          </a:solidFill>
        </p:spPr>
        <p:txBody>
          <a:bodyPr/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defRPr/>
            </a:pPr>
            <a:r>
              <a:rPr lang="es-PE" sz="2000" kern="0" dirty="0">
                <a:latin typeface="Arial Narrow" pitchFamily="34" charset="0"/>
              </a:rPr>
              <a:t>RESPUESTA: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defRPr/>
            </a:pPr>
            <a:r>
              <a:rPr lang="es-PE" sz="2000" kern="0" dirty="0">
                <a:latin typeface="Arial Narrow" pitchFamily="34" charset="0"/>
              </a:rPr>
              <a:t>Costo adicional:  2325 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defRPr/>
            </a:pPr>
            <a:r>
              <a:rPr lang="es-PE" sz="2000" kern="0" dirty="0">
                <a:latin typeface="Arial Narrow" pitchFamily="34" charset="0"/>
              </a:rPr>
              <a:t>Tareas a reducir :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defRPr/>
            </a:pPr>
            <a:r>
              <a:rPr lang="es-PE" sz="2000" kern="0" dirty="0">
                <a:latin typeface="Arial Narrow" pitchFamily="34" charset="0"/>
              </a:rPr>
              <a:t>A(1)   C(2)   D(1) 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defRPr/>
            </a:pPr>
            <a:r>
              <a:rPr lang="es-PE" sz="2000" kern="0" dirty="0">
                <a:latin typeface="Arial Narrow" pitchFamily="34" charset="0"/>
              </a:rPr>
              <a:t>E(1)   F(1,5) I(2,5)</a:t>
            </a:r>
          </a:p>
        </p:txBody>
      </p:sp>
      <p:graphicFrame>
        <p:nvGraphicFramePr>
          <p:cNvPr id="5" name="4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941863"/>
              </p:ext>
            </p:extLst>
          </p:nvPr>
        </p:nvGraphicFramePr>
        <p:xfrm>
          <a:off x="753521" y="2273452"/>
          <a:ext cx="6580089" cy="435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2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78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42908">
                <a:tc>
                  <a:txBody>
                    <a:bodyPr/>
                    <a:lstStyle/>
                    <a:p>
                      <a:pPr marL="0" lvl="0" indent="450850" algn="l" defTabSz="914400" rtl="0" eaLnBrk="0" latinLnBrk="0" hangingPunct="0">
                        <a:tabLst>
                          <a:tab pos="630238" algn="l"/>
                        </a:tabLst>
                      </a:pPr>
                      <a:r>
                        <a:rPr kumimoji="0" lang="es-MX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YA &lt;=4</a:t>
                      </a:r>
                      <a:endParaRPr kumimoji="0" lang="es-PE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  <a:p>
                      <a:pPr marL="0" lvl="0" indent="450850" algn="l" defTabSz="914400" rtl="0" eaLnBrk="0" latinLnBrk="0" hangingPunct="0">
                        <a:tabLst>
                          <a:tab pos="630238" algn="l"/>
                        </a:tabLst>
                      </a:pPr>
                      <a:r>
                        <a:rPr kumimoji="0" lang="es-MX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YB &lt;= 0.33</a:t>
                      </a:r>
                      <a:endParaRPr kumimoji="0" lang="es-PE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  <a:p>
                      <a:pPr marL="0" lvl="0" indent="450850" algn="l" defTabSz="914400" rtl="0" eaLnBrk="0" latinLnBrk="0" hangingPunct="0">
                        <a:tabLst>
                          <a:tab pos="630238" algn="l"/>
                        </a:tabLst>
                      </a:pPr>
                      <a:r>
                        <a:rPr kumimoji="0" lang="es-MX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YC &lt;= 3.33</a:t>
                      </a:r>
                      <a:endParaRPr kumimoji="0" lang="es-PE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  <a:p>
                      <a:pPr marL="0" lvl="0" indent="450850" algn="l" defTabSz="914400" rtl="0" eaLnBrk="0" latinLnBrk="0" hangingPunct="0">
                        <a:tabLst>
                          <a:tab pos="630238" algn="l"/>
                        </a:tabLst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YD &lt;= 0      </a:t>
                      </a:r>
                      <a:endParaRPr kumimoji="0" lang="es-PE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  <a:p>
                      <a:pPr marL="0" lvl="0" indent="450850" algn="l" defTabSz="914400" rtl="0" eaLnBrk="0" latinLnBrk="0" hangingPunct="0">
                        <a:tabLst>
                          <a:tab pos="630238" algn="l"/>
                        </a:tabLst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YE &lt;= 1</a:t>
                      </a:r>
                      <a:endParaRPr kumimoji="0" lang="es-PE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  <a:p>
                      <a:pPr marL="0" lvl="0" indent="450850" algn="l" defTabSz="914400" rtl="0" eaLnBrk="0" latinLnBrk="0" hangingPunct="0">
                        <a:tabLst>
                          <a:tab pos="630238" algn="l"/>
                        </a:tabLst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YF &lt;=0.67</a:t>
                      </a:r>
                      <a:endParaRPr kumimoji="0" lang="es-PE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  <a:p>
                      <a:pPr marL="0" lvl="0" indent="450850" algn="l" defTabSz="914400" rtl="0" eaLnBrk="0" latinLnBrk="0" hangingPunct="0">
                        <a:tabLst>
                          <a:tab pos="630238" algn="l"/>
                        </a:tabLst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YG &lt;= 3.33</a:t>
                      </a:r>
                      <a:endParaRPr kumimoji="0" lang="es-PE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  <a:p>
                      <a:pPr marL="0" lvl="0" indent="450850" algn="l" defTabSz="914400" rtl="0" eaLnBrk="0" latinLnBrk="0" hangingPunct="0">
                        <a:tabLst>
                          <a:tab pos="630238" algn="l"/>
                        </a:tabLst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YH &lt;= 2</a:t>
                      </a:r>
                      <a:endParaRPr kumimoji="0" lang="es-PE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  <a:p>
                      <a:pPr marL="0" lvl="0" indent="450850" algn="l" defTabSz="914400" rtl="0" eaLnBrk="0" latinLnBrk="0" hangingPunct="0">
                        <a:tabLst>
                          <a:tab pos="630238" algn="l"/>
                        </a:tabLst>
                      </a:pPr>
                      <a:r>
                        <a:rPr kumimoji="0" lang="es-MX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YI  &lt;= 1.5</a:t>
                      </a:r>
                      <a:endParaRPr kumimoji="0" lang="es-PE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  <a:p>
                      <a:pPr marL="0" lvl="0" indent="450850" algn="l" defTabSz="914400" rtl="0" eaLnBrk="0" latinLnBrk="0" hangingPunct="0">
                        <a:tabLst>
                          <a:tab pos="630238" algn="l"/>
                        </a:tabLst>
                      </a:pPr>
                      <a:r>
                        <a:rPr kumimoji="0" lang="es-MX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YJ &lt;=0</a:t>
                      </a:r>
                      <a:endParaRPr kumimoji="0" lang="es-PE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  <a:p>
                      <a:pPr marL="0" lvl="0" indent="450850" algn="l" defTabSz="914400" rtl="0" eaLnBrk="0" latinLnBrk="0" hangingPunct="0">
                        <a:tabLst>
                          <a:tab pos="630238" algn="l"/>
                        </a:tabLst>
                      </a:pPr>
                      <a:r>
                        <a:rPr kumimoji="0" lang="es-MX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X0=0</a:t>
                      </a:r>
                      <a:endParaRPr kumimoji="0" lang="es-PE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  <a:p>
                      <a:pPr marL="0" lvl="0" indent="450850" algn="l" defTabSz="914400" rtl="0" eaLnBrk="0" latinLnBrk="0" hangingPunct="0">
                        <a:tabLst>
                          <a:tab pos="630238" algn="l"/>
                        </a:tabLst>
                      </a:pPr>
                      <a:r>
                        <a:rPr kumimoji="0" lang="es-MX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X10&lt;= </a:t>
                      </a:r>
                      <a:r>
                        <a:rPr kumimoji="0" lang="es-PE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26</a:t>
                      </a:r>
                    </a:p>
                    <a:p>
                      <a:pPr marL="0" lvl="0" indent="450850" algn="l" defTabSz="914400" rtl="0" eaLnBrk="0" latinLnBrk="0" hangingPunct="0">
                        <a:tabLst>
                          <a:tab pos="630238" algn="l"/>
                        </a:tabLst>
                      </a:pPr>
                      <a:r>
                        <a:rPr kumimoji="0" lang="es-MX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X1 - X0 +  YA &gt;=8</a:t>
                      </a:r>
                      <a:endParaRPr kumimoji="0" lang="es-PE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  <a:p>
                      <a:pPr marL="0" lvl="0" indent="450850" algn="l" defTabSz="914400" rtl="0" eaLnBrk="0" latinLnBrk="0" hangingPunct="0">
                        <a:tabLst>
                          <a:tab pos="630238" algn="l"/>
                        </a:tabLst>
                      </a:pPr>
                      <a:r>
                        <a:rPr kumimoji="0" lang="es-MX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X2 – X0+ YB &gt;=2.33</a:t>
                      </a:r>
                      <a:endParaRPr kumimoji="0" lang="es-PE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450850" algn="l" defTabSz="914400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630238" algn="l"/>
                        </a:tabLst>
                        <a:defRPr/>
                      </a:pPr>
                      <a:r>
                        <a:rPr kumimoji="0" lang="es-MX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X3 – X1 &gt;=0</a:t>
                      </a:r>
                      <a:endParaRPr kumimoji="0" lang="es-PE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  <a:p>
                      <a:pPr marL="0" lvl="0" indent="450850" algn="l" defTabSz="914400" rtl="0" eaLnBrk="0" latinLnBrk="0" hangingPunct="0">
                        <a:tabLst>
                          <a:tab pos="630238" algn="l"/>
                        </a:tabLst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X3 - X2  &gt;= 0</a:t>
                      </a:r>
                      <a:endParaRPr kumimoji="0" lang="es-PE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  <a:p>
                      <a:pPr marL="0" lvl="0" indent="450850" algn="l" defTabSz="914400" rtl="0" eaLnBrk="0" latinLnBrk="0" hangingPunct="0">
                        <a:tabLst>
                          <a:tab pos="630238" algn="l"/>
                        </a:tabLst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X4 – X2 + YE&gt;=6	</a:t>
                      </a:r>
                      <a:endParaRPr kumimoji="0" lang="es-PE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  <a:p>
                      <a:pPr marL="0" lvl="0" indent="450850" algn="l" defTabSz="914400" rtl="0" eaLnBrk="0" latinLnBrk="0" hangingPunct="0">
                        <a:tabLst>
                          <a:tab pos="630238" algn="l"/>
                        </a:tabLst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X5 – X1 + YC&gt;=6.33</a:t>
                      </a:r>
                      <a:endParaRPr kumimoji="0" lang="es-PE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  <a:p>
                      <a:pPr marL="0" lvl="0" indent="450850" algn="l" defTabSz="914400" rtl="0" eaLnBrk="0" latinLnBrk="0" hangingPunct="0">
                        <a:tabLst>
                          <a:tab pos="630238" algn="l"/>
                        </a:tabLst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X5 - X4 &gt;=0</a:t>
                      </a:r>
                      <a:endParaRPr kumimoji="0" lang="es-PE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  <a:p>
                      <a:pPr marL="0" lvl="0" indent="450850" algn="l" defTabSz="914400" rtl="0" eaLnBrk="0" latinLnBrk="0" hangingPunct="0">
                        <a:tabLst>
                          <a:tab pos="630238" algn="l"/>
                        </a:tabLst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X6 – X3 + YD &gt;= 6	</a:t>
                      </a:r>
                      <a:endParaRPr kumimoji="0" lang="es-PE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  <a:p>
                      <a:pPr marL="0" lvl="0" indent="450850" algn="l" defTabSz="914400" rtl="0" eaLnBrk="0" latinLnBrk="0" hangingPunct="0">
                        <a:tabLst>
                          <a:tab pos="630238" algn="l"/>
                        </a:tabLst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X7 – X6  +YH&gt;=6	</a:t>
                      </a:r>
                      <a:endParaRPr kumimoji="0" lang="es-PE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  <a:p>
                      <a:pPr marL="0" lvl="0" indent="450850" algn="l" defTabSz="914400" rtl="0" eaLnBrk="0" latinLnBrk="0" hangingPunct="0">
                        <a:tabLst>
                          <a:tab pos="630238" algn="l"/>
                        </a:tabLst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X8 – X5 + YF &gt;=4.67</a:t>
                      </a:r>
                      <a:endParaRPr kumimoji="0" lang="es-PE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  <a:p>
                      <a:pPr marL="0" lvl="0" indent="450850" algn="l" defTabSz="914400" rtl="0" eaLnBrk="0" latinLnBrk="0" hangingPunct="0">
                        <a:tabLst>
                          <a:tab pos="630238" algn="l"/>
                        </a:tabLst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X8 – X6 + YG&gt;=8.33</a:t>
                      </a:r>
                      <a:endParaRPr kumimoji="0" lang="es-PE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  <a:p>
                      <a:pPr marL="0" lvl="0" indent="450850" algn="l" defTabSz="914400" rtl="0" eaLnBrk="0" latinLnBrk="0" hangingPunct="0">
                        <a:tabLst>
                          <a:tab pos="630238" algn="l"/>
                        </a:tabLst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X8 – X7 &gt;=0</a:t>
                      </a:r>
                      <a:endParaRPr kumimoji="0" lang="es-PE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  <a:p>
                      <a:pPr marL="0" lvl="0" indent="450850" algn="l" defTabSz="914400" rtl="0" eaLnBrk="0" latinLnBrk="0" hangingPunct="0">
                        <a:tabLst>
                          <a:tab pos="630238" algn="l"/>
                        </a:tabLst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X9 – X8  +YI&gt;=4.5	</a:t>
                      </a:r>
                      <a:endParaRPr kumimoji="0" lang="es-PE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  <a:p>
                      <a:pPr marL="0" lvl="0" indent="450850" algn="l" defTabSz="914400" rtl="0" eaLnBrk="0" latinLnBrk="0" hangingPunct="0">
                        <a:tabLst>
                          <a:tab pos="630238" algn="l"/>
                        </a:tabLst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X9 – X4 &gt;=0</a:t>
                      </a:r>
                      <a:endParaRPr kumimoji="0" lang="es-PE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  <a:p>
                      <a:pPr marL="0" lvl="0" indent="450850" algn="l" defTabSz="914400" rtl="0" eaLnBrk="0" latinLnBrk="0" hangingPunct="0">
                        <a:tabLst>
                          <a:tab pos="630238" algn="l"/>
                        </a:tabLst>
                      </a:pPr>
                      <a:r>
                        <a:rPr kumimoji="0" lang="es-MX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X10 – X9 + YJ&gt;=5</a:t>
                      </a:r>
                      <a:endParaRPr kumimoji="0" lang="es-PE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Rectángulo 5">
            <a:extLst>
              <a:ext uri="{FF2B5EF4-FFF2-40B4-BE49-F238E27FC236}">
                <a16:creationId xmlns:a16="http://schemas.microsoft.com/office/drawing/2014/main" id="{545C668A-E357-5E54-81E3-51CA6EAFCBEF}"/>
              </a:ext>
            </a:extLst>
          </p:cNvPr>
          <p:cNvSpPr/>
          <p:nvPr/>
        </p:nvSpPr>
        <p:spPr>
          <a:xfrm>
            <a:off x="6096000" y="136525"/>
            <a:ext cx="6096000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spcFirstLastPara="1"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5800"/>
              </a:lnSpc>
              <a:spcBef>
                <a:spcPct val="0"/>
              </a:spcBef>
            </a:pPr>
            <a:r>
              <a:rPr lang="es-PE" sz="3200" dirty="0">
                <a:solidFill>
                  <a:schemeClr val="bg1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Bauhaus 93" pitchFamily="82" charset="0"/>
              </a:rPr>
              <a:t>Modelo matemático</a:t>
            </a:r>
          </a:p>
        </p:txBody>
      </p:sp>
    </p:spTree>
    <p:extLst>
      <p:ext uri="{BB962C8B-B14F-4D97-AF65-F5344CB8AC3E}">
        <p14:creationId xmlns:p14="http://schemas.microsoft.com/office/powerpoint/2010/main" val="10264357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38</a:t>
            </a:fld>
            <a:endParaRPr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2049501" y="2276872"/>
            <a:ext cx="7920880" cy="1220754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  <p:txBody>
          <a:bodyPr spcFirstLastPara="1"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marL="87313" indent="-87313" algn="ctr"/>
            <a:r>
              <a:rPr lang="es-ES" sz="2800" b="0" dirty="0">
                <a:solidFill>
                  <a:srgbClr val="700000"/>
                </a:solidFill>
                <a:latin typeface="+mn-lt"/>
                <a:ea typeface="+mn-ea"/>
                <a:cs typeface="+mn-cs"/>
              </a:rPr>
              <a:t>Donde quiera que usted vea un negocio exitoso, alguien ha tomado una decisión valiente</a:t>
            </a:r>
            <a:r>
              <a:rPr lang="es-ES" sz="2400" b="0" dirty="0">
                <a:solidFill>
                  <a:srgbClr val="700000"/>
                </a:solidFill>
                <a:latin typeface="+mn-lt"/>
                <a:ea typeface="+mn-ea"/>
                <a:cs typeface="+mn-cs"/>
              </a:rPr>
              <a:t>.</a:t>
            </a:r>
            <a:br>
              <a:rPr lang="es-ES" sz="2400" b="0" dirty="0">
                <a:solidFill>
                  <a:srgbClr val="700000"/>
                </a:solidFill>
                <a:latin typeface="+mn-lt"/>
                <a:ea typeface="+mn-ea"/>
                <a:cs typeface="+mn-cs"/>
              </a:rPr>
            </a:br>
            <a:endParaRPr lang="es-PE" sz="2400" b="0" dirty="0">
              <a:solidFill>
                <a:srgbClr val="7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6096000" y="92279"/>
            <a:ext cx="6096000" cy="872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3200" i="1">
                <a:solidFill>
                  <a:schemeClr val="accent5">
                    <a:lumMod val="20000"/>
                    <a:lumOff val="80000"/>
                  </a:schemeClr>
                </a:solidFill>
                <a:latin typeface="Bauhaus 93" pitchFamily="82" charset="0"/>
              </a:defRPr>
            </a:lvl1pPr>
            <a:lvl2pPr algn="r" eaLnBrk="1" hangingPunct="1">
              <a:defRPr sz="2800" i="1">
                <a:latin typeface="Verdana" pitchFamily="34" charset="0"/>
              </a:defRPr>
            </a:lvl2pPr>
            <a:lvl3pPr algn="r" eaLnBrk="1" hangingPunct="1">
              <a:defRPr sz="2800" i="1">
                <a:latin typeface="Verdana" pitchFamily="34" charset="0"/>
              </a:defRPr>
            </a:lvl3pPr>
            <a:lvl4pPr algn="r" eaLnBrk="1" hangingPunct="1">
              <a:defRPr sz="2800" i="1">
                <a:latin typeface="Verdana" pitchFamily="34" charset="0"/>
              </a:defRPr>
            </a:lvl4pPr>
            <a:lvl5pPr algn="r" eaLnBrk="1" hangingPunct="1">
              <a:defRPr sz="2800" i="1">
                <a:latin typeface="Verdana" pitchFamily="34" charset="0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 sz="2800" i="1">
                <a:latin typeface="Verdana" pitchFamily="34" charset="0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 sz="2800" i="1">
                <a:latin typeface="Verdana" pitchFamily="34" charset="0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 sz="2800" i="1">
                <a:latin typeface="Verdana" pitchFamily="34" charset="0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 sz="2800" i="1">
                <a:latin typeface="Verdana" pitchFamily="34" charset="0"/>
              </a:defRPr>
            </a:lvl9pPr>
          </a:lstStyle>
          <a:p>
            <a:r>
              <a:rPr lang="es-MX" dirty="0">
                <a:solidFill>
                  <a:srgbClr val="FFFF00"/>
                </a:solidFill>
              </a:rPr>
              <a:t>Seamos dueños de nuestro propio destino</a:t>
            </a:r>
            <a:endParaRPr lang="es-ES" i="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345A401-5395-4861-90CC-1389B0CFAC65}"/>
              </a:ext>
            </a:extLst>
          </p:cNvPr>
          <p:cNvSpPr/>
          <p:nvPr/>
        </p:nvSpPr>
        <p:spPr>
          <a:xfrm>
            <a:off x="4958093" y="4125017"/>
            <a:ext cx="22758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Gracias</a:t>
            </a:r>
          </a:p>
        </p:txBody>
      </p:sp>
      <p:pic>
        <p:nvPicPr>
          <p:cNvPr id="6" name="Picture 5" descr="004">
            <a:extLst>
              <a:ext uri="{FF2B5EF4-FFF2-40B4-BE49-F238E27FC236}">
                <a16:creationId xmlns:a16="http://schemas.microsoft.com/office/drawing/2014/main" id="{10E9D79D-8D69-43FB-8635-4B0D7576B5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5506" y="3733101"/>
            <a:ext cx="2095281" cy="2793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24822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68" decel="10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68" decel="100000"/>
                                        <p:tgtEl>
                                          <p:spTgt spid="4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1230" accel="100000" fill="hold">
                                          <p:stCondLst>
                                            <p:cond delay="7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768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1230" accel="100000" fill="hold">
                                          <p:stCondLst>
                                            <p:cond delay="7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768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Tema de Office">
  <a:themeElements>
    <a:clrScheme name="Azul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6433</TotalTime>
  <Words>4401</Words>
  <Application>Microsoft Office PowerPoint</Application>
  <PresentationFormat>Panorámica</PresentationFormat>
  <Paragraphs>1399</Paragraphs>
  <Slides>38</Slides>
  <Notes>12</Notes>
  <HiddenSlides>0</HiddenSlides>
  <MMClips>0</MMClips>
  <ScaleCrop>false</ScaleCrop>
  <HeadingPairs>
    <vt:vector size="8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0</vt:i4>
      </vt:variant>
      <vt:variant>
        <vt:lpstr>Títulos de diapositiva</vt:lpstr>
      </vt:variant>
      <vt:variant>
        <vt:i4>38</vt:i4>
      </vt:variant>
    </vt:vector>
  </HeadingPairs>
  <TitlesOfParts>
    <vt:vector size="48" baseType="lpstr">
      <vt:lpstr>Arial</vt:lpstr>
      <vt:lpstr>Arial Narrow</vt:lpstr>
      <vt:lpstr>Bauhaus 93</vt:lpstr>
      <vt:lpstr>Bodoni MT Black</vt:lpstr>
      <vt:lpstr>Calibri</vt:lpstr>
      <vt:lpstr>Calibri Light</vt:lpstr>
      <vt:lpstr>Lexend Deca</vt:lpstr>
      <vt:lpstr>Signika</vt:lpstr>
      <vt:lpstr>Times New Roman</vt:lpstr>
      <vt:lpstr>Tema de Office</vt:lpstr>
      <vt:lpstr>Presentación de PowerPoint</vt:lpstr>
      <vt:lpstr>Técnica de choque</vt:lpstr>
      <vt:lpstr>Contenido</vt:lpstr>
      <vt:lpstr>Presentación de PowerPoint</vt:lpstr>
      <vt:lpstr>Consideraciones sobre costos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EJERCICIO 10.12 Disminuir  a 47 sem.</vt:lpstr>
      <vt:lpstr>Red del 10.12</vt:lpstr>
      <vt:lpstr>Presentación de PowerPoint</vt:lpstr>
      <vt:lpstr>Presentación de PowerPoint</vt:lpstr>
      <vt:lpstr>Red del 10.12</vt:lpstr>
      <vt:lpstr>Presentación de PowerPoint</vt:lpstr>
      <vt:lpstr>Presentación de PowerPoint</vt:lpstr>
      <vt:lpstr>EJERCICIO 10.12 Disminuir  a 22 días.</vt:lpstr>
      <vt:lpstr>Presentación de PowerPoint</vt:lpstr>
      <vt:lpstr>EJERCICIO 10.12 Disminuir  a 22 días.</vt:lpstr>
      <vt:lpstr>Presentación de PowerPoint</vt:lpstr>
      <vt:lpstr>Presentación de PowerPoint</vt:lpstr>
      <vt:lpstr>Presentación de PowerPoint</vt:lpstr>
      <vt:lpstr>Red del 10.12</vt:lpstr>
      <vt:lpstr>Presentación de PowerPoint</vt:lpstr>
      <vt:lpstr>Presentación de PowerPoint</vt:lpstr>
      <vt:lpstr>Presentación de PowerPoint</vt:lpstr>
      <vt:lpstr>Presentación de PowerPoint</vt:lpstr>
      <vt:lpstr>Red del 10.12</vt:lpstr>
      <vt:lpstr>Presentación de PowerPoint</vt:lpstr>
      <vt:lpstr>Presentación de PowerPoint</vt:lpstr>
      <vt:lpstr>Red del 10.12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ANIVAL ALFREDO TORRE CAMONES</dc:creator>
  <cp:lastModifiedBy>ANIVAL ALFREDO TORRE CAMONES</cp:lastModifiedBy>
  <cp:revision>309</cp:revision>
  <dcterms:created xsi:type="dcterms:W3CDTF">2021-09-08T13:14:39Z</dcterms:created>
  <dcterms:modified xsi:type="dcterms:W3CDTF">2026-08-16T17:23:37Z</dcterms:modified>
</cp:coreProperties>
</file>
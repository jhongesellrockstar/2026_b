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481" r:id="rId2"/>
    <p:sldId id="306" r:id="rId3"/>
    <p:sldId id="374" r:id="rId4"/>
    <p:sldId id="348" r:id="rId5"/>
    <p:sldId id="365" r:id="rId6"/>
    <p:sldId id="364" r:id="rId7"/>
    <p:sldId id="352" r:id="rId8"/>
    <p:sldId id="353" r:id="rId9"/>
    <p:sldId id="354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83" r:id="rId18"/>
    <p:sldId id="384" r:id="rId19"/>
    <p:sldId id="381" r:id="rId20"/>
    <p:sldId id="382" r:id="rId21"/>
    <p:sldId id="379" r:id="rId22"/>
    <p:sldId id="380" r:id="rId23"/>
    <p:sldId id="377" r:id="rId24"/>
    <p:sldId id="378" r:id="rId25"/>
    <p:sldId id="375" r:id="rId26"/>
    <p:sldId id="376" r:id="rId27"/>
    <p:sldId id="385" r:id="rId28"/>
    <p:sldId id="386" r:id="rId29"/>
    <p:sldId id="387" r:id="rId30"/>
    <p:sldId id="389" r:id="rId31"/>
    <p:sldId id="390" r:id="rId32"/>
    <p:sldId id="391" r:id="rId33"/>
    <p:sldId id="392" r:id="rId34"/>
    <p:sldId id="393" r:id="rId35"/>
    <p:sldId id="394" r:id="rId36"/>
    <p:sldId id="395" r:id="rId37"/>
    <p:sldId id="280" r:id="rId3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8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" y="18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178B7CE-16B1-4D5A-BEDA-E05D7C0F0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CE36C0-2D64-40DB-852E-EFE530BD79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D107-6AA0-4BB9-B3AF-2511759F0087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B9BBA3-CB3B-42EF-AC1C-A77E63AFD7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9A3671-5C2E-4C01-9181-86F707851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CDB2B-DC05-4B7E-84A4-8E8FE9CBF7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7450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D54B5-B035-46F5-86D2-1F43704B1BDB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36FA3-1F11-49F4-B68F-8771EDD4DFA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99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FDB4C-8DB5-4895-9E8B-EB4F1648811C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0402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2878"/>
            <a:ext cx="5486400" cy="4114558"/>
          </a:xfrm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2776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/>
              <a:t>PERU 2021</a:t>
            </a: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2878"/>
            <a:ext cx="5486400" cy="4114558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577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/>
              <a:t>PERU 2021</a:t>
            </a: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2878"/>
            <a:ext cx="5486400" cy="4114558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656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/>
              <a:t>PERU 2021</a:t>
            </a: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2878"/>
            <a:ext cx="5486400" cy="4114558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6534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7758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13C-61E5-46CC-960D-63C41DAD0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684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267FC4-894E-4993-BA18-2C880EE5C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A1ECE-8248-44B1-88C7-8265017B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FFCCB-2285-4BA7-B745-4CE0B16C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64D61-7B3F-4D44-B814-04BD0FE4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8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F9EE1-AB02-439C-A953-D0BD302C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91F11-EC76-4F7E-AC56-EAD0CEBC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78AEF-A6A9-47DF-9C5C-6B500700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63CA0-8BC2-4AA4-81B5-97227686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60248-016B-4028-85F2-75F83EB9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30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EA209-C4D8-4196-890A-95A7CD4C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6A4D1-0438-48FA-ADCC-AC432CD76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42E60-612D-41CC-9EE5-C343BC61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065A3-6AD0-4723-847E-57B36A32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C95E3-1973-401E-B849-5F2F2C42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726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DB3A3-9D86-449F-A088-128C6B5F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EF8CB9-38CA-4EBF-8F62-EE68B4D6F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C23C3-AE0F-4F5F-B104-BC7EA7551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BCC75-FAFB-4988-ADC8-1E30F0A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7CF524-1AD2-4D6E-AF46-445C350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33D9-E06A-43BB-8FFF-B7E7E56A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71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725AD-02A9-499A-B864-01AF086F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753734-FC45-4B55-9A29-B26B4CA1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98FBB3-E4E6-411C-A6B3-B26D06335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BACB3A-C4CB-4902-9988-B007A97C9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E2010D-8FDA-4E19-9A31-23C0FE9DC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1D191B-5CF0-419F-BF5B-EA606AC8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8A4629-604A-46AD-BB45-292C54D7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A188A-724B-44E9-BEF7-9E257530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927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FFE6-E44F-47FD-8C64-C1FC42A7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68DDD2-028A-4549-9EB3-E8431887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50669B-5EDE-4060-A1CA-FE7DBD9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429BDB-A623-46DB-A3B7-8B68CD92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66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78ADCC-78DF-44C4-A2C7-A7CF2426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7367FB-6CD9-4469-A229-B61F0DC4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1C5A5-C7FD-466A-934B-60249339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219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1FB1A-74AA-4E0D-83B3-1170F86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0C1AE-BAE4-48E0-88AC-F6958D0E8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3CCC19-652F-4628-8819-4FD180AB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3BD21F-BC06-43CD-9F66-5FD87304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2DF95C-F515-4AB8-9206-5F559DA0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A0F4A3-A4A8-4405-B84F-C1D44A15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75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3BB7-CA9F-4940-8C7F-2CBF43BB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45E52B-AEB7-42F1-BC8E-CA7E0DDCD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3A4FC1-5C27-4983-99E0-60D4F82D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B805C-3A94-453E-BC4E-88A5F9C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8EB1F-6B71-43D0-B4BB-2F47A94B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0476AE-7DAC-4DCA-A6E4-E2E505CB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975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5B00E-0B7A-4AA1-B637-DC7127C4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2176F4-1231-4795-897F-95458CBC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A9332-3346-4724-9DEE-503B007F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3589D-3073-43DA-AEA2-6F6C05DA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E47B5-2AEE-4851-B029-9988B8B5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58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FE1D6-7CA5-4A02-A9CE-8A394A8F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8F9D7-F895-4417-B97E-7076B318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AE240-89B5-46F0-94D1-CF5205BC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EB6FE0-843B-48B7-80F0-57541432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E9982-F23C-426D-A95A-1B50FADA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27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74400" y="3986567"/>
            <a:ext cx="5629600" cy="122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400"/>
              <a:buNone/>
              <a:defRPr sz="12535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10" name="Google Shape;10;p2"/>
          <p:cNvGrpSpPr/>
          <p:nvPr/>
        </p:nvGrpSpPr>
        <p:grpSpPr>
          <a:xfrm>
            <a:off x="4658468" y="-60667"/>
            <a:ext cx="7533533" cy="6979333"/>
            <a:chOff x="970375" y="238125"/>
            <a:chExt cx="5650150" cy="5234500"/>
          </a:xfrm>
        </p:grpSpPr>
        <p:sp>
          <p:nvSpPr>
            <p:cNvPr id="11" name="Google Shape;11;p2"/>
            <p:cNvSpPr/>
            <p:nvPr/>
          </p:nvSpPr>
          <p:spPr>
            <a:xfrm>
              <a:off x="970375" y="238125"/>
              <a:ext cx="1456750" cy="5234500"/>
            </a:xfrm>
            <a:custGeom>
              <a:avLst/>
              <a:gdLst/>
              <a:ahLst/>
              <a:cxnLst/>
              <a:rect l="l" t="t" r="r" b="b"/>
              <a:pathLst>
                <a:path w="58270" h="209380" extrusionOk="0">
                  <a:moveTo>
                    <a:pt x="55587" y="0"/>
                  </a:moveTo>
                  <a:lnTo>
                    <a:pt x="7833" y="82697"/>
                  </a:lnTo>
                  <a:cubicBezTo>
                    <a:pt x="0" y="96268"/>
                    <a:pt x="16" y="113111"/>
                    <a:pt x="7833" y="126682"/>
                  </a:cubicBezTo>
                  <a:lnTo>
                    <a:pt x="55587" y="209379"/>
                  </a:lnTo>
                  <a:lnTo>
                    <a:pt x="58270" y="209379"/>
                  </a:lnTo>
                  <a:lnTo>
                    <a:pt x="9849" y="125519"/>
                  </a:lnTo>
                  <a:cubicBezTo>
                    <a:pt x="2435" y="112677"/>
                    <a:pt x="2435" y="96718"/>
                    <a:pt x="9849" y="83860"/>
                  </a:cubicBezTo>
                  <a:lnTo>
                    <a:pt x="582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607825" y="238125"/>
              <a:ext cx="5012700" cy="5234500"/>
            </a:xfrm>
            <a:custGeom>
              <a:avLst/>
              <a:gdLst/>
              <a:ahLst/>
              <a:cxnLst/>
              <a:rect l="l" t="t" r="r" b="b"/>
              <a:pathLst>
                <a:path w="200508" h="209380" extrusionOk="0">
                  <a:moveTo>
                    <a:pt x="58300" y="0"/>
                  </a:moveTo>
                  <a:lnTo>
                    <a:pt x="3490" y="94919"/>
                  </a:lnTo>
                  <a:cubicBezTo>
                    <a:pt x="0" y="100967"/>
                    <a:pt x="0" y="108412"/>
                    <a:pt x="3490" y="114461"/>
                  </a:cubicBezTo>
                  <a:lnTo>
                    <a:pt x="58300" y="209379"/>
                  </a:lnTo>
                  <a:lnTo>
                    <a:pt x="200507" y="209379"/>
                  </a:lnTo>
                  <a:lnTo>
                    <a:pt x="200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" name="Google Shape;13;p2"/>
          <p:cNvSpPr/>
          <p:nvPr/>
        </p:nvSpPr>
        <p:spPr>
          <a:xfrm rot="1799984">
            <a:off x="7317323" y="61421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1799984">
            <a:off x="8289458" y="-929179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5;p2"/>
          <p:cNvGrpSpPr/>
          <p:nvPr/>
        </p:nvGrpSpPr>
        <p:grpSpPr>
          <a:xfrm>
            <a:off x="1016002" y="1081899"/>
            <a:ext cx="620999" cy="573676"/>
            <a:chOff x="1877325" y="757774"/>
            <a:chExt cx="581969" cy="537619"/>
          </a:xfrm>
        </p:grpSpPr>
        <p:sp>
          <p:nvSpPr>
            <p:cNvPr id="16" name="Google Shape;16;p2"/>
            <p:cNvSpPr/>
            <p:nvPr/>
          </p:nvSpPr>
          <p:spPr>
            <a:xfrm>
              <a:off x="187732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50274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23224" y="757774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569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87732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050274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23224" y="915780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9569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7732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1" y="102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0274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287"/>
                    <a:pt x="3026" y="13312"/>
                    <a:pt x="6656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223224" y="1073785"/>
              <a:ext cx="63603" cy="63603"/>
            </a:xfrm>
            <a:custGeom>
              <a:avLst/>
              <a:gdLst/>
              <a:ahLst/>
              <a:cxnLst/>
              <a:rect l="l" t="t" r="r" b="b"/>
              <a:pathLst>
                <a:path w="13313" h="13313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287"/>
                    <a:pt x="2925" y="13312"/>
                    <a:pt x="6657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39569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2" y="102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87732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1" y="10286"/>
                    <a:pt x="13311" y="6656"/>
                  </a:cubicBezTo>
                  <a:cubicBezTo>
                    <a:pt x="13311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50274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2925"/>
                    <a:pt x="1" y="6656"/>
                  </a:cubicBezTo>
                  <a:cubicBezTo>
                    <a:pt x="1" y="10286"/>
                    <a:pt x="3026" y="13311"/>
                    <a:pt x="6656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223224" y="1231796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2925"/>
                    <a:pt x="1" y="6656"/>
                  </a:cubicBezTo>
                  <a:cubicBezTo>
                    <a:pt x="1" y="10286"/>
                    <a:pt x="2925" y="13311"/>
                    <a:pt x="6657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9569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2" y="10286"/>
                    <a:pt x="13312" y="6656"/>
                  </a:cubicBezTo>
                  <a:cubicBezTo>
                    <a:pt x="13312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" name="Google Shape;32;p2"/>
          <p:cNvSpPr/>
          <p:nvPr/>
        </p:nvSpPr>
        <p:spPr>
          <a:xfrm>
            <a:off x="7726169" y="5880102"/>
            <a:ext cx="947851" cy="117881"/>
          </a:xfrm>
          <a:custGeom>
            <a:avLst/>
            <a:gdLst/>
            <a:ahLst/>
            <a:cxnLst/>
            <a:rect l="l" t="t" r="r" b="b"/>
            <a:pathLst>
              <a:path w="178391" h="22186" extrusionOk="0">
                <a:moveTo>
                  <a:pt x="173752" y="13009"/>
                </a:moveTo>
                <a:cubicBezTo>
                  <a:pt x="172743" y="13009"/>
                  <a:pt x="171836" y="12807"/>
                  <a:pt x="171130" y="12202"/>
                </a:cubicBezTo>
                <a:cubicBezTo>
                  <a:pt x="170525" y="11698"/>
                  <a:pt x="170020" y="10992"/>
                  <a:pt x="169718" y="9883"/>
                </a:cubicBezTo>
                <a:cubicBezTo>
                  <a:pt x="168911" y="6958"/>
                  <a:pt x="167298" y="4437"/>
                  <a:pt x="165079" y="2723"/>
                </a:cubicBezTo>
                <a:cubicBezTo>
                  <a:pt x="162760" y="1009"/>
                  <a:pt x="159936" y="0"/>
                  <a:pt x="156911" y="0"/>
                </a:cubicBezTo>
                <a:cubicBezTo>
                  <a:pt x="153785" y="0"/>
                  <a:pt x="150961" y="1009"/>
                  <a:pt x="148642" y="2723"/>
                </a:cubicBezTo>
                <a:cubicBezTo>
                  <a:pt x="146423" y="4437"/>
                  <a:pt x="144810" y="6958"/>
                  <a:pt x="144003" y="9883"/>
                </a:cubicBezTo>
                <a:cubicBezTo>
                  <a:pt x="143701" y="10992"/>
                  <a:pt x="143196" y="11698"/>
                  <a:pt x="142591" y="12202"/>
                </a:cubicBezTo>
                <a:cubicBezTo>
                  <a:pt x="141885" y="12807"/>
                  <a:pt x="140978" y="13009"/>
                  <a:pt x="139969" y="13009"/>
                </a:cubicBezTo>
                <a:cubicBezTo>
                  <a:pt x="138961" y="13009"/>
                  <a:pt x="138053" y="12807"/>
                  <a:pt x="137348" y="12202"/>
                </a:cubicBezTo>
                <a:cubicBezTo>
                  <a:pt x="136642" y="11698"/>
                  <a:pt x="136137" y="10891"/>
                  <a:pt x="135936" y="9883"/>
                </a:cubicBezTo>
                <a:cubicBezTo>
                  <a:pt x="135129" y="6958"/>
                  <a:pt x="133516" y="4437"/>
                  <a:pt x="131196" y="2723"/>
                </a:cubicBezTo>
                <a:cubicBezTo>
                  <a:pt x="128877" y="1009"/>
                  <a:pt x="126053" y="0"/>
                  <a:pt x="123028" y="0"/>
                </a:cubicBezTo>
                <a:cubicBezTo>
                  <a:pt x="120003" y="0"/>
                  <a:pt x="117179" y="1009"/>
                  <a:pt x="114860" y="2723"/>
                </a:cubicBezTo>
                <a:cubicBezTo>
                  <a:pt x="112540" y="4437"/>
                  <a:pt x="110927" y="6958"/>
                  <a:pt x="110120" y="9883"/>
                </a:cubicBezTo>
                <a:cubicBezTo>
                  <a:pt x="109918" y="10992"/>
                  <a:pt x="109414" y="11698"/>
                  <a:pt x="108708" y="12202"/>
                </a:cubicBezTo>
                <a:cubicBezTo>
                  <a:pt x="108002" y="12807"/>
                  <a:pt x="107095" y="13009"/>
                  <a:pt x="106086" y="13009"/>
                </a:cubicBezTo>
                <a:cubicBezTo>
                  <a:pt x="105078" y="13009"/>
                  <a:pt x="104170" y="12807"/>
                  <a:pt x="103465" y="12202"/>
                </a:cubicBezTo>
                <a:cubicBezTo>
                  <a:pt x="102859" y="11698"/>
                  <a:pt x="102355" y="10992"/>
                  <a:pt x="102053" y="9883"/>
                </a:cubicBezTo>
                <a:cubicBezTo>
                  <a:pt x="101246" y="6958"/>
                  <a:pt x="99633" y="4437"/>
                  <a:pt x="97313" y="2723"/>
                </a:cubicBezTo>
                <a:cubicBezTo>
                  <a:pt x="95095" y="1009"/>
                  <a:pt x="92271" y="0"/>
                  <a:pt x="89145" y="0"/>
                </a:cubicBezTo>
                <a:cubicBezTo>
                  <a:pt x="86120" y="0"/>
                  <a:pt x="83296" y="1009"/>
                  <a:pt x="80977" y="2723"/>
                </a:cubicBezTo>
                <a:cubicBezTo>
                  <a:pt x="78758" y="4437"/>
                  <a:pt x="77044" y="6958"/>
                  <a:pt x="76338" y="9883"/>
                </a:cubicBezTo>
                <a:cubicBezTo>
                  <a:pt x="76035" y="10891"/>
                  <a:pt x="75531" y="11698"/>
                  <a:pt x="74926" y="12202"/>
                </a:cubicBezTo>
                <a:cubicBezTo>
                  <a:pt x="74220" y="12807"/>
                  <a:pt x="73313" y="13009"/>
                  <a:pt x="72304" y="13009"/>
                </a:cubicBezTo>
                <a:cubicBezTo>
                  <a:pt x="71195" y="13009"/>
                  <a:pt x="70287" y="12807"/>
                  <a:pt x="69682" y="12202"/>
                </a:cubicBezTo>
                <a:cubicBezTo>
                  <a:pt x="68977" y="11698"/>
                  <a:pt x="68472" y="10891"/>
                  <a:pt x="68170" y="9883"/>
                </a:cubicBezTo>
                <a:cubicBezTo>
                  <a:pt x="67464" y="6958"/>
                  <a:pt x="65750" y="4437"/>
                  <a:pt x="63531" y="2723"/>
                </a:cubicBezTo>
                <a:cubicBezTo>
                  <a:pt x="61212" y="1009"/>
                  <a:pt x="58388" y="0"/>
                  <a:pt x="55363" y="0"/>
                </a:cubicBezTo>
                <a:cubicBezTo>
                  <a:pt x="52237" y="0"/>
                  <a:pt x="49413" y="1009"/>
                  <a:pt x="47195" y="2723"/>
                </a:cubicBezTo>
                <a:cubicBezTo>
                  <a:pt x="44875" y="4437"/>
                  <a:pt x="43262" y="6958"/>
                  <a:pt x="42455" y="9883"/>
                </a:cubicBezTo>
                <a:cubicBezTo>
                  <a:pt x="42153" y="10992"/>
                  <a:pt x="41749" y="11698"/>
                  <a:pt x="41043" y="12202"/>
                </a:cubicBezTo>
                <a:cubicBezTo>
                  <a:pt x="40337" y="12807"/>
                  <a:pt x="39430" y="13009"/>
                  <a:pt x="38421" y="13009"/>
                </a:cubicBezTo>
                <a:cubicBezTo>
                  <a:pt x="37413" y="13009"/>
                  <a:pt x="36505" y="12807"/>
                  <a:pt x="35799" y="12202"/>
                </a:cubicBezTo>
                <a:cubicBezTo>
                  <a:pt x="35094" y="11698"/>
                  <a:pt x="34589" y="10992"/>
                  <a:pt x="34388" y="9883"/>
                </a:cubicBezTo>
                <a:cubicBezTo>
                  <a:pt x="33581" y="6958"/>
                  <a:pt x="31967" y="4437"/>
                  <a:pt x="29648" y="2723"/>
                </a:cubicBezTo>
                <a:cubicBezTo>
                  <a:pt x="27329" y="1009"/>
                  <a:pt x="24505" y="0"/>
                  <a:pt x="21480" y="0"/>
                </a:cubicBezTo>
                <a:cubicBezTo>
                  <a:pt x="18455" y="0"/>
                  <a:pt x="15631" y="1009"/>
                  <a:pt x="13312" y="2723"/>
                </a:cubicBezTo>
                <a:cubicBezTo>
                  <a:pt x="10992" y="4437"/>
                  <a:pt x="9379" y="6958"/>
                  <a:pt x="8572" y="9883"/>
                </a:cubicBezTo>
                <a:cubicBezTo>
                  <a:pt x="8370" y="10891"/>
                  <a:pt x="7866" y="11698"/>
                  <a:pt x="7160" y="12202"/>
                </a:cubicBezTo>
                <a:cubicBezTo>
                  <a:pt x="6555" y="12807"/>
                  <a:pt x="5648" y="13009"/>
                  <a:pt x="4538" y="13009"/>
                </a:cubicBezTo>
                <a:cubicBezTo>
                  <a:pt x="2017" y="13009"/>
                  <a:pt x="0" y="15127"/>
                  <a:pt x="0" y="17648"/>
                </a:cubicBezTo>
                <a:cubicBezTo>
                  <a:pt x="0" y="20169"/>
                  <a:pt x="2017" y="22186"/>
                  <a:pt x="4538" y="22186"/>
                </a:cubicBezTo>
                <a:cubicBezTo>
                  <a:pt x="7664" y="22186"/>
                  <a:pt x="10488" y="21278"/>
                  <a:pt x="12707" y="19463"/>
                </a:cubicBezTo>
                <a:cubicBezTo>
                  <a:pt x="15026" y="17748"/>
                  <a:pt x="16639" y="15227"/>
                  <a:pt x="17446" y="12303"/>
                </a:cubicBezTo>
                <a:cubicBezTo>
                  <a:pt x="17749" y="11295"/>
                  <a:pt x="18152" y="10488"/>
                  <a:pt x="18858" y="9984"/>
                </a:cubicBezTo>
                <a:cubicBezTo>
                  <a:pt x="19564" y="9479"/>
                  <a:pt x="20471" y="9177"/>
                  <a:pt x="21480" y="9177"/>
                </a:cubicBezTo>
                <a:cubicBezTo>
                  <a:pt x="22488" y="9177"/>
                  <a:pt x="23396" y="9479"/>
                  <a:pt x="24102" y="9984"/>
                </a:cubicBezTo>
                <a:cubicBezTo>
                  <a:pt x="24808" y="10488"/>
                  <a:pt x="25211" y="11295"/>
                  <a:pt x="25514" y="12303"/>
                </a:cubicBezTo>
                <a:cubicBezTo>
                  <a:pt x="26320" y="15227"/>
                  <a:pt x="27934" y="17748"/>
                  <a:pt x="30253" y="19463"/>
                </a:cubicBezTo>
                <a:cubicBezTo>
                  <a:pt x="32472" y="21278"/>
                  <a:pt x="35396" y="22186"/>
                  <a:pt x="38421" y="22186"/>
                </a:cubicBezTo>
                <a:cubicBezTo>
                  <a:pt x="41447" y="22186"/>
                  <a:pt x="44270" y="21278"/>
                  <a:pt x="46590" y="19463"/>
                </a:cubicBezTo>
                <a:cubicBezTo>
                  <a:pt x="48909" y="17748"/>
                  <a:pt x="50522" y="15227"/>
                  <a:pt x="51329" y="12303"/>
                </a:cubicBezTo>
                <a:cubicBezTo>
                  <a:pt x="51531" y="11295"/>
                  <a:pt x="52035" y="10488"/>
                  <a:pt x="52741" y="9984"/>
                </a:cubicBezTo>
                <a:cubicBezTo>
                  <a:pt x="53346" y="9479"/>
                  <a:pt x="54254" y="9177"/>
                  <a:pt x="55363" y="9177"/>
                </a:cubicBezTo>
                <a:cubicBezTo>
                  <a:pt x="56371" y="9177"/>
                  <a:pt x="57279" y="9479"/>
                  <a:pt x="57985" y="9984"/>
                </a:cubicBezTo>
                <a:cubicBezTo>
                  <a:pt x="58590" y="10488"/>
                  <a:pt x="59094" y="11295"/>
                  <a:pt x="59397" y="12303"/>
                </a:cubicBezTo>
                <a:cubicBezTo>
                  <a:pt x="60203" y="15227"/>
                  <a:pt x="61817" y="17748"/>
                  <a:pt x="64035" y="19463"/>
                </a:cubicBezTo>
                <a:cubicBezTo>
                  <a:pt x="66355" y="21278"/>
                  <a:pt x="69178" y="22186"/>
                  <a:pt x="72203" y="22186"/>
                </a:cubicBezTo>
                <a:cubicBezTo>
                  <a:pt x="75330" y="22186"/>
                  <a:pt x="78153" y="21278"/>
                  <a:pt x="80473" y="19463"/>
                </a:cubicBezTo>
                <a:cubicBezTo>
                  <a:pt x="82691" y="17748"/>
                  <a:pt x="84305" y="15227"/>
                  <a:pt x="85111" y="12303"/>
                </a:cubicBezTo>
                <a:cubicBezTo>
                  <a:pt x="85414" y="11295"/>
                  <a:pt x="85918" y="10488"/>
                  <a:pt x="86523" y="9984"/>
                </a:cubicBezTo>
                <a:cubicBezTo>
                  <a:pt x="87229" y="9479"/>
                  <a:pt x="88137" y="9177"/>
                  <a:pt x="89145" y="9177"/>
                </a:cubicBezTo>
                <a:cubicBezTo>
                  <a:pt x="90254" y="9177"/>
                  <a:pt x="91162" y="9479"/>
                  <a:pt x="91767" y="9984"/>
                </a:cubicBezTo>
                <a:cubicBezTo>
                  <a:pt x="92473" y="10488"/>
                  <a:pt x="92977" y="11295"/>
                  <a:pt x="93179" y="12303"/>
                </a:cubicBezTo>
                <a:cubicBezTo>
                  <a:pt x="93985" y="15227"/>
                  <a:pt x="95599" y="17748"/>
                  <a:pt x="97918" y="19463"/>
                </a:cubicBezTo>
                <a:cubicBezTo>
                  <a:pt x="100238" y="21278"/>
                  <a:pt x="103061" y="22186"/>
                  <a:pt x="106086" y="22186"/>
                </a:cubicBezTo>
                <a:cubicBezTo>
                  <a:pt x="109112" y="22186"/>
                  <a:pt x="112036" y="21278"/>
                  <a:pt x="114255" y="19463"/>
                </a:cubicBezTo>
                <a:cubicBezTo>
                  <a:pt x="116574" y="17748"/>
                  <a:pt x="118187" y="15227"/>
                  <a:pt x="118994" y="12303"/>
                </a:cubicBezTo>
                <a:cubicBezTo>
                  <a:pt x="119297" y="11295"/>
                  <a:pt x="119700" y="10488"/>
                  <a:pt x="120406" y="9984"/>
                </a:cubicBezTo>
                <a:cubicBezTo>
                  <a:pt x="121112" y="9479"/>
                  <a:pt x="122019" y="9177"/>
                  <a:pt x="123028" y="9177"/>
                </a:cubicBezTo>
                <a:cubicBezTo>
                  <a:pt x="124036" y="9177"/>
                  <a:pt x="124944" y="9479"/>
                  <a:pt x="125650" y="9984"/>
                </a:cubicBezTo>
                <a:cubicBezTo>
                  <a:pt x="126356" y="10488"/>
                  <a:pt x="126759" y="11295"/>
                  <a:pt x="127062" y="12303"/>
                </a:cubicBezTo>
                <a:cubicBezTo>
                  <a:pt x="127868" y="15227"/>
                  <a:pt x="129482" y="17748"/>
                  <a:pt x="131801" y="19463"/>
                </a:cubicBezTo>
                <a:cubicBezTo>
                  <a:pt x="134020" y="21278"/>
                  <a:pt x="136843" y="22186"/>
                  <a:pt x="139969" y="22186"/>
                </a:cubicBezTo>
                <a:cubicBezTo>
                  <a:pt x="142995" y="22186"/>
                  <a:pt x="145818" y="21278"/>
                  <a:pt x="148138" y="19463"/>
                </a:cubicBezTo>
                <a:cubicBezTo>
                  <a:pt x="150356" y="17748"/>
                  <a:pt x="152070" y="15227"/>
                  <a:pt x="152776" y="12303"/>
                </a:cubicBezTo>
                <a:cubicBezTo>
                  <a:pt x="153079" y="11295"/>
                  <a:pt x="153583" y="10488"/>
                  <a:pt x="154289" y="9984"/>
                </a:cubicBezTo>
                <a:cubicBezTo>
                  <a:pt x="154894" y="9479"/>
                  <a:pt x="155802" y="9177"/>
                  <a:pt x="156911" y="9177"/>
                </a:cubicBezTo>
                <a:cubicBezTo>
                  <a:pt x="157919" y="9177"/>
                  <a:pt x="158827" y="9479"/>
                  <a:pt x="159533" y="9984"/>
                </a:cubicBezTo>
                <a:cubicBezTo>
                  <a:pt x="160138" y="10488"/>
                  <a:pt x="160642" y="11295"/>
                  <a:pt x="160945" y="12303"/>
                </a:cubicBezTo>
                <a:cubicBezTo>
                  <a:pt x="161751" y="15227"/>
                  <a:pt x="163365" y="17748"/>
                  <a:pt x="165583" y="19463"/>
                </a:cubicBezTo>
                <a:cubicBezTo>
                  <a:pt x="167903" y="21278"/>
                  <a:pt x="170726" y="22186"/>
                  <a:pt x="173752" y="22186"/>
                </a:cubicBezTo>
                <a:cubicBezTo>
                  <a:pt x="176273" y="22186"/>
                  <a:pt x="178390" y="20169"/>
                  <a:pt x="178390" y="17648"/>
                </a:cubicBezTo>
                <a:cubicBezTo>
                  <a:pt x="178390" y="15127"/>
                  <a:pt x="176273" y="13009"/>
                  <a:pt x="173752" y="130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2"/>
          <p:cNvSpPr/>
          <p:nvPr/>
        </p:nvSpPr>
        <p:spPr>
          <a:xfrm>
            <a:off x="1016000" y="5406567"/>
            <a:ext cx="838000" cy="1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2"/>
          <p:cNvSpPr txBox="1">
            <a:spLocks noGrp="1"/>
          </p:cNvSpPr>
          <p:nvPr>
            <p:ph type="subTitle" idx="1"/>
          </p:nvPr>
        </p:nvSpPr>
        <p:spPr>
          <a:xfrm>
            <a:off x="974400" y="2720472"/>
            <a:ext cx="5706000" cy="116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5465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2"/>
          </p:nvPr>
        </p:nvSpPr>
        <p:spPr>
          <a:xfrm>
            <a:off x="974400" y="5716467"/>
            <a:ext cx="4996800" cy="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135"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22341512"/>
      </p:ext>
    </p:extLst>
  </p:cSld>
  <p:clrMapOvr>
    <a:masterClrMapping/>
  </p:clrMapOvr>
  <p:transition>
    <p:fade thruBlk="1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2212733"/>
            <a:ext cx="56852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3888339"/>
            <a:ext cx="56852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9801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9535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AAE89-7064-421D-9916-420AA2E7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A12CE-274A-4C60-9546-77A9682AF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3BBF9-6C16-49C0-B59C-BBB728D49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E9423-4AA5-436D-A3A1-72E3B0769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A87426-75BB-4DA5-A531-460DD7508A1B}"/>
              </a:ext>
            </a:extLst>
          </p:cNvPr>
          <p:cNvSpPr/>
          <p:nvPr userDrawn="1"/>
        </p:nvSpPr>
        <p:spPr>
          <a:xfrm>
            <a:off x="6096000" y="-9331"/>
            <a:ext cx="6096000" cy="10732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0ED3DD-A7C3-4095-9269-329F194BB6AC}"/>
              </a:ext>
            </a:extLst>
          </p:cNvPr>
          <p:cNvSpPr/>
          <p:nvPr userDrawn="1"/>
        </p:nvSpPr>
        <p:spPr>
          <a:xfrm>
            <a:off x="0" y="1073257"/>
            <a:ext cx="12192000" cy="151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 descr="Resultado de imagen para LOGO UNAC">
            <a:extLst>
              <a:ext uri="{FF2B5EF4-FFF2-40B4-BE49-F238E27FC236}">
                <a16:creationId xmlns:a16="http://schemas.microsoft.com/office/drawing/2014/main" id="{C8363EE3-3A68-4118-94B3-883E5C704F10}"/>
              </a:ext>
            </a:extLst>
          </p:cNvPr>
          <p:cNvPicPr/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2" y="188233"/>
            <a:ext cx="537224" cy="684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1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image" Target="../media/image19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24" y="2518396"/>
            <a:ext cx="4913785" cy="2916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2" descr="UN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71" y="190477"/>
            <a:ext cx="2855333" cy="67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/>
          <p:cNvSpPr/>
          <p:nvPr/>
        </p:nvSpPr>
        <p:spPr>
          <a:xfrm>
            <a:off x="7261461" y="5795306"/>
            <a:ext cx="467139" cy="450222"/>
          </a:xfrm>
          <a:prstGeom prst="rect">
            <a:avLst/>
          </a:prstGeom>
          <a:solidFill>
            <a:srgbClr val="D7E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Título 2"/>
          <p:cNvSpPr txBox="1"/>
          <p:nvPr/>
        </p:nvSpPr>
        <p:spPr>
          <a:xfrm>
            <a:off x="8321150" y="5795306"/>
            <a:ext cx="2803628" cy="697178"/>
          </a:xfrm>
          <a:prstGeom prst="roundRect">
            <a:avLst/>
          </a:prstGeom>
          <a:solidFill>
            <a:schemeClr val="bg1"/>
          </a:solidFill>
          <a:ln w="28575">
            <a:noFill/>
            <a:prstDash val="lg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800" dirty="0">
                <a:solidFill>
                  <a:srgbClr val="002060"/>
                </a:solidFill>
                <a:latin typeface="Bodoni MT Black" panose="02070A03080606020203" pitchFamily="18" charset="0"/>
                <a:cs typeface="Leelawadee UI" panose="020B0502040204020203" pitchFamily="34" charset="-34"/>
              </a:rPr>
              <a:t>SEMESTRE ACADÉMICO 2026 B</a:t>
            </a:r>
            <a:endParaRPr lang="es-ES" sz="1800" dirty="0">
              <a:solidFill>
                <a:srgbClr val="002060"/>
              </a:solidFill>
              <a:latin typeface="Bodoni MT Black" panose="02070A03080606020203" pitchFamily="18" charset="0"/>
              <a:cs typeface="Leelawadee UI" panose="020B0502040204020203" pitchFamily="34" charset="-34"/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61" y="0"/>
            <a:ext cx="4923006" cy="1400220"/>
          </a:xfrm>
          <a:prstGeom prst="rect">
            <a:avLst/>
          </a:prstGeom>
        </p:spPr>
      </p:pic>
      <p:sp>
        <p:nvSpPr>
          <p:cNvPr id="15" name="4 CuadroTexto">
            <a:extLst>
              <a:ext uri="{FF2B5EF4-FFF2-40B4-BE49-F238E27FC236}">
                <a16:creationId xmlns:a16="http://schemas.microsoft.com/office/drawing/2014/main" id="{4365F436-E173-4817-8107-4110CE39FADE}"/>
              </a:ext>
            </a:extLst>
          </p:cNvPr>
          <p:cNvSpPr txBox="1"/>
          <p:nvPr/>
        </p:nvSpPr>
        <p:spPr>
          <a:xfrm>
            <a:off x="0" y="4134513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0000"/>
                </a:solidFill>
              </a:rPr>
              <a:t>Docente:</a:t>
            </a:r>
          </a:p>
          <a:p>
            <a:pPr algn="ctr"/>
            <a:r>
              <a:rPr lang="es-ES" sz="2400" b="1" dirty="0" err="1">
                <a:solidFill>
                  <a:srgbClr val="700000"/>
                </a:solidFill>
              </a:rPr>
              <a:t>ANIVAL</a:t>
            </a:r>
            <a:r>
              <a:rPr lang="es-ES" sz="2400" b="1" dirty="0">
                <a:solidFill>
                  <a:srgbClr val="700000"/>
                </a:solidFill>
              </a:rPr>
              <a:t> TORRE CAMONES</a:t>
            </a:r>
            <a:endParaRPr lang="es-PE" sz="2400" b="1" dirty="0">
              <a:solidFill>
                <a:srgbClr val="700000"/>
              </a:solidFill>
            </a:endParaRPr>
          </a:p>
        </p:txBody>
      </p:sp>
      <p:sp>
        <p:nvSpPr>
          <p:cNvPr id="2" name="5 Rectángulo">
            <a:extLst>
              <a:ext uri="{FF2B5EF4-FFF2-40B4-BE49-F238E27FC236}">
                <a16:creationId xmlns:a16="http://schemas.microsoft.com/office/drawing/2014/main" id="{3267FC93-B427-4E7C-B243-BE63C44CB29D}"/>
              </a:ext>
            </a:extLst>
          </p:cNvPr>
          <p:cNvSpPr/>
          <p:nvPr/>
        </p:nvSpPr>
        <p:spPr>
          <a:xfrm>
            <a:off x="390" y="2394096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b="1" dirty="0">
                <a:solidFill>
                  <a:srgbClr val="700000"/>
                </a:solidFill>
              </a:rPr>
              <a:t>INVESTIGACION DE OPERACIONES</a:t>
            </a:r>
            <a:endParaRPr lang="es-PE" sz="4000" b="1" dirty="0">
              <a:solidFill>
                <a:srgbClr val="70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291808-C582-26D7-9A61-E42C7376AD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36" y="3366595"/>
            <a:ext cx="1097308" cy="1097308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0" y="2260860"/>
            <a:ext cx="6096000" cy="1546400"/>
          </a:xfrm>
        </p:spPr>
        <p:txBody>
          <a:bodyPr/>
          <a:lstStyle/>
          <a:p>
            <a:pPr algn="ctr"/>
            <a:r>
              <a:rPr lang="en" b="0" dirty="0">
                <a:solidFill>
                  <a:srgbClr val="FF0000"/>
                </a:solidFill>
                <a:latin typeface="Bauhaus 93" pitchFamily="82" charset="0"/>
              </a:rPr>
              <a:t>Administración de proyectos</a:t>
            </a:r>
            <a:br>
              <a:rPr lang="en" b="0" dirty="0">
                <a:solidFill>
                  <a:srgbClr val="FF0000"/>
                </a:solidFill>
                <a:latin typeface="Bauhaus 93" pitchFamily="82" charset="0"/>
              </a:rPr>
            </a:br>
            <a:r>
              <a:rPr lang="en" b="0" dirty="0">
                <a:solidFill>
                  <a:srgbClr val="7030A0"/>
                </a:solidFill>
                <a:latin typeface="Bauhaus 93" pitchFamily="82" charset="0"/>
              </a:rPr>
              <a:t>Problemas probabilisticos</a:t>
            </a:r>
            <a:endParaRPr lang="es-ES" b="0" dirty="0">
              <a:solidFill>
                <a:srgbClr val="7030A0"/>
              </a:solidFill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4294967295"/>
          </p:nvPr>
        </p:nvSpPr>
        <p:spPr>
          <a:xfrm>
            <a:off x="10118726" y="6332538"/>
            <a:ext cx="549275" cy="525462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6096000" y="154609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buSzPts val="3600"/>
            </a:pPr>
            <a:r>
              <a:rPr lang="es-ES" sz="3200" b="0" i="0" dirty="0">
                <a:solidFill>
                  <a:schemeClr val="bg1"/>
                </a:solidFill>
                <a:latin typeface="Bauhaus 93" pitchFamily="82" charset="0"/>
              </a:rPr>
              <a:t>Decima primera semana</a:t>
            </a:r>
            <a:endParaRPr lang="en-US" sz="3200" b="0" i="0" dirty="0">
              <a:solidFill>
                <a:schemeClr val="bg1"/>
              </a:solidFill>
              <a:latin typeface="Bauhaus 93" pitchFamily="82" charset="0"/>
            </a:endParaRPr>
          </a:p>
        </p:txBody>
      </p:sp>
      <p:pic>
        <p:nvPicPr>
          <p:cNvPr id="8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6237" y="2564904"/>
            <a:ext cx="1782850" cy="1988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867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0" y="134643"/>
            <a:ext cx="6096000" cy="56676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UY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Contenido</a:t>
            </a:r>
          </a:p>
        </p:txBody>
      </p:sp>
      <p:grpSp>
        <p:nvGrpSpPr>
          <p:cNvPr id="67587" name="Group 3"/>
          <p:cNvGrpSpPr>
            <a:grpSpLocks/>
          </p:cNvGrpSpPr>
          <p:nvPr/>
        </p:nvGrpSpPr>
        <p:grpSpPr bwMode="auto">
          <a:xfrm>
            <a:off x="3352800" y="2024063"/>
            <a:ext cx="762000" cy="665162"/>
            <a:chOff x="1110" y="2656"/>
            <a:chExt cx="1549" cy="1351"/>
          </a:xfrm>
        </p:grpSpPr>
        <p:sp>
          <p:nvSpPr>
            <p:cNvPr id="67588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89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0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3352800" y="2938463"/>
            <a:ext cx="762000" cy="665162"/>
            <a:chOff x="3174" y="2656"/>
            <a:chExt cx="1549" cy="1351"/>
          </a:xfrm>
        </p:grpSpPr>
        <p:sp>
          <p:nvSpPr>
            <p:cNvPr id="67592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3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4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sp>
        <p:nvSpPr>
          <p:cNvPr id="67595" name="Line 11"/>
          <p:cNvSpPr>
            <a:spLocks noChangeShapeType="1"/>
          </p:cNvSpPr>
          <p:nvPr/>
        </p:nvSpPr>
        <p:spPr bwMode="auto">
          <a:xfrm>
            <a:off x="3962400" y="263366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596" name="Text Box 12"/>
          <p:cNvSpPr txBox="1">
            <a:spLocks noChangeArrowheads="1"/>
          </p:cNvSpPr>
          <p:nvPr/>
        </p:nvSpPr>
        <p:spPr bwMode="auto">
          <a:xfrm>
            <a:off x="4238612" y="2100264"/>
            <a:ext cx="5214974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ES_tradnl" sz="2400" dirty="0">
                <a:solidFill>
                  <a:schemeClr val="tx2"/>
                </a:solidFill>
              </a:rPr>
              <a:t>Proyecto e inversión</a:t>
            </a:r>
          </a:p>
        </p:txBody>
      </p:sp>
      <p:sp>
        <p:nvSpPr>
          <p:cNvPr id="67597" name="Text Box 13"/>
          <p:cNvSpPr txBox="1">
            <a:spLocks noChangeArrowheads="1"/>
          </p:cNvSpPr>
          <p:nvPr/>
        </p:nvSpPr>
        <p:spPr bwMode="gray">
          <a:xfrm>
            <a:off x="3556579" y="2122489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598" name="Line 14"/>
          <p:cNvSpPr>
            <a:spLocks noChangeShapeType="1"/>
          </p:cNvSpPr>
          <p:nvPr/>
        </p:nvSpPr>
        <p:spPr bwMode="auto">
          <a:xfrm>
            <a:off x="3962400" y="354806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4238612" y="3014664"/>
            <a:ext cx="471490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ES_tradnl" sz="2400" dirty="0">
                <a:solidFill>
                  <a:schemeClr val="tx2"/>
                </a:solidFill>
              </a:rPr>
              <a:t>Problemas determinísticos</a:t>
            </a:r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gray">
          <a:xfrm>
            <a:off x="3556579" y="3036889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67601" name="Group 17"/>
          <p:cNvGrpSpPr>
            <a:grpSpLocks/>
          </p:cNvGrpSpPr>
          <p:nvPr/>
        </p:nvGrpSpPr>
        <p:grpSpPr bwMode="auto">
          <a:xfrm>
            <a:off x="3352800" y="3830638"/>
            <a:ext cx="762000" cy="665162"/>
            <a:chOff x="1110" y="2656"/>
            <a:chExt cx="1549" cy="1351"/>
          </a:xfrm>
        </p:grpSpPr>
        <p:sp>
          <p:nvSpPr>
            <p:cNvPr id="6760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4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grpSp>
        <p:nvGrpSpPr>
          <p:cNvPr id="67605" name="Group 21"/>
          <p:cNvGrpSpPr>
            <a:grpSpLocks/>
          </p:cNvGrpSpPr>
          <p:nvPr/>
        </p:nvGrpSpPr>
        <p:grpSpPr bwMode="auto">
          <a:xfrm>
            <a:off x="3352800" y="4745038"/>
            <a:ext cx="762000" cy="665162"/>
            <a:chOff x="3174" y="2656"/>
            <a:chExt cx="1549" cy="1351"/>
          </a:xfrm>
        </p:grpSpPr>
        <p:sp>
          <p:nvSpPr>
            <p:cNvPr id="67606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7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8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sp>
        <p:nvSpPr>
          <p:cNvPr id="67609" name="Line 25"/>
          <p:cNvSpPr>
            <a:spLocks noChangeShapeType="1"/>
          </p:cNvSpPr>
          <p:nvPr/>
        </p:nvSpPr>
        <p:spPr bwMode="auto">
          <a:xfrm>
            <a:off x="3962400" y="44402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610" name="Text Box 26"/>
          <p:cNvSpPr txBox="1">
            <a:spLocks noChangeArrowheads="1"/>
          </p:cNvSpPr>
          <p:nvPr/>
        </p:nvSpPr>
        <p:spPr bwMode="auto">
          <a:xfrm>
            <a:off x="4238612" y="4857761"/>
            <a:ext cx="457203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ES_tradnl" sz="2400" b="1" dirty="0"/>
              <a:t>Problemas probabilísticos</a:t>
            </a:r>
          </a:p>
        </p:txBody>
      </p:sp>
      <p:sp>
        <p:nvSpPr>
          <p:cNvPr id="67611" name="Text Box 27"/>
          <p:cNvSpPr txBox="1">
            <a:spLocks noChangeArrowheads="1"/>
          </p:cNvSpPr>
          <p:nvPr/>
        </p:nvSpPr>
        <p:spPr bwMode="gray">
          <a:xfrm>
            <a:off x="3556579" y="3929064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612" name="Line 28"/>
          <p:cNvSpPr>
            <a:spLocks noChangeShapeType="1"/>
          </p:cNvSpPr>
          <p:nvPr/>
        </p:nvSpPr>
        <p:spPr bwMode="auto">
          <a:xfrm>
            <a:off x="3962400" y="53546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613" name="Text Box 29"/>
          <p:cNvSpPr txBox="1">
            <a:spLocks noChangeArrowheads="1"/>
          </p:cNvSpPr>
          <p:nvPr/>
        </p:nvSpPr>
        <p:spPr bwMode="auto">
          <a:xfrm>
            <a:off x="4238612" y="4000505"/>
            <a:ext cx="358729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ES_tradnl" sz="2400" dirty="0">
                <a:solidFill>
                  <a:schemeClr val="tx2"/>
                </a:solidFill>
              </a:rPr>
              <a:t>Técnica de choque</a:t>
            </a:r>
          </a:p>
        </p:txBody>
      </p:sp>
      <p:sp>
        <p:nvSpPr>
          <p:cNvPr id="67614" name="Text Box 30"/>
          <p:cNvSpPr txBox="1">
            <a:spLocks noChangeArrowheads="1"/>
          </p:cNvSpPr>
          <p:nvPr/>
        </p:nvSpPr>
        <p:spPr bwMode="gray">
          <a:xfrm>
            <a:off x="3556579" y="4843464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615" name="Text Box 31"/>
          <p:cNvSpPr txBox="1">
            <a:spLocks noChangeArrowheads="1"/>
          </p:cNvSpPr>
          <p:nvPr/>
        </p:nvSpPr>
        <p:spPr bwMode="auto">
          <a:xfrm>
            <a:off x="3184525" y="722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 dirty="0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9" name="Text Box 27"/>
          <p:cNvSpPr txBox="1">
            <a:spLocks noChangeArrowheads="1"/>
          </p:cNvSpPr>
          <p:nvPr/>
        </p:nvSpPr>
        <p:spPr bwMode="gray">
          <a:xfrm>
            <a:off x="3514246" y="5748476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9934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Elipse"/>
          <p:cNvSpPr/>
          <p:nvPr/>
        </p:nvSpPr>
        <p:spPr>
          <a:xfrm>
            <a:off x="8411069" y="1940165"/>
            <a:ext cx="1530785" cy="156102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FF0000"/>
                </a:solidFill>
                <a:latin typeface="Arial Narrow" pitchFamily="34" charset="0"/>
              </a:rPr>
              <a:t>H</a:t>
            </a:r>
          </a:p>
          <a:p>
            <a:pPr algn="ctr"/>
            <a:endParaRPr lang="es-ES" sz="2800" b="1" dirty="0">
              <a:solidFill>
                <a:srgbClr val="FF0000"/>
              </a:solidFill>
              <a:latin typeface="Arial Narrow" pitchFamily="34" charset="0"/>
            </a:endParaRPr>
          </a:p>
          <a:p>
            <a:pPr algn="ctr"/>
            <a:endParaRPr lang="es-PE" sz="28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4116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0" y="163576"/>
            <a:ext cx="6096000" cy="64177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Tiempos y Holgura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502" y="1371956"/>
            <a:ext cx="5920498" cy="502884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s-MX" sz="2400" dirty="0">
                <a:latin typeface="Arial Narrow" panose="020B0606020202030204" pitchFamily="34" charset="0"/>
              </a:rPr>
              <a:t>La holgura (H) es el máximo tiempo que una tarea puede retrasarse sin afectar la duración total del proyecto.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s-MX" sz="2400" dirty="0">
                <a:latin typeface="Arial Narrow" panose="020B0606020202030204" pitchFamily="34" charset="0"/>
              </a:rPr>
              <a:t>Se puede calcular de dos modos</a:t>
            </a:r>
          </a:p>
          <a:p>
            <a:pPr marL="457200" lvl="1" indent="0" algn="just">
              <a:buNone/>
              <a:defRPr/>
            </a:pPr>
            <a:r>
              <a:rPr lang="es-MX" dirty="0">
                <a:latin typeface="Arial Narrow" panose="020B0606020202030204" pitchFamily="34" charset="0"/>
              </a:rPr>
              <a:t>		H = TTL – </a:t>
            </a:r>
            <a:r>
              <a:rPr lang="es-MX" dirty="0" err="1">
                <a:latin typeface="Arial Narrow" panose="020B0606020202030204" pitchFamily="34" charset="0"/>
              </a:rPr>
              <a:t>TTP</a:t>
            </a:r>
            <a:endParaRPr lang="es-MX" dirty="0">
              <a:latin typeface="Arial Narrow" panose="020B0606020202030204" pitchFamily="34" charset="0"/>
            </a:endParaRPr>
          </a:p>
          <a:p>
            <a:pPr marL="457200" lvl="1" indent="0" algn="just">
              <a:buNone/>
              <a:defRPr/>
            </a:pPr>
            <a:r>
              <a:rPr lang="es-MX" dirty="0">
                <a:latin typeface="Arial Narrow" panose="020B0606020202030204" pitchFamily="34" charset="0"/>
              </a:rPr>
              <a:t>		H =  </a:t>
            </a:r>
            <a:r>
              <a:rPr lang="es-MX" dirty="0" err="1">
                <a:latin typeface="Arial Narrow" panose="020B0606020202030204" pitchFamily="34" charset="0"/>
              </a:rPr>
              <a:t>TIL</a:t>
            </a:r>
            <a:r>
              <a:rPr lang="es-MX" dirty="0">
                <a:latin typeface="Arial Narrow" panose="020B0606020202030204" pitchFamily="34" charset="0"/>
              </a:rPr>
              <a:t> – TIP</a:t>
            </a:r>
          </a:p>
          <a:p>
            <a:pPr marL="457200" lvl="1" indent="0" algn="just">
              <a:buNone/>
              <a:defRPr/>
            </a:pPr>
            <a:r>
              <a:rPr lang="es-MX" dirty="0" err="1">
                <a:latin typeface="Arial Narrow" panose="020B0606020202030204" pitchFamily="34" charset="0"/>
              </a:rPr>
              <a:t>TIP</a:t>
            </a:r>
            <a:r>
              <a:rPr lang="es-MX" dirty="0">
                <a:latin typeface="Arial Narrow" panose="020B0606020202030204" pitchFamily="34" charset="0"/>
              </a:rPr>
              <a:t>=Tiempo de Inicio más Próximo</a:t>
            </a:r>
          </a:p>
          <a:p>
            <a:pPr marL="457200" lvl="1" indent="0" algn="just">
              <a:buNone/>
              <a:defRPr/>
            </a:pPr>
            <a:r>
              <a:rPr lang="es-MX" dirty="0" err="1">
                <a:latin typeface="Arial Narrow" panose="020B0606020202030204" pitchFamily="34" charset="0"/>
              </a:rPr>
              <a:t>TIL</a:t>
            </a:r>
            <a:r>
              <a:rPr lang="es-MX" dirty="0">
                <a:latin typeface="Arial Narrow" panose="020B0606020202030204" pitchFamily="34" charset="0"/>
              </a:rPr>
              <a:t>=Tiempo de Inicio más Lejano</a:t>
            </a:r>
          </a:p>
          <a:p>
            <a:pPr marL="457200" lvl="1" indent="0" algn="just">
              <a:buNone/>
              <a:defRPr/>
            </a:pPr>
            <a:r>
              <a:rPr lang="es-MX" dirty="0" err="1">
                <a:latin typeface="Arial Narrow" panose="020B0606020202030204" pitchFamily="34" charset="0"/>
              </a:rPr>
              <a:t>TTP</a:t>
            </a:r>
            <a:r>
              <a:rPr lang="es-MX" dirty="0">
                <a:latin typeface="Arial Narrow" panose="020B0606020202030204" pitchFamily="34" charset="0"/>
              </a:rPr>
              <a:t>=Tiempo de Término más Próximo</a:t>
            </a:r>
          </a:p>
          <a:p>
            <a:pPr marL="457200" lvl="1" indent="0" algn="just">
              <a:buNone/>
              <a:defRPr/>
            </a:pPr>
            <a:r>
              <a:rPr lang="es-MX" dirty="0" err="1">
                <a:latin typeface="Arial Narrow" panose="020B0606020202030204" pitchFamily="34" charset="0"/>
              </a:rPr>
              <a:t>TTL</a:t>
            </a:r>
            <a:r>
              <a:rPr lang="es-MX" dirty="0">
                <a:latin typeface="Arial Narrow" panose="020B0606020202030204" pitchFamily="34" charset="0"/>
              </a:rPr>
              <a:t>=Tiempo de Término más Lejano</a:t>
            </a:r>
          </a:p>
          <a:p>
            <a:pPr marL="457200" lvl="1" indent="0" algn="just">
              <a:buNone/>
              <a:defRPr/>
            </a:pPr>
            <a:r>
              <a:rPr lang="es-MX" dirty="0" err="1">
                <a:latin typeface="Arial Narrow" panose="020B0606020202030204" pitchFamily="34" charset="0"/>
              </a:rPr>
              <a:t>TIL</a:t>
            </a:r>
            <a:r>
              <a:rPr lang="es-MX" dirty="0">
                <a:latin typeface="Arial Narrow" panose="020B0606020202030204" pitchFamily="34" charset="0"/>
              </a:rPr>
              <a:t> = </a:t>
            </a:r>
            <a:r>
              <a:rPr lang="es-MX" dirty="0" err="1">
                <a:latin typeface="Arial Narrow" panose="020B0606020202030204" pitchFamily="34" charset="0"/>
              </a:rPr>
              <a:t>TTL</a:t>
            </a:r>
            <a:r>
              <a:rPr lang="es-MX" dirty="0">
                <a:latin typeface="Arial Narrow" panose="020B0606020202030204" pitchFamily="34" charset="0"/>
              </a:rPr>
              <a:t> - Duración</a:t>
            </a:r>
          </a:p>
          <a:p>
            <a:pPr marL="457200" lvl="1" indent="0" algn="just">
              <a:buNone/>
              <a:defRPr/>
            </a:pPr>
            <a:r>
              <a:rPr lang="es-MX" dirty="0" err="1">
                <a:latin typeface="Arial Narrow" panose="020B0606020202030204" pitchFamily="34" charset="0"/>
              </a:rPr>
              <a:t>TTP</a:t>
            </a:r>
            <a:r>
              <a:rPr lang="es-MX" dirty="0">
                <a:latin typeface="Arial Narrow" panose="020B0606020202030204" pitchFamily="34" charset="0"/>
              </a:rPr>
              <a:t> = </a:t>
            </a:r>
            <a:r>
              <a:rPr lang="es-MX" dirty="0" err="1">
                <a:latin typeface="Arial Narrow" panose="020B0606020202030204" pitchFamily="34" charset="0"/>
              </a:rPr>
              <a:t>TIP</a:t>
            </a:r>
            <a:r>
              <a:rPr lang="es-MX" dirty="0">
                <a:latin typeface="Arial Narrow" panose="020B0606020202030204" pitchFamily="34" charset="0"/>
              </a:rPr>
              <a:t> + Duración</a:t>
            </a:r>
          </a:p>
          <a:p>
            <a:pPr marL="457200" lvl="1" indent="0" algn="just">
              <a:buNone/>
              <a:defRPr/>
            </a:pPr>
            <a:endParaRPr lang="es-ES" dirty="0">
              <a:latin typeface="Arial Narrow" panose="020B0606020202030204" pitchFamily="34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664045"/>
              </p:ext>
            </p:extLst>
          </p:nvPr>
        </p:nvGraphicFramePr>
        <p:xfrm>
          <a:off x="8405056" y="2574535"/>
          <a:ext cx="1530784" cy="1153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81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chemeClr val="tx1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TIP</a:t>
                      </a:r>
                      <a:endParaRPr lang="es-PE" sz="2800" b="1" kern="1200" dirty="0">
                        <a:solidFill>
                          <a:schemeClr val="tx1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rgbClr val="FF0000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TIL</a:t>
                      </a:r>
                      <a:endParaRPr lang="es-PE" sz="2800" b="1" kern="1200" dirty="0">
                        <a:solidFill>
                          <a:srgbClr val="FF0000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81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rgbClr val="FF0000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TTP</a:t>
                      </a:r>
                      <a:endParaRPr lang="es-PE" sz="2800" b="1" kern="1200" dirty="0">
                        <a:solidFill>
                          <a:srgbClr val="FF0000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chemeClr val="tx1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TTL</a:t>
                      </a:r>
                      <a:endParaRPr lang="es-PE" sz="2800" b="1" kern="1200" dirty="0">
                        <a:solidFill>
                          <a:schemeClr val="tx1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7 Conector recto"/>
          <p:cNvCxnSpPr/>
          <p:nvPr/>
        </p:nvCxnSpPr>
        <p:spPr>
          <a:xfrm>
            <a:off x="6580328" y="5074802"/>
            <a:ext cx="4968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7876472" y="4858778"/>
            <a:ext cx="367240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6580328" y="5290826"/>
            <a:ext cx="38884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6580328" y="471476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11548880" y="471476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CuadroTexto"/>
          <p:cNvSpPr txBox="1"/>
          <p:nvPr/>
        </p:nvSpPr>
        <p:spPr>
          <a:xfrm>
            <a:off x="6436312" y="5434842"/>
            <a:ext cx="532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/>
              <a:t>TIP</a:t>
            </a:r>
            <a:r>
              <a:rPr lang="es-ES" sz="2000" b="1" dirty="0"/>
              <a:t>                                                                            </a:t>
            </a:r>
            <a:r>
              <a:rPr lang="es-ES" sz="2000" b="1" dirty="0" err="1"/>
              <a:t>TTL</a:t>
            </a:r>
            <a:endParaRPr lang="es-PE" sz="2000" b="1" dirty="0"/>
          </a:p>
        </p:txBody>
      </p:sp>
      <p:sp>
        <p:nvSpPr>
          <p:cNvPr id="19" name="18 CuadroTexto"/>
          <p:cNvSpPr txBox="1"/>
          <p:nvPr/>
        </p:nvSpPr>
        <p:spPr>
          <a:xfrm>
            <a:off x="7225689" y="4714762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>
                <a:solidFill>
                  <a:srgbClr val="FF0000"/>
                </a:solidFill>
              </a:rPr>
              <a:t>TIL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2" name="21 CuadroTexto"/>
          <p:cNvSpPr txBox="1"/>
          <p:nvPr/>
        </p:nvSpPr>
        <p:spPr>
          <a:xfrm>
            <a:off x="10487377" y="510616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>
                <a:solidFill>
                  <a:srgbClr val="FF0000"/>
                </a:solidFill>
              </a:rPr>
              <a:t>TTP</a:t>
            </a:r>
            <a:endParaRPr lang="es-PE" sz="2000" b="1" dirty="0">
              <a:solidFill>
                <a:srgbClr val="FF0000"/>
              </a:solidFill>
            </a:endParaRPr>
          </a:p>
        </p:txBody>
      </p:sp>
      <p:cxnSp>
        <p:nvCxnSpPr>
          <p:cNvPr id="21" name="20 Conector recto"/>
          <p:cNvCxnSpPr/>
          <p:nvPr/>
        </p:nvCxnSpPr>
        <p:spPr>
          <a:xfrm>
            <a:off x="7876472" y="471476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10487377" y="507480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4 CuadroTexto"/>
          <p:cNvSpPr txBox="1"/>
          <p:nvPr/>
        </p:nvSpPr>
        <p:spPr>
          <a:xfrm>
            <a:off x="8956593" y="4530096"/>
            <a:ext cx="1530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- Duración</a:t>
            </a:r>
            <a:endParaRPr lang="es-PE" sz="2000" b="1" dirty="0"/>
          </a:p>
        </p:txBody>
      </p:sp>
      <p:sp>
        <p:nvSpPr>
          <p:cNvPr id="20" name="19 CuadroTexto"/>
          <p:cNvSpPr txBox="1"/>
          <p:nvPr/>
        </p:nvSpPr>
        <p:spPr>
          <a:xfrm>
            <a:off x="8020488" y="5240316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+Duración</a:t>
            </a:r>
            <a:endParaRPr lang="es-PE" sz="2000" b="1" dirty="0"/>
          </a:p>
        </p:txBody>
      </p:sp>
      <p:sp>
        <p:nvSpPr>
          <p:cNvPr id="7" name="6 Elipse"/>
          <p:cNvSpPr/>
          <p:nvPr/>
        </p:nvSpPr>
        <p:spPr>
          <a:xfrm>
            <a:off x="6580328" y="5074803"/>
            <a:ext cx="72008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/>
          </a:p>
        </p:txBody>
      </p:sp>
      <p:sp>
        <p:nvSpPr>
          <p:cNvPr id="9" name="8 Elipse"/>
          <p:cNvSpPr/>
          <p:nvPr/>
        </p:nvSpPr>
        <p:spPr>
          <a:xfrm>
            <a:off x="7753093" y="4088212"/>
            <a:ext cx="72008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10 CuadroTexto"/>
          <p:cNvSpPr txBox="1"/>
          <p:nvPr/>
        </p:nvSpPr>
        <p:spPr>
          <a:xfrm>
            <a:off x="7427039" y="2754679"/>
            <a:ext cx="648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+d</a:t>
            </a:r>
            <a:endParaRPr lang="es-PE" sz="2800" dirty="0"/>
          </a:p>
        </p:txBody>
      </p:sp>
      <p:sp>
        <p:nvSpPr>
          <p:cNvPr id="13" name="12 CuadroTexto"/>
          <p:cNvSpPr txBox="1"/>
          <p:nvPr/>
        </p:nvSpPr>
        <p:spPr>
          <a:xfrm>
            <a:off x="10345380" y="2775809"/>
            <a:ext cx="6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-d</a:t>
            </a:r>
            <a:endParaRPr lang="es-PE" sz="2800" dirty="0"/>
          </a:p>
        </p:txBody>
      </p:sp>
      <p:cxnSp>
        <p:nvCxnSpPr>
          <p:cNvPr id="17" name="16 Conector recto de flecha"/>
          <p:cNvCxnSpPr>
            <a:cxnSpLocks/>
          </p:cNvCxnSpPr>
          <p:nvPr/>
        </p:nvCxnSpPr>
        <p:spPr>
          <a:xfrm>
            <a:off x="8075110" y="3246251"/>
            <a:ext cx="254046" cy="2031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/>
          <p:nvPr/>
        </p:nvCxnSpPr>
        <p:spPr>
          <a:xfrm flipH="1" flipV="1">
            <a:off x="9923972" y="2801359"/>
            <a:ext cx="288032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>
            <a:cxnSpLocks/>
            <a:endCxn id="11" idx="3"/>
          </p:cNvCxnSpPr>
          <p:nvPr/>
        </p:nvCxnSpPr>
        <p:spPr>
          <a:xfrm flipH="1">
            <a:off x="8075110" y="2754679"/>
            <a:ext cx="288031" cy="2616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>
            <a:cxnSpLocks/>
          </p:cNvCxnSpPr>
          <p:nvPr/>
        </p:nvCxnSpPr>
        <p:spPr>
          <a:xfrm flipV="1">
            <a:off x="9932913" y="3314707"/>
            <a:ext cx="351099" cy="1864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92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15"/>
          <p:cNvGrpSpPr>
            <a:grpSpLocks/>
          </p:cNvGrpSpPr>
          <p:nvPr/>
        </p:nvGrpSpPr>
        <p:grpSpPr bwMode="auto">
          <a:xfrm>
            <a:off x="5275049" y="4759226"/>
            <a:ext cx="508000" cy="571500"/>
            <a:chOff x="6980" y="6660"/>
            <a:chExt cx="800" cy="900"/>
          </a:xfrm>
        </p:grpSpPr>
        <p:sp>
          <p:nvSpPr>
            <p:cNvPr id="202" name="Oval 1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3" name="Rectangle 1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4" name="Line 1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5" name="Line 1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pSp>
        <p:nvGrpSpPr>
          <p:cNvPr id="194" name="Group 69"/>
          <p:cNvGrpSpPr>
            <a:grpSpLocks/>
          </p:cNvGrpSpPr>
          <p:nvPr/>
        </p:nvGrpSpPr>
        <p:grpSpPr bwMode="auto">
          <a:xfrm>
            <a:off x="6719777" y="2352198"/>
            <a:ext cx="508000" cy="571500"/>
            <a:chOff x="6980" y="6660"/>
            <a:chExt cx="800" cy="900"/>
          </a:xfrm>
        </p:grpSpPr>
        <p:sp>
          <p:nvSpPr>
            <p:cNvPr id="195" name="Oval 7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6" name="Rectangle 7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7" name="Line 7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8" name="Line 7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709597"/>
              </p:ext>
            </p:extLst>
          </p:nvPr>
        </p:nvGraphicFramePr>
        <p:xfrm>
          <a:off x="595007" y="1445759"/>
          <a:ext cx="2197937" cy="37198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8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Tarea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T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Preced</a:t>
                      </a:r>
                      <a:r>
                        <a:rPr lang="en-US" sz="2000" b="1" dirty="0">
                          <a:effectLst/>
                        </a:rPr>
                        <a:t>.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A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2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-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B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3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-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C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>
                          <a:effectLst/>
                        </a:rPr>
                        <a:t>4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 dirty="0">
                          <a:effectLst/>
                        </a:rPr>
                        <a:t>A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>
                          <a:effectLst/>
                        </a:rPr>
                        <a:t>D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>
                          <a:effectLst/>
                        </a:rPr>
                        <a:t>3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 dirty="0">
                          <a:effectLst/>
                        </a:rPr>
                        <a:t>B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>
                          <a:effectLst/>
                        </a:rPr>
                        <a:t>E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>
                          <a:effectLst/>
                        </a:rPr>
                        <a:t>2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 dirty="0">
                          <a:effectLst/>
                        </a:rPr>
                        <a:t>B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>
                          <a:effectLst/>
                        </a:rPr>
                        <a:t>F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b="1">
                          <a:effectLst/>
                        </a:rPr>
                        <a:t>3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effectLst/>
                          <a:latin typeface="Times New Roman"/>
                          <a:ea typeface="Times New Roman"/>
                        </a:rPr>
                        <a:t>A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G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1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C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H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4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D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I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3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A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J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2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EGH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5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K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3</a:t>
                      </a:r>
                      <a:endParaRPr lang="es-PE" sz="2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FI,J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798846"/>
              </p:ext>
            </p:extLst>
          </p:nvPr>
        </p:nvGraphicFramePr>
        <p:xfrm>
          <a:off x="635034" y="5718650"/>
          <a:ext cx="2592363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764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_tradnl" sz="2000" b="1" dirty="0">
                          <a:effectLst/>
                        </a:rPr>
                        <a:t>RUTA CRÍTICA: </a:t>
                      </a:r>
                      <a:r>
                        <a:rPr lang="es-ES_tradnl" sz="2000" b="1" dirty="0" err="1">
                          <a:effectLst/>
                        </a:rPr>
                        <a:t>BDHJK</a:t>
                      </a:r>
                      <a:endParaRPr lang="es-ES_tradnl" sz="2000" b="1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endParaRPr lang="es-ES_tradnl" sz="2000" b="1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_tradnl" sz="2000" b="1" dirty="0">
                          <a:effectLst/>
                        </a:rPr>
                        <a:t>DURACIÓN:  15 días</a:t>
                      </a:r>
                      <a:endParaRPr lang="es-PE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Group 175"/>
          <p:cNvGrpSpPr>
            <a:grpSpLocks/>
          </p:cNvGrpSpPr>
          <p:nvPr/>
        </p:nvGrpSpPr>
        <p:grpSpPr bwMode="auto">
          <a:xfrm>
            <a:off x="3538068" y="3634706"/>
            <a:ext cx="447675" cy="468313"/>
            <a:chOff x="1695" y="6990"/>
            <a:chExt cx="420" cy="420"/>
          </a:xfrm>
        </p:grpSpPr>
        <p:sp>
          <p:nvSpPr>
            <p:cNvPr id="7" name="Oval 178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8" name="Line 177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" name="Line 176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pSp>
        <p:nvGrpSpPr>
          <p:cNvPr id="10" name="Group 171"/>
          <p:cNvGrpSpPr>
            <a:grpSpLocks/>
          </p:cNvGrpSpPr>
          <p:nvPr/>
        </p:nvGrpSpPr>
        <p:grpSpPr bwMode="auto">
          <a:xfrm>
            <a:off x="4696943" y="1853324"/>
            <a:ext cx="447675" cy="468313"/>
            <a:chOff x="1695" y="6990"/>
            <a:chExt cx="420" cy="420"/>
          </a:xfrm>
        </p:grpSpPr>
        <p:sp>
          <p:nvSpPr>
            <p:cNvPr id="11" name="Oval 17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" name="Line 17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" name="Line 17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4" name="Text Box 170"/>
          <p:cNvSpPr txBox="1">
            <a:spLocks noChangeArrowheads="1"/>
          </p:cNvSpPr>
          <p:nvPr/>
        </p:nvSpPr>
        <p:spPr bwMode="auto">
          <a:xfrm>
            <a:off x="4698529" y="1994928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2    5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" name="Group 161"/>
          <p:cNvGrpSpPr>
            <a:grpSpLocks/>
          </p:cNvGrpSpPr>
          <p:nvPr/>
        </p:nvGrpSpPr>
        <p:grpSpPr bwMode="auto">
          <a:xfrm>
            <a:off x="4808068" y="5700043"/>
            <a:ext cx="447675" cy="468312"/>
            <a:chOff x="1695" y="6990"/>
            <a:chExt cx="420" cy="420"/>
          </a:xfrm>
        </p:grpSpPr>
        <p:sp>
          <p:nvSpPr>
            <p:cNvPr id="21" name="Oval 16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Line 16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3" name="Line 16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24" name="Text Box 160"/>
          <p:cNvSpPr txBox="1">
            <a:spLocks noChangeArrowheads="1"/>
          </p:cNvSpPr>
          <p:nvPr/>
        </p:nvSpPr>
        <p:spPr bwMode="auto">
          <a:xfrm>
            <a:off x="4782667" y="5881019"/>
            <a:ext cx="519112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3    3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0" name="Group 151"/>
          <p:cNvGrpSpPr>
            <a:grpSpLocks/>
          </p:cNvGrpSpPr>
          <p:nvPr/>
        </p:nvGrpSpPr>
        <p:grpSpPr bwMode="auto">
          <a:xfrm>
            <a:off x="5556322" y="3647406"/>
            <a:ext cx="447675" cy="468312"/>
            <a:chOff x="1695" y="6990"/>
            <a:chExt cx="420" cy="420"/>
          </a:xfrm>
        </p:grpSpPr>
        <p:sp>
          <p:nvSpPr>
            <p:cNvPr id="31" name="Oval 15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2" name="Line 15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3" name="Line 15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34" name="Text Box 150"/>
          <p:cNvSpPr txBox="1">
            <a:spLocks noChangeArrowheads="1"/>
          </p:cNvSpPr>
          <p:nvPr/>
        </p:nvSpPr>
        <p:spPr bwMode="auto">
          <a:xfrm>
            <a:off x="5507015" y="3816579"/>
            <a:ext cx="571759" cy="237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6    9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5" name="Group 146"/>
          <p:cNvGrpSpPr>
            <a:grpSpLocks/>
          </p:cNvGrpSpPr>
          <p:nvPr/>
        </p:nvGrpSpPr>
        <p:grpSpPr bwMode="auto">
          <a:xfrm>
            <a:off x="7247839" y="1849308"/>
            <a:ext cx="446087" cy="468313"/>
            <a:chOff x="1695" y="6990"/>
            <a:chExt cx="420" cy="420"/>
          </a:xfrm>
        </p:grpSpPr>
        <p:sp>
          <p:nvSpPr>
            <p:cNvPr id="36" name="Oval 14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7" name="Line 14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8" name="Line 14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39" name="Text Box 145"/>
          <p:cNvSpPr txBox="1">
            <a:spLocks noChangeArrowheads="1"/>
          </p:cNvSpPr>
          <p:nvPr/>
        </p:nvSpPr>
        <p:spPr bwMode="auto">
          <a:xfrm>
            <a:off x="7202672" y="1968258"/>
            <a:ext cx="6889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5   12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0" name="Group 141"/>
          <p:cNvGrpSpPr>
            <a:grpSpLocks/>
          </p:cNvGrpSpPr>
          <p:nvPr/>
        </p:nvGrpSpPr>
        <p:grpSpPr bwMode="auto">
          <a:xfrm>
            <a:off x="10034338" y="3701882"/>
            <a:ext cx="447675" cy="468312"/>
            <a:chOff x="1695" y="6990"/>
            <a:chExt cx="420" cy="420"/>
          </a:xfrm>
        </p:grpSpPr>
        <p:sp>
          <p:nvSpPr>
            <p:cNvPr id="41" name="Oval 14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2" name="Line 14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3" name="Line 14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44" name="Text Box 140"/>
          <p:cNvSpPr txBox="1">
            <a:spLocks noChangeArrowheads="1"/>
          </p:cNvSpPr>
          <p:nvPr/>
        </p:nvSpPr>
        <p:spPr bwMode="auto">
          <a:xfrm>
            <a:off x="9945031" y="3832726"/>
            <a:ext cx="658264" cy="29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15  15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Line 139"/>
          <p:cNvSpPr>
            <a:spLocks noChangeShapeType="1"/>
          </p:cNvSpPr>
          <p:nvPr/>
        </p:nvSpPr>
        <p:spPr bwMode="auto">
          <a:xfrm flipV="1">
            <a:off x="3881242" y="2232259"/>
            <a:ext cx="878874" cy="14355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6" name="Line 138"/>
          <p:cNvSpPr>
            <a:spLocks noChangeShapeType="1"/>
          </p:cNvSpPr>
          <p:nvPr/>
        </p:nvSpPr>
        <p:spPr bwMode="auto">
          <a:xfrm flipV="1">
            <a:off x="5265082" y="4073469"/>
            <a:ext cx="1988024" cy="177759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7" name="Line 137"/>
          <p:cNvSpPr>
            <a:spLocks noChangeShapeType="1"/>
          </p:cNvSpPr>
          <p:nvPr/>
        </p:nvSpPr>
        <p:spPr bwMode="auto">
          <a:xfrm>
            <a:off x="3841279" y="4115718"/>
            <a:ext cx="990600" cy="170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53" name="Text Box 131"/>
          <p:cNvSpPr txBox="1">
            <a:spLocks noChangeArrowheads="1"/>
          </p:cNvSpPr>
          <p:nvPr/>
        </p:nvSpPr>
        <p:spPr bwMode="auto">
          <a:xfrm>
            <a:off x="3884142" y="2740943"/>
            <a:ext cx="862012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A-2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 Box 130"/>
          <p:cNvSpPr txBox="1">
            <a:spLocks noChangeArrowheads="1"/>
          </p:cNvSpPr>
          <p:nvPr/>
        </p:nvSpPr>
        <p:spPr bwMode="auto">
          <a:xfrm>
            <a:off x="4746154" y="2840356"/>
            <a:ext cx="668338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C-4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129"/>
          <p:cNvSpPr txBox="1">
            <a:spLocks noChangeArrowheads="1"/>
          </p:cNvSpPr>
          <p:nvPr/>
        </p:nvSpPr>
        <p:spPr bwMode="auto">
          <a:xfrm>
            <a:off x="5380273" y="1819513"/>
            <a:ext cx="698500" cy="237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 Box 128"/>
          <p:cNvSpPr txBox="1">
            <a:spLocks noChangeArrowheads="1"/>
          </p:cNvSpPr>
          <p:nvPr/>
        </p:nvSpPr>
        <p:spPr bwMode="auto">
          <a:xfrm>
            <a:off x="7441894" y="5280369"/>
            <a:ext cx="534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H-4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 Box 127"/>
          <p:cNvSpPr txBox="1">
            <a:spLocks noChangeArrowheads="1"/>
          </p:cNvSpPr>
          <p:nvPr/>
        </p:nvSpPr>
        <p:spPr bwMode="auto">
          <a:xfrm>
            <a:off x="6434577" y="3667760"/>
            <a:ext cx="4000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G-1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 Box 126"/>
          <p:cNvSpPr txBox="1">
            <a:spLocks noChangeArrowheads="1"/>
          </p:cNvSpPr>
          <p:nvPr/>
        </p:nvSpPr>
        <p:spPr bwMode="auto">
          <a:xfrm>
            <a:off x="3826993" y="4823743"/>
            <a:ext cx="9350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 Box 125"/>
          <p:cNvSpPr txBox="1">
            <a:spLocks noChangeArrowheads="1"/>
          </p:cNvSpPr>
          <p:nvPr/>
        </p:nvSpPr>
        <p:spPr bwMode="auto">
          <a:xfrm>
            <a:off x="5772175" y="4696743"/>
            <a:ext cx="482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E-2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 Box 123"/>
          <p:cNvSpPr txBox="1">
            <a:spLocks noChangeArrowheads="1"/>
          </p:cNvSpPr>
          <p:nvPr/>
        </p:nvSpPr>
        <p:spPr bwMode="auto">
          <a:xfrm>
            <a:off x="8060913" y="3669000"/>
            <a:ext cx="41751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J-2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Text Box 122"/>
          <p:cNvSpPr txBox="1">
            <a:spLocks noChangeArrowheads="1"/>
          </p:cNvSpPr>
          <p:nvPr/>
        </p:nvSpPr>
        <p:spPr bwMode="auto">
          <a:xfrm>
            <a:off x="9502162" y="3592637"/>
            <a:ext cx="4810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5" name="Group 117"/>
          <p:cNvGrpSpPr>
            <a:grpSpLocks/>
          </p:cNvGrpSpPr>
          <p:nvPr/>
        </p:nvGrpSpPr>
        <p:grpSpPr bwMode="auto">
          <a:xfrm>
            <a:off x="7211789" y="3689474"/>
            <a:ext cx="447675" cy="468313"/>
            <a:chOff x="1695" y="6990"/>
            <a:chExt cx="420" cy="420"/>
          </a:xfrm>
        </p:grpSpPr>
        <p:sp>
          <p:nvSpPr>
            <p:cNvPr id="66" name="Oval 120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7" name="Line 119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8" name="Line 118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69" name="Text Box 116"/>
          <p:cNvSpPr txBox="1">
            <a:spLocks noChangeArrowheads="1"/>
          </p:cNvSpPr>
          <p:nvPr/>
        </p:nvSpPr>
        <p:spPr bwMode="auto">
          <a:xfrm>
            <a:off x="7177252" y="3853878"/>
            <a:ext cx="5873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10  10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1" name="Group 111"/>
          <p:cNvGrpSpPr>
            <a:grpSpLocks/>
          </p:cNvGrpSpPr>
          <p:nvPr/>
        </p:nvGrpSpPr>
        <p:grpSpPr bwMode="auto">
          <a:xfrm>
            <a:off x="7278218" y="5616416"/>
            <a:ext cx="447675" cy="468313"/>
            <a:chOff x="1695" y="6990"/>
            <a:chExt cx="420" cy="420"/>
          </a:xfrm>
        </p:grpSpPr>
        <p:sp>
          <p:nvSpPr>
            <p:cNvPr id="72" name="Oval 11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3" name="Line 11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4" name="Line 11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75" name="Text Box 110"/>
          <p:cNvSpPr txBox="1">
            <a:spLocks noChangeArrowheads="1"/>
          </p:cNvSpPr>
          <p:nvPr/>
        </p:nvSpPr>
        <p:spPr bwMode="auto">
          <a:xfrm>
            <a:off x="7177251" y="5753983"/>
            <a:ext cx="687388" cy="283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6   6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Line 109"/>
          <p:cNvSpPr>
            <a:spLocks noChangeShapeType="1"/>
          </p:cNvSpPr>
          <p:nvPr/>
        </p:nvSpPr>
        <p:spPr bwMode="auto">
          <a:xfrm flipH="1" flipV="1">
            <a:off x="7435625" y="4162795"/>
            <a:ext cx="21294" cy="14286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7" name="Line 108"/>
          <p:cNvSpPr>
            <a:spLocks noChangeShapeType="1"/>
          </p:cNvSpPr>
          <p:nvPr/>
        </p:nvSpPr>
        <p:spPr bwMode="auto">
          <a:xfrm flipV="1">
            <a:off x="5128628" y="2112693"/>
            <a:ext cx="213467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8" name="Line 107"/>
          <p:cNvSpPr>
            <a:spLocks noChangeShapeType="1"/>
          </p:cNvSpPr>
          <p:nvPr/>
        </p:nvSpPr>
        <p:spPr bwMode="auto">
          <a:xfrm>
            <a:off x="5990755" y="3928110"/>
            <a:ext cx="123360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5" name="Line 100"/>
          <p:cNvSpPr>
            <a:spLocks noChangeShapeType="1"/>
          </p:cNvSpPr>
          <p:nvPr/>
        </p:nvSpPr>
        <p:spPr bwMode="auto">
          <a:xfrm>
            <a:off x="5097225" y="2287540"/>
            <a:ext cx="3764666" cy="152993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0" name="Line 95"/>
          <p:cNvSpPr>
            <a:spLocks noChangeShapeType="1"/>
          </p:cNvSpPr>
          <p:nvPr/>
        </p:nvSpPr>
        <p:spPr bwMode="auto">
          <a:xfrm>
            <a:off x="9297737" y="3935243"/>
            <a:ext cx="736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91" name="Group 91"/>
          <p:cNvGrpSpPr>
            <a:grpSpLocks/>
          </p:cNvGrpSpPr>
          <p:nvPr/>
        </p:nvGrpSpPr>
        <p:grpSpPr bwMode="auto">
          <a:xfrm>
            <a:off x="8861895" y="3701883"/>
            <a:ext cx="447675" cy="466725"/>
            <a:chOff x="1695" y="6990"/>
            <a:chExt cx="420" cy="420"/>
          </a:xfrm>
        </p:grpSpPr>
        <p:sp>
          <p:nvSpPr>
            <p:cNvPr id="92" name="Oval 9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3" name="Line 9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4" name="Line 9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97" name="Line 88"/>
          <p:cNvSpPr>
            <a:spLocks noChangeShapeType="1"/>
          </p:cNvSpPr>
          <p:nvPr/>
        </p:nvSpPr>
        <p:spPr bwMode="auto">
          <a:xfrm>
            <a:off x="7666995" y="3923629"/>
            <a:ext cx="121842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100" name="Group 81"/>
          <p:cNvGrpSpPr>
            <a:grpSpLocks/>
          </p:cNvGrpSpPr>
          <p:nvPr/>
        </p:nvGrpSpPr>
        <p:grpSpPr bwMode="auto">
          <a:xfrm>
            <a:off x="6246027" y="1340768"/>
            <a:ext cx="508000" cy="571500"/>
            <a:chOff x="6980" y="6660"/>
            <a:chExt cx="800" cy="900"/>
          </a:xfrm>
        </p:grpSpPr>
        <p:sp>
          <p:nvSpPr>
            <p:cNvPr id="101" name="Oval 85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2" name="Rectangle 84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3" name="Line 83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4" name="Line 82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05" name="Text Box 80"/>
          <p:cNvSpPr txBox="1">
            <a:spLocks noChangeArrowheads="1"/>
          </p:cNvSpPr>
          <p:nvPr/>
        </p:nvSpPr>
        <p:spPr bwMode="auto">
          <a:xfrm>
            <a:off x="6207653" y="1355032"/>
            <a:ext cx="64583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9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12</a:t>
            </a:r>
          </a:p>
        </p:txBody>
      </p:sp>
      <p:grpSp>
        <p:nvGrpSpPr>
          <p:cNvPr id="106" name="Group 75"/>
          <p:cNvGrpSpPr>
            <a:grpSpLocks/>
          </p:cNvGrpSpPr>
          <p:nvPr/>
        </p:nvGrpSpPr>
        <p:grpSpPr bwMode="auto">
          <a:xfrm>
            <a:off x="4223867" y="3021136"/>
            <a:ext cx="508000" cy="571500"/>
            <a:chOff x="6980" y="6660"/>
            <a:chExt cx="800" cy="900"/>
          </a:xfrm>
        </p:grpSpPr>
        <p:sp>
          <p:nvSpPr>
            <p:cNvPr id="107" name="Oval 7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8" name="Rectangle 7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9" name="Line 7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0" name="Line 7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11" name="Text Box 74"/>
          <p:cNvSpPr txBox="1">
            <a:spLocks noChangeArrowheads="1"/>
          </p:cNvSpPr>
          <p:nvPr/>
        </p:nvSpPr>
        <p:spPr bwMode="auto">
          <a:xfrm>
            <a:off x="4223867" y="3026693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2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</a:p>
        </p:txBody>
      </p:sp>
      <p:grpSp>
        <p:nvGrpSpPr>
          <p:cNvPr id="112" name="Group 69"/>
          <p:cNvGrpSpPr>
            <a:grpSpLocks/>
          </p:cNvGrpSpPr>
          <p:nvPr/>
        </p:nvGrpSpPr>
        <p:grpSpPr bwMode="auto">
          <a:xfrm>
            <a:off x="5571727" y="2983036"/>
            <a:ext cx="508000" cy="571500"/>
            <a:chOff x="6980" y="6660"/>
            <a:chExt cx="800" cy="900"/>
          </a:xfrm>
        </p:grpSpPr>
        <p:sp>
          <p:nvSpPr>
            <p:cNvPr id="113" name="Oval 7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4" name="Rectangle 7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5" name="Line 7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6" name="Line 7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17" name="Text Box 68"/>
          <p:cNvSpPr txBox="1">
            <a:spLocks noChangeArrowheads="1"/>
          </p:cNvSpPr>
          <p:nvPr/>
        </p:nvSpPr>
        <p:spPr bwMode="auto">
          <a:xfrm>
            <a:off x="5572309" y="3002985"/>
            <a:ext cx="56381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5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6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9 </a:t>
            </a:r>
          </a:p>
        </p:txBody>
      </p:sp>
      <p:grpSp>
        <p:nvGrpSpPr>
          <p:cNvPr id="118" name="Group 63"/>
          <p:cNvGrpSpPr>
            <a:grpSpLocks/>
          </p:cNvGrpSpPr>
          <p:nvPr/>
        </p:nvGrpSpPr>
        <p:grpSpPr bwMode="auto">
          <a:xfrm>
            <a:off x="6007948" y="4000228"/>
            <a:ext cx="508000" cy="571500"/>
            <a:chOff x="6980" y="6660"/>
            <a:chExt cx="800" cy="900"/>
          </a:xfrm>
        </p:grpSpPr>
        <p:sp>
          <p:nvSpPr>
            <p:cNvPr id="119" name="Oval 6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0" name="Rectangle 6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1" name="Line 6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2" name="Line 6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23" name="Text Box 62"/>
          <p:cNvSpPr txBox="1">
            <a:spLocks noChangeArrowheads="1"/>
          </p:cNvSpPr>
          <p:nvPr/>
        </p:nvSpPr>
        <p:spPr bwMode="auto">
          <a:xfrm>
            <a:off x="6002282" y="3993773"/>
            <a:ext cx="927100" cy="484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9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10</a:t>
            </a:r>
            <a:endParaRPr lang="es-ES_tradnl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2" name="Group 39"/>
          <p:cNvGrpSpPr>
            <a:grpSpLocks/>
          </p:cNvGrpSpPr>
          <p:nvPr/>
        </p:nvGrpSpPr>
        <p:grpSpPr bwMode="auto">
          <a:xfrm>
            <a:off x="8208614" y="4004360"/>
            <a:ext cx="508000" cy="571500"/>
            <a:chOff x="6980" y="6660"/>
            <a:chExt cx="800" cy="900"/>
          </a:xfrm>
        </p:grpSpPr>
        <p:sp>
          <p:nvSpPr>
            <p:cNvPr id="143" name="Oval 4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4" name="Rectangle 4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5" name="Line 4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6" name="Line 4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47" name="Text Box 38"/>
          <p:cNvSpPr txBox="1">
            <a:spLocks noChangeArrowheads="1"/>
          </p:cNvSpPr>
          <p:nvPr/>
        </p:nvSpPr>
        <p:spPr bwMode="auto">
          <a:xfrm>
            <a:off x="8014875" y="3984852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10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10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12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12</a:t>
            </a:r>
            <a:endParaRPr lang="es-ES_tradnl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8" name="Group 33"/>
          <p:cNvGrpSpPr>
            <a:grpSpLocks/>
          </p:cNvGrpSpPr>
          <p:nvPr/>
        </p:nvGrpSpPr>
        <p:grpSpPr bwMode="auto">
          <a:xfrm>
            <a:off x="7539942" y="4522118"/>
            <a:ext cx="508000" cy="571500"/>
            <a:chOff x="6980" y="6660"/>
            <a:chExt cx="800" cy="900"/>
          </a:xfrm>
        </p:grpSpPr>
        <p:sp>
          <p:nvSpPr>
            <p:cNvPr id="149" name="Oval 3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0" name="Rectangle 3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1" name="Line 3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2" name="Line 3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53" name="Text Box 32"/>
          <p:cNvSpPr txBox="1">
            <a:spLocks noChangeArrowheads="1"/>
          </p:cNvSpPr>
          <p:nvPr/>
        </p:nvSpPr>
        <p:spPr bwMode="auto">
          <a:xfrm>
            <a:off x="7521675" y="4516301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6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10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10</a:t>
            </a:r>
            <a:endParaRPr lang="es-ES_tradnl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6" name="Group 15"/>
          <p:cNvGrpSpPr>
            <a:grpSpLocks/>
          </p:cNvGrpSpPr>
          <p:nvPr/>
        </p:nvGrpSpPr>
        <p:grpSpPr bwMode="auto">
          <a:xfrm>
            <a:off x="6553081" y="5279071"/>
            <a:ext cx="508000" cy="571500"/>
            <a:chOff x="6980" y="6660"/>
            <a:chExt cx="800" cy="900"/>
          </a:xfrm>
        </p:grpSpPr>
        <p:sp>
          <p:nvSpPr>
            <p:cNvPr id="167" name="Oval 1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8" name="Rectangle 1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9" name="Line 1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0" name="Line 1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71" name="Text Box 14"/>
          <p:cNvSpPr txBox="1">
            <a:spLocks noChangeArrowheads="1"/>
          </p:cNvSpPr>
          <p:nvPr/>
        </p:nvSpPr>
        <p:spPr bwMode="auto">
          <a:xfrm>
            <a:off x="6529543" y="5309517"/>
            <a:ext cx="57464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3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6 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endParaRPr lang="es-ES_tradnl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2" name="Group 9"/>
          <p:cNvGrpSpPr>
            <a:grpSpLocks/>
          </p:cNvGrpSpPr>
          <p:nvPr/>
        </p:nvGrpSpPr>
        <p:grpSpPr bwMode="auto">
          <a:xfrm>
            <a:off x="4252116" y="4187726"/>
            <a:ext cx="508000" cy="571500"/>
            <a:chOff x="6980" y="6660"/>
            <a:chExt cx="800" cy="900"/>
          </a:xfrm>
        </p:grpSpPr>
        <p:sp>
          <p:nvSpPr>
            <p:cNvPr id="173" name="Oval 1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4" name="Rectangle 1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5" name="Line 1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6" name="Line 1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77" name="Text Box 8"/>
          <p:cNvSpPr txBox="1">
            <a:spLocks noChangeArrowheads="1"/>
          </p:cNvSpPr>
          <p:nvPr/>
        </p:nvSpPr>
        <p:spPr bwMode="auto">
          <a:xfrm>
            <a:off x="4252552" y="4176312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3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3</a:t>
            </a:r>
          </a:p>
        </p:txBody>
      </p:sp>
      <p:grpSp>
        <p:nvGrpSpPr>
          <p:cNvPr id="178" name="Group 3"/>
          <p:cNvGrpSpPr>
            <a:grpSpLocks/>
          </p:cNvGrpSpPr>
          <p:nvPr/>
        </p:nvGrpSpPr>
        <p:grpSpPr bwMode="auto">
          <a:xfrm>
            <a:off x="9402347" y="4020668"/>
            <a:ext cx="508000" cy="571500"/>
            <a:chOff x="6980" y="6660"/>
            <a:chExt cx="800" cy="900"/>
          </a:xfrm>
        </p:grpSpPr>
        <p:sp>
          <p:nvSpPr>
            <p:cNvPr id="179" name="Oval 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0" name="Rectangle 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1" name="Line 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2" name="Line 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83" name="Text Box 2"/>
          <p:cNvSpPr txBox="1">
            <a:spLocks noChangeArrowheads="1"/>
          </p:cNvSpPr>
          <p:nvPr/>
        </p:nvSpPr>
        <p:spPr bwMode="auto">
          <a:xfrm>
            <a:off x="9202487" y="4052861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12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12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15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15</a:t>
            </a:r>
            <a:endParaRPr lang="es-ES_tradnl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Text Box 1"/>
          <p:cNvSpPr txBox="1">
            <a:spLocks noChangeArrowheads="1"/>
          </p:cNvSpPr>
          <p:nvPr/>
        </p:nvSpPr>
        <p:spPr bwMode="auto">
          <a:xfrm>
            <a:off x="3448187" y="3803709"/>
            <a:ext cx="68738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0    0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5" name="Rectangle 180"/>
          <p:cNvSpPr>
            <a:spLocks noChangeArrowheads="1"/>
          </p:cNvSpPr>
          <p:nvPr/>
        </p:nvSpPr>
        <p:spPr bwMode="auto">
          <a:xfrm>
            <a:off x="2335214" y="1605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186" name="Rectangle 220"/>
          <p:cNvSpPr>
            <a:spLocks noChangeArrowheads="1"/>
          </p:cNvSpPr>
          <p:nvPr/>
        </p:nvSpPr>
        <p:spPr bwMode="auto">
          <a:xfrm>
            <a:off x="3413126" y="39825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Line 108"/>
          <p:cNvSpPr>
            <a:spLocks noChangeShapeType="1"/>
          </p:cNvSpPr>
          <p:nvPr/>
        </p:nvSpPr>
        <p:spPr bwMode="auto">
          <a:xfrm>
            <a:off x="5031904" y="2321636"/>
            <a:ext cx="586512" cy="13802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189" name="Text Box 129"/>
          <p:cNvSpPr txBox="1">
            <a:spLocks noChangeArrowheads="1"/>
          </p:cNvSpPr>
          <p:nvPr/>
        </p:nvSpPr>
        <p:spPr bwMode="auto">
          <a:xfrm>
            <a:off x="6136127" y="2372026"/>
            <a:ext cx="6985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0" name="Line 109"/>
          <p:cNvSpPr>
            <a:spLocks noChangeShapeType="1"/>
          </p:cNvSpPr>
          <p:nvPr/>
        </p:nvSpPr>
        <p:spPr bwMode="auto">
          <a:xfrm flipV="1">
            <a:off x="5196295" y="5972582"/>
            <a:ext cx="2097911" cy="1536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192" name="Text Box 125"/>
          <p:cNvSpPr txBox="1">
            <a:spLocks noChangeArrowheads="1"/>
          </p:cNvSpPr>
          <p:nvPr/>
        </p:nvSpPr>
        <p:spPr bwMode="auto">
          <a:xfrm>
            <a:off x="5733801" y="5718650"/>
            <a:ext cx="482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2 Conector recto de flecha"/>
          <p:cNvCxnSpPr>
            <a:cxnSpLocks/>
            <a:endCxn id="92" idx="1"/>
          </p:cNvCxnSpPr>
          <p:nvPr/>
        </p:nvCxnSpPr>
        <p:spPr>
          <a:xfrm>
            <a:off x="7642483" y="2230845"/>
            <a:ext cx="1284972" cy="1539388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193" name="Text Box 68"/>
          <p:cNvSpPr txBox="1">
            <a:spLocks noChangeArrowheads="1"/>
          </p:cNvSpPr>
          <p:nvPr/>
        </p:nvSpPr>
        <p:spPr bwMode="auto">
          <a:xfrm>
            <a:off x="6748238" y="2375024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9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12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9" name="Text Box 110"/>
          <p:cNvSpPr txBox="1">
            <a:spLocks noChangeArrowheads="1"/>
          </p:cNvSpPr>
          <p:nvPr/>
        </p:nvSpPr>
        <p:spPr bwMode="auto">
          <a:xfrm>
            <a:off x="8743482" y="3839881"/>
            <a:ext cx="687388" cy="283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12  12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0" name="Text Box 14"/>
          <p:cNvSpPr txBox="1">
            <a:spLocks noChangeArrowheads="1"/>
          </p:cNvSpPr>
          <p:nvPr/>
        </p:nvSpPr>
        <p:spPr bwMode="auto">
          <a:xfrm>
            <a:off x="5275049" y="4782199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3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8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 </a:t>
            </a:r>
            <a:r>
              <a:rPr lang="es-ES_tradnl" sz="11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10</a:t>
            </a:r>
            <a:endParaRPr lang="es-ES_tradnl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15 Conector recto de flecha"/>
          <p:cNvCxnSpPr/>
          <p:nvPr/>
        </p:nvCxnSpPr>
        <p:spPr>
          <a:xfrm>
            <a:off x="8440431" y="1678882"/>
            <a:ext cx="118324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18 CuadroTexto"/>
          <p:cNvSpPr txBox="1"/>
          <p:nvPr/>
        </p:nvSpPr>
        <p:spPr>
          <a:xfrm>
            <a:off x="8513108" y="1360643"/>
            <a:ext cx="114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MAYOR</a:t>
            </a:r>
            <a:endParaRPr lang="es-PE" dirty="0"/>
          </a:p>
        </p:txBody>
      </p:sp>
      <p:sp>
        <p:nvSpPr>
          <p:cNvPr id="154" name="153 CuadroTexto"/>
          <p:cNvSpPr txBox="1"/>
          <p:nvPr/>
        </p:nvSpPr>
        <p:spPr>
          <a:xfrm>
            <a:off x="10490335" y="1367412"/>
            <a:ext cx="114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MENOR</a:t>
            </a:r>
            <a:endParaRPr lang="es-PE" dirty="0"/>
          </a:p>
        </p:txBody>
      </p:sp>
      <p:cxnSp>
        <p:nvCxnSpPr>
          <p:cNvPr id="155" name="154 Conector recto de flecha"/>
          <p:cNvCxnSpPr/>
          <p:nvPr/>
        </p:nvCxnSpPr>
        <p:spPr>
          <a:xfrm flipH="1">
            <a:off x="10393689" y="1687566"/>
            <a:ext cx="120342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5 Elipse">
            <a:extLst>
              <a:ext uri="{FF2B5EF4-FFF2-40B4-BE49-F238E27FC236}">
                <a16:creationId xmlns:a16="http://schemas.microsoft.com/office/drawing/2014/main" id="{C2980700-95A3-B883-6C7F-1E201BBA944E}"/>
              </a:ext>
            </a:extLst>
          </p:cNvPr>
          <p:cNvSpPr/>
          <p:nvPr/>
        </p:nvSpPr>
        <p:spPr>
          <a:xfrm>
            <a:off x="9602202" y="1741641"/>
            <a:ext cx="1530785" cy="156102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FF0000"/>
                </a:solidFill>
                <a:latin typeface="Arial Narrow" pitchFamily="34" charset="0"/>
              </a:rPr>
              <a:t>H</a:t>
            </a:r>
          </a:p>
          <a:p>
            <a:pPr algn="ctr"/>
            <a:endParaRPr lang="es-ES" sz="2800" b="1" dirty="0">
              <a:solidFill>
                <a:srgbClr val="FF0000"/>
              </a:solidFill>
              <a:latin typeface="Arial Narrow" pitchFamily="34" charset="0"/>
            </a:endParaRPr>
          </a:p>
          <a:p>
            <a:pPr algn="ctr"/>
            <a:endParaRPr lang="es-PE" sz="28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graphicFrame>
        <p:nvGraphicFramePr>
          <p:cNvPr id="15" name="3 Tabla">
            <a:extLst>
              <a:ext uri="{FF2B5EF4-FFF2-40B4-BE49-F238E27FC236}">
                <a16:creationId xmlns:a16="http://schemas.microsoft.com/office/drawing/2014/main" id="{8452F03E-3F9E-0FBD-8C4F-044C17256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64103"/>
              </p:ext>
            </p:extLst>
          </p:nvPr>
        </p:nvGraphicFramePr>
        <p:xfrm>
          <a:off x="9596189" y="2376011"/>
          <a:ext cx="1530784" cy="1153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81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chemeClr val="tx1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TIP</a:t>
                      </a:r>
                      <a:endParaRPr lang="es-PE" sz="2800" b="1" kern="1200" dirty="0">
                        <a:solidFill>
                          <a:schemeClr val="tx1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rgbClr val="FF0000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TIL</a:t>
                      </a:r>
                      <a:endParaRPr lang="es-PE" sz="2800" b="1" kern="1200" dirty="0">
                        <a:solidFill>
                          <a:srgbClr val="FF0000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81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rgbClr val="FF0000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TTP</a:t>
                      </a:r>
                      <a:endParaRPr lang="es-PE" sz="2800" b="1" kern="1200" dirty="0">
                        <a:solidFill>
                          <a:srgbClr val="FF0000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err="1">
                          <a:solidFill>
                            <a:schemeClr val="tx1"/>
                          </a:solidFill>
                          <a:latin typeface="Arial Narrow" pitchFamily="34" charset="0"/>
                          <a:ea typeface="+mn-ea"/>
                          <a:cs typeface="+mn-cs"/>
                        </a:rPr>
                        <a:t>TTL</a:t>
                      </a:r>
                      <a:endParaRPr lang="es-PE" sz="2800" b="1" kern="1200" dirty="0">
                        <a:solidFill>
                          <a:schemeClr val="tx1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10 CuadroTexto">
            <a:extLst>
              <a:ext uri="{FF2B5EF4-FFF2-40B4-BE49-F238E27FC236}">
                <a16:creationId xmlns:a16="http://schemas.microsoft.com/office/drawing/2014/main" id="{2D532C3C-48CC-CFE8-8B4A-38BEF4E6E599}"/>
              </a:ext>
            </a:extLst>
          </p:cNvPr>
          <p:cNvSpPr txBox="1"/>
          <p:nvPr/>
        </p:nvSpPr>
        <p:spPr>
          <a:xfrm>
            <a:off x="8618172" y="2556155"/>
            <a:ext cx="648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+d</a:t>
            </a:r>
            <a:endParaRPr lang="es-PE" sz="2800" dirty="0"/>
          </a:p>
        </p:txBody>
      </p:sp>
      <p:sp>
        <p:nvSpPr>
          <p:cNvPr id="18" name="12 CuadroTexto">
            <a:extLst>
              <a:ext uri="{FF2B5EF4-FFF2-40B4-BE49-F238E27FC236}">
                <a16:creationId xmlns:a16="http://schemas.microsoft.com/office/drawing/2014/main" id="{DA8EE007-A1DE-8BC7-0432-F18C8EFC7200}"/>
              </a:ext>
            </a:extLst>
          </p:cNvPr>
          <p:cNvSpPr txBox="1"/>
          <p:nvPr/>
        </p:nvSpPr>
        <p:spPr>
          <a:xfrm>
            <a:off x="11536513" y="2577285"/>
            <a:ext cx="6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-d</a:t>
            </a:r>
            <a:endParaRPr lang="es-PE" sz="2800" dirty="0"/>
          </a:p>
        </p:txBody>
      </p:sp>
      <p:cxnSp>
        <p:nvCxnSpPr>
          <p:cNvPr id="25" name="16 Conector recto de flecha">
            <a:extLst>
              <a:ext uri="{FF2B5EF4-FFF2-40B4-BE49-F238E27FC236}">
                <a16:creationId xmlns:a16="http://schemas.microsoft.com/office/drawing/2014/main" id="{91F670BE-E673-CCE3-AD83-1ECEAE6BD26B}"/>
              </a:ext>
            </a:extLst>
          </p:cNvPr>
          <p:cNvCxnSpPr>
            <a:cxnSpLocks/>
          </p:cNvCxnSpPr>
          <p:nvPr/>
        </p:nvCxnSpPr>
        <p:spPr>
          <a:xfrm>
            <a:off x="9266243" y="3047727"/>
            <a:ext cx="254046" cy="2031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3 Conector recto de flecha">
            <a:extLst>
              <a:ext uri="{FF2B5EF4-FFF2-40B4-BE49-F238E27FC236}">
                <a16:creationId xmlns:a16="http://schemas.microsoft.com/office/drawing/2014/main" id="{BC3A1F85-B7A4-8286-6AD4-853C333BB3DD}"/>
              </a:ext>
            </a:extLst>
          </p:cNvPr>
          <p:cNvCxnSpPr/>
          <p:nvPr/>
        </p:nvCxnSpPr>
        <p:spPr>
          <a:xfrm flipH="1" flipV="1">
            <a:off x="11115105" y="2602835"/>
            <a:ext cx="288032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7 Conector recto de flecha">
            <a:extLst>
              <a:ext uri="{FF2B5EF4-FFF2-40B4-BE49-F238E27FC236}">
                <a16:creationId xmlns:a16="http://schemas.microsoft.com/office/drawing/2014/main" id="{6AF996CF-40E5-5E06-09F7-8614E88C5BC8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9266243" y="2556155"/>
            <a:ext cx="288031" cy="2616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31 Conector recto de flecha">
            <a:extLst>
              <a:ext uri="{FF2B5EF4-FFF2-40B4-BE49-F238E27FC236}">
                <a16:creationId xmlns:a16="http://schemas.microsoft.com/office/drawing/2014/main" id="{044E9F10-88EA-E1A9-F001-0B768FF206A5}"/>
              </a:ext>
            </a:extLst>
          </p:cNvPr>
          <p:cNvCxnSpPr>
            <a:cxnSpLocks/>
          </p:cNvCxnSpPr>
          <p:nvPr/>
        </p:nvCxnSpPr>
        <p:spPr>
          <a:xfrm flipV="1">
            <a:off x="11124046" y="3116183"/>
            <a:ext cx="351099" cy="1864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97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  <p:bldP spid="34" grpId="0"/>
      <p:bldP spid="39" grpId="0"/>
      <p:bldP spid="44" grpId="0"/>
      <p:bldP spid="45" grpId="0" animBg="1"/>
      <p:bldP spid="46" grpId="0" animBg="1"/>
      <p:bldP spid="47" grpId="0" animBg="1"/>
      <p:bldP spid="53" grpId="0"/>
      <p:bldP spid="54" grpId="0"/>
      <p:bldP spid="55" grpId="0"/>
      <p:bldP spid="56" grpId="0"/>
      <p:bldP spid="57" grpId="0"/>
      <p:bldP spid="59" grpId="0"/>
      <p:bldP spid="60" grpId="0"/>
      <p:bldP spid="62" grpId="0"/>
      <p:bldP spid="63" grpId="0"/>
      <p:bldP spid="69" grpId="0"/>
      <p:bldP spid="75" grpId="0"/>
      <p:bldP spid="76" grpId="0" animBg="1"/>
      <p:bldP spid="77" grpId="0" animBg="1"/>
      <p:bldP spid="78" grpId="0" animBg="1"/>
      <p:bldP spid="85" grpId="0" animBg="1"/>
      <p:bldP spid="90" grpId="0" animBg="1"/>
      <p:bldP spid="97" grpId="0" animBg="1"/>
      <p:bldP spid="105" grpId="0"/>
      <p:bldP spid="111" grpId="0"/>
      <p:bldP spid="117" grpId="0"/>
      <p:bldP spid="123" grpId="0"/>
      <p:bldP spid="147" grpId="0"/>
      <p:bldP spid="153" grpId="0"/>
      <p:bldP spid="171" grpId="0"/>
      <p:bldP spid="177" grpId="0"/>
      <p:bldP spid="183" grpId="0"/>
      <p:bldP spid="184" grpId="0"/>
      <p:bldP spid="186" grpId="0"/>
      <p:bldP spid="188" grpId="0" animBg="1"/>
      <p:bldP spid="189" grpId="0"/>
      <p:bldP spid="190" grpId="0" animBg="1"/>
      <p:bldP spid="192" grpId="0"/>
      <p:bldP spid="193" grpId="0"/>
      <p:bldP spid="199" grpId="0"/>
      <p:bldP spid="200" grpId="0"/>
      <p:bldP spid="19" grpId="0"/>
      <p:bldP spid="1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149444"/>
              </p:ext>
            </p:extLst>
          </p:nvPr>
        </p:nvGraphicFramePr>
        <p:xfrm>
          <a:off x="492923" y="1316512"/>
          <a:ext cx="2156935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Tarea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Preced</a:t>
                      </a:r>
                      <a:r>
                        <a:rPr lang="en-US" sz="2000" dirty="0">
                          <a:effectLst/>
                        </a:rPr>
                        <a:t>.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4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A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D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dirty="0">
                          <a:effectLst/>
                        </a:rPr>
                        <a:t>3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B,C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E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2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dirty="0">
                          <a:effectLst/>
                        </a:rPr>
                        <a:t>B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F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3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E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-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J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K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I,J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F,K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K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>
                          <a:effectLst/>
                        </a:rPr>
                        <a:t>2</a:t>
                      </a:r>
                      <a:endParaRPr lang="es-PE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2000" dirty="0">
                          <a:effectLst/>
                        </a:rPr>
                        <a:t>M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389012"/>
              </p:ext>
            </p:extLst>
          </p:nvPr>
        </p:nvGraphicFramePr>
        <p:xfrm>
          <a:off x="479089" y="6113240"/>
          <a:ext cx="3917228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1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0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_tradnl" sz="2000" dirty="0">
                          <a:effectLst/>
                        </a:rPr>
                        <a:t>RUTA CRÍTICA: GHIKMN      GHIKL DURACIÓN:  16 SEM.</a:t>
                      </a:r>
                      <a:endParaRPr lang="es-PE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Group 175"/>
          <p:cNvGrpSpPr>
            <a:grpSpLocks/>
          </p:cNvGrpSpPr>
          <p:nvPr/>
        </p:nvGrpSpPr>
        <p:grpSpPr bwMode="auto">
          <a:xfrm>
            <a:off x="3538068" y="4133628"/>
            <a:ext cx="447675" cy="468313"/>
            <a:chOff x="1695" y="6990"/>
            <a:chExt cx="420" cy="420"/>
          </a:xfrm>
        </p:grpSpPr>
        <p:sp>
          <p:nvSpPr>
            <p:cNvPr id="7" name="Oval 178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8" name="Line 177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" name="Line 176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pSp>
        <p:nvGrpSpPr>
          <p:cNvPr id="10" name="Group 171"/>
          <p:cNvGrpSpPr>
            <a:grpSpLocks/>
          </p:cNvGrpSpPr>
          <p:nvPr/>
        </p:nvGrpSpPr>
        <p:grpSpPr bwMode="auto">
          <a:xfrm>
            <a:off x="4376268" y="2523903"/>
            <a:ext cx="447675" cy="468313"/>
            <a:chOff x="1695" y="6990"/>
            <a:chExt cx="420" cy="420"/>
          </a:xfrm>
        </p:grpSpPr>
        <p:sp>
          <p:nvSpPr>
            <p:cNvPr id="11" name="Oval 17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" name="Line 17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" name="Line 17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4" name="Text Box 170"/>
          <p:cNvSpPr txBox="1">
            <a:spLocks noChangeArrowheads="1"/>
          </p:cNvSpPr>
          <p:nvPr/>
        </p:nvSpPr>
        <p:spPr bwMode="auto">
          <a:xfrm>
            <a:off x="4368329" y="263661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</a:t>
            </a: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5" name="Group 166"/>
          <p:cNvGrpSpPr>
            <a:grpSpLocks/>
          </p:cNvGrpSpPr>
          <p:nvPr/>
        </p:nvGrpSpPr>
        <p:grpSpPr bwMode="auto">
          <a:xfrm>
            <a:off x="5536730" y="2535015"/>
            <a:ext cx="447675" cy="468312"/>
            <a:chOff x="1695" y="6990"/>
            <a:chExt cx="420" cy="420"/>
          </a:xfrm>
        </p:grpSpPr>
        <p:sp>
          <p:nvSpPr>
            <p:cNvPr id="16" name="Oval 16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" name="Line 16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" name="Line 16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9" name="Text Box 165"/>
          <p:cNvSpPr txBox="1">
            <a:spLocks noChangeArrowheads="1"/>
          </p:cNvSpPr>
          <p:nvPr/>
        </p:nvSpPr>
        <p:spPr bwMode="auto">
          <a:xfrm>
            <a:off x="5536729" y="264931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6   13 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" name="Group 161"/>
          <p:cNvGrpSpPr>
            <a:grpSpLocks/>
          </p:cNvGrpSpPr>
          <p:nvPr/>
        </p:nvGrpSpPr>
        <p:grpSpPr bwMode="auto">
          <a:xfrm>
            <a:off x="4808068" y="6198965"/>
            <a:ext cx="447675" cy="468312"/>
            <a:chOff x="1695" y="6990"/>
            <a:chExt cx="420" cy="420"/>
          </a:xfrm>
        </p:grpSpPr>
        <p:sp>
          <p:nvSpPr>
            <p:cNvPr id="21" name="Oval 16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Line 16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3" name="Line 16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24" name="Text Box 160"/>
          <p:cNvSpPr txBox="1">
            <a:spLocks noChangeArrowheads="1"/>
          </p:cNvSpPr>
          <p:nvPr/>
        </p:nvSpPr>
        <p:spPr bwMode="auto">
          <a:xfrm>
            <a:off x="4782667" y="6379941"/>
            <a:ext cx="519112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1    1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5" name="Group 156"/>
          <p:cNvGrpSpPr>
            <a:grpSpLocks/>
          </p:cNvGrpSpPr>
          <p:nvPr/>
        </p:nvGrpSpPr>
        <p:grpSpPr bwMode="auto">
          <a:xfrm>
            <a:off x="6201893" y="6248178"/>
            <a:ext cx="447675" cy="468313"/>
            <a:chOff x="1695" y="6990"/>
            <a:chExt cx="420" cy="420"/>
          </a:xfrm>
        </p:grpSpPr>
        <p:sp>
          <p:nvSpPr>
            <p:cNvPr id="26" name="Oval 15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7" name="Line 15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8" name="Line 15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29" name="Text Box 155"/>
          <p:cNvSpPr txBox="1">
            <a:spLocks noChangeArrowheads="1"/>
          </p:cNvSpPr>
          <p:nvPr/>
        </p:nvSpPr>
        <p:spPr bwMode="auto">
          <a:xfrm>
            <a:off x="6181255" y="6424390"/>
            <a:ext cx="56356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5     5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0" name="Group 151"/>
          <p:cNvGrpSpPr>
            <a:grpSpLocks/>
          </p:cNvGrpSpPr>
          <p:nvPr/>
        </p:nvGrpSpPr>
        <p:grpSpPr bwMode="auto">
          <a:xfrm>
            <a:off x="6927380" y="1306290"/>
            <a:ext cx="447675" cy="468312"/>
            <a:chOff x="1695" y="6990"/>
            <a:chExt cx="420" cy="420"/>
          </a:xfrm>
        </p:grpSpPr>
        <p:sp>
          <p:nvSpPr>
            <p:cNvPr id="31" name="Oval 15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2" name="Line 15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3" name="Line 15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34" name="Text Box 150"/>
          <p:cNvSpPr txBox="1">
            <a:spLocks noChangeArrowheads="1"/>
          </p:cNvSpPr>
          <p:nvPr/>
        </p:nvSpPr>
        <p:spPr bwMode="auto">
          <a:xfrm>
            <a:off x="6843243" y="1404715"/>
            <a:ext cx="687387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  7     8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5" name="Group 146"/>
          <p:cNvGrpSpPr>
            <a:grpSpLocks/>
          </p:cNvGrpSpPr>
          <p:nvPr/>
        </p:nvGrpSpPr>
        <p:grpSpPr bwMode="auto">
          <a:xfrm>
            <a:off x="5544668" y="1323753"/>
            <a:ext cx="446087" cy="468313"/>
            <a:chOff x="1695" y="6990"/>
            <a:chExt cx="420" cy="420"/>
          </a:xfrm>
        </p:grpSpPr>
        <p:sp>
          <p:nvSpPr>
            <p:cNvPr id="36" name="Oval 149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7" name="Line 148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38" name="Line 147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39" name="Text Box 145"/>
          <p:cNvSpPr txBox="1">
            <a:spLocks noChangeArrowheads="1"/>
          </p:cNvSpPr>
          <p:nvPr/>
        </p:nvSpPr>
        <p:spPr bwMode="auto">
          <a:xfrm>
            <a:off x="5492280" y="1439640"/>
            <a:ext cx="6889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5</a:t>
            </a: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6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0" name="Group 141"/>
          <p:cNvGrpSpPr>
            <a:grpSpLocks/>
          </p:cNvGrpSpPr>
          <p:nvPr/>
        </p:nvGrpSpPr>
        <p:grpSpPr bwMode="auto">
          <a:xfrm>
            <a:off x="10103968" y="4151090"/>
            <a:ext cx="447675" cy="468312"/>
            <a:chOff x="1695" y="6990"/>
            <a:chExt cx="420" cy="420"/>
          </a:xfrm>
        </p:grpSpPr>
        <p:sp>
          <p:nvSpPr>
            <p:cNvPr id="41" name="Oval 14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2" name="Line 14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43" name="Line 14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44" name="Text Box 140"/>
          <p:cNvSpPr txBox="1">
            <a:spLocks noChangeArrowheads="1"/>
          </p:cNvSpPr>
          <p:nvPr/>
        </p:nvSpPr>
        <p:spPr bwMode="auto">
          <a:xfrm>
            <a:off x="10003955" y="4287615"/>
            <a:ext cx="6889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 16   16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Line 139"/>
          <p:cNvSpPr>
            <a:spLocks noChangeShapeType="1"/>
          </p:cNvSpPr>
          <p:nvPr/>
        </p:nvSpPr>
        <p:spPr bwMode="auto">
          <a:xfrm flipV="1">
            <a:off x="3819055" y="2979515"/>
            <a:ext cx="701675" cy="1200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6" name="Line 138"/>
          <p:cNvSpPr>
            <a:spLocks noChangeShapeType="1"/>
          </p:cNvSpPr>
          <p:nvPr/>
        </p:nvSpPr>
        <p:spPr bwMode="auto">
          <a:xfrm>
            <a:off x="5225579" y="6456140"/>
            <a:ext cx="9794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47" name="Line 137"/>
          <p:cNvSpPr>
            <a:spLocks noChangeShapeType="1"/>
          </p:cNvSpPr>
          <p:nvPr/>
        </p:nvSpPr>
        <p:spPr bwMode="auto">
          <a:xfrm>
            <a:off x="3841279" y="4614640"/>
            <a:ext cx="990600" cy="170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48" name="Group 133"/>
          <p:cNvGrpSpPr>
            <a:grpSpLocks/>
          </p:cNvGrpSpPr>
          <p:nvPr/>
        </p:nvGrpSpPr>
        <p:grpSpPr bwMode="auto">
          <a:xfrm>
            <a:off x="8557743" y="6232303"/>
            <a:ext cx="447675" cy="466725"/>
            <a:chOff x="1695" y="6990"/>
            <a:chExt cx="420" cy="420"/>
          </a:xfrm>
        </p:grpSpPr>
        <p:sp>
          <p:nvSpPr>
            <p:cNvPr id="49" name="Oval 136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0" name="Line 135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51" name="Line 134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52" name="Text Box 132"/>
          <p:cNvSpPr txBox="1">
            <a:spLocks noChangeArrowheads="1"/>
          </p:cNvSpPr>
          <p:nvPr/>
        </p:nvSpPr>
        <p:spPr bwMode="auto">
          <a:xfrm>
            <a:off x="8479954" y="633866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 11  11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 Box 131"/>
          <p:cNvSpPr txBox="1">
            <a:spLocks noChangeArrowheads="1"/>
          </p:cNvSpPr>
          <p:nvPr/>
        </p:nvSpPr>
        <p:spPr bwMode="auto">
          <a:xfrm>
            <a:off x="3884142" y="3239865"/>
            <a:ext cx="862012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A-2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 Box 130"/>
          <p:cNvSpPr txBox="1">
            <a:spLocks noChangeArrowheads="1"/>
          </p:cNvSpPr>
          <p:nvPr/>
        </p:nvSpPr>
        <p:spPr bwMode="auto">
          <a:xfrm>
            <a:off x="5079529" y="2077816"/>
            <a:ext cx="668338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B-3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129"/>
          <p:cNvSpPr txBox="1">
            <a:spLocks noChangeArrowheads="1"/>
          </p:cNvSpPr>
          <p:nvPr/>
        </p:nvSpPr>
        <p:spPr bwMode="auto">
          <a:xfrm>
            <a:off x="4952529" y="2487390"/>
            <a:ext cx="6985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C-4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 Box 128"/>
          <p:cNvSpPr txBox="1">
            <a:spLocks noChangeArrowheads="1"/>
          </p:cNvSpPr>
          <p:nvPr/>
        </p:nvSpPr>
        <p:spPr bwMode="auto">
          <a:xfrm>
            <a:off x="7040093" y="2812827"/>
            <a:ext cx="534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D-3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 Box 127"/>
          <p:cNvSpPr txBox="1">
            <a:spLocks noChangeArrowheads="1"/>
          </p:cNvSpPr>
          <p:nvPr/>
        </p:nvSpPr>
        <p:spPr bwMode="auto">
          <a:xfrm>
            <a:off x="6108229" y="1196752"/>
            <a:ext cx="4000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E-2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 Box 179"/>
          <p:cNvSpPr txBox="1">
            <a:spLocks noChangeArrowheads="1"/>
          </p:cNvSpPr>
          <p:nvPr/>
        </p:nvSpPr>
        <p:spPr bwMode="auto">
          <a:xfrm>
            <a:off x="7677474" y="1245064"/>
            <a:ext cx="427037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 Box 126"/>
          <p:cNvSpPr txBox="1">
            <a:spLocks noChangeArrowheads="1"/>
          </p:cNvSpPr>
          <p:nvPr/>
        </p:nvSpPr>
        <p:spPr bwMode="auto">
          <a:xfrm>
            <a:off x="3826993" y="5322665"/>
            <a:ext cx="9350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G-1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 Box 125"/>
          <p:cNvSpPr txBox="1">
            <a:spLocks noChangeArrowheads="1"/>
          </p:cNvSpPr>
          <p:nvPr/>
        </p:nvSpPr>
        <p:spPr bwMode="auto">
          <a:xfrm>
            <a:off x="5536729" y="6529165"/>
            <a:ext cx="482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H-4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 Box 124"/>
          <p:cNvSpPr txBox="1">
            <a:spLocks noChangeArrowheads="1"/>
          </p:cNvSpPr>
          <p:nvPr/>
        </p:nvSpPr>
        <p:spPr bwMode="auto">
          <a:xfrm>
            <a:off x="6843243" y="6494240"/>
            <a:ext cx="4349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I-3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 Box 123"/>
          <p:cNvSpPr txBox="1">
            <a:spLocks noChangeArrowheads="1"/>
          </p:cNvSpPr>
          <p:nvPr/>
        </p:nvSpPr>
        <p:spPr bwMode="auto">
          <a:xfrm>
            <a:off x="7054380" y="5163915"/>
            <a:ext cx="41751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J-2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Text Box 122"/>
          <p:cNvSpPr txBox="1">
            <a:spLocks noChangeArrowheads="1"/>
          </p:cNvSpPr>
          <p:nvPr/>
        </p:nvSpPr>
        <p:spPr bwMode="auto">
          <a:xfrm>
            <a:off x="7962430" y="6497416"/>
            <a:ext cx="4810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K-3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Text Box 121"/>
          <p:cNvSpPr txBox="1">
            <a:spLocks noChangeArrowheads="1"/>
          </p:cNvSpPr>
          <p:nvPr/>
        </p:nvSpPr>
        <p:spPr bwMode="auto">
          <a:xfrm>
            <a:off x="9051455" y="2595341"/>
            <a:ext cx="4746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L-5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5" name="Group 117"/>
          <p:cNvGrpSpPr>
            <a:grpSpLocks/>
          </p:cNvGrpSpPr>
          <p:nvPr/>
        </p:nvGrpSpPr>
        <p:grpSpPr bwMode="auto">
          <a:xfrm>
            <a:off x="7384580" y="6235478"/>
            <a:ext cx="447675" cy="468313"/>
            <a:chOff x="1695" y="6990"/>
            <a:chExt cx="420" cy="420"/>
          </a:xfrm>
        </p:grpSpPr>
        <p:sp>
          <p:nvSpPr>
            <p:cNvPr id="66" name="Oval 120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7" name="Line 119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68" name="Line 118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69" name="Text Box 116"/>
          <p:cNvSpPr txBox="1">
            <a:spLocks noChangeArrowheads="1"/>
          </p:cNvSpPr>
          <p:nvPr/>
        </p:nvSpPr>
        <p:spPr bwMode="auto">
          <a:xfrm>
            <a:off x="7375055" y="6437091"/>
            <a:ext cx="5873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8    8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Line 115"/>
          <p:cNvSpPr>
            <a:spLocks noChangeShapeType="1"/>
          </p:cNvSpPr>
          <p:nvPr/>
        </p:nvSpPr>
        <p:spPr bwMode="auto">
          <a:xfrm>
            <a:off x="6671792" y="6454552"/>
            <a:ext cx="6985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71" name="Group 111"/>
          <p:cNvGrpSpPr>
            <a:grpSpLocks/>
          </p:cNvGrpSpPr>
          <p:nvPr/>
        </p:nvGrpSpPr>
        <p:grpSpPr bwMode="auto">
          <a:xfrm>
            <a:off x="7395693" y="4489228"/>
            <a:ext cx="447675" cy="468313"/>
            <a:chOff x="1695" y="6990"/>
            <a:chExt cx="420" cy="420"/>
          </a:xfrm>
        </p:grpSpPr>
        <p:sp>
          <p:nvSpPr>
            <p:cNvPr id="72" name="Oval 11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3" name="Line 11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74" name="Line 11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75" name="Text Box 110"/>
          <p:cNvSpPr txBox="1">
            <a:spLocks noChangeArrowheads="1"/>
          </p:cNvSpPr>
          <p:nvPr/>
        </p:nvSpPr>
        <p:spPr bwMode="auto">
          <a:xfrm>
            <a:off x="7317904" y="4595590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  7   8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Line 109"/>
          <p:cNvSpPr>
            <a:spLocks noChangeShapeType="1"/>
          </p:cNvSpPr>
          <p:nvPr/>
        </p:nvSpPr>
        <p:spPr bwMode="auto">
          <a:xfrm flipV="1">
            <a:off x="6519393" y="4725766"/>
            <a:ext cx="879475" cy="1519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7" name="Line 108"/>
          <p:cNvSpPr>
            <a:spLocks noChangeShapeType="1"/>
          </p:cNvSpPr>
          <p:nvPr/>
        </p:nvSpPr>
        <p:spPr bwMode="auto">
          <a:xfrm flipV="1">
            <a:off x="4725517" y="1722215"/>
            <a:ext cx="850900" cy="838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8" name="Line 107"/>
          <p:cNvSpPr>
            <a:spLocks noChangeShapeType="1"/>
          </p:cNvSpPr>
          <p:nvPr/>
        </p:nvSpPr>
        <p:spPr bwMode="auto">
          <a:xfrm>
            <a:off x="5945019" y="1568509"/>
            <a:ext cx="939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79" name="Group 103"/>
          <p:cNvGrpSpPr>
            <a:grpSpLocks/>
          </p:cNvGrpSpPr>
          <p:nvPr/>
        </p:nvGrpSpPr>
        <p:grpSpPr bwMode="auto">
          <a:xfrm>
            <a:off x="8527580" y="1306290"/>
            <a:ext cx="447675" cy="468312"/>
            <a:chOff x="1695" y="6990"/>
            <a:chExt cx="420" cy="420"/>
          </a:xfrm>
        </p:grpSpPr>
        <p:sp>
          <p:nvSpPr>
            <p:cNvPr id="80" name="Oval 106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81" name="Line 105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82" name="Line 104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83" name="Text Box 102"/>
          <p:cNvSpPr txBox="1">
            <a:spLocks noChangeArrowheads="1"/>
          </p:cNvSpPr>
          <p:nvPr/>
        </p:nvSpPr>
        <p:spPr bwMode="auto">
          <a:xfrm>
            <a:off x="8443443" y="1404715"/>
            <a:ext cx="687387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 11   11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Line 101"/>
          <p:cNvSpPr>
            <a:spLocks noChangeShapeType="1"/>
          </p:cNvSpPr>
          <p:nvPr/>
        </p:nvSpPr>
        <p:spPr bwMode="auto">
          <a:xfrm>
            <a:off x="7379817" y="1544415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5" name="Line 100"/>
          <p:cNvSpPr>
            <a:spLocks noChangeShapeType="1"/>
          </p:cNvSpPr>
          <p:nvPr/>
        </p:nvSpPr>
        <p:spPr bwMode="auto">
          <a:xfrm>
            <a:off x="4814417" y="2738215"/>
            <a:ext cx="711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6" name="Line 99"/>
          <p:cNvSpPr>
            <a:spLocks noChangeShapeType="1"/>
          </p:cNvSpPr>
          <p:nvPr/>
        </p:nvSpPr>
        <p:spPr bwMode="auto">
          <a:xfrm>
            <a:off x="5995517" y="2814415"/>
            <a:ext cx="4102100" cy="148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7" name="Line 98"/>
          <p:cNvSpPr>
            <a:spLocks noChangeShapeType="1"/>
          </p:cNvSpPr>
          <p:nvPr/>
        </p:nvSpPr>
        <p:spPr bwMode="auto">
          <a:xfrm>
            <a:off x="8891117" y="1722215"/>
            <a:ext cx="1384300" cy="240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8" name="Line 97"/>
          <p:cNvSpPr>
            <a:spLocks noChangeShapeType="1"/>
          </p:cNvSpPr>
          <p:nvPr/>
        </p:nvSpPr>
        <p:spPr bwMode="auto">
          <a:xfrm>
            <a:off x="5754217" y="1785715"/>
            <a:ext cx="0" cy="736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9" name="Line 96"/>
          <p:cNvSpPr>
            <a:spLocks noChangeShapeType="1"/>
          </p:cNvSpPr>
          <p:nvPr/>
        </p:nvSpPr>
        <p:spPr bwMode="auto">
          <a:xfrm>
            <a:off x="7608417" y="4973415"/>
            <a:ext cx="12700" cy="12573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0" name="Line 95"/>
          <p:cNvSpPr>
            <a:spLocks noChangeShapeType="1"/>
          </p:cNvSpPr>
          <p:nvPr/>
        </p:nvSpPr>
        <p:spPr bwMode="auto">
          <a:xfrm>
            <a:off x="7824317" y="6459315"/>
            <a:ext cx="736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91" name="Group 91"/>
          <p:cNvGrpSpPr>
            <a:grpSpLocks/>
          </p:cNvGrpSpPr>
          <p:nvPr/>
        </p:nvGrpSpPr>
        <p:grpSpPr bwMode="auto">
          <a:xfrm>
            <a:off x="9395943" y="5203603"/>
            <a:ext cx="447675" cy="466725"/>
            <a:chOff x="1695" y="6990"/>
            <a:chExt cx="420" cy="420"/>
          </a:xfrm>
        </p:grpSpPr>
        <p:sp>
          <p:nvSpPr>
            <p:cNvPr id="92" name="Oval 94"/>
            <p:cNvSpPr>
              <a:spLocks noChangeArrowheads="1"/>
            </p:cNvSpPr>
            <p:nvPr/>
          </p:nvSpPr>
          <p:spPr bwMode="auto">
            <a:xfrm>
              <a:off x="1695" y="6990"/>
              <a:ext cx="420" cy="4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3" name="Line 93"/>
            <p:cNvSpPr>
              <a:spLocks noChangeShapeType="1"/>
            </p:cNvSpPr>
            <p:nvPr/>
          </p:nvSpPr>
          <p:spPr bwMode="auto">
            <a:xfrm>
              <a:off x="1710" y="7125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94" name="Line 92"/>
            <p:cNvSpPr>
              <a:spLocks noChangeShapeType="1"/>
            </p:cNvSpPr>
            <p:nvPr/>
          </p:nvSpPr>
          <p:spPr bwMode="auto">
            <a:xfrm>
              <a:off x="1905" y="712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95" name="Text Box 90"/>
          <p:cNvSpPr txBox="1">
            <a:spLocks noChangeArrowheads="1"/>
          </p:cNvSpPr>
          <p:nvPr/>
        </p:nvSpPr>
        <p:spPr bwMode="auto">
          <a:xfrm>
            <a:off x="9318154" y="5309965"/>
            <a:ext cx="6873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 14  14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Line 89"/>
          <p:cNvSpPr>
            <a:spLocks noChangeShapeType="1"/>
          </p:cNvSpPr>
          <p:nvPr/>
        </p:nvSpPr>
        <p:spPr bwMode="auto">
          <a:xfrm flipV="1">
            <a:off x="8954617" y="5621115"/>
            <a:ext cx="508000" cy="6731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7" name="Line 88"/>
          <p:cNvSpPr>
            <a:spLocks noChangeShapeType="1"/>
          </p:cNvSpPr>
          <p:nvPr/>
        </p:nvSpPr>
        <p:spPr bwMode="auto">
          <a:xfrm flipV="1">
            <a:off x="9742017" y="4592415"/>
            <a:ext cx="45720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8" name="Text Box 87"/>
          <p:cNvSpPr txBox="1">
            <a:spLocks noChangeArrowheads="1"/>
          </p:cNvSpPr>
          <p:nvPr/>
        </p:nvSpPr>
        <p:spPr bwMode="auto">
          <a:xfrm>
            <a:off x="9183217" y="5925915"/>
            <a:ext cx="4381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M-3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Line 86"/>
          <p:cNvSpPr>
            <a:spLocks noChangeShapeType="1"/>
          </p:cNvSpPr>
          <p:nvPr/>
        </p:nvSpPr>
        <p:spPr bwMode="auto">
          <a:xfrm flipV="1">
            <a:off x="8764117" y="1760315"/>
            <a:ext cx="12700" cy="44577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100" name="Group 81"/>
          <p:cNvGrpSpPr>
            <a:grpSpLocks/>
          </p:cNvGrpSpPr>
          <p:nvPr/>
        </p:nvGrpSpPr>
        <p:grpSpPr bwMode="auto">
          <a:xfrm>
            <a:off x="4642967" y="1439640"/>
            <a:ext cx="508000" cy="571500"/>
            <a:chOff x="6980" y="6660"/>
            <a:chExt cx="800" cy="900"/>
          </a:xfrm>
        </p:grpSpPr>
        <p:sp>
          <p:nvSpPr>
            <p:cNvPr id="101" name="Oval 85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2" name="Rectangle 84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3" name="Line 83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4" name="Line 82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05" name="Text Box 80"/>
          <p:cNvSpPr txBox="1">
            <a:spLocks noChangeArrowheads="1"/>
          </p:cNvSpPr>
          <p:nvPr/>
        </p:nvSpPr>
        <p:spPr bwMode="auto">
          <a:xfrm>
            <a:off x="4593923" y="145954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endParaRPr lang="es-ES_tradnl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6" name="Group 75"/>
          <p:cNvGrpSpPr>
            <a:grpSpLocks/>
          </p:cNvGrpSpPr>
          <p:nvPr/>
        </p:nvGrpSpPr>
        <p:grpSpPr bwMode="auto">
          <a:xfrm>
            <a:off x="4119092" y="3601815"/>
            <a:ext cx="508000" cy="571500"/>
            <a:chOff x="6980" y="6660"/>
            <a:chExt cx="800" cy="900"/>
          </a:xfrm>
        </p:grpSpPr>
        <p:sp>
          <p:nvSpPr>
            <p:cNvPr id="107" name="Oval 7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8" name="Rectangle 7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09" name="Line 7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0" name="Line 7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11" name="Text Box 74"/>
          <p:cNvSpPr txBox="1">
            <a:spLocks noChangeArrowheads="1"/>
          </p:cNvSpPr>
          <p:nvPr/>
        </p:nvSpPr>
        <p:spPr bwMode="auto">
          <a:xfrm>
            <a:off x="4076229" y="3617900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2 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3</a:t>
            </a:r>
            <a:endParaRPr lang="es-ES_tradnl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2" name="Group 69"/>
          <p:cNvGrpSpPr>
            <a:grpSpLocks/>
          </p:cNvGrpSpPr>
          <p:nvPr/>
        </p:nvGrpSpPr>
        <p:grpSpPr bwMode="auto">
          <a:xfrm>
            <a:off x="4947767" y="2801715"/>
            <a:ext cx="508000" cy="571500"/>
            <a:chOff x="6980" y="6660"/>
            <a:chExt cx="800" cy="900"/>
          </a:xfrm>
        </p:grpSpPr>
        <p:sp>
          <p:nvSpPr>
            <p:cNvPr id="113" name="Oval 7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4" name="Rectangle 7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5" name="Line 7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16" name="Line 7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17" name="Text Box 68"/>
          <p:cNvSpPr txBox="1">
            <a:spLocks noChangeArrowheads="1"/>
          </p:cNvSpPr>
          <p:nvPr/>
        </p:nvSpPr>
        <p:spPr bwMode="auto">
          <a:xfrm>
            <a:off x="4922741" y="280171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2    9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6   13 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8" name="Group 63"/>
          <p:cNvGrpSpPr>
            <a:grpSpLocks/>
          </p:cNvGrpSpPr>
          <p:nvPr/>
        </p:nvGrpSpPr>
        <p:grpSpPr bwMode="auto">
          <a:xfrm>
            <a:off x="6155854" y="1547590"/>
            <a:ext cx="508000" cy="571500"/>
            <a:chOff x="6980" y="6660"/>
            <a:chExt cx="800" cy="900"/>
          </a:xfrm>
        </p:grpSpPr>
        <p:sp>
          <p:nvSpPr>
            <p:cNvPr id="119" name="Oval 6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0" name="Rectangle 6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1" name="Line 6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2" name="Line 6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23" name="Text Box 62"/>
          <p:cNvSpPr txBox="1">
            <a:spLocks noChangeArrowheads="1"/>
          </p:cNvSpPr>
          <p:nvPr/>
        </p:nvSpPr>
        <p:spPr bwMode="auto">
          <a:xfrm>
            <a:off x="6103467" y="156346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6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 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8</a:t>
            </a:r>
            <a:endParaRPr lang="es-ES_tradnl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24" name="Group 57"/>
          <p:cNvGrpSpPr>
            <a:grpSpLocks/>
          </p:cNvGrpSpPr>
          <p:nvPr/>
        </p:nvGrpSpPr>
        <p:grpSpPr bwMode="auto">
          <a:xfrm>
            <a:off x="7575079" y="1528540"/>
            <a:ext cx="508000" cy="571500"/>
            <a:chOff x="6980" y="6660"/>
            <a:chExt cx="800" cy="900"/>
          </a:xfrm>
        </p:grpSpPr>
        <p:sp>
          <p:nvSpPr>
            <p:cNvPr id="125" name="Oval 61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6" name="Rectangle 60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7" name="Line 59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28" name="Line 58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29" name="Text Box 56"/>
          <p:cNvSpPr txBox="1">
            <a:spLocks noChangeArrowheads="1"/>
          </p:cNvSpPr>
          <p:nvPr/>
        </p:nvSpPr>
        <p:spPr bwMode="auto">
          <a:xfrm>
            <a:off x="7546105" y="1540446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7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8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10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11</a:t>
            </a:r>
            <a:endParaRPr lang="es-ES_tradnl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0" name="Group 51"/>
          <p:cNvGrpSpPr>
            <a:grpSpLocks/>
          </p:cNvGrpSpPr>
          <p:nvPr/>
        </p:nvGrpSpPr>
        <p:grpSpPr bwMode="auto">
          <a:xfrm>
            <a:off x="7176617" y="3382740"/>
            <a:ext cx="508000" cy="571500"/>
            <a:chOff x="6980" y="6660"/>
            <a:chExt cx="800" cy="900"/>
          </a:xfrm>
        </p:grpSpPr>
        <p:sp>
          <p:nvSpPr>
            <p:cNvPr id="131" name="Oval 55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2" name="Rectangle 54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3" name="Line 53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4" name="Line 52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35" name="Text Box 50"/>
          <p:cNvSpPr txBox="1">
            <a:spLocks noChangeArrowheads="1"/>
          </p:cNvSpPr>
          <p:nvPr/>
        </p:nvSpPr>
        <p:spPr bwMode="auto">
          <a:xfrm>
            <a:off x="7144866" y="338744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7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13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9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16</a:t>
            </a:r>
            <a:endParaRPr lang="es-ES_tradnl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6" name="Group 45"/>
          <p:cNvGrpSpPr>
            <a:grpSpLocks/>
          </p:cNvGrpSpPr>
          <p:nvPr/>
        </p:nvGrpSpPr>
        <p:grpSpPr bwMode="auto">
          <a:xfrm>
            <a:off x="9605492" y="2220690"/>
            <a:ext cx="508000" cy="571500"/>
            <a:chOff x="6980" y="6660"/>
            <a:chExt cx="800" cy="900"/>
          </a:xfrm>
        </p:grpSpPr>
        <p:sp>
          <p:nvSpPr>
            <p:cNvPr id="137" name="Oval 4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8" name="Rectangle 4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39" name="Line 4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0" name="Line 4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41" name="Text Box 44"/>
          <p:cNvSpPr txBox="1">
            <a:spLocks noChangeArrowheads="1"/>
          </p:cNvSpPr>
          <p:nvPr/>
        </p:nvSpPr>
        <p:spPr bwMode="auto">
          <a:xfrm>
            <a:off x="9414992" y="2252440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11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11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16   </a:t>
            </a:r>
            <a:r>
              <a:rPr lang="es-ES_tradnl" sz="11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16</a:t>
            </a:r>
            <a:endParaRPr lang="es-ES_tradnl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2" name="Group 39"/>
          <p:cNvGrpSpPr>
            <a:grpSpLocks/>
          </p:cNvGrpSpPr>
          <p:nvPr/>
        </p:nvGrpSpPr>
        <p:grpSpPr bwMode="auto">
          <a:xfrm>
            <a:off x="9329267" y="4363815"/>
            <a:ext cx="508000" cy="571500"/>
            <a:chOff x="6980" y="6660"/>
            <a:chExt cx="800" cy="900"/>
          </a:xfrm>
        </p:grpSpPr>
        <p:sp>
          <p:nvSpPr>
            <p:cNvPr id="143" name="Oval 4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4" name="Rectangle 4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5" name="Line 4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46" name="Line 4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47" name="Text Box 38"/>
          <p:cNvSpPr txBox="1">
            <a:spLocks noChangeArrowheads="1"/>
          </p:cNvSpPr>
          <p:nvPr/>
        </p:nvSpPr>
        <p:spPr bwMode="auto">
          <a:xfrm>
            <a:off x="9138767" y="439556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14   14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16   16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8" name="Group 33"/>
          <p:cNvGrpSpPr>
            <a:grpSpLocks/>
          </p:cNvGrpSpPr>
          <p:nvPr/>
        </p:nvGrpSpPr>
        <p:grpSpPr bwMode="auto">
          <a:xfrm>
            <a:off x="6567017" y="4563840"/>
            <a:ext cx="508000" cy="571500"/>
            <a:chOff x="6980" y="6660"/>
            <a:chExt cx="800" cy="900"/>
          </a:xfrm>
        </p:grpSpPr>
        <p:sp>
          <p:nvSpPr>
            <p:cNvPr id="149" name="Oval 3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0" name="Rectangle 3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1" name="Line 3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2" name="Line 3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53" name="Text Box 32"/>
          <p:cNvSpPr txBox="1">
            <a:spLocks noChangeArrowheads="1"/>
          </p:cNvSpPr>
          <p:nvPr/>
        </p:nvSpPr>
        <p:spPr bwMode="auto">
          <a:xfrm>
            <a:off x="6557492" y="4595590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5   6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7    8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54" name="Group 27"/>
          <p:cNvGrpSpPr>
            <a:grpSpLocks/>
          </p:cNvGrpSpPr>
          <p:nvPr/>
        </p:nvGrpSpPr>
        <p:grpSpPr bwMode="auto">
          <a:xfrm>
            <a:off x="6757517" y="5811615"/>
            <a:ext cx="508000" cy="571500"/>
            <a:chOff x="6980" y="6660"/>
            <a:chExt cx="800" cy="900"/>
          </a:xfrm>
        </p:grpSpPr>
        <p:sp>
          <p:nvSpPr>
            <p:cNvPr id="155" name="Oval 31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6" name="Rectangle 30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7" name="Line 29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58" name="Line 28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59" name="Text Box 26"/>
          <p:cNvSpPr txBox="1">
            <a:spLocks noChangeArrowheads="1"/>
          </p:cNvSpPr>
          <p:nvPr/>
        </p:nvSpPr>
        <p:spPr bwMode="auto">
          <a:xfrm>
            <a:off x="6744817" y="584336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5    5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8    8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0" name="Group 21"/>
          <p:cNvGrpSpPr>
            <a:grpSpLocks/>
          </p:cNvGrpSpPr>
          <p:nvPr/>
        </p:nvGrpSpPr>
        <p:grpSpPr bwMode="auto">
          <a:xfrm>
            <a:off x="7890992" y="5754465"/>
            <a:ext cx="508000" cy="571500"/>
            <a:chOff x="6980" y="6660"/>
            <a:chExt cx="800" cy="900"/>
          </a:xfrm>
        </p:grpSpPr>
        <p:sp>
          <p:nvSpPr>
            <p:cNvPr id="161" name="Oval 25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2" name="Rectangle 24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3" name="Line 23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4" name="Line 22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65" name="Text Box 20"/>
          <p:cNvSpPr txBox="1">
            <a:spLocks noChangeArrowheads="1"/>
          </p:cNvSpPr>
          <p:nvPr/>
        </p:nvSpPr>
        <p:spPr bwMode="auto">
          <a:xfrm>
            <a:off x="7821454" y="5797846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8    8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11   11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6" name="Group 15"/>
          <p:cNvGrpSpPr>
            <a:grpSpLocks/>
          </p:cNvGrpSpPr>
          <p:nvPr/>
        </p:nvGrpSpPr>
        <p:grpSpPr bwMode="auto">
          <a:xfrm>
            <a:off x="5414492" y="5811615"/>
            <a:ext cx="508000" cy="571500"/>
            <a:chOff x="6980" y="6660"/>
            <a:chExt cx="800" cy="900"/>
          </a:xfrm>
        </p:grpSpPr>
        <p:sp>
          <p:nvSpPr>
            <p:cNvPr id="167" name="Oval 19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8" name="Rectangle 18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69" name="Line 17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0" name="Line 16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71" name="Text Box 14"/>
          <p:cNvSpPr txBox="1">
            <a:spLocks noChangeArrowheads="1"/>
          </p:cNvSpPr>
          <p:nvPr/>
        </p:nvSpPr>
        <p:spPr bwMode="auto">
          <a:xfrm>
            <a:off x="5411317" y="583219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1    1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5    5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2" name="Group 9"/>
          <p:cNvGrpSpPr>
            <a:grpSpLocks/>
          </p:cNvGrpSpPr>
          <p:nvPr/>
        </p:nvGrpSpPr>
        <p:grpSpPr bwMode="auto">
          <a:xfrm>
            <a:off x="4442942" y="4935315"/>
            <a:ext cx="508000" cy="571500"/>
            <a:chOff x="6980" y="6660"/>
            <a:chExt cx="800" cy="900"/>
          </a:xfrm>
        </p:grpSpPr>
        <p:sp>
          <p:nvSpPr>
            <p:cNvPr id="173" name="Oval 13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4" name="Rectangle 12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5" name="Line 11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76" name="Line 10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77" name="Text Box 8"/>
          <p:cNvSpPr txBox="1">
            <a:spLocks noChangeArrowheads="1"/>
          </p:cNvSpPr>
          <p:nvPr/>
        </p:nvSpPr>
        <p:spPr bwMode="auto">
          <a:xfrm>
            <a:off x="4442942" y="493651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0    0</a:t>
            </a:r>
            <a:endParaRPr lang="es-ES_tradnl" sz="80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>
                <a:latin typeface="Arial" pitchFamily="34" charset="0"/>
                <a:ea typeface="Times New Roman" pitchFamily="18" charset="0"/>
                <a:cs typeface="Arial" pitchFamily="34" charset="0"/>
              </a:rPr>
              <a:t>1    1</a:t>
            </a:r>
            <a:endParaRPr lang="es-ES_tradnl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8" name="Group 3"/>
          <p:cNvGrpSpPr>
            <a:grpSpLocks/>
          </p:cNvGrpSpPr>
          <p:nvPr/>
        </p:nvGrpSpPr>
        <p:grpSpPr bwMode="auto">
          <a:xfrm>
            <a:off x="8795867" y="5227415"/>
            <a:ext cx="508000" cy="571500"/>
            <a:chOff x="6980" y="6660"/>
            <a:chExt cx="800" cy="900"/>
          </a:xfrm>
        </p:grpSpPr>
        <p:sp>
          <p:nvSpPr>
            <p:cNvPr id="179" name="Oval 7"/>
            <p:cNvSpPr>
              <a:spLocks noChangeArrowheads="1"/>
            </p:cNvSpPr>
            <p:nvPr/>
          </p:nvSpPr>
          <p:spPr bwMode="auto">
            <a:xfrm>
              <a:off x="6980" y="6660"/>
              <a:ext cx="800" cy="7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0" name="Rectangle 6"/>
            <p:cNvSpPr>
              <a:spLocks noChangeArrowheads="1"/>
            </p:cNvSpPr>
            <p:nvPr/>
          </p:nvSpPr>
          <p:spPr bwMode="auto">
            <a:xfrm>
              <a:off x="6980" y="7020"/>
              <a:ext cx="8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1" name="Line 5"/>
            <p:cNvSpPr>
              <a:spLocks noChangeShapeType="1"/>
            </p:cNvSpPr>
            <p:nvPr/>
          </p:nvSpPr>
          <p:spPr bwMode="auto">
            <a:xfrm>
              <a:off x="6980" y="7300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82" name="Line 4"/>
            <p:cNvSpPr>
              <a:spLocks noChangeShapeType="1"/>
            </p:cNvSpPr>
            <p:nvPr/>
          </p:nvSpPr>
          <p:spPr bwMode="auto">
            <a:xfrm>
              <a:off x="7380" y="7020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183" name="Text Box 2"/>
          <p:cNvSpPr txBox="1">
            <a:spLocks noChangeArrowheads="1"/>
          </p:cNvSpPr>
          <p:nvPr/>
        </p:nvSpPr>
        <p:spPr bwMode="auto">
          <a:xfrm>
            <a:off x="8605367" y="5259165"/>
            <a:ext cx="927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    </a:t>
            </a: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11  11</a:t>
            </a:r>
            <a:endParaRPr lang="es-ES_tradnl" sz="8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sz="11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 14  14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Text Box 1"/>
          <p:cNvSpPr txBox="1">
            <a:spLocks noChangeArrowheads="1"/>
          </p:cNvSpPr>
          <p:nvPr/>
        </p:nvSpPr>
        <p:spPr bwMode="auto">
          <a:xfrm>
            <a:off x="3431704" y="4243166"/>
            <a:ext cx="68738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lang="es-ES_tradnl" sz="10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</a:t>
            </a:r>
            <a:r>
              <a:rPr lang="es-ES_tradnl" sz="1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   0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5" name="Rectangle 180"/>
          <p:cNvSpPr>
            <a:spLocks noChangeArrowheads="1"/>
          </p:cNvSpPr>
          <p:nvPr/>
        </p:nvSpPr>
        <p:spPr bwMode="auto">
          <a:xfrm>
            <a:off x="2335214" y="1605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186" name="Rectangle 220"/>
          <p:cNvSpPr>
            <a:spLocks noChangeArrowheads="1"/>
          </p:cNvSpPr>
          <p:nvPr/>
        </p:nvSpPr>
        <p:spPr bwMode="auto">
          <a:xfrm>
            <a:off x="3413126" y="39825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 Box 87"/>
          <p:cNvSpPr txBox="1">
            <a:spLocks noChangeArrowheads="1"/>
          </p:cNvSpPr>
          <p:nvPr/>
        </p:nvSpPr>
        <p:spPr bwMode="auto">
          <a:xfrm>
            <a:off x="9938242" y="4985913"/>
            <a:ext cx="4381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sz="1000" dirty="0">
                <a:solidFill>
                  <a:srgbClr val="0000FF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N-2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33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4" grpId="0"/>
      <p:bldP spid="29" grpId="0"/>
      <p:bldP spid="34" grpId="0"/>
      <p:bldP spid="39" grpId="0"/>
      <p:bldP spid="44" grpId="0"/>
      <p:bldP spid="45" grpId="0" animBg="1"/>
      <p:bldP spid="46" grpId="0" animBg="1"/>
      <p:bldP spid="47" grpId="0" animBg="1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9" grpId="0"/>
      <p:bldP spid="70" grpId="0" animBg="1"/>
      <p:bldP spid="75" grpId="0"/>
      <p:bldP spid="76" grpId="0" animBg="1"/>
      <p:bldP spid="77" grpId="0" animBg="1"/>
      <p:bldP spid="78" grpId="0" animBg="1"/>
      <p:bldP spid="83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5" grpId="0"/>
      <p:bldP spid="96" grpId="0" animBg="1"/>
      <p:bldP spid="97" grpId="0" animBg="1"/>
      <p:bldP spid="98" grpId="0"/>
      <p:bldP spid="99" grpId="0" animBg="1"/>
      <p:bldP spid="105" grpId="0"/>
      <p:bldP spid="111" grpId="0"/>
      <p:bldP spid="117" grpId="0"/>
      <p:bldP spid="123" grpId="0"/>
      <p:bldP spid="129" grpId="0"/>
      <p:bldP spid="135" grpId="0"/>
      <p:bldP spid="141" grpId="0"/>
      <p:bldP spid="147" grpId="0"/>
      <p:bldP spid="153" grpId="0"/>
      <p:bldP spid="159" grpId="0"/>
      <p:bldP spid="165" grpId="0"/>
      <p:bldP spid="171" grpId="0"/>
      <p:bldP spid="177" grpId="0"/>
      <p:bldP spid="183" grpId="0"/>
      <p:bldP spid="184" grpId="0"/>
      <p:bldP spid="186" grpId="0"/>
      <p:bldP spid="1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0" y="194288"/>
            <a:ext cx="6096000" cy="64177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Estimaciones probabilísticas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2526" y="1412777"/>
            <a:ext cx="10347158" cy="374441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algn="just">
              <a:defRPr/>
            </a:pPr>
            <a:r>
              <a:rPr lang="es-MX" dirty="0">
                <a:solidFill>
                  <a:srgbClr val="002060"/>
                </a:solidFill>
                <a:latin typeface="Arial Narrow" pitchFamily="34" charset="0"/>
              </a:rPr>
              <a:t>El tiempo optimista (a) es el más corto en el cual puede llevarse a cabo la tarea si todo resulta excepcionalmente bien.</a:t>
            </a:r>
          </a:p>
          <a:p>
            <a:pPr algn="just">
              <a:defRPr/>
            </a:pPr>
            <a:r>
              <a:rPr lang="es-MX" dirty="0">
                <a:solidFill>
                  <a:srgbClr val="002060"/>
                </a:solidFill>
                <a:latin typeface="Arial Narrow" pitchFamily="34" charset="0"/>
              </a:rPr>
              <a:t>El tiempo pesimista (b) es el tiempo estimado más largo en el cual puede llevarse a cabo la tarea porque surgen problemas.</a:t>
            </a:r>
          </a:p>
          <a:p>
            <a:pPr algn="just">
              <a:defRPr/>
            </a:pPr>
            <a:r>
              <a:rPr lang="es-MX" dirty="0">
                <a:solidFill>
                  <a:srgbClr val="002060"/>
                </a:solidFill>
                <a:latin typeface="Arial Narrow" pitchFamily="34" charset="0"/>
              </a:rPr>
              <a:t>El tiempo más probable (m) es el tiempo que probablemente se requerirá para realizar la tarea.</a:t>
            </a:r>
          </a:p>
          <a:p>
            <a:pPr algn="just">
              <a:defRPr/>
            </a:pPr>
            <a:r>
              <a:rPr lang="es-MX" dirty="0">
                <a:solidFill>
                  <a:srgbClr val="002060"/>
                </a:solidFill>
                <a:latin typeface="Arial Narrow" pitchFamily="34" charset="0"/>
              </a:rPr>
              <a:t>El tiempo esperado (te) es un promedio que integra los tiempos anteriores utilizando una formula.</a:t>
            </a:r>
          </a:p>
          <a:p>
            <a:pPr algn="just">
              <a:defRPr/>
            </a:pPr>
            <a:r>
              <a:rPr lang="es-MX" dirty="0">
                <a:solidFill>
                  <a:srgbClr val="002060"/>
                </a:solidFill>
                <a:latin typeface="Arial Narrow" pitchFamily="34" charset="0"/>
              </a:rPr>
              <a:t>La desviación estándar (</a:t>
            </a:r>
            <a:r>
              <a:rPr lang="es-MX" dirty="0" err="1">
                <a:solidFill>
                  <a:srgbClr val="002060"/>
                </a:solidFill>
                <a:latin typeface="Arial Narrow" pitchFamily="34" charset="0"/>
              </a:rPr>
              <a:t>D.S</a:t>
            </a:r>
            <a:r>
              <a:rPr lang="es-MX" dirty="0">
                <a:solidFill>
                  <a:srgbClr val="002060"/>
                </a:solidFill>
                <a:latin typeface="Arial Narrow" pitchFamily="34" charset="0"/>
              </a:rPr>
              <a:t>.) se halla con los tiempos a y b.</a:t>
            </a:r>
          </a:p>
          <a:p>
            <a:pPr marL="609600" indent="-609600" algn="just">
              <a:buFont typeface="Wingdings" pitchFamily="2" charset="2"/>
              <a:buAutoNum type="arabicPeriod"/>
              <a:defRPr/>
            </a:pPr>
            <a:endParaRPr lang="es-MX" dirty="0">
              <a:solidFill>
                <a:srgbClr val="002060"/>
              </a:solidFill>
              <a:latin typeface="Arial Narrow" pitchFamily="34" charset="0"/>
            </a:endParaRPr>
          </a:p>
          <a:p>
            <a:pPr marL="609600" indent="-609600" algn="just">
              <a:buFont typeface="Wingdings" pitchFamily="2" charset="2"/>
              <a:buAutoNum type="arabicPeriod"/>
              <a:defRPr/>
            </a:pPr>
            <a:endParaRPr lang="es-ES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25372"/>
              </p:ext>
            </p:extLst>
          </p:nvPr>
        </p:nvGraphicFramePr>
        <p:xfrm>
          <a:off x="2159669" y="5202746"/>
          <a:ext cx="3012365" cy="110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167893" imgH="393529" progId="Equation.3">
                  <p:embed/>
                </p:oleObj>
              </mc:Choice>
              <mc:Fallback>
                <p:oleObj name="Ecuación" r:id="rId3" imgW="1167893" imgH="393529" progId="Equation.3">
                  <p:embed/>
                  <p:pic>
                    <p:nvPicPr>
                      <p:cNvPr id="4" name="3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669" y="5202746"/>
                        <a:ext cx="3012365" cy="1108051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878322"/>
              </p:ext>
            </p:extLst>
          </p:nvPr>
        </p:nvGraphicFramePr>
        <p:xfrm>
          <a:off x="6456039" y="5202746"/>
          <a:ext cx="3199679" cy="110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74360" imgH="393480" progId="">
                  <p:embed/>
                </p:oleObj>
              </mc:Choice>
              <mc:Fallback>
                <p:oleObj r:id="rId5" imgW="774360" imgH="393480" progId="">
                  <p:embed/>
                  <p:pic>
                    <p:nvPicPr>
                      <p:cNvPr id="5" name="4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39" y="5202746"/>
                        <a:ext cx="3199679" cy="1108051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340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0" y="136525"/>
            <a:ext cx="6096000" cy="78579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Distribución de probabilidades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18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03849" y="1313244"/>
                <a:ext cx="11050438" cy="1971740"/>
              </a:xfr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>
                <a:noAutofit/>
              </a:bodyPr>
              <a:lstStyle/>
              <a:p>
                <a:pPr marL="0" indent="0" algn="just">
                  <a:spcBef>
                    <a:spcPts val="0"/>
                  </a:spcBef>
                  <a:buNone/>
                  <a:defRPr/>
                </a:pPr>
                <a:r>
                  <a:rPr lang="es-MX" dirty="0">
                    <a:solidFill>
                      <a:schemeClr val="tx1"/>
                    </a:solidFill>
                    <a:latin typeface="Arial Narrow" pitchFamily="34" charset="0"/>
                  </a:rPr>
                  <a:t>En la técnica PERT, el tiempo de cada tarea se considera como una variable aleatoria.</a:t>
                </a:r>
              </a:p>
              <a:p>
                <a:pPr marL="0" indent="0" algn="just">
                  <a:spcBef>
                    <a:spcPts val="0"/>
                  </a:spcBef>
                  <a:buNone/>
                  <a:defRPr/>
                </a:pPr>
                <a:r>
                  <a:rPr lang="es-MX" dirty="0">
                    <a:solidFill>
                      <a:schemeClr val="tx1"/>
                    </a:solidFill>
                    <a:latin typeface="Arial Narrow" pitchFamily="34" charset="0"/>
                  </a:rPr>
                  <a:t>X: Es la variable aleatoria , duración de todo el proyecto.</a:t>
                </a:r>
              </a:p>
              <a:p>
                <a:pPr marL="0" indent="0" algn="just">
                  <a:spcBef>
                    <a:spcPts val="0"/>
                  </a:spcBef>
                  <a:buNone/>
                  <a:defRPr/>
                </a:pPr>
                <a:r>
                  <a:rPr lang="es-MX" dirty="0" err="1">
                    <a:solidFill>
                      <a:schemeClr val="tx1"/>
                    </a:solidFill>
                    <a:latin typeface="Arial Narrow" pitchFamily="34" charset="0"/>
                  </a:rPr>
                  <a:t>X~N</a:t>
                </a:r>
                <a:r>
                  <a:rPr lang="es-MX" dirty="0">
                    <a:solidFill>
                      <a:schemeClr val="tx1"/>
                    </a:solidFill>
                    <a:latin typeface="Arial Narrow" pitchFamily="34" charset="0"/>
                  </a:rPr>
                  <a:t>(µ,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/>
                      </a:rPr>
                      <m:t>σ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)   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  <a:latin typeface="Arial Narrow" pitchFamily="34" charset="0"/>
                  </a:rPr>
                  <a:t>         “X se distribuye según la Distribución normal con una media µ</a:t>
                </a:r>
              </a:p>
              <a:p>
                <a:pPr marL="0" indent="0" algn="just">
                  <a:spcBef>
                    <a:spcPts val="0"/>
                  </a:spcBef>
                  <a:buNone/>
                  <a:defRPr/>
                </a:pPr>
                <a:r>
                  <a:rPr lang="es-ES" dirty="0">
                    <a:solidFill>
                      <a:schemeClr val="tx1"/>
                    </a:solidFill>
                    <a:latin typeface="Arial Narrow" pitchFamily="34" charset="0"/>
                  </a:rPr>
                  <a:t>	                   y una desviación estándar </a:t>
                </a:r>
                <a:r>
                  <a:rPr lang="el-GR" dirty="0">
                    <a:solidFill>
                      <a:schemeClr val="tx1"/>
                    </a:solidFill>
                    <a:latin typeface="Arial Narrow" pitchFamily="34" charset="0"/>
                  </a:rPr>
                  <a:t>σ</a:t>
                </a:r>
                <a:r>
                  <a:rPr lang="es-ES" dirty="0">
                    <a:latin typeface="Arial Narrow" pitchFamily="34" charset="0"/>
                  </a:rPr>
                  <a:t>”</a:t>
                </a:r>
                <a:endParaRPr lang="es-ES" dirty="0">
                  <a:solidFill>
                    <a:schemeClr val="tx1"/>
                  </a:solidFill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4218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03849" y="1313244"/>
                <a:ext cx="11050438" cy="1971740"/>
              </a:xfrm>
              <a:blipFill>
                <a:blip r:embed="rId3"/>
                <a:stretch>
                  <a:fillRect l="-1103" t="-5247" r="-1158" b="-1049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98" name="Line 14"/>
          <p:cNvSpPr>
            <a:spLocks noChangeShapeType="1"/>
          </p:cNvSpPr>
          <p:nvPr/>
        </p:nvSpPr>
        <p:spPr bwMode="auto">
          <a:xfrm flipH="1">
            <a:off x="3052276" y="3869283"/>
            <a:ext cx="0" cy="158497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s-ES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2" name="21 Imagen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1173942" y="3453548"/>
            <a:ext cx="3773973" cy="20394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4 Conector recto"/>
          <p:cNvCxnSpPr/>
          <p:nvPr/>
        </p:nvCxnSpPr>
        <p:spPr bwMode="auto">
          <a:xfrm>
            <a:off x="3052275" y="4421030"/>
            <a:ext cx="4478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CuadroTexto"/>
              <p:cNvSpPr txBox="1"/>
              <p:nvPr/>
            </p:nvSpPr>
            <p:spPr>
              <a:xfrm>
                <a:off x="2854144" y="5468445"/>
                <a:ext cx="396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>
                          <a:latin typeface="Cambria Math"/>
                          <a:ea typeface="Cambria Math"/>
                        </a:rPr>
                        <m:t>𝝁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144" y="5468445"/>
                <a:ext cx="396262" cy="369332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CuadroTexto"/>
              <p:cNvSpPr txBox="1"/>
              <p:nvPr/>
            </p:nvSpPr>
            <p:spPr>
              <a:xfrm>
                <a:off x="3087540" y="4150389"/>
                <a:ext cx="394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>
                          <a:latin typeface="Cambria Math"/>
                          <a:ea typeface="Cambria Math"/>
                        </a:rPr>
                        <m:t>𝝈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540" y="4150389"/>
                <a:ext cx="3946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30 Imagen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7104113" y="3432377"/>
            <a:ext cx="3563887" cy="20360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12 Conector recto"/>
          <p:cNvCxnSpPr/>
          <p:nvPr/>
        </p:nvCxnSpPr>
        <p:spPr bwMode="auto">
          <a:xfrm flipH="1">
            <a:off x="8867152" y="3839694"/>
            <a:ext cx="18258" cy="16441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14 Conector recto"/>
          <p:cNvCxnSpPr/>
          <p:nvPr/>
        </p:nvCxnSpPr>
        <p:spPr bwMode="auto">
          <a:xfrm>
            <a:off x="8867153" y="4335055"/>
            <a:ext cx="4320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15 CuadroTexto"/>
          <p:cNvSpPr txBox="1"/>
          <p:nvPr/>
        </p:nvSpPr>
        <p:spPr>
          <a:xfrm>
            <a:off x="8796302" y="5374243"/>
            <a:ext cx="21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</a:t>
            </a:r>
            <a:endParaRPr lang="es-PE" dirty="0"/>
          </a:p>
        </p:txBody>
      </p:sp>
      <p:sp>
        <p:nvSpPr>
          <p:cNvPr id="17" name="16 CuadroTexto"/>
          <p:cNvSpPr txBox="1"/>
          <p:nvPr/>
        </p:nvSpPr>
        <p:spPr>
          <a:xfrm>
            <a:off x="8904312" y="4001283"/>
            <a:ext cx="239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s-PE" dirty="0"/>
          </a:p>
        </p:txBody>
      </p:sp>
      <p:sp>
        <p:nvSpPr>
          <p:cNvPr id="18" name="17 CuadroTexto"/>
          <p:cNvSpPr txBox="1"/>
          <p:nvPr/>
        </p:nvSpPr>
        <p:spPr>
          <a:xfrm>
            <a:off x="4593517" y="5303637"/>
            <a:ext cx="471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4000">
                <a:solidFill>
                  <a:srgbClr val="FF0000"/>
                </a:solidFill>
              </a:defRPr>
            </a:lvl1pPr>
          </a:lstStyle>
          <a:p>
            <a:r>
              <a:rPr lang="es-ES" dirty="0"/>
              <a:t>x</a:t>
            </a:r>
            <a:endParaRPr lang="es-PE" dirty="0"/>
          </a:p>
        </p:txBody>
      </p:sp>
      <p:sp>
        <p:nvSpPr>
          <p:cNvPr id="42" name="41 CuadroTexto"/>
          <p:cNvSpPr txBox="1"/>
          <p:nvPr/>
        </p:nvSpPr>
        <p:spPr>
          <a:xfrm>
            <a:off x="10088737" y="5333307"/>
            <a:ext cx="471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FF0000"/>
                </a:solidFill>
              </a:rPr>
              <a:t>z</a:t>
            </a:r>
            <a:endParaRPr lang="es-PE" sz="4000" dirty="0">
              <a:solidFill>
                <a:srgbClr val="FF0000"/>
              </a:solidFill>
            </a:endParaRPr>
          </a:p>
        </p:txBody>
      </p:sp>
      <p:sp>
        <p:nvSpPr>
          <p:cNvPr id="20" name="19 Flecha derecha"/>
          <p:cNvSpPr/>
          <p:nvPr/>
        </p:nvSpPr>
        <p:spPr bwMode="auto">
          <a:xfrm>
            <a:off x="4593518" y="3996001"/>
            <a:ext cx="3115447" cy="1644148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 b="1">
              <a:latin typeface="Arial" charset="0"/>
            </a:endParaRPr>
          </a:p>
        </p:txBody>
      </p:sp>
      <p:graphicFrame>
        <p:nvGraphicFramePr>
          <p:cNvPr id="19" name="18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825569"/>
              </p:ext>
            </p:extLst>
          </p:nvPr>
        </p:nvGraphicFramePr>
        <p:xfrm>
          <a:off x="4618288" y="4283052"/>
          <a:ext cx="2743368" cy="987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812520" imgH="393480" progId="Equation.3">
                  <p:embed/>
                </p:oleObj>
              </mc:Choice>
              <mc:Fallback>
                <p:oleObj name="Ecuación" r:id="rId7" imgW="812520" imgH="393480" progId="Equation.3">
                  <p:embed/>
                  <p:pic>
                    <p:nvPicPr>
                      <p:cNvPr id="19" name="18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288" y="4283052"/>
                        <a:ext cx="2743368" cy="987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6526126" y="5835008"/>
            <a:ext cx="52049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MX" sz="2800" dirty="0"/>
              <a:t>Distribución Normal estandarizada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13295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0" y="151057"/>
            <a:ext cx="6096000" cy="78579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Supuestos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5036" y="1332303"/>
            <a:ext cx="11381928" cy="266819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s-MX" dirty="0">
                <a:solidFill>
                  <a:schemeClr val="tx1"/>
                </a:solidFill>
                <a:latin typeface="Arial Narrow" pitchFamily="34" charset="0"/>
              </a:rPr>
              <a:t>Es posible estimar con precisión a, m, y b.</a:t>
            </a:r>
          </a:p>
          <a:p>
            <a:pPr algn="just" eaLnBrk="1" hangingPunct="1">
              <a:defRPr/>
            </a:pPr>
            <a:r>
              <a:rPr lang="es-MX" dirty="0">
                <a:solidFill>
                  <a:schemeClr val="tx1"/>
                </a:solidFill>
                <a:latin typeface="Arial Narrow" pitchFamily="34" charset="0"/>
              </a:rPr>
              <a:t>Las magnitudes definen un rango de tiempo razonable, negociado entre el gerente y quienes estarán a cargo de las tareas.</a:t>
            </a:r>
          </a:p>
          <a:p>
            <a:pPr algn="just" eaLnBrk="1" hangingPunct="1">
              <a:defRPr/>
            </a:pPr>
            <a:r>
              <a:rPr lang="es-MX" dirty="0">
                <a:solidFill>
                  <a:schemeClr val="tx1"/>
                </a:solidFill>
                <a:latin typeface="Arial Narrow" pitchFamily="34" charset="0"/>
              </a:rPr>
              <a:t>Se supone que la desviación estándar es igual a un sexto de la diferencia entre b-a: por lo tanto la probabilidad de que los tiempos queden por encima de b o debajo de a, son remotas.</a:t>
            </a: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432185"/>
              </p:ext>
            </p:extLst>
          </p:nvPr>
        </p:nvGraphicFramePr>
        <p:xfrm>
          <a:off x="2103499" y="5298889"/>
          <a:ext cx="7930381" cy="1096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44720" imgH="393480" progId="">
                  <p:embed/>
                </p:oleObj>
              </mc:Choice>
              <mc:Fallback>
                <p:oleObj r:id="rId3" imgW="2844720" imgH="393480" progId="">
                  <p:embed/>
                  <p:pic>
                    <p:nvPicPr>
                      <p:cNvPr id="4" name="3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99" y="5298889"/>
                        <a:ext cx="7930381" cy="109603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25EEB06-D0A1-233F-9E24-D0740D18F9A9}"/>
              </a:ext>
            </a:extLst>
          </p:cNvPr>
          <p:cNvSpPr txBox="1"/>
          <p:nvPr/>
        </p:nvSpPr>
        <p:spPr>
          <a:xfrm>
            <a:off x="405035" y="4049530"/>
            <a:ext cx="11381928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s-MX" sz="2400" dirty="0">
                <a:solidFill>
                  <a:schemeClr val="tx1"/>
                </a:solidFill>
                <a:latin typeface="Arial Narrow" panose="020B0606020202030204" pitchFamily="34" charset="0"/>
              </a:rPr>
              <a:t>Tiempo esperado de todo el proyecto:      </a:t>
            </a:r>
            <a:r>
              <a:rPr lang="es-MX" sz="2400" dirty="0">
                <a:latin typeface="Arial Narrow" panose="020B0606020202030204" pitchFamily="34" charset="0"/>
              </a:rPr>
              <a:t>Te</a:t>
            </a:r>
            <a:r>
              <a:rPr lang="es-ES" sz="2400" dirty="0">
                <a:latin typeface="Arial Narrow" panose="020B0606020202030204" pitchFamily="34" charset="0"/>
              </a:rPr>
              <a:t>= Σ</a:t>
            </a:r>
            <a:r>
              <a:rPr lang="es-MX" sz="2400" dirty="0">
                <a:latin typeface="Arial Narrow" panose="020B0606020202030204" pitchFamily="34" charset="0"/>
              </a:rPr>
              <a:t> tiempos de las tareas que están en la ruta crítica</a:t>
            </a:r>
          </a:p>
          <a:p>
            <a:pPr marL="0" indent="0">
              <a:buNone/>
              <a:defRPr/>
            </a:pPr>
            <a:r>
              <a:rPr lang="es-MX" sz="2400" dirty="0">
                <a:solidFill>
                  <a:schemeClr val="tx1"/>
                </a:solidFill>
                <a:latin typeface="Arial Narrow" panose="020B0606020202030204" pitchFamily="34" charset="0"/>
              </a:rPr>
              <a:t>Varianza del proyecto:</a:t>
            </a:r>
            <a:r>
              <a:rPr lang="es-MX" sz="2400" dirty="0">
                <a:latin typeface="Arial Narrow" panose="020B0606020202030204" pitchFamily="34" charset="0"/>
              </a:rPr>
              <a:t>		           </a:t>
            </a:r>
            <a:r>
              <a:rPr lang="es-ES" sz="2400" dirty="0">
                <a:latin typeface="Arial Narrow" panose="020B0606020202030204" pitchFamily="34" charset="0"/>
              </a:rPr>
              <a:t>V(x)=Σ</a:t>
            </a:r>
            <a:r>
              <a:rPr lang="es-MX" sz="2400" dirty="0">
                <a:solidFill>
                  <a:schemeClr val="tx1"/>
                </a:solidFill>
                <a:latin typeface="Arial Narrow" panose="020B0606020202030204" pitchFamily="34" charset="0"/>
              </a:rPr>
              <a:t>(Varianzas de las tareas que están en la ruta crítica</a:t>
            </a:r>
            <a:r>
              <a:rPr lang="es-MX" sz="2400" dirty="0">
                <a:latin typeface="Arial Narrow" panose="020B0606020202030204" pitchFamily="34" charset="0"/>
              </a:rPr>
              <a:t>)</a:t>
            </a:r>
            <a:endParaRPr lang="es-ES" sz="2400" dirty="0">
              <a:latin typeface="Arial Narrow" panose="020B0606020202030204" pitchFamily="34" charset="0"/>
            </a:endParaRPr>
          </a:p>
          <a:p>
            <a:pPr marL="0" indent="0">
              <a:buNone/>
              <a:defRPr/>
            </a:pPr>
            <a:r>
              <a:rPr lang="es-MX" sz="2400" dirty="0">
                <a:solidFill>
                  <a:schemeClr val="tx1"/>
                </a:solidFill>
                <a:latin typeface="Arial Narrow" panose="020B0606020202030204" pitchFamily="34" charset="0"/>
              </a:rPr>
              <a:t>Probabilidad de terminación en una fecha determinada</a:t>
            </a:r>
            <a:endParaRPr lang="es-ES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70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0" y="192378"/>
            <a:ext cx="6096000" cy="56356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Problemas probabilísticos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108739"/>
              </p:ext>
            </p:extLst>
          </p:nvPr>
        </p:nvGraphicFramePr>
        <p:xfrm>
          <a:off x="1256637" y="1485902"/>
          <a:ext cx="7541952" cy="4113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5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  <a:latin typeface="Arial Narrow" panose="020B0606020202030204" pitchFamily="34" charset="0"/>
                        </a:rPr>
                        <a:t>Tarea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DESCRIPCIÓN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ESTIMACIÓN DE TIEMPO (</a:t>
                      </a:r>
                      <a:r>
                        <a:rPr lang="es-PE" sz="2000" spc="-15" dirty="0" err="1">
                          <a:effectLst/>
                          <a:latin typeface="Arial Narrow" panose="020B0606020202030204" pitchFamily="34" charset="0"/>
                        </a:rPr>
                        <a:t>Sem</a:t>
                      </a: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.)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   a	   m	    b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PRECED.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INMEDIATA</a:t>
                      </a:r>
                      <a:endParaRPr lang="es-ES" sz="20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178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A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B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D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F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G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H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I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Cimientos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Armazón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Techos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Plomería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Cableado eléctrico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Puertas y Ventanas 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Terminado interno 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>
                          <a:effectLst/>
                          <a:latin typeface="Arial Narrow" panose="020B0606020202030204" pitchFamily="34" charset="0"/>
                        </a:rPr>
                        <a:t>Terminado externo</a:t>
                      </a:r>
                      <a:endParaRPr lang="es-ES" sz="200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  <a:latin typeface="Arial Narrow" panose="020B0606020202030204" pitchFamily="34" charset="0"/>
                        </a:rPr>
                        <a:t>Inspección</a:t>
                      </a:r>
                      <a:endParaRPr lang="es-ES" sz="20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2	  3	   4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4 	 7.5	   8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3	 5.5	  11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2.5	   4	   5.5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2                 3	    4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3	  5	    7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3	  3.5	    7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2	   5	    8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spc="-15" dirty="0">
                          <a:effectLst/>
                          <a:latin typeface="Arial Narrow" panose="020B0606020202030204" pitchFamily="34" charset="0"/>
                        </a:rPr>
                        <a:t>  1                 1	      1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 err="1">
                          <a:effectLst/>
                          <a:latin typeface="Arial Narrow" panose="020B0606020202030204" pitchFamily="34" charset="0"/>
                        </a:rPr>
                        <a:t>Ninguna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A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B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A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D, E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F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F</a:t>
                      </a:r>
                      <a:endParaRPr lang="es-ES" sz="20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spc="-15" dirty="0">
                          <a:effectLst/>
                          <a:latin typeface="Arial Narrow" panose="020B0606020202030204" pitchFamily="34" charset="0"/>
                        </a:rPr>
                        <a:t>G, H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s-ES" sz="20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2 Objeto"/>
          <p:cNvGraphicFramePr>
            <a:graphicFrameLocks noChangeAspect="1"/>
          </p:cNvGraphicFramePr>
          <p:nvPr/>
        </p:nvGraphicFramePr>
        <p:xfrm>
          <a:off x="3792538" y="5876926"/>
          <a:ext cx="19939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67893" imgH="393529" progId="Equation.3">
                  <p:embed/>
                </p:oleObj>
              </mc:Choice>
              <mc:Fallback>
                <p:oleObj name="Ecuación" r:id="rId2" imgW="1167893" imgH="393529" progId="Equation.3">
                  <p:embed/>
                  <p:pic>
                    <p:nvPicPr>
                      <p:cNvPr id="3" name="2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5876926"/>
                        <a:ext cx="1993900" cy="733425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6 Objeto"/>
          <p:cNvGraphicFramePr>
            <a:graphicFrameLocks noChangeAspect="1"/>
          </p:cNvGraphicFramePr>
          <p:nvPr/>
        </p:nvGraphicFramePr>
        <p:xfrm>
          <a:off x="6456363" y="5876926"/>
          <a:ext cx="20812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74360" imgH="393480" progId="">
                  <p:embed/>
                </p:oleObj>
              </mc:Choice>
              <mc:Fallback>
                <p:oleObj r:id="rId4" imgW="774360" imgH="393480" progId="">
                  <p:embed/>
                  <p:pic>
                    <p:nvPicPr>
                      <p:cNvPr id="7" name="6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5876926"/>
                        <a:ext cx="2081212" cy="720725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6011973-2606-8FA0-92A8-4B450FE00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49182"/>
              </p:ext>
            </p:extLst>
          </p:nvPr>
        </p:nvGraphicFramePr>
        <p:xfrm>
          <a:off x="8878019" y="1485902"/>
          <a:ext cx="802549" cy="4113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549">
                  <a:extLst>
                    <a:ext uri="{9D8B030D-6E8A-4147-A177-3AD203B41FA5}">
                      <a16:colId xmlns:a16="http://schemas.microsoft.com/office/drawing/2014/main" val="3180368187"/>
                    </a:ext>
                  </a:extLst>
                </a:gridCol>
              </a:tblGrid>
              <a:tr h="7605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spc="-15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b="1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spc="-15" dirty="0">
                          <a:effectLst/>
                          <a:latin typeface="Arial Narrow" panose="020B0606020202030204" pitchFamily="34" charset="0"/>
                        </a:rPr>
                        <a:t>T e</a:t>
                      </a:r>
                      <a:endParaRPr lang="es-ES" sz="20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511629988"/>
                  </a:ext>
                </a:extLst>
              </a:tr>
              <a:tr h="31917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300513951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9F4A4B81-A1A4-CEF0-5F02-DFE0FCB08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086265"/>
              </p:ext>
            </p:extLst>
          </p:nvPr>
        </p:nvGraphicFramePr>
        <p:xfrm>
          <a:off x="9759998" y="1485902"/>
          <a:ext cx="1334224" cy="4113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4224">
                  <a:extLst>
                    <a:ext uri="{9D8B030D-6E8A-4147-A177-3AD203B41FA5}">
                      <a16:colId xmlns:a16="http://schemas.microsoft.com/office/drawing/2014/main" val="26028232"/>
                    </a:ext>
                  </a:extLst>
                </a:gridCol>
              </a:tblGrid>
              <a:tr h="7605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spc="-15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b="1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anose="020B0606020202030204" pitchFamily="34" charset="0"/>
                        </a:rPr>
                        <a:t>D. S.</a:t>
                      </a:r>
                      <a:endParaRPr lang="es-ES" sz="20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714318011"/>
                  </a:ext>
                </a:extLst>
              </a:tr>
              <a:tr h="31917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0.3333*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0.6667*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1.3333*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0.5000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0.3333*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0.6667*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0.6667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1.0000*</a:t>
                      </a: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</a:rPr>
                        <a:t>0.0000*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s-ES" sz="2000" b="1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344300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9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0" y="209855"/>
            <a:ext cx="6096000" cy="55027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Red del 10.12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52227" name="Oval 3">
            <a:hlinkHover r:id="" action="ppaction://noaction">
              <a:snd r:embed="rId3" name="gunshot.wav"/>
            </a:hlinkHover>
          </p:cNvPr>
          <p:cNvSpPr>
            <a:spLocks noChangeArrowheads="1"/>
          </p:cNvSpPr>
          <p:nvPr/>
        </p:nvSpPr>
        <p:spPr bwMode="auto">
          <a:xfrm>
            <a:off x="1090217" y="3574435"/>
            <a:ext cx="789429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4851582" y="3648883"/>
            <a:ext cx="756077" cy="85842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latin typeface="Arial Narrow" pitchFamily="34" charset="0"/>
              </a:rPr>
              <a:t>X4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4743562" y="1278321"/>
            <a:ext cx="756077" cy="89894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latin typeface="Arial Narrow" pitchFamily="34" charset="0"/>
              </a:rPr>
              <a:t>X3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7047819" y="3692258"/>
            <a:ext cx="758221" cy="871025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latin typeface="Arial Narrow" pitchFamily="34" charset="0"/>
              </a:rPr>
              <a:t>X5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8713661" y="1278321"/>
            <a:ext cx="7582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latin typeface="Arial Narrow" pitchFamily="34" charset="0"/>
              </a:rPr>
              <a:t>X6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178449" y="1278321"/>
            <a:ext cx="775955" cy="898946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3072809" y="3650172"/>
            <a:ext cx="844975" cy="883492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8776011" y="3650172"/>
            <a:ext cx="793098" cy="888033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latin typeface="Arial Narrow" pitchFamily="34" charset="0"/>
              </a:rPr>
              <a:t>X7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 flipH="1" flipV="1">
            <a:off x="3483144" y="2216282"/>
            <a:ext cx="14060" cy="140199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 flipV="1">
            <a:off x="7623883" y="2060848"/>
            <a:ext cx="1211081" cy="178937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3954404" y="1735521"/>
            <a:ext cx="8501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2140574" y="3676962"/>
            <a:ext cx="4427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A3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3076678" y="2667433"/>
            <a:ext cx="4427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B7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4073568" y="1300698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C6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6039706" y="3650172"/>
            <a:ext cx="4299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F5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8106091" y="3692258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H5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8" name="Text Box 44"/>
          <p:cNvSpPr txBox="1">
            <a:spLocks noChangeArrowheads="1"/>
          </p:cNvSpPr>
          <p:nvPr/>
        </p:nvSpPr>
        <p:spPr bwMode="auto">
          <a:xfrm>
            <a:off x="1480589" y="1581567"/>
            <a:ext cx="10150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Figurado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9851256" y="6520260"/>
            <a:ext cx="561975" cy="365125"/>
          </a:xfrm>
        </p:spPr>
        <p:txBody>
          <a:bodyPr/>
          <a:lstStyle/>
          <a:p>
            <a:fld id="{55F7123F-EA94-4AF6-90FD-8402484B591B}" type="slidenum">
              <a:rPr lang="en-US" sz="2000">
                <a:latin typeface="Arial Narrow" pitchFamily="34" charset="0"/>
              </a:rPr>
              <a:pPr/>
              <a:t>11</a:t>
            </a:fld>
            <a:endParaRPr lang="en-US" sz="2000" dirty="0">
              <a:latin typeface="Arial Narrow" pitchFamily="34" charset="0"/>
            </a:endParaRP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5139040" y="2213426"/>
            <a:ext cx="36570" cy="14058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>
            <a:off x="7865087" y="4077072"/>
            <a:ext cx="89576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4743563" y="2668850"/>
            <a:ext cx="4427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E3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" name="Line 13"/>
          <p:cNvSpPr>
            <a:spLocks noChangeShapeType="1"/>
          </p:cNvSpPr>
          <p:nvPr/>
        </p:nvSpPr>
        <p:spPr bwMode="auto">
          <a:xfrm>
            <a:off x="1879646" y="4075473"/>
            <a:ext cx="1160358" cy="99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" name="Text Box 31"/>
          <p:cNvSpPr txBox="1">
            <a:spLocks noChangeArrowheads="1"/>
          </p:cNvSpPr>
          <p:nvPr/>
        </p:nvSpPr>
        <p:spPr bwMode="auto">
          <a:xfrm>
            <a:off x="4120381" y="3592908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D4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5" name="Line 19"/>
          <p:cNvSpPr>
            <a:spLocks noChangeShapeType="1"/>
          </p:cNvSpPr>
          <p:nvPr/>
        </p:nvSpPr>
        <p:spPr bwMode="auto">
          <a:xfrm flipV="1">
            <a:off x="5607658" y="4077073"/>
            <a:ext cx="1450370" cy="438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6" name="Line 19"/>
          <p:cNvSpPr>
            <a:spLocks noChangeShapeType="1"/>
          </p:cNvSpPr>
          <p:nvPr/>
        </p:nvSpPr>
        <p:spPr bwMode="auto">
          <a:xfrm>
            <a:off x="3966258" y="4111837"/>
            <a:ext cx="849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9" name="Text Box 29"/>
          <p:cNvSpPr txBox="1">
            <a:spLocks noChangeArrowheads="1"/>
          </p:cNvSpPr>
          <p:nvPr/>
        </p:nvSpPr>
        <p:spPr bwMode="auto">
          <a:xfrm>
            <a:off x="9822264" y="3618272"/>
            <a:ext cx="3593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I1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60" name="Text Box 29"/>
          <p:cNvSpPr txBox="1">
            <a:spLocks noChangeArrowheads="1"/>
          </p:cNvSpPr>
          <p:nvPr/>
        </p:nvSpPr>
        <p:spPr bwMode="auto">
          <a:xfrm>
            <a:off x="7802237" y="2685512"/>
            <a:ext cx="4651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G4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61" name="Line 19"/>
          <p:cNvSpPr>
            <a:spLocks noChangeShapeType="1"/>
          </p:cNvSpPr>
          <p:nvPr/>
        </p:nvSpPr>
        <p:spPr bwMode="auto">
          <a:xfrm>
            <a:off x="9170861" y="2216282"/>
            <a:ext cx="0" cy="140199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2" name="Oval 11"/>
          <p:cNvSpPr>
            <a:spLocks noChangeArrowheads="1"/>
          </p:cNvSpPr>
          <p:nvPr/>
        </p:nvSpPr>
        <p:spPr bwMode="auto">
          <a:xfrm>
            <a:off x="10562659" y="3692258"/>
            <a:ext cx="793098" cy="824197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X8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63" name="Line 19"/>
          <p:cNvSpPr>
            <a:spLocks noChangeShapeType="1"/>
          </p:cNvSpPr>
          <p:nvPr/>
        </p:nvSpPr>
        <p:spPr bwMode="auto">
          <a:xfrm>
            <a:off x="9584267" y="4091826"/>
            <a:ext cx="954813" cy="54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29561" y="4764013"/>
            <a:ext cx="117624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>
                <a:latin typeface="Arial Narrow" panose="020B0606020202030204" pitchFamily="34" charset="0"/>
              </a:rPr>
              <a:t>RUTA CRITICA: </a:t>
            </a:r>
            <a:r>
              <a:rPr lang="es-ES" sz="2400" b="1" dirty="0" err="1">
                <a:latin typeface="Arial Narrow" panose="020B0606020202030204" pitchFamily="34" charset="0"/>
              </a:rPr>
              <a:t>ABCEFHI</a:t>
            </a:r>
            <a:r>
              <a:rPr lang="es-ES" sz="2400" b="1" dirty="0">
                <a:latin typeface="Arial Narrow" panose="020B0606020202030204" pitchFamily="34" charset="0"/>
              </a:rPr>
              <a:t> 	</a:t>
            </a:r>
          </a:p>
          <a:p>
            <a:r>
              <a:rPr lang="es-ES" sz="2400" b="1" dirty="0">
                <a:latin typeface="Arial Narrow" panose="020B0606020202030204" pitchFamily="34" charset="0"/>
              </a:rPr>
              <a:t>DURACIÓN= 30 SEMANAS 	              </a:t>
            </a:r>
            <a:r>
              <a:rPr lang="es-E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µ=30      			Media del proyecto</a:t>
            </a:r>
          </a:p>
          <a:p>
            <a:r>
              <a:rPr lang="es-PE" sz="2400" b="1" dirty="0">
                <a:latin typeface="Arial Narrow" panose="020B0606020202030204" pitchFamily="34" charset="0"/>
              </a:rPr>
              <a:t>v(x)= 0,3333</a:t>
            </a:r>
            <a:r>
              <a:rPr lang="es-PE" sz="2400" b="1" baseline="30000" dirty="0">
                <a:latin typeface="Arial Narrow" panose="020B0606020202030204" pitchFamily="34" charset="0"/>
              </a:rPr>
              <a:t>2</a:t>
            </a:r>
            <a:r>
              <a:rPr lang="es-PE" sz="2400" b="1" dirty="0">
                <a:latin typeface="Arial Narrow" panose="020B0606020202030204" pitchFamily="34" charset="0"/>
              </a:rPr>
              <a:t> + 0,6667</a:t>
            </a:r>
            <a:r>
              <a:rPr lang="es-PE" sz="2400" b="1" baseline="30000" dirty="0">
                <a:latin typeface="Arial Narrow" panose="020B0606020202030204" pitchFamily="34" charset="0"/>
              </a:rPr>
              <a:t>2</a:t>
            </a:r>
            <a:r>
              <a:rPr lang="es-PE" sz="2400" b="1" dirty="0">
                <a:latin typeface="Arial Narrow" panose="020B0606020202030204" pitchFamily="34" charset="0"/>
              </a:rPr>
              <a:t> +1,3333</a:t>
            </a:r>
            <a:r>
              <a:rPr lang="es-PE" sz="2400" b="1" baseline="30000" dirty="0">
                <a:latin typeface="Arial Narrow" panose="020B0606020202030204" pitchFamily="34" charset="0"/>
              </a:rPr>
              <a:t>2</a:t>
            </a:r>
            <a:r>
              <a:rPr lang="es-PE" sz="2400" b="1" dirty="0">
                <a:latin typeface="Arial Narrow" panose="020B0606020202030204" pitchFamily="34" charset="0"/>
              </a:rPr>
              <a:t> + 0,3333</a:t>
            </a:r>
            <a:r>
              <a:rPr lang="es-PE" sz="2400" b="1" baseline="30000" dirty="0">
                <a:latin typeface="Arial Narrow" panose="020B0606020202030204" pitchFamily="34" charset="0"/>
              </a:rPr>
              <a:t>2</a:t>
            </a:r>
            <a:r>
              <a:rPr lang="es-PE" sz="2400" b="1" dirty="0">
                <a:latin typeface="Arial Narrow" panose="020B0606020202030204" pitchFamily="34" charset="0"/>
              </a:rPr>
              <a:t> +  0,6667</a:t>
            </a:r>
            <a:r>
              <a:rPr lang="es-PE" sz="2400" b="1" baseline="30000" dirty="0">
                <a:latin typeface="Arial Narrow" panose="020B0606020202030204" pitchFamily="34" charset="0"/>
              </a:rPr>
              <a:t>2</a:t>
            </a:r>
            <a:r>
              <a:rPr lang="es-PE" sz="2400" b="1" dirty="0">
                <a:latin typeface="Arial Narrow" panose="020B0606020202030204" pitchFamily="34" charset="0"/>
              </a:rPr>
              <a:t> + 1</a:t>
            </a:r>
            <a:r>
              <a:rPr lang="es-PE" sz="2400" b="1" baseline="30000" dirty="0">
                <a:latin typeface="Arial Narrow" panose="020B0606020202030204" pitchFamily="34" charset="0"/>
              </a:rPr>
              <a:t>2</a:t>
            </a:r>
            <a:r>
              <a:rPr lang="es-PE" sz="2400" b="1" dirty="0">
                <a:latin typeface="Arial Narrow" panose="020B0606020202030204" pitchFamily="34" charset="0"/>
              </a:rPr>
              <a:t> +0</a:t>
            </a:r>
            <a:r>
              <a:rPr lang="es-PE" sz="2400" b="1" baseline="30000" dirty="0">
                <a:latin typeface="Arial Narrow" panose="020B0606020202030204" pitchFamily="34" charset="0"/>
              </a:rPr>
              <a:t>2  </a:t>
            </a:r>
            <a:r>
              <a:rPr lang="es-PE" sz="2400" b="1" dirty="0">
                <a:latin typeface="Arial Narrow" panose="020B0606020202030204" pitchFamily="34" charset="0"/>
              </a:rPr>
              <a:t>=3,8888</a:t>
            </a:r>
            <a:r>
              <a:rPr lang="es-E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 Varianza del proyecto</a:t>
            </a:r>
            <a:endParaRPr lang="es-PE" sz="2400" b="1" dirty="0">
              <a:latin typeface="Arial Narrow" panose="020B0606020202030204" pitchFamily="34" charset="0"/>
            </a:endParaRPr>
          </a:p>
          <a:p>
            <a:r>
              <a:rPr lang="es-ES" sz="2400" b="1" dirty="0">
                <a:latin typeface="Arial Narrow" panose="020B0606020202030204" pitchFamily="34" charset="0"/>
              </a:rPr>
              <a:t>                       =     1,972                      	 </a:t>
            </a:r>
            <a:r>
              <a:rPr lang="el-GR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σ</a:t>
            </a:r>
            <a:r>
              <a:rPr lang="es-E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=1,972 		Desviación estándar del proyecto </a:t>
            </a: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72E0B71A-8FCB-5573-9844-433F3E65E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292860"/>
              </p:ext>
            </p:extLst>
          </p:nvPr>
        </p:nvGraphicFramePr>
        <p:xfrm>
          <a:off x="528527" y="5855918"/>
          <a:ext cx="1624367" cy="477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63280" imgH="253800" progId="">
                  <p:embed/>
                </p:oleObj>
              </mc:Choice>
              <mc:Fallback>
                <p:oleObj r:id="rId4" imgW="863280" imgH="253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8527" y="5855918"/>
                        <a:ext cx="1624367" cy="477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60827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2564905"/>
            <a:ext cx="12192000" cy="320246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r>
              <a:rPr lang="es-PE" sz="2700" b="1" dirty="0">
                <a:solidFill>
                  <a:srgbClr val="FF0000"/>
                </a:solidFill>
                <a:latin typeface="Arial Narrow" pitchFamily="34" charset="0"/>
              </a:rPr>
              <a:t>PREGUNTAS:</a:t>
            </a:r>
            <a:endParaRPr lang="es-ES" sz="2700" b="1" dirty="0">
              <a:solidFill>
                <a:srgbClr val="FF0000"/>
              </a:solidFill>
              <a:latin typeface="Arial Narrow" pitchFamily="34" charset="0"/>
            </a:endParaRPr>
          </a:p>
          <a:p>
            <a:pPr marL="0" indent="0">
              <a:buNone/>
            </a:pPr>
            <a:r>
              <a:rPr lang="es-PE" sz="2700" b="1" dirty="0">
                <a:latin typeface="Arial Narrow" panose="020B0606020202030204" pitchFamily="34" charset="0"/>
              </a:rPr>
              <a:t>A) ¿Cuál es la probabilidad que el proyecto termine en medio año?  			</a:t>
            </a:r>
            <a:r>
              <a:rPr lang="es-PE" sz="2700" b="1" dirty="0">
                <a:solidFill>
                  <a:srgbClr val="FF0000"/>
                </a:solidFill>
                <a:latin typeface="Arial Narrow" panose="020B0606020202030204" pitchFamily="34" charset="0"/>
              </a:rPr>
              <a:t>0,0212</a:t>
            </a:r>
            <a:endParaRPr lang="es-ES" sz="27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s-PE" sz="2700" b="1" dirty="0">
                <a:latin typeface="Arial Narrow" panose="020B0606020202030204" pitchFamily="34" charset="0"/>
              </a:rPr>
              <a:t>B) ¿Cuál es la probabilidad que el proyecto termine antes de 28 semanas? 		</a:t>
            </a:r>
            <a:r>
              <a:rPr lang="es-PE" sz="2700" b="1" dirty="0">
                <a:solidFill>
                  <a:srgbClr val="FF0000"/>
                </a:solidFill>
                <a:latin typeface="Arial Narrow" panose="020B0606020202030204" pitchFamily="34" charset="0"/>
              </a:rPr>
              <a:t>0,1562</a:t>
            </a:r>
            <a:endParaRPr lang="es-ES" sz="27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s-PE" sz="2700" b="1" dirty="0">
                <a:latin typeface="Arial Narrow" panose="020B0606020202030204" pitchFamily="34" charset="0"/>
              </a:rPr>
              <a:t>C) ¿Cuál es la probabilidad que el proyecto termine a lo más en 33 semanas?  	</a:t>
            </a:r>
            <a:r>
              <a:rPr lang="es-PE" sz="2700" b="1" dirty="0">
                <a:solidFill>
                  <a:srgbClr val="FF0000"/>
                </a:solidFill>
                <a:latin typeface="Arial Narrow" panose="020B0606020202030204" pitchFamily="34" charset="0"/>
              </a:rPr>
              <a:t>0,9357</a:t>
            </a:r>
            <a:endParaRPr lang="es-ES" sz="27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s-PE" sz="2700" b="1" dirty="0">
                <a:latin typeface="Arial Narrow" panose="020B0606020202030204" pitchFamily="34" charset="0"/>
              </a:rPr>
              <a:t>D)  ¿Cuál es la probabilidad que el proyecto termine entre 28 y 32 semanas?  	</a:t>
            </a:r>
            <a:r>
              <a:rPr lang="es-PE" sz="2700" b="1" dirty="0">
                <a:solidFill>
                  <a:srgbClr val="FF0000"/>
                </a:solidFill>
                <a:latin typeface="Arial Narrow" panose="020B0606020202030204" pitchFamily="34" charset="0"/>
              </a:rPr>
              <a:t>0,6876</a:t>
            </a:r>
            <a:endParaRPr lang="es-ES" sz="27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457200" indent="-457200">
              <a:buAutoNum type="alphaUcParenR" startAt="5"/>
            </a:pPr>
            <a:r>
              <a:rPr lang="es-PE" sz="2700" b="1" dirty="0">
                <a:latin typeface="Arial Narrow" panose="020B0606020202030204" pitchFamily="34" charset="0"/>
              </a:rPr>
              <a:t>¿Cuál es la probabilidad que el proyecto termine entre 27 y 29 semanas?  	</a:t>
            </a:r>
            <a:r>
              <a:rPr lang="es-PE" sz="2700" b="1" dirty="0">
                <a:solidFill>
                  <a:srgbClr val="FF0000"/>
                </a:solidFill>
                <a:latin typeface="Arial Narrow" panose="020B0606020202030204" pitchFamily="34" charset="0"/>
              </a:rPr>
              <a:t>0,2407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CuadroTexto"/>
              <p:cNvSpPr txBox="1"/>
              <p:nvPr/>
            </p:nvSpPr>
            <p:spPr>
              <a:xfrm>
                <a:off x="6892506" y="1437233"/>
                <a:ext cx="31835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4000" b="1" i="1">
                          <a:latin typeface="Cambria Math"/>
                        </a:rPr>
                        <m:t>𝝈</m:t>
                      </m:r>
                      <m:r>
                        <a:rPr lang="es-ES" sz="4000" b="1" i="1">
                          <a:latin typeface="Cambria Math"/>
                        </a:rPr>
                        <m:t>=</m:t>
                      </m:r>
                      <m:r>
                        <a:rPr lang="es-ES" sz="4000" b="1" i="1">
                          <a:latin typeface="Cambria Math"/>
                        </a:rPr>
                        <m:t>𝟏</m:t>
                      </m:r>
                      <m:r>
                        <a:rPr lang="es-ES" sz="4000" b="1" i="1">
                          <a:latin typeface="Cambria Math"/>
                        </a:rPr>
                        <m:t>,</m:t>
                      </m:r>
                      <m:r>
                        <a:rPr lang="es-ES" sz="4000" b="1" i="1">
                          <a:latin typeface="Cambria Math"/>
                        </a:rPr>
                        <m:t>𝟗𝟕𝟐</m:t>
                      </m:r>
                    </m:oMath>
                  </m:oMathPara>
                </a14:m>
                <a:endParaRPr lang="es-PE" sz="4000" b="1" dirty="0"/>
              </a:p>
            </p:txBody>
          </p:sp>
        </mc:Choice>
        <mc:Fallback xmlns=""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506" y="1437233"/>
                <a:ext cx="3183586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CuadroTexto"/>
              <p:cNvSpPr txBox="1"/>
              <p:nvPr/>
            </p:nvSpPr>
            <p:spPr>
              <a:xfrm>
                <a:off x="3838755" y="1314203"/>
                <a:ext cx="135547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sz="4000" b="1" i="1">
                        <a:latin typeface="Cambria Math"/>
                        <a:ea typeface="Cambria Math"/>
                      </a:rPr>
                      <m:t>𝝁</m:t>
                    </m:r>
                  </m:oMath>
                </a14:m>
                <a:r>
                  <a:rPr lang="es-PE" sz="4000" b="1" dirty="0"/>
                  <a:t>=30</a:t>
                </a:r>
              </a:p>
            </p:txBody>
          </p:sp>
        </mc:Choice>
        <mc:Fallback xmlns=""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755" y="1314203"/>
                <a:ext cx="1355471" cy="707886"/>
              </a:xfrm>
              <a:prstGeom prst="rect">
                <a:avLst/>
              </a:prstGeom>
              <a:blipFill>
                <a:blip r:embed="rId3"/>
                <a:stretch>
                  <a:fillRect t="-15517" r="-9459" b="-3620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9 Imagen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4511825" y="980729"/>
            <a:ext cx="3048161" cy="1463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28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2" name="1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182678"/>
              </p:ext>
            </p:extLst>
          </p:nvPr>
        </p:nvGraphicFramePr>
        <p:xfrm>
          <a:off x="3510312" y="1820319"/>
          <a:ext cx="2147920" cy="992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14400" imgH="419100" progId="Equation.DSMT4">
                  <p:embed/>
                </p:oleObj>
              </mc:Choice>
              <mc:Fallback>
                <p:oleObj r:id="rId2" imgW="914400" imgH="419100" progId="Equation.DSMT4">
                  <p:embed/>
                  <p:pic>
                    <p:nvPicPr>
                      <p:cNvPr id="2" name="1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0312" y="1820319"/>
                        <a:ext cx="2147920" cy="9929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 flipH="1">
            <a:off x="2567608" y="2842305"/>
            <a:ext cx="2038350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049" name="30 Imag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4799856" y="2785155"/>
            <a:ext cx="2016224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11920" y="2007180"/>
            <a:ext cx="5617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800" dirty="0">
                <a:solidFill>
                  <a:srgbClr val="000000"/>
                </a:solidFill>
                <a:latin typeface="Arial" pitchFamily="34" charset="0"/>
                <a:ea typeface="MS Mincho"/>
                <a:cs typeface="Arial" pitchFamily="34" charset="0"/>
              </a:rPr>
              <a:t>P(x ≤ 26)  =   P (                         )</a:t>
            </a:r>
            <a:endParaRPr lang="es-E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00106" y="1981185"/>
            <a:ext cx="6091893" cy="9541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=  P(z&lt;=-2.03)= 0.5 - </a:t>
            </a:r>
            <a:r>
              <a:rPr lang="es-MX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P(0&lt;=z&lt;=2.03)</a:t>
            </a:r>
          </a:p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= 0,5 - 0.4788   =0,0212</a:t>
            </a:r>
            <a:endParaRPr lang="es-P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460075" y="4825503"/>
            <a:ext cx="117319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/>
              <a:t>=  P(z&lt;=-1.01)= 0.5 - P(0&lt;=z&lt;=1.01)= 0.5 - P(0&lt;=z&lt;=1.01)= 0,5 - 0.3438 =  </a:t>
            </a:r>
            <a:r>
              <a:rPr lang="es-MX" sz="2800" b="1" dirty="0">
                <a:solidFill>
                  <a:srgbClr val="FF0000"/>
                </a:solidFill>
              </a:rPr>
              <a:t>0,1562</a:t>
            </a:r>
            <a:endParaRPr lang="es-PE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1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502191"/>
              </p:ext>
            </p:extLst>
          </p:nvPr>
        </p:nvGraphicFramePr>
        <p:xfrm>
          <a:off x="3534957" y="3845162"/>
          <a:ext cx="2053838" cy="949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14400" imgH="419100" progId="Equation.DSMT4">
                  <p:embed/>
                </p:oleObj>
              </mc:Choice>
              <mc:Fallback>
                <p:oleObj r:id="rId5" imgW="914400" imgH="419100" progId="Equation.DSMT4">
                  <p:embed/>
                  <p:pic>
                    <p:nvPicPr>
                      <p:cNvPr id="15" name="14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4957" y="3845162"/>
                        <a:ext cx="2053838" cy="949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 flipH="1">
            <a:off x="2483836" y="5720830"/>
            <a:ext cx="203835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30 Imag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4707830" y="5644630"/>
            <a:ext cx="220027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77620" y="3994915"/>
            <a:ext cx="57978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800" dirty="0">
                <a:solidFill>
                  <a:srgbClr val="000000"/>
                </a:solidFill>
                <a:latin typeface="Arial" pitchFamily="34" charset="0"/>
                <a:ea typeface="MS Mincho"/>
                <a:cs typeface="Arial" pitchFamily="34" charset="0"/>
              </a:rPr>
              <a:t>P(x ≤ 28) =   P (                       )</a:t>
            </a:r>
            <a:endParaRPr lang="es-E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6096000" y="551661"/>
            <a:ext cx="6096000" cy="553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ctr">
              <a:lnSpc>
                <a:spcPts val="58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defRPr>
            </a:lvl1pPr>
          </a:lstStyle>
          <a:p>
            <a:r>
              <a:rPr lang="es-ES" dirty="0"/>
              <a:t>Solución</a:t>
            </a:r>
            <a:endParaRPr lang="es-PE" dirty="0"/>
          </a:p>
        </p:txBody>
      </p:sp>
      <p:sp>
        <p:nvSpPr>
          <p:cNvPr id="8" name="7 CuadroTexto"/>
          <p:cNvSpPr txBox="1"/>
          <p:nvPr/>
        </p:nvSpPr>
        <p:spPr>
          <a:xfrm>
            <a:off x="2908084" y="3381089"/>
            <a:ext cx="3989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-2.03                                             2.03</a:t>
            </a:r>
            <a:endParaRPr lang="es-PE" sz="2000" dirty="0"/>
          </a:p>
        </p:txBody>
      </p:sp>
      <p:sp>
        <p:nvSpPr>
          <p:cNvPr id="16" name="15 CuadroTexto"/>
          <p:cNvSpPr txBox="1"/>
          <p:nvPr/>
        </p:nvSpPr>
        <p:spPr>
          <a:xfrm>
            <a:off x="2779295" y="6284031"/>
            <a:ext cx="395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-1.01                                                     1.01</a:t>
            </a:r>
            <a:endParaRPr lang="es-PE" dirty="0"/>
          </a:p>
        </p:txBody>
      </p:sp>
      <p:pic>
        <p:nvPicPr>
          <p:cNvPr id="17" name="Imagen 2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7896201" y="-14176"/>
            <a:ext cx="2124075" cy="57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629A845-26D2-DB07-2E92-85C4C3E75C3F}"/>
              </a:ext>
            </a:extLst>
          </p:cNvPr>
          <p:cNvSpPr txBox="1"/>
          <p:nvPr/>
        </p:nvSpPr>
        <p:spPr>
          <a:xfrm>
            <a:off x="4449100" y="2910873"/>
            <a:ext cx="386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=</a:t>
            </a:r>
            <a:endParaRPr lang="es-PE" sz="2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FC4C94A-B450-4F56-DC79-EA38FE782225}"/>
              </a:ext>
            </a:extLst>
          </p:cNvPr>
          <p:cNvSpPr txBox="1"/>
          <p:nvPr/>
        </p:nvSpPr>
        <p:spPr>
          <a:xfrm>
            <a:off x="4445090" y="5794446"/>
            <a:ext cx="386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=</a:t>
            </a:r>
            <a:endParaRPr lang="es-PE" sz="28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4571C35-5E6A-20D9-91E9-ED1E49056F81}"/>
              </a:ext>
            </a:extLst>
          </p:cNvPr>
          <p:cNvSpPr txBox="1"/>
          <p:nvPr/>
        </p:nvSpPr>
        <p:spPr>
          <a:xfrm>
            <a:off x="6298239" y="2910873"/>
            <a:ext cx="1763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=   0.5  -</a:t>
            </a:r>
            <a:endParaRPr lang="es-PE" sz="2800" dirty="0"/>
          </a:p>
        </p:txBody>
      </p:sp>
      <p:pic>
        <p:nvPicPr>
          <p:cNvPr id="12" name="Imagen 29">
            <a:extLst>
              <a:ext uri="{FF2B5EF4-FFF2-40B4-BE49-F238E27FC236}">
                <a16:creationId xmlns:a16="http://schemas.microsoft.com/office/drawing/2014/main" id="{2E07E709-3EF5-A013-BE32-97583A3C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7166836" y="2797330"/>
            <a:ext cx="2124075" cy="57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A7CF86B3-8DAE-3A88-578A-2BA8E1ABA700}"/>
              </a:ext>
            </a:extLst>
          </p:cNvPr>
          <p:cNvSpPr txBox="1"/>
          <p:nvPr/>
        </p:nvSpPr>
        <p:spPr>
          <a:xfrm>
            <a:off x="6330324" y="5806476"/>
            <a:ext cx="1763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=   0.5  -</a:t>
            </a:r>
            <a:endParaRPr lang="es-PE" sz="2800" dirty="0"/>
          </a:p>
        </p:txBody>
      </p:sp>
      <p:pic>
        <p:nvPicPr>
          <p:cNvPr id="18" name="Imagen 29">
            <a:extLst>
              <a:ext uri="{FF2B5EF4-FFF2-40B4-BE49-F238E27FC236}">
                <a16:creationId xmlns:a16="http://schemas.microsoft.com/office/drawing/2014/main" id="{98F4E811-C36F-020C-46BB-A793CE396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7198921" y="5692933"/>
            <a:ext cx="2124075" cy="57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8 Rectángulo">
            <a:extLst>
              <a:ext uri="{FF2B5EF4-FFF2-40B4-BE49-F238E27FC236}">
                <a16:creationId xmlns:a16="http://schemas.microsoft.com/office/drawing/2014/main" id="{951AF4C8-2690-96AD-2D4E-2483979E641A}"/>
              </a:ext>
            </a:extLst>
          </p:cNvPr>
          <p:cNvSpPr/>
          <p:nvPr/>
        </p:nvSpPr>
        <p:spPr>
          <a:xfrm>
            <a:off x="132393" y="1239168"/>
            <a:ext cx="93976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s-MX" sz="2800" b="1" dirty="0">
                <a:latin typeface="Arial Narrow" pitchFamily="34" charset="0"/>
              </a:rPr>
              <a:t>X: Es la variable aleatoria , duración de todo el proyecto.</a:t>
            </a:r>
          </a:p>
        </p:txBody>
      </p:sp>
    </p:spTree>
    <p:extLst>
      <p:ext uri="{BB962C8B-B14F-4D97-AF65-F5344CB8AC3E}">
        <p14:creationId xmlns:p14="http://schemas.microsoft.com/office/powerpoint/2010/main" val="56021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6" grpId="0"/>
      <p:bldP spid="14" grpId="0"/>
      <p:bldP spid="22" grpId="0"/>
      <p:bldP spid="8" grpId="0"/>
      <p:bldP spid="16" grpId="0"/>
      <p:bldP spid="9" grpId="0"/>
      <p:bldP spid="10" grpId="0"/>
      <p:bldP spid="11" grpId="0"/>
      <p:bldP spid="13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11" name="10 Objeto"/>
          <p:cNvGraphicFramePr>
            <a:graphicFrameLocks noChangeAspect="1"/>
          </p:cNvGraphicFramePr>
          <p:nvPr/>
        </p:nvGraphicFramePr>
        <p:xfrm>
          <a:off x="4097334" y="1196753"/>
          <a:ext cx="1749569" cy="651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01309" imgH="418918" progId="Equation.DSMT4">
                  <p:embed/>
                </p:oleObj>
              </mc:Choice>
              <mc:Fallback>
                <p:oleObj r:id="rId2" imgW="901309" imgH="418918" progId="Equation.DSMT4">
                  <p:embed/>
                  <p:pic>
                    <p:nvPicPr>
                      <p:cNvPr id="11" name="10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7334" y="1196753"/>
                        <a:ext cx="1749569" cy="6510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0" y="1309424"/>
            <a:ext cx="4644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0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P(x ≤ 33)	= P (                           )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146892" y="1869792"/>
            <a:ext cx="330923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20663" fontAlgn="base">
              <a:spcBef>
                <a:spcPct val="0"/>
              </a:spcBef>
              <a:spcAft>
                <a:spcPct val="0"/>
              </a:spcAft>
            </a:pP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= P (z ≤ 1.52) </a:t>
            </a:r>
            <a:endParaRPr lang="es-PE" sz="2000" dirty="0"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endParaRPr lang="es-MX" sz="2000" dirty="0">
              <a:solidFill>
                <a:srgbClr val="000000"/>
              </a:solidFill>
              <a:latin typeface="Arial" pitchFamily="34" charset="0"/>
              <a:ea typeface="MS Mincho" charset="-128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= 0.5  +  P(0 ≤ z ≤ 1.52) </a:t>
            </a:r>
            <a:endParaRPr lang="es-MX" sz="2000" dirty="0"/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dirty="0"/>
              <a:t>= 0,5   + </a:t>
            </a: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0.4357 =  </a:t>
            </a:r>
            <a:r>
              <a:rPr lang="es-MX" sz="2000" dirty="0">
                <a:solidFill>
                  <a:srgbClr val="FF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0,9357</a:t>
            </a:r>
            <a:endParaRPr lang="es-PE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endParaRPr lang="es-PE" sz="20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5" name="14 Objeto"/>
          <p:cNvGraphicFramePr>
            <a:graphicFrameLocks noChangeAspect="1"/>
          </p:cNvGraphicFramePr>
          <p:nvPr/>
        </p:nvGraphicFramePr>
        <p:xfrm>
          <a:off x="3988134" y="3992579"/>
          <a:ext cx="2395898" cy="625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73200" imgH="419100" progId="Equation.DSMT4">
                  <p:embed/>
                </p:oleObj>
              </mc:Choice>
              <mc:Fallback>
                <p:oleObj r:id="rId4" imgW="1473200" imgH="419100" progId="Equation.DSMT4">
                  <p:embed/>
                  <p:pic>
                    <p:nvPicPr>
                      <p:cNvPr id="15" name="14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8134" y="3992579"/>
                        <a:ext cx="2395898" cy="625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1559114" y="4096524"/>
            <a:ext cx="51129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0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P(28≤ x ≤32)	= P (                                  )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3143673" y="5005626"/>
            <a:ext cx="387798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dirty="0">
                <a:latin typeface="Arial" pitchFamily="34" charset="0"/>
                <a:ea typeface="MS Mincho" charset="-128"/>
                <a:cs typeface="Arial" pitchFamily="34" charset="0"/>
              </a:rPr>
              <a:t>= 2 P (0 ≤ z ≤ 1,01)</a:t>
            </a:r>
            <a:endParaRPr lang="es-PE" sz="2000" dirty="0"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dirty="0">
                <a:latin typeface="Arial" pitchFamily="34" charset="0"/>
                <a:ea typeface="MS Mincho" charset="-128"/>
                <a:cs typeface="Arial" pitchFamily="34" charset="0"/>
              </a:rPr>
              <a:t>= 2(  0.3438 ) =  0.6876  	</a:t>
            </a:r>
            <a:endParaRPr lang="es-PE" sz="2000" dirty="0"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endParaRPr lang="es-PE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3551239" y="2015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3143673" y="4631358"/>
            <a:ext cx="28092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0663" eaLnBrk="0" hangingPunct="0"/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= P (-1.01 ≤ z ≤ 1,01)</a:t>
            </a:r>
            <a:endParaRPr lang="es-PE" sz="2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" name="Group 27">
            <a:extLst>
              <a:ext uri="{FF2B5EF4-FFF2-40B4-BE49-F238E27FC236}">
                <a16:creationId xmlns:a16="http://schemas.microsoft.com/office/drawing/2014/main" id="{A9285904-C537-4C21-A1C1-26258E9CA684}"/>
              </a:ext>
            </a:extLst>
          </p:cNvPr>
          <p:cNvGrpSpPr>
            <a:grpSpLocks/>
          </p:cNvGrpSpPr>
          <p:nvPr/>
        </p:nvGrpSpPr>
        <p:grpSpPr bwMode="auto">
          <a:xfrm>
            <a:off x="8112224" y="1484785"/>
            <a:ext cx="1800200" cy="591045"/>
            <a:chOff x="2781" y="9904"/>
            <a:chExt cx="6300" cy="1534"/>
          </a:xfrm>
        </p:grpSpPr>
        <p:grpSp>
          <p:nvGrpSpPr>
            <p:cNvPr id="20" name="Group 28">
              <a:extLst>
                <a:ext uri="{FF2B5EF4-FFF2-40B4-BE49-F238E27FC236}">
                  <a16:creationId xmlns:a16="http://schemas.microsoft.com/office/drawing/2014/main" id="{2E9626BD-1F6D-4FD8-887B-417335EBD8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1" y="9904"/>
              <a:ext cx="6300" cy="1534"/>
              <a:chOff x="2421" y="6390"/>
              <a:chExt cx="6300" cy="1534"/>
            </a:xfrm>
          </p:grpSpPr>
          <p:sp>
            <p:nvSpPr>
              <p:cNvPr id="30" name="Line 29">
                <a:extLst>
                  <a:ext uri="{FF2B5EF4-FFF2-40B4-BE49-F238E27FC236}">
                    <a16:creationId xmlns:a16="http://schemas.microsoft.com/office/drawing/2014/main" id="{E3B0BFF6-B549-4115-AACC-E882344C2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1" y="7924"/>
                <a:ext cx="6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0FFDF2C1-0EDA-4815-B802-D51E85E6D0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1" y="6390"/>
                <a:ext cx="6120" cy="1354"/>
              </a:xfrm>
              <a:custGeom>
                <a:avLst/>
                <a:gdLst>
                  <a:gd name="T0" fmla="*/ 0 w 6120"/>
                  <a:gd name="T1" fmla="*/ 1354 h 1354"/>
                  <a:gd name="T2" fmla="*/ 1080 w 6120"/>
                  <a:gd name="T3" fmla="*/ 1174 h 1354"/>
                  <a:gd name="T4" fmla="*/ 2094 w 6120"/>
                  <a:gd name="T5" fmla="*/ 510 h 1354"/>
                  <a:gd name="T6" fmla="*/ 2094 w 6120"/>
                  <a:gd name="T7" fmla="*/ 495 h 1354"/>
                  <a:gd name="T8" fmla="*/ 2634 w 6120"/>
                  <a:gd name="T9" fmla="*/ 120 h 1354"/>
                  <a:gd name="T10" fmla="*/ 3054 w 6120"/>
                  <a:gd name="T11" fmla="*/ 0 h 1354"/>
                  <a:gd name="T12" fmla="*/ 3504 w 6120"/>
                  <a:gd name="T13" fmla="*/ 120 h 1354"/>
                  <a:gd name="T14" fmla="*/ 3999 w 6120"/>
                  <a:gd name="T15" fmla="*/ 480 h 1354"/>
                  <a:gd name="T16" fmla="*/ 4794 w 6120"/>
                  <a:gd name="T17" fmla="*/ 1035 h 1354"/>
                  <a:gd name="T18" fmla="*/ 6120 w 6120"/>
                  <a:gd name="T19" fmla="*/ 1354 h 13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120"/>
                  <a:gd name="T31" fmla="*/ 0 h 1354"/>
                  <a:gd name="T32" fmla="*/ 6120 w 6120"/>
                  <a:gd name="T33" fmla="*/ 1354 h 135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120" h="1354">
                    <a:moveTo>
                      <a:pt x="0" y="1354"/>
                    </a:moveTo>
                    <a:cubicBezTo>
                      <a:pt x="375" y="1339"/>
                      <a:pt x="731" y="1315"/>
                      <a:pt x="1080" y="1174"/>
                    </a:cubicBezTo>
                    <a:cubicBezTo>
                      <a:pt x="1429" y="1033"/>
                      <a:pt x="1925" y="623"/>
                      <a:pt x="2094" y="510"/>
                    </a:cubicBezTo>
                    <a:cubicBezTo>
                      <a:pt x="2263" y="397"/>
                      <a:pt x="2004" y="560"/>
                      <a:pt x="2094" y="495"/>
                    </a:cubicBezTo>
                    <a:cubicBezTo>
                      <a:pt x="2184" y="430"/>
                      <a:pt x="2474" y="202"/>
                      <a:pt x="2634" y="120"/>
                    </a:cubicBezTo>
                    <a:cubicBezTo>
                      <a:pt x="2794" y="38"/>
                      <a:pt x="2909" y="0"/>
                      <a:pt x="3054" y="0"/>
                    </a:cubicBezTo>
                    <a:cubicBezTo>
                      <a:pt x="3199" y="0"/>
                      <a:pt x="3347" y="40"/>
                      <a:pt x="3504" y="120"/>
                    </a:cubicBezTo>
                    <a:cubicBezTo>
                      <a:pt x="3661" y="200"/>
                      <a:pt x="3784" y="328"/>
                      <a:pt x="3999" y="480"/>
                    </a:cubicBezTo>
                    <a:cubicBezTo>
                      <a:pt x="4214" y="632"/>
                      <a:pt x="4441" y="889"/>
                      <a:pt x="4794" y="1035"/>
                    </a:cubicBezTo>
                    <a:cubicBezTo>
                      <a:pt x="5147" y="1181"/>
                      <a:pt x="5844" y="1288"/>
                      <a:pt x="6120" y="1354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2" name="Line 31">
                <a:extLst>
                  <a:ext uri="{FF2B5EF4-FFF2-40B4-BE49-F238E27FC236}">
                    <a16:creationId xmlns:a16="http://schemas.microsoft.com/office/drawing/2014/main" id="{6CE1E129-1146-42E2-80D6-5E6CF960D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61" y="6484"/>
                <a:ext cx="0" cy="1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3" name="Line 32">
                <a:extLst>
                  <a:ext uri="{FF2B5EF4-FFF2-40B4-BE49-F238E27FC236}">
                    <a16:creationId xmlns:a16="http://schemas.microsoft.com/office/drawing/2014/main" id="{2090E0C1-E57A-4ECC-932F-695BE59D7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41" y="7024"/>
                <a:ext cx="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</p:grpSp>
        <p:grpSp>
          <p:nvGrpSpPr>
            <p:cNvPr id="21" name="Group 33">
              <a:extLst>
                <a:ext uri="{FF2B5EF4-FFF2-40B4-BE49-F238E27FC236}">
                  <a16:creationId xmlns:a16="http://schemas.microsoft.com/office/drawing/2014/main" id="{E5B0B939-DDBE-492B-B93E-A86AFFDEAF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1" y="10084"/>
              <a:ext cx="3780" cy="1260"/>
              <a:chOff x="3321" y="10084"/>
              <a:chExt cx="3780" cy="1260"/>
            </a:xfrm>
          </p:grpSpPr>
          <p:sp>
            <p:nvSpPr>
              <p:cNvPr id="22" name="Line 34">
                <a:extLst>
                  <a:ext uri="{FF2B5EF4-FFF2-40B4-BE49-F238E27FC236}">
                    <a16:creationId xmlns:a16="http://schemas.microsoft.com/office/drawing/2014/main" id="{B5566AC9-2772-4574-8F2F-9A3C536F50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1" y="11344"/>
                <a:ext cx="37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3" name="Line 35">
                <a:extLst>
                  <a:ext uri="{FF2B5EF4-FFF2-40B4-BE49-F238E27FC236}">
                    <a16:creationId xmlns:a16="http://schemas.microsoft.com/office/drawing/2014/main" id="{B325EF95-19D8-497B-ACC0-C094C3AA21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1" y="10984"/>
                <a:ext cx="28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4" name="Line 36">
                <a:extLst>
                  <a:ext uri="{FF2B5EF4-FFF2-40B4-BE49-F238E27FC236}">
                    <a16:creationId xmlns:a16="http://schemas.microsoft.com/office/drawing/2014/main" id="{CB13DDB7-149E-4D14-B89E-40E9F847F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81" y="10804"/>
                <a:ext cx="252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5" name="Line 37">
                <a:extLst>
                  <a:ext uri="{FF2B5EF4-FFF2-40B4-BE49-F238E27FC236}">
                    <a16:creationId xmlns:a16="http://schemas.microsoft.com/office/drawing/2014/main" id="{3BB6F850-4799-456D-A9E0-F68393122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1" y="11164"/>
                <a:ext cx="324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6" name="Line 38">
                <a:extLst>
                  <a:ext uri="{FF2B5EF4-FFF2-40B4-BE49-F238E27FC236}">
                    <a16:creationId xmlns:a16="http://schemas.microsoft.com/office/drawing/2014/main" id="{334A9C3C-3675-4F50-9F39-EF6F83EC66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10624"/>
                <a:ext cx="234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7" name="Line 39">
                <a:extLst>
                  <a:ext uri="{FF2B5EF4-FFF2-40B4-BE49-F238E27FC236}">
                    <a16:creationId xmlns:a16="http://schemas.microsoft.com/office/drawing/2014/main" id="{155FC89A-9E0F-4330-A481-0F2282EE1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1" y="10444"/>
                <a:ext cx="180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8" name="Line 40">
                <a:extLst>
                  <a:ext uri="{FF2B5EF4-FFF2-40B4-BE49-F238E27FC236}">
                    <a16:creationId xmlns:a16="http://schemas.microsoft.com/office/drawing/2014/main" id="{64A5D8C2-26B9-4702-8437-E3CFB8E6A8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1" y="10264"/>
                <a:ext cx="144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9" name="Line 41">
                <a:extLst>
                  <a:ext uri="{FF2B5EF4-FFF2-40B4-BE49-F238E27FC236}">
                    <a16:creationId xmlns:a16="http://schemas.microsoft.com/office/drawing/2014/main" id="{3FCFF850-F2FE-4DD1-86D8-374A5397B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1" y="10084"/>
                <a:ext cx="10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PE"/>
              </a:p>
            </p:txBody>
          </p:sp>
        </p:grpSp>
      </p:grpSp>
      <p:pic>
        <p:nvPicPr>
          <p:cNvPr id="34" name="Imagen 29">
            <a:extLst>
              <a:ext uri="{FF2B5EF4-FFF2-40B4-BE49-F238E27FC236}">
                <a16:creationId xmlns:a16="http://schemas.microsoft.com/office/drawing/2014/main" id="{E3C2CBC4-18B0-40D3-AAE2-DCD336D1F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8986607" y="4418446"/>
            <a:ext cx="2124075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9">
            <a:extLst>
              <a:ext uri="{FF2B5EF4-FFF2-40B4-BE49-F238E27FC236}">
                <a16:creationId xmlns:a16="http://schemas.microsoft.com/office/drawing/2014/main" id="{AB0522A3-025C-EB12-B6D6-31E7DC7A2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 flipH="1">
            <a:off x="6573830" y="4418446"/>
            <a:ext cx="1748768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29">
            <a:extLst>
              <a:ext uri="{FF2B5EF4-FFF2-40B4-BE49-F238E27FC236}">
                <a16:creationId xmlns:a16="http://schemas.microsoft.com/office/drawing/2014/main" id="{3A15B026-08CC-594B-44C5-56B8F35FC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6560147" y="4418446"/>
            <a:ext cx="178050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6E6181E-4E78-D09F-2FC8-CC36AB0DAD78}"/>
              </a:ext>
            </a:extLst>
          </p:cNvPr>
          <p:cNvSpPr txBox="1"/>
          <p:nvPr/>
        </p:nvSpPr>
        <p:spPr>
          <a:xfrm>
            <a:off x="8369683" y="4579232"/>
            <a:ext cx="1763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=   2*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16865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/>
        </p:nvGraphicFramePr>
        <p:xfrm>
          <a:off x="4855446" y="1268761"/>
          <a:ext cx="2629339" cy="74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85900" imgH="419100" progId="Equation.DSMT4">
                  <p:embed/>
                </p:oleObj>
              </mc:Choice>
              <mc:Fallback>
                <p:oleObj r:id="rId2" imgW="1485900" imgH="419100" progId="Equation.DSMT4">
                  <p:embed/>
                  <p:pic>
                    <p:nvPicPr>
                      <p:cNvPr id="6" name="5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5446" y="1268761"/>
                        <a:ext cx="2629339" cy="7447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8"/>
          <p:cNvGrpSpPr>
            <a:grpSpLocks/>
          </p:cNvGrpSpPr>
          <p:nvPr/>
        </p:nvGrpSpPr>
        <p:grpSpPr bwMode="auto">
          <a:xfrm>
            <a:off x="4791075" y="3340672"/>
            <a:ext cx="2120264" cy="1384472"/>
            <a:chOff x="2362200" y="4419600"/>
            <a:chExt cx="2614" cy="1260"/>
          </a:xfrm>
        </p:grpSpPr>
        <p:pic>
          <p:nvPicPr>
            <p:cNvPr id="8" name="Picture 3" descr="normal_caso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362200" y="4419600"/>
              <a:ext cx="2614" cy="12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2362248" y="4419648"/>
              <a:ext cx="1968" cy="238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just"/>
              <a:r>
                <a:rPr lang="es-PE" sz="1100">
                  <a:latin typeface="Times New Roman"/>
                  <a:ea typeface="Times New Roman"/>
                </a:rPr>
                <a:t> </a:t>
              </a:r>
              <a:endParaRPr lang="es-PE" sz="1100">
                <a:latin typeface="Times New Roman"/>
                <a:ea typeface="Calibri"/>
              </a:endParaRPr>
            </a:p>
          </p:txBody>
        </p:sp>
      </p:grp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8400257" y="3159224"/>
            <a:ext cx="2074863" cy="1565920"/>
            <a:chOff x="2438400" y="990600"/>
            <a:chExt cx="2614" cy="1260"/>
          </a:xfrm>
        </p:grpSpPr>
        <p:pic>
          <p:nvPicPr>
            <p:cNvPr id="11" name="Picture 4" descr="normal_caso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438400" y="990600"/>
              <a:ext cx="2614" cy="12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2438448" y="990600"/>
              <a:ext cx="1968" cy="211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just"/>
              <a:r>
                <a:rPr lang="es-PE" sz="1100">
                  <a:latin typeface="Times New Roman"/>
                  <a:ea typeface="Times New Roman"/>
                </a:rPr>
                <a:t> </a:t>
              </a:r>
              <a:endParaRPr lang="es-PE" sz="1100">
                <a:latin typeface="Times New Roman"/>
                <a:ea typeface="Calibri"/>
              </a:endParaRPr>
            </a:p>
          </p:txBody>
        </p:sp>
      </p:grpSp>
      <p:cxnSp>
        <p:nvCxnSpPr>
          <p:cNvPr id="13" name="AutoShape 3056"/>
          <p:cNvCxnSpPr>
            <a:cxnSpLocks noChangeShapeType="1"/>
          </p:cNvCxnSpPr>
          <p:nvPr/>
        </p:nvCxnSpPr>
        <p:spPr bwMode="auto">
          <a:xfrm>
            <a:off x="3971132" y="5517232"/>
            <a:ext cx="446722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3057"/>
          <p:cNvCxnSpPr>
            <a:cxnSpLocks noChangeShapeType="1"/>
          </p:cNvCxnSpPr>
          <p:nvPr/>
        </p:nvCxnSpPr>
        <p:spPr bwMode="auto">
          <a:xfrm>
            <a:off x="3879854" y="5217194"/>
            <a:ext cx="0" cy="2762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3058"/>
          <p:cNvCxnSpPr>
            <a:cxnSpLocks noChangeShapeType="1"/>
          </p:cNvCxnSpPr>
          <p:nvPr/>
        </p:nvCxnSpPr>
        <p:spPr bwMode="auto">
          <a:xfrm>
            <a:off x="8443799" y="5193381"/>
            <a:ext cx="0" cy="3238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3059"/>
          <p:cNvCxnSpPr>
            <a:cxnSpLocks noChangeShapeType="1"/>
          </p:cNvCxnSpPr>
          <p:nvPr/>
        </p:nvCxnSpPr>
        <p:spPr bwMode="auto">
          <a:xfrm>
            <a:off x="6251569" y="5235201"/>
            <a:ext cx="9525" cy="2762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AutoShape 3061"/>
          <p:cNvSpPr>
            <a:spLocks/>
          </p:cNvSpPr>
          <p:nvPr/>
        </p:nvSpPr>
        <p:spPr bwMode="auto">
          <a:xfrm rot="5400000">
            <a:off x="7353581" y="4669012"/>
            <a:ext cx="119384" cy="1973967"/>
          </a:xfrm>
          <a:prstGeom prst="rightBrace">
            <a:avLst>
              <a:gd name="adj1" fmla="val 14694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PE"/>
          </a:p>
        </p:txBody>
      </p:sp>
      <p:sp>
        <p:nvSpPr>
          <p:cNvPr id="18" name="AutoShape 3062"/>
          <p:cNvSpPr>
            <a:spLocks/>
          </p:cNvSpPr>
          <p:nvPr/>
        </p:nvSpPr>
        <p:spPr bwMode="auto">
          <a:xfrm rot="5400000">
            <a:off x="5002603" y="4564835"/>
            <a:ext cx="119380" cy="2182325"/>
          </a:xfrm>
          <a:prstGeom prst="rightBrace">
            <a:avLst>
              <a:gd name="adj1" fmla="val 16090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PE"/>
          </a:p>
        </p:txBody>
      </p:sp>
      <p:sp>
        <p:nvSpPr>
          <p:cNvPr id="19" name="Oval 3063"/>
          <p:cNvSpPr>
            <a:spLocks noChangeArrowheads="1"/>
          </p:cNvSpPr>
          <p:nvPr/>
        </p:nvSpPr>
        <p:spPr bwMode="auto">
          <a:xfrm>
            <a:off x="3880326" y="5271771"/>
            <a:ext cx="90805" cy="90805"/>
          </a:xfrm>
          <a:prstGeom prst="ellipse">
            <a:avLst/>
          </a:prstGeom>
          <a:solidFill>
            <a:schemeClr val="accent2">
              <a:lumMod val="100000"/>
              <a:lumOff val="0"/>
            </a:schemeClr>
          </a:solidFill>
          <a:ln w="38100" cmpd="sng">
            <a:solidFill>
              <a:schemeClr val="lt1">
                <a:lumMod val="95000"/>
                <a:lumOff val="0"/>
              </a:schemeClr>
            </a:solidFill>
            <a:prstDash val="solid"/>
            <a:round/>
            <a:headEnd/>
            <a:tailEnd/>
          </a:ln>
          <a:effectLst>
            <a:outerShdw dist="28398" dir="3806097" algn="ctr" rotWithShape="0">
              <a:schemeClr val="accent2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PE"/>
          </a:p>
        </p:txBody>
      </p:sp>
      <p:sp>
        <p:nvSpPr>
          <p:cNvPr id="20" name="Oval 3064"/>
          <p:cNvSpPr>
            <a:spLocks noChangeArrowheads="1"/>
          </p:cNvSpPr>
          <p:nvPr/>
        </p:nvSpPr>
        <p:spPr bwMode="auto">
          <a:xfrm>
            <a:off x="5016891" y="5426428"/>
            <a:ext cx="90805" cy="90805"/>
          </a:xfrm>
          <a:prstGeom prst="ellipse">
            <a:avLst/>
          </a:prstGeom>
          <a:solidFill>
            <a:schemeClr val="accent2">
              <a:lumMod val="100000"/>
              <a:lumOff val="0"/>
            </a:schemeClr>
          </a:solidFill>
          <a:ln w="38100" cmpd="sng">
            <a:solidFill>
              <a:schemeClr val="lt1">
                <a:lumMod val="95000"/>
                <a:lumOff val="0"/>
              </a:schemeClr>
            </a:solidFill>
            <a:prstDash val="solid"/>
            <a:round/>
            <a:headEnd/>
            <a:tailEnd/>
          </a:ln>
          <a:effectLst>
            <a:outerShdw dist="28398" dir="3806097" algn="ctr" rotWithShape="0">
              <a:schemeClr val="accent2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PE"/>
          </a:p>
        </p:txBody>
      </p:sp>
      <p:sp>
        <p:nvSpPr>
          <p:cNvPr id="21" name="Oval 3065"/>
          <p:cNvSpPr>
            <a:spLocks noChangeArrowheads="1"/>
          </p:cNvSpPr>
          <p:nvPr/>
        </p:nvSpPr>
        <p:spPr bwMode="auto">
          <a:xfrm>
            <a:off x="8390365" y="5429920"/>
            <a:ext cx="90805" cy="90805"/>
          </a:xfrm>
          <a:prstGeom prst="ellipse">
            <a:avLst/>
          </a:prstGeom>
          <a:solidFill>
            <a:schemeClr val="accent2">
              <a:lumMod val="100000"/>
              <a:lumOff val="0"/>
            </a:schemeClr>
          </a:solidFill>
          <a:ln w="38100" cmpd="sng">
            <a:solidFill>
              <a:schemeClr val="lt1">
                <a:lumMod val="95000"/>
                <a:lumOff val="0"/>
              </a:schemeClr>
            </a:solidFill>
            <a:prstDash val="solid"/>
            <a:round/>
            <a:headEnd/>
            <a:tailEnd/>
          </a:ln>
          <a:effectLst>
            <a:outerShdw dist="28398" dir="3806097" algn="ctr" rotWithShape="0">
              <a:schemeClr val="accent2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PE"/>
          </a:p>
        </p:txBody>
      </p:sp>
      <p:sp>
        <p:nvSpPr>
          <p:cNvPr id="22" name="Oval 3066"/>
          <p:cNvSpPr>
            <a:spLocks noChangeArrowheads="1"/>
          </p:cNvSpPr>
          <p:nvPr/>
        </p:nvSpPr>
        <p:spPr bwMode="auto">
          <a:xfrm>
            <a:off x="6206167" y="5426427"/>
            <a:ext cx="90805" cy="90805"/>
          </a:xfrm>
          <a:prstGeom prst="ellipse">
            <a:avLst/>
          </a:prstGeom>
          <a:solidFill>
            <a:schemeClr val="accent2">
              <a:lumMod val="100000"/>
              <a:lumOff val="0"/>
            </a:schemeClr>
          </a:solidFill>
          <a:ln w="38100" cmpd="sng">
            <a:solidFill>
              <a:schemeClr val="lt1">
                <a:lumMod val="95000"/>
                <a:lumOff val="0"/>
              </a:schemeClr>
            </a:solidFill>
            <a:prstDash val="solid"/>
            <a:round/>
            <a:headEnd/>
            <a:tailEnd/>
          </a:ln>
          <a:effectLst>
            <a:outerShdw dist="28398" dir="3806097" algn="ctr" rotWithShape="0">
              <a:schemeClr val="accent2">
                <a:lumMod val="50000"/>
                <a:lumOff val="0"/>
                <a:alpha val="50000"/>
              </a:scheme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PE"/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1705582" y="507512"/>
            <a:ext cx="3922567" cy="2153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584" tIns="914112" rIns="685584" bIns="914112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0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P(27≤ x ≤29)	= P (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3867608" y="1879038"/>
            <a:ext cx="582582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8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= P (-1,52 ≤ z ≤ -0,51) </a:t>
            </a:r>
            <a:endParaRPr lang="es-PE" sz="2800" dirty="0"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8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= P (0 ≤ z≤ 1.52) - P (0≤  z ≤ 0.51)</a:t>
            </a:r>
            <a:endParaRPr lang="es-PE" sz="2800" dirty="0"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800" dirty="0">
                <a:solidFill>
                  <a:srgbClr val="00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= 0,4357 - 0,1950 =   </a:t>
            </a:r>
            <a:r>
              <a:rPr lang="es-MX" sz="2800" dirty="0">
                <a:solidFill>
                  <a:srgbClr val="FF0000"/>
                </a:solidFill>
                <a:latin typeface="Arial" pitchFamily="34" charset="0"/>
                <a:ea typeface="MS Mincho" charset="-128"/>
                <a:cs typeface="Arial" pitchFamily="34" charset="0"/>
              </a:rPr>
              <a:t>0.2407      </a:t>
            </a:r>
            <a:endParaRPr lang="es-PE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indent="220663" eaLnBrk="0" fontAlgn="base" hangingPunct="0">
              <a:spcBef>
                <a:spcPct val="0"/>
              </a:spcBef>
              <a:spcAft>
                <a:spcPct val="0"/>
              </a:spcAft>
            </a:pPr>
            <a:endParaRPr lang="es-PE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676401" y="2891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1676401" y="5177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1507383" y="5146158"/>
            <a:ext cx="89677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dirty="0">
                <a:latin typeface="Arial Narrow" pitchFamily="34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es-PE" b="1" dirty="0">
                <a:latin typeface="Arial Narrow" pitchFamily="34" charset="0"/>
                <a:ea typeface="Calibri" pitchFamily="34" charset="0"/>
                <a:cs typeface="Times New Roman" pitchFamily="18" charset="0"/>
              </a:rPr>
              <a:t>		POCO PROBABLE               MUY PROBABLE</a:t>
            </a:r>
            <a:endParaRPr lang="es-PE" b="1" dirty="0">
              <a:latin typeface="Arial Narrow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b="1" dirty="0">
                <a:latin typeface="Arial Narrow" pitchFamily="34" charset="0"/>
                <a:ea typeface="Calibri" pitchFamily="34" charset="0"/>
                <a:cs typeface="Times New Roman" pitchFamily="18" charset="0"/>
              </a:rPr>
              <a:t>   		         0 			0.5		         1</a:t>
            </a:r>
            <a:endParaRPr lang="es-PE" b="1" dirty="0">
              <a:latin typeface="Arial Narrow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b="1" dirty="0">
                <a:latin typeface="Arial Narrow" pitchFamily="34" charset="0"/>
                <a:ea typeface="Calibri" pitchFamily="34" charset="0"/>
                <a:cs typeface="Times New Roman" pitchFamily="18" charset="0"/>
              </a:rPr>
              <a:t>                             FRACASO		        </a:t>
            </a:r>
            <a:r>
              <a:rPr lang="es-PE" b="1" dirty="0" err="1">
                <a:latin typeface="Arial Narrow" pitchFamily="34" charset="0"/>
                <a:ea typeface="Calibri" pitchFamily="34" charset="0"/>
                <a:cs typeface="Times New Roman" pitchFamily="18" charset="0"/>
              </a:rPr>
              <a:t>equi</a:t>
            </a:r>
            <a:r>
              <a:rPr lang="es-PE" b="1" dirty="0">
                <a:latin typeface="Arial Narrow" pitchFamily="34" charset="0"/>
                <a:ea typeface="Calibri" pitchFamily="34" charset="0"/>
                <a:cs typeface="Times New Roman" pitchFamily="18" charset="0"/>
              </a:rPr>
              <a:t> probable	 	    ÉXITO</a:t>
            </a:r>
            <a:endParaRPr lang="es-PE" b="1" dirty="0">
              <a:latin typeface="Arial Narrow" pitchFamily="34" charset="0"/>
              <a:cs typeface="Arial" pitchFamily="34" charset="0"/>
            </a:endParaRPr>
          </a:p>
        </p:txBody>
      </p:sp>
      <p:cxnSp>
        <p:nvCxnSpPr>
          <p:cNvPr id="29" name="28 Conector recto"/>
          <p:cNvCxnSpPr/>
          <p:nvPr/>
        </p:nvCxnSpPr>
        <p:spPr bwMode="auto">
          <a:xfrm>
            <a:off x="3867608" y="5517232"/>
            <a:ext cx="467666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14300E2-38AA-09A1-5D34-71086FEDD42C}"/>
              </a:ext>
            </a:extLst>
          </p:cNvPr>
          <p:cNvSpPr txBox="1"/>
          <p:nvPr/>
        </p:nvSpPr>
        <p:spPr>
          <a:xfrm>
            <a:off x="7359024" y="3771298"/>
            <a:ext cx="37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=   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10244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6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0" y="-14590"/>
          <a:ext cx="9144002" cy="6894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97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z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0.0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0,00000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0,00399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0,00798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0,01197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0,01595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0,01994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0,02392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0,0279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0,03188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0,03586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0,03983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0,0438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0,04776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0,05172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0,05567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0,05962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0,06356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0,06749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0,07142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0,07535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0,07926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0,08317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0,08706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0,09095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0,09483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0,09871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0,10257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0,10642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0,11026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0,11409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0,11791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0,12172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0,12552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0,1293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0,13307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0,13683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0,14058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0,14431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0,14803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0,15173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0,15542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0,1591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0,16276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0,1664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0,17003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0,17364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0,17724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0,18082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0,18439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0,18793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0,19146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0,19497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0,19847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0,20194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0,2054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0,20884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0,21226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0,21566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0,21904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0,2224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0,22575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0,22907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0,23237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0,23565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0,23891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0,24215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0,24537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0,24857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0,25175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0,2549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0,25804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0,26115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0,26424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0,2673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0,27035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0,27337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0,27637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0,27935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0,2823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0,28524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0,28814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0,29103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0,29389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0,29673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0,29955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0,30234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0,30511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0,30785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0,31057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0,31327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0,31594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0,31859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0,32121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0,32381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0,32639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0,32894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0,33147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0,33398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0,33646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0,33891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0,34134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0,34375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0,34614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0,34849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0,35083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0,35314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0,35543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0,35769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0,35993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0,36214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0,36433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0,3665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0,36864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0,37076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0,37286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0,37493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0,37698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0,38298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0,38493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0,38686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0,38877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0,39065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0,39251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0,39435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0,39617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0,39796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0,39973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0,40147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0,4032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0,40658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0,40824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0,40988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0,41149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0,41308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0,41466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0,41621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0,41774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0,41924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0,42073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0,4222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0,42364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0,42507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0,42647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0,42785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0,42922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0,43056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0,43189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0,43319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0,43448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0,43574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0,43699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0,43822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0,43943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0,44062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0,44179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0,44295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0,44408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0,4463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0,44738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0,44845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0,4495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0,45053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0,45154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0,45254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0,45352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0,45449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0,45543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0,45637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0,45728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0,45818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0,45907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0,45994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0,4608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0,46164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0,46246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0,46327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0,46407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0,46485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0,46562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0,46638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0,46712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0,46784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0,46856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0,46926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0,46995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0,47062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1,9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0,47128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0,47193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0,47257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0,4732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0,47381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0,47441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0,47558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0,47615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0,4767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0,47725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0,47778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0,47831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0,47882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0,47932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0,47982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0,48077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0,48124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0,48169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0,48214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0,48257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0,48341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0,48382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0,48422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0,48461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0,48537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0,48574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0,48645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0,48679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0,48713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0,48745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0,48778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0,48809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0,4884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0,4887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0,48899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0,48928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0,48956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0,48983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0,4901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0,49036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0,49061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0,49086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0,49111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0,49134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0,49158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0,4918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0,49202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0,49245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0,49266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0,49286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0,49305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0,49396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0,49413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0,49477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0,49492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0,49506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0,49547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0,49598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0,49609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0,49621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0,49632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0,49643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0,49653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0,49693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0,49702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0,49711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0,49728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0,49736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0,49744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0,49767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0,49795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0,49801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0,49807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2,9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0,49813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0,49819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0,49825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0,49831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0,49836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0,49841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0,49851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0,49856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0,49869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0,49896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0,49903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0,49906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0,49913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0,49916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0,49918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0,49921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0,49924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0,49926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0,49929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0,49931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0,49934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0,49936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0,49938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0,49948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0,49958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0,49969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0,49979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0,49989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0,49991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0,49992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0,49993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3,9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0,49995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0,49996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4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0,49997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0,49998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>
                          <a:effectLst/>
                        </a:rPr>
                        <a:t>0,49998</a:t>
                      </a:r>
                      <a:endParaRPr lang="es-PE" sz="1000" b="1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b="1" dirty="0">
                          <a:effectLst/>
                        </a:rPr>
                        <a:t>0,49998</a:t>
                      </a:r>
                      <a:endParaRPr lang="es-PE" sz="1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643" marR="25643" marT="0" marB="0" anchor="b"/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</a:tbl>
          </a:graphicData>
        </a:graphic>
      </p:graphicFrame>
      <p:pic>
        <p:nvPicPr>
          <p:cNvPr id="131073" name="Imagen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6"/>
          <a:stretch>
            <a:fillRect/>
          </a:stretch>
        </p:blipFill>
        <p:spPr bwMode="auto">
          <a:xfrm>
            <a:off x="9144002" y="3441213"/>
            <a:ext cx="2991480" cy="73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6 Objeto"/>
          <p:cNvGraphicFramePr>
            <a:graphicFrameLocks noChangeAspect="1"/>
          </p:cNvGraphicFramePr>
          <p:nvPr/>
        </p:nvGraphicFramePr>
        <p:xfrm>
          <a:off x="9261615" y="2879894"/>
          <a:ext cx="2873867" cy="581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203112" progId="Equation.3">
                  <p:embed/>
                </p:oleObj>
              </mc:Choice>
              <mc:Fallback>
                <p:oleObj name="Ecuación" r:id="rId3" imgW="799753" imgH="203112" progId="Equation.3">
                  <p:embed/>
                  <p:pic>
                    <p:nvPicPr>
                      <p:cNvPr id="7" name="6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1615" y="2879894"/>
                        <a:ext cx="2873867" cy="581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1" y="80346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E">
              <a:solidFill>
                <a:schemeClr val="bg1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4811714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E88196A-76AD-F892-4ECA-A3D035EDBF93}"/>
              </a:ext>
            </a:extLst>
          </p:cNvPr>
          <p:cNvSpPr txBox="1"/>
          <p:nvPr/>
        </p:nvSpPr>
        <p:spPr>
          <a:xfrm>
            <a:off x="10509584" y="4070213"/>
            <a:ext cx="1100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          z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79628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0ABD1E9-2F47-A661-A611-1A48FC3DFFE1}"/>
              </a:ext>
            </a:extLst>
          </p:cNvPr>
          <p:cNvSpPr txBox="1"/>
          <p:nvPr/>
        </p:nvSpPr>
        <p:spPr>
          <a:xfrm>
            <a:off x="0" y="1232896"/>
            <a:ext cx="6102848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1. Construcción de una planta de producción</a:t>
            </a:r>
          </a:p>
          <a:p>
            <a:r>
              <a:rPr lang="es-ES" dirty="0"/>
              <a:t>Una empresa planea construir una planta en 120 días calendario. Las actividades y sus estimaciones son: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B621375-5130-7C33-2E4B-2290AFF03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833133"/>
              </p:ext>
            </p:extLst>
          </p:nvPr>
        </p:nvGraphicFramePr>
        <p:xfrm>
          <a:off x="0" y="2172311"/>
          <a:ext cx="6096001" cy="2687363"/>
        </p:xfrm>
        <a:graphic>
          <a:graphicData uri="http://schemas.openxmlformats.org/drawingml/2006/table">
            <a:tbl>
              <a:tblPr/>
              <a:tblGrid>
                <a:gridCol w="1098124">
                  <a:extLst>
                    <a:ext uri="{9D8B030D-6E8A-4147-A177-3AD203B41FA5}">
                      <a16:colId xmlns:a16="http://schemas.microsoft.com/office/drawing/2014/main" val="2292968446"/>
                    </a:ext>
                  </a:extLst>
                </a:gridCol>
                <a:gridCol w="1467532">
                  <a:extLst>
                    <a:ext uri="{9D8B030D-6E8A-4147-A177-3AD203B41FA5}">
                      <a16:colId xmlns:a16="http://schemas.microsoft.com/office/drawing/2014/main" val="877860751"/>
                    </a:ext>
                  </a:extLst>
                </a:gridCol>
                <a:gridCol w="1190465">
                  <a:extLst>
                    <a:ext uri="{9D8B030D-6E8A-4147-A177-3AD203B41FA5}">
                      <a16:colId xmlns:a16="http://schemas.microsoft.com/office/drawing/2014/main" val="1102836624"/>
                    </a:ext>
                  </a:extLst>
                </a:gridCol>
                <a:gridCol w="1120680">
                  <a:extLst>
                    <a:ext uri="{9D8B030D-6E8A-4147-A177-3AD203B41FA5}">
                      <a16:colId xmlns:a16="http://schemas.microsoft.com/office/drawing/2014/main" val="5740728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572628"/>
                    </a:ext>
                  </a:extLst>
                </a:gridCol>
              </a:tblGrid>
              <a:tr h="383909">
                <a:tc>
                  <a:txBody>
                    <a:bodyPr/>
                    <a:lstStyle/>
                    <a:p>
                      <a:r>
                        <a:rPr lang="es-PE"/>
                        <a:t>Actividad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91503"/>
                  </a:ext>
                </a:extLst>
              </a:tr>
              <a:tr h="383909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804081"/>
                  </a:ext>
                </a:extLst>
              </a:tr>
              <a:tr h="383909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563526"/>
                  </a:ext>
                </a:extLst>
              </a:tr>
              <a:tr h="383909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623954"/>
                  </a:ext>
                </a:extLst>
              </a:tr>
              <a:tr h="383909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B,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22283"/>
                  </a:ext>
                </a:extLst>
              </a:tr>
              <a:tr h="383909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129324"/>
                  </a:ext>
                </a:extLst>
              </a:tr>
              <a:tr h="383909">
                <a:tc>
                  <a:txBody>
                    <a:bodyPr/>
                    <a:lstStyle/>
                    <a:p>
                      <a:r>
                        <a:rPr lang="es-PE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D,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8156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2CE3B4C-80CB-AA32-B020-1BD90AF863A1}"/>
              </a:ext>
            </a:extLst>
          </p:cNvPr>
          <p:cNvSpPr txBox="1"/>
          <p:nvPr/>
        </p:nvSpPr>
        <p:spPr>
          <a:xfrm>
            <a:off x="-6848" y="4859674"/>
            <a:ext cx="6102848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Determinar el tiempo esperado y la varianza de cada actividad.</a:t>
            </a:r>
          </a:p>
          <a:p>
            <a:pPr>
              <a:buFont typeface="+mj-lt"/>
              <a:buAutoNum type="arabicPeriod"/>
            </a:pPr>
            <a:r>
              <a:rPr lang="es-ES" dirty="0"/>
              <a:t>Identificar la ruta crítica y su duración esperada.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Calcular la probabilidad de terminar el proyecto antes de </a:t>
            </a:r>
            <a:r>
              <a:rPr lang="es-ES" b="1" dirty="0"/>
              <a:t>120 días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6100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F68F061-A9AE-2D83-20FF-91DC7922A4B6}"/>
              </a:ext>
            </a:extLst>
          </p:cNvPr>
          <p:cNvSpPr txBox="1"/>
          <p:nvPr/>
        </p:nvSpPr>
        <p:spPr>
          <a:xfrm>
            <a:off x="-6850" y="1265175"/>
            <a:ext cx="610284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2. Proyecto de desarrollo de software ERP</a:t>
            </a:r>
          </a:p>
          <a:p>
            <a:r>
              <a:rPr lang="es-ES" dirty="0"/>
              <a:t>Las estimaciones </a:t>
            </a:r>
            <a:r>
              <a:rPr lang="es-ES" dirty="0" err="1"/>
              <a:t>PERT</a:t>
            </a:r>
            <a:r>
              <a:rPr lang="es-ES" dirty="0"/>
              <a:t> son: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16F625E-C7DD-8995-C169-2B3D4B70C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593302"/>
              </p:ext>
            </p:extLst>
          </p:nvPr>
        </p:nvGraphicFramePr>
        <p:xfrm>
          <a:off x="0" y="1911506"/>
          <a:ext cx="6095998" cy="2600878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798002452"/>
                    </a:ext>
                  </a:extLst>
                </a:gridCol>
                <a:gridCol w="1545386">
                  <a:extLst>
                    <a:ext uri="{9D8B030D-6E8A-4147-A177-3AD203B41FA5}">
                      <a16:colId xmlns:a16="http://schemas.microsoft.com/office/drawing/2014/main" val="2215390692"/>
                    </a:ext>
                  </a:extLst>
                </a:gridCol>
                <a:gridCol w="1032808">
                  <a:extLst>
                    <a:ext uri="{9D8B030D-6E8A-4147-A177-3AD203B41FA5}">
                      <a16:colId xmlns:a16="http://schemas.microsoft.com/office/drawing/2014/main" val="1142276913"/>
                    </a:ext>
                  </a:extLst>
                </a:gridCol>
                <a:gridCol w="1079404">
                  <a:extLst>
                    <a:ext uri="{9D8B030D-6E8A-4147-A177-3AD203B41FA5}">
                      <a16:colId xmlns:a16="http://schemas.microsoft.com/office/drawing/2014/main" val="17011965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11192096"/>
                    </a:ext>
                  </a:extLst>
                </a:gridCol>
              </a:tblGrid>
              <a:tr h="371554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326684"/>
                  </a:ext>
                </a:extLst>
              </a:tr>
              <a:tr h="371554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315645"/>
                  </a:ext>
                </a:extLst>
              </a:tr>
              <a:tr h="371554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50963"/>
                  </a:ext>
                </a:extLst>
              </a:tr>
              <a:tr h="371554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53336"/>
                  </a:ext>
                </a:extLst>
              </a:tr>
              <a:tr h="371554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009530"/>
                  </a:ext>
                </a:extLst>
              </a:tr>
              <a:tr h="371554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958923"/>
                  </a:ext>
                </a:extLst>
              </a:tr>
              <a:tr h="371554">
                <a:tc>
                  <a:txBody>
                    <a:bodyPr/>
                    <a:lstStyle/>
                    <a:p>
                      <a:r>
                        <a:rPr lang="es-PE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D,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904940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8A94DFF-E12C-18D3-7815-7EBE6BA204C6}"/>
              </a:ext>
            </a:extLst>
          </p:cNvPr>
          <p:cNvSpPr txBox="1"/>
          <p:nvPr/>
        </p:nvSpPr>
        <p:spPr>
          <a:xfrm>
            <a:off x="-6850" y="4512384"/>
            <a:ext cx="6102848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Determinar la duración esperada del proyecto.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Calcular la probabilidad de finalizar en </a:t>
            </a:r>
            <a:r>
              <a:rPr lang="es-ES" b="1" dirty="0"/>
              <a:t>30 semanas</a:t>
            </a:r>
            <a:r>
              <a:rPr lang="es-ES" dirty="0"/>
              <a:t>.</a:t>
            </a:r>
          </a:p>
          <a:p>
            <a:pPr>
              <a:buFont typeface="+mj-lt"/>
              <a:buAutoNum type="arabicPeriod"/>
            </a:pPr>
            <a:r>
              <a:rPr lang="es-ES" dirty="0"/>
              <a:t>Analizar el impacto en la probabilidad si el tiempo objetivo se reduce a 27 semanas.</a:t>
            </a:r>
          </a:p>
        </p:txBody>
      </p:sp>
    </p:spTree>
    <p:extLst>
      <p:ext uri="{BB962C8B-B14F-4D97-AF65-F5344CB8AC3E}">
        <p14:creationId xmlns:p14="http://schemas.microsoft.com/office/powerpoint/2010/main" val="2692321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C698334-FA04-3966-3682-D73DDF28ABF1}"/>
              </a:ext>
            </a:extLst>
          </p:cNvPr>
          <p:cNvSpPr txBox="1"/>
          <p:nvPr/>
        </p:nvSpPr>
        <p:spPr>
          <a:xfrm>
            <a:off x="0" y="1346385"/>
            <a:ext cx="610284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3. Ampliación de una carretera</a:t>
            </a:r>
          </a:p>
          <a:p>
            <a:r>
              <a:rPr lang="es-ES" dirty="0"/>
              <a:t>Proyecto de pavimentación con las siguientes actividades: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1597231-D9C1-FB4A-1114-DC923BAD6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787671"/>
              </p:ext>
            </p:extLst>
          </p:nvPr>
        </p:nvGraphicFramePr>
        <p:xfrm>
          <a:off x="0" y="1992716"/>
          <a:ext cx="6102850" cy="2884398"/>
        </p:xfrm>
        <a:graphic>
          <a:graphicData uri="http://schemas.openxmlformats.org/drawingml/2006/table">
            <a:tbl>
              <a:tblPr/>
              <a:tblGrid>
                <a:gridCol w="1220570">
                  <a:extLst>
                    <a:ext uri="{9D8B030D-6E8A-4147-A177-3AD203B41FA5}">
                      <a16:colId xmlns:a16="http://schemas.microsoft.com/office/drawing/2014/main" val="4007366386"/>
                    </a:ext>
                  </a:extLst>
                </a:gridCol>
                <a:gridCol w="1220570">
                  <a:extLst>
                    <a:ext uri="{9D8B030D-6E8A-4147-A177-3AD203B41FA5}">
                      <a16:colId xmlns:a16="http://schemas.microsoft.com/office/drawing/2014/main" val="1131625783"/>
                    </a:ext>
                  </a:extLst>
                </a:gridCol>
                <a:gridCol w="1220570">
                  <a:extLst>
                    <a:ext uri="{9D8B030D-6E8A-4147-A177-3AD203B41FA5}">
                      <a16:colId xmlns:a16="http://schemas.microsoft.com/office/drawing/2014/main" val="1850856755"/>
                    </a:ext>
                  </a:extLst>
                </a:gridCol>
                <a:gridCol w="1220570">
                  <a:extLst>
                    <a:ext uri="{9D8B030D-6E8A-4147-A177-3AD203B41FA5}">
                      <a16:colId xmlns:a16="http://schemas.microsoft.com/office/drawing/2014/main" val="1382230402"/>
                    </a:ext>
                  </a:extLst>
                </a:gridCol>
                <a:gridCol w="1220570">
                  <a:extLst>
                    <a:ext uri="{9D8B030D-6E8A-4147-A177-3AD203B41FA5}">
                      <a16:colId xmlns:a16="http://schemas.microsoft.com/office/drawing/2014/main" val="3971920898"/>
                    </a:ext>
                  </a:extLst>
                </a:gridCol>
              </a:tblGrid>
              <a:tr h="374053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42515"/>
                  </a:ext>
                </a:extLst>
              </a:tr>
              <a:tr h="374053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758026"/>
                  </a:ext>
                </a:extLst>
              </a:tr>
              <a:tr h="374053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070624"/>
                  </a:ext>
                </a:extLst>
              </a:tr>
              <a:tr h="374053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81068"/>
                  </a:ext>
                </a:extLst>
              </a:tr>
              <a:tr h="374053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B,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440647"/>
                  </a:ext>
                </a:extLst>
              </a:tr>
              <a:tr h="374053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850441"/>
                  </a:ext>
                </a:extLst>
              </a:tr>
              <a:tr h="374053">
                <a:tc>
                  <a:txBody>
                    <a:bodyPr/>
                    <a:lstStyle/>
                    <a:p>
                      <a:r>
                        <a:rPr lang="es-PE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D,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84755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57CE7A9-B000-E810-849E-EA78DEAD7C94}"/>
              </a:ext>
            </a:extLst>
          </p:cNvPr>
          <p:cNvSpPr txBox="1"/>
          <p:nvPr/>
        </p:nvSpPr>
        <p:spPr>
          <a:xfrm>
            <a:off x="0" y="4877114"/>
            <a:ext cx="61028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Ruta crítica y duración esperada.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Desviación estándar total.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Probabilidad de terminar en </a:t>
            </a:r>
            <a:r>
              <a:rPr lang="es-ES" b="1" dirty="0"/>
              <a:t>40 días o menos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4638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751CD4-AD38-1349-F23F-D9A741D04F42}"/>
              </a:ext>
            </a:extLst>
          </p:cNvPr>
          <p:cNvSpPr txBox="1"/>
          <p:nvPr/>
        </p:nvSpPr>
        <p:spPr>
          <a:xfrm>
            <a:off x="-6849" y="1342845"/>
            <a:ext cx="610284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dirty="0"/>
              <a:t>PROBLEMA 4. Implementación de un sistema de seguridad industrial</a:t>
            </a: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41AE14-988A-7FAF-A703-7D9848447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52664"/>
              </p:ext>
            </p:extLst>
          </p:nvPr>
        </p:nvGraphicFramePr>
        <p:xfrm>
          <a:off x="0" y="1989176"/>
          <a:ext cx="6102850" cy="2202240"/>
        </p:xfrm>
        <a:graphic>
          <a:graphicData uri="http://schemas.openxmlformats.org/drawingml/2006/table">
            <a:tbl>
              <a:tblPr/>
              <a:tblGrid>
                <a:gridCol w="1220570">
                  <a:extLst>
                    <a:ext uri="{9D8B030D-6E8A-4147-A177-3AD203B41FA5}">
                      <a16:colId xmlns:a16="http://schemas.microsoft.com/office/drawing/2014/main" val="41581746"/>
                    </a:ext>
                  </a:extLst>
                </a:gridCol>
                <a:gridCol w="1584100">
                  <a:extLst>
                    <a:ext uri="{9D8B030D-6E8A-4147-A177-3AD203B41FA5}">
                      <a16:colId xmlns:a16="http://schemas.microsoft.com/office/drawing/2014/main" val="3935078621"/>
                    </a:ext>
                  </a:extLst>
                </a:gridCol>
                <a:gridCol w="857040">
                  <a:extLst>
                    <a:ext uri="{9D8B030D-6E8A-4147-A177-3AD203B41FA5}">
                      <a16:colId xmlns:a16="http://schemas.microsoft.com/office/drawing/2014/main" val="4128711901"/>
                    </a:ext>
                  </a:extLst>
                </a:gridCol>
                <a:gridCol w="1220570">
                  <a:extLst>
                    <a:ext uri="{9D8B030D-6E8A-4147-A177-3AD203B41FA5}">
                      <a16:colId xmlns:a16="http://schemas.microsoft.com/office/drawing/2014/main" val="1093627993"/>
                    </a:ext>
                  </a:extLst>
                </a:gridCol>
                <a:gridCol w="1220570">
                  <a:extLst>
                    <a:ext uri="{9D8B030D-6E8A-4147-A177-3AD203B41FA5}">
                      <a16:colId xmlns:a16="http://schemas.microsoft.com/office/drawing/2014/main" val="1955711627"/>
                    </a:ext>
                  </a:extLst>
                </a:gridCol>
              </a:tblGrid>
              <a:tr h="367040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13072"/>
                  </a:ext>
                </a:extLst>
              </a:tr>
              <a:tr h="367040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859980"/>
                  </a:ext>
                </a:extLst>
              </a:tr>
              <a:tr h="367040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489359"/>
                  </a:ext>
                </a:extLst>
              </a:tr>
              <a:tr h="367040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799486"/>
                  </a:ext>
                </a:extLst>
              </a:tr>
              <a:tr h="367040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6559"/>
                  </a:ext>
                </a:extLst>
              </a:tr>
              <a:tr h="367040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C,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786582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174AB21-FD86-B3D8-0331-B83C223B5230}"/>
              </a:ext>
            </a:extLst>
          </p:cNvPr>
          <p:cNvSpPr txBox="1"/>
          <p:nvPr/>
        </p:nvSpPr>
        <p:spPr>
          <a:xfrm>
            <a:off x="2" y="4191416"/>
            <a:ext cx="61028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Calcular la duración esperada del proyecto.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Calcular la probabilidad de terminar antes de </a:t>
            </a:r>
            <a:r>
              <a:rPr lang="es-ES" b="1" dirty="0"/>
              <a:t>25 días</a:t>
            </a:r>
            <a:r>
              <a:rPr lang="es-ES" dirty="0"/>
              <a:t>.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Determinar qué actividades tienen holgura.</a:t>
            </a:r>
          </a:p>
        </p:txBody>
      </p:sp>
    </p:spTree>
    <p:extLst>
      <p:ext uri="{BB962C8B-B14F-4D97-AF65-F5344CB8AC3E}">
        <p14:creationId xmlns:p14="http://schemas.microsoft.com/office/powerpoint/2010/main" val="462954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F185FAB-E8DB-CE78-5AFE-B914CB0BF0B5}"/>
              </a:ext>
            </a:extLst>
          </p:cNvPr>
          <p:cNvSpPr txBox="1"/>
          <p:nvPr/>
        </p:nvSpPr>
        <p:spPr>
          <a:xfrm>
            <a:off x="-6848" y="1382142"/>
            <a:ext cx="610284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dirty="0"/>
              <a:t>PROBLEMA 5. Proyecto de construcción de un puente</a:t>
            </a: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DC5DDD0-AB10-BD1C-C992-EF9BB3E42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229778"/>
              </p:ext>
            </p:extLst>
          </p:nvPr>
        </p:nvGraphicFramePr>
        <p:xfrm>
          <a:off x="0" y="1751474"/>
          <a:ext cx="6096000" cy="256032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35166791"/>
                    </a:ext>
                  </a:extLst>
                </a:gridCol>
                <a:gridCol w="1554822">
                  <a:extLst>
                    <a:ext uri="{9D8B030D-6E8A-4147-A177-3AD203B41FA5}">
                      <a16:colId xmlns:a16="http://schemas.microsoft.com/office/drawing/2014/main" val="3631253026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3050118407"/>
                    </a:ext>
                  </a:extLst>
                </a:gridCol>
                <a:gridCol w="993169">
                  <a:extLst>
                    <a:ext uri="{9D8B030D-6E8A-4147-A177-3AD203B41FA5}">
                      <a16:colId xmlns:a16="http://schemas.microsoft.com/office/drawing/2014/main" val="33014161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59394416"/>
                    </a:ext>
                  </a:extLst>
                </a:gridCol>
              </a:tblGrid>
              <a:tr h="358900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60327"/>
                  </a:ext>
                </a:extLst>
              </a:tr>
              <a:tr h="358900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003869"/>
                  </a:ext>
                </a:extLst>
              </a:tr>
              <a:tr h="358900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031180"/>
                  </a:ext>
                </a:extLst>
              </a:tr>
              <a:tr h="358900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223"/>
                  </a:ext>
                </a:extLst>
              </a:tr>
              <a:tr h="358900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739213"/>
                  </a:ext>
                </a:extLst>
              </a:tr>
              <a:tr h="358900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655968"/>
                  </a:ext>
                </a:extLst>
              </a:tr>
              <a:tr h="358900">
                <a:tc>
                  <a:txBody>
                    <a:bodyPr/>
                    <a:lstStyle/>
                    <a:p>
                      <a:r>
                        <a:rPr lang="es-PE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D,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24542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7A25206-7818-8B15-4A00-68FD0035B90F}"/>
              </a:ext>
            </a:extLst>
          </p:cNvPr>
          <p:cNvSpPr txBox="1"/>
          <p:nvPr/>
        </p:nvSpPr>
        <p:spPr>
          <a:xfrm>
            <a:off x="0" y="4311794"/>
            <a:ext cx="61028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Ruta crítica.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Duración esperada.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Probabilidad de concluir en </a:t>
            </a:r>
            <a:r>
              <a:rPr lang="es-ES" b="1" dirty="0"/>
              <a:t>40 días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7701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75019DE-0226-9752-E8B5-82F1966DB011}"/>
              </a:ext>
            </a:extLst>
          </p:cNvPr>
          <p:cNvSpPr txBox="1"/>
          <p:nvPr/>
        </p:nvSpPr>
        <p:spPr>
          <a:xfrm>
            <a:off x="0" y="1341046"/>
            <a:ext cx="610284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dirty="0"/>
              <a:t>PROBLEMA 6. Proyecto de instalación de una planta solar</a:t>
            </a: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EF5B018-C9FF-6AA7-F86E-1146F7DE0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065677"/>
              </p:ext>
            </p:extLst>
          </p:nvPr>
        </p:nvGraphicFramePr>
        <p:xfrm>
          <a:off x="0" y="1710378"/>
          <a:ext cx="6096000" cy="2871897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4164335821"/>
                    </a:ext>
                  </a:extLst>
                </a:gridCol>
                <a:gridCol w="1503452">
                  <a:extLst>
                    <a:ext uri="{9D8B030D-6E8A-4147-A177-3AD203B41FA5}">
                      <a16:colId xmlns:a16="http://schemas.microsoft.com/office/drawing/2014/main" val="422697393"/>
                    </a:ext>
                  </a:extLst>
                </a:gridCol>
                <a:gridCol w="1130157">
                  <a:extLst>
                    <a:ext uri="{9D8B030D-6E8A-4147-A177-3AD203B41FA5}">
                      <a16:colId xmlns:a16="http://schemas.microsoft.com/office/drawing/2014/main" val="131868999"/>
                    </a:ext>
                  </a:extLst>
                </a:gridCol>
                <a:gridCol w="1023991">
                  <a:extLst>
                    <a:ext uri="{9D8B030D-6E8A-4147-A177-3AD203B41FA5}">
                      <a16:colId xmlns:a16="http://schemas.microsoft.com/office/drawing/2014/main" val="21798018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48507148"/>
                    </a:ext>
                  </a:extLst>
                </a:gridCol>
              </a:tblGrid>
              <a:tr h="410271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3811"/>
                  </a:ext>
                </a:extLst>
              </a:tr>
              <a:tr h="410271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813152"/>
                  </a:ext>
                </a:extLst>
              </a:tr>
              <a:tr h="410271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884079"/>
                  </a:ext>
                </a:extLst>
              </a:tr>
              <a:tr h="410271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A,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187325"/>
                  </a:ext>
                </a:extLst>
              </a:tr>
              <a:tr h="410271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706265"/>
                  </a:ext>
                </a:extLst>
              </a:tr>
              <a:tr h="410271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291803"/>
                  </a:ext>
                </a:extLst>
              </a:tr>
              <a:tr h="410271">
                <a:tc>
                  <a:txBody>
                    <a:bodyPr/>
                    <a:lstStyle/>
                    <a:p>
                      <a:r>
                        <a:rPr lang="es-PE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83490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16F2956-2F83-E005-7186-D0B9EAA9CCB0}"/>
              </a:ext>
            </a:extLst>
          </p:cNvPr>
          <p:cNvSpPr txBox="1"/>
          <p:nvPr/>
        </p:nvSpPr>
        <p:spPr>
          <a:xfrm>
            <a:off x="0" y="4582275"/>
            <a:ext cx="60960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Duración esperada y desviación estándar.</a:t>
            </a:r>
          </a:p>
          <a:p>
            <a:pPr>
              <a:buFont typeface="+mj-lt"/>
              <a:buAutoNum type="arabicPeriod"/>
            </a:pPr>
            <a:r>
              <a:rPr lang="es-ES" dirty="0"/>
              <a:t>Probabilidad de cumplir un plazo de </a:t>
            </a:r>
            <a:r>
              <a:rPr lang="es-ES" b="1" dirty="0"/>
              <a:t>45 días</a:t>
            </a:r>
            <a:r>
              <a:rPr lang="es-ES" dirty="0"/>
              <a:t>.</a:t>
            </a:r>
          </a:p>
          <a:p>
            <a:pPr>
              <a:buFont typeface="+mj-lt"/>
              <a:buAutoNum type="arabicPeriod"/>
            </a:pPr>
            <a:r>
              <a:rPr lang="es-ES" dirty="0"/>
              <a:t>Identificar posibles actividades críticas.</a:t>
            </a:r>
          </a:p>
        </p:txBody>
      </p:sp>
    </p:spTree>
    <p:extLst>
      <p:ext uri="{BB962C8B-B14F-4D97-AF65-F5344CB8AC3E}">
        <p14:creationId xmlns:p14="http://schemas.microsoft.com/office/powerpoint/2010/main" val="382810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9153DB7-8077-97C7-9F7B-65E10EBF40EB}"/>
              </a:ext>
            </a:extLst>
          </p:cNvPr>
          <p:cNvSpPr txBox="1"/>
          <p:nvPr/>
        </p:nvSpPr>
        <p:spPr>
          <a:xfrm>
            <a:off x="-6848" y="1351320"/>
            <a:ext cx="610284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dirty="0"/>
              <a:t>PROBLEMA 7. Proyecto de modernización de una universidad</a:t>
            </a: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0CC4BFD-4566-4420-BCC5-11AB7BD76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545504"/>
              </p:ext>
            </p:extLst>
          </p:nvPr>
        </p:nvGraphicFramePr>
        <p:xfrm>
          <a:off x="0" y="1827282"/>
          <a:ext cx="6102850" cy="2734445"/>
        </p:xfrm>
        <a:graphic>
          <a:graphicData uri="http://schemas.openxmlformats.org/drawingml/2006/table">
            <a:tbl>
              <a:tblPr/>
              <a:tblGrid>
                <a:gridCol w="1220570">
                  <a:extLst>
                    <a:ext uri="{9D8B030D-6E8A-4147-A177-3AD203B41FA5}">
                      <a16:colId xmlns:a16="http://schemas.microsoft.com/office/drawing/2014/main" val="2047193983"/>
                    </a:ext>
                  </a:extLst>
                </a:gridCol>
                <a:gridCol w="1481533">
                  <a:extLst>
                    <a:ext uri="{9D8B030D-6E8A-4147-A177-3AD203B41FA5}">
                      <a16:colId xmlns:a16="http://schemas.microsoft.com/office/drawing/2014/main" val="2712296392"/>
                    </a:ext>
                  </a:extLst>
                </a:gridCol>
                <a:gridCol w="1078787">
                  <a:extLst>
                    <a:ext uri="{9D8B030D-6E8A-4147-A177-3AD203B41FA5}">
                      <a16:colId xmlns:a16="http://schemas.microsoft.com/office/drawing/2014/main" val="629821793"/>
                    </a:ext>
                  </a:extLst>
                </a:gridCol>
                <a:gridCol w="1101390">
                  <a:extLst>
                    <a:ext uri="{9D8B030D-6E8A-4147-A177-3AD203B41FA5}">
                      <a16:colId xmlns:a16="http://schemas.microsoft.com/office/drawing/2014/main" val="1685451455"/>
                    </a:ext>
                  </a:extLst>
                </a:gridCol>
                <a:gridCol w="1220570">
                  <a:extLst>
                    <a:ext uri="{9D8B030D-6E8A-4147-A177-3AD203B41FA5}">
                      <a16:colId xmlns:a16="http://schemas.microsoft.com/office/drawing/2014/main" val="140189326"/>
                    </a:ext>
                  </a:extLst>
                </a:gridCol>
              </a:tblGrid>
              <a:tr h="390635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105403"/>
                  </a:ext>
                </a:extLst>
              </a:tr>
              <a:tr h="390635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027449"/>
                  </a:ext>
                </a:extLst>
              </a:tr>
              <a:tr h="390635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025243"/>
                  </a:ext>
                </a:extLst>
              </a:tr>
              <a:tr h="390635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87671"/>
                  </a:ext>
                </a:extLst>
              </a:tr>
              <a:tr h="390635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B,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7042737"/>
                  </a:ext>
                </a:extLst>
              </a:tr>
              <a:tr h="390635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765219"/>
                  </a:ext>
                </a:extLst>
              </a:tr>
              <a:tr h="390635">
                <a:tc>
                  <a:txBody>
                    <a:bodyPr/>
                    <a:lstStyle/>
                    <a:p>
                      <a:r>
                        <a:rPr lang="es-PE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D,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35672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DB0B51B-7AE5-0833-38ED-791633AF1AFF}"/>
              </a:ext>
            </a:extLst>
          </p:cNvPr>
          <p:cNvSpPr txBox="1"/>
          <p:nvPr/>
        </p:nvSpPr>
        <p:spPr>
          <a:xfrm>
            <a:off x="-37672" y="4855614"/>
            <a:ext cx="6133672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Determinar el tiempo total esperado.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Calcular la probabilidad de cumplir con un límite de </a:t>
            </a:r>
            <a:r>
              <a:rPr lang="es-ES" b="1" dirty="0"/>
              <a:t>28 días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Analizar cómo varía la probabilidad si se optimiza una actividad crítica.</a:t>
            </a:r>
          </a:p>
        </p:txBody>
      </p:sp>
    </p:spTree>
    <p:extLst>
      <p:ext uri="{BB962C8B-B14F-4D97-AF65-F5344CB8AC3E}">
        <p14:creationId xmlns:p14="http://schemas.microsoft.com/office/powerpoint/2010/main" val="411428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A52BFC3-A977-47C7-BDCE-5DDF2D3CBF98}"/>
              </a:ext>
            </a:extLst>
          </p:cNvPr>
          <p:cNvSpPr txBox="1"/>
          <p:nvPr/>
        </p:nvSpPr>
        <p:spPr>
          <a:xfrm>
            <a:off x="0" y="1346385"/>
            <a:ext cx="610284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dirty="0"/>
              <a:t>PROBLEMA 8. Proyecto de implementación de una red hidráulica urbana</a:t>
            </a: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735A37D-FEF1-ACD9-1072-A3BE9EC2A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297280"/>
              </p:ext>
            </p:extLst>
          </p:nvPr>
        </p:nvGraphicFramePr>
        <p:xfrm>
          <a:off x="0" y="1992716"/>
          <a:ext cx="6096000" cy="219456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858150631"/>
                    </a:ext>
                  </a:extLst>
                </a:gridCol>
                <a:gridCol w="1482903">
                  <a:extLst>
                    <a:ext uri="{9D8B030D-6E8A-4147-A177-3AD203B41FA5}">
                      <a16:colId xmlns:a16="http://schemas.microsoft.com/office/drawing/2014/main" val="64678323"/>
                    </a:ext>
                  </a:extLst>
                </a:gridCol>
                <a:gridCol w="1140432">
                  <a:extLst>
                    <a:ext uri="{9D8B030D-6E8A-4147-A177-3AD203B41FA5}">
                      <a16:colId xmlns:a16="http://schemas.microsoft.com/office/drawing/2014/main" val="2228172381"/>
                    </a:ext>
                  </a:extLst>
                </a:gridCol>
                <a:gridCol w="1034265">
                  <a:extLst>
                    <a:ext uri="{9D8B030D-6E8A-4147-A177-3AD203B41FA5}">
                      <a16:colId xmlns:a16="http://schemas.microsoft.com/office/drawing/2014/main" val="961597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84771181"/>
                    </a:ext>
                  </a:extLst>
                </a:gridCol>
              </a:tblGrid>
              <a:tr h="357962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665666"/>
                  </a:ext>
                </a:extLst>
              </a:tr>
              <a:tr h="357962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32511"/>
                  </a:ext>
                </a:extLst>
              </a:tr>
              <a:tr h="357962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407920"/>
                  </a:ext>
                </a:extLst>
              </a:tr>
              <a:tr h="357962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488954"/>
                  </a:ext>
                </a:extLst>
              </a:tr>
              <a:tr h="357962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370568"/>
                  </a:ext>
                </a:extLst>
              </a:tr>
              <a:tr h="357962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C,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093169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AA97A7-8561-9E79-C402-84BD71D62FE8}"/>
              </a:ext>
            </a:extLst>
          </p:cNvPr>
          <p:cNvSpPr txBox="1"/>
          <p:nvPr/>
        </p:nvSpPr>
        <p:spPr>
          <a:xfrm>
            <a:off x="-32534" y="4408487"/>
            <a:ext cx="6128534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Calcular los tiempos esperados y varianzas.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Determinar ruta crítica y su desviación estándar.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Calcular la probabilidad de finalizar antes de </a:t>
            </a:r>
            <a:r>
              <a:rPr lang="es-ES" b="1" dirty="0"/>
              <a:t>40 días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131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5446922-AE94-4E07-F2A2-C2159AFBBE74}"/>
              </a:ext>
            </a:extLst>
          </p:cNvPr>
          <p:cNvSpPr txBox="1"/>
          <p:nvPr/>
        </p:nvSpPr>
        <p:spPr>
          <a:xfrm>
            <a:off x="30824" y="1289000"/>
            <a:ext cx="610284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dirty="0"/>
              <a:t>PROBLEMA 9. Proyecto de diseño de un nuevo modelo de zapato deportivo</a:t>
            </a:r>
            <a:endParaRPr lang="es-PE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8467770-FB89-9CF3-21B5-2196E301D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767894"/>
              </p:ext>
            </p:extLst>
          </p:nvPr>
        </p:nvGraphicFramePr>
        <p:xfrm>
          <a:off x="0" y="1931071"/>
          <a:ext cx="6102850" cy="2723119"/>
        </p:xfrm>
        <a:graphic>
          <a:graphicData uri="http://schemas.openxmlformats.org/drawingml/2006/table">
            <a:tbl>
              <a:tblPr/>
              <a:tblGrid>
                <a:gridCol w="1220570">
                  <a:extLst>
                    <a:ext uri="{9D8B030D-6E8A-4147-A177-3AD203B41FA5}">
                      <a16:colId xmlns:a16="http://schemas.microsoft.com/office/drawing/2014/main" val="3498811667"/>
                    </a:ext>
                  </a:extLst>
                </a:gridCol>
                <a:gridCol w="1563727">
                  <a:extLst>
                    <a:ext uri="{9D8B030D-6E8A-4147-A177-3AD203B41FA5}">
                      <a16:colId xmlns:a16="http://schemas.microsoft.com/office/drawing/2014/main" val="2803174089"/>
                    </a:ext>
                  </a:extLst>
                </a:gridCol>
                <a:gridCol w="1017141">
                  <a:extLst>
                    <a:ext uri="{9D8B030D-6E8A-4147-A177-3AD203B41FA5}">
                      <a16:colId xmlns:a16="http://schemas.microsoft.com/office/drawing/2014/main" val="1606059979"/>
                    </a:ext>
                  </a:extLst>
                </a:gridCol>
                <a:gridCol w="1080842">
                  <a:extLst>
                    <a:ext uri="{9D8B030D-6E8A-4147-A177-3AD203B41FA5}">
                      <a16:colId xmlns:a16="http://schemas.microsoft.com/office/drawing/2014/main" val="274865010"/>
                    </a:ext>
                  </a:extLst>
                </a:gridCol>
                <a:gridCol w="1220570">
                  <a:extLst>
                    <a:ext uri="{9D8B030D-6E8A-4147-A177-3AD203B41FA5}">
                      <a16:colId xmlns:a16="http://schemas.microsoft.com/office/drawing/2014/main" val="2670978286"/>
                    </a:ext>
                  </a:extLst>
                </a:gridCol>
              </a:tblGrid>
              <a:tr h="389017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338347"/>
                  </a:ext>
                </a:extLst>
              </a:tr>
              <a:tr h="389017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458583"/>
                  </a:ext>
                </a:extLst>
              </a:tr>
              <a:tr h="389017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15030"/>
                  </a:ext>
                </a:extLst>
              </a:tr>
              <a:tr h="389017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125045"/>
                  </a:ext>
                </a:extLst>
              </a:tr>
              <a:tr h="389017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B,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6031231"/>
                  </a:ext>
                </a:extLst>
              </a:tr>
              <a:tr h="389017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57167"/>
                  </a:ext>
                </a:extLst>
              </a:tr>
              <a:tr h="389017">
                <a:tc>
                  <a:txBody>
                    <a:bodyPr/>
                    <a:lstStyle/>
                    <a:p>
                      <a:r>
                        <a:rPr lang="es-PE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D,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435097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A68D187-7C4B-AC40-DB12-333C9888E2CB}"/>
              </a:ext>
            </a:extLst>
          </p:cNvPr>
          <p:cNvSpPr txBox="1"/>
          <p:nvPr/>
        </p:nvSpPr>
        <p:spPr>
          <a:xfrm>
            <a:off x="0" y="4973095"/>
            <a:ext cx="6133672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Determinar la duración esperada del proyecto.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Probabilidad de terminar antes de </a:t>
            </a:r>
            <a:r>
              <a:rPr lang="es-ES" b="1" dirty="0"/>
              <a:t>45 días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Identificar la ruta crítica y actividades con holgura.</a:t>
            </a:r>
          </a:p>
        </p:txBody>
      </p:sp>
    </p:spTree>
    <p:extLst>
      <p:ext uri="{BB962C8B-B14F-4D97-AF65-F5344CB8AC3E}">
        <p14:creationId xmlns:p14="http://schemas.microsoft.com/office/powerpoint/2010/main" val="2671660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93338AD-9760-68A3-9961-F0C7BCF81855}"/>
              </a:ext>
            </a:extLst>
          </p:cNvPr>
          <p:cNvSpPr txBox="1"/>
          <p:nvPr/>
        </p:nvSpPr>
        <p:spPr>
          <a:xfrm>
            <a:off x="0" y="1346385"/>
            <a:ext cx="610284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dirty="0"/>
              <a:t>PROBLEMA 10. Proyecto de mejora de procesos en planta industrial</a:t>
            </a: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D5407AF-6113-55A8-2CC9-BB80CA5F8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280442"/>
              </p:ext>
            </p:extLst>
          </p:nvPr>
        </p:nvGraphicFramePr>
        <p:xfrm>
          <a:off x="0" y="2096465"/>
          <a:ext cx="6096000" cy="292608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542054485"/>
                    </a:ext>
                  </a:extLst>
                </a:gridCol>
                <a:gridCol w="1595919">
                  <a:extLst>
                    <a:ext uri="{9D8B030D-6E8A-4147-A177-3AD203B41FA5}">
                      <a16:colId xmlns:a16="http://schemas.microsoft.com/office/drawing/2014/main" val="3779053045"/>
                    </a:ext>
                  </a:extLst>
                </a:gridCol>
                <a:gridCol w="1068512">
                  <a:extLst>
                    <a:ext uri="{9D8B030D-6E8A-4147-A177-3AD203B41FA5}">
                      <a16:colId xmlns:a16="http://schemas.microsoft.com/office/drawing/2014/main" val="370634581"/>
                    </a:ext>
                  </a:extLst>
                </a:gridCol>
                <a:gridCol w="993169">
                  <a:extLst>
                    <a:ext uri="{9D8B030D-6E8A-4147-A177-3AD203B41FA5}">
                      <a16:colId xmlns:a16="http://schemas.microsoft.com/office/drawing/2014/main" val="400591688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87391942"/>
                    </a:ext>
                  </a:extLst>
                </a:gridCol>
              </a:tblGrid>
              <a:tr h="355676">
                <a:tc>
                  <a:txBody>
                    <a:bodyPr/>
                    <a:lstStyle/>
                    <a:p>
                      <a:r>
                        <a:rPr lang="es-PE"/>
                        <a:t>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Predecesoras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745242"/>
                  </a:ext>
                </a:extLst>
              </a:tr>
              <a:tr h="355676"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036665"/>
                  </a:ext>
                </a:extLst>
              </a:tr>
              <a:tr h="355676">
                <a:tc>
                  <a:txBody>
                    <a:bodyPr/>
                    <a:lstStyle/>
                    <a:p>
                      <a:r>
                        <a:rPr lang="es-PE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206346"/>
                  </a:ext>
                </a:extLst>
              </a:tr>
              <a:tr h="355676"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994108"/>
                  </a:ext>
                </a:extLst>
              </a:tr>
              <a:tr h="355676"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B,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69073"/>
                  </a:ext>
                </a:extLst>
              </a:tr>
              <a:tr h="355676">
                <a:tc>
                  <a:txBody>
                    <a:bodyPr/>
                    <a:lstStyle/>
                    <a:p>
                      <a:r>
                        <a:rPr lang="es-PE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471870"/>
                  </a:ext>
                </a:extLst>
              </a:tr>
              <a:tr h="355676">
                <a:tc>
                  <a:txBody>
                    <a:bodyPr/>
                    <a:lstStyle/>
                    <a:p>
                      <a:r>
                        <a:rPr lang="es-PE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27179"/>
                  </a:ext>
                </a:extLst>
              </a:tr>
              <a:tr h="355676">
                <a:tc>
                  <a:txBody>
                    <a:bodyPr/>
                    <a:lstStyle/>
                    <a:p>
                      <a:r>
                        <a:rPr lang="es-PE"/>
                        <a:t>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E, 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1116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1906D2E0-5E5B-3292-FE01-18A127490F77}"/>
              </a:ext>
            </a:extLst>
          </p:cNvPr>
          <p:cNvSpPr txBox="1"/>
          <p:nvPr/>
        </p:nvSpPr>
        <p:spPr>
          <a:xfrm>
            <a:off x="0" y="5266580"/>
            <a:ext cx="6128534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Solicitado: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Calcular tiempos esperados, varianzas y desviaciones estándar.</a:t>
            </a:r>
          </a:p>
          <a:p>
            <a:pPr>
              <a:buFont typeface="+mj-lt"/>
              <a:buAutoNum type="arabicPeriod"/>
            </a:pPr>
            <a:r>
              <a:rPr lang="es-ES" dirty="0"/>
              <a:t>Identificar la ruta crítica y su duración esperada.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Calcular la probabilidad de cumplir un plazo de </a:t>
            </a:r>
            <a:r>
              <a:rPr lang="es-ES" b="1" dirty="0"/>
              <a:t>50 días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6958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5532C7C-F8CA-AA14-509D-8EC2DAA54EDE}"/>
              </a:ext>
            </a:extLst>
          </p:cNvPr>
          <p:cNvSpPr txBox="1"/>
          <p:nvPr/>
        </p:nvSpPr>
        <p:spPr>
          <a:xfrm>
            <a:off x="0" y="1232663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11: Implementación de ERP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896FD71-B03A-34FA-60E7-71308D3E5501}"/>
              </a:ext>
            </a:extLst>
          </p:cNvPr>
          <p:cNvSpPr txBox="1"/>
          <p:nvPr/>
        </p:nvSpPr>
        <p:spPr>
          <a:xfrm>
            <a:off x="0" y="4609674"/>
            <a:ext cx="612648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Determine el tiempo esperado y la varianza de cada actividad.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Calcule la duración esperada del proyecto y la ruta crítica.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que el proyecto termine en 35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duración tendría un compromiso con 90% de confianza de finalización?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54553CB-1324-2F4C-73DF-385B06B84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554471"/>
              </p:ext>
            </p:extLst>
          </p:nvPr>
        </p:nvGraphicFramePr>
        <p:xfrm>
          <a:off x="0" y="1783129"/>
          <a:ext cx="6096000" cy="26454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1454924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3536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542531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66932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93980076"/>
                    </a:ext>
                  </a:extLst>
                </a:gridCol>
              </a:tblGrid>
              <a:tr h="41656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 dirty="0">
                          <a:effectLst/>
                        </a:rPr>
                        <a:t>Actividad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Predecesora(s)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a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 dirty="0">
                          <a:effectLst/>
                        </a:rPr>
                        <a:t>m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b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3068821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A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—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2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4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6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73570787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B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A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3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5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9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3657139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C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A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2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3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4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8609488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D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B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4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6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8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8486572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E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B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3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4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7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8979553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F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C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2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5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8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2295731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G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D,E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3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5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9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0062038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H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F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1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2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5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1985275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I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G,H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4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7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10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4675009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J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I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2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>
                          <a:effectLst/>
                        </a:rPr>
                        <a:t>4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u="none" strike="noStrike" dirty="0">
                          <a:effectLst/>
                        </a:rPr>
                        <a:t>6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0645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816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E8D9F64-9FF0-77A6-A034-3E50FA84E533}"/>
              </a:ext>
            </a:extLst>
          </p:cNvPr>
          <p:cNvSpPr txBox="1"/>
          <p:nvPr/>
        </p:nvSpPr>
        <p:spPr>
          <a:xfrm>
            <a:off x="0" y="1348298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12: Construcción de Centro de Distribución</a:t>
            </a:r>
            <a:endParaRPr lang="es-PE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4532255-8B8C-6C65-03DC-3507E814339B}"/>
              </a:ext>
            </a:extLst>
          </p:cNvPr>
          <p:cNvSpPr txBox="1"/>
          <p:nvPr/>
        </p:nvSpPr>
        <p:spPr>
          <a:xfrm>
            <a:off x="-30480" y="4712785"/>
            <a:ext cx="6126480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Calcule los tiempos esperados y varianzas de las actividades.</a:t>
            </a:r>
          </a:p>
          <a:p>
            <a:pPr>
              <a:buFont typeface="+mj-lt"/>
              <a:buAutoNum type="arabicPeriod"/>
            </a:pPr>
            <a:r>
              <a:rPr lang="es-ES" dirty="0"/>
              <a:t>Identifique la ruta crítica y la duración esperada del proyecto.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terminar el proyecto en 32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tiempo debe prometer el gerente para tener una confianza del 95%?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F757C672-DA51-BA5C-F198-C682B0849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629486"/>
              </p:ext>
            </p:extLst>
          </p:nvPr>
        </p:nvGraphicFramePr>
        <p:xfrm>
          <a:off x="156882" y="1717630"/>
          <a:ext cx="593912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824">
                  <a:extLst>
                    <a:ext uri="{9D8B030D-6E8A-4147-A177-3AD203B41FA5}">
                      <a16:colId xmlns:a16="http://schemas.microsoft.com/office/drawing/2014/main" val="1403248910"/>
                    </a:ext>
                  </a:extLst>
                </a:gridCol>
                <a:gridCol w="1187824">
                  <a:extLst>
                    <a:ext uri="{9D8B030D-6E8A-4147-A177-3AD203B41FA5}">
                      <a16:colId xmlns:a16="http://schemas.microsoft.com/office/drawing/2014/main" val="623411574"/>
                    </a:ext>
                  </a:extLst>
                </a:gridCol>
                <a:gridCol w="1187824">
                  <a:extLst>
                    <a:ext uri="{9D8B030D-6E8A-4147-A177-3AD203B41FA5}">
                      <a16:colId xmlns:a16="http://schemas.microsoft.com/office/drawing/2014/main" val="87980144"/>
                    </a:ext>
                  </a:extLst>
                </a:gridCol>
                <a:gridCol w="1187824">
                  <a:extLst>
                    <a:ext uri="{9D8B030D-6E8A-4147-A177-3AD203B41FA5}">
                      <a16:colId xmlns:a16="http://schemas.microsoft.com/office/drawing/2014/main" val="4027181263"/>
                    </a:ext>
                  </a:extLst>
                </a:gridCol>
                <a:gridCol w="1187824">
                  <a:extLst>
                    <a:ext uri="{9D8B030D-6E8A-4147-A177-3AD203B41FA5}">
                      <a16:colId xmlns:a16="http://schemas.microsoft.com/office/drawing/2014/main" val="3176042151"/>
                    </a:ext>
                  </a:extLst>
                </a:gridCol>
              </a:tblGrid>
              <a:tr h="491348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4642730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7853619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729946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2961861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2046135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6496375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0508610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1116765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9037497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1946451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J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5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181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532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DE3B9B1-B6F6-0662-53F6-CEABC50A750A}"/>
              </a:ext>
            </a:extLst>
          </p:cNvPr>
          <p:cNvSpPr txBox="1"/>
          <p:nvPr/>
        </p:nvSpPr>
        <p:spPr>
          <a:xfrm>
            <a:off x="-3586" y="1262237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13: Desarrollo de Aplicación Móvil</a:t>
            </a:r>
            <a:endParaRPr lang="es-PE" b="1" dirty="0"/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0CC70D88-EBEC-B43D-0238-2192DBEC9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293175"/>
              </p:ext>
            </p:extLst>
          </p:nvPr>
        </p:nvGraphicFramePr>
        <p:xfrm>
          <a:off x="0" y="1715845"/>
          <a:ext cx="609600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0365979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506665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530197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0033706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2248483"/>
                    </a:ext>
                  </a:extLst>
                </a:gridCol>
              </a:tblGrid>
              <a:tr h="48089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9964521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772723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2949695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43459028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9312518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7255131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5751233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8108308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4073778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1865214"/>
                  </a:ext>
                </a:extLst>
              </a:tr>
              <a:tr h="24505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J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8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8108396"/>
                  </a:ext>
                </a:extLst>
              </a:tr>
            </a:tbl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91A386A5-3873-ED60-BBA5-42E9907D7102}"/>
              </a:ext>
            </a:extLst>
          </p:cNvPr>
          <p:cNvSpPr txBox="1"/>
          <p:nvPr/>
        </p:nvSpPr>
        <p:spPr>
          <a:xfrm>
            <a:off x="0" y="4830976"/>
            <a:ext cx="612648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Obtenga el tiempo esperado y la desviación estándar de cada actividad.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Determine la ruta crítica y la duración esperada total.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finalizar en 34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el tiempo correspondiente al percentil 85% de finalización?</a:t>
            </a:r>
          </a:p>
        </p:txBody>
      </p:sp>
    </p:spTree>
    <p:extLst>
      <p:ext uri="{BB962C8B-B14F-4D97-AF65-F5344CB8AC3E}">
        <p14:creationId xmlns:p14="http://schemas.microsoft.com/office/powerpoint/2010/main" val="1576509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EA7377C-2DE7-9BAE-0067-6E9A0064CF74}"/>
              </a:ext>
            </a:extLst>
          </p:cNvPr>
          <p:cNvSpPr txBox="1"/>
          <p:nvPr/>
        </p:nvSpPr>
        <p:spPr>
          <a:xfrm>
            <a:off x="-3586" y="1326783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14: Lanzamiento de Producto</a:t>
            </a:r>
            <a:endParaRPr lang="es-PE" b="1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C000A1B-8046-4BEA-636B-658EB5B87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35630"/>
              </p:ext>
            </p:extLst>
          </p:nvPr>
        </p:nvGraphicFramePr>
        <p:xfrm>
          <a:off x="0" y="1696114"/>
          <a:ext cx="609600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5123574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2543733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836579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3042603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0620689"/>
                    </a:ext>
                  </a:extLst>
                </a:gridCol>
              </a:tblGrid>
              <a:tr h="39683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2950920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6686186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5008339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9832641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4186768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713754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6964164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2506663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8258496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4088248"/>
                  </a:ext>
                </a:extLst>
              </a:tr>
              <a:tr h="198419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J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5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5414463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B51B79A6-82BF-0691-0EA2-FE21553DCD25}"/>
              </a:ext>
            </a:extLst>
          </p:cNvPr>
          <p:cNvSpPr txBox="1"/>
          <p:nvPr/>
        </p:nvSpPr>
        <p:spPr>
          <a:xfrm>
            <a:off x="-30480" y="4851284"/>
            <a:ext cx="6126480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Calcule tiempos esperados y varianzas.</a:t>
            </a:r>
          </a:p>
          <a:p>
            <a:pPr>
              <a:buFont typeface="+mj-lt"/>
              <a:buAutoNum type="arabicPeriod"/>
            </a:pPr>
            <a:r>
              <a:rPr lang="es-ES" dirty="0"/>
              <a:t>Encuentre la ruta crítica y la duración esperada.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terminar en 28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fecha debería comprometerse para una confianza del 80%?</a:t>
            </a:r>
          </a:p>
        </p:txBody>
      </p:sp>
    </p:spTree>
    <p:extLst>
      <p:ext uri="{BB962C8B-B14F-4D97-AF65-F5344CB8AC3E}">
        <p14:creationId xmlns:p14="http://schemas.microsoft.com/office/powerpoint/2010/main" val="2619876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19A4E6A-04E1-CD88-6338-512216E33FF3}"/>
              </a:ext>
            </a:extLst>
          </p:cNvPr>
          <p:cNvSpPr txBox="1"/>
          <p:nvPr/>
        </p:nvSpPr>
        <p:spPr>
          <a:xfrm>
            <a:off x="0" y="1348298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15: Construcción de Planta Industrial</a:t>
            </a:r>
            <a:endParaRPr lang="es-PE" b="1" dirty="0"/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D00C792-BDA4-F5CE-2951-A521C1015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907651"/>
              </p:ext>
            </p:extLst>
          </p:nvPr>
        </p:nvGraphicFramePr>
        <p:xfrm>
          <a:off x="0" y="1833575"/>
          <a:ext cx="609600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418978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9408739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1543452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58084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9817921"/>
                    </a:ext>
                  </a:extLst>
                </a:gridCol>
              </a:tblGrid>
              <a:tr h="40401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2928798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1300426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8911444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5530070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6921074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5820986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2259236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1717261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1802319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820741"/>
                  </a:ext>
                </a:extLst>
              </a:tr>
              <a:tr h="2020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J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7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5270326"/>
                  </a:ext>
                </a:extLst>
              </a:tr>
            </a:tbl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B0495734-B69A-3A62-3A46-C29C51CDE050}"/>
              </a:ext>
            </a:extLst>
          </p:cNvPr>
          <p:cNvSpPr txBox="1"/>
          <p:nvPr/>
        </p:nvSpPr>
        <p:spPr>
          <a:xfrm>
            <a:off x="0" y="4980376"/>
            <a:ext cx="6126480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Determine tiempos esperados y varianzas.</a:t>
            </a:r>
          </a:p>
          <a:p>
            <a:pPr>
              <a:buFont typeface="+mj-lt"/>
              <a:buAutoNum type="arabicPeriod"/>
            </a:pPr>
            <a:r>
              <a:rPr lang="es-ES" dirty="0"/>
              <a:t>Identifique la ruta crítica y la duración esperada.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finalizar en 48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duración garantiza aproximadamente un 90% de probabilidad de cumplimiento?</a:t>
            </a:r>
          </a:p>
        </p:txBody>
      </p:sp>
    </p:spTree>
    <p:extLst>
      <p:ext uri="{BB962C8B-B14F-4D97-AF65-F5344CB8AC3E}">
        <p14:creationId xmlns:p14="http://schemas.microsoft.com/office/powerpoint/2010/main" val="2401685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C3F65C8-D5B0-8D59-558B-1C21322571DC}"/>
              </a:ext>
            </a:extLst>
          </p:cNvPr>
          <p:cNvSpPr txBox="1"/>
          <p:nvPr/>
        </p:nvSpPr>
        <p:spPr>
          <a:xfrm>
            <a:off x="0" y="1305268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16: Implementación de Red de Telecomunicaciones</a:t>
            </a:r>
            <a:endParaRPr lang="es-PE" b="1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5EED502-8DBF-D1E9-FD14-F16CEC185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465490"/>
              </p:ext>
            </p:extLst>
          </p:nvPr>
        </p:nvGraphicFramePr>
        <p:xfrm>
          <a:off x="1793" y="1812060"/>
          <a:ext cx="609600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09317767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6240372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863313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200727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87527028"/>
                    </a:ext>
                  </a:extLst>
                </a:gridCol>
              </a:tblGrid>
              <a:tr h="368152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0975630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9855819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7288073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9132346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348861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5713093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918812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4753157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3420388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8097784"/>
                  </a:ext>
                </a:extLst>
              </a:tr>
              <a:tr h="18407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J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6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8477988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3AF9DF0C-33CB-3B07-6813-CAD380B7881E}"/>
              </a:ext>
            </a:extLst>
          </p:cNvPr>
          <p:cNvSpPr txBox="1"/>
          <p:nvPr/>
        </p:nvSpPr>
        <p:spPr>
          <a:xfrm>
            <a:off x="-30480" y="4980375"/>
            <a:ext cx="6126480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Calcule el tiempo esperado y la desviación estándar de cada actividad.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Determine la ruta crítica y la duración esperada del proyecto.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terminar en 33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duración corresponde a una confianza del 97.5%?</a:t>
            </a:r>
          </a:p>
        </p:txBody>
      </p:sp>
    </p:spTree>
    <p:extLst>
      <p:ext uri="{BB962C8B-B14F-4D97-AF65-F5344CB8AC3E}">
        <p14:creationId xmlns:p14="http://schemas.microsoft.com/office/powerpoint/2010/main" val="1476800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B030A20-4057-C18A-1EEE-CC40265209C4}"/>
              </a:ext>
            </a:extLst>
          </p:cNvPr>
          <p:cNvSpPr txBox="1"/>
          <p:nvPr/>
        </p:nvSpPr>
        <p:spPr>
          <a:xfrm>
            <a:off x="0" y="1316025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17: Organización de Conferencia Internacional</a:t>
            </a:r>
            <a:endParaRPr lang="es-PE" b="1" dirty="0"/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24B969B6-4416-41B5-AAE8-E9B0692F1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470979"/>
              </p:ext>
            </p:extLst>
          </p:nvPr>
        </p:nvGraphicFramePr>
        <p:xfrm>
          <a:off x="0" y="1772456"/>
          <a:ext cx="609600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4399762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586469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2250209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384130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44582162"/>
                    </a:ext>
                  </a:extLst>
                </a:gridCol>
              </a:tblGrid>
              <a:tr h="414768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0594281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4303603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0854618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8536909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967355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2346496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6810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3498741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4229343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6227909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J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3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4036310"/>
                  </a:ext>
                </a:extLst>
              </a:tr>
            </a:tbl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BDBB0C26-52B8-A31C-61C4-B168DF8C9413}"/>
              </a:ext>
            </a:extLst>
          </p:cNvPr>
          <p:cNvSpPr txBox="1"/>
          <p:nvPr/>
        </p:nvSpPr>
        <p:spPr>
          <a:xfrm>
            <a:off x="0" y="4803311"/>
            <a:ext cx="6126480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Determine tiempos esperados y varianzas.</a:t>
            </a:r>
          </a:p>
          <a:p>
            <a:pPr>
              <a:buFont typeface="+mj-lt"/>
              <a:buAutoNum type="arabicPeriod"/>
            </a:pPr>
            <a:r>
              <a:rPr lang="es-ES" dirty="0"/>
              <a:t>Encuentre la ruta crítica y la duración esperada total.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terminar en 25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duración ofrece un nivel de confianza del 85%?</a:t>
            </a:r>
          </a:p>
        </p:txBody>
      </p:sp>
    </p:spTree>
    <p:extLst>
      <p:ext uri="{BB962C8B-B14F-4D97-AF65-F5344CB8AC3E}">
        <p14:creationId xmlns:p14="http://schemas.microsoft.com/office/powerpoint/2010/main" val="767362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06E6047-0157-FBB0-2DAF-E39204C56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21246"/>
              </p:ext>
            </p:extLst>
          </p:nvPr>
        </p:nvGraphicFramePr>
        <p:xfrm>
          <a:off x="0" y="1694328"/>
          <a:ext cx="609600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25573653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417387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3024727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894696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72813600"/>
                    </a:ext>
                  </a:extLst>
                </a:gridCol>
              </a:tblGrid>
              <a:tr h="37741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545845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443630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7963872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4292442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1033927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024644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888522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7925354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0121245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49476257"/>
                  </a:ext>
                </a:extLst>
              </a:tr>
              <a:tr h="18870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J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6 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206223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689B00B-BB69-A176-89B5-5C160E190455}"/>
              </a:ext>
            </a:extLst>
          </p:cNvPr>
          <p:cNvSpPr txBox="1"/>
          <p:nvPr/>
        </p:nvSpPr>
        <p:spPr>
          <a:xfrm>
            <a:off x="0" y="1305268"/>
            <a:ext cx="6104964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18: Migración de Datos Bancarios</a:t>
            </a:r>
            <a:endParaRPr lang="es-PE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DD3572-9F64-26D3-9E0C-9BBA1ED582A3}"/>
              </a:ext>
            </a:extLst>
          </p:cNvPr>
          <p:cNvSpPr txBox="1"/>
          <p:nvPr/>
        </p:nvSpPr>
        <p:spPr>
          <a:xfrm>
            <a:off x="0" y="4826675"/>
            <a:ext cx="612648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Calcule los tiempos esperados y las desviaciones estándar de las actividades.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Determine la ruta crítica y la duración esperada del proyecto.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terminar en 40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duración se requiere para asegurar un 92% de probabilidad de finalización?</a:t>
            </a:r>
          </a:p>
        </p:txBody>
      </p:sp>
    </p:spTree>
    <p:extLst>
      <p:ext uri="{BB962C8B-B14F-4D97-AF65-F5344CB8AC3E}">
        <p14:creationId xmlns:p14="http://schemas.microsoft.com/office/powerpoint/2010/main" val="1481196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3AF2D23-92C3-B8BA-0C6B-DE189F29DD49}"/>
              </a:ext>
            </a:extLst>
          </p:cNvPr>
          <p:cNvSpPr txBox="1"/>
          <p:nvPr/>
        </p:nvSpPr>
        <p:spPr>
          <a:xfrm>
            <a:off x="-3586" y="1326783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9: Construcción de Parque Eólico</a:t>
            </a:r>
            <a:endParaRPr lang="es-PE" b="1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0119B85-FB72-1BA5-B49E-E01BBBA4C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60183"/>
              </p:ext>
            </p:extLst>
          </p:nvPr>
        </p:nvGraphicFramePr>
        <p:xfrm>
          <a:off x="0" y="1696114"/>
          <a:ext cx="609600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18690668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834631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7652677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799562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74219196"/>
                    </a:ext>
                  </a:extLst>
                </a:gridCol>
              </a:tblGrid>
              <a:tr h="389667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5172425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3854866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1188994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781571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756723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392060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3012612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1724782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3015962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563432"/>
                  </a:ext>
                </a:extLst>
              </a:tr>
              <a:tr h="19483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J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7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2984430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5B338195-70E7-9CBD-31E4-175457CECF31}"/>
              </a:ext>
            </a:extLst>
          </p:cNvPr>
          <p:cNvSpPr txBox="1"/>
          <p:nvPr/>
        </p:nvSpPr>
        <p:spPr>
          <a:xfrm>
            <a:off x="0" y="4792553"/>
            <a:ext cx="6126480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Obtenga los tiempos esperados y varianzas.</a:t>
            </a:r>
          </a:p>
          <a:p>
            <a:pPr>
              <a:buFont typeface="+mj-lt"/>
              <a:buAutoNum type="arabicPeriod"/>
            </a:pPr>
            <a:r>
              <a:rPr lang="es-ES" dirty="0"/>
              <a:t>Identifique la ruta crítica y la duración esperada del proyecto.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finalizar en 46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duración corresponde a un nivel de confianza del 95%?</a:t>
            </a:r>
          </a:p>
        </p:txBody>
      </p:sp>
    </p:spTree>
    <p:extLst>
      <p:ext uri="{BB962C8B-B14F-4D97-AF65-F5344CB8AC3E}">
        <p14:creationId xmlns:p14="http://schemas.microsoft.com/office/powerpoint/2010/main" val="2293231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E822837-92CC-5D94-FF71-CA2609B2AF08}"/>
              </a:ext>
            </a:extLst>
          </p:cNvPr>
          <p:cNvSpPr txBox="1"/>
          <p:nvPr/>
        </p:nvSpPr>
        <p:spPr>
          <a:xfrm>
            <a:off x="-3586" y="1326783"/>
            <a:ext cx="609958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Problema 10: Automatización de Línea de Producción</a:t>
            </a:r>
            <a:endParaRPr lang="es-PE" b="1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6818EC3-1537-29A5-A9D7-0DA644563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743550"/>
              </p:ext>
            </p:extLst>
          </p:nvPr>
        </p:nvGraphicFramePr>
        <p:xfrm>
          <a:off x="0" y="1696115"/>
          <a:ext cx="6096000" cy="303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9130544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0230698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342648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3214662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74570247"/>
                    </a:ext>
                  </a:extLst>
                </a:gridCol>
              </a:tblGrid>
              <a:tr h="414768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Actividad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Predecesora(s)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m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0113593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—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5052574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2812608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A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5638408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9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2370541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B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5534677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C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7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0595686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D,E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5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8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1137241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F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4243180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G,H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4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6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10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6334049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J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I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2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>
                          <a:effectLst/>
                        </a:rPr>
                        <a:t>3</a:t>
                      </a:r>
                      <a:endParaRPr lang="es-P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u="none" strike="noStrike" dirty="0">
                          <a:effectLst/>
                        </a:rPr>
                        <a:t>5</a:t>
                      </a:r>
                      <a:endParaRPr lang="es-P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9154228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FE43C1A-29B2-F664-B499-3BB6067EEE2D}"/>
              </a:ext>
            </a:extLst>
          </p:cNvPr>
          <p:cNvSpPr txBox="1"/>
          <p:nvPr/>
        </p:nvSpPr>
        <p:spPr>
          <a:xfrm>
            <a:off x="-17033" y="4840526"/>
            <a:ext cx="6126480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/>
              <a:t>Preguntas</a:t>
            </a:r>
          </a:p>
          <a:p>
            <a:pPr>
              <a:buFont typeface="+mj-lt"/>
              <a:buAutoNum type="arabicPeriod"/>
            </a:pPr>
            <a:r>
              <a:rPr lang="es-ES" dirty="0"/>
              <a:t>Calcule el tiempo esperado y la varianza de cada actividad.</a:t>
            </a:r>
          </a:p>
          <a:p>
            <a:pPr>
              <a:buFont typeface="+mj-lt"/>
              <a:buAutoNum type="arabicPeriod"/>
            </a:pPr>
            <a:r>
              <a:rPr lang="es-ES" dirty="0"/>
              <a:t>Determine la ruta crítica y la duración esperada del proyecto.</a:t>
            </a:r>
          </a:p>
          <a:p>
            <a:pPr>
              <a:buFont typeface="+mj-lt"/>
              <a:buAutoNum type="arabicPeriod"/>
            </a:pPr>
            <a:r>
              <a:rPr lang="es-ES" dirty="0"/>
              <a:t>¿Cuál es la probabilidad de terminar en 30 días?</a:t>
            </a:r>
          </a:p>
          <a:p>
            <a:pPr>
              <a:buFont typeface="+mj-lt"/>
              <a:buAutoNum type="arabicPeriod"/>
            </a:pPr>
            <a:r>
              <a:rPr lang="es-ES" dirty="0"/>
              <a:t>¿Qué duración debería fijarse para tener una probabilidad de cumplimiento del 88%?</a:t>
            </a:r>
          </a:p>
        </p:txBody>
      </p:sp>
    </p:spTree>
    <p:extLst>
      <p:ext uri="{BB962C8B-B14F-4D97-AF65-F5344CB8AC3E}">
        <p14:creationId xmlns:p14="http://schemas.microsoft.com/office/powerpoint/2010/main" val="16509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37</a:t>
            </a:fld>
            <a:endParaRPr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49501" y="2276872"/>
            <a:ext cx="7920880" cy="1220754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87313" indent="-87313" algn="ctr"/>
            <a: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Donde quiera que usted vea un negocio exitoso, alguien ha tomado una decisión valiente</a:t>
            </a:r>
            <a: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.</a:t>
            </a:r>
            <a:b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</a:br>
            <a:endParaRPr lang="es-PE" sz="2400" b="0" dirty="0">
              <a:solidFill>
                <a:srgbClr val="7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0" y="92279"/>
            <a:ext cx="6096000" cy="87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200" i="1">
                <a:solidFill>
                  <a:schemeClr val="accent5">
                    <a:lumMod val="20000"/>
                    <a:lumOff val="80000"/>
                  </a:schemeClr>
                </a:solidFill>
                <a:latin typeface="Bauhaus 93" pitchFamily="82" charset="0"/>
              </a:defRPr>
            </a:lvl1pPr>
            <a:lvl2pPr algn="r" eaLnBrk="1" hangingPunct="1">
              <a:defRPr sz="2800" i="1">
                <a:latin typeface="Verdana" pitchFamily="34" charset="0"/>
              </a:defRPr>
            </a:lvl2pPr>
            <a:lvl3pPr algn="r" eaLnBrk="1" hangingPunct="1">
              <a:defRPr sz="2800" i="1">
                <a:latin typeface="Verdana" pitchFamily="34" charset="0"/>
              </a:defRPr>
            </a:lvl3pPr>
            <a:lvl4pPr algn="r" eaLnBrk="1" hangingPunct="1">
              <a:defRPr sz="2800" i="1">
                <a:latin typeface="Verdana" pitchFamily="34" charset="0"/>
              </a:defRPr>
            </a:lvl4pPr>
            <a:lvl5pPr algn="r" eaLnBrk="1" hangingPunct="1">
              <a:defRPr sz="2800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9pPr>
          </a:lstStyle>
          <a:p>
            <a:r>
              <a:rPr lang="es-MX" dirty="0">
                <a:solidFill>
                  <a:srgbClr val="FFFF00"/>
                </a:solidFill>
              </a:rPr>
              <a:t>Seamos dueños de nuestro propio destino</a:t>
            </a:r>
            <a:endParaRPr lang="es-ES" i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45A401-5395-4861-90CC-1389B0CFAC65}"/>
              </a:ext>
            </a:extLst>
          </p:cNvPr>
          <p:cNvSpPr/>
          <p:nvPr/>
        </p:nvSpPr>
        <p:spPr>
          <a:xfrm>
            <a:off x="4958093" y="4125017"/>
            <a:ext cx="22758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Gracias</a:t>
            </a:r>
          </a:p>
        </p:txBody>
      </p:sp>
      <p:pic>
        <p:nvPicPr>
          <p:cNvPr id="6" name="Picture 5" descr="004">
            <a:extLst>
              <a:ext uri="{FF2B5EF4-FFF2-40B4-BE49-F238E27FC236}">
                <a16:creationId xmlns:a16="http://schemas.microsoft.com/office/drawing/2014/main" id="{10E9D79D-8D69-43FB-8635-4B0D7576B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06" y="3733101"/>
            <a:ext cx="2095281" cy="279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82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6502</TotalTime>
  <Words>3847</Words>
  <Application>Microsoft Office PowerPoint</Application>
  <PresentationFormat>Panorámica</PresentationFormat>
  <Paragraphs>1922</Paragraphs>
  <Slides>37</Slides>
  <Notes>8</Notes>
  <HiddenSlides>0</HiddenSlides>
  <MMClips>0</MMClips>
  <ScaleCrop>false</ScaleCrop>
  <HeadingPairs>
    <vt:vector size="8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37</vt:i4>
      </vt:variant>
    </vt:vector>
  </HeadingPairs>
  <TitlesOfParts>
    <vt:vector size="51" baseType="lpstr">
      <vt:lpstr>Arial</vt:lpstr>
      <vt:lpstr>Arial Narrow</vt:lpstr>
      <vt:lpstr>Bauhaus 93</vt:lpstr>
      <vt:lpstr>Bodoni MT Black</vt:lpstr>
      <vt:lpstr>Calibri</vt:lpstr>
      <vt:lpstr>Calibri Light</vt:lpstr>
      <vt:lpstr>Cambria Math</vt:lpstr>
      <vt:lpstr>Lexend Deca</vt:lpstr>
      <vt:lpstr>Signika</vt:lpstr>
      <vt:lpstr>Times New Roman</vt:lpstr>
      <vt:lpstr>Wingdings</vt:lpstr>
      <vt:lpstr>Tema de Office</vt:lpstr>
      <vt:lpstr>Ecuación</vt:lpstr>
      <vt:lpstr>Equation.DSMT4</vt:lpstr>
      <vt:lpstr>Presentación de PowerPoint</vt:lpstr>
      <vt:lpstr>Administración de proyectos Problemas probabilisticos</vt:lpstr>
      <vt:lpstr>Contenido</vt:lpstr>
      <vt:lpstr>Tiempos y Holgura</vt:lpstr>
      <vt:lpstr>Presentación de PowerPoint</vt:lpstr>
      <vt:lpstr>Presentación de PowerPoint</vt:lpstr>
      <vt:lpstr>Estimaciones probabilísticas</vt:lpstr>
      <vt:lpstr>Distribución de probabilidades</vt:lpstr>
      <vt:lpstr>Supuestos</vt:lpstr>
      <vt:lpstr>Problemas probabilísticos</vt:lpstr>
      <vt:lpstr>Red del 10.12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ANIVAL ALFREDO TORRE CAMONES</dc:creator>
  <cp:lastModifiedBy>ANIVAL ALFREDO TORRE CAMONES</cp:lastModifiedBy>
  <cp:revision>313</cp:revision>
  <dcterms:created xsi:type="dcterms:W3CDTF">2021-09-08T13:14:39Z</dcterms:created>
  <dcterms:modified xsi:type="dcterms:W3CDTF">2026-08-16T17:29:53Z</dcterms:modified>
</cp:coreProperties>
</file>
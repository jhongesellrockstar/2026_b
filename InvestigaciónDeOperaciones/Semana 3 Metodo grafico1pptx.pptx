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481" r:id="rId2"/>
    <p:sldId id="447" r:id="rId3"/>
    <p:sldId id="448" r:id="rId4"/>
    <p:sldId id="449" r:id="rId5"/>
    <p:sldId id="450" r:id="rId6"/>
    <p:sldId id="451" r:id="rId7"/>
    <p:sldId id="452" r:id="rId8"/>
    <p:sldId id="454" r:id="rId9"/>
    <p:sldId id="455" r:id="rId10"/>
    <p:sldId id="457" r:id="rId11"/>
    <p:sldId id="459" r:id="rId12"/>
    <p:sldId id="460" r:id="rId13"/>
    <p:sldId id="462" r:id="rId14"/>
    <p:sldId id="478" r:id="rId15"/>
    <p:sldId id="464" r:id="rId16"/>
    <p:sldId id="466" r:id="rId17"/>
    <p:sldId id="490" r:id="rId18"/>
    <p:sldId id="467" r:id="rId19"/>
    <p:sldId id="468" r:id="rId20"/>
    <p:sldId id="470" r:id="rId21"/>
    <p:sldId id="471" r:id="rId22"/>
    <p:sldId id="472" r:id="rId23"/>
    <p:sldId id="473" r:id="rId24"/>
    <p:sldId id="477" r:id="rId25"/>
    <p:sldId id="474" r:id="rId26"/>
    <p:sldId id="354" r:id="rId27"/>
    <p:sldId id="475" r:id="rId28"/>
    <p:sldId id="391" r:id="rId29"/>
    <p:sldId id="356" r:id="rId30"/>
    <p:sldId id="357" r:id="rId31"/>
    <p:sldId id="358" r:id="rId32"/>
    <p:sldId id="359" r:id="rId33"/>
    <p:sldId id="360" r:id="rId34"/>
    <p:sldId id="361" r:id="rId35"/>
    <p:sldId id="363" r:id="rId36"/>
    <p:sldId id="476" r:id="rId37"/>
    <p:sldId id="424" r:id="rId38"/>
    <p:sldId id="426" r:id="rId39"/>
    <p:sldId id="303" r:id="rId40"/>
    <p:sldId id="310" r:id="rId41"/>
    <p:sldId id="316" r:id="rId42"/>
    <p:sldId id="386" r:id="rId43"/>
    <p:sldId id="387" r:id="rId44"/>
    <p:sldId id="388" r:id="rId45"/>
    <p:sldId id="323" r:id="rId46"/>
    <p:sldId id="324" r:id="rId47"/>
    <p:sldId id="325" r:id="rId48"/>
    <p:sldId id="349" r:id="rId49"/>
    <p:sldId id="350" r:id="rId50"/>
    <p:sldId id="353" r:id="rId51"/>
    <p:sldId id="351" r:id="rId52"/>
    <p:sldId id="352" r:id="rId53"/>
    <p:sldId id="482" r:id="rId54"/>
    <p:sldId id="355" r:id="rId55"/>
    <p:sldId id="483" r:id="rId56"/>
    <p:sldId id="484" r:id="rId57"/>
    <p:sldId id="485" r:id="rId58"/>
    <p:sldId id="486" r:id="rId59"/>
    <p:sldId id="487" r:id="rId60"/>
    <p:sldId id="488" r:id="rId61"/>
    <p:sldId id="362" r:id="rId62"/>
    <p:sldId id="489" r:id="rId63"/>
    <p:sldId id="364" r:id="rId64"/>
    <p:sldId id="365" r:id="rId65"/>
    <p:sldId id="366" r:id="rId66"/>
    <p:sldId id="367" r:id="rId67"/>
    <p:sldId id="280" r:id="rId68"/>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73" autoAdjust="0"/>
    <p:restoredTop sz="94660"/>
  </p:normalViewPr>
  <p:slideViewPr>
    <p:cSldViewPr>
      <p:cViewPr varScale="1">
        <p:scale>
          <a:sx n="159" d="100"/>
          <a:sy n="159" d="100"/>
        </p:scale>
        <p:origin x="948" y="132"/>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p:cViewPr varScale="1">
        <p:scale>
          <a:sx n="87" d="100"/>
          <a:sy n="87" d="100"/>
        </p:scale>
        <p:origin x="3840" y="90"/>
      </p:cViewPr>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4D89ED-B037-4D1E-A231-1773FBD997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837249C4-0C2A-4063-8F6D-B6BF08D66F3A}">
      <dgm:prSet custT="1">
        <dgm: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dgm:style>
      </dgm:prSet>
      <dgm:spPr>
        <a:solidFill>
          <a:schemeClr val="accent4">
            <a:lumMod val="50000"/>
          </a:schemeClr>
        </a:solidFill>
      </dgm:spPr>
      <dgm:t>
        <a:bodyPr spcFirstLastPara="0" vert="horz" wrap="square" lIns="281028" tIns="197208" rIns="281028" bIns="197208" numCol="1" spcCol="1270" anchor="ctr" anchorCtr="0"/>
        <a:lstStyle/>
        <a:p>
          <a:pPr marL="0" lvl="0" indent="0" algn="ctr" defTabSz="1955800" rtl="0" eaLnBrk="1" latinLnBrk="0" hangingPunct="1">
            <a:lnSpc>
              <a:spcPct val="90000"/>
            </a:lnSpc>
            <a:spcBef>
              <a:spcPct val="0"/>
            </a:spcBef>
            <a:spcAft>
              <a:spcPct val="35000"/>
            </a:spcAft>
            <a:buNone/>
          </a:pPr>
          <a:r>
            <a:rPr lang="es-PE" sz="3200" kern="1200" dirty="0">
              <a:solidFill>
                <a:schemeClr val="lt1"/>
              </a:solidFill>
              <a:latin typeface="+mn-lt"/>
              <a:ea typeface="+mn-ea"/>
              <a:cs typeface="+mn-cs"/>
            </a:rPr>
            <a:t>Es un algoritmo matemático que, gráficamente, resuelve problemas de Programación Lineal de 2 variables. </a:t>
          </a:r>
          <a:endParaRPr lang="es-ES" sz="3200" kern="1200" dirty="0">
            <a:solidFill>
              <a:schemeClr val="lt1"/>
            </a:solidFill>
            <a:latin typeface="+mn-lt"/>
            <a:ea typeface="+mn-ea"/>
            <a:cs typeface="+mn-cs"/>
          </a:endParaRPr>
        </a:p>
      </dgm:t>
    </dgm:pt>
    <dgm:pt modelId="{638E4B97-7E0E-4597-AB22-BED592223D3F}" type="parTrans" cxnId="{902B4117-D602-4371-8001-AB29C738F5D0}">
      <dgm:prSet/>
      <dgm:spPr/>
      <dgm:t>
        <a:bodyPr/>
        <a:lstStyle/>
        <a:p>
          <a:pPr algn="just"/>
          <a:endParaRPr lang="es-ES" sz="2800"/>
        </a:p>
      </dgm:t>
    </dgm:pt>
    <dgm:pt modelId="{DFB4A398-B9BF-46AE-8673-0CAA13588E8E}" type="sibTrans" cxnId="{902B4117-D602-4371-8001-AB29C738F5D0}">
      <dgm:prSet/>
      <dgm:spPr/>
      <dgm:t>
        <a:bodyPr/>
        <a:lstStyle/>
        <a:p>
          <a:pPr algn="just"/>
          <a:endParaRPr lang="es-ES" sz="2800"/>
        </a:p>
      </dgm:t>
    </dgm:pt>
    <dgm:pt modelId="{08C340C3-EA5A-4C81-90C8-E5F632CDBFBC}" type="pres">
      <dgm:prSet presAssocID="{794D89ED-B037-4D1E-A231-1773FBD99758}" presName="linear" presStyleCnt="0">
        <dgm:presLayoutVars>
          <dgm:animLvl val="lvl"/>
          <dgm:resizeHandles val="exact"/>
        </dgm:presLayoutVars>
      </dgm:prSet>
      <dgm:spPr/>
    </dgm:pt>
    <dgm:pt modelId="{E1706A17-C322-4234-AEB2-2D8386E20072}" type="pres">
      <dgm:prSet presAssocID="{837249C4-0C2A-4063-8F6D-B6BF08D66F3A}" presName="parentText" presStyleLbl="node1" presStyleIdx="0" presStyleCnt="1" custScaleX="94274" custScaleY="390722" custLinFactNeighborX="-1659" custLinFactNeighborY="3152">
        <dgm:presLayoutVars>
          <dgm:chMax val="0"/>
          <dgm:bulletEnabled val="1"/>
        </dgm:presLayoutVars>
      </dgm:prSet>
      <dgm:spPr>
        <a:xfrm>
          <a:off x="110173" y="66775"/>
          <a:ext cx="4502242" cy="1984320"/>
        </a:xfrm>
        <a:prstGeom prst="roundRect">
          <a:avLst/>
        </a:prstGeom>
      </dgm:spPr>
    </dgm:pt>
  </dgm:ptLst>
  <dgm:cxnLst>
    <dgm:cxn modelId="{902B4117-D602-4371-8001-AB29C738F5D0}" srcId="{794D89ED-B037-4D1E-A231-1773FBD99758}" destId="{837249C4-0C2A-4063-8F6D-B6BF08D66F3A}" srcOrd="0" destOrd="0" parTransId="{638E4B97-7E0E-4597-AB22-BED592223D3F}" sibTransId="{DFB4A398-B9BF-46AE-8673-0CAA13588E8E}"/>
    <dgm:cxn modelId="{27B29451-B885-4DBB-BCAD-42C1E144400D}" type="presOf" srcId="{837249C4-0C2A-4063-8F6D-B6BF08D66F3A}" destId="{E1706A17-C322-4234-AEB2-2D8386E20072}" srcOrd="0" destOrd="0" presId="urn:microsoft.com/office/officeart/2005/8/layout/vList2"/>
    <dgm:cxn modelId="{8C14E3D8-4C24-4A97-8D01-8D959C78D938}" type="presOf" srcId="{794D89ED-B037-4D1E-A231-1773FBD99758}" destId="{08C340C3-EA5A-4C81-90C8-E5F632CDBFBC}" srcOrd="0" destOrd="0" presId="urn:microsoft.com/office/officeart/2005/8/layout/vList2"/>
    <dgm:cxn modelId="{6D802337-1CF0-4D8E-B5A5-B30DAF41F598}" type="presParOf" srcId="{08C340C3-EA5A-4C81-90C8-E5F632CDBFBC}" destId="{E1706A17-C322-4234-AEB2-2D8386E2007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06A17-C322-4234-AEB2-2D8386E20072}">
      <dsp:nvSpPr>
        <dsp:cNvPr id="0" name=""/>
        <dsp:cNvSpPr/>
      </dsp:nvSpPr>
      <dsp:spPr>
        <a:xfrm>
          <a:off x="254662" y="37021"/>
          <a:ext cx="5661088" cy="2009472"/>
        </a:xfrm>
        <a:prstGeom prst="round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dsp:style>
      <dsp:txBody>
        <a:bodyPr spcFirstLastPara="0" vert="horz" wrap="square" lIns="281028" tIns="197208" rIns="281028" bIns="197208" numCol="1" spcCol="1270" anchor="ctr" anchorCtr="0">
          <a:noAutofit/>
        </a:bodyPr>
        <a:lstStyle/>
        <a:p>
          <a:pPr marL="0" lvl="0" indent="0" algn="ctr" defTabSz="1955800" rtl="0" eaLnBrk="1" latinLnBrk="0" hangingPunct="1">
            <a:lnSpc>
              <a:spcPct val="90000"/>
            </a:lnSpc>
            <a:spcBef>
              <a:spcPct val="0"/>
            </a:spcBef>
            <a:spcAft>
              <a:spcPct val="35000"/>
            </a:spcAft>
            <a:buNone/>
          </a:pPr>
          <a:r>
            <a:rPr lang="es-PE" sz="3200" kern="1200" dirty="0">
              <a:solidFill>
                <a:schemeClr val="lt1"/>
              </a:solidFill>
              <a:latin typeface="+mn-lt"/>
              <a:ea typeface="+mn-ea"/>
              <a:cs typeface="+mn-cs"/>
            </a:rPr>
            <a:t>Es un algoritmo matemático que, gráficamente, resuelve problemas de Programación Lineal de 2 variables. </a:t>
          </a:r>
          <a:endParaRPr lang="es-ES" sz="3200" kern="1200" dirty="0">
            <a:solidFill>
              <a:schemeClr val="lt1"/>
            </a:solidFill>
            <a:latin typeface="+mn-lt"/>
            <a:ea typeface="+mn-ea"/>
            <a:cs typeface="+mn-cs"/>
          </a:endParaRPr>
        </a:p>
      </dsp:txBody>
      <dsp:txXfrm>
        <a:off x="352756" y="135115"/>
        <a:ext cx="5464900" cy="18132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a:p>
        </p:txBody>
      </p:sp>
      <p:sp>
        <p:nvSpPr>
          <p:cNvPr id="4" name="3 Marcador de número de diapositiva"/>
          <p:cNvSpPr>
            <a:spLocks noGrp="1"/>
          </p:cNvSpPr>
          <p:nvPr>
            <p:ph type="sldNum" sz="quarter" idx="10"/>
          </p:nvPr>
        </p:nvSpPr>
        <p:spPr/>
        <p:txBody>
          <a:bodyPr/>
          <a:lstStyle/>
          <a:p>
            <a:fld id="{937FDB4C-8DB5-4895-9E8B-EB4F1648811C}" type="slidenum">
              <a:rPr lang="es-ES" smtClean="0"/>
              <a:pPr/>
              <a:t>2</a:t>
            </a:fld>
            <a:endParaRPr lang="es-ES"/>
          </a:p>
        </p:txBody>
      </p:sp>
    </p:spTree>
    <p:extLst>
      <p:ext uri="{BB962C8B-B14F-4D97-AF65-F5344CB8AC3E}">
        <p14:creationId xmlns:p14="http://schemas.microsoft.com/office/powerpoint/2010/main" val="3621909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PE" dirty="0"/>
          </a:p>
        </p:txBody>
      </p:sp>
      <p:sp>
        <p:nvSpPr>
          <p:cNvPr id="4" name="3 Marcador de número de diapositiva"/>
          <p:cNvSpPr>
            <a:spLocks noGrp="1"/>
          </p:cNvSpPr>
          <p:nvPr>
            <p:ph type="sldNum" sz="quarter" idx="10"/>
          </p:nvPr>
        </p:nvSpPr>
        <p:spPr/>
        <p:txBody>
          <a:bodyPr/>
          <a:lstStyle/>
          <a:p>
            <a:fld id="{C8670894-317D-47E7-A2D6-BBD5CEEF50F8}" type="slidenum">
              <a:rPr lang="es-ES" smtClean="0"/>
              <a:t>10</a:t>
            </a:fld>
            <a:endParaRPr lang="es-ES" dirty="0"/>
          </a:p>
        </p:txBody>
      </p:sp>
    </p:spTree>
    <p:extLst>
      <p:ext uri="{BB962C8B-B14F-4D97-AF65-F5344CB8AC3E}">
        <p14:creationId xmlns:p14="http://schemas.microsoft.com/office/powerpoint/2010/main" val="761071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1957194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812800" y="304800"/>
            <a:ext cx="10363200" cy="1143000"/>
          </a:xfrm>
        </p:spPr>
        <p:txBody>
          <a:bodyPr/>
          <a:lstStyle/>
          <a:p>
            <a:r>
              <a:rPr lang="es-ES"/>
              <a:t>Haga clic para modificar el estilo de título del patrón</a:t>
            </a:r>
          </a:p>
        </p:txBody>
      </p:sp>
      <p:sp>
        <p:nvSpPr>
          <p:cNvPr id="3" name="2 Marcador de tabla"/>
          <p:cNvSpPr>
            <a:spLocks noGrp="1"/>
          </p:cNvSpPr>
          <p:nvPr>
            <p:ph type="tbl" idx="1"/>
          </p:nvPr>
        </p:nvSpPr>
        <p:spPr>
          <a:xfrm>
            <a:off x="1117600" y="1905000"/>
            <a:ext cx="10363200" cy="4114800"/>
          </a:xfrm>
        </p:spPr>
        <p:txBody>
          <a:bodyPr/>
          <a:lstStyle/>
          <a:p>
            <a:pPr lvl="0"/>
            <a:endParaRPr lang="es-ES" noProof="0"/>
          </a:p>
        </p:txBody>
      </p:sp>
      <p:sp>
        <p:nvSpPr>
          <p:cNvPr id="4" name="Rectangle 65"/>
          <p:cNvSpPr>
            <a:spLocks noGrp="1" noChangeArrowheads="1"/>
          </p:cNvSpPr>
          <p:nvPr>
            <p:ph type="dt" sz="half" idx="10"/>
          </p:nvPr>
        </p:nvSpPr>
        <p:spPr>
          <a:ln/>
        </p:spPr>
        <p:txBody>
          <a:bodyPr/>
          <a:lstStyle>
            <a:lvl1pPr>
              <a:defRPr/>
            </a:lvl1pPr>
          </a:lstStyle>
          <a:p>
            <a:pPr>
              <a:defRPr/>
            </a:pPr>
            <a:endParaRPr lang="es-ES"/>
          </a:p>
        </p:txBody>
      </p:sp>
      <p:sp>
        <p:nvSpPr>
          <p:cNvPr id="5" name="Rectangle 66"/>
          <p:cNvSpPr>
            <a:spLocks noGrp="1" noChangeArrowheads="1"/>
          </p:cNvSpPr>
          <p:nvPr>
            <p:ph type="ftr" sz="quarter" idx="11"/>
          </p:nvPr>
        </p:nvSpPr>
        <p:spPr>
          <a:ln/>
        </p:spPr>
        <p:txBody>
          <a:bodyPr/>
          <a:lstStyle>
            <a:lvl1pPr>
              <a:defRPr/>
            </a:lvl1pPr>
          </a:lstStyle>
          <a:p>
            <a:pPr>
              <a:defRPr/>
            </a:pPr>
            <a:endParaRPr lang="es-ES"/>
          </a:p>
        </p:txBody>
      </p:sp>
      <p:sp>
        <p:nvSpPr>
          <p:cNvPr id="6" name="Rectangle 67"/>
          <p:cNvSpPr>
            <a:spLocks noGrp="1" noChangeArrowheads="1"/>
          </p:cNvSpPr>
          <p:nvPr>
            <p:ph type="sldNum" sz="quarter" idx="12"/>
          </p:nvPr>
        </p:nvSpPr>
        <p:spPr>
          <a:ln/>
        </p:spPr>
        <p:txBody>
          <a:bodyPr/>
          <a:lstStyle>
            <a:lvl1pPr>
              <a:defRPr/>
            </a:lvl1pPr>
          </a:lstStyle>
          <a:p>
            <a:pPr>
              <a:defRPr/>
            </a:pPr>
            <a:fld id="{2FDF300D-E865-40B7-A850-CD76BA3496B9}" type="slidenum">
              <a:rPr lang="es-ES"/>
              <a:pPr>
                <a:defRPr/>
              </a:pPr>
              <a:t>‹Nº›</a:t>
            </a:fld>
            <a:endParaRPr lang="es-ES"/>
          </a:p>
        </p:txBody>
      </p:sp>
    </p:spTree>
    <p:extLst>
      <p:ext uri="{BB962C8B-B14F-4D97-AF65-F5344CB8AC3E}">
        <p14:creationId xmlns:p14="http://schemas.microsoft.com/office/powerpoint/2010/main" val="2795416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7" r:id="rId13"/>
    <p:sldLayoutId id="214748366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2909646" y="623889"/>
            <a:ext cx="6354706" cy="56356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fontAlgn="base">
              <a:spcAft>
                <a:spcPct val="0"/>
              </a:spcAft>
            </a:pPr>
            <a:r>
              <a:rPr lang="es-PE" sz="3200" dirty="0">
                <a:solidFill>
                  <a:schemeClr val="bg1"/>
                </a:solidFill>
                <a:latin typeface="Bauhaus 93" pitchFamily="82" charset="0"/>
                <a:ea typeface="+mn-ea"/>
                <a:cs typeface="+mn-cs"/>
              </a:rPr>
              <a:t>Contenido</a:t>
            </a:r>
          </a:p>
        </p:txBody>
      </p:sp>
      <p:grpSp>
        <p:nvGrpSpPr>
          <p:cNvPr id="67587" name="Group 3"/>
          <p:cNvGrpSpPr>
            <a:grpSpLocks/>
          </p:cNvGrpSpPr>
          <p:nvPr/>
        </p:nvGrpSpPr>
        <p:grpSpPr bwMode="auto">
          <a:xfrm>
            <a:off x="5699956" y="2082787"/>
            <a:ext cx="697705" cy="665163"/>
            <a:chOff x="1110" y="2656"/>
            <a:chExt cx="1549" cy="1351"/>
          </a:xfrm>
          <a:solidFill>
            <a:srgbClr val="7030A0"/>
          </a:solidFill>
        </p:grpSpPr>
        <p:sp>
          <p:nvSpPr>
            <p:cNvPr id="67588" name="AutoShape 4"/>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a:p>
          </p:txBody>
        </p:sp>
      </p:grpSp>
      <p:grpSp>
        <p:nvGrpSpPr>
          <p:cNvPr id="67591" name="Group 7"/>
          <p:cNvGrpSpPr>
            <a:grpSpLocks/>
          </p:cNvGrpSpPr>
          <p:nvPr/>
        </p:nvGrpSpPr>
        <p:grpSpPr bwMode="auto">
          <a:xfrm>
            <a:off x="5699956" y="2997187"/>
            <a:ext cx="697705" cy="665163"/>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a:p>
          </p:txBody>
        </p:sp>
      </p:grpSp>
      <p:sp>
        <p:nvSpPr>
          <p:cNvPr id="67595" name="Line 11"/>
          <p:cNvSpPr>
            <a:spLocks noChangeShapeType="1"/>
          </p:cNvSpPr>
          <p:nvPr/>
        </p:nvSpPr>
        <p:spPr bwMode="auto">
          <a:xfrm>
            <a:off x="6308527" y="2633664"/>
            <a:ext cx="4912568" cy="0"/>
          </a:xfrm>
          <a:prstGeom prst="line">
            <a:avLst/>
          </a:prstGeom>
          <a:noFill/>
          <a:ln w="25400">
            <a:solidFill>
              <a:schemeClr val="tx2"/>
            </a:solidFill>
            <a:prstDash val="sysDot"/>
            <a:round/>
            <a:headEnd/>
            <a:tailEnd type="oval" w="med" len="med"/>
          </a:ln>
          <a:effectLst/>
        </p:spPr>
        <p:txBody>
          <a:bodyPr wrap="none" anchor="ctr"/>
          <a:lstStyle/>
          <a:p>
            <a:endParaRPr lang="es-ES" sz="2800"/>
          </a:p>
        </p:txBody>
      </p:sp>
      <p:sp>
        <p:nvSpPr>
          <p:cNvPr id="67596" name="Text Box 12"/>
          <p:cNvSpPr txBox="1">
            <a:spLocks noChangeArrowheads="1"/>
          </p:cNvSpPr>
          <p:nvPr/>
        </p:nvSpPr>
        <p:spPr bwMode="auto">
          <a:xfrm>
            <a:off x="6496666" y="2087961"/>
            <a:ext cx="4568687" cy="523220"/>
          </a:xfrm>
          <a:prstGeom prst="rect">
            <a:avLst/>
          </a:prstGeom>
          <a:noFill/>
          <a:ln w="9525" algn="ctr">
            <a:noFill/>
            <a:miter lim="800000"/>
            <a:headEnd/>
            <a:tailEnd/>
          </a:ln>
          <a:effectLst/>
        </p:spPr>
        <p:txBody>
          <a:bodyPr wrap="none">
            <a:spAutoFit/>
          </a:bodyPr>
          <a:lstStyle/>
          <a:p>
            <a:pPr eaLnBrk="0" hangingPunct="0"/>
            <a:r>
              <a:rPr lang="es-ES_tradnl" sz="2800" dirty="0">
                <a:solidFill>
                  <a:schemeClr val="bg2">
                    <a:lumMod val="10000"/>
                  </a:schemeClr>
                </a:solidFill>
              </a:rPr>
              <a:t>Definición de Método Gráfico.</a:t>
            </a:r>
          </a:p>
        </p:txBody>
      </p:sp>
      <p:sp>
        <p:nvSpPr>
          <p:cNvPr id="67597" name="Text Box 13"/>
          <p:cNvSpPr txBox="1">
            <a:spLocks noChangeArrowheads="1"/>
          </p:cNvSpPr>
          <p:nvPr/>
        </p:nvSpPr>
        <p:spPr bwMode="gray">
          <a:xfrm>
            <a:off x="5872514" y="2122488"/>
            <a:ext cx="367408" cy="523220"/>
          </a:xfrm>
          <a:prstGeom prst="rect">
            <a:avLst/>
          </a:prstGeom>
          <a:noFill/>
          <a:ln w="9525" algn="ctr">
            <a:noFill/>
            <a:miter lim="800000"/>
            <a:headEnd/>
            <a:tailEnd/>
          </a:ln>
          <a:effectLst/>
        </p:spPr>
        <p:txBody>
          <a:bodyPr wrap="none">
            <a:spAutoFit/>
          </a:bodyPr>
          <a:lstStyle/>
          <a:p>
            <a:pPr algn="ctr" eaLnBrk="0" hangingPunct="0"/>
            <a:r>
              <a:rPr lang="en-US" sz="2800" dirty="0">
                <a:solidFill>
                  <a:schemeClr val="bg1"/>
                </a:solidFill>
              </a:rPr>
              <a:t>1</a:t>
            </a:r>
          </a:p>
        </p:txBody>
      </p:sp>
      <p:sp>
        <p:nvSpPr>
          <p:cNvPr id="67598" name="Line 14"/>
          <p:cNvSpPr>
            <a:spLocks noChangeShapeType="1"/>
          </p:cNvSpPr>
          <p:nvPr/>
        </p:nvSpPr>
        <p:spPr bwMode="auto">
          <a:xfrm>
            <a:off x="6308527" y="3548062"/>
            <a:ext cx="4912568" cy="0"/>
          </a:xfrm>
          <a:prstGeom prst="line">
            <a:avLst/>
          </a:prstGeom>
          <a:noFill/>
          <a:ln w="25400">
            <a:solidFill>
              <a:schemeClr val="tx2"/>
            </a:solidFill>
            <a:prstDash val="sysDot"/>
            <a:round/>
            <a:headEnd/>
            <a:tailEnd type="oval" w="med" len="med"/>
          </a:ln>
          <a:effectLst/>
        </p:spPr>
        <p:txBody>
          <a:bodyPr wrap="none" anchor="ctr"/>
          <a:lstStyle/>
          <a:p>
            <a:endParaRPr lang="es-ES" sz="2800"/>
          </a:p>
        </p:txBody>
      </p:sp>
      <p:sp>
        <p:nvSpPr>
          <p:cNvPr id="67599" name="Text Box 15"/>
          <p:cNvSpPr txBox="1">
            <a:spLocks noChangeArrowheads="1"/>
          </p:cNvSpPr>
          <p:nvPr/>
        </p:nvSpPr>
        <p:spPr bwMode="auto">
          <a:xfrm>
            <a:off x="6508766" y="2959318"/>
            <a:ext cx="2318455" cy="523220"/>
          </a:xfrm>
          <a:prstGeom prst="rect">
            <a:avLst/>
          </a:prstGeom>
          <a:noFill/>
          <a:ln w="9525" algn="ctr">
            <a:noFill/>
            <a:miter lim="800000"/>
            <a:headEnd/>
            <a:tailEnd/>
          </a:ln>
          <a:effectLst/>
        </p:spPr>
        <p:txBody>
          <a:bodyPr wrap="none">
            <a:spAutoFit/>
          </a:bodyPr>
          <a:lstStyle>
            <a:defPPr>
              <a:defRPr lang="es-ES"/>
            </a:defPPr>
            <a:lvl1pPr eaLnBrk="0" hangingPunct="0">
              <a:defRPr sz="2400">
                <a:solidFill>
                  <a:schemeClr val="bg2">
                    <a:lumMod val="10000"/>
                  </a:schemeClr>
                </a:solidFill>
              </a:defRPr>
            </a:lvl1pPr>
          </a:lstStyle>
          <a:p>
            <a:r>
              <a:rPr lang="es-ES_tradnl" sz="2800" dirty="0"/>
              <a:t>Procedimiento</a:t>
            </a:r>
          </a:p>
        </p:txBody>
      </p:sp>
      <p:sp>
        <p:nvSpPr>
          <p:cNvPr id="67600" name="Text Box 16"/>
          <p:cNvSpPr txBox="1">
            <a:spLocks noChangeArrowheads="1"/>
          </p:cNvSpPr>
          <p:nvPr/>
        </p:nvSpPr>
        <p:spPr bwMode="gray">
          <a:xfrm>
            <a:off x="5872514" y="3036888"/>
            <a:ext cx="367408" cy="523220"/>
          </a:xfrm>
          <a:prstGeom prst="rect">
            <a:avLst/>
          </a:prstGeom>
          <a:noFill/>
          <a:ln w="9525" algn="ctr">
            <a:noFill/>
            <a:miter lim="800000"/>
            <a:headEnd/>
            <a:tailEnd/>
          </a:ln>
          <a:effectLst/>
        </p:spPr>
        <p:txBody>
          <a:bodyPr wrap="none">
            <a:spAutoFit/>
          </a:bodyPr>
          <a:lstStyle/>
          <a:p>
            <a:pPr algn="ctr" eaLnBrk="0" hangingPunct="0"/>
            <a:r>
              <a:rPr lang="en-US" sz="2800">
                <a:solidFill>
                  <a:schemeClr val="bg1"/>
                </a:solidFill>
              </a:rPr>
              <a:t>2</a:t>
            </a:r>
          </a:p>
        </p:txBody>
      </p:sp>
      <p:grpSp>
        <p:nvGrpSpPr>
          <p:cNvPr id="67601" name="Group 17"/>
          <p:cNvGrpSpPr>
            <a:grpSpLocks/>
          </p:cNvGrpSpPr>
          <p:nvPr/>
        </p:nvGrpSpPr>
        <p:grpSpPr bwMode="auto">
          <a:xfrm>
            <a:off x="5699956" y="3889361"/>
            <a:ext cx="697705" cy="665163"/>
            <a:chOff x="1110" y="2656"/>
            <a:chExt cx="1549" cy="1351"/>
          </a:xfrm>
          <a:solidFill>
            <a:srgbClr val="7030A0"/>
          </a:solidFill>
        </p:grpSpPr>
        <p:sp>
          <p:nvSpPr>
            <p:cNvPr id="67602" name="AutoShape 18"/>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2800"/>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2800"/>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2800"/>
            </a:p>
          </p:txBody>
        </p:sp>
      </p:grpSp>
      <p:grpSp>
        <p:nvGrpSpPr>
          <p:cNvPr id="67605" name="Group 21"/>
          <p:cNvGrpSpPr>
            <a:grpSpLocks/>
          </p:cNvGrpSpPr>
          <p:nvPr/>
        </p:nvGrpSpPr>
        <p:grpSpPr bwMode="auto">
          <a:xfrm>
            <a:off x="5699956" y="4803761"/>
            <a:ext cx="697705" cy="665163"/>
            <a:chOff x="3174" y="2656"/>
            <a:chExt cx="1549" cy="1351"/>
          </a:xfrm>
        </p:grpSpPr>
        <p:sp>
          <p:nvSpPr>
            <p:cNvPr id="67606"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2800"/>
            </a:p>
          </p:txBody>
        </p:sp>
        <p:sp>
          <p:nvSpPr>
            <p:cNvPr id="67607"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2800"/>
            </a:p>
          </p:txBody>
        </p:sp>
        <p:sp>
          <p:nvSpPr>
            <p:cNvPr id="67608"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2800"/>
            </a:p>
          </p:txBody>
        </p:sp>
      </p:grpSp>
      <p:sp>
        <p:nvSpPr>
          <p:cNvPr id="67609" name="Line 25"/>
          <p:cNvSpPr>
            <a:spLocks noChangeShapeType="1"/>
          </p:cNvSpPr>
          <p:nvPr/>
        </p:nvSpPr>
        <p:spPr bwMode="auto">
          <a:xfrm>
            <a:off x="6308527" y="4440239"/>
            <a:ext cx="4912568" cy="55561"/>
          </a:xfrm>
          <a:prstGeom prst="line">
            <a:avLst/>
          </a:prstGeom>
          <a:noFill/>
          <a:ln w="25400">
            <a:solidFill>
              <a:schemeClr val="tx2"/>
            </a:solidFill>
            <a:prstDash val="sysDot"/>
            <a:round/>
            <a:headEnd/>
            <a:tailEnd type="oval" w="med" len="med"/>
          </a:ln>
          <a:effectLst/>
        </p:spPr>
        <p:txBody>
          <a:bodyPr wrap="none" anchor="ctr"/>
          <a:lstStyle/>
          <a:p>
            <a:endParaRPr lang="es-ES" sz="2800"/>
          </a:p>
        </p:txBody>
      </p:sp>
      <p:sp>
        <p:nvSpPr>
          <p:cNvPr id="67611" name="Text Box 27"/>
          <p:cNvSpPr txBox="1">
            <a:spLocks noChangeArrowheads="1"/>
          </p:cNvSpPr>
          <p:nvPr/>
        </p:nvSpPr>
        <p:spPr bwMode="gray">
          <a:xfrm>
            <a:off x="5872514" y="3929062"/>
            <a:ext cx="367408" cy="523220"/>
          </a:xfrm>
          <a:prstGeom prst="rect">
            <a:avLst/>
          </a:prstGeom>
          <a:noFill/>
          <a:ln w="9525" algn="ctr">
            <a:noFill/>
            <a:miter lim="800000"/>
            <a:headEnd/>
            <a:tailEnd/>
          </a:ln>
          <a:effectLst/>
        </p:spPr>
        <p:txBody>
          <a:bodyPr wrap="none">
            <a:spAutoFit/>
          </a:bodyPr>
          <a:lstStyle/>
          <a:p>
            <a:pPr algn="ctr" eaLnBrk="0" hangingPunct="0"/>
            <a:r>
              <a:rPr lang="en-US" sz="2800">
                <a:solidFill>
                  <a:schemeClr val="bg1"/>
                </a:solidFill>
              </a:rPr>
              <a:t>3</a:t>
            </a:r>
          </a:p>
        </p:txBody>
      </p:sp>
      <p:sp>
        <p:nvSpPr>
          <p:cNvPr id="67612" name="Line 28"/>
          <p:cNvSpPr>
            <a:spLocks noChangeShapeType="1"/>
          </p:cNvSpPr>
          <p:nvPr/>
        </p:nvSpPr>
        <p:spPr bwMode="auto">
          <a:xfrm flipV="1">
            <a:off x="6308527" y="5343739"/>
            <a:ext cx="4912568" cy="10901"/>
          </a:xfrm>
          <a:prstGeom prst="line">
            <a:avLst/>
          </a:prstGeom>
          <a:noFill/>
          <a:ln w="25400">
            <a:solidFill>
              <a:schemeClr val="tx2"/>
            </a:solidFill>
            <a:prstDash val="sysDot"/>
            <a:round/>
            <a:headEnd/>
            <a:tailEnd type="oval" w="med" len="med"/>
          </a:ln>
          <a:effectLst/>
        </p:spPr>
        <p:txBody>
          <a:bodyPr wrap="none" anchor="ctr"/>
          <a:lstStyle/>
          <a:p>
            <a:endParaRPr lang="es-ES" sz="2800"/>
          </a:p>
        </p:txBody>
      </p:sp>
      <p:sp>
        <p:nvSpPr>
          <p:cNvPr id="67613" name="Text Box 29"/>
          <p:cNvSpPr txBox="1">
            <a:spLocks noChangeArrowheads="1"/>
          </p:cNvSpPr>
          <p:nvPr/>
        </p:nvSpPr>
        <p:spPr bwMode="auto">
          <a:xfrm>
            <a:off x="6508765" y="3866343"/>
            <a:ext cx="2338654" cy="523220"/>
          </a:xfrm>
          <a:prstGeom prst="rect">
            <a:avLst/>
          </a:prstGeom>
          <a:noFill/>
          <a:ln w="9525" algn="ctr">
            <a:noFill/>
            <a:miter lim="800000"/>
            <a:headEnd/>
            <a:tailEnd/>
          </a:ln>
          <a:effectLst/>
        </p:spPr>
        <p:txBody>
          <a:bodyPr wrap="none">
            <a:spAutoFit/>
          </a:bodyPr>
          <a:lstStyle>
            <a:defPPr>
              <a:defRPr lang="es-ES"/>
            </a:defPPr>
            <a:lvl1pPr eaLnBrk="0" hangingPunct="0">
              <a:defRPr sz="2400">
                <a:solidFill>
                  <a:schemeClr val="bg2">
                    <a:lumMod val="10000"/>
                  </a:schemeClr>
                </a:solidFill>
              </a:defRPr>
            </a:lvl1pPr>
          </a:lstStyle>
          <a:p>
            <a:r>
              <a:rPr lang="es-ES_tradnl" sz="2800" dirty="0"/>
              <a:t>Región factible</a:t>
            </a:r>
          </a:p>
        </p:txBody>
      </p:sp>
      <p:sp>
        <p:nvSpPr>
          <p:cNvPr id="67614" name="Text Box 30"/>
          <p:cNvSpPr txBox="1">
            <a:spLocks noChangeArrowheads="1"/>
          </p:cNvSpPr>
          <p:nvPr/>
        </p:nvSpPr>
        <p:spPr bwMode="gray">
          <a:xfrm>
            <a:off x="5872514" y="4843463"/>
            <a:ext cx="367408" cy="523220"/>
          </a:xfrm>
          <a:prstGeom prst="rect">
            <a:avLst/>
          </a:prstGeom>
          <a:noFill/>
          <a:ln w="9525" algn="ctr">
            <a:noFill/>
            <a:miter lim="800000"/>
            <a:headEnd/>
            <a:tailEnd/>
          </a:ln>
          <a:effectLst/>
        </p:spPr>
        <p:txBody>
          <a:bodyPr wrap="none">
            <a:spAutoFit/>
          </a:bodyPr>
          <a:lstStyle/>
          <a:p>
            <a:pPr algn="ctr" eaLnBrk="0" hangingPunct="0"/>
            <a:r>
              <a:rPr lang="en-US" sz="2800">
                <a:solidFill>
                  <a:schemeClr val="bg1"/>
                </a:solidFill>
              </a:rPr>
              <a:t>4</a:t>
            </a:r>
          </a:p>
        </p:txBody>
      </p:sp>
      <p:sp>
        <p:nvSpPr>
          <p:cNvPr id="67615" name="Text Box 31"/>
          <p:cNvSpPr txBox="1">
            <a:spLocks noChangeArrowheads="1"/>
          </p:cNvSpPr>
          <p:nvPr/>
        </p:nvSpPr>
        <p:spPr bwMode="auto">
          <a:xfrm>
            <a:off x="3912396" y="722313"/>
            <a:ext cx="184731" cy="253916"/>
          </a:xfrm>
          <a:prstGeom prst="rect">
            <a:avLst/>
          </a:prstGeom>
          <a:noFill/>
          <a:ln w="9525">
            <a:noFill/>
            <a:miter lim="800000"/>
            <a:headEnd/>
            <a:tailEnd/>
          </a:ln>
          <a:effectLst/>
        </p:spPr>
        <p:txBody>
          <a:bodyPr wrap="none">
            <a:spAutoFit/>
          </a:bodyPr>
          <a:lstStyle/>
          <a:p>
            <a:endParaRPr lang="es-ES" sz="1050"/>
          </a:p>
        </p:txBody>
      </p:sp>
      <p:sp>
        <p:nvSpPr>
          <p:cNvPr id="32" name="Text Box 12"/>
          <p:cNvSpPr txBox="1">
            <a:spLocks noChangeArrowheads="1"/>
          </p:cNvSpPr>
          <p:nvPr/>
        </p:nvSpPr>
        <p:spPr bwMode="auto">
          <a:xfrm>
            <a:off x="6496666" y="4805682"/>
            <a:ext cx="2541080" cy="523220"/>
          </a:xfrm>
          <a:prstGeom prst="rect">
            <a:avLst/>
          </a:prstGeom>
          <a:noFill/>
          <a:ln w="9525" algn="ctr">
            <a:noFill/>
            <a:miter lim="800000"/>
            <a:headEnd/>
            <a:tailEnd/>
          </a:ln>
          <a:effectLst/>
        </p:spPr>
        <p:txBody>
          <a:bodyPr wrap="none">
            <a:spAutoFit/>
          </a:bodyPr>
          <a:lstStyle>
            <a:defPPr>
              <a:defRPr lang="es-ES"/>
            </a:defPPr>
            <a:lvl1pPr eaLnBrk="0" hangingPunct="0">
              <a:defRPr sz="2400">
                <a:solidFill>
                  <a:schemeClr val="bg2">
                    <a:lumMod val="10000"/>
                  </a:schemeClr>
                </a:solidFill>
              </a:defRPr>
            </a:lvl1pPr>
          </a:lstStyle>
          <a:p>
            <a:r>
              <a:rPr lang="es-ES_tradnl" sz="2800" dirty="0"/>
              <a:t>Solución optima</a:t>
            </a:r>
          </a:p>
        </p:txBody>
      </p:sp>
      <p:sp>
        <p:nvSpPr>
          <p:cNvPr id="33" name="Rectangle 2">
            <a:extLst>
              <a:ext uri="{FF2B5EF4-FFF2-40B4-BE49-F238E27FC236}">
                <a16:creationId xmlns:a16="http://schemas.microsoft.com/office/drawing/2014/main" id="{B7DE8E05-0DE4-4038-8DE3-63DD828D4E1B}"/>
              </a:ext>
            </a:extLst>
          </p:cNvPr>
          <p:cNvSpPr txBox="1">
            <a:spLocks noChangeArrowheads="1"/>
          </p:cNvSpPr>
          <p:nvPr/>
        </p:nvSpPr>
        <p:spPr>
          <a:xfrm>
            <a:off x="6106292" y="214249"/>
            <a:ext cx="6085707"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a:solidFill>
                  <a:schemeClr val="bg1"/>
                </a:solidFill>
                <a:latin typeface="Bauhaus 93" pitchFamily="82" charset="0"/>
                <a:ea typeface="+mn-ea"/>
                <a:cs typeface="+mn-cs"/>
              </a:rPr>
              <a:t>Contenido</a:t>
            </a:r>
            <a:endParaRPr lang="es-ES" sz="3200" dirty="0">
              <a:solidFill>
                <a:schemeClr val="bg1"/>
              </a:solidFill>
              <a:latin typeface="Bauhaus 93" pitchFamily="82" charset="0"/>
              <a:ea typeface="+mn-ea"/>
              <a:cs typeface="+mn-cs"/>
            </a:endParaRPr>
          </a:p>
        </p:txBody>
      </p:sp>
      <p:sp>
        <p:nvSpPr>
          <p:cNvPr id="2" name="2 Título">
            <a:extLst>
              <a:ext uri="{FF2B5EF4-FFF2-40B4-BE49-F238E27FC236}">
                <a16:creationId xmlns:a16="http://schemas.microsoft.com/office/drawing/2014/main" id="{75B04022-B226-0DE5-50A2-C7AB9B2D414B}"/>
              </a:ext>
            </a:extLst>
          </p:cNvPr>
          <p:cNvSpPr txBox="1">
            <a:spLocks/>
          </p:cNvSpPr>
          <p:nvPr/>
        </p:nvSpPr>
        <p:spPr>
          <a:xfrm>
            <a:off x="217703" y="3265597"/>
            <a:ext cx="4209492" cy="82967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a:solidFill>
                  <a:srgbClr val="FF0000"/>
                </a:solidFill>
                <a:latin typeface="Bauhaus 93" pitchFamily="82" charset="0"/>
              </a:rPr>
              <a:t>Método Gráfico</a:t>
            </a:r>
            <a:endParaRPr lang="es-ES" dirty="0">
              <a:solidFill>
                <a:srgbClr val="FF0000"/>
              </a:solidFill>
            </a:endParaRPr>
          </a:p>
        </p:txBody>
      </p:sp>
    </p:spTree>
    <p:extLst>
      <p:ext uri="{BB962C8B-B14F-4D97-AF65-F5344CB8AC3E}">
        <p14:creationId xmlns:p14="http://schemas.microsoft.com/office/powerpoint/2010/main" val="2908390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3.jpeg">
            <a:extLst>
              <a:ext uri="{FF2B5EF4-FFF2-40B4-BE49-F238E27FC236}">
                <a16:creationId xmlns:a16="http://schemas.microsoft.com/office/drawing/2014/main" id="{7D84DBD6-3093-C7E2-0D93-0849A15A7D2F}"/>
              </a:ext>
            </a:extLst>
          </p:cNvPr>
          <p:cNvPicPr/>
          <p:nvPr/>
        </p:nvPicPr>
        <p:blipFill>
          <a:blip r:embed="rId2" cstate="print"/>
          <a:stretch>
            <a:fillRect/>
          </a:stretch>
        </p:blipFill>
        <p:spPr>
          <a:xfrm>
            <a:off x="9016554" y="1313319"/>
            <a:ext cx="3127985" cy="2615099"/>
          </a:xfrm>
          <a:prstGeom prst="rect">
            <a:avLst/>
          </a:prstGeom>
        </p:spPr>
      </p:pic>
      <p:sp>
        <p:nvSpPr>
          <p:cNvPr id="915" name="CustomShape 1"/>
          <p:cNvSpPr/>
          <p:nvPr/>
        </p:nvSpPr>
        <p:spPr>
          <a:xfrm>
            <a:off x="6096000" y="287206"/>
            <a:ext cx="6096000" cy="48492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spcBef>
                <a:spcPct val="0"/>
              </a:spcBef>
            </a:pPr>
            <a:r>
              <a:rPr lang="es-PE" sz="3200" dirty="0">
                <a:solidFill>
                  <a:schemeClr val="bg1"/>
                </a:solidFill>
                <a:latin typeface="Bauhaus 93" pitchFamily="82" charset="0"/>
              </a:rPr>
              <a:t>Método Gráfico</a:t>
            </a:r>
          </a:p>
        </p:txBody>
      </p:sp>
      <p:graphicFrame>
        <p:nvGraphicFramePr>
          <p:cNvPr id="3" name="2 Diagrama"/>
          <p:cNvGraphicFramePr/>
          <p:nvPr>
            <p:extLst>
              <p:ext uri="{D42A27DB-BD31-4B8C-83A1-F6EECF244321}">
                <p14:modId xmlns:p14="http://schemas.microsoft.com/office/powerpoint/2010/main" val="3587122872"/>
              </p:ext>
            </p:extLst>
          </p:nvPr>
        </p:nvGraphicFramePr>
        <p:xfrm>
          <a:off x="158391" y="1434611"/>
          <a:ext cx="6369657" cy="2051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lecha: a la derecha 3">
            <a:extLst>
              <a:ext uri="{FF2B5EF4-FFF2-40B4-BE49-F238E27FC236}">
                <a16:creationId xmlns:a16="http://schemas.microsoft.com/office/drawing/2014/main" id="{442BAF5D-701A-44B9-98C7-BCB5FA39E0DD}"/>
              </a:ext>
            </a:extLst>
          </p:cNvPr>
          <p:cNvSpPr/>
          <p:nvPr/>
        </p:nvSpPr>
        <p:spPr>
          <a:xfrm>
            <a:off x="158391" y="2809460"/>
            <a:ext cx="10114073" cy="4048539"/>
          </a:xfrm>
          <a:prstGeom prst="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s-PE" sz="2800"/>
          </a:p>
        </p:txBody>
      </p:sp>
      <p:sp>
        <p:nvSpPr>
          <p:cNvPr id="11" name="Forma libre: forma 10">
            <a:extLst>
              <a:ext uri="{FF2B5EF4-FFF2-40B4-BE49-F238E27FC236}">
                <a16:creationId xmlns:a16="http://schemas.microsoft.com/office/drawing/2014/main" id="{8EB8A5E4-BDE9-4996-A4DC-62251F5E8E79}"/>
              </a:ext>
            </a:extLst>
          </p:cNvPr>
          <p:cNvSpPr/>
          <p:nvPr/>
        </p:nvSpPr>
        <p:spPr>
          <a:xfrm>
            <a:off x="280592" y="4056497"/>
            <a:ext cx="2450691" cy="1496737"/>
          </a:xfrm>
          <a:custGeom>
            <a:avLst/>
            <a:gdLst>
              <a:gd name="connsiteX0" fmla="*/ 0 w 2097408"/>
              <a:gd name="connsiteY0" fmla="*/ 216028 h 1296144"/>
              <a:gd name="connsiteX1" fmla="*/ 216028 w 2097408"/>
              <a:gd name="connsiteY1" fmla="*/ 0 h 1296144"/>
              <a:gd name="connsiteX2" fmla="*/ 1881380 w 2097408"/>
              <a:gd name="connsiteY2" fmla="*/ 0 h 1296144"/>
              <a:gd name="connsiteX3" fmla="*/ 2097408 w 2097408"/>
              <a:gd name="connsiteY3" fmla="*/ 216028 h 1296144"/>
              <a:gd name="connsiteX4" fmla="*/ 2097408 w 2097408"/>
              <a:gd name="connsiteY4" fmla="*/ 1080116 h 1296144"/>
              <a:gd name="connsiteX5" fmla="*/ 1881380 w 2097408"/>
              <a:gd name="connsiteY5" fmla="*/ 1296144 h 1296144"/>
              <a:gd name="connsiteX6" fmla="*/ 216028 w 2097408"/>
              <a:gd name="connsiteY6" fmla="*/ 1296144 h 1296144"/>
              <a:gd name="connsiteX7" fmla="*/ 0 w 2097408"/>
              <a:gd name="connsiteY7" fmla="*/ 1080116 h 1296144"/>
              <a:gd name="connsiteX8" fmla="*/ 0 w 2097408"/>
              <a:gd name="connsiteY8" fmla="*/ 216028 h 129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408" h="1296144">
                <a:moveTo>
                  <a:pt x="0" y="216028"/>
                </a:moveTo>
                <a:cubicBezTo>
                  <a:pt x="0" y="96719"/>
                  <a:pt x="96719" y="0"/>
                  <a:pt x="216028" y="0"/>
                </a:cubicBezTo>
                <a:lnTo>
                  <a:pt x="1881380" y="0"/>
                </a:lnTo>
                <a:cubicBezTo>
                  <a:pt x="2000689" y="0"/>
                  <a:pt x="2097408" y="96719"/>
                  <a:pt x="2097408" y="216028"/>
                </a:cubicBezTo>
                <a:lnTo>
                  <a:pt x="2097408" y="1080116"/>
                </a:lnTo>
                <a:cubicBezTo>
                  <a:pt x="2097408" y="1199425"/>
                  <a:pt x="2000689" y="1296144"/>
                  <a:pt x="1881380" y="1296144"/>
                </a:cubicBezTo>
                <a:lnTo>
                  <a:pt x="216028" y="1296144"/>
                </a:lnTo>
                <a:cubicBezTo>
                  <a:pt x="96719" y="1296144"/>
                  <a:pt x="0" y="1199425"/>
                  <a:pt x="0" y="1080116"/>
                </a:cubicBezTo>
                <a:lnTo>
                  <a:pt x="0" y="216028"/>
                </a:lnTo>
                <a:close/>
              </a:path>
            </a:pathLst>
          </a:custGeom>
          <a:solidFill>
            <a:srgbClr val="42BA97">
              <a:lumMod val="50000"/>
            </a:srgbClr>
          </a:solidFill>
          <a:ln w="12700" cap="flat" cmpd="sng" algn="ctr">
            <a:solidFill>
              <a:prstClr val="white">
                <a:hueOff val="0"/>
                <a:satOff val="0"/>
                <a:lumOff val="0"/>
                <a:alphaOff val="0"/>
              </a:prstClr>
            </a:solid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1028" tIns="197208" rIns="281028" bIns="197208" numCol="1" spcCol="1270" anchor="ctr" anchorCtr="0">
            <a:noAutofit/>
          </a:bodyPr>
          <a:lstStyle/>
          <a:p>
            <a:pPr algn="ctr" defTabSz="1955800">
              <a:lnSpc>
                <a:spcPct val="90000"/>
              </a:lnSpc>
              <a:spcBef>
                <a:spcPct val="0"/>
              </a:spcBef>
              <a:spcAft>
                <a:spcPct val="35000"/>
              </a:spcAft>
            </a:pPr>
            <a:r>
              <a:rPr lang="es-PE" sz="2800" dirty="0"/>
              <a:t>1. Graficar las restricciones</a:t>
            </a:r>
            <a:endParaRPr lang="es-ES" sz="2800" dirty="0"/>
          </a:p>
        </p:txBody>
      </p:sp>
      <p:sp>
        <p:nvSpPr>
          <p:cNvPr id="12" name="Forma libre: forma 11">
            <a:extLst>
              <a:ext uri="{FF2B5EF4-FFF2-40B4-BE49-F238E27FC236}">
                <a16:creationId xmlns:a16="http://schemas.microsoft.com/office/drawing/2014/main" id="{B7F70EDF-BB4D-4992-B81C-EE4102FCEC32}"/>
              </a:ext>
            </a:extLst>
          </p:cNvPr>
          <p:cNvSpPr/>
          <p:nvPr/>
        </p:nvSpPr>
        <p:spPr>
          <a:xfrm>
            <a:off x="2763695" y="4056497"/>
            <a:ext cx="2325031" cy="1496739"/>
          </a:xfrm>
          <a:custGeom>
            <a:avLst/>
            <a:gdLst>
              <a:gd name="connsiteX0" fmla="*/ 0 w 2097408"/>
              <a:gd name="connsiteY0" fmla="*/ 216028 h 1296144"/>
              <a:gd name="connsiteX1" fmla="*/ 216028 w 2097408"/>
              <a:gd name="connsiteY1" fmla="*/ 0 h 1296144"/>
              <a:gd name="connsiteX2" fmla="*/ 1881380 w 2097408"/>
              <a:gd name="connsiteY2" fmla="*/ 0 h 1296144"/>
              <a:gd name="connsiteX3" fmla="*/ 2097408 w 2097408"/>
              <a:gd name="connsiteY3" fmla="*/ 216028 h 1296144"/>
              <a:gd name="connsiteX4" fmla="*/ 2097408 w 2097408"/>
              <a:gd name="connsiteY4" fmla="*/ 1080116 h 1296144"/>
              <a:gd name="connsiteX5" fmla="*/ 1881380 w 2097408"/>
              <a:gd name="connsiteY5" fmla="*/ 1296144 h 1296144"/>
              <a:gd name="connsiteX6" fmla="*/ 216028 w 2097408"/>
              <a:gd name="connsiteY6" fmla="*/ 1296144 h 1296144"/>
              <a:gd name="connsiteX7" fmla="*/ 0 w 2097408"/>
              <a:gd name="connsiteY7" fmla="*/ 1080116 h 1296144"/>
              <a:gd name="connsiteX8" fmla="*/ 0 w 2097408"/>
              <a:gd name="connsiteY8" fmla="*/ 216028 h 129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408" h="1296144">
                <a:moveTo>
                  <a:pt x="0" y="216028"/>
                </a:moveTo>
                <a:cubicBezTo>
                  <a:pt x="0" y="96719"/>
                  <a:pt x="96719" y="0"/>
                  <a:pt x="216028" y="0"/>
                </a:cubicBezTo>
                <a:lnTo>
                  <a:pt x="1881380" y="0"/>
                </a:lnTo>
                <a:cubicBezTo>
                  <a:pt x="2000689" y="0"/>
                  <a:pt x="2097408" y="96719"/>
                  <a:pt x="2097408" y="216028"/>
                </a:cubicBezTo>
                <a:lnTo>
                  <a:pt x="2097408" y="1080116"/>
                </a:lnTo>
                <a:cubicBezTo>
                  <a:pt x="2097408" y="1199425"/>
                  <a:pt x="2000689" y="1296144"/>
                  <a:pt x="1881380" y="1296144"/>
                </a:cubicBezTo>
                <a:lnTo>
                  <a:pt x="216028" y="1296144"/>
                </a:lnTo>
                <a:cubicBezTo>
                  <a:pt x="96719" y="1296144"/>
                  <a:pt x="0" y="1199425"/>
                  <a:pt x="0" y="1080116"/>
                </a:cubicBezTo>
                <a:lnTo>
                  <a:pt x="0" y="216028"/>
                </a:lnTo>
                <a:close/>
              </a:path>
            </a:pathLst>
          </a:custGeom>
          <a:solidFill>
            <a:srgbClr val="42BA97">
              <a:lumMod val="50000"/>
            </a:srgbClr>
          </a:solidFill>
          <a:ln w="12700" cap="flat" cmpd="sng" algn="ctr">
            <a:solidFill>
              <a:prstClr val="white">
                <a:hueOff val="0"/>
                <a:satOff val="0"/>
                <a:lumOff val="0"/>
                <a:alphaOff val="0"/>
              </a:prstClr>
            </a:solid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1028" tIns="197208" rIns="281028" bIns="197208" numCol="1" spcCol="1270" anchor="ctr" anchorCtr="0">
            <a:noAutofit/>
          </a:bodyPr>
          <a:lstStyle/>
          <a:p>
            <a:pPr algn="ctr" defTabSz="1955800">
              <a:lnSpc>
                <a:spcPct val="90000"/>
              </a:lnSpc>
              <a:spcBef>
                <a:spcPct val="0"/>
              </a:spcBef>
              <a:spcAft>
                <a:spcPct val="35000"/>
              </a:spcAft>
            </a:pPr>
            <a:r>
              <a:rPr lang="es-PE" sz="2800" dirty="0"/>
              <a:t>2. Hallar la región factible (RF)</a:t>
            </a:r>
            <a:endParaRPr lang="es-ES" sz="2800" dirty="0"/>
          </a:p>
        </p:txBody>
      </p:sp>
      <p:sp>
        <p:nvSpPr>
          <p:cNvPr id="13" name="Forma libre: forma 12">
            <a:extLst>
              <a:ext uri="{FF2B5EF4-FFF2-40B4-BE49-F238E27FC236}">
                <a16:creationId xmlns:a16="http://schemas.microsoft.com/office/drawing/2014/main" id="{F878B239-DF13-4D65-BE3E-D1D596707B1D}"/>
              </a:ext>
            </a:extLst>
          </p:cNvPr>
          <p:cNvSpPr/>
          <p:nvPr/>
        </p:nvSpPr>
        <p:spPr>
          <a:xfrm>
            <a:off x="5135175" y="4056497"/>
            <a:ext cx="2058151" cy="1496738"/>
          </a:xfrm>
          <a:custGeom>
            <a:avLst/>
            <a:gdLst>
              <a:gd name="connsiteX0" fmla="*/ 0 w 2097408"/>
              <a:gd name="connsiteY0" fmla="*/ 216028 h 1296144"/>
              <a:gd name="connsiteX1" fmla="*/ 216028 w 2097408"/>
              <a:gd name="connsiteY1" fmla="*/ 0 h 1296144"/>
              <a:gd name="connsiteX2" fmla="*/ 1881380 w 2097408"/>
              <a:gd name="connsiteY2" fmla="*/ 0 h 1296144"/>
              <a:gd name="connsiteX3" fmla="*/ 2097408 w 2097408"/>
              <a:gd name="connsiteY3" fmla="*/ 216028 h 1296144"/>
              <a:gd name="connsiteX4" fmla="*/ 2097408 w 2097408"/>
              <a:gd name="connsiteY4" fmla="*/ 1080116 h 1296144"/>
              <a:gd name="connsiteX5" fmla="*/ 1881380 w 2097408"/>
              <a:gd name="connsiteY5" fmla="*/ 1296144 h 1296144"/>
              <a:gd name="connsiteX6" fmla="*/ 216028 w 2097408"/>
              <a:gd name="connsiteY6" fmla="*/ 1296144 h 1296144"/>
              <a:gd name="connsiteX7" fmla="*/ 0 w 2097408"/>
              <a:gd name="connsiteY7" fmla="*/ 1080116 h 1296144"/>
              <a:gd name="connsiteX8" fmla="*/ 0 w 2097408"/>
              <a:gd name="connsiteY8" fmla="*/ 216028 h 129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408" h="1296144">
                <a:moveTo>
                  <a:pt x="0" y="216028"/>
                </a:moveTo>
                <a:cubicBezTo>
                  <a:pt x="0" y="96719"/>
                  <a:pt x="96719" y="0"/>
                  <a:pt x="216028" y="0"/>
                </a:cubicBezTo>
                <a:lnTo>
                  <a:pt x="1881380" y="0"/>
                </a:lnTo>
                <a:cubicBezTo>
                  <a:pt x="2000689" y="0"/>
                  <a:pt x="2097408" y="96719"/>
                  <a:pt x="2097408" y="216028"/>
                </a:cubicBezTo>
                <a:lnTo>
                  <a:pt x="2097408" y="1080116"/>
                </a:lnTo>
                <a:cubicBezTo>
                  <a:pt x="2097408" y="1199425"/>
                  <a:pt x="2000689" y="1296144"/>
                  <a:pt x="1881380" y="1296144"/>
                </a:cubicBezTo>
                <a:lnTo>
                  <a:pt x="216028" y="1296144"/>
                </a:lnTo>
                <a:cubicBezTo>
                  <a:pt x="96719" y="1296144"/>
                  <a:pt x="0" y="1199425"/>
                  <a:pt x="0" y="1080116"/>
                </a:cubicBezTo>
                <a:lnTo>
                  <a:pt x="0" y="216028"/>
                </a:lnTo>
                <a:close/>
              </a:path>
            </a:pathLst>
          </a:custGeom>
          <a:solidFill>
            <a:srgbClr val="42BA97">
              <a:lumMod val="50000"/>
            </a:srgbClr>
          </a:solidFill>
          <a:ln w="12700" cap="flat" cmpd="sng" algn="ctr">
            <a:solidFill>
              <a:prstClr val="white">
                <a:hueOff val="0"/>
                <a:satOff val="0"/>
                <a:lumOff val="0"/>
                <a:alphaOff val="0"/>
              </a:prstClr>
            </a:solid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1028" tIns="197208" rIns="281028" bIns="197208" numCol="1" spcCol="1270" anchor="ctr" anchorCtr="0">
            <a:noAutofit/>
          </a:bodyPr>
          <a:lstStyle/>
          <a:p>
            <a:pPr algn="ctr" defTabSz="1955800">
              <a:lnSpc>
                <a:spcPct val="90000"/>
              </a:lnSpc>
              <a:spcBef>
                <a:spcPct val="0"/>
              </a:spcBef>
              <a:spcAft>
                <a:spcPct val="35000"/>
              </a:spcAft>
            </a:pPr>
            <a:r>
              <a:rPr lang="es-PE" sz="2800" dirty="0"/>
              <a:t>3. Graficar la Función Objetivo</a:t>
            </a:r>
            <a:endParaRPr lang="es-ES" sz="2800" dirty="0"/>
          </a:p>
        </p:txBody>
      </p:sp>
      <p:sp>
        <p:nvSpPr>
          <p:cNvPr id="14" name="Forma libre: forma 13">
            <a:extLst>
              <a:ext uri="{FF2B5EF4-FFF2-40B4-BE49-F238E27FC236}">
                <a16:creationId xmlns:a16="http://schemas.microsoft.com/office/drawing/2014/main" id="{482B8132-992A-4E01-918E-9F38DF91DF19}"/>
              </a:ext>
            </a:extLst>
          </p:cNvPr>
          <p:cNvSpPr/>
          <p:nvPr/>
        </p:nvSpPr>
        <p:spPr>
          <a:xfrm>
            <a:off x="7225154" y="4056497"/>
            <a:ext cx="2183214" cy="1496737"/>
          </a:xfrm>
          <a:custGeom>
            <a:avLst/>
            <a:gdLst>
              <a:gd name="connsiteX0" fmla="*/ 0 w 2097408"/>
              <a:gd name="connsiteY0" fmla="*/ 216028 h 1296144"/>
              <a:gd name="connsiteX1" fmla="*/ 216028 w 2097408"/>
              <a:gd name="connsiteY1" fmla="*/ 0 h 1296144"/>
              <a:gd name="connsiteX2" fmla="*/ 1881380 w 2097408"/>
              <a:gd name="connsiteY2" fmla="*/ 0 h 1296144"/>
              <a:gd name="connsiteX3" fmla="*/ 2097408 w 2097408"/>
              <a:gd name="connsiteY3" fmla="*/ 216028 h 1296144"/>
              <a:gd name="connsiteX4" fmla="*/ 2097408 w 2097408"/>
              <a:gd name="connsiteY4" fmla="*/ 1080116 h 1296144"/>
              <a:gd name="connsiteX5" fmla="*/ 1881380 w 2097408"/>
              <a:gd name="connsiteY5" fmla="*/ 1296144 h 1296144"/>
              <a:gd name="connsiteX6" fmla="*/ 216028 w 2097408"/>
              <a:gd name="connsiteY6" fmla="*/ 1296144 h 1296144"/>
              <a:gd name="connsiteX7" fmla="*/ 0 w 2097408"/>
              <a:gd name="connsiteY7" fmla="*/ 1080116 h 1296144"/>
              <a:gd name="connsiteX8" fmla="*/ 0 w 2097408"/>
              <a:gd name="connsiteY8" fmla="*/ 216028 h 129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408" h="1296144">
                <a:moveTo>
                  <a:pt x="0" y="216028"/>
                </a:moveTo>
                <a:cubicBezTo>
                  <a:pt x="0" y="96719"/>
                  <a:pt x="96719" y="0"/>
                  <a:pt x="216028" y="0"/>
                </a:cubicBezTo>
                <a:lnTo>
                  <a:pt x="1881380" y="0"/>
                </a:lnTo>
                <a:cubicBezTo>
                  <a:pt x="2000689" y="0"/>
                  <a:pt x="2097408" y="96719"/>
                  <a:pt x="2097408" y="216028"/>
                </a:cubicBezTo>
                <a:lnTo>
                  <a:pt x="2097408" y="1080116"/>
                </a:lnTo>
                <a:cubicBezTo>
                  <a:pt x="2097408" y="1199425"/>
                  <a:pt x="2000689" y="1296144"/>
                  <a:pt x="1881380" y="1296144"/>
                </a:cubicBezTo>
                <a:lnTo>
                  <a:pt x="216028" y="1296144"/>
                </a:lnTo>
                <a:cubicBezTo>
                  <a:pt x="96719" y="1296144"/>
                  <a:pt x="0" y="1199425"/>
                  <a:pt x="0" y="1080116"/>
                </a:cubicBezTo>
                <a:lnTo>
                  <a:pt x="0" y="216028"/>
                </a:lnTo>
                <a:close/>
              </a:path>
            </a:pathLst>
          </a:custGeom>
          <a:solidFill>
            <a:srgbClr val="42BA97">
              <a:lumMod val="50000"/>
            </a:srgbClr>
          </a:solidFill>
          <a:ln w="12700" cap="flat" cmpd="sng" algn="ctr">
            <a:solidFill>
              <a:prstClr val="white">
                <a:hueOff val="0"/>
                <a:satOff val="0"/>
                <a:lumOff val="0"/>
                <a:alphaOff val="0"/>
              </a:prstClr>
            </a:solidFill>
            <a:prstDash val="solid"/>
            <a:miter lim="800000"/>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1028" tIns="197208" rIns="281028" bIns="197208" numCol="1" spcCol="1270" anchor="ctr" anchorCtr="0">
            <a:noAutofit/>
          </a:bodyPr>
          <a:lstStyle/>
          <a:p>
            <a:pPr algn="ctr" defTabSz="1955800">
              <a:lnSpc>
                <a:spcPct val="90000"/>
              </a:lnSpc>
              <a:spcBef>
                <a:spcPct val="0"/>
              </a:spcBef>
              <a:spcAft>
                <a:spcPct val="35000"/>
              </a:spcAft>
            </a:pPr>
            <a:r>
              <a:rPr lang="es-PE" sz="2800" dirty="0"/>
              <a:t>4. Hallar la </a:t>
            </a:r>
            <a:r>
              <a:rPr lang="es-PE" sz="2800"/>
              <a:t>solución óptima</a:t>
            </a:r>
            <a:endParaRPr lang="es-ES" sz="2800" dirty="0"/>
          </a:p>
        </p:txBody>
      </p:sp>
      <p:sp>
        <p:nvSpPr>
          <p:cNvPr id="10" name="Rectángulo 9">
            <a:extLst>
              <a:ext uri="{FF2B5EF4-FFF2-40B4-BE49-F238E27FC236}">
                <a16:creationId xmlns:a16="http://schemas.microsoft.com/office/drawing/2014/main" id="{93599027-B8E4-4AA7-A9E6-69302E54C0C9}"/>
              </a:ext>
            </a:extLst>
          </p:cNvPr>
          <p:cNvSpPr/>
          <p:nvPr/>
        </p:nvSpPr>
        <p:spPr>
          <a:xfrm>
            <a:off x="2665384" y="6031498"/>
            <a:ext cx="1355051" cy="707886"/>
          </a:xfrm>
          <a:prstGeom prst="rect">
            <a:avLst/>
          </a:prstGeom>
        </p:spPr>
        <p:txBody>
          <a:bodyPr wrap="none">
            <a:spAutoFit/>
          </a:bodyPr>
          <a:lstStyle/>
          <a:p>
            <a:pPr lvl="0"/>
            <a:r>
              <a:rPr lang="es-PE" sz="4000" dirty="0">
                <a:solidFill>
                  <a:schemeClr val="accent2">
                    <a:lumMod val="50000"/>
                  </a:schemeClr>
                </a:solidFill>
              </a:rPr>
              <a:t>Pasos</a:t>
            </a:r>
          </a:p>
        </p:txBody>
      </p:sp>
      <p:cxnSp>
        <p:nvCxnSpPr>
          <p:cNvPr id="5" name="5 Conector recto">
            <a:extLst>
              <a:ext uri="{FF2B5EF4-FFF2-40B4-BE49-F238E27FC236}">
                <a16:creationId xmlns:a16="http://schemas.microsoft.com/office/drawing/2014/main" id="{6A291BB9-1F23-B3E6-C21D-9A0434E716F7}"/>
              </a:ext>
            </a:extLst>
          </p:cNvPr>
          <p:cNvCxnSpPr/>
          <p:nvPr/>
        </p:nvCxnSpPr>
        <p:spPr>
          <a:xfrm>
            <a:off x="8940316" y="1484784"/>
            <a:ext cx="2839953" cy="252028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563BD43D-4107-DA4C-1F5C-977273B9DAF5}"/>
              </a:ext>
            </a:extLst>
          </p:cNvPr>
          <p:cNvSpPr txBox="1"/>
          <p:nvPr/>
        </p:nvSpPr>
        <p:spPr>
          <a:xfrm>
            <a:off x="9458648" y="2666500"/>
            <a:ext cx="595223" cy="369332"/>
          </a:xfrm>
          <a:prstGeom prst="rect">
            <a:avLst/>
          </a:prstGeom>
          <a:noFill/>
        </p:spPr>
        <p:txBody>
          <a:bodyPr wrap="square" rtlCol="0">
            <a:spAutoFit/>
          </a:bodyPr>
          <a:lstStyle>
            <a:defPPr>
              <a:defRPr lang="es-PE"/>
            </a:defPPr>
            <a:lvl1pPr>
              <a:defRPr b="1">
                <a:latin typeface="Arial Narrow" panose="020B0606020202030204" pitchFamily="34" charset="0"/>
              </a:defRPr>
            </a:lvl1pPr>
          </a:lstStyle>
          <a:p>
            <a:r>
              <a:rPr lang="es-ES" dirty="0"/>
              <a:t>R. F.</a:t>
            </a:r>
            <a:endParaRPr lang="es-PE" dirty="0"/>
          </a:p>
        </p:txBody>
      </p:sp>
      <p:sp>
        <p:nvSpPr>
          <p:cNvPr id="7" name="Elipse 6">
            <a:extLst>
              <a:ext uri="{FF2B5EF4-FFF2-40B4-BE49-F238E27FC236}">
                <a16:creationId xmlns:a16="http://schemas.microsoft.com/office/drawing/2014/main" id="{F1224AA7-5EB9-B6A5-F6F4-8D10894E74AE}"/>
              </a:ext>
            </a:extLst>
          </p:cNvPr>
          <p:cNvSpPr/>
          <p:nvPr/>
        </p:nvSpPr>
        <p:spPr>
          <a:xfrm rot="1236466">
            <a:off x="9752109" y="2188565"/>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
        <p:nvSpPr>
          <p:cNvPr id="8" name="CuadroTexto 7">
            <a:extLst>
              <a:ext uri="{FF2B5EF4-FFF2-40B4-BE49-F238E27FC236}">
                <a16:creationId xmlns:a16="http://schemas.microsoft.com/office/drawing/2014/main" id="{D4C0EDD0-CA0C-A322-EF69-483DA19AE28C}"/>
              </a:ext>
            </a:extLst>
          </p:cNvPr>
          <p:cNvSpPr txBox="1"/>
          <p:nvPr/>
        </p:nvSpPr>
        <p:spPr>
          <a:xfrm>
            <a:off x="9756260" y="1940641"/>
            <a:ext cx="615356" cy="369332"/>
          </a:xfrm>
          <a:prstGeom prst="rect">
            <a:avLst/>
          </a:prstGeom>
          <a:noFill/>
        </p:spPr>
        <p:txBody>
          <a:bodyPr wrap="square" rtlCol="0">
            <a:spAutoFit/>
          </a:bodyPr>
          <a:lstStyle/>
          <a:p>
            <a:r>
              <a:rPr lang="es-ES" b="1" dirty="0">
                <a:latin typeface="Arial Narrow" panose="020B0606020202030204" pitchFamily="34" charset="0"/>
              </a:rPr>
              <a:t>S. O.</a:t>
            </a:r>
            <a:endParaRPr lang="es-PE" b="1" dirty="0">
              <a:latin typeface="Arial Narrow" panose="020B0606020202030204" pitchFamily="34" charset="0"/>
            </a:endParaRPr>
          </a:p>
        </p:txBody>
      </p:sp>
    </p:spTree>
    <p:extLst>
      <p:ext uri="{BB962C8B-B14F-4D97-AF65-F5344CB8AC3E}">
        <p14:creationId xmlns:p14="http://schemas.microsoft.com/office/powerpoint/2010/main" val="329752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0"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43CFB82D-EA51-47FC-9750-FAFA02C8F16C}"/>
              </a:ext>
            </a:extLst>
          </p:cNvPr>
          <p:cNvSpPr/>
          <p:nvPr/>
        </p:nvSpPr>
        <p:spPr>
          <a:xfrm>
            <a:off x="6096000" y="287206"/>
            <a:ext cx="6096000" cy="48492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spcBef>
                <a:spcPct val="0"/>
              </a:spcBef>
            </a:pPr>
            <a:r>
              <a:rPr lang="es-PE" sz="3200" dirty="0">
                <a:solidFill>
                  <a:schemeClr val="bg1"/>
                </a:solidFill>
                <a:latin typeface="Bauhaus 93" pitchFamily="82" charset="0"/>
              </a:rPr>
              <a:t>Método Gráfico</a:t>
            </a:r>
          </a:p>
        </p:txBody>
      </p:sp>
      <p:grpSp>
        <p:nvGrpSpPr>
          <p:cNvPr id="16" name="Grupo 15">
            <a:extLst>
              <a:ext uri="{FF2B5EF4-FFF2-40B4-BE49-F238E27FC236}">
                <a16:creationId xmlns:a16="http://schemas.microsoft.com/office/drawing/2014/main" id="{1D253D23-DD52-4520-8340-A3B3651C02C4}"/>
              </a:ext>
            </a:extLst>
          </p:cNvPr>
          <p:cNvGrpSpPr/>
          <p:nvPr/>
        </p:nvGrpSpPr>
        <p:grpSpPr>
          <a:xfrm>
            <a:off x="365188" y="1690834"/>
            <a:ext cx="7598713" cy="2322763"/>
            <a:chOff x="1883434" y="1690834"/>
            <a:chExt cx="8381999" cy="2322763"/>
          </a:xfrm>
        </p:grpSpPr>
        <p:sp>
          <p:nvSpPr>
            <p:cNvPr id="17" name="Forma libre: forma 16">
              <a:extLst>
                <a:ext uri="{FF2B5EF4-FFF2-40B4-BE49-F238E27FC236}">
                  <a16:creationId xmlns:a16="http://schemas.microsoft.com/office/drawing/2014/main" id="{B4DD4A29-284B-4FB0-9587-F1EBEBBFF015}"/>
                </a:ext>
              </a:extLst>
            </p:cNvPr>
            <p:cNvSpPr/>
            <p:nvPr/>
          </p:nvSpPr>
          <p:spPr>
            <a:xfrm>
              <a:off x="4900953" y="1923111"/>
              <a:ext cx="5364480" cy="1858210"/>
            </a:xfrm>
            <a:custGeom>
              <a:avLst/>
              <a:gdLst>
                <a:gd name="connsiteX0" fmla="*/ 309708 w 1858210"/>
                <a:gd name="connsiteY0" fmla="*/ 0 h 5364480"/>
                <a:gd name="connsiteX1" fmla="*/ 1548502 w 1858210"/>
                <a:gd name="connsiteY1" fmla="*/ 0 h 5364480"/>
                <a:gd name="connsiteX2" fmla="*/ 1858210 w 1858210"/>
                <a:gd name="connsiteY2" fmla="*/ 309708 h 5364480"/>
                <a:gd name="connsiteX3" fmla="*/ 1858210 w 1858210"/>
                <a:gd name="connsiteY3" fmla="*/ 5364480 h 5364480"/>
                <a:gd name="connsiteX4" fmla="*/ 1858210 w 1858210"/>
                <a:gd name="connsiteY4" fmla="*/ 5364480 h 5364480"/>
                <a:gd name="connsiteX5" fmla="*/ 0 w 1858210"/>
                <a:gd name="connsiteY5" fmla="*/ 5364480 h 5364480"/>
                <a:gd name="connsiteX6" fmla="*/ 0 w 1858210"/>
                <a:gd name="connsiteY6" fmla="*/ 5364480 h 5364480"/>
                <a:gd name="connsiteX7" fmla="*/ 0 w 1858210"/>
                <a:gd name="connsiteY7" fmla="*/ 309708 h 5364480"/>
                <a:gd name="connsiteX8" fmla="*/ 309708 w 1858210"/>
                <a:gd name="connsiteY8" fmla="*/ 0 h 536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210" h="5364480">
                  <a:moveTo>
                    <a:pt x="1858210" y="894098"/>
                  </a:moveTo>
                  <a:lnTo>
                    <a:pt x="1858210" y="4470382"/>
                  </a:lnTo>
                  <a:cubicBezTo>
                    <a:pt x="1858210" y="4964179"/>
                    <a:pt x="1810179" y="5364480"/>
                    <a:pt x="1750930" y="5364480"/>
                  </a:cubicBezTo>
                  <a:lnTo>
                    <a:pt x="0" y="5364480"/>
                  </a:lnTo>
                  <a:lnTo>
                    <a:pt x="0" y="5364480"/>
                  </a:lnTo>
                  <a:lnTo>
                    <a:pt x="0" y="0"/>
                  </a:lnTo>
                  <a:lnTo>
                    <a:pt x="0" y="0"/>
                  </a:lnTo>
                  <a:lnTo>
                    <a:pt x="1750930" y="0"/>
                  </a:lnTo>
                  <a:cubicBezTo>
                    <a:pt x="1810179" y="0"/>
                    <a:pt x="1858210" y="400301"/>
                    <a:pt x="1858210" y="894098"/>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6680" tIns="144050" rIns="197390" bIns="144050" numCol="1" spcCol="1270" anchor="ctr" anchorCtr="0">
              <a:noAutofit/>
            </a:bodyPr>
            <a:lstStyle/>
            <a:p>
              <a:pPr marL="285750" lvl="1" indent="-285750" algn="l" defTabSz="1244600">
                <a:lnSpc>
                  <a:spcPct val="90000"/>
                </a:lnSpc>
                <a:spcBef>
                  <a:spcPct val="0"/>
                </a:spcBef>
                <a:spcAft>
                  <a:spcPct val="15000"/>
                </a:spcAft>
                <a:buChar char="•"/>
              </a:pPr>
              <a:r>
                <a:rPr lang="es-PE" sz="2800" kern="1200"/>
                <a:t>Es el conjunto de puntos que cumplen con todas las restricciones incluyendo la restricción de no negatividad.</a:t>
              </a:r>
            </a:p>
          </p:txBody>
        </p:sp>
        <p:sp>
          <p:nvSpPr>
            <p:cNvPr id="18" name="Forma libre: forma 17">
              <a:extLst>
                <a:ext uri="{FF2B5EF4-FFF2-40B4-BE49-F238E27FC236}">
                  <a16:creationId xmlns:a16="http://schemas.microsoft.com/office/drawing/2014/main" id="{89AAA29D-683A-4E43-9BC4-F3AB3B3F0B2B}"/>
                </a:ext>
              </a:extLst>
            </p:cNvPr>
            <p:cNvSpPr/>
            <p:nvPr/>
          </p:nvSpPr>
          <p:spPr>
            <a:xfrm>
              <a:off x="1883434" y="1690834"/>
              <a:ext cx="3017520" cy="2322763"/>
            </a:xfrm>
            <a:custGeom>
              <a:avLst/>
              <a:gdLst>
                <a:gd name="connsiteX0" fmla="*/ 0 w 3017520"/>
                <a:gd name="connsiteY0" fmla="*/ 387135 h 2322763"/>
                <a:gd name="connsiteX1" fmla="*/ 387135 w 3017520"/>
                <a:gd name="connsiteY1" fmla="*/ 0 h 2322763"/>
                <a:gd name="connsiteX2" fmla="*/ 2630385 w 3017520"/>
                <a:gd name="connsiteY2" fmla="*/ 0 h 2322763"/>
                <a:gd name="connsiteX3" fmla="*/ 3017520 w 3017520"/>
                <a:gd name="connsiteY3" fmla="*/ 387135 h 2322763"/>
                <a:gd name="connsiteX4" fmla="*/ 3017520 w 3017520"/>
                <a:gd name="connsiteY4" fmla="*/ 1935628 h 2322763"/>
                <a:gd name="connsiteX5" fmla="*/ 2630385 w 3017520"/>
                <a:gd name="connsiteY5" fmla="*/ 2322763 h 2322763"/>
                <a:gd name="connsiteX6" fmla="*/ 387135 w 3017520"/>
                <a:gd name="connsiteY6" fmla="*/ 2322763 h 2322763"/>
                <a:gd name="connsiteX7" fmla="*/ 0 w 3017520"/>
                <a:gd name="connsiteY7" fmla="*/ 1935628 h 2322763"/>
                <a:gd name="connsiteX8" fmla="*/ 0 w 3017520"/>
                <a:gd name="connsiteY8" fmla="*/ 387135 h 232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7520" h="2322763">
                  <a:moveTo>
                    <a:pt x="0" y="387135"/>
                  </a:moveTo>
                  <a:cubicBezTo>
                    <a:pt x="0" y="173326"/>
                    <a:pt x="173326" y="0"/>
                    <a:pt x="387135" y="0"/>
                  </a:cubicBezTo>
                  <a:lnTo>
                    <a:pt x="2630385" y="0"/>
                  </a:lnTo>
                  <a:cubicBezTo>
                    <a:pt x="2844194" y="0"/>
                    <a:pt x="3017520" y="173326"/>
                    <a:pt x="3017520" y="387135"/>
                  </a:cubicBezTo>
                  <a:lnTo>
                    <a:pt x="3017520" y="1935628"/>
                  </a:lnTo>
                  <a:cubicBezTo>
                    <a:pt x="3017520" y="2149437"/>
                    <a:pt x="2844194" y="2322763"/>
                    <a:pt x="2630385" y="2322763"/>
                  </a:cubicBezTo>
                  <a:lnTo>
                    <a:pt x="387135" y="2322763"/>
                  </a:lnTo>
                  <a:cubicBezTo>
                    <a:pt x="173326" y="2322763"/>
                    <a:pt x="0" y="2149437"/>
                    <a:pt x="0" y="1935628"/>
                  </a:cubicBezTo>
                  <a:lnTo>
                    <a:pt x="0" y="387135"/>
                  </a:lnTo>
                  <a:close/>
                </a:path>
              </a:pathLst>
            </a:custGeom>
            <a:solidFill>
              <a:schemeClr val="accent4">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1028" tIns="197208" rIns="281028" bIns="197208" numCol="1" spcCol="1270" anchor="ctr" anchorCtr="0">
              <a:noAutofit/>
            </a:bodyPr>
            <a:lstStyle/>
            <a:p>
              <a:pPr marL="0" lvl="0" indent="0" algn="ctr" defTabSz="1955800">
                <a:lnSpc>
                  <a:spcPct val="90000"/>
                </a:lnSpc>
                <a:spcBef>
                  <a:spcPct val="0"/>
                </a:spcBef>
                <a:spcAft>
                  <a:spcPct val="35000"/>
                </a:spcAft>
                <a:buNone/>
              </a:pPr>
              <a:r>
                <a:rPr lang="es-PE" sz="3200" kern="1200"/>
                <a:t>REGIÓN FACTIBLE</a:t>
              </a:r>
            </a:p>
          </p:txBody>
        </p:sp>
      </p:grpSp>
      <p:sp>
        <p:nvSpPr>
          <p:cNvPr id="21" name="Forma libre: forma 20">
            <a:extLst>
              <a:ext uri="{FF2B5EF4-FFF2-40B4-BE49-F238E27FC236}">
                <a16:creationId xmlns:a16="http://schemas.microsoft.com/office/drawing/2014/main" id="{3FF6A797-60BA-4B0B-AE74-74513E122F7F}"/>
              </a:ext>
            </a:extLst>
          </p:cNvPr>
          <p:cNvSpPr/>
          <p:nvPr/>
        </p:nvSpPr>
        <p:spPr>
          <a:xfrm>
            <a:off x="3096100" y="4362012"/>
            <a:ext cx="4863177" cy="1858210"/>
          </a:xfrm>
          <a:custGeom>
            <a:avLst/>
            <a:gdLst>
              <a:gd name="connsiteX0" fmla="*/ 309708 w 1858210"/>
              <a:gd name="connsiteY0" fmla="*/ 0 h 5364480"/>
              <a:gd name="connsiteX1" fmla="*/ 1548502 w 1858210"/>
              <a:gd name="connsiteY1" fmla="*/ 0 h 5364480"/>
              <a:gd name="connsiteX2" fmla="*/ 1858210 w 1858210"/>
              <a:gd name="connsiteY2" fmla="*/ 309708 h 5364480"/>
              <a:gd name="connsiteX3" fmla="*/ 1858210 w 1858210"/>
              <a:gd name="connsiteY3" fmla="*/ 5364480 h 5364480"/>
              <a:gd name="connsiteX4" fmla="*/ 1858210 w 1858210"/>
              <a:gd name="connsiteY4" fmla="*/ 5364480 h 5364480"/>
              <a:gd name="connsiteX5" fmla="*/ 0 w 1858210"/>
              <a:gd name="connsiteY5" fmla="*/ 5364480 h 5364480"/>
              <a:gd name="connsiteX6" fmla="*/ 0 w 1858210"/>
              <a:gd name="connsiteY6" fmla="*/ 5364480 h 5364480"/>
              <a:gd name="connsiteX7" fmla="*/ 0 w 1858210"/>
              <a:gd name="connsiteY7" fmla="*/ 309708 h 5364480"/>
              <a:gd name="connsiteX8" fmla="*/ 309708 w 1858210"/>
              <a:gd name="connsiteY8" fmla="*/ 0 h 536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210" h="5364480">
                <a:moveTo>
                  <a:pt x="1858210" y="894098"/>
                </a:moveTo>
                <a:lnTo>
                  <a:pt x="1858210" y="4470382"/>
                </a:lnTo>
                <a:cubicBezTo>
                  <a:pt x="1858210" y="4964179"/>
                  <a:pt x="1810179" y="5364480"/>
                  <a:pt x="1750930" y="5364480"/>
                </a:cubicBezTo>
                <a:lnTo>
                  <a:pt x="0" y="5364480"/>
                </a:lnTo>
                <a:lnTo>
                  <a:pt x="0" y="5364480"/>
                </a:lnTo>
                <a:lnTo>
                  <a:pt x="0" y="0"/>
                </a:lnTo>
                <a:lnTo>
                  <a:pt x="0" y="0"/>
                </a:lnTo>
                <a:lnTo>
                  <a:pt x="1750930" y="0"/>
                </a:lnTo>
                <a:cubicBezTo>
                  <a:pt x="1810179" y="0"/>
                  <a:pt x="1858210" y="400301"/>
                  <a:pt x="1858210" y="894098"/>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6680" tIns="144050" rIns="197390" bIns="144050" numCol="1" spcCol="1270" anchor="ctr" anchorCtr="0">
            <a:noAutofit/>
          </a:bodyPr>
          <a:lstStyle/>
          <a:p>
            <a:pPr marL="285750" lvl="1" indent="-285750" algn="l" defTabSz="1244600">
              <a:lnSpc>
                <a:spcPct val="90000"/>
              </a:lnSpc>
              <a:spcBef>
                <a:spcPct val="0"/>
              </a:spcBef>
              <a:spcAft>
                <a:spcPct val="15000"/>
              </a:spcAft>
              <a:buChar char="•"/>
            </a:pPr>
            <a:r>
              <a:rPr lang="es-PE" sz="2800" kern="1200" dirty="0"/>
              <a:t>Es el punto o puntos de la región factible que optimizan a la Función Objetivo, es decir donde se halla el máximo o el mínimo.</a:t>
            </a:r>
          </a:p>
        </p:txBody>
      </p:sp>
      <p:sp>
        <p:nvSpPr>
          <p:cNvPr id="22" name="Forma libre: forma 21">
            <a:extLst>
              <a:ext uri="{FF2B5EF4-FFF2-40B4-BE49-F238E27FC236}">
                <a16:creationId xmlns:a16="http://schemas.microsoft.com/office/drawing/2014/main" id="{65086A7D-D4B3-40DA-B781-5BDCC115869E}"/>
              </a:ext>
            </a:extLst>
          </p:cNvPr>
          <p:cNvSpPr/>
          <p:nvPr/>
        </p:nvSpPr>
        <p:spPr>
          <a:xfrm>
            <a:off x="365188" y="4129735"/>
            <a:ext cx="2735537" cy="2322763"/>
          </a:xfrm>
          <a:custGeom>
            <a:avLst/>
            <a:gdLst>
              <a:gd name="connsiteX0" fmla="*/ 0 w 3017520"/>
              <a:gd name="connsiteY0" fmla="*/ 387135 h 2322763"/>
              <a:gd name="connsiteX1" fmla="*/ 387135 w 3017520"/>
              <a:gd name="connsiteY1" fmla="*/ 0 h 2322763"/>
              <a:gd name="connsiteX2" fmla="*/ 2630385 w 3017520"/>
              <a:gd name="connsiteY2" fmla="*/ 0 h 2322763"/>
              <a:gd name="connsiteX3" fmla="*/ 3017520 w 3017520"/>
              <a:gd name="connsiteY3" fmla="*/ 387135 h 2322763"/>
              <a:gd name="connsiteX4" fmla="*/ 3017520 w 3017520"/>
              <a:gd name="connsiteY4" fmla="*/ 1935628 h 2322763"/>
              <a:gd name="connsiteX5" fmla="*/ 2630385 w 3017520"/>
              <a:gd name="connsiteY5" fmla="*/ 2322763 h 2322763"/>
              <a:gd name="connsiteX6" fmla="*/ 387135 w 3017520"/>
              <a:gd name="connsiteY6" fmla="*/ 2322763 h 2322763"/>
              <a:gd name="connsiteX7" fmla="*/ 0 w 3017520"/>
              <a:gd name="connsiteY7" fmla="*/ 1935628 h 2322763"/>
              <a:gd name="connsiteX8" fmla="*/ 0 w 3017520"/>
              <a:gd name="connsiteY8" fmla="*/ 387135 h 232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7520" h="2322763">
                <a:moveTo>
                  <a:pt x="0" y="387135"/>
                </a:moveTo>
                <a:cubicBezTo>
                  <a:pt x="0" y="173326"/>
                  <a:pt x="173326" y="0"/>
                  <a:pt x="387135" y="0"/>
                </a:cubicBezTo>
                <a:lnTo>
                  <a:pt x="2630385" y="0"/>
                </a:lnTo>
                <a:cubicBezTo>
                  <a:pt x="2844194" y="0"/>
                  <a:pt x="3017520" y="173326"/>
                  <a:pt x="3017520" y="387135"/>
                </a:cubicBezTo>
                <a:lnTo>
                  <a:pt x="3017520" y="1935628"/>
                </a:lnTo>
                <a:cubicBezTo>
                  <a:pt x="3017520" y="2149437"/>
                  <a:pt x="2844194" y="2322763"/>
                  <a:pt x="2630385" y="2322763"/>
                </a:cubicBezTo>
                <a:lnTo>
                  <a:pt x="387135" y="2322763"/>
                </a:lnTo>
                <a:cubicBezTo>
                  <a:pt x="173326" y="2322763"/>
                  <a:pt x="0" y="2149437"/>
                  <a:pt x="0" y="1935628"/>
                </a:cubicBezTo>
                <a:lnTo>
                  <a:pt x="0" y="387135"/>
                </a:lnTo>
                <a:close/>
              </a:path>
            </a:pathLst>
          </a:custGeom>
          <a:solidFill>
            <a:schemeClr val="accent4">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1028" tIns="197208" rIns="281028" bIns="197208" numCol="1" spcCol="1270" anchor="ctr" anchorCtr="0">
            <a:noAutofit/>
          </a:bodyPr>
          <a:lstStyle/>
          <a:p>
            <a:pPr marL="0" lvl="0" indent="0" algn="ctr" defTabSz="1955800">
              <a:lnSpc>
                <a:spcPct val="90000"/>
              </a:lnSpc>
              <a:spcBef>
                <a:spcPct val="0"/>
              </a:spcBef>
              <a:spcAft>
                <a:spcPct val="35000"/>
              </a:spcAft>
              <a:buNone/>
            </a:pPr>
            <a:r>
              <a:rPr lang="es-PE" sz="3200" kern="1200" dirty="0"/>
              <a:t>SOLUCIÓN OPTIMA</a:t>
            </a:r>
          </a:p>
        </p:txBody>
      </p:sp>
      <p:sp>
        <p:nvSpPr>
          <p:cNvPr id="6" name="CuadroTexto 5">
            <a:extLst>
              <a:ext uri="{FF2B5EF4-FFF2-40B4-BE49-F238E27FC236}">
                <a16:creationId xmlns:a16="http://schemas.microsoft.com/office/drawing/2014/main" id="{0DC64670-053C-1B4F-819F-51C53F985BC5}"/>
              </a:ext>
            </a:extLst>
          </p:cNvPr>
          <p:cNvSpPr txBox="1"/>
          <p:nvPr/>
        </p:nvSpPr>
        <p:spPr>
          <a:xfrm>
            <a:off x="8464357" y="4354830"/>
            <a:ext cx="3727643" cy="1938992"/>
          </a:xfrm>
          <a:prstGeom prst="rect">
            <a:avLst/>
          </a:prstGeom>
          <a:noFill/>
        </p:spPr>
        <p:txBody>
          <a:bodyPr wrap="square">
            <a:spAutoFit/>
          </a:bodyPr>
          <a:lstStyle/>
          <a:p>
            <a:pPr algn="just" eaLnBrk="1" hangingPunct="1"/>
            <a:r>
              <a:rPr lang="es-ES_tradnl" altLang="es-PE" sz="2400" dirty="0">
                <a:latin typeface="Arial Narrow" panose="020B0606020202030204" pitchFamily="34" charset="0"/>
              </a:rPr>
              <a:t>Mover la línea de la FO de manera paralela, buscar el vértice </a:t>
            </a:r>
            <a:r>
              <a:rPr lang="es-ES_tradnl" altLang="es-PE" sz="2400" b="1" dirty="0">
                <a:latin typeface="Arial Narrow" panose="020B0606020202030204" pitchFamily="34" charset="0"/>
              </a:rPr>
              <a:t>más alto</a:t>
            </a:r>
            <a:r>
              <a:rPr lang="es-ES_tradnl" altLang="es-PE" sz="2400" dirty="0">
                <a:latin typeface="Arial Narrow" panose="020B0606020202030204" pitchFamily="34" charset="0"/>
              </a:rPr>
              <a:t> si es utilidad o el vértice </a:t>
            </a:r>
            <a:r>
              <a:rPr lang="es-ES_tradnl" altLang="es-PE" sz="2400" b="1" dirty="0">
                <a:latin typeface="Arial Narrow" panose="020B0606020202030204" pitchFamily="34" charset="0"/>
              </a:rPr>
              <a:t>más bajo </a:t>
            </a:r>
            <a:r>
              <a:rPr lang="es-ES_tradnl" altLang="es-PE" sz="2400" dirty="0">
                <a:latin typeface="Arial Narrow" panose="020B0606020202030204" pitchFamily="34" charset="0"/>
              </a:rPr>
              <a:t>si es costo, manteniendo la pendiente.</a:t>
            </a:r>
          </a:p>
        </p:txBody>
      </p:sp>
      <p:pic>
        <p:nvPicPr>
          <p:cNvPr id="5" name="image3.jpeg">
            <a:extLst>
              <a:ext uri="{FF2B5EF4-FFF2-40B4-BE49-F238E27FC236}">
                <a16:creationId xmlns:a16="http://schemas.microsoft.com/office/drawing/2014/main" id="{DAFA5D08-0BAA-96D1-535F-105ABE86CF54}"/>
              </a:ext>
            </a:extLst>
          </p:cNvPr>
          <p:cNvPicPr/>
          <p:nvPr/>
        </p:nvPicPr>
        <p:blipFill>
          <a:blip r:embed="rId2" cstate="print"/>
          <a:stretch>
            <a:fillRect/>
          </a:stretch>
        </p:blipFill>
        <p:spPr>
          <a:xfrm>
            <a:off x="9016554" y="1313319"/>
            <a:ext cx="3127985" cy="2615099"/>
          </a:xfrm>
          <a:prstGeom prst="rect">
            <a:avLst/>
          </a:prstGeom>
        </p:spPr>
      </p:pic>
      <p:cxnSp>
        <p:nvCxnSpPr>
          <p:cNvPr id="7" name="5 Conector recto">
            <a:extLst>
              <a:ext uri="{FF2B5EF4-FFF2-40B4-BE49-F238E27FC236}">
                <a16:creationId xmlns:a16="http://schemas.microsoft.com/office/drawing/2014/main" id="{7BA774BF-9CEE-8A19-72E5-74C58ED4AF39}"/>
              </a:ext>
            </a:extLst>
          </p:cNvPr>
          <p:cNvCxnSpPr/>
          <p:nvPr/>
        </p:nvCxnSpPr>
        <p:spPr>
          <a:xfrm>
            <a:off x="8940316" y="1484784"/>
            <a:ext cx="2839953" cy="252028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94D29452-1B6F-2D48-5EE5-BFE6E3331805}"/>
              </a:ext>
            </a:extLst>
          </p:cNvPr>
          <p:cNvSpPr txBox="1"/>
          <p:nvPr/>
        </p:nvSpPr>
        <p:spPr>
          <a:xfrm>
            <a:off x="9458648" y="2666500"/>
            <a:ext cx="595223" cy="369332"/>
          </a:xfrm>
          <a:prstGeom prst="rect">
            <a:avLst/>
          </a:prstGeom>
          <a:noFill/>
        </p:spPr>
        <p:txBody>
          <a:bodyPr wrap="square" rtlCol="0">
            <a:spAutoFit/>
          </a:bodyPr>
          <a:lstStyle>
            <a:defPPr>
              <a:defRPr lang="es-PE"/>
            </a:defPPr>
            <a:lvl1pPr>
              <a:defRPr b="1">
                <a:latin typeface="Arial Narrow" panose="020B0606020202030204" pitchFamily="34" charset="0"/>
              </a:defRPr>
            </a:lvl1pPr>
          </a:lstStyle>
          <a:p>
            <a:r>
              <a:rPr lang="es-ES" dirty="0"/>
              <a:t>R. F.</a:t>
            </a:r>
            <a:endParaRPr lang="es-PE" dirty="0"/>
          </a:p>
        </p:txBody>
      </p:sp>
      <p:sp>
        <p:nvSpPr>
          <p:cNvPr id="11" name="Elipse 10">
            <a:extLst>
              <a:ext uri="{FF2B5EF4-FFF2-40B4-BE49-F238E27FC236}">
                <a16:creationId xmlns:a16="http://schemas.microsoft.com/office/drawing/2014/main" id="{9C02DAAA-5590-637E-6C31-5280366AB5FC}"/>
              </a:ext>
            </a:extLst>
          </p:cNvPr>
          <p:cNvSpPr/>
          <p:nvPr/>
        </p:nvSpPr>
        <p:spPr>
          <a:xfrm rot="1236466">
            <a:off x="9752109" y="2188565"/>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
        <p:nvSpPr>
          <p:cNvPr id="13" name="CuadroTexto 12">
            <a:extLst>
              <a:ext uri="{FF2B5EF4-FFF2-40B4-BE49-F238E27FC236}">
                <a16:creationId xmlns:a16="http://schemas.microsoft.com/office/drawing/2014/main" id="{11D37E01-3476-8EBE-3BEE-B92822288EE1}"/>
              </a:ext>
            </a:extLst>
          </p:cNvPr>
          <p:cNvSpPr txBox="1"/>
          <p:nvPr/>
        </p:nvSpPr>
        <p:spPr>
          <a:xfrm>
            <a:off x="9756260" y="1940641"/>
            <a:ext cx="615356" cy="369332"/>
          </a:xfrm>
          <a:prstGeom prst="rect">
            <a:avLst/>
          </a:prstGeom>
          <a:noFill/>
        </p:spPr>
        <p:txBody>
          <a:bodyPr wrap="square" rtlCol="0">
            <a:spAutoFit/>
          </a:bodyPr>
          <a:lstStyle/>
          <a:p>
            <a:r>
              <a:rPr lang="es-ES" b="1" dirty="0">
                <a:latin typeface="Arial Narrow" panose="020B0606020202030204" pitchFamily="34" charset="0"/>
              </a:rPr>
              <a:t>S. O.</a:t>
            </a:r>
            <a:endParaRPr lang="es-PE" b="1" dirty="0">
              <a:latin typeface="Arial Narrow" panose="020B0606020202030204" pitchFamily="34" charset="0"/>
            </a:endParaRPr>
          </a:p>
        </p:txBody>
      </p:sp>
    </p:spTree>
    <p:extLst>
      <p:ext uri="{BB962C8B-B14F-4D97-AF65-F5344CB8AC3E}">
        <p14:creationId xmlns:p14="http://schemas.microsoft.com/office/powerpoint/2010/main" val="214226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F5E936C-1EF1-43AA-9618-0FE4EB3EE913}"/>
              </a:ext>
            </a:extLst>
          </p:cNvPr>
          <p:cNvSpPr/>
          <p:nvPr/>
        </p:nvSpPr>
        <p:spPr>
          <a:xfrm>
            <a:off x="3124200" y="3136675"/>
            <a:ext cx="1009013" cy="2773311"/>
          </a:xfrm>
          <a:prstGeom prst="rtTriangle">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PE"/>
          </a:p>
        </p:txBody>
      </p:sp>
      <p:sp>
        <p:nvSpPr>
          <p:cNvPr id="2" name="Triángulo rectángulo 1">
            <a:extLst>
              <a:ext uri="{FF2B5EF4-FFF2-40B4-BE49-F238E27FC236}">
                <a16:creationId xmlns:a16="http://schemas.microsoft.com/office/drawing/2014/main" id="{3E565A2A-DE0E-491D-85D1-0AD5925DCC76}"/>
              </a:ext>
            </a:extLst>
          </p:cNvPr>
          <p:cNvSpPr/>
          <p:nvPr/>
        </p:nvSpPr>
        <p:spPr>
          <a:xfrm>
            <a:off x="3143672" y="5122736"/>
            <a:ext cx="2830974" cy="78726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93" name="CustomShape 1"/>
          <p:cNvSpPr/>
          <p:nvPr/>
        </p:nvSpPr>
        <p:spPr>
          <a:xfrm>
            <a:off x="6096000" y="228286"/>
            <a:ext cx="6096000" cy="608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ctr"/>
            <a:r>
              <a:rPr lang="es-PE" sz="2800" dirty="0">
                <a:solidFill>
                  <a:schemeClr val="bg1"/>
                </a:solidFill>
                <a:latin typeface="Bauhaus 93" pitchFamily="82" charset="0"/>
              </a:rPr>
              <a:t>Solución no factible</a:t>
            </a:r>
          </a:p>
        </p:txBody>
      </p:sp>
      <p:sp>
        <p:nvSpPr>
          <p:cNvPr id="1300" name="CustomShape 8"/>
          <p:cNvSpPr/>
          <p:nvPr/>
        </p:nvSpPr>
        <p:spPr>
          <a:xfrm>
            <a:off x="3124200" y="5122736"/>
            <a:ext cx="1040040" cy="813862"/>
          </a:xfrm>
          <a:custGeom>
            <a:avLst/>
            <a:gdLst/>
            <a:ahLst/>
            <a:cxnLst/>
            <a:rect l="l" t="t" r="r" b="b"/>
            <a:pathLst>
              <a:path w="1130" h="1393">
                <a:moveTo>
                  <a:pt x="0" y="0"/>
                </a:moveTo>
                <a:lnTo>
                  <a:pt x="888" y="384"/>
                </a:lnTo>
                <a:lnTo>
                  <a:pt x="1129" y="1392"/>
                </a:lnTo>
                <a:lnTo>
                  <a:pt x="0" y="1392"/>
                </a:lnTo>
                <a:lnTo>
                  <a:pt x="0" y="0"/>
                </a:lnTo>
              </a:path>
            </a:pathLst>
          </a:custGeom>
          <a:solidFill>
            <a:schemeClr val="accent4">
              <a:lumMod val="75000"/>
            </a:schemeClr>
          </a:solidFill>
          <a:ln w="9360">
            <a:noFill/>
          </a:ln>
        </p:spPr>
        <p:style>
          <a:lnRef idx="0">
            <a:scrgbClr r="0" g="0" b="0"/>
          </a:lnRef>
          <a:fillRef idx="0">
            <a:scrgbClr r="0" g="0" b="0"/>
          </a:fillRef>
          <a:effectRef idx="0">
            <a:scrgbClr r="0" g="0" b="0"/>
          </a:effectRef>
          <a:fontRef idx="minor"/>
        </p:style>
        <p:txBody>
          <a:bodyPr/>
          <a:lstStyle/>
          <a:p>
            <a:endParaRPr lang="es-PE"/>
          </a:p>
        </p:txBody>
      </p:sp>
      <p:grpSp>
        <p:nvGrpSpPr>
          <p:cNvPr id="1305" name="Group 13"/>
          <p:cNvGrpSpPr/>
          <p:nvPr/>
        </p:nvGrpSpPr>
        <p:grpSpPr>
          <a:xfrm>
            <a:off x="3587121" y="2598237"/>
            <a:ext cx="3273480" cy="2892240"/>
            <a:chOff x="2516040" y="3049560"/>
            <a:chExt cx="3273480" cy="2892240"/>
          </a:xfrm>
        </p:grpSpPr>
        <p:sp>
          <p:nvSpPr>
            <p:cNvPr id="1306" name="Line 14"/>
            <p:cNvSpPr/>
            <p:nvPr/>
          </p:nvSpPr>
          <p:spPr>
            <a:xfrm flipV="1">
              <a:off x="2516040" y="3049560"/>
              <a:ext cx="301680" cy="225360"/>
            </a:xfrm>
            <a:prstGeom prst="line">
              <a:avLst/>
            </a:prstGeom>
            <a:ln w="12600">
              <a:solidFill>
                <a:schemeClr val="tx1"/>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07" name="Line 15"/>
            <p:cNvSpPr/>
            <p:nvPr/>
          </p:nvSpPr>
          <p:spPr>
            <a:xfrm flipV="1">
              <a:off x="3278160" y="3659040"/>
              <a:ext cx="301320" cy="225360"/>
            </a:xfrm>
            <a:prstGeom prst="line">
              <a:avLst/>
            </a:prstGeom>
            <a:ln w="12600">
              <a:solidFill>
                <a:schemeClr val="tx1"/>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08" name="Line 16"/>
            <p:cNvSpPr/>
            <p:nvPr/>
          </p:nvSpPr>
          <p:spPr>
            <a:xfrm flipV="1">
              <a:off x="4039920" y="4344840"/>
              <a:ext cx="301680" cy="225360"/>
            </a:xfrm>
            <a:prstGeom prst="line">
              <a:avLst/>
            </a:prstGeom>
            <a:ln w="12600">
              <a:solidFill>
                <a:schemeClr val="tx1"/>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09" name="Line 17"/>
            <p:cNvSpPr/>
            <p:nvPr/>
          </p:nvSpPr>
          <p:spPr>
            <a:xfrm flipV="1">
              <a:off x="4725720" y="5030640"/>
              <a:ext cx="301680" cy="225360"/>
            </a:xfrm>
            <a:prstGeom prst="line">
              <a:avLst/>
            </a:prstGeom>
            <a:ln w="12600">
              <a:solidFill>
                <a:schemeClr val="tx1"/>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10" name="Line 18"/>
            <p:cNvSpPr/>
            <p:nvPr/>
          </p:nvSpPr>
          <p:spPr>
            <a:xfrm flipV="1">
              <a:off x="5487840" y="5716440"/>
              <a:ext cx="301680" cy="225360"/>
            </a:xfrm>
            <a:prstGeom prst="line">
              <a:avLst/>
            </a:prstGeom>
            <a:ln w="12600">
              <a:solidFill>
                <a:schemeClr val="tx1"/>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grpSp>
      <p:sp>
        <p:nvSpPr>
          <p:cNvPr id="1316" name="CustomShape 24"/>
          <p:cNvSpPr/>
          <p:nvPr/>
        </p:nvSpPr>
        <p:spPr>
          <a:xfrm>
            <a:off x="6513719" y="1450908"/>
            <a:ext cx="5168172" cy="1201056"/>
          </a:xfrm>
          <a:prstGeom prst="rect">
            <a:avLst/>
          </a:prstGeom>
          <a:noFill/>
          <a:ln w="9360">
            <a:noFill/>
          </a:ln>
        </p:spPr>
        <p:style>
          <a:lnRef idx="0">
            <a:scrgbClr r="0" g="0" b="0"/>
          </a:lnRef>
          <a:fillRef idx="0">
            <a:scrgbClr r="0" g="0" b="0"/>
          </a:fillRef>
          <a:effectRef idx="0">
            <a:scrgbClr r="0" g="0" b="0"/>
          </a:effectRef>
          <a:fontRef idx="minor"/>
        </p:style>
        <p:txBody>
          <a:bodyPr wrap="square" lIns="92160" tIns="46080" rIns="92160" bIns="46080">
            <a:spAutoFit/>
          </a:bodyPr>
          <a:lstStyle/>
          <a:p>
            <a:pPr>
              <a:lnSpc>
                <a:spcPct val="100000"/>
              </a:lnSpc>
            </a:pPr>
            <a:r>
              <a:rPr lang="es-PE" sz="2400" b="1" spc="-1" dirty="0">
                <a:solidFill>
                  <a:srgbClr val="FF0000"/>
                </a:solidFill>
                <a:latin typeface="Arial"/>
                <a:ea typeface="DejaVu Sans"/>
              </a:rPr>
              <a:t>No hay región factible porque ningún punto cumple con las tres restricciones simultáneamente. </a:t>
            </a:r>
            <a:endParaRPr lang="es-PE" sz="2400" spc="-1" dirty="0">
              <a:solidFill>
                <a:srgbClr val="FF0000"/>
              </a:solidFill>
              <a:latin typeface="Arial"/>
            </a:endParaRPr>
          </a:p>
        </p:txBody>
      </p:sp>
      <p:sp>
        <p:nvSpPr>
          <p:cNvPr id="1319" name="CustomShape 27"/>
          <p:cNvSpPr/>
          <p:nvPr/>
        </p:nvSpPr>
        <p:spPr>
          <a:xfrm>
            <a:off x="2158071" y="1672761"/>
            <a:ext cx="443880" cy="443880"/>
          </a:xfrm>
          <a:prstGeom prst="ellipse">
            <a:avLst/>
          </a:prstGeom>
          <a:noFill/>
          <a:ln w="12600">
            <a:solidFill>
              <a:srgbClr val="BE6502"/>
            </a:solidFill>
            <a:round/>
          </a:ln>
        </p:spPr>
        <p:style>
          <a:lnRef idx="0">
            <a:scrgbClr r="0" g="0" b="0"/>
          </a:lnRef>
          <a:fillRef idx="0">
            <a:scrgbClr r="0" g="0" b="0"/>
          </a:fillRef>
          <a:effectRef idx="0">
            <a:scrgbClr r="0" g="0" b="0"/>
          </a:effectRef>
          <a:fontRef idx="minor"/>
        </p:style>
        <p:txBody>
          <a:bodyPr/>
          <a:lstStyle/>
          <a:p>
            <a:endParaRPr lang="es-PE"/>
          </a:p>
        </p:txBody>
      </p:sp>
      <p:sp>
        <p:nvSpPr>
          <p:cNvPr id="1320" name="CustomShape 28"/>
          <p:cNvSpPr/>
          <p:nvPr/>
        </p:nvSpPr>
        <p:spPr>
          <a:xfrm>
            <a:off x="2293071" y="1748495"/>
            <a:ext cx="173880" cy="23724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nchor="ctr">
            <a:noAutofit/>
          </a:bodyPr>
          <a:lstStyle/>
          <a:p>
            <a:pPr algn="ctr">
              <a:lnSpc>
                <a:spcPct val="100000"/>
              </a:lnSpc>
            </a:pPr>
            <a:r>
              <a:rPr lang="es-PE" sz="2800" b="1" spc="-1" dirty="0">
                <a:solidFill>
                  <a:srgbClr val="BE6502"/>
                </a:solidFill>
                <a:latin typeface="Arial Narrow"/>
                <a:ea typeface="DejaVu Sans"/>
              </a:rPr>
              <a:t>2</a:t>
            </a:r>
            <a:endParaRPr lang="es-PE" sz="2800" spc="-1" dirty="0">
              <a:latin typeface="Arial"/>
            </a:endParaRPr>
          </a:p>
        </p:txBody>
      </p:sp>
      <p:sp>
        <p:nvSpPr>
          <p:cNvPr id="1321" name="CustomShape 29"/>
          <p:cNvSpPr/>
          <p:nvPr/>
        </p:nvSpPr>
        <p:spPr>
          <a:xfrm>
            <a:off x="4646272" y="3184398"/>
            <a:ext cx="443880" cy="443880"/>
          </a:xfrm>
          <a:prstGeom prst="ellipse">
            <a:avLst/>
          </a:prstGeom>
          <a:noFill/>
          <a:ln w="12600">
            <a:solidFill>
              <a:srgbClr val="BE6502"/>
            </a:solidFill>
            <a:round/>
          </a:ln>
        </p:spPr>
        <p:style>
          <a:lnRef idx="0">
            <a:scrgbClr r="0" g="0" b="0"/>
          </a:lnRef>
          <a:fillRef idx="0">
            <a:scrgbClr r="0" g="0" b="0"/>
          </a:fillRef>
          <a:effectRef idx="0">
            <a:scrgbClr r="0" g="0" b="0"/>
          </a:effectRef>
          <a:fontRef idx="minor"/>
        </p:style>
        <p:txBody>
          <a:bodyPr/>
          <a:lstStyle/>
          <a:p>
            <a:endParaRPr lang="es-PE"/>
          </a:p>
        </p:txBody>
      </p:sp>
      <p:sp>
        <p:nvSpPr>
          <p:cNvPr id="1322" name="CustomShape 30"/>
          <p:cNvSpPr/>
          <p:nvPr/>
        </p:nvSpPr>
        <p:spPr>
          <a:xfrm>
            <a:off x="4781272" y="3287718"/>
            <a:ext cx="173880" cy="23724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nchor="ctr">
            <a:noAutofit/>
          </a:bodyPr>
          <a:lstStyle/>
          <a:p>
            <a:pPr algn="ctr">
              <a:lnSpc>
                <a:spcPct val="100000"/>
              </a:lnSpc>
            </a:pPr>
            <a:r>
              <a:rPr lang="es-PE" sz="2800" b="1" spc="-1" dirty="0">
                <a:solidFill>
                  <a:srgbClr val="BE6502"/>
                </a:solidFill>
                <a:latin typeface="Arial Narrow"/>
                <a:ea typeface="DejaVu Sans"/>
              </a:rPr>
              <a:t>3</a:t>
            </a:r>
            <a:endParaRPr lang="es-PE" sz="2800" spc="-1" dirty="0">
              <a:latin typeface="Arial"/>
            </a:endParaRPr>
          </a:p>
        </p:txBody>
      </p:sp>
      <p:sp>
        <p:nvSpPr>
          <p:cNvPr id="1323" name="CustomShape 31"/>
          <p:cNvSpPr/>
          <p:nvPr/>
        </p:nvSpPr>
        <p:spPr>
          <a:xfrm>
            <a:off x="1442523" y="4470057"/>
            <a:ext cx="443880" cy="443880"/>
          </a:xfrm>
          <a:prstGeom prst="ellipse">
            <a:avLst/>
          </a:prstGeom>
          <a:noFill/>
          <a:ln w="12600">
            <a:solidFill>
              <a:srgbClr val="BE6502"/>
            </a:solidFill>
            <a:round/>
          </a:ln>
        </p:spPr>
        <p:style>
          <a:lnRef idx="0">
            <a:scrgbClr r="0" g="0" b="0"/>
          </a:lnRef>
          <a:fillRef idx="0">
            <a:scrgbClr r="0" g="0" b="0"/>
          </a:fillRef>
          <a:effectRef idx="0">
            <a:scrgbClr r="0" g="0" b="0"/>
          </a:effectRef>
          <a:fontRef idx="minor"/>
        </p:style>
        <p:txBody>
          <a:bodyPr/>
          <a:lstStyle/>
          <a:p>
            <a:endParaRPr lang="es-PE"/>
          </a:p>
        </p:txBody>
      </p:sp>
      <p:sp>
        <p:nvSpPr>
          <p:cNvPr id="1324" name="CustomShape 32"/>
          <p:cNvSpPr/>
          <p:nvPr/>
        </p:nvSpPr>
        <p:spPr>
          <a:xfrm>
            <a:off x="1577523" y="4543560"/>
            <a:ext cx="173880" cy="23724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nchor="ctr">
            <a:noAutofit/>
          </a:bodyPr>
          <a:lstStyle/>
          <a:p>
            <a:pPr algn="ctr">
              <a:lnSpc>
                <a:spcPct val="100000"/>
              </a:lnSpc>
            </a:pPr>
            <a:r>
              <a:rPr lang="es-PE" sz="2800" b="1" spc="-1" dirty="0">
                <a:solidFill>
                  <a:srgbClr val="BE6502"/>
                </a:solidFill>
                <a:latin typeface="Arial Narrow"/>
                <a:ea typeface="DejaVu Sans"/>
              </a:rPr>
              <a:t>1</a:t>
            </a:r>
            <a:endParaRPr lang="es-PE" sz="2800" spc="-1" dirty="0">
              <a:latin typeface="Arial"/>
            </a:endParaRPr>
          </a:p>
        </p:txBody>
      </p:sp>
      <p:cxnSp>
        <p:nvCxnSpPr>
          <p:cNvPr id="3" name="2 Conector recto"/>
          <p:cNvCxnSpPr/>
          <p:nvPr/>
        </p:nvCxnSpPr>
        <p:spPr>
          <a:xfrm>
            <a:off x="2890121" y="2218417"/>
            <a:ext cx="4757056" cy="41911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302" name="Line 10"/>
          <p:cNvSpPr/>
          <p:nvPr/>
        </p:nvSpPr>
        <p:spPr>
          <a:xfrm>
            <a:off x="1980602" y="4799074"/>
            <a:ext cx="4444621" cy="1230201"/>
          </a:xfrm>
          <a:prstGeom prst="line">
            <a:avLst/>
          </a:prstGeom>
          <a:ln w="50760">
            <a:solidFill>
              <a:srgbClr val="00B0F0"/>
            </a:solidFill>
            <a:round/>
          </a:ln>
        </p:spPr>
        <p:style>
          <a:lnRef idx="0">
            <a:scrgbClr r="0" g="0" b="0"/>
          </a:lnRef>
          <a:fillRef idx="0">
            <a:scrgbClr r="0" g="0" b="0"/>
          </a:fillRef>
          <a:effectRef idx="0">
            <a:scrgbClr r="0" g="0" b="0"/>
          </a:effectRef>
          <a:fontRef idx="minor"/>
        </p:style>
        <p:txBody>
          <a:bodyPr/>
          <a:lstStyle/>
          <a:p>
            <a:endParaRPr lang="es-PE"/>
          </a:p>
        </p:txBody>
      </p:sp>
      <p:sp>
        <p:nvSpPr>
          <p:cNvPr id="1303" name="Line 11"/>
          <p:cNvSpPr/>
          <p:nvPr/>
        </p:nvSpPr>
        <p:spPr>
          <a:xfrm>
            <a:off x="2533644" y="1508838"/>
            <a:ext cx="1833479" cy="4913269"/>
          </a:xfrm>
          <a:prstGeom prst="line">
            <a:avLst/>
          </a:prstGeom>
          <a:ln w="5076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cxnSp>
        <p:nvCxnSpPr>
          <p:cNvPr id="36" name="35 Conector recto de flecha"/>
          <p:cNvCxnSpPr>
            <a:cxnSpLocks/>
          </p:cNvCxnSpPr>
          <p:nvPr/>
        </p:nvCxnSpPr>
        <p:spPr>
          <a:xfrm>
            <a:off x="3127080" y="5935518"/>
            <a:ext cx="5201168" cy="111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9" name="Line 11"/>
          <p:cNvSpPr/>
          <p:nvPr/>
        </p:nvSpPr>
        <p:spPr>
          <a:xfrm flipH="1">
            <a:off x="2056196" y="1508837"/>
            <a:ext cx="497885" cy="197131"/>
          </a:xfrm>
          <a:prstGeom prst="line">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es-PE"/>
          </a:p>
        </p:txBody>
      </p:sp>
      <p:cxnSp>
        <p:nvCxnSpPr>
          <p:cNvPr id="40" name="39 Conector recto"/>
          <p:cNvCxnSpPr/>
          <p:nvPr/>
        </p:nvCxnSpPr>
        <p:spPr>
          <a:xfrm flipV="1">
            <a:off x="2895756" y="1905767"/>
            <a:ext cx="310156" cy="311880"/>
          </a:xfrm>
          <a:prstGeom prst="line">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Line 10"/>
          <p:cNvSpPr/>
          <p:nvPr/>
        </p:nvSpPr>
        <p:spPr>
          <a:xfrm flipH="1">
            <a:off x="1823717" y="4772174"/>
            <a:ext cx="152400" cy="455640"/>
          </a:xfrm>
          <a:prstGeom prst="line">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es-PE"/>
          </a:p>
        </p:txBody>
      </p:sp>
      <p:cxnSp>
        <p:nvCxnSpPr>
          <p:cNvPr id="7" name="6 Conector recto"/>
          <p:cNvCxnSpPr/>
          <p:nvPr/>
        </p:nvCxnSpPr>
        <p:spPr>
          <a:xfrm>
            <a:off x="2267070" y="3136675"/>
            <a:ext cx="4579232" cy="3298352"/>
          </a:xfrm>
          <a:prstGeom prst="line">
            <a:avLst/>
          </a:prstGeom>
          <a:ln w="38100">
            <a:solidFill>
              <a:srgbClr val="7030A0"/>
            </a:solidFill>
            <a:prstDash val="lgDash"/>
          </a:ln>
        </p:spPr>
        <p:style>
          <a:lnRef idx="1">
            <a:schemeClr val="accent1"/>
          </a:lnRef>
          <a:fillRef idx="0">
            <a:schemeClr val="accent1"/>
          </a:fillRef>
          <a:effectRef idx="0">
            <a:schemeClr val="accent1"/>
          </a:effectRef>
          <a:fontRef idx="minor">
            <a:schemeClr val="tx1"/>
          </a:fontRef>
        </p:style>
      </p:cxnSp>
      <p:grpSp>
        <p:nvGrpSpPr>
          <p:cNvPr id="27" name="Grupo 26">
            <a:extLst>
              <a:ext uri="{FF2B5EF4-FFF2-40B4-BE49-F238E27FC236}">
                <a16:creationId xmlns:a16="http://schemas.microsoft.com/office/drawing/2014/main" id="{0C46F15D-857D-4B11-8D0C-2EA974F368A1}"/>
              </a:ext>
            </a:extLst>
          </p:cNvPr>
          <p:cNvGrpSpPr/>
          <p:nvPr/>
        </p:nvGrpSpPr>
        <p:grpSpPr>
          <a:xfrm>
            <a:off x="6562731" y="2741889"/>
            <a:ext cx="5097662" cy="2097529"/>
            <a:chOff x="0" y="33825"/>
            <a:chExt cx="7596440" cy="2184134"/>
          </a:xfrm>
        </p:grpSpPr>
        <p:sp>
          <p:nvSpPr>
            <p:cNvPr id="28" name="Rectángulo: esquinas redondeadas 27">
              <a:extLst>
                <a:ext uri="{FF2B5EF4-FFF2-40B4-BE49-F238E27FC236}">
                  <a16:creationId xmlns:a16="http://schemas.microsoft.com/office/drawing/2014/main" id="{9C81D8BF-AFBE-4217-B0A7-8A788F2E96FB}"/>
                </a:ext>
              </a:extLst>
            </p:cNvPr>
            <p:cNvSpPr/>
            <p:nvPr/>
          </p:nvSpPr>
          <p:spPr>
            <a:xfrm>
              <a:off x="0" y="33825"/>
              <a:ext cx="7596440" cy="218413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29" name="Rectángulo: esquinas redondeadas 4">
              <a:extLst>
                <a:ext uri="{FF2B5EF4-FFF2-40B4-BE49-F238E27FC236}">
                  <a16:creationId xmlns:a16="http://schemas.microsoft.com/office/drawing/2014/main" id="{4A68E19D-EC11-4A70-96B9-227F12D26906}"/>
                </a:ext>
              </a:extLst>
            </p:cNvPr>
            <p:cNvSpPr txBox="1"/>
            <p:nvPr/>
          </p:nvSpPr>
          <p:spPr>
            <a:xfrm>
              <a:off x="106621" y="140446"/>
              <a:ext cx="7383198" cy="197089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es-PE" sz="3200" b="1" kern="1200" dirty="0">
                  <a:solidFill>
                    <a:srgbClr val="FFFF00"/>
                  </a:solidFill>
                </a:rPr>
                <a:t>Si no hay región factible, no hay solución óptima.</a:t>
              </a:r>
            </a:p>
          </p:txBody>
        </p:sp>
      </p:grpSp>
      <p:cxnSp>
        <p:nvCxnSpPr>
          <p:cNvPr id="4" name="3 Conector recto de flecha"/>
          <p:cNvCxnSpPr>
            <a:cxnSpLocks/>
          </p:cNvCxnSpPr>
          <p:nvPr/>
        </p:nvCxnSpPr>
        <p:spPr>
          <a:xfrm flipV="1">
            <a:off x="3125101" y="1304882"/>
            <a:ext cx="18571" cy="462955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7798765"/>
      </p:ext>
    </p:extLst>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0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0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13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1E7CEF15-3534-47E5-A73D-6A0DAC1405F3}"/>
              </a:ext>
            </a:extLst>
          </p:cNvPr>
          <p:cNvSpPr/>
          <p:nvPr/>
        </p:nvSpPr>
        <p:spPr>
          <a:xfrm>
            <a:off x="3738941" y="1972638"/>
            <a:ext cx="5250947" cy="4448710"/>
          </a:xfrm>
          <a:custGeom>
            <a:avLst/>
            <a:gdLst>
              <a:gd name="connsiteX0" fmla="*/ 21401 w 5250947"/>
              <a:gd name="connsiteY0" fmla="*/ 0 h 4448710"/>
              <a:gd name="connsiteX1" fmla="*/ 21401 w 5250947"/>
              <a:gd name="connsiteY1" fmla="*/ 0 h 4448710"/>
              <a:gd name="connsiteX2" fmla="*/ 853 w 5250947"/>
              <a:gd name="connsiteY2" fmla="*/ 339047 h 4448710"/>
              <a:gd name="connsiteX3" fmla="*/ 11127 w 5250947"/>
              <a:gd name="connsiteY3" fmla="*/ 472611 h 4448710"/>
              <a:gd name="connsiteX4" fmla="*/ 31675 w 5250947"/>
              <a:gd name="connsiteY4" fmla="*/ 667820 h 4448710"/>
              <a:gd name="connsiteX5" fmla="*/ 853 w 5250947"/>
              <a:gd name="connsiteY5" fmla="*/ 1664414 h 4448710"/>
              <a:gd name="connsiteX6" fmla="*/ 853 w 5250947"/>
              <a:gd name="connsiteY6" fmla="*/ 1972638 h 4448710"/>
              <a:gd name="connsiteX7" fmla="*/ 812511 w 5250947"/>
              <a:gd name="connsiteY7" fmla="*/ 3708971 h 4448710"/>
              <a:gd name="connsiteX8" fmla="*/ 3000907 w 5250947"/>
              <a:gd name="connsiteY8" fmla="*/ 4448710 h 4448710"/>
              <a:gd name="connsiteX9" fmla="*/ 5250947 w 5250947"/>
              <a:gd name="connsiteY9" fmla="*/ 4438436 h 4448710"/>
              <a:gd name="connsiteX10" fmla="*/ 5240673 w 5250947"/>
              <a:gd name="connsiteY10" fmla="*/ 20549 h 4448710"/>
              <a:gd name="connsiteX11" fmla="*/ 21401 w 5250947"/>
              <a:gd name="connsiteY11" fmla="*/ 0 h 444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50947" h="4448710">
                <a:moveTo>
                  <a:pt x="21401" y="0"/>
                </a:moveTo>
                <a:lnTo>
                  <a:pt x="21401" y="0"/>
                </a:lnTo>
                <a:cubicBezTo>
                  <a:pt x="6402" y="134990"/>
                  <a:pt x="853" y="165570"/>
                  <a:pt x="853" y="339047"/>
                </a:cubicBezTo>
                <a:cubicBezTo>
                  <a:pt x="853" y="383700"/>
                  <a:pt x="7419" y="428112"/>
                  <a:pt x="11127" y="472611"/>
                </a:cubicBezTo>
                <a:cubicBezTo>
                  <a:pt x="20707" y="587577"/>
                  <a:pt x="19040" y="566739"/>
                  <a:pt x="31675" y="667820"/>
                </a:cubicBezTo>
                <a:cubicBezTo>
                  <a:pt x="10827" y="1084781"/>
                  <a:pt x="13184" y="1004709"/>
                  <a:pt x="853" y="1664414"/>
                </a:cubicBezTo>
                <a:cubicBezTo>
                  <a:pt x="-1067" y="1767137"/>
                  <a:pt x="853" y="1869897"/>
                  <a:pt x="853" y="1972638"/>
                </a:cubicBezTo>
                <a:lnTo>
                  <a:pt x="812511" y="3708971"/>
                </a:lnTo>
                <a:lnTo>
                  <a:pt x="3000907" y="4448710"/>
                </a:lnTo>
                <a:lnTo>
                  <a:pt x="5250947" y="4438436"/>
                </a:lnTo>
                <a:cubicBezTo>
                  <a:pt x="5247522" y="2965807"/>
                  <a:pt x="5244098" y="1493178"/>
                  <a:pt x="5240673" y="20549"/>
                </a:cubicBezTo>
                <a:lnTo>
                  <a:pt x="21401" y="0"/>
                </a:lnTo>
                <a:close/>
              </a:path>
            </a:pathLst>
          </a:cu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29" name="CustomShape 1"/>
          <p:cNvSpPr/>
          <p:nvPr/>
        </p:nvSpPr>
        <p:spPr>
          <a:xfrm>
            <a:off x="6114720" y="283612"/>
            <a:ext cx="6077280" cy="5176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ctr"/>
            <a:r>
              <a:rPr lang="es-PE" sz="2800" dirty="0">
                <a:solidFill>
                  <a:schemeClr val="bg1"/>
                </a:solidFill>
                <a:latin typeface="Bauhaus 93" pitchFamily="82" charset="0"/>
              </a:rPr>
              <a:t>Solución no Acotada</a:t>
            </a:r>
          </a:p>
        </p:txBody>
      </p:sp>
      <p:sp>
        <p:nvSpPr>
          <p:cNvPr id="1330" name="CustomShape 2"/>
          <p:cNvSpPr/>
          <p:nvPr/>
        </p:nvSpPr>
        <p:spPr>
          <a:xfrm>
            <a:off x="1782840" y="1265400"/>
            <a:ext cx="3702960" cy="76140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es-PE"/>
          </a:p>
        </p:txBody>
      </p:sp>
      <p:sp>
        <p:nvSpPr>
          <p:cNvPr id="1334" name="Line 6"/>
          <p:cNvSpPr/>
          <p:nvPr/>
        </p:nvSpPr>
        <p:spPr>
          <a:xfrm>
            <a:off x="3100314" y="2570130"/>
            <a:ext cx="1950792" cy="4090500"/>
          </a:xfrm>
          <a:prstGeom prst="line">
            <a:avLst/>
          </a:prstGeom>
          <a:ln w="38100">
            <a:solidFill>
              <a:srgbClr val="00B050"/>
            </a:solidFill>
            <a:round/>
          </a:ln>
        </p:spPr>
        <p:style>
          <a:lnRef idx="0">
            <a:scrgbClr r="0" g="0" b="0"/>
          </a:lnRef>
          <a:fillRef idx="0">
            <a:scrgbClr r="0" g="0" b="0"/>
          </a:fillRef>
          <a:effectRef idx="0">
            <a:scrgbClr r="0" g="0" b="0"/>
          </a:effectRef>
          <a:fontRef idx="minor"/>
        </p:style>
        <p:txBody>
          <a:bodyPr/>
          <a:lstStyle/>
          <a:p>
            <a:endParaRPr lang="es-PE"/>
          </a:p>
        </p:txBody>
      </p:sp>
      <p:sp>
        <p:nvSpPr>
          <p:cNvPr id="1335" name="Line 7"/>
          <p:cNvSpPr/>
          <p:nvPr/>
        </p:nvSpPr>
        <p:spPr>
          <a:xfrm>
            <a:off x="3036702" y="5186756"/>
            <a:ext cx="4507372" cy="1529404"/>
          </a:xfrm>
          <a:prstGeom prst="line">
            <a:avLst/>
          </a:prstGeom>
          <a:ln w="38100">
            <a:solidFill>
              <a:srgbClr val="003399"/>
            </a:solidFill>
            <a:round/>
          </a:ln>
        </p:spPr>
        <p:style>
          <a:lnRef idx="0">
            <a:scrgbClr r="0" g="0" b="0"/>
          </a:lnRef>
          <a:fillRef idx="0">
            <a:scrgbClr r="0" g="0" b="0"/>
          </a:fillRef>
          <a:effectRef idx="0">
            <a:scrgbClr r="0" g="0" b="0"/>
          </a:effectRef>
          <a:fontRef idx="minor"/>
        </p:style>
        <p:txBody>
          <a:bodyPr/>
          <a:lstStyle/>
          <a:p>
            <a:endParaRPr lang="es-PE"/>
          </a:p>
        </p:txBody>
      </p:sp>
      <p:grpSp>
        <p:nvGrpSpPr>
          <p:cNvPr id="1336" name="Group 8"/>
          <p:cNvGrpSpPr/>
          <p:nvPr/>
        </p:nvGrpSpPr>
        <p:grpSpPr>
          <a:xfrm>
            <a:off x="4289674" y="4797360"/>
            <a:ext cx="1730160" cy="1164960"/>
            <a:chOff x="2860560" y="4797360"/>
            <a:chExt cx="1730160" cy="1164960"/>
          </a:xfrm>
        </p:grpSpPr>
        <p:sp>
          <p:nvSpPr>
            <p:cNvPr id="1337" name="Line 9"/>
            <p:cNvSpPr/>
            <p:nvPr/>
          </p:nvSpPr>
          <p:spPr>
            <a:xfrm flipV="1">
              <a:off x="2860560" y="4797360"/>
              <a:ext cx="269640" cy="20160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38" name="Line 10"/>
            <p:cNvSpPr/>
            <p:nvPr/>
          </p:nvSpPr>
          <p:spPr>
            <a:xfrm flipV="1">
              <a:off x="3443040" y="5468760"/>
              <a:ext cx="271440" cy="1983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39" name="Line 11"/>
            <p:cNvSpPr/>
            <p:nvPr/>
          </p:nvSpPr>
          <p:spPr>
            <a:xfrm flipV="1">
              <a:off x="4321080" y="5760720"/>
              <a:ext cx="269640" cy="20160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grpSp>
      <p:grpSp>
        <p:nvGrpSpPr>
          <p:cNvPr id="1340" name="Group 12"/>
          <p:cNvGrpSpPr/>
          <p:nvPr/>
        </p:nvGrpSpPr>
        <p:grpSpPr>
          <a:xfrm>
            <a:off x="3773794" y="3227040"/>
            <a:ext cx="4209840" cy="2926080"/>
            <a:chOff x="2344680" y="3227040"/>
            <a:chExt cx="4209840" cy="2926080"/>
          </a:xfrm>
        </p:grpSpPr>
        <p:sp>
          <p:nvSpPr>
            <p:cNvPr id="1341" name="Line 13"/>
            <p:cNvSpPr/>
            <p:nvPr/>
          </p:nvSpPr>
          <p:spPr>
            <a:xfrm flipV="1">
              <a:off x="3008160" y="3786120"/>
              <a:ext cx="282600" cy="23472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42" name="Line 14"/>
            <p:cNvSpPr/>
            <p:nvPr/>
          </p:nvSpPr>
          <p:spPr>
            <a:xfrm flipV="1">
              <a:off x="3738240" y="4235400"/>
              <a:ext cx="285840" cy="2379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43" name="Line 15"/>
            <p:cNvSpPr/>
            <p:nvPr/>
          </p:nvSpPr>
          <p:spPr>
            <a:xfrm flipV="1">
              <a:off x="4470120" y="4689360"/>
              <a:ext cx="284400" cy="23472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44" name="Line 16"/>
            <p:cNvSpPr/>
            <p:nvPr/>
          </p:nvSpPr>
          <p:spPr>
            <a:xfrm flipV="1">
              <a:off x="5203800" y="5141880"/>
              <a:ext cx="282600" cy="23328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45" name="Line 17"/>
            <p:cNvSpPr/>
            <p:nvPr/>
          </p:nvSpPr>
          <p:spPr>
            <a:xfrm flipV="1">
              <a:off x="6271920" y="5918040"/>
              <a:ext cx="282600" cy="23508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46" name="Line 18"/>
            <p:cNvSpPr/>
            <p:nvPr/>
          </p:nvSpPr>
          <p:spPr>
            <a:xfrm flipV="1">
              <a:off x="2344680" y="3227040"/>
              <a:ext cx="282600" cy="23508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grpSp>
      <p:grpSp>
        <p:nvGrpSpPr>
          <p:cNvPr id="1347" name="Group 19"/>
          <p:cNvGrpSpPr/>
          <p:nvPr/>
        </p:nvGrpSpPr>
        <p:grpSpPr>
          <a:xfrm>
            <a:off x="5661274" y="3736800"/>
            <a:ext cx="1882800" cy="1000080"/>
            <a:chOff x="4232160" y="3736800"/>
            <a:chExt cx="1882800" cy="1000080"/>
          </a:xfrm>
        </p:grpSpPr>
        <p:sp>
          <p:nvSpPr>
            <p:cNvPr id="1348" name="Line 20"/>
            <p:cNvSpPr/>
            <p:nvPr/>
          </p:nvSpPr>
          <p:spPr>
            <a:xfrm flipV="1">
              <a:off x="4232160" y="3736800"/>
              <a:ext cx="271440" cy="2001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49" name="Line 21"/>
            <p:cNvSpPr/>
            <p:nvPr/>
          </p:nvSpPr>
          <p:spPr>
            <a:xfrm flipV="1">
              <a:off x="5000400" y="4143240"/>
              <a:ext cx="270000" cy="2001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50" name="Line 22"/>
            <p:cNvSpPr/>
            <p:nvPr/>
          </p:nvSpPr>
          <p:spPr>
            <a:xfrm flipV="1">
              <a:off x="5843520" y="4536720"/>
              <a:ext cx="271440" cy="2001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grpSp>
      <p:grpSp>
        <p:nvGrpSpPr>
          <p:cNvPr id="1351" name="Group 23"/>
          <p:cNvGrpSpPr/>
          <p:nvPr/>
        </p:nvGrpSpPr>
        <p:grpSpPr>
          <a:xfrm>
            <a:off x="6538594" y="3508200"/>
            <a:ext cx="965880" cy="619200"/>
            <a:chOff x="5109480" y="3508200"/>
            <a:chExt cx="965880" cy="619200"/>
          </a:xfrm>
        </p:grpSpPr>
        <p:sp>
          <p:nvSpPr>
            <p:cNvPr id="1352" name="Line 24"/>
            <p:cNvSpPr/>
            <p:nvPr/>
          </p:nvSpPr>
          <p:spPr>
            <a:xfrm flipV="1">
              <a:off x="5109480" y="3508200"/>
              <a:ext cx="271440" cy="1983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353" name="Line 25"/>
            <p:cNvSpPr/>
            <p:nvPr/>
          </p:nvSpPr>
          <p:spPr>
            <a:xfrm flipV="1">
              <a:off x="5803200" y="3929040"/>
              <a:ext cx="272160" cy="198360"/>
            </a:xfrm>
            <a:prstGeom prst="line">
              <a:avLst/>
            </a:prstGeom>
            <a:ln w="12600">
              <a:solidFill>
                <a:srgbClr val="3333FF"/>
              </a:solidFill>
              <a:round/>
              <a:tailEnd type="stealth" w="med" len="lg"/>
            </a:ln>
          </p:spPr>
          <p:style>
            <a:lnRef idx="0">
              <a:scrgbClr r="0" g="0" b="0"/>
            </a:lnRef>
            <a:fillRef idx="0">
              <a:scrgbClr r="0" g="0" b="0"/>
            </a:fillRef>
            <a:effectRef idx="0">
              <a:scrgbClr r="0" g="0" b="0"/>
            </a:effectRef>
            <a:fontRef idx="minor"/>
          </p:style>
          <p:txBody>
            <a:bodyPr/>
            <a:lstStyle/>
            <a:p>
              <a:endParaRPr lang="es-PE"/>
            </a:p>
          </p:txBody>
        </p:sp>
      </p:grpSp>
      <p:sp>
        <p:nvSpPr>
          <p:cNvPr id="1354" name="CustomShape 26"/>
          <p:cNvSpPr/>
          <p:nvPr/>
        </p:nvSpPr>
        <p:spPr>
          <a:xfrm rot="2100000">
            <a:off x="6217935" y="3148682"/>
            <a:ext cx="3479090" cy="523947"/>
          </a:xfrm>
          <a:prstGeom prst="rect">
            <a:avLst/>
          </a:prstGeom>
          <a:noFill/>
          <a:ln w="9360">
            <a:noFill/>
          </a:ln>
        </p:spPr>
        <p:style>
          <a:lnRef idx="0">
            <a:scrgbClr r="0" g="0" b="0"/>
          </a:lnRef>
          <a:fillRef idx="0">
            <a:scrgbClr r="0" g="0" b="0"/>
          </a:fillRef>
          <a:effectRef idx="0">
            <a:scrgbClr r="0" g="0" b="0"/>
          </a:effectRef>
          <a:fontRef idx="minor"/>
        </p:style>
        <p:txBody>
          <a:bodyPr wrap="square" lIns="92160" tIns="46080" rIns="92160" bIns="46080">
            <a:spAutoFit/>
          </a:bodyPr>
          <a:lstStyle/>
          <a:p>
            <a:pPr algn="ctr">
              <a:lnSpc>
                <a:spcPct val="100000"/>
              </a:lnSpc>
            </a:pPr>
            <a:r>
              <a:rPr lang="es-PE" sz="2800" b="1" spc="-1" dirty="0">
                <a:solidFill>
                  <a:srgbClr val="000000"/>
                </a:solidFill>
                <a:latin typeface="Arial Narrow"/>
                <a:ea typeface="DejaVu Sans"/>
              </a:rPr>
              <a:t>      La región factible</a:t>
            </a:r>
            <a:endParaRPr lang="es-PE" sz="2800" spc="-1" dirty="0">
              <a:latin typeface="Arial"/>
            </a:endParaRPr>
          </a:p>
        </p:txBody>
      </p:sp>
      <p:grpSp>
        <p:nvGrpSpPr>
          <p:cNvPr id="1355" name="Group 27"/>
          <p:cNvGrpSpPr/>
          <p:nvPr/>
        </p:nvGrpSpPr>
        <p:grpSpPr>
          <a:xfrm>
            <a:off x="7559086" y="2266386"/>
            <a:ext cx="2178970" cy="501502"/>
            <a:chOff x="6129972" y="2266385"/>
            <a:chExt cx="2178970" cy="501502"/>
          </a:xfrm>
        </p:grpSpPr>
        <p:sp>
          <p:nvSpPr>
            <p:cNvPr id="1356" name="CustomShape 28"/>
            <p:cNvSpPr/>
            <p:nvPr/>
          </p:nvSpPr>
          <p:spPr>
            <a:xfrm rot="2160000">
              <a:off x="7207058" y="2266385"/>
              <a:ext cx="1101884" cy="370059"/>
            </a:xfrm>
            <a:prstGeom prst="rect">
              <a:avLst/>
            </a:prstGeom>
            <a:solidFill>
              <a:srgbClr val="FF66CC"/>
            </a:solid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F7FD03"/>
                  </a:solidFill>
                  <a:latin typeface="Arial Narrow"/>
                  <a:ea typeface="DejaVu Sans"/>
                </a:rPr>
                <a:t>Maximizar</a:t>
              </a:r>
              <a:endParaRPr lang="es-PE" spc="-1" dirty="0">
                <a:latin typeface="Arial"/>
              </a:endParaRPr>
            </a:p>
          </p:txBody>
        </p:sp>
        <p:sp>
          <p:nvSpPr>
            <p:cNvPr id="1357" name="CustomShape 29"/>
            <p:cNvSpPr/>
            <p:nvPr/>
          </p:nvSpPr>
          <p:spPr>
            <a:xfrm rot="2100000">
              <a:off x="6129972" y="2397828"/>
              <a:ext cx="1919736" cy="370059"/>
            </a:xfrm>
            <a:prstGeom prst="rect">
              <a:avLst/>
            </a:prstGeom>
            <a:solidFill>
              <a:srgbClr val="FF66CC"/>
            </a:solid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Narrow"/>
                  <a:ea typeface="DejaVu Sans"/>
                </a:rPr>
                <a:t>La función objetivo</a:t>
              </a:r>
              <a:endParaRPr lang="es-PE" spc="-1" dirty="0">
                <a:latin typeface="Arial"/>
              </a:endParaRPr>
            </a:p>
          </p:txBody>
        </p:sp>
      </p:grpSp>
      <p:sp>
        <p:nvSpPr>
          <p:cNvPr id="1358" name="Line 30"/>
          <p:cNvSpPr/>
          <p:nvPr/>
        </p:nvSpPr>
        <p:spPr>
          <a:xfrm>
            <a:off x="3319490" y="4806720"/>
            <a:ext cx="2941920" cy="2012276"/>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sp>
        <p:nvSpPr>
          <p:cNvPr id="1360" name="Line 32"/>
          <p:cNvSpPr/>
          <p:nvPr/>
        </p:nvSpPr>
        <p:spPr>
          <a:xfrm>
            <a:off x="3897634" y="3149280"/>
            <a:ext cx="4308480" cy="293220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sp>
        <p:nvSpPr>
          <p:cNvPr id="1362" name="Line 34"/>
          <p:cNvSpPr/>
          <p:nvPr/>
        </p:nvSpPr>
        <p:spPr>
          <a:xfrm>
            <a:off x="4400914" y="2514600"/>
            <a:ext cx="4255920" cy="290664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sp>
        <p:nvSpPr>
          <p:cNvPr id="1363" name="Line 35"/>
          <p:cNvSpPr/>
          <p:nvPr/>
        </p:nvSpPr>
        <p:spPr>
          <a:xfrm>
            <a:off x="5036674" y="2222460"/>
            <a:ext cx="3911760" cy="274644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sp>
        <p:nvSpPr>
          <p:cNvPr id="1365" name="Line 37"/>
          <p:cNvSpPr/>
          <p:nvPr/>
        </p:nvSpPr>
        <p:spPr>
          <a:xfrm>
            <a:off x="3539434" y="4064400"/>
            <a:ext cx="3541680" cy="243036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grpSp>
        <p:nvGrpSpPr>
          <p:cNvPr id="1366" name="Group 38"/>
          <p:cNvGrpSpPr/>
          <p:nvPr/>
        </p:nvGrpSpPr>
        <p:grpSpPr>
          <a:xfrm>
            <a:off x="6175755" y="1771289"/>
            <a:ext cx="3285974" cy="2232000"/>
            <a:chOff x="5239800" y="1576080"/>
            <a:chExt cx="3362400" cy="2232000"/>
          </a:xfrm>
        </p:grpSpPr>
        <p:sp>
          <p:nvSpPr>
            <p:cNvPr id="1368" name="Line 40"/>
            <p:cNvSpPr/>
            <p:nvPr/>
          </p:nvSpPr>
          <p:spPr>
            <a:xfrm>
              <a:off x="5239800" y="1657080"/>
              <a:ext cx="3178440" cy="215100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sp>
          <p:nvSpPr>
            <p:cNvPr id="1370" name="Line 42"/>
            <p:cNvSpPr/>
            <p:nvPr/>
          </p:nvSpPr>
          <p:spPr>
            <a:xfrm>
              <a:off x="6013080" y="1589040"/>
              <a:ext cx="2589120" cy="176832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sp>
          <p:nvSpPr>
            <p:cNvPr id="1372" name="Line 44"/>
            <p:cNvSpPr/>
            <p:nvPr/>
          </p:nvSpPr>
          <p:spPr>
            <a:xfrm>
              <a:off x="6882840" y="1576080"/>
              <a:ext cx="1587600" cy="1068480"/>
            </a:xfrm>
            <a:prstGeom prst="line">
              <a:avLst/>
            </a:prstGeom>
            <a:ln w="50760">
              <a:solidFill>
                <a:srgbClr val="3333FF"/>
              </a:solidFill>
              <a:prstDash val="dash"/>
              <a:round/>
            </a:ln>
          </p:spPr>
          <p:style>
            <a:lnRef idx="0">
              <a:scrgbClr r="0" g="0" b="0"/>
            </a:lnRef>
            <a:fillRef idx="0">
              <a:scrgbClr r="0" g="0" b="0"/>
            </a:fillRef>
            <a:effectRef idx="0">
              <a:scrgbClr r="0" g="0" b="0"/>
            </a:effectRef>
            <a:fontRef idx="minor"/>
          </p:style>
          <p:txBody>
            <a:bodyPr/>
            <a:lstStyle/>
            <a:p>
              <a:endParaRPr lang="es-PE"/>
            </a:p>
          </p:txBody>
        </p:sp>
      </p:grpSp>
      <p:pic>
        <p:nvPicPr>
          <p:cNvPr id="1374" name="Imagen 1373"/>
          <p:cNvPicPr/>
          <p:nvPr/>
        </p:nvPicPr>
        <p:blipFill>
          <a:blip r:embed="rId2"/>
          <a:stretch/>
        </p:blipFill>
        <p:spPr>
          <a:xfrm>
            <a:off x="8663524" y="1642194"/>
            <a:ext cx="698040" cy="545760"/>
          </a:xfrm>
          <a:prstGeom prst="rect">
            <a:avLst/>
          </a:prstGeom>
          <a:ln>
            <a:noFill/>
          </a:ln>
        </p:spPr>
      </p:pic>
      <p:cxnSp>
        <p:nvCxnSpPr>
          <p:cNvPr id="3" name="2 Conector recto de flecha"/>
          <p:cNvCxnSpPr/>
          <p:nvPr/>
        </p:nvCxnSpPr>
        <p:spPr>
          <a:xfrm flipV="1">
            <a:off x="3748234" y="1906560"/>
            <a:ext cx="0" cy="4541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4 CuadroTexto"/>
          <p:cNvSpPr txBox="1"/>
          <p:nvPr/>
        </p:nvSpPr>
        <p:spPr>
          <a:xfrm>
            <a:off x="297370" y="1651700"/>
            <a:ext cx="2536167" cy="2246769"/>
          </a:xfrm>
          <a:prstGeom prst="rect">
            <a:avLst/>
          </a:prstGeom>
          <a:solidFill>
            <a:schemeClr val="accent4">
              <a:lumMod val="40000"/>
              <a:lumOff val="60000"/>
            </a:schemeClr>
          </a:solidFill>
        </p:spPr>
        <p:txBody>
          <a:bodyPr wrap="square" rtlCol="0">
            <a:spAutoFit/>
          </a:bodyPr>
          <a:lstStyle/>
          <a:p>
            <a:r>
              <a:rPr lang="es-PE" sz="2800" dirty="0"/>
              <a:t>Este modelo no tiene solución óptima , porque no está acotado superiormente</a:t>
            </a:r>
          </a:p>
        </p:txBody>
      </p:sp>
      <p:sp>
        <p:nvSpPr>
          <p:cNvPr id="1332" name="Line 4"/>
          <p:cNvSpPr/>
          <p:nvPr/>
        </p:nvSpPr>
        <p:spPr>
          <a:xfrm flipV="1">
            <a:off x="3748234" y="6443932"/>
            <a:ext cx="5870223" cy="2588"/>
          </a:xfrm>
          <a:prstGeom prst="line">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es-PE"/>
          </a:p>
        </p:txBody>
      </p:sp>
      <p:cxnSp>
        <p:nvCxnSpPr>
          <p:cNvPr id="6" name="Conector recto de flecha 5">
            <a:extLst>
              <a:ext uri="{FF2B5EF4-FFF2-40B4-BE49-F238E27FC236}">
                <a16:creationId xmlns:a16="http://schemas.microsoft.com/office/drawing/2014/main" id="{7BB4BC0A-2C80-463C-9F45-0E09BE440C7E}"/>
              </a:ext>
            </a:extLst>
          </p:cNvPr>
          <p:cNvCxnSpPr>
            <a:cxnSpLocks/>
          </p:cNvCxnSpPr>
          <p:nvPr/>
        </p:nvCxnSpPr>
        <p:spPr>
          <a:xfrm flipH="1">
            <a:off x="3109354" y="2393550"/>
            <a:ext cx="356320" cy="209970"/>
          </a:xfrm>
          <a:prstGeom prst="straightConnector1">
            <a:avLst/>
          </a:prstGeom>
          <a:ln w="38100">
            <a:solidFill>
              <a:srgbClr val="00B050"/>
            </a:solidFill>
            <a:round/>
            <a:headEnd type="triangle"/>
          </a:ln>
        </p:spPr>
        <p:style>
          <a:lnRef idx="0">
            <a:scrgbClr r="0" g="0" b="0"/>
          </a:lnRef>
          <a:fillRef idx="0">
            <a:scrgbClr r="0" g="0" b="0"/>
          </a:fillRef>
          <a:effectRef idx="0">
            <a:scrgbClr r="0" g="0" b="0"/>
          </a:effectRef>
          <a:fontRef idx="minor"/>
        </p:style>
      </p:cxnSp>
      <p:cxnSp>
        <p:nvCxnSpPr>
          <p:cNvPr id="8" name="Conector recto de flecha 7">
            <a:extLst>
              <a:ext uri="{FF2B5EF4-FFF2-40B4-BE49-F238E27FC236}">
                <a16:creationId xmlns:a16="http://schemas.microsoft.com/office/drawing/2014/main" id="{C24FCE84-E878-4DD8-9AFD-D56D91F71628}"/>
              </a:ext>
            </a:extLst>
          </p:cNvPr>
          <p:cNvCxnSpPr>
            <a:cxnSpLocks/>
          </p:cNvCxnSpPr>
          <p:nvPr/>
        </p:nvCxnSpPr>
        <p:spPr>
          <a:xfrm flipV="1">
            <a:off x="3064665" y="4771800"/>
            <a:ext cx="172932" cy="449876"/>
          </a:xfrm>
          <a:prstGeom prst="straightConnector1">
            <a:avLst/>
          </a:prstGeom>
          <a:ln w="38100">
            <a:solidFill>
              <a:srgbClr val="003399"/>
            </a:solidFill>
            <a:round/>
            <a:tailEnd type="triangle"/>
          </a:ln>
        </p:spPr>
        <p:style>
          <a:lnRef idx="0">
            <a:scrgbClr r="0" g="0" b="0"/>
          </a:lnRef>
          <a:fillRef idx="0">
            <a:scrgbClr r="0" g="0" b="0"/>
          </a:fillRef>
          <a:effectRef idx="0">
            <a:scrgbClr r="0" g="0" b="0"/>
          </a:effectRef>
          <a:fontRef idx="minor"/>
        </p:style>
      </p:cxnSp>
    </p:spTree>
    <p:extLst>
      <p:ext uri="{BB962C8B-B14F-4D97-AF65-F5344CB8AC3E}">
        <p14:creationId xmlns:p14="http://schemas.microsoft.com/office/powerpoint/2010/main" val="2586396485"/>
      </p:ext>
    </p:extLst>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1336"/>
                                        </p:tgtEl>
                                        <p:attrNameLst>
                                          <p:attrName>style.visibility</p:attrName>
                                        </p:attrNameLst>
                                      </p:cBhvr>
                                      <p:to>
                                        <p:strVal val="visible"/>
                                      </p:to>
                                    </p:set>
                                    <p:anim calcmode="lin" valueType="num">
                                      <p:cBhvr additive="repl">
                                        <p:cTn id="7" dur="500" fill="hold"/>
                                        <p:tgtEl>
                                          <p:spTgt spid="1336"/>
                                        </p:tgtEl>
                                        <p:attrNameLst>
                                          <p:attrName>ppt_x</p:attrName>
                                        </p:attrNameLst>
                                      </p:cBhvr>
                                      <p:tavLst>
                                        <p:tav tm="0">
                                          <p:val>
                                            <p:strVal val="0-#ppt_w/2"/>
                                          </p:val>
                                        </p:tav>
                                        <p:tav tm="100000">
                                          <p:val>
                                            <p:strVal val="#ppt_x"/>
                                          </p:val>
                                        </p:tav>
                                      </p:tavLst>
                                    </p:anim>
                                    <p:anim calcmode="lin" valueType="num">
                                      <p:cBhvr additive="repl">
                                        <p:cTn id="8" dur="500" fill="hold"/>
                                        <p:tgtEl>
                                          <p:spTgt spid="133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12" fill="hold" nodeType="afterEffect">
                                  <p:stCondLst>
                                    <p:cond delay="0"/>
                                  </p:stCondLst>
                                  <p:childTnLst>
                                    <p:set>
                                      <p:cBhvr>
                                        <p:cTn id="11" dur="1" fill="hold">
                                          <p:stCondLst>
                                            <p:cond delay="0"/>
                                          </p:stCondLst>
                                        </p:cTn>
                                        <p:tgtEl>
                                          <p:spTgt spid="1340"/>
                                        </p:tgtEl>
                                        <p:attrNameLst>
                                          <p:attrName>style.visibility</p:attrName>
                                        </p:attrNameLst>
                                      </p:cBhvr>
                                      <p:to>
                                        <p:strVal val="visible"/>
                                      </p:to>
                                    </p:set>
                                    <p:anim calcmode="lin" valueType="num">
                                      <p:cBhvr additive="repl">
                                        <p:cTn id="12" dur="500" fill="hold"/>
                                        <p:tgtEl>
                                          <p:spTgt spid="1340"/>
                                        </p:tgtEl>
                                        <p:attrNameLst>
                                          <p:attrName>ppt_x</p:attrName>
                                        </p:attrNameLst>
                                      </p:cBhvr>
                                      <p:tavLst>
                                        <p:tav tm="0">
                                          <p:val>
                                            <p:strVal val="0-#ppt_w/2"/>
                                          </p:val>
                                        </p:tav>
                                        <p:tav tm="100000">
                                          <p:val>
                                            <p:strVal val="#ppt_x"/>
                                          </p:val>
                                        </p:tav>
                                      </p:tavLst>
                                    </p:anim>
                                    <p:anim calcmode="lin" valueType="num">
                                      <p:cBhvr additive="repl">
                                        <p:cTn id="13" dur="500" fill="hold"/>
                                        <p:tgtEl>
                                          <p:spTgt spid="134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12" fill="hold" nodeType="afterEffect">
                                  <p:stCondLst>
                                    <p:cond delay="0"/>
                                  </p:stCondLst>
                                  <p:childTnLst>
                                    <p:set>
                                      <p:cBhvr>
                                        <p:cTn id="16" dur="1" fill="hold">
                                          <p:stCondLst>
                                            <p:cond delay="0"/>
                                          </p:stCondLst>
                                        </p:cTn>
                                        <p:tgtEl>
                                          <p:spTgt spid="1347"/>
                                        </p:tgtEl>
                                        <p:attrNameLst>
                                          <p:attrName>style.visibility</p:attrName>
                                        </p:attrNameLst>
                                      </p:cBhvr>
                                      <p:to>
                                        <p:strVal val="visible"/>
                                      </p:to>
                                    </p:set>
                                    <p:anim calcmode="lin" valueType="num">
                                      <p:cBhvr additive="repl">
                                        <p:cTn id="17" dur="500" fill="hold"/>
                                        <p:tgtEl>
                                          <p:spTgt spid="1347"/>
                                        </p:tgtEl>
                                        <p:attrNameLst>
                                          <p:attrName>ppt_x</p:attrName>
                                        </p:attrNameLst>
                                      </p:cBhvr>
                                      <p:tavLst>
                                        <p:tav tm="0">
                                          <p:val>
                                            <p:strVal val="0-#ppt_w/2"/>
                                          </p:val>
                                        </p:tav>
                                        <p:tav tm="100000">
                                          <p:val>
                                            <p:strVal val="#ppt_x"/>
                                          </p:val>
                                        </p:tav>
                                      </p:tavLst>
                                    </p:anim>
                                    <p:anim calcmode="lin" valueType="num">
                                      <p:cBhvr additive="repl">
                                        <p:cTn id="18" dur="500" fill="hold"/>
                                        <p:tgtEl>
                                          <p:spTgt spid="134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12" fill="hold" nodeType="afterEffect">
                                  <p:stCondLst>
                                    <p:cond delay="0"/>
                                  </p:stCondLst>
                                  <p:childTnLst>
                                    <p:set>
                                      <p:cBhvr>
                                        <p:cTn id="21" dur="1" fill="hold">
                                          <p:stCondLst>
                                            <p:cond delay="0"/>
                                          </p:stCondLst>
                                        </p:cTn>
                                        <p:tgtEl>
                                          <p:spTgt spid="1351"/>
                                        </p:tgtEl>
                                        <p:attrNameLst>
                                          <p:attrName>style.visibility</p:attrName>
                                        </p:attrNameLst>
                                      </p:cBhvr>
                                      <p:to>
                                        <p:strVal val="visible"/>
                                      </p:to>
                                    </p:set>
                                    <p:anim calcmode="lin" valueType="num">
                                      <p:cBhvr additive="repl">
                                        <p:cTn id="22" dur="500" fill="hold"/>
                                        <p:tgtEl>
                                          <p:spTgt spid="1351"/>
                                        </p:tgtEl>
                                        <p:attrNameLst>
                                          <p:attrName>ppt_x</p:attrName>
                                        </p:attrNameLst>
                                      </p:cBhvr>
                                      <p:tavLst>
                                        <p:tav tm="0">
                                          <p:val>
                                            <p:strVal val="0-#ppt_w/2"/>
                                          </p:val>
                                        </p:tav>
                                        <p:tav tm="100000">
                                          <p:val>
                                            <p:strVal val="#ppt_x"/>
                                          </p:val>
                                        </p:tav>
                                      </p:tavLst>
                                    </p:anim>
                                    <p:anim calcmode="lin" valueType="num">
                                      <p:cBhvr additive="repl">
                                        <p:cTn id="23" dur="500" fill="hold"/>
                                        <p:tgtEl>
                                          <p:spTgt spid="1351"/>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12" fill="hold" nodeType="afterEffect">
                                  <p:stCondLst>
                                    <p:cond delay="0"/>
                                  </p:stCondLst>
                                  <p:childTnLst>
                                    <p:set>
                                      <p:cBhvr>
                                        <p:cTn id="26" dur="1" fill="hold">
                                          <p:stCondLst>
                                            <p:cond delay="0"/>
                                          </p:stCondLst>
                                        </p:cTn>
                                        <p:tgtEl>
                                          <p:spTgt spid="1354"/>
                                        </p:tgtEl>
                                        <p:attrNameLst>
                                          <p:attrName>style.visibility</p:attrName>
                                        </p:attrNameLst>
                                      </p:cBhvr>
                                      <p:to>
                                        <p:strVal val="visible"/>
                                      </p:to>
                                    </p:set>
                                    <p:anim calcmode="lin" valueType="num">
                                      <p:cBhvr additive="repl">
                                        <p:cTn id="27" dur="500" fill="hold"/>
                                        <p:tgtEl>
                                          <p:spTgt spid="1354"/>
                                        </p:tgtEl>
                                        <p:attrNameLst>
                                          <p:attrName>ppt_x</p:attrName>
                                        </p:attrNameLst>
                                      </p:cBhvr>
                                      <p:tavLst>
                                        <p:tav tm="0">
                                          <p:val>
                                            <p:strVal val="0-#ppt_w/2"/>
                                          </p:val>
                                        </p:tav>
                                        <p:tav tm="100000">
                                          <p:val>
                                            <p:strVal val="#ppt_x"/>
                                          </p:val>
                                        </p:tav>
                                      </p:tavLst>
                                    </p:anim>
                                    <p:anim calcmode="lin" valueType="num">
                                      <p:cBhvr additive="repl">
                                        <p:cTn id="28" dur="500" fill="hold"/>
                                        <p:tgtEl>
                                          <p:spTgt spid="135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3" fill="hold" nodeType="clickEffect">
                                  <p:stCondLst>
                                    <p:cond delay="0"/>
                                  </p:stCondLst>
                                  <p:childTnLst>
                                    <p:set>
                                      <p:cBhvr>
                                        <p:cTn id="32" dur="1" fill="hold">
                                          <p:stCondLst>
                                            <p:cond delay="0"/>
                                          </p:stCondLst>
                                        </p:cTn>
                                        <p:tgtEl>
                                          <p:spTgt spid="1355"/>
                                        </p:tgtEl>
                                        <p:attrNameLst>
                                          <p:attrName>style.visibility</p:attrName>
                                        </p:attrNameLst>
                                      </p:cBhvr>
                                      <p:to>
                                        <p:strVal val="visible"/>
                                      </p:to>
                                    </p:set>
                                    <p:anim calcmode="lin" valueType="num">
                                      <p:cBhvr additive="repl">
                                        <p:cTn id="33" dur="500" fill="hold"/>
                                        <p:tgtEl>
                                          <p:spTgt spid="1355"/>
                                        </p:tgtEl>
                                        <p:attrNameLst>
                                          <p:attrName>ppt_x</p:attrName>
                                        </p:attrNameLst>
                                      </p:cBhvr>
                                      <p:tavLst>
                                        <p:tav tm="0">
                                          <p:val>
                                            <p:strVal val="1+#ppt_w/2"/>
                                          </p:val>
                                        </p:tav>
                                        <p:tav tm="100000">
                                          <p:val>
                                            <p:strVal val="#ppt_x"/>
                                          </p:val>
                                        </p:tav>
                                      </p:tavLst>
                                    </p:anim>
                                    <p:anim calcmode="lin" valueType="num">
                                      <p:cBhvr additive="repl">
                                        <p:cTn id="34" dur="500" fill="hold"/>
                                        <p:tgtEl>
                                          <p:spTgt spid="1355"/>
                                        </p:tgtEl>
                                        <p:attrNameLst>
                                          <p:attrName>ppt_y</p:attrName>
                                        </p:attrNameLst>
                                      </p:cBhvr>
                                      <p:tavLst>
                                        <p:tav tm="0">
                                          <p:val>
                                            <p:strVal val="0-#ppt_h/2"/>
                                          </p:val>
                                        </p:tav>
                                        <p:tav tm="100000">
                                          <p:val>
                                            <p:strVal val="#ppt_y"/>
                                          </p:val>
                                        </p:tav>
                                      </p:tavLst>
                                    </p:anim>
                                    <p:animClr clrSpc="rgb" dir="cw">
                                      <p:cBhvr>
                                        <p:cTn id="35" dur="1" fill="hold"/>
                                        <p:tgtEl>
                                          <p:spTgt spid="1355"/>
                                        </p:tgtEl>
                                        <p:attrNameLst>
                                          <p:attrName>ppt_c</p:attrName>
                                        </p:attrNameLst>
                                      </p:cBhvr>
                                      <p:to>
                                        <a:srgbClr val="FF33CC"/>
                                      </p:to>
                                    </p:animClr>
                                  </p:childTnLst>
                                </p:cTn>
                              </p:par>
                            </p:childTnLst>
                          </p:cTn>
                        </p:par>
                      </p:childTnLst>
                    </p:cTn>
                  </p:par>
                  <p:par>
                    <p:cTn id="36" fill="hold">
                      <p:stCondLst>
                        <p:cond delay="indefinite"/>
                      </p:stCondLst>
                      <p:childTnLst>
                        <p:par>
                          <p:cTn id="37" fill="hold">
                            <p:stCondLst>
                              <p:cond delay="0"/>
                            </p:stCondLst>
                            <p:childTnLst>
                              <p:par>
                                <p:cTn id="38" presetID="2" presetClass="entr" presetSubtype="12" fill="hold" nodeType="clickEffect">
                                  <p:stCondLst>
                                    <p:cond delay="0"/>
                                  </p:stCondLst>
                                  <p:childTnLst>
                                    <p:set>
                                      <p:cBhvr>
                                        <p:cTn id="39" dur="1" fill="hold">
                                          <p:stCondLst>
                                            <p:cond delay="0"/>
                                          </p:stCondLst>
                                        </p:cTn>
                                        <p:tgtEl>
                                          <p:spTgt spid="1358"/>
                                        </p:tgtEl>
                                        <p:attrNameLst>
                                          <p:attrName>style.visibility</p:attrName>
                                        </p:attrNameLst>
                                      </p:cBhvr>
                                      <p:to>
                                        <p:strVal val="visible"/>
                                      </p:to>
                                    </p:set>
                                    <p:anim calcmode="lin" valueType="num">
                                      <p:cBhvr additive="repl">
                                        <p:cTn id="40" dur="500" fill="hold"/>
                                        <p:tgtEl>
                                          <p:spTgt spid="1358"/>
                                        </p:tgtEl>
                                        <p:attrNameLst>
                                          <p:attrName>ppt_x</p:attrName>
                                        </p:attrNameLst>
                                      </p:cBhvr>
                                      <p:tavLst>
                                        <p:tav tm="0">
                                          <p:val>
                                            <p:strVal val="0-#ppt_w/2"/>
                                          </p:val>
                                        </p:tav>
                                        <p:tav tm="100000">
                                          <p:val>
                                            <p:strVal val="#ppt_x"/>
                                          </p:val>
                                        </p:tav>
                                      </p:tavLst>
                                    </p:anim>
                                    <p:anim calcmode="lin" valueType="num">
                                      <p:cBhvr additive="repl">
                                        <p:cTn id="41" dur="500" fill="hold"/>
                                        <p:tgtEl>
                                          <p:spTgt spid="1358"/>
                                        </p:tgtEl>
                                        <p:attrNameLst>
                                          <p:attrName>ppt_y</p:attrName>
                                        </p:attrNameLst>
                                      </p:cBhvr>
                                      <p:tavLst>
                                        <p:tav tm="0">
                                          <p:val>
                                            <p:strVal val="1+#ppt_h/2"/>
                                          </p:val>
                                        </p:tav>
                                        <p:tav tm="100000">
                                          <p:val>
                                            <p:strVal val="#ppt_y"/>
                                          </p:val>
                                        </p:tav>
                                      </p:tavLst>
                                    </p:anim>
                                  </p:childTnLst>
                                </p:cTn>
                              </p:par>
                            </p:childTnLst>
                          </p:cTn>
                        </p:par>
                        <p:par>
                          <p:cTn id="42" fill="hold">
                            <p:stCondLst>
                              <p:cond delay="500"/>
                            </p:stCondLst>
                            <p:childTnLst>
                              <p:par>
                                <p:cTn id="43" presetID="2" presetClass="entr" presetSubtype="12" fill="hold" nodeType="afterEffect">
                                  <p:stCondLst>
                                    <p:cond delay="0"/>
                                  </p:stCondLst>
                                  <p:childTnLst>
                                    <p:set>
                                      <p:cBhvr>
                                        <p:cTn id="44" dur="1" fill="hold">
                                          <p:stCondLst>
                                            <p:cond delay="0"/>
                                          </p:stCondLst>
                                        </p:cTn>
                                        <p:tgtEl>
                                          <p:spTgt spid="1360"/>
                                        </p:tgtEl>
                                        <p:attrNameLst>
                                          <p:attrName>style.visibility</p:attrName>
                                        </p:attrNameLst>
                                      </p:cBhvr>
                                      <p:to>
                                        <p:strVal val="visible"/>
                                      </p:to>
                                    </p:set>
                                    <p:anim calcmode="lin" valueType="num">
                                      <p:cBhvr additive="repl">
                                        <p:cTn id="45" dur="500" fill="hold"/>
                                        <p:tgtEl>
                                          <p:spTgt spid="1360"/>
                                        </p:tgtEl>
                                        <p:attrNameLst>
                                          <p:attrName>ppt_x</p:attrName>
                                        </p:attrNameLst>
                                      </p:cBhvr>
                                      <p:tavLst>
                                        <p:tav tm="0">
                                          <p:val>
                                            <p:strVal val="0-#ppt_w/2"/>
                                          </p:val>
                                        </p:tav>
                                        <p:tav tm="100000">
                                          <p:val>
                                            <p:strVal val="#ppt_x"/>
                                          </p:val>
                                        </p:tav>
                                      </p:tavLst>
                                    </p:anim>
                                    <p:anim calcmode="lin" valueType="num">
                                      <p:cBhvr additive="repl">
                                        <p:cTn id="46" dur="500" fill="hold"/>
                                        <p:tgtEl>
                                          <p:spTgt spid="1360"/>
                                        </p:tgtEl>
                                        <p:attrNameLst>
                                          <p:attrName>ppt_y</p:attrName>
                                        </p:attrNameLst>
                                      </p:cBhvr>
                                      <p:tavLst>
                                        <p:tav tm="0">
                                          <p:val>
                                            <p:strVal val="1+#ppt_h/2"/>
                                          </p:val>
                                        </p:tav>
                                        <p:tav tm="100000">
                                          <p:val>
                                            <p:strVal val="#ppt_y"/>
                                          </p:val>
                                        </p:tav>
                                      </p:tavLst>
                                    </p:anim>
                                  </p:childTnLst>
                                </p:cTn>
                              </p:par>
                            </p:childTnLst>
                          </p:cTn>
                        </p:par>
                        <p:par>
                          <p:cTn id="47" fill="hold">
                            <p:stCondLst>
                              <p:cond delay="1000"/>
                            </p:stCondLst>
                            <p:childTnLst>
                              <p:par>
                                <p:cTn id="48" presetID="18" presetClass="entr" presetSubtype="3" fill="hold" nodeType="afterEffect">
                                  <p:stCondLst>
                                    <p:cond delay="0"/>
                                  </p:stCondLst>
                                  <p:childTnLst>
                                    <p:set>
                                      <p:cBhvr>
                                        <p:cTn id="49" dur="1" fill="hold">
                                          <p:stCondLst>
                                            <p:cond delay="0"/>
                                          </p:stCondLst>
                                        </p:cTn>
                                        <p:tgtEl>
                                          <p:spTgt spid="1362"/>
                                        </p:tgtEl>
                                        <p:attrNameLst>
                                          <p:attrName>style.visibility</p:attrName>
                                        </p:attrNameLst>
                                      </p:cBhvr>
                                      <p:to>
                                        <p:strVal val="visible"/>
                                      </p:to>
                                    </p:set>
                                    <p:animEffect transition="in" filter="strips(upRight)">
                                      <p:cBhvr additive="repl">
                                        <p:cTn id="50" dur="500"/>
                                        <p:tgtEl>
                                          <p:spTgt spid="1362"/>
                                        </p:tgtEl>
                                      </p:cBhvr>
                                    </p:animEffect>
                                  </p:childTnLst>
                                </p:cTn>
                              </p:par>
                            </p:childTnLst>
                          </p:cTn>
                        </p:par>
                        <p:par>
                          <p:cTn id="51" fill="hold">
                            <p:stCondLst>
                              <p:cond delay="1500"/>
                            </p:stCondLst>
                            <p:childTnLst>
                              <p:par>
                                <p:cTn id="52" presetID="18" presetClass="entr" presetSubtype="3" fill="hold" nodeType="afterEffect">
                                  <p:stCondLst>
                                    <p:cond delay="0"/>
                                  </p:stCondLst>
                                  <p:childTnLst>
                                    <p:set>
                                      <p:cBhvr>
                                        <p:cTn id="53" dur="1" fill="hold">
                                          <p:stCondLst>
                                            <p:cond delay="0"/>
                                          </p:stCondLst>
                                        </p:cTn>
                                        <p:tgtEl>
                                          <p:spTgt spid="1363"/>
                                        </p:tgtEl>
                                        <p:attrNameLst>
                                          <p:attrName>style.visibility</p:attrName>
                                        </p:attrNameLst>
                                      </p:cBhvr>
                                      <p:to>
                                        <p:strVal val="visible"/>
                                      </p:to>
                                    </p:set>
                                    <p:animEffect transition="in" filter="strips(upRight)">
                                      <p:cBhvr additive="repl">
                                        <p:cTn id="54" dur="500"/>
                                        <p:tgtEl>
                                          <p:spTgt spid="1363"/>
                                        </p:tgtEl>
                                      </p:cBhvr>
                                    </p:animEffect>
                                  </p:childTnLst>
                                </p:cTn>
                              </p:par>
                            </p:childTnLst>
                          </p:cTn>
                        </p:par>
                        <p:par>
                          <p:cTn id="55" fill="hold">
                            <p:stCondLst>
                              <p:cond delay="2000"/>
                            </p:stCondLst>
                            <p:childTnLst>
                              <p:par>
                                <p:cTn id="56" presetID="18" presetClass="entr" presetSubtype="3" fill="hold" nodeType="afterEffect">
                                  <p:stCondLst>
                                    <p:cond delay="0"/>
                                  </p:stCondLst>
                                  <p:childTnLst>
                                    <p:set>
                                      <p:cBhvr>
                                        <p:cTn id="57" dur="1" fill="hold">
                                          <p:stCondLst>
                                            <p:cond delay="0"/>
                                          </p:stCondLst>
                                        </p:cTn>
                                        <p:tgtEl>
                                          <p:spTgt spid="1365"/>
                                        </p:tgtEl>
                                        <p:attrNameLst>
                                          <p:attrName>style.visibility</p:attrName>
                                        </p:attrNameLst>
                                      </p:cBhvr>
                                      <p:to>
                                        <p:strVal val="visible"/>
                                      </p:to>
                                    </p:set>
                                    <p:animEffect transition="in" filter="strips(upRight)">
                                      <p:cBhvr additive="repl">
                                        <p:cTn id="58" dur="500"/>
                                        <p:tgtEl>
                                          <p:spTgt spid="1365"/>
                                        </p:tgtEl>
                                      </p:cBhvr>
                                    </p:animEffect>
                                  </p:childTnLst>
                                </p:cTn>
                              </p:par>
                            </p:childTnLst>
                          </p:cTn>
                        </p:par>
                        <p:par>
                          <p:cTn id="59" fill="hold">
                            <p:stCondLst>
                              <p:cond delay="2500"/>
                            </p:stCondLst>
                            <p:childTnLst>
                              <p:par>
                                <p:cTn id="60" presetID="18" presetClass="entr" presetSubtype="3" fill="hold" nodeType="afterEffect">
                                  <p:stCondLst>
                                    <p:cond delay="0"/>
                                  </p:stCondLst>
                                  <p:childTnLst>
                                    <p:set>
                                      <p:cBhvr>
                                        <p:cTn id="61" dur="1" fill="hold">
                                          <p:stCondLst>
                                            <p:cond delay="0"/>
                                          </p:stCondLst>
                                        </p:cTn>
                                        <p:tgtEl>
                                          <p:spTgt spid="1366"/>
                                        </p:tgtEl>
                                        <p:attrNameLst>
                                          <p:attrName>style.visibility</p:attrName>
                                        </p:attrNameLst>
                                      </p:cBhvr>
                                      <p:to>
                                        <p:strVal val="visible"/>
                                      </p:to>
                                    </p:set>
                                    <p:animEffect transition="in" filter="strips(upRight)">
                                      <p:cBhvr additive="repl">
                                        <p:cTn id="62" dur="500"/>
                                        <p:tgtEl>
                                          <p:spTgt spid="1366"/>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 name="CustomShape 1"/>
          <p:cNvSpPr/>
          <p:nvPr/>
        </p:nvSpPr>
        <p:spPr>
          <a:xfrm>
            <a:off x="429426" y="2975328"/>
            <a:ext cx="3762720" cy="3483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s-PE" b="1" spc="-1" dirty="0">
                <a:solidFill>
                  <a:srgbClr val="00B050"/>
                </a:solidFill>
                <a:latin typeface="Arial Narrow" panose="020B0606020202030204" pitchFamily="34" charset="0"/>
              </a:rPr>
              <a:t>PASO 2: Hallando la Región Factible</a:t>
            </a:r>
          </a:p>
        </p:txBody>
      </p:sp>
      <p:sp>
        <p:nvSpPr>
          <p:cNvPr id="922" name="CustomShape 4"/>
          <p:cNvSpPr/>
          <p:nvPr/>
        </p:nvSpPr>
        <p:spPr>
          <a:xfrm>
            <a:off x="1082783" y="5589240"/>
            <a:ext cx="1448821" cy="739337"/>
          </a:xfrm>
          <a:custGeom>
            <a:avLst/>
            <a:gdLst/>
            <a:ahLst/>
            <a:cxnLst/>
            <a:rect l="l" t="t" r="r" b="b"/>
            <a:pathLst>
              <a:path w="2377440" h="1336431">
                <a:moveTo>
                  <a:pt x="0" y="1336431"/>
                </a:moveTo>
                <a:lnTo>
                  <a:pt x="0" y="0"/>
                </a:lnTo>
                <a:lnTo>
                  <a:pt x="1617785" y="731520"/>
                </a:lnTo>
                <a:lnTo>
                  <a:pt x="2377440" y="1336431"/>
                </a:lnTo>
                <a:lnTo>
                  <a:pt x="0" y="1336431"/>
                </a:lnTo>
                <a:close/>
              </a:path>
            </a:pathLst>
          </a:custGeom>
          <a:solidFill>
            <a:srgbClr val="FFFF00"/>
          </a:solidFill>
          <a:ln>
            <a:solidFill>
              <a:srgbClr val="FFFF00"/>
            </a:solidFill>
            <a:round/>
          </a:ln>
        </p:spPr>
        <p:style>
          <a:lnRef idx="2">
            <a:schemeClr val="accent1">
              <a:shade val="50000"/>
            </a:schemeClr>
          </a:lnRef>
          <a:fillRef idx="1">
            <a:schemeClr val="accent1"/>
          </a:fillRef>
          <a:effectRef idx="0">
            <a:schemeClr val="accent1"/>
          </a:effectRef>
          <a:fontRef idx="minor"/>
        </p:style>
        <p:txBody>
          <a:bodyPr/>
          <a:lstStyle/>
          <a:p>
            <a:endParaRPr lang="es-PE"/>
          </a:p>
        </p:txBody>
      </p:sp>
      <p:sp>
        <p:nvSpPr>
          <p:cNvPr id="924" name="CustomShape 6"/>
          <p:cNvSpPr/>
          <p:nvPr/>
        </p:nvSpPr>
        <p:spPr>
          <a:xfrm>
            <a:off x="713943" y="6311213"/>
            <a:ext cx="3762720" cy="2160"/>
          </a:xfrm>
          <a:custGeom>
            <a:avLst/>
            <a:gdLst/>
            <a:ahLst/>
            <a:cxnLst/>
            <a:rect l="l" t="t" r="r" b="b"/>
            <a:pathLst>
              <a:path w="21600" h="21600">
                <a:moveTo>
                  <a:pt x="0" y="0"/>
                </a:moveTo>
                <a:lnTo>
                  <a:pt x="21600" y="21600"/>
                </a:lnTo>
              </a:path>
            </a:pathLst>
          </a:custGeom>
          <a:noFill/>
          <a:ln w="3816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es-PE"/>
          </a:p>
        </p:txBody>
      </p:sp>
      <p:sp>
        <p:nvSpPr>
          <p:cNvPr id="925" name="Line 7"/>
          <p:cNvSpPr/>
          <p:nvPr/>
        </p:nvSpPr>
        <p:spPr>
          <a:xfrm>
            <a:off x="385974" y="3927896"/>
            <a:ext cx="3220805" cy="2799997"/>
          </a:xfrm>
          <a:prstGeom prst="line">
            <a:avLst/>
          </a:prstGeom>
          <a:ln w="19050">
            <a:solidFill>
              <a:srgbClr val="00B050"/>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sp>
        <p:nvSpPr>
          <p:cNvPr id="926" name="Line 8"/>
          <p:cNvSpPr/>
          <p:nvPr/>
        </p:nvSpPr>
        <p:spPr>
          <a:xfrm>
            <a:off x="279000" y="3430936"/>
            <a:ext cx="3762720" cy="3286930"/>
          </a:xfrm>
          <a:prstGeom prst="line">
            <a:avLst/>
          </a:prstGeom>
          <a:ln w="19050">
            <a:solidFill>
              <a:srgbClr val="00B050"/>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sp>
        <p:nvSpPr>
          <p:cNvPr id="927" name="CustomShape 9"/>
          <p:cNvSpPr/>
          <p:nvPr/>
        </p:nvSpPr>
        <p:spPr>
          <a:xfrm>
            <a:off x="835944" y="5387617"/>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2</a:t>
            </a:r>
          </a:p>
        </p:txBody>
      </p:sp>
      <p:sp>
        <p:nvSpPr>
          <p:cNvPr id="928" name="CustomShape 10"/>
          <p:cNvSpPr/>
          <p:nvPr/>
        </p:nvSpPr>
        <p:spPr>
          <a:xfrm>
            <a:off x="2400429" y="6348547"/>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4</a:t>
            </a:r>
          </a:p>
        </p:txBody>
      </p:sp>
      <p:sp>
        <p:nvSpPr>
          <p:cNvPr id="929" name="CustomShape 11"/>
          <p:cNvSpPr/>
          <p:nvPr/>
        </p:nvSpPr>
        <p:spPr>
          <a:xfrm>
            <a:off x="2834304" y="6338017"/>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5</a:t>
            </a:r>
          </a:p>
        </p:txBody>
      </p:sp>
      <p:sp>
        <p:nvSpPr>
          <p:cNvPr id="930" name="CustomShape 12"/>
          <p:cNvSpPr/>
          <p:nvPr/>
        </p:nvSpPr>
        <p:spPr>
          <a:xfrm>
            <a:off x="835944" y="5023297"/>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PE" b="1" spc="-1" dirty="0">
                <a:solidFill>
                  <a:schemeClr val="bg1"/>
                </a:solidFill>
                <a:latin typeface="Arial"/>
                <a:ea typeface="DejaVu Sans"/>
              </a:rPr>
              <a:t>3</a:t>
            </a:r>
            <a:endParaRPr lang="es-PE" spc="-1" dirty="0">
              <a:solidFill>
                <a:schemeClr val="bg1"/>
              </a:solidFill>
              <a:latin typeface="Arial"/>
            </a:endParaRPr>
          </a:p>
        </p:txBody>
      </p:sp>
      <p:sp>
        <p:nvSpPr>
          <p:cNvPr id="931" name="Line 13"/>
          <p:cNvSpPr/>
          <p:nvPr/>
        </p:nvSpPr>
        <p:spPr>
          <a:xfrm>
            <a:off x="983214" y="5205458"/>
            <a:ext cx="2076450" cy="1465094"/>
          </a:xfrm>
          <a:prstGeom prst="line">
            <a:avLst/>
          </a:prstGeom>
          <a:ln w="19050">
            <a:solidFill>
              <a:srgbClr val="FF0000"/>
            </a:solidFill>
            <a:round/>
          </a:ln>
        </p:spPr>
        <p:style>
          <a:lnRef idx="0">
            <a:scrgbClr r="0" g="0" b="0"/>
          </a:lnRef>
          <a:fillRef idx="0">
            <a:scrgbClr r="0" g="0" b="0"/>
          </a:fillRef>
          <a:effectRef idx="0">
            <a:scrgbClr r="0" g="0" b="0"/>
          </a:effectRef>
          <a:fontRef idx="minor"/>
        </p:style>
        <p:txBody>
          <a:bodyPr/>
          <a:lstStyle/>
          <a:p>
            <a:endParaRPr lang="es-PE"/>
          </a:p>
        </p:txBody>
      </p:sp>
      <p:sp>
        <p:nvSpPr>
          <p:cNvPr id="932" name="Line 14"/>
          <p:cNvSpPr/>
          <p:nvPr/>
        </p:nvSpPr>
        <p:spPr>
          <a:xfrm>
            <a:off x="253078" y="4322279"/>
            <a:ext cx="3140572" cy="2720769"/>
          </a:xfrm>
          <a:prstGeom prst="line">
            <a:avLst/>
          </a:prstGeom>
          <a:ln w="19050">
            <a:solidFill>
              <a:srgbClr val="00B050"/>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sp>
        <p:nvSpPr>
          <p:cNvPr id="935" name="CustomShape 17"/>
          <p:cNvSpPr/>
          <p:nvPr/>
        </p:nvSpPr>
        <p:spPr>
          <a:xfrm>
            <a:off x="6096000" y="255389"/>
            <a:ext cx="6096000" cy="48492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spcBef>
                <a:spcPct val="0"/>
              </a:spcBef>
            </a:pPr>
            <a:r>
              <a:rPr lang="es-PE" sz="3200" dirty="0">
                <a:solidFill>
                  <a:schemeClr val="bg1"/>
                </a:solidFill>
                <a:latin typeface="Bauhaus 93" pitchFamily="82" charset="0"/>
              </a:rPr>
              <a:t>Problema 36</a:t>
            </a:r>
          </a:p>
        </p:txBody>
      </p:sp>
      <p:sp>
        <p:nvSpPr>
          <p:cNvPr id="921" name="Line 3"/>
          <p:cNvSpPr/>
          <p:nvPr/>
        </p:nvSpPr>
        <p:spPr>
          <a:xfrm>
            <a:off x="948624" y="5558376"/>
            <a:ext cx="2788621" cy="1091619"/>
          </a:xfrm>
          <a:prstGeom prst="line">
            <a:avLst/>
          </a:prstGeom>
          <a:ln w="19050">
            <a:solidFill>
              <a:srgbClr val="7030A0"/>
            </a:solidFill>
            <a:round/>
          </a:ln>
        </p:spPr>
        <p:style>
          <a:lnRef idx="0">
            <a:scrgbClr r="0" g="0" b="0"/>
          </a:lnRef>
          <a:fillRef idx="0">
            <a:scrgbClr r="0" g="0" b="0"/>
          </a:fillRef>
          <a:effectRef idx="0">
            <a:scrgbClr r="0" g="0" b="0"/>
          </a:effectRef>
          <a:fontRef idx="minor"/>
        </p:style>
        <p:txBody>
          <a:bodyPr/>
          <a:lstStyle/>
          <a:p>
            <a:endParaRPr lang="es-PE"/>
          </a:p>
        </p:txBody>
      </p:sp>
      <p:sp>
        <p:nvSpPr>
          <p:cNvPr id="3" name="2 CuadroTexto"/>
          <p:cNvSpPr txBox="1"/>
          <p:nvPr/>
        </p:nvSpPr>
        <p:spPr>
          <a:xfrm>
            <a:off x="1693242" y="6325727"/>
            <a:ext cx="2348480" cy="369332"/>
          </a:xfrm>
          <a:prstGeom prst="rect">
            <a:avLst/>
          </a:prstGeom>
          <a:noFill/>
        </p:spPr>
        <p:txBody>
          <a:bodyPr wrap="square" rtlCol="0">
            <a:spAutoFit/>
          </a:bodyPr>
          <a:lstStyle/>
          <a:p>
            <a:r>
              <a:rPr lang="es-PE" dirty="0"/>
              <a:t>2     3    4     5     6       7</a:t>
            </a:r>
          </a:p>
        </p:txBody>
      </p:sp>
      <p:sp>
        <p:nvSpPr>
          <p:cNvPr id="4" name="3 CuadroTexto"/>
          <p:cNvSpPr txBox="1"/>
          <p:nvPr/>
        </p:nvSpPr>
        <p:spPr>
          <a:xfrm>
            <a:off x="775951" y="5064452"/>
            <a:ext cx="260116" cy="646331"/>
          </a:xfrm>
          <a:prstGeom prst="rect">
            <a:avLst/>
          </a:prstGeom>
          <a:noFill/>
        </p:spPr>
        <p:txBody>
          <a:bodyPr wrap="square" rtlCol="0">
            <a:spAutoFit/>
          </a:bodyPr>
          <a:lstStyle/>
          <a:p>
            <a:r>
              <a:rPr lang="es-PE" dirty="0"/>
              <a:t>3</a:t>
            </a:r>
          </a:p>
          <a:p>
            <a:r>
              <a:rPr lang="es-PE" dirty="0"/>
              <a:t>2</a:t>
            </a:r>
          </a:p>
        </p:txBody>
      </p:sp>
      <p:sp>
        <p:nvSpPr>
          <p:cNvPr id="5" name="4 CuadroTexto"/>
          <p:cNvSpPr txBox="1"/>
          <p:nvPr/>
        </p:nvSpPr>
        <p:spPr>
          <a:xfrm>
            <a:off x="4041720" y="6530707"/>
            <a:ext cx="648072" cy="374318"/>
          </a:xfrm>
          <a:prstGeom prst="rect">
            <a:avLst/>
          </a:prstGeom>
          <a:noFill/>
        </p:spPr>
        <p:txBody>
          <a:bodyPr wrap="square" rtlCol="0">
            <a:spAutoFit/>
          </a:bodyPr>
          <a:lstStyle/>
          <a:p>
            <a:r>
              <a:rPr lang="es-PE" b="1" dirty="0" err="1">
                <a:solidFill>
                  <a:srgbClr val="FF0000"/>
                </a:solidFill>
              </a:rPr>
              <a:t>X1</a:t>
            </a:r>
            <a:endParaRPr lang="es-PE" b="1" dirty="0">
              <a:solidFill>
                <a:srgbClr val="FF0000"/>
              </a:solidFill>
            </a:endParaRPr>
          </a:p>
        </p:txBody>
      </p:sp>
      <p:sp>
        <p:nvSpPr>
          <p:cNvPr id="26" name="25 CuadroTexto"/>
          <p:cNvSpPr txBox="1"/>
          <p:nvPr/>
        </p:nvSpPr>
        <p:spPr>
          <a:xfrm>
            <a:off x="451915" y="3538274"/>
            <a:ext cx="648072" cy="374318"/>
          </a:xfrm>
          <a:prstGeom prst="rect">
            <a:avLst/>
          </a:prstGeom>
          <a:noFill/>
        </p:spPr>
        <p:txBody>
          <a:bodyPr wrap="square" rtlCol="0">
            <a:spAutoFit/>
          </a:bodyPr>
          <a:lstStyle/>
          <a:p>
            <a:r>
              <a:rPr lang="es-PE" b="1" dirty="0" err="1">
                <a:solidFill>
                  <a:srgbClr val="FF0000"/>
                </a:solidFill>
              </a:rPr>
              <a:t>X2</a:t>
            </a:r>
            <a:endParaRPr lang="es-PE" b="1" dirty="0">
              <a:solidFill>
                <a:srgbClr val="FF0000"/>
              </a:solidFill>
            </a:endParaRPr>
          </a:p>
        </p:txBody>
      </p:sp>
      <p:sp>
        <p:nvSpPr>
          <p:cNvPr id="6" name="5 CuadroTexto"/>
          <p:cNvSpPr txBox="1"/>
          <p:nvPr/>
        </p:nvSpPr>
        <p:spPr>
          <a:xfrm>
            <a:off x="1283610" y="5957987"/>
            <a:ext cx="593467" cy="367740"/>
          </a:xfrm>
          <a:prstGeom prst="rect">
            <a:avLst/>
          </a:prstGeom>
          <a:noFill/>
        </p:spPr>
        <p:txBody>
          <a:bodyPr wrap="square" rtlCol="0">
            <a:spAutoFit/>
          </a:bodyPr>
          <a:lstStyle/>
          <a:p>
            <a:r>
              <a:rPr lang="es-PE" b="1" dirty="0" err="1">
                <a:solidFill>
                  <a:srgbClr val="002060"/>
                </a:solidFill>
              </a:rPr>
              <a:t>R.F</a:t>
            </a:r>
            <a:r>
              <a:rPr lang="es-PE" b="1" dirty="0">
                <a:solidFill>
                  <a:srgbClr val="002060"/>
                </a:solidFill>
              </a:rPr>
              <a:t>.</a:t>
            </a:r>
          </a:p>
        </p:txBody>
      </p:sp>
      <p:sp>
        <p:nvSpPr>
          <p:cNvPr id="7" name="6 CuadroTexto"/>
          <p:cNvSpPr txBox="1"/>
          <p:nvPr/>
        </p:nvSpPr>
        <p:spPr>
          <a:xfrm>
            <a:off x="757134" y="3937412"/>
            <a:ext cx="336240" cy="369332"/>
          </a:xfrm>
          <a:prstGeom prst="rect">
            <a:avLst/>
          </a:prstGeom>
          <a:noFill/>
        </p:spPr>
        <p:txBody>
          <a:bodyPr wrap="square" rtlCol="0">
            <a:spAutoFit/>
          </a:bodyPr>
          <a:lstStyle/>
          <a:p>
            <a:r>
              <a:rPr lang="es-PE" dirty="0"/>
              <a:t>6</a:t>
            </a:r>
          </a:p>
        </p:txBody>
      </p:sp>
      <p:sp>
        <p:nvSpPr>
          <p:cNvPr id="29" name="28 Rectángulo"/>
          <p:cNvSpPr/>
          <p:nvPr/>
        </p:nvSpPr>
        <p:spPr>
          <a:xfrm>
            <a:off x="1295775" y="1274286"/>
            <a:ext cx="2441470" cy="1631216"/>
          </a:xfrm>
          <a:prstGeom prst="rect">
            <a:avLst/>
          </a:prstGeom>
          <a:solidFill>
            <a:srgbClr val="FFFF00"/>
          </a:solidFill>
        </p:spPr>
        <p:txBody>
          <a:bodyPr wrap="square">
            <a:spAutoFit/>
          </a:bodyPr>
          <a:lstStyle/>
          <a:p>
            <a:r>
              <a:rPr lang="es-ES" sz="2000" b="1" dirty="0">
                <a:latin typeface="Arial Narrow" pitchFamily="34" charset="0"/>
              </a:rPr>
              <a:t>MAX </a:t>
            </a:r>
            <a:r>
              <a:rPr lang="es-ES" sz="2000" b="1" dirty="0" err="1">
                <a:latin typeface="Arial Narrow" pitchFamily="34" charset="0"/>
              </a:rPr>
              <a:t>6X1+7X2</a:t>
            </a:r>
            <a:endParaRPr lang="es-ES" sz="2000" b="1" dirty="0">
              <a:latin typeface="Arial Narrow" pitchFamily="34" charset="0"/>
            </a:endParaRPr>
          </a:p>
          <a:p>
            <a:r>
              <a:rPr lang="es-ES" sz="2000" b="1" dirty="0">
                <a:latin typeface="Arial Narrow" pitchFamily="34" charset="0"/>
              </a:rPr>
              <a:t>Sujeto a:</a:t>
            </a:r>
          </a:p>
          <a:p>
            <a:r>
              <a:rPr lang="es-PE" sz="2000" b="1" spc="-1" dirty="0" err="1">
                <a:solidFill>
                  <a:schemeClr val="bg2">
                    <a:lumMod val="10000"/>
                  </a:schemeClr>
                </a:solidFill>
                <a:latin typeface="Arial Narrow" panose="020B0606020202030204" pitchFamily="34" charset="0"/>
              </a:rPr>
              <a:t>2X1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5X2</a:t>
            </a:r>
            <a:r>
              <a:rPr lang="es-PE" sz="2000" b="1" spc="-1" dirty="0">
                <a:solidFill>
                  <a:schemeClr val="bg2">
                    <a:lumMod val="10000"/>
                  </a:schemeClr>
                </a:solidFill>
                <a:latin typeface="Arial Narrow" panose="020B0606020202030204" pitchFamily="34" charset="0"/>
              </a:rPr>
              <a:t> &lt;=10   (I) </a:t>
            </a:r>
          </a:p>
          <a:p>
            <a:r>
              <a:rPr lang="es-PE" sz="2000" b="1" spc="-1" dirty="0" err="1">
                <a:solidFill>
                  <a:schemeClr val="bg2">
                    <a:lumMod val="10000"/>
                  </a:schemeClr>
                </a:solidFill>
                <a:latin typeface="Arial Narrow" panose="020B0606020202030204" pitchFamily="34" charset="0"/>
              </a:rPr>
              <a:t>3X1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4X2</a:t>
            </a:r>
            <a:r>
              <a:rPr lang="es-PE" sz="2000" b="1" spc="-1" dirty="0">
                <a:solidFill>
                  <a:schemeClr val="bg2">
                    <a:lumMod val="10000"/>
                  </a:schemeClr>
                </a:solidFill>
                <a:latin typeface="Arial Narrow" panose="020B0606020202030204" pitchFamily="34" charset="0"/>
              </a:rPr>
              <a:t> &lt;=12     (II)</a:t>
            </a:r>
          </a:p>
          <a:p>
            <a:r>
              <a:rPr lang="es-ES" sz="2000" b="1" dirty="0" err="1">
                <a:latin typeface="Arial Narrow" pitchFamily="34" charset="0"/>
              </a:rPr>
              <a:t>X1,X2</a:t>
            </a:r>
            <a:r>
              <a:rPr lang="es-ES" sz="2000" b="1" dirty="0">
                <a:latin typeface="Arial Narrow" pitchFamily="34" charset="0"/>
              </a:rPr>
              <a:t>&gt;=0</a:t>
            </a:r>
          </a:p>
        </p:txBody>
      </p:sp>
      <p:cxnSp>
        <p:nvCxnSpPr>
          <p:cNvPr id="9" name="8 Conector recto"/>
          <p:cNvCxnSpPr>
            <a:cxnSpLocks/>
          </p:cNvCxnSpPr>
          <p:nvPr/>
        </p:nvCxnSpPr>
        <p:spPr>
          <a:xfrm flipH="1">
            <a:off x="914035" y="5600768"/>
            <a:ext cx="131131" cy="362160"/>
          </a:xfrm>
          <a:prstGeom prst="line">
            <a:avLst/>
          </a:prstGeom>
          <a:noFill/>
          <a:ln w="38160">
            <a:solidFill>
              <a:srgbClr val="7030A0"/>
            </a:solidFill>
            <a:round/>
            <a:tailEnd type="triangle" w="med" len="med"/>
          </a:ln>
        </p:spPr>
        <p:style>
          <a:lnRef idx="1">
            <a:schemeClr val="accent1"/>
          </a:lnRef>
          <a:fillRef idx="0">
            <a:schemeClr val="accent1"/>
          </a:fillRef>
          <a:effectRef idx="0">
            <a:schemeClr val="accent1"/>
          </a:effectRef>
          <a:fontRef idx="minor"/>
        </p:style>
      </p:cxnSp>
      <p:cxnSp>
        <p:nvCxnSpPr>
          <p:cNvPr id="11" name="10 Conector recto de flecha"/>
          <p:cNvCxnSpPr>
            <a:cxnSpLocks/>
          </p:cNvCxnSpPr>
          <p:nvPr/>
        </p:nvCxnSpPr>
        <p:spPr>
          <a:xfrm flipH="1">
            <a:off x="795429" y="5205458"/>
            <a:ext cx="222289" cy="32046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E12DD55D-74E4-4ABF-912C-5EA5A07A008E}"/>
              </a:ext>
            </a:extLst>
          </p:cNvPr>
          <p:cNvCxnSpPr/>
          <p:nvPr/>
        </p:nvCxnSpPr>
        <p:spPr>
          <a:xfrm flipV="1">
            <a:off x="1059118" y="3262069"/>
            <a:ext cx="0" cy="3348931"/>
          </a:xfrm>
          <a:prstGeom prst="straightConnector1">
            <a:avLst/>
          </a:prstGeom>
          <a:noFill/>
          <a:ln w="38160">
            <a:solidFill>
              <a:srgbClr val="FF0000"/>
            </a:solidFill>
            <a:round/>
            <a:tailEnd type="triangle" w="med" len="med"/>
          </a:ln>
        </p:spPr>
        <p:style>
          <a:lnRef idx="1">
            <a:schemeClr val="accent1"/>
          </a:lnRef>
          <a:fillRef idx="0">
            <a:schemeClr val="accent1"/>
          </a:fillRef>
          <a:effectRef idx="0">
            <a:schemeClr val="accent1"/>
          </a:effectRef>
          <a:fontRef idx="minor"/>
        </p:style>
      </p:cxnSp>
      <p:sp>
        <p:nvSpPr>
          <p:cNvPr id="2" name="Rectángulo 1">
            <a:extLst>
              <a:ext uri="{FF2B5EF4-FFF2-40B4-BE49-F238E27FC236}">
                <a16:creationId xmlns:a16="http://schemas.microsoft.com/office/drawing/2014/main" id="{5624E6FB-0567-4EEF-8F6B-26F437581BBE}"/>
              </a:ext>
            </a:extLst>
          </p:cNvPr>
          <p:cNvSpPr/>
          <p:nvPr/>
        </p:nvSpPr>
        <p:spPr>
          <a:xfrm>
            <a:off x="4649220" y="4988411"/>
            <a:ext cx="4077292" cy="1631216"/>
          </a:xfrm>
          <a:prstGeom prst="rect">
            <a:avLst/>
          </a:prstGeom>
          <a:solidFill>
            <a:schemeClr val="accent4">
              <a:lumMod val="40000"/>
              <a:lumOff val="60000"/>
            </a:schemeClr>
          </a:solidFill>
        </p:spPr>
        <p:txBody>
          <a:bodyPr wrap="square">
            <a:spAutoFit/>
          </a:bodyPr>
          <a:lstStyle/>
          <a:p>
            <a:pPr marL="631800" indent="-631080">
              <a:defRPr/>
            </a:pPr>
            <a:r>
              <a:rPr lang="es-PE" sz="2000" b="1" spc="-1" dirty="0">
                <a:solidFill>
                  <a:srgbClr val="00B050"/>
                </a:solidFill>
                <a:latin typeface="Arial Narrow" panose="020B0606020202030204" pitchFamily="34" charset="0"/>
              </a:rPr>
              <a:t>PASO 4: Hallando la Solución óptima</a:t>
            </a:r>
          </a:p>
          <a:p>
            <a:pPr algn="just">
              <a:lnSpc>
                <a:spcPct val="100000"/>
              </a:lnSpc>
            </a:pPr>
            <a:r>
              <a:rPr lang="es-PE" sz="2000" b="1" spc="-1" dirty="0">
                <a:solidFill>
                  <a:schemeClr val="bg2">
                    <a:lumMod val="10000"/>
                  </a:schemeClr>
                </a:solidFill>
                <a:latin typeface="Arial Narrow" panose="020B0606020202030204" pitchFamily="34" charset="0"/>
                <a:ea typeface="DejaVu Sans"/>
              </a:rPr>
              <a:t>Del gráfico la solución óptima es:</a:t>
            </a:r>
          </a:p>
          <a:p>
            <a:pPr algn="just">
              <a:lnSpc>
                <a:spcPct val="100000"/>
              </a:lnSpc>
            </a:pPr>
            <a:r>
              <a:rPr lang="es-PE" sz="2000" b="1" spc="-1" dirty="0">
                <a:solidFill>
                  <a:schemeClr val="bg2">
                    <a:lumMod val="10000"/>
                  </a:schemeClr>
                </a:solidFill>
                <a:latin typeface="Arial Narrow" panose="020B0606020202030204" pitchFamily="34" charset="0"/>
                <a:ea typeface="DejaVu Sans"/>
              </a:rPr>
              <a:t>	</a:t>
            </a:r>
            <a:r>
              <a:rPr lang="es-PE" sz="2000" b="1" spc="-1" dirty="0" err="1">
                <a:solidFill>
                  <a:schemeClr val="bg2">
                    <a:lumMod val="10000"/>
                  </a:schemeClr>
                </a:solidFill>
                <a:latin typeface="Arial Narrow" panose="020B0606020202030204" pitchFamily="34" charset="0"/>
                <a:ea typeface="DejaVu Sans"/>
              </a:rPr>
              <a:t>X1</a:t>
            </a:r>
            <a:r>
              <a:rPr lang="es-PE" sz="2000" b="1" spc="-1" dirty="0">
                <a:solidFill>
                  <a:schemeClr val="bg2">
                    <a:lumMod val="10000"/>
                  </a:schemeClr>
                </a:solidFill>
                <a:latin typeface="Arial Narrow" panose="020B0606020202030204" pitchFamily="34" charset="0"/>
                <a:ea typeface="DejaVu Sans"/>
              </a:rPr>
              <a:t>=4	   </a:t>
            </a:r>
            <a:r>
              <a:rPr lang="es-PE" sz="2000" b="1" spc="-1" dirty="0" err="1">
                <a:solidFill>
                  <a:schemeClr val="bg2">
                    <a:lumMod val="10000"/>
                  </a:schemeClr>
                </a:solidFill>
                <a:latin typeface="Arial Narrow" panose="020B0606020202030204" pitchFamily="34" charset="0"/>
                <a:ea typeface="DejaVu Sans"/>
              </a:rPr>
              <a:t>X2</a:t>
            </a:r>
            <a:r>
              <a:rPr lang="es-PE" sz="2000" b="1" spc="-1" dirty="0">
                <a:solidFill>
                  <a:schemeClr val="bg2">
                    <a:lumMod val="10000"/>
                  </a:schemeClr>
                </a:solidFill>
                <a:latin typeface="Arial Narrow" panose="020B0606020202030204" pitchFamily="34" charset="0"/>
                <a:ea typeface="DejaVu Sans"/>
              </a:rPr>
              <a:t>=0</a:t>
            </a:r>
          </a:p>
          <a:p>
            <a:pPr algn="just"/>
            <a:r>
              <a:rPr lang="es-PE" sz="2000" b="1" spc="-1" dirty="0">
                <a:solidFill>
                  <a:schemeClr val="bg2">
                    <a:lumMod val="10000"/>
                  </a:schemeClr>
                </a:solidFill>
                <a:latin typeface="Arial Narrow" panose="020B0606020202030204" pitchFamily="34" charset="0"/>
              </a:rPr>
              <a:t>El valor que toma la </a:t>
            </a:r>
            <a:r>
              <a:rPr lang="es-PE" sz="2000" b="1" spc="-1" dirty="0" err="1">
                <a:solidFill>
                  <a:schemeClr val="bg2">
                    <a:lumMod val="10000"/>
                  </a:schemeClr>
                </a:solidFill>
                <a:latin typeface="Arial Narrow" panose="020B0606020202030204" pitchFamily="34" charset="0"/>
              </a:rPr>
              <a:t>F.O</a:t>
            </a:r>
            <a:r>
              <a:rPr lang="es-PE" sz="2000" b="1" spc="-1" dirty="0">
                <a:solidFill>
                  <a:schemeClr val="bg2">
                    <a:lumMod val="10000"/>
                  </a:schemeClr>
                </a:solidFill>
                <a:latin typeface="Arial Narrow" panose="020B0606020202030204" pitchFamily="34" charset="0"/>
              </a:rPr>
              <a:t>. es:</a:t>
            </a:r>
          </a:p>
          <a:p>
            <a:pPr algn="just"/>
            <a:r>
              <a:rPr lang="es-PE" sz="2000" b="1" spc="-1" dirty="0">
                <a:solidFill>
                  <a:schemeClr val="bg2">
                    <a:lumMod val="10000"/>
                  </a:schemeClr>
                </a:solidFill>
                <a:latin typeface="Arial Narrow" panose="020B0606020202030204" pitchFamily="34" charset="0"/>
              </a:rPr>
              <a:t>	  Z= 6(4) + 7(0)  =  24</a:t>
            </a:r>
          </a:p>
        </p:txBody>
      </p:sp>
      <p:sp>
        <p:nvSpPr>
          <p:cNvPr id="10" name="Rectángulo 9">
            <a:extLst>
              <a:ext uri="{FF2B5EF4-FFF2-40B4-BE49-F238E27FC236}">
                <a16:creationId xmlns:a16="http://schemas.microsoft.com/office/drawing/2014/main" id="{FE44F809-11BF-4BBA-BF85-E68D59F897C2}"/>
              </a:ext>
            </a:extLst>
          </p:cNvPr>
          <p:cNvSpPr/>
          <p:nvPr/>
        </p:nvSpPr>
        <p:spPr>
          <a:xfrm>
            <a:off x="4649221" y="3699858"/>
            <a:ext cx="4077292" cy="1323439"/>
          </a:xfrm>
          <a:prstGeom prst="rect">
            <a:avLst/>
          </a:prstGeom>
          <a:solidFill>
            <a:schemeClr val="accent4">
              <a:lumMod val="40000"/>
              <a:lumOff val="60000"/>
            </a:schemeClr>
          </a:solidFill>
        </p:spPr>
        <p:txBody>
          <a:bodyPr wrap="square">
            <a:spAutoFit/>
          </a:bodyPr>
          <a:lstStyle/>
          <a:p>
            <a:pPr marL="631800" indent="-631080">
              <a:defRPr/>
            </a:pPr>
            <a:r>
              <a:rPr lang="es-PE" sz="2000" b="1" spc="-1" dirty="0">
                <a:solidFill>
                  <a:srgbClr val="00B050"/>
                </a:solidFill>
                <a:latin typeface="Arial Narrow" panose="020B0606020202030204" pitchFamily="34" charset="0"/>
              </a:rPr>
              <a:t>PASO 3: Graficando las </a:t>
            </a:r>
            <a:r>
              <a:rPr lang="es-PE" sz="2000" b="1" spc="-1" dirty="0" err="1">
                <a:solidFill>
                  <a:srgbClr val="00B050"/>
                </a:solidFill>
                <a:latin typeface="Arial Narrow" panose="020B0606020202030204" pitchFamily="34" charset="0"/>
              </a:rPr>
              <a:t>F.O</a:t>
            </a:r>
            <a:endParaRPr lang="es-PE" sz="2000" b="1" spc="-1" dirty="0">
              <a:solidFill>
                <a:srgbClr val="00B050"/>
              </a:solidFill>
              <a:latin typeface="Arial Narrow" panose="020B0606020202030204" pitchFamily="34" charset="0"/>
            </a:endParaRPr>
          </a:p>
          <a:p>
            <a:pPr marL="914400" indent="-513720">
              <a:lnSpc>
                <a:spcPct val="100000"/>
              </a:lnSpc>
            </a:pPr>
            <a:r>
              <a:rPr lang="es-PE" sz="2000" b="1" spc="-1" dirty="0" err="1">
                <a:solidFill>
                  <a:schemeClr val="bg2">
                    <a:lumMod val="10000"/>
                  </a:schemeClr>
                </a:solidFill>
                <a:latin typeface="Arial Narrow" panose="020B0606020202030204" pitchFamily="34" charset="0"/>
              </a:rPr>
              <a:t>6X1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7X2</a:t>
            </a:r>
            <a:r>
              <a:rPr lang="es-PE" sz="2000" b="1" spc="-1" dirty="0">
                <a:solidFill>
                  <a:schemeClr val="bg2">
                    <a:lumMod val="10000"/>
                  </a:schemeClr>
                </a:solidFill>
                <a:latin typeface="Arial Narrow" panose="020B0606020202030204" pitchFamily="34" charset="0"/>
              </a:rPr>
              <a:t> = </a:t>
            </a:r>
            <a:r>
              <a:rPr lang="es-PE" sz="2000" b="1" spc="-1" dirty="0">
                <a:solidFill>
                  <a:srgbClr val="FF0000"/>
                </a:solidFill>
                <a:latin typeface="Arial Narrow" panose="020B0606020202030204" pitchFamily="34" charset="0"/>
              </a:rPr>
              <a:t>42</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=6</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=7</a:t>
            </a:r>
          </a:p>
        </p:txBody>
      </p:sp>
      <p:sp>
        <p:nvSpPr>
          <p:cNvPr id="12" name="Rectángulo 11">
            <a:extLst>
              <a:ext uri="{FF2B5EF4-FFF2-40B4-BE49-F238E27FC236}">
                <a16:creationId xmlns:a16="http://schemas.microsoft.com/office/drawing/2014/main" id="{4FFA4CB3-856A-4E2D-9674-C9D4A4E22FF4}"/>
              </a:ext>
            </a:extLst>
          </p:cNvPr>
          <p:cNvSpPr/>
          <p:nvPr/>
        </p:nvSpPr>
        <p:spPr>
          <a:xfrm>
            <a:off x="4649220" y="1437970"/>
            <a:ext cx="4077292" cy="2246769"/>
          </a:xfrm>
          <a:prstGeom prst="rect">
            <a:avLst/>
          </a:prstGeom>
          <a:solidFill>
            <a:schemeClr val="accent4">
              <a:lumMod val="40000"/>
              <a:lumOff val="60000"/>
            </a:schemeClr>
          </a:solidFill>
        </p:spPr>
        <p:txBody>
          <a:bodyPr wrap="square">
            <a:spAutoFit/>
          </a:bodyPr>
          <a:lstStyle/>
          <a:p>
            <a:pPr marL="631800" indent="-631080">
              <a:lnSpc>
                <a:spcPct val="100000"/>
              </a:lnSpc>
            </a:pPr>
            <a:r>
              <a:rPr lang="es-PE" sz="2000" b="1" spc="-1" dirty="0">
                <a:solidFill>
                  <a:srgbClr val="00B050"/>
                </a:solidFill>
                <a:latin typeface="Arial Narrow" panose="020B0606020202030204" pitchFamily="34" charset="0"/>
              </a:rPr>
              <a:t>PASO 1: Graficando las restricciones:</a:t>
            </a:r>
          </a:p>
          <a:p>
            <a:pPr marL="914400" indent="-513720">
              <a:lnSpc>
                <a:spcPct val="100000"/>
              </a:lnSpc>
            </a:pPr>
            <a:r>
              <a:rPr lang="es-PE" sz="2000" b="1" spc="-1" dirty="0" err="1">
                <a:solidFill>
                  <a:schemeClr val="bg2">
                    <a:lumMod val="10000"/>
                  </a:schemeClr>
                </a:solidFill>
                <a:latin typeface="Arial Narrow" panose="020B0606020202030204" pitchFamily="34" charset="0"/>
              </a:rPr>
              <a:t>2X1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5X2</a:t>
            </a:r>
            <a:r>
              <a:rPr lang="es-PE" sz="2000" b="1" spc="-1" dirty="0">
                <a:solidFill>
                  <a:schemeClr val="bg2">
                    <a:lumMod val="10000"/>
                  </a:schemeClr>
                </a:solidFill>
                <a:latin typeface="Arial Narrow" panose="020B0606020202030204" pitchFamily="34" charset="0"/>
              </a:rPr>
              <a:t> =10  (I)</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=2</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=5</a:t>
            </a:r>
          </a:p>
          <a:p>
            <a:pPr marL="914400" indent="-513720">
              <a:lnSpc>
                <a:spcPct val="100000"/>
              </a:lnSpc>
            </a:pPr>
            <a:r>
              <a:rPr lang="es-PE" sz="2000" b="1" spc="-1" dirty="0" err="1">
                <a:solidFill>
                  <a:schemeClr val="bg2">
                    <a:lumMod val="10000"/>
                  </a:schemeClr>
                </a:solidFill>
                <a:latin typeface="Arial Narrow" panose="020B0606020202030204" pitchFamily="34" charset="0"/>
              </a:rPr>
              <a:t>3X1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4X2</a:t>
            </a:r>
            <a:r>
              <a:rPr lang="es-PE" sz="2000" b="1" spc="-1" dirty="0">
                <a:solidFill>
                  <a:schemeClr val="bg2">
                    <a:lumMod val="10000"/>
                  </a:schemeClr>
                </a:solidFill>
                <a:latin typeface="Arial Narrow" panose="020B0606020202030204" pitchFamily="34" charset="0"/>
              </a:rPr>
              <a:t> =12  (II)</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=3</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=4</a:t>
            </a:r>
          </a:p>
        </p:txBody>
      </p:sp>
      <p:sp>
        <p:nvSpPr>
          <p:cNvPr id="30" name="1 Rectángulo">
            <a:extLst>
              <a:ext uri="{FF2B5EF4-FFF2-40B4-BE49-F238E27FC236}">
                <a16:creationId xmlns:a16="http://schemas.microsoft.com/office/drawing/2014/main" id="{08448B6A-25C4-4D8B-B9F5-27C0CC3971E2}"/>
              </a:ext>
            </a:extLst>
          </p:cNvPr>
          <p:cNvSpPr/>
          <p:nvPr/>
        </p:nvSpPr>
        <p:spPr>
          <a:xfrm>
            <a:off x="8940316" y="3717032"/>
            <a:ext cx="3148717" cy="2246769"/>
          </a:xfrm>
          <a:prstGeom prst="rect">
            <a:avLst/>
          </a:prstGeom>
          <a:solidFill>
            <a:schemeClr val="accent3">
              <a:lumMod val="40000"/>
              <a:lumOff val="60000"/>
            </a:schemeClr>
          </a:solidFill>
        </p:spPr>
        <p:txBody>
          <a:bodyPr wrap="square">
            <a:spAutoFit/>
          </a:bodyPr>
          <a:lstStyle/>
          <a:p>
            <a:r>
              <a:rPr lang="en-US" sz="2000" b="1" dirty="0">
                <a:latin typeface="Arial Narrow" pitchFamily="34" charset="0"/>
              </a:rPr>
              <a:t>OBJECTIVE FUNCTION VALUE</a:t>
            </a:r>
          </a:p>
          <a:p>
            <a:r>
              <a:rPr lang="en-US" sz="2000" b="1" dirty="0">
                <a:latin typeface="Arial Narrow" pitchFamily="34" charset="0"/>
              </a:rPr>
              <a:t> 1)      24.00000</a:t>
            </a:r>
          </a:p>
          <a:p>
            <a:r>
              <a:rPr lang="en-US" sz="2000" b="1" dirty="0">
                <a:latin typeface="Arial Narrow" pitchFamily="34" charset="0"/>
              </a:rPr>
              <a:t>VARIABLE  VALUE REDUCED COST</a:t>
            </a:r>
          </a:p>
          <a:p>
            <a:r>
              <a:rPr lang="en-US" sz="2000" b="1" dirty="0">
                <a:latin typeface="Arial Narrow" pitchFamily="34" charset="0"/>
              </a:rPr>
              <a:t>   X1      4.00000          0.000000</a:t>
            </a:r>
          </a:p>
          <a:p>
            <a:r>
              <a:rPr lang="en-US" sz="2000" b="1" dirty="0">
                <a:latin typeface="Arial Narrow" pitchFamily="34" charset="0"/>
              </a:rPr>
              <a:t>   X2      0.00000          1.000000</a:t>
            </a:r>
          </a:p>
        </p:txBody>
      </p:sp>
      <p:sp>
        <p:nvSpPr>
          <p:cNvPr id="31" name="3 Rectángulo">
            <a:extLst>
              <a:ext uri="{FF2B5EF4-FFF2-40B4-BE49-F238E27FC236}">
                <a16:creationId xmlns:a16="http://schemas.microsoft.com/office/drawing/2014/main" id="{0C0CA481-F5F9-43FA-A422-AB94E15B82FF}"/>
              </a:ext>
            </a:extLst>
          </p:cNvPr>
          <p:cNvSpPr/>
          <p:nvPr/>
        </p:nvSpPr>
        <p:spPr>
          <a:xfrm>
            <a:off x="8940316" y="2348880"/>
            <a:ext cx="3096344" cy="1323439"/>
          </a:xfrm>
          <a:prstGeom prst="rect">
            <a:avLst/>
          </a:prstGeom>
          <a:solidFill>
            <a:srgbClr val="FFFF00"/>
          </a:solidFill>
        </p:spPr>
        <p:txBody>
          <a:bodyPr wrap="square">
            <a:spAutoFit/>
          </a:bodyPr>
          <a:lstStyle/>
          <a:p>
            <a:r>
              <a:rPr lang="es-ES" sz="2000" b="1" dirty="0">
                <a:latin typeface="Arial Narrow" pitchFamily="34" charset="0"/>
              </a:rPr>
              <a:t>MAX </a:t>
            </a:r>
            <a:r>
              <a:rPr lang="es-ES" sz="2000" b="1" dirty="0" err="1">
                <a:latin typeface="Arial Narrow" pitchFamily="34" charset="0"/>
              </a:rPr>
              <a:t>6X1+7X2</a:t>
            </a:r>
            <a:endParaRPr lang="es-ES" sz="2000" b="1" dirty="0">
              <a:latin typeface="Arial Narrow" pitchFamily="34" charset="0"/>
            </a:endParaRPr>
          </a:p>
          <a:p>
            <a:r>
              <a:rPr lang="es-ES" sz="2000" b="1" dirty="0" err="1">
                <a:latin typeface="Arial Narrow" pitchFamily="34" charset="0"/>
              </a:rPr>
              <a:t>ST</a:t>
            </a:r>
            <a:endParaRPr lang="es-ES" sz="2000" b="1" dirty="0">
              <a:latin typeface="Arial Narrow" pitchFamily="34" charset="0"/>
            </a:endParaRPr>
          </a:p>
          <a:p>
            <a:r>
              <a:rPr lang="es-PE" sz="2000" b="1" spc="-1" dirty="0" err="1">
                <a:solidFill>
                  <a:schemeClr val="bg2">
                    <a:lumMod val="10000"/>
                  </a:schemeClr>
                </a:solidFill>
                <a:latin typeface="Arial Narrow" panose="020B0606020202030204" pitchFamily="34" charset="0"/>
              </a:rPr>
              <a:t>2X1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5X2</a:t>
            </a:r>
            <a:r>
              <a:rPr lang="es-PE" sz="2000" b="1" spc="-1" dirty="0">
                <a:solidFill>
                  <a:schemeClr val="bg2">
                    <a:lumMod val="10000"/>
                  </a:schemeClr>
                </a:solidFill>
                <a:latin typeface="Arial Narrow" panose="020B0606020202030204" pitchFamily="34" charset="0"/>
              </a:rPr>
              <a:t> &lt;=10 </a:t>
            </a:r>
          </a:p>
          <a:p>
            <a:r>
              <a:rPr lang="es-PE" sz="2000" b="1" spc="-1" dirty="0" err="1">
                <a:solidFill>
                  <a:schemeClr val="bg2">
                    <a:lumMod val="10000"/>
                  </a:schemeClr>
                </a:solidFill>
                <a:latin typeface="Arial Narrow" panose="020B0606020202030204" pitchFamily="34" charset="0"/>
              </a:rPr>
              <a:t>3X1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4X2</a:t>
            </a:r>
            <a:r>
              <a:rPr lang="es-PE" sz="2000" b="1" spc="-1" dirty="0">
                <a:solidFill>
                  <a:schemeClr val="bg2">
                    <a:lumMod val="10000"/>
                  </a:schemeClr>
                </a:solidFill>
                <a:latin typeface="Arial Narrow" panose="020B0606020202030204" pitchFamily="34" charset="0"/>
              </a:rPr>
              <a:t> &lt;=12 </a:t>
            </a:r>
          </a:p>
        </p:txBody>
      </p:sp>
    </p:spTree>
    <p:extLst>
      <p:ext uri="{BB962C8B-B14F-4D97-AF65-F5344CB8AC3E}">
        <p14:creationId xmlns:p14="http://schemas.microsoft.com/office/powerpoint/2010/main" val="200633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additive="base">
                                        <p:cTn id="55" dur="500" fill="hold"/>
                                        <p:tgtEl>
                                          <p:spTgt spid="30"/>
                                        </p:tgtEl>
                                        <p:attrNameLst>
                                          <p:attrName>ppt_x</p:attrName>
                                        </p:attrNameLst>
                                      </p:cBhvr>
                                      <p:tavLst>
                                        <p:tav tm="0">
                                          <p:val>
                                            <p:strVal val="#ppt_x"/>
                                          </p:val>
                                        </p:tav>
                                        <p:tav tm="100000">
                                          <p:val>
                                            <p:strVal val="#ppt_x"/>
                                          </p:val>
                                        </p:tav>
                                      </p:tavLst>
                                    </p:anim>
                                    <p:anim calcmode="lin" valueType="num">
                                      <p:cBhvr additive="base">
                                        <p:cTn id="5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0" grpId="0" animBg="1"/>
      <p:bldP spid="12" grpId="0" animBg="1"/>
      <p:bldP spid="30" grpId="0" animBg="1"/>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Rectángulo"/>
          <p:cNvSpPr/>
          <p:nvPr/>
        </p:nvSpPr>
        <p:spPr>
          <a:xfrm>
            <a:off x="2485829" y="4858880"/>
            <a:ext cx="1002988" cy="144773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Triángulo rectángulo 8">
            <a:extLst>
              <a:ext uri="{FF2B5EF4-FFF2-40B4-BE49-F238E27FC236}">
                <a16:creationId xmlns:a16="http://schemas.microsoft.com/office/drawing/2014/main" id="{BF45CBB5-9D46-4CD9-A519-2BBC63AF2695}"/>
              </a:ext>
            </a:extLst>
          </p:cNvPr>
          <p:cNvSpPr/>
          <p:nvPr/>
        </p:nvSpPr>
        <p:spPr>
          <a:xfrm flipH="1" flipV="1">
            <a:off x="3380233" y="4849587"/>
            <a:ext cx="142960" cy="100855"/>
          </a:xfrm>
          <a:prstGeom prst="r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19" name="CustomShape 1"/>
          <p:cNvSpPr/>
          <p:nvPr/>
        </p:nvSpPr>
        <p:spPr>
          <a:xfrm>
            <a:off x="2779312" y="3591560"/>
            <a:ext cx="2975621" cy="484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r>
              <a:rPr lang="es-PE" b="1" spc="-1" dirty="0">
                <a:solidFill>
                  <a:srgbClr val="FF0000"/>
                </a:solidFill>
                <a:latin typeface="Arial Narrow" panose="020B0606020202030204" pitchFamily="34" charset="0"/>
              </a:rPr>
              <a:t>PASO 2: Graficando la </a:t>
            </a:r>
            <a:r>
              <a:rPr lang="es-PE" b="1" spc="-1" dirty="0" err="1">
                <a:solidFill>
                  <a:srgbClr val="FF0000"/>
                </a:solidFill>
                <a:latin typeface="Arial Narrow" panose="020B0606020202030204" pitchFamily="34" charset="0"/>
              </a:rPr>
              <a:t>R.F</a:t>
            </a:r>
            <a:r>
              <a:rPr lang="es-PE" b="1" spc="-1" dirty="0">
                <a:solidFill>
                  <a:srgbClr val="FF0000"/>
                </a:solidFill>
                <a:latin typeface="Arial Narrow" panose="020B0606020202030204" pitchFamily="34" charset="0"/>
              </a:rPr>
              <a:t>.</a:t>
            </a:r>
          </a:p>
        </p:txBody>
      </p:sp>
      <p:sp>
        <p:nvSpPr>
          <p:cNvPr id="927" name="CustomShape 9"/>
          <p:cNvSpPr/>
          <p:nvPr/>
        </p:nvSpPr>
        <p:spPr>
          <a:xfrm>
            <a:off x="2138788" y="5368504"/>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2</a:t>
            </a:r>
          </a:p>
        </p:txBody>
      </p:sp>
      <p:sp>
        <p:nvSpPr>
          <p:cNvPr id="928" name="CustomShape 10"/>
          <p:cNvSpPr/>
          <p:nvPr/>
        </p:nvSpPr>
        <p:spPr>
          <a:xfrm>
            <a:off x="3703273" y="6329434"/>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4</a:t>
            </a:r>
          </a:p>
        </p:txBody>
      </p:sp>
      <p:sp>
        <p:nvSpPr>
          <p:cNvPr id="929" name="CustomShape 11"/>
          <p:cNvSpPr/>
          <p:nvPr/>
        </p:nvSpPr>
        <p:spPr>
          <a:xfrm>
            <a:off x="4137148" y="6318904"/>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5</a:t>
            </a:r>
          </a:p>
        </p:txBody>
      </p:sp>
      <p:sp>
        <p:nvSpPr>
          <p:cNvPr id="930" name="CustomShape 12"/>
          <p:cNvSpPr/>
          <p:nvPr/>
        </p:nvSpPr>
        <p:spPr>
          <a:xfrm>
            <a:off x="2138788" y="5004184"/>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PE" b="1" spc="-1" dirty="0">
                <a:solidFill>
                  <a:schemeClr val="bg1"/>
                </a:solidFill>
                <a:latin typeface="Arial"/>
                <a:ea typeface="DejaVu Sans"/>
              </a:rPr>
              <a:t>3</a:t>
            </a:r>
            <a:endParaRPr lang="es-PE" spc="-1" dirty="0">
              <a:solidFill>
                <a:schemeClr val="bg1"/>
              </a:solidFill>
              <a:latin typeface="Arial"/>
            </a:endParaRPr>
          </a:p>
        </p:txBody>
      </p:sp>
      <p:sp>
        <p:nvSpPr>
          <p:cNvPr id="932" name="Line 14"/>
          <p:cNvSpPr/>
          <p:nvPr/>
        </p:nvSpPr>
        <p:spPr>
          <a:xfrm>
            <a:off x="2364147" y="4271359"/>
            <a:ext cx="1741433" cy="2246604"/>
          </a:xfrm>
          <a:prstGeom prst="line">
            <a:avLst/>
          </a:prstGeom>
          <a:ln w="12700">
            <a:solidFill>
              <a:schemeClr val="tx1"/>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sp>
        <p:nvSpPr>
          <p:cNvPr id="933" name="CustomShape 15"/>
          <p:cNvSpPr/>
          <p:nvPr/>
        </p:nvSpPr>
        <p:spPr>
          <a:xfrm>
            <a:off x="1152668" y="1261023"/>
            <a:ext cx="4722514" cy="2131016"/>
          </a:xfrm>
          <a:prstGeom prst="rect">
            <a:avLst/>
          </a:prstGeom>
          <a:solidFill>
            <a:schemeClr val="accent3">
              <a:lumMod val="40000"/>
              <a:lumOff val="60000"/>
            </a:schemeClr>
          </a:solid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indent="-342360" algn="just"/>
            <a:r>
              <a:rPr lang="es-PE" sz="2000" b="1" spc="-1" dirty="0">
                <a:solidFill>
                  <a:schemeClr val="bg2">
                    <a:lumMod val="10000"/>
                  </a:schemeClr>
                </a:solidFill>
                <a:latin typeface="Arial Narrow" panose="020B0606020202030204" pitchFamily="34" charset="0"/>
                <a:ea typeface="DejaVu Sans"/>
              </a:rPr>
              <a:t>Max	</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0.55JN</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0.40JT</a:t>
            </a:r>
            <a:r>
              <a:rPr lang="es-PE" sz="2000" b="1" spc="-1" dirty="0">
                <a:solidFill>
                  <a:schemeClr val="bg2">
                    <a:lumMod val="10000"/>
                  </a:schemeClr>
                </a:solidFill>
                <a:latin typeface="Arial Narrow" panose="020B0606020202030204" pitchFamily="34" charset="0"/>
              </a:rPr>
              <a:t> </a:t>
            </a:r>
          </a:p>
          <a:p>
            <a:pPr indent="-342360" algn="just"/>
            <a:r>
              <a:rPr lang="es-PE" sz="2000" b="1" spc="-1" dirty="0">
                <a:solidFill>
                  <a:schemeClr val="bg2">
                    <a:lumMod val="10000"/>
                  </a:schemeClr>
                </a:solidFill>
                <a:latin typeface="Arial Narrow" panose="020B0606020202030204" pitchFamily="34" charset="0"/>
                <a:ea typeface="DejaVu Sans"/>
              </a:rPr>
              <a:t>Dependiendo de	 </a:t>
            </a:r>
            <a:endParaRPr lang="es-PE" sz="2000" b="1" spc="-1" dirty="0">
              <a:solidFill>
                <a:schemeClr val="bg2">
                  <a:lumMod val="10000"/>
                </a:schemeClr>
              </a:solidFill>
              <a:latin typeface="Arial Narrow" panose="020B0606020202030204" pitchFamily="34" charset="0"/>
            </a:endParaRPr>
          </a:p>
          <a:p>
            <a:pPr indent="-342360">
              <a:spcBef>
                <a:spcPts val="561"/>
              </a:spcBef>
            </a:pPr>
            <a:r>
              <a:rPr lang="es-PE" sz="2000" b="1" spc="-1" dirty="0" err="1">
                <a:solidFill>
                  <a:schemeClr val="bg2">
                    <a:lumMod val="10000"/>
                  </a:schemeClr>
                </a:solidFill>
                <a:latin typeface="Arial Narrow" panose="020B0606020202030204" pitchFamily="34" charset="0"/>
              </a:rPr>
              <a:t>0.04JN</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0.05JT</a:t>
            </a:r>
            <a:r>
              <a:rPr lang="es-PE" sz="2000" b="1" spc="-1" dirty="0">
                <a:solidFill>
                  <a:schemeClr val="bg2">
                    <a:lumMod val="10000"/>
                  </a:schemeClr>
                </a:solidFill>
                <a:latin typeface="Arial Narrow" panose="020B0606020202030204" pitchFamily="34" charset="0"/>
              </a:rPr>
              <a:t> 	 ≤   150 (tiempo de </a:t>
            </a:r>
            <a:r>
              <a:rPr lang="es-PE" sz="2000" b="1" spc="-1" dirty="0" err="1">
                <a:solidFill>
                  <a:schemeClr val="bg2">
                    <a:lumMod val="10000"/>
                  </a:schemeClr>
                </a:solidFill>
                <a:latin typeface="Arial Narrow" panose="020B0606020202030204" pitchFamily="34" charset="0"/>
              </a:rPr>
              <a:t>máq</a:t>
            </a:r>
            <a:r>
              <a:rPr lang="es-PE" sz="2000" b="1" spc="-1" dirty="0">
                <a:solidFill>
                  <a:schemeClr val="bg2">
                    <a:lumMod val="10000"/>
                  </a:schemeClr>
                </a:solidFill>
                <a:latin typeface="Arial Narrow" panose="020B0606020202030204" pitchFamily="34" charset="0"/>
              </a:rPr>
              <a:t>)</a:t>
            </a:r>
          </a:p>
          <a:p>
            <a:pPr indent="-342360">
              <a:spcBef>
                <a:spcPts val="561"/>
              </a:spcBef>
            </a:pPr>
            <a:r>
              <a:rPr lang="es-PE" sz="2000" b="1" spc="-1" dirty="0" err="1">
                <a:solidFill>
                  <a:schemeClr val="bg2">
                    <a:lumMod val="10000"/>
                  </a:schemeClr>
                </a:solidFill>
                <a:latin typeface="Arial Narrow" panose="020B0606020202030204" pitchFamily="34" charset="0"/>
              </a:rPr>
              <a:t>0.70JN</a:t>
            </a:r>
            <a:r>
              <a:rPr lang="es-PE" sz="2000" b="1" spc="-1" dirty="0">
                <a:solidFill>
                  <a:schemeClr val="bg2">
                    <a:lumMod val="10000"/>
                  </a:schemeClr>
                </a:solidFill>
                <a:latin typeface="Arial Narrow" panose="020B0606020202030204" pitchFamily="34" charset="0"/>
              </a:rPr>
              <a:t>                 	 ≤ 1000 (concentración)</a:t>
            </a:r>
          </a:p>
          <a:p>
            <a:pPr indent="-342360">
              <a:spcBef>
                <a:spcPts val="561"/>
              </a:spcBef>
            </a:pPr>
            <a:r>
              <a:rPr lang="es-PE" sz="2000" b="1" spc="-1" dirty="0">
                <a:solidFill>
                  <a:schemeClr val="bg2">
                    <a:lumMod val="10000"/>
                  </a:schemeClr>
                </a:solidFill>
                <a:latin typeface="Arial Narrow" panose="020B0606020202030204" pitchFamily="34" charset="0"/>
              </a:rPr>
              <a:t>	 0.50JT 	 ≤ 1000 (concentración)</a:t>
            </a:r>
          </a:p>
          <a:p>
            <a:pPr indent="-342360">
              <a:spcBef>
                <a:spcPts val="561"/>
              </a:spcBef>
            </a:pPr>
            <a:r>
              <a:rPr lang="es-PE" sz="2000" b="1" spc="-1" dirty="0">
                <a:solidFill>
                  <a:schemeClr val="bg2">
                    <a:lumMod val="10000"/>
                  </a:schemeClr>
                </a:solidFill>
                <a:latin typeface="Arial Narrow" panose="020B0606020202030204" pitchFamily="34" charset="0"/>
              </a:rPr>
              <a:t>                  JN, JT     ≥ 0</a:t>
            </a:r>
          </a:p>
        </p:txBody>
      </p:sp>
      <p:graphicFrame>
        <p:nvGraphicFramePr>
          <p:cNvPr id="934" name="Table 16"/>
          <p:cNvGraphicFramePr/>
          <p:nvPr/>
        </p:nvGraphicFramePr>
        <p:xfrm>
          <a:off x="6528048" y="1247584"/>
          <a:ext cx="3960440" cy="2858590"/>
        </p:xfrm>
        <a:graphic>
          <a:graphicData uri="http://schemas.openxmlformats.org/drawingml/2006/table">
            <a:tbl>
              <a:tblPr/>
              <a:tblGrid>
                <a:gridCol w="3960440">
                  <a:extLst>
                    <a:ext uri="{9D8B030D-6E8A-4147-A177-3AD203B41FA5}">
                      <a16:colId xmlns:a16="http://schemas.microsoft.com/office/drawing/2014/main" val="20000"/>
                    </a:ext>
                  </a:extLst>
                </a:gridCol>
              </a:tblGrid>
              <a:tr h="2858590">
                <a:tc>
                  <a:txBody>
                    <a:bodyPr/>
                    <a:lstStyle/>
                    <a:p>
                      <a:pPr marL="631800" indent="-631080">
                        <a:lnSpc>
                          <a:spcPct val="100000"/>
                        </a:lnSpc>
                      </a:pPr>
                      <a:r>
                        <a:rPr lang="es-PE" sz="2000" b="1" strike="noStrike" spc="-1" dirty="0">
                          <a:solidFill>
                            <a:schemeClr val="bg2">
                              <a:lumMod val="10000"/>
                            </a:schemeClr>
                          </a:solidFill>
                          <a:latin typeface="Arial Narrow" panose="020B0606020202030204" pitchFamily="34" charset="0"/>
                        </a:rPr>
                        <a:t>SOLUCIÓN</a:t>
                      </a:r>
                    </a:p>
                    <a:p>
                      <a:pPr marL="631800" indent="-631080">
                        <a:lnSpc>
                          <a:spcPct val="100000"/>
                        </a:lnSpc>
                      </a:pPr>
                      <a:r>
                        <a:rPr lang="es-PE" sz="2000" b="1" strike="noStrike" spc="-1" dirty="0">
                          <a:solidFill>
                            <a:srgbClr val="FF0000"/>
                          </a:solidFill>
                          <a:latin typeface="Arial Narrow" panose="020B0606020202030204" pitchFamily="34" charset="0"/>
                        </a:rPr>
                        <a:t>PASO 1: Graficando las restricciones:</a:t>
                      </a:r>
                    </a:p>
                    <a:p>
                      <a:pPr marL="343080" indent="-342360">
                        <a:lnSpc>
                          <a:spcPct val="100000"/>
                        </a:lnSpc>
                      </a:pPr>
                      <a:r>
                        <a:rPr lang="es-PE" sz="2000" b="1" spc="-1" dirty="0" err="1">
                          <a:solidFill>
                            <a:schemeClr val="bg2">
                              <a:lumMod val="10000"/>
                            </a:schemeClr>
                          </a:solidFill>
                          <a:latin typeface="Arial Narrow"/>
                        </a:rPr>
                        <a:t>0.04JN</a:t>
                      </a:r>
                      <a:r>
                        <a:rPr lang="es-PE" sz="2000" b="1" spc="-1" dirty="0">
                          <a:solidFill>
                            <a:schemeClr val="bg2">
                              <a:lumMod val="10000"/>
                            </a:schemeClr>
                          </a:solidFill>
                          <a:latin typeface="Arial Narrow"/>
                        </a:rPr>
                        <a:t> + </a:t>
                      </a:r>
                      <a:r>
                        <a:rPr lang="es-PE" sz="2000" b="1" spc="-1" dirty="0" err="1">
                          <a:solidFill>
                            <a:schemeClr val="bg2">
                              <a:lumMod val="10000"/>
                            </a:schemeClr>
                          </a:solidFill>
                          <a:latin typeface="Arial Narrow"/>
                        </a:rPr>
                        <a:t>0.05JT</a:t>
                      </a:r>
                      <a:r>
                        <a:rPr lang="es-PE" sz="2000" b="1" spc="-1" dirty="0">
                          <a:solidFill>
                            <a:schemeClr val="bg2">
                              <a:lumMod val="10000"/>
                            </a:schemeClr>
                          </a:solidFill>
                          <a:latin typeface="Arial Narrow"/>
                        </a:rPr>
                        <a:t> = 150      (I)</a:t>
                      </a:r>
                      <a:r>
                        <a:rPr lang="es-PE" sz="2000" b="1" spc="-1" dirty="0">
                          <a:solidFill>
                            <a:schemeClr val="bg2">
                              <a:lumMod val="10000"/>
                            </a:schemeClr>
                          </a:solidFill>
                          <a:latin typeface="Symbol"/>
                        </a:rPr>
                        <a:t> 	</a:t>
                      </a:r>
                    </a:p>
                    <a:p>
                      <a:pPr marL="720" indent="0">
                        <a:lnSpc>
                          <a:spcPct val="100000"/>
                        </a:lnSpc>
                        <a:buFont typeface="Symbol"/>
                        <a:buNone/>
                      </a:pPr>
                      <a:r>
                        <a:rPr lang="es-PE" sz="2000" b="1" spc="-1" dirty="0">
                          <a:solidFill>
                            <a:schemeClr val="bg2">
                              <a:lumMod val="10000"/>
                            </a:schemeClr>
                          </a:solidFill>
                          <a:latin typeface="Arial Narrow"/>
                        </a:rPr>
                        <a:t>Si </a:t>
                      </a:r>
                      <a:r>
                        <a:rPr lang="es-PE" sz="2000" b="1" spc="-1" dirty="0" err="1">
                          <a:solidFill>
                            <a:schemeClr val="bg2">
                              <a:lumMod val="10000"/>
                            </a:schemeClr>
                          </a:solidFill>
                          <a:latin typeface="Arial Narrow"/>
                        </a:rPr>
                        <a:t>JN</a:t>
                      </a:r>
                      <a:r>
                        <a:rPr lang="es-PE" sz="2000" b="1" spc="-1" dirty="0">
                          <a:solidFill>
                            <a:schemeClr val="bg2">
                              <a:lumMod val="10000"/>
                            </a:schemeClr>
                          </a:solidFill>
                          <a:latin typeface="Arial Narrow"/>
                        </a:rPr>
                        <a:t> = 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a:rPr>
                        <a:t>  </a:t>
                      </a:r>
                      <a:r>
                        <a:rPr lang="es-PE" sz="2000" b="1" spc="-1" dirty="0" err="1">
                          <a:solidFill>
                            <a:schemeClr val="bg2">
                              <a:lumMod val="10000"/>
                            </a:schemeClr>
                          </a:solidFill>
                          <a:latin typeface="Arial Narrow"/>
                        </a:rPr>
                        <a:t>JT</a:t>
                      </a:r>
                      <a:r>
                        <a:rPr lang="es-PE" sz="2000" b="1" spc="-1" dirty="0">
                          <a:solidFill>
                            <a:schemeClr val="bg2">
                              <a:lumMod val="10000"/>
                            </a:schemeClr>
                          </a:solidFill>
                          <a:latin typeface="Arial Narrow"/>
                        </a:rPr>
                        <a:t> =  3000		</a:t>
                      </a:r>
                    </a:p>
                    <a:p>
                      <a:pPr marL="720" indent="0">
                        <a:lnSpc>
                          <a:spcPct val="100000"/>
                        </a:lnSpc>
                        <a:buFont typeface="Symbol"/>
                        <a:buNone/>
                      </a:pPr>
                      <a:r>
                        <a:rPr lang="es-PE" sz="2000" b="1" spc="-1" dirty="0">
                          <a:solidFill>
                            <a:schemeClr val="bg2">
                              <a:lumMod val="10000"/>
                            </a:schemeClr>
                          </a:solidFill>
                          <a:latin typeface="Arial Narrow"/>
                        </a:rPr>
                        <a:t>Si </a:t>
                      </a:r>
                      <a:r>
                        <a:rPr lang="es-PE" sz="2000" b="1" spc="-1" dirty="0" err="1">
                          <a:solidFill>
                            <a:schemeClr val="bg2">
                              <a:lumMod val="10000"/>
                            </a:schemeClr>
                          </a:solidFill>
                          <a:latin typeface="Arial Narrow"/>
                        </a:rPr>
                        <a:t>JT</a:t>
                      </a:r>
                      <a:r>
                        <a:rPr lang="es-PE" sz="2000" b="1" spc="-1" dirty="0">
                          <a:solidFill>
                            <a:schemeClr val="bg2">
                              <a:lumMod val="10000"/>
                            </a:schemeClr>
                          </a:solidFill>
                          <a:latin typeface="Arial Narrow"/>
                        </a:rPr>
                        <a:t> = 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a:rPr>
                        <a:t>  </a:t>
                      </a:r>
                      <a:r>
                        <a:rPr lang="es-PE" sz="2000" b="1" spc="-1" dirty="0" err="1">
                          <a:solidFill>
                            <a:schemeClr val="bg2">
                              <a:lumMod val="10000"/>
                            </a:schemeClr>
                          </a:solidFill>
                          <a:latin typeface="Arial Narrow"/>
                        </a:rPr>
                        <a:t>JN</a:t>
                      </a:r>
                      <a:r>
                        <a:rPr lang="es-PE" sz="2000" b="1" spc="-1" dirty="0">
                          <a:solidFill>
                            <a:schemeClr val="bg2">
                              <a:lumMod val="10000"/>
                            </a:schemeClr>
                          </a:solidFill>
                          <a:latin typeface="Arial Narrow"/>
                        </a:rPr>
                        <a:t> =  3750</a:t>
                      </a:r>
                      <a:endParaRPr lang="es-PE" sz="2000" b="1" spc="-1" dirty="0">
                        <a:solidFill>
                          <a:schemeClr val="bg2">
                            <a:lumMod val="10000"/>
                          </a:schemeClr>
                        </a:solidFill>
                        <a:latin typeface="Arial"/>
                      </a:endParaRPr>
                    </a:p>
                    <a:p>
                      <a:pPr marL="343080" indent="-342360">
                        <a:lnSpc>
                          <a:spcPct val="100000"/>
                        </a:lnSpc>
                      </a:pPr>
                      <a:r>
                        <a:rPr lang="es-PE" sz="2000" b="1" spc="-1" dirty="0" err="1">
                          <a:solidFill>
                            <a:schemeClr val="bg2">
                              <a:lumMod val="10000"/>
                            </a:schemeClr>
                          </a:solidFill>
                          <a:latin typeface="Arial Narrow"/>
                        </a:rPr>
                        <a:t>0.70JN</a:t>
                      </a:r>
                      <a:r>
                        <a:rPr lang="es-PE" sz="2000" b="1" spc="-1" dirty="0">
                          <a:solidFill>
                            <a:schemeClr val="bg2">
                              <a:lumMod val="10000"/>
                            </a:schemeClr>
                          </a:solidFill>
                          <a:latin typeface="Arial Narrow"/>
                        </a:rPr>
                        <a:t> = 1000	            (II)</a:t>
                      </a:r>
                    </a:p>
                    <a:p>
                      <a:pPr marL="343080" indent="-342360">
                        <a:lnSpc>
                          <a:spcPct val="100000"/>
                        </a:lnSpc>
                      </a:pPr>
                      <a:r>
                        <a:rPr lang="es-PE" sz="2000" b="1" spc="-1" dirty="0">
                          <a:solidFill>
                            <a:schemeClr val="bg2">
                              <a:lumMod val="10000"/>
                            </a:schemeClr>
                          </a:solidFill>
                          <a:latin typeface="Arial Narrow"/>
                        </a:rPr>
                        <a:t>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  </a:t>
                      </a:r>
                      <a:r>
                        <a:rPr lang="es-PE" sz="2000" b="1" spc="-1" dirty="0" err="1">
                          <a:solidFill>
                            <a:schemeClr val="bg2">
                              <a:lumMod val="10000"/>
                            </a:schemeClr>
                          </a:solidFill>
                          <a:latin typeface="Arial Narrow"/>
                        </a:rPr>
                        <a:t>JN</a:t>
                      </a:r>
                      <a:r>
                        <a:rPr lang="es-PE" sz="2000" b="1" spc="-1" dirty="0">
                          <a:solidFill>
                            <a:schemeClr val="bg2">
                              <a:lumMod val="10000"/>
                            </a:schemeClr>
                          </a:solidFill>
                          <a:latin typeface="Arial Narrow"/>
                        </a:rPr>
                        <a:t> =  1428.57</a:t>
                      </a:r>
                      <a:endParaRPr lang="es-PE" sz="2000" b="1" spc="-1" dirty="0">
                        <a:solidFill>
                          <a:schemeClr val="bg2">
                            <a:lumMod val="10000"/>
                          </a:schemeClr>
                        </a:solidFill>
                        <a:latin typeface="Arial"/>
                      </a:endParaRPr>
                    </a:p>
                    <a:p>
                      <a:pPr marL="343080" indent="-342360">
                        <a:lnSpc>
                          <a:spcPct val="100000"/>
                        </a:lnSpc>
                      </a:pPr>
                      <a:r>
                        <a:rPr lang="es-PE" sz="2000" b="1" spc="-1" dirty="0" err="1">
                          <a:solidFill>
                            <a:schemeClr val="bg2">
                              <a:lumMod val="10000"/>
                            </a:schemeClr>
                          </a:solidFill>
                          <a:latin typeface="Arial Narrow"/>
                        </a:rPr>
                        <a:t>0.50JT</a:t>
                      </a:r>
                      <a:r>
                        <a:rPr lang="es-PE" sz="2000" b="1" spc="-1" dirty="0">
                          <a:solidFill>
                            <a:schemeClr val="bg2">
                              <a:lumMod val="10000"/>
                            </a:schemeClr>
                          </a:solidFill>
                          <a:latin typeface="Arial Narrow"/>
                        </a:rPr>
                        <a:t>  = 1000  	            (III)	</a:t>
                      </a:r>
                    </a:p>
                    <a:p>
                      <a:pPr marL="343080" indent="-342360">
                        <a:lnSpc>
                          <a:spcPct val="100000"/>
                        </a:lnSpc>
                      </a:pPr>
                      <a:r>
                        <a:rPr lang="es-PE" sz="2000" b="1" spc="-1" dirty="0">
                          <a:solidFill>
                            <a:schemeClr val="bg2">
                              <a:lumMod val="10000"/>
                            </a:schemeClr>
                          </a:solidFill>
                          <a:latin typeface="Symbol"/>
                        </a:rPr>
                        <a:t>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a:rPr>
                        <a:t>  </a:t>
                      </a:r>
                      <a:r>
                        <a:rPr lang="es-PE" sz="2000" b="1" spc="-1" dirty="0" err="1">
                          <a:solidFill>
                            <a:schemeClr val="bg2">
                              <a:lumMod val="10000"/>
                            </a:schemeClr>
                          </a:solidFill>
                          <a:latin typeface="Arial Narrow"/>
                        </a:rPr>
                        <a:t>JT</a:t>
                      </a:r>
                      <a:r>
                        <a:rPr lang="es-PE" sz="2000" b="1" spc="-1" dirty="0">
                          <a:solidFill>
                            <a:schemeClr val="bg2">
                              <a:lumMod val="10000"/>
                            </a:schemeClr>
                          </a:solidFill>
                          <a:latin typeface="Arial Narrow"/>
                        </a:rPr>
                        <a:t> =  2000</a:t>
                      </a:r>
                      <a:endParaRPr lang="es-PE" sz="2000" b="1" spc="-1" dirty="0">
                        <a:solidFill>
                          <a:schemeClr val="bg2">
                            <a:lumMod val="10000"/>
                          </a:schemeClr>
                        </a:solidFill>
                        <a:latin typeface="Arial"/>
                      </a:endParaRPr>
                    </a:p>
                  </a:txBody>
                  <a:tcPr>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3" name="2 CuadroTexto"/>
          <p:cNvSpPr txBox="1"/>
          <p:nvPr/>
        </p:nvSpPr>
        <p:spPr>
          <a:xfrm>
            <a:off x="2867674" y="6273419"/>
            <a:ext cx="2911833" cy="369332"/>
          </a:xfrm>
          <a:prstGeom prst="rect">
            <a:avLst/>
          </a:prstGeom>
          <a:noFill/>
        </p:spPr>
        <p:txBody>
          <a:bodyPr wrap="square" rtlCol="0">
            <a:spAutoFit/>
          </a:bodyPr>
          <a:lstStyle/>
          <a:p>
            <a:r>
              <a:rPr lang="es-PE" dirty="0"/>
              <a:t>1000     2000      3000     4000</a:t>
            </a:r>
          </a:p>
        </p:txBody>
      </p:sp>
      <p:sp>
        <p:nvSpPr>
          <p:cNvPr id="5" name="4 CuadroTexto"/>
          <p:cNvSpPr txBox="1"/>
          <p:nvPr/>
        </p:nvSpPr>
        <p:spPr>
          <a:xfrm>
            <a:off x="5735958" y="6329434"/>
            <a:ext cx="936106" cy="369332"/>
          </a:xfrm>
          <a:prstGeom prst="rect">
            <a:avLst/>
          </a:prstGeom>
          <a:noFill/>
        </p:spPr>
        <p:txBody>
          <a:bodyPr wrap="square" rtlCol="0">
            <a:spAutoFit/>
          </a:bodyPr>
          <a:lstStyle/>
          <a:p>
            <a:r>
              <a:rPr lang="es-PE" b="1" dirty="0" err="1">
                <a:solidFill>
                  <a:srgbClr val="FF0000"/>
                </a:solidFill>
              </a:rPr>
              <a:t>JN</a:t>
            </a:r>
            <a:endParaRPr lang="es-PE" b="1" dirty="0">
              <a:solidFill>
                <a:srgbClr val="FF0000"/>
              </a:solidFill>
            </a:endParaRPr>
          </a:p>
        </p:txBody>
      </p:sp>
      <p:sp>
        <p:nvSpPr>
          <p:cNvPr id="26" name="25 CuadroTexto"/>
          <p:cNvSpPr txBox="1"/>
          <p:nvPr/>
        </p:nvSpPr>
        <p:spPr>
          <a:xfrm>
            <a:off x="1633502" y="3537012"/>
            <a:ext cx="648072" cy="374318"/>
          </a:xfrm>
          <a:prstGeom prst="rect">
            <a:avLst/>
          </a:prstGeom>
          <a:noFill/>
        </p:spPr>
        <p:txBody>
          <a:bodyPr wrap="square" rtlCol="0">
            <a:spAutoFit/>
          </a:bodyPr>
          <a:lstStyle/>
          <a:p>
            <a:r>
              <a:rPr lang="es-PE" b="1" dirty="0" err="1">
                <a:solidFill>
                  <a:srgbClr val="FF0000"/>
                </a:solidFill>
              </a:rPr>
              <a:t>JT</a:t>
            </a:r>
            <a:endParaRPr lang="es-PE" b="1" dirty="0">
              <a:solidFill>
                <a:srgbClr val="FF0000"/>
              </a:solidFill>
            </a:endParaRPr>
          </a:p>
        </p:txBody>
      </p:sp>
      <p:sp>
        <p:nvSpPr>
          <p:cNvPr id="4" name="3 CuadroTexto"/>
          <p:cNvSpPr txBox="1"/>
          <p:nvPr/>
        </p:nvSpPr>
        <p:spPr>
          <a:xfrm>
            <a:off x="1487488" y="3976199"/>
            <a:ext cx="810769" cy="369332"/>
          </a:xfrm>
          <a:prstGeom prst="rect">
            <a:avLst/>
          </a:prstGeom>
          <a:noFill/>
        </p:spPr>
        <p:txBody>
          <a:bodyPr wrap="square" rtlCol="0">
            <a:spAutoFit/>
          </a:bodyPr>
          <a:lstStyle/>
          <a:p>
            <a:r>
              <a:rPr lang="es-PE" dirty="0"/>
              <a:t>3000</a:t>
            </a:r>
          </a:p>
        </p:txBody>
      </p:sp>
      <p:sp>
        <p:nvSpPr>
          <p:cNvPr id="29" name="Line 13"/>
          <p:cNvSpPr/>
          <p:nvPr/>
        </p:nvSpPr>
        <p:spPr>
          <a:xfrm>
            <a:off x="2213748" y="4869160"/>
            <a:ext cx="2842783" cy="0"/>
          </a:xfrm>
          <a:prstGeom prst="line">
            <a:avLst/>
          </a:prstGeom>
          <a:ln w="31750">
            <a:solidFill>
              <a:srgbClr val="00B050"/>
            </a:solidFill>
            <a:round/>
          </a:ln>
        </p:spPr>
        <p:style>
          <a:lnRef idx="0">
            <a:scrgbClr r="0" g="0" b="0"/>
          </a:lnRef>
          <a:fillRef idx="0">
            <a:scrgbClr r="0" g="0" b="0"/>
          </a:fillRef>
          <a:effectRef idx="0">
            <a:scrgbClr r="0" g="0" b="0"/>
          </a:effectRef>
          <a:fontRef idx="minor"/>
        </p:style>
        <p:txBody>
          <a:bodyPr/>
          <a:lstStyle/>
          <a:p>
            <a:endParaRPr lang="es-PE"/>
          </a:p>
        </p:txBody>
      </p:sp>
      <p:sp>
        <p:nvSpPr>
          <p:cNvPr id="32" name="CustomShape 1"/>
          <p:cNvSpPr/>
          <p:nvPr/>
        </p:nvSpPr>
        <p:spPr>
          <a:xfrm>
            <a:off x="6059995" y="266224"/>
            <a:ext cx="6132004" cy="484920"/>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spcBef>
                <a:spcPct val="0"/>
              </a:spcBef>
            </a:pPr>
            <a:r>
              <a:rPr lang="es-PE" sz="3200" dirty="0">
                <a:solidFill>
                  <a:schemeClr val="bg1"/>
                </a:solidFill>
                <a:latin typeface="Bauhaus 93" pitchFamily="82" charset="0"/>
              </a:rPr>
              <a:t>Problema 37</a:t>
            </a:r>
          </a:p>
        </p:txBody>
      </p:sp>
      <p:sp>
        <p:nvSpPr>
          <p:cNvPr id="921" name="Line 3"/>
          <p:cNvSpPr/>
          <p:nvPr/>
        </p:nvSpPr>
        <p:spPr>
          <a:xfrm>
            <a:off x="3503712" y="4345531"/>
            <a:ext cx="0" cy="2149816"/>
          </a:xfrm>
          <a:prstGeom prst="line">
            <a:avLst/>
          </a:prstGeom>
          <a:ln w="31750">
            <a:solidFill>
              <a:srgbClr val="7030A0"/>
            </a:solidFill>
            <a:round/>
          </a:ln>
        </p:spPr>
        <p:style>
          <a:lnRef idx="0">
            <a:scrgbClr r="0" g="0" b="0"/>
          </a:lnRef>
          <a:fillRef idx="0">
            <a:scrgbClr r="0" g="0" b="0"/>
          </a:fillRef>
          <a:effectRef idx="0">
            <a:scrgbClr r="0" g="0" b="0"/>
          </a:effectRef>
          <a:fontRef idx="minor"/>
        </p:style>
        <p:txBody>
          <a:bodyPr/>
          <a:lstStyle/>
          <a:p>
            <a:endParaRPr lang="es-PE"/>
          </a:p>
        </p:txBody>
      </p:sp>
      <p:sp>
        <p:nvSpPr>
          <p:cNvPr id="2" name="1 CuadroTexto"/>
          <p:cNvSpPr txBox="1"/>
          <p:nvPr/>
        </p:nvSpPr>
        <p:spPr>
          <a:xfrm>
            <a:off x="2682151" y="5299277"/>
            <a:ext cx="885094" cy="646331"/>
          </a:xfrm>
          <a:prstGeom prst="rect">
            <a:avLst/>
          </a:prstGeom>
          <a:noFill/>
        </p:spPr>
        <p:txBody>
          <a:bodyPr wrap="square" rtlCol="0">
            <a:spAutoFit/>
          </a:bodyPr>
          <a:lstStyle/>
          <a:p>
            <a:r>
              <a:rPr lang="es-PE" sz="3600" dirty="0"/>
              <a:t>RF</a:t>
            </a:r>
          </a:p>
        </p:txBody>
      </p:sp>
      <p:sp>
        <p:nvSpPr>
          <p:cNvPr id="924" name="CustomShape 6"/>
          <p:cNvSpPr/>
          <p:nvPr/>
        </p:nvSpPr>
        <p:spPr>
          <a:xfrm>
            <a:off x="2016787" y="6306614"/>
            <a:ext cx="3762720" cy="2160"/>
          </a:xfrm>
          <a:custGeom>
            <a:avLst/>
            <a:gdLst/>
            <a:ahLst/>
            <a:cxnLst/>
            <a:rect l="l" t="t" r="r" b="b"/>
            <a:pathLst>
              <a:path w="21600" h="21600">
                <a:moveTo>
                  <a:pt x="0" y="0"/>
                </a:moveTo>
                <a:lnTo>
                  <a:pt x="21600" y="21600"/>
                </a:lnTo>
              </a:path>
            </a:pathLst>
          </a:custGeom>
          <a:noFill/>
          <a:ln w="3816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es-PE"/>
          </a:p>
        </p:txBody>
      </p:sp>
      <p:sp>
        <p:nvSpPr>
          <p:cNvPr id="28" name="3 CuadroTexto">
            <a:extLst>
              <a:ext uri="{FF2B5EF4-FFF2-40B4-BE49-F238E27FC236}">
                <a16:creationId xmlns:a16="http://schemas.microsoft.com/office/drawing/2014/main" id="{9A86F821-5FBE-4F76-92B1-B8F47C99D0D6}"/>
              </a:ext>
            </a:extLst>
          </p:cNvPr>
          <p:cNvSpPr txBox="1"/>
          <p:nvPr/>
        </p:nvSpPr>
        <p:spPr>
          <a:xfrm>
            <a:off x="1492518" y="4696279"/>
            <a:ext cx="810769" cy="369332"/>
          </a:xfrm>
          <a:prstGeom prst="rect">
            <a:avLst/>
          </a:prstGeom>
          <a:noFill/>
        </p:spPr>
        <p:txBody>
          <a:bodyPr wrap="square" rtlCol="0">
            <a:spAutoFit/>
          </a:bodyPr>
          <a:lstStyle/>
          <a:p>
            <a:r>
              <a:rPr lang="es-PE" dirty="0"/>
              <a:t>2000</a:t>
            </a:r>
          </a:p>
        </p:txBody>
      </p:sp>
      <p:sp>
        <p:nvSpPr>
          <p:cNvPr id="30" name="3 CuadroTexto">
            <a:extLst>
              <a:ext uri="{FF2B5EF4-FFF2-40B4-BE49-F238E27FC236}">
                <a16:creationId xmlns:a16="http://schemas.microsoft.com/office/drawing/2014/main" id="{9416317E-4EDB-4155-99C4-D185EBB288FF}"/>
              </a:ext>
            </a:extLst>
          </p:cNvPr>
          <p:cNvSpPr txBox="1"/>
          <p:nvPr/>
        </p:nvSpPr>
        <p:spPr>
          <a:xfrm>
            <a:off x="1490159" y="5416359"/>
            <a:ext cx="810769" cy="369332"/>
          </a:xfrm>
          <a:prstGeom prst="rect">
            <a:avLst/>
          </a:prstGeom>
          <a:noFill/>
        </p:spPr>
        <p:txBody>
          <a:bodyPr wrap="square" rtlCol="0">
            <a:spAutoFit/>
          </a:bodyPr>
          <a:lstStyle/>
          <a:p>
            <a:r>
              <a:rPr lang="es-PE" dirty="0"/>
              <a:t>1000</a:t>
            </a:r>
          </a:p>
        </p:txBody>
      </p:sp>
      <p:sp>
        <p:nvSpPr>
          <p:cNvPr id="931" name="Line 13"/>
          <p:cNvSpPr/>
          <p:nvPr/>
        </p:nvSpPr>
        <p:spPr>
          <a:xfrm>
            <a:off x="2298255" y="3985492"/>
            <a:ext cx="3059372" cy="2505536"/>
          </a:xfrm>
          <a:prstGeom prst="line">
            <a:avLst/>
          </a:prstGeom>
          <a:ln w="19050">
            <a:solidFill>
              <a:srgbClr val="FF0000"/>
            </a:solidFill>
            <a:round/>
          </a:ln>
        </p:spPr>
        <p:style>
          <a:lnRef idx="0">
            <a:scrgbClr r="0" g="0" b="0"/>
          </a:lnRef>
          <a:fillRef idx="0">
            <a:scrgbClr r="0" g="0" b="0"/>
          </a:fillRef>
          <a:effectRef idx="0">
            <a:scrgbClr r="0" g="0" b="0"/>
          </a:effectRef>
          <a:fontRef idx="minor"/>
        </p:style>
        <p:txBody>
          <a:bodyPr/>
          <a:lstStyle/>
          <a:p>
            <a:endParaRPr lang="es-PE"/>
          </a:p>
        </p:txBody>
      </p:sp>
      <p:sp>
        <p:nvSpPr>
          <p:cNvPr id="27" name="Line 14"/>
          <p:cNvSpPr/>
          <p:nvPr/>
        </p:nvSpPr>
        <p:spPr>
          <a:xfrm>
            <a:off x="2863747" y="4163718"/>
            <a:ext cx="1432053" cy="1837997"/>
          </a:xfrm>
          <a:prstGeom prst="line">
            <a:avLst/>
          </a:prstGeom>
          <a:ln w="12700">
            <a:solidFill>
              <a:schemeClr val="tx1"/>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cxnSp>
        <p:nvCxnSpPr>
          <p:cNvPr id="11" name="Conector recto de flecha 10">
            <a:extLst>
              <a:ext uri="{FF2B5EF4-FFF2-40B4-BE49-F238E27FC236}">
                <a16:creationId xmlns:a16="http://schemas.microsoft.com/office/drawing/2014/main" id="{F08E09D8-3614-4FF0-9D85-D24AC8BB5605}"/>
              </a:ext>
            </a:extLst>
          </p:cNvPr>
          <p:cNvCxnSpPr>
            <a:cxnSpLocks/>
            <a:stCxn id="931" idx="0"/>
          </p:cNvCxnSpPr>
          <p:nvPr/>
        </p:nvCxnSpPr>
        <p:spPr>
          <a:xfrm flipH="1">
            <a:off x="2138788" y="3985492"/>
            <a:ext cx="159467" cy="21602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7B18A1E7-6B6E-4100-AAF3-EEE31E4FA59E}"/>
              </a:ext>
            </a:extLst>
          </p:cNvPr>
          <p:cNvCxnSpPr/>
          <p:nvPr/>
        </p:nvCxnSpPr>
        <p:spPr>
          <a:xfrm flipH="1">
            <a:off x="3302583" y="4345531"/>
            <a:ext cx="201129" cy="0"/>
          </a:xfrm>
          <a:prstGeom prst="straightConnector1">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9C5AB5F7-BCB8-4EB0-89F8-002BCFBB0B03}"/>
              </a:ext>
            </a:extLst>
          </p:cNvPr>
          <p:cNvCxnSpPr>
            <a:stCxn id="29" idx="1"/>
          </p:cNvCxnSpPr>
          <p:nvPr/>
        </p:nvCxnSpPr>
        <p:spPr>
          <a:xfrm>
            <a:off x="5056531" y="4869161"/>
            <a:ext cx="0" cy="21602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9381F072-C8C6-4BCD-88A7-870B2C1E2857}"/>
              </a:ext>
            </a:extLst>
          </p:cNvPr>
          <p:cNvSpPr/>
          <p:nvPr/>
        </p:nvSpPr>
        <p:spPr>
          <a:xfrm>
            <a:off x="6524445" y="4104489"/>
            <a:ext cx="3585713" cy="1881734"/>
          </a:xfrm>
          <a:prstGeom prst="rect">
            <a:avLst/>
          </a:prstGeom>
        </p:spPr>
        <p:txBody>
          <a:bodyPr wrap="square">
            <a:spAutoFit/>
          </a:bodyPr>
          <a:lstStyle/>
          <a:p>
            <a:pPr marL="343080" indent="-342360">
              <a:lnSpc>
                <a:spcPct val="150000"/>
              </a:lnSpc>
            </a:pPr>
            <a:r>
              <a:rPr lang="es-PE" sz="2000" b="1" spc="-1" dirty="0">
                <a:solidFill>
                  <a:srgbClr val="FF0000"/>
                </a:solidFill>
                <a:latin typeface="Arial Narrow"/>
              </a:rPr>
              <a:t>PASO 3: Graficando la F. Objetivo</a:t>
            </a:r>
            <a:endParaRPr lang="es-PE" sz="2000" b="1" spc="-1" dirty="0">
              <a:solidFill>
                <a:srgbClr val="FF0000"/>
              </a:solidFill>
              <a:latin typeface="Arial"/>
            </a:endParaRPr>
          </a:p>
          <a:p>
            <a:pPr marL="343080" indent="-342360">
              <a:lnSpc>
                <a:spcPct val="150000"/>
              </a:lnSpc>
            </a:pPr>
            <a:r>
              <a:rPr lang="es-PE" sz="2000" b="1" spc="-1" dirty="0" err="1">
                <a:solidFill>
                  <a:schemeClr val="bg2">
                    <a:lumMod val="10000"/>
                  </a:schemeClr>
                </a:solidFill>
                <a:latin typeface="Arial Narrow"/>
              </a:rPr>
              <a:t>0.55JN</a:t>
            </a:r>
            <a:r>
              <a:rPr lang="es-PE" sz="2000" b="1" spc="-1" dirty="0">
                <a:solidFill>
                  <a:schemeClr val="bg2">
                    <a:lumMod val="10000"/>
                  </a:schemeClr>
                </a:solidFill>
                <a:latin typeface="Arial Narrow"/>
              </a:rPr>
              <a:t> + </a:t>
            </a:r>
            <a:r>
              <a:rPr lang="es-PE" sz="2000" b="1" spc="-1" dirty="0" err="1">
                <a:solidFill>
                  <a:schemeClr val="bg2">
                    <a:lumMod val="10000"/>
                  </a:schemeClr>
                </a:solidFill>
                <a:latin typeface="Arial Narrow"/>
              </a:rPr>
              <a:t>0.40JT</a:t>
            </a:r>
            <a:r>
              <a:rPr lang="es-PE" sz="2000" b="1" spc="-1" dirty="0">
                <a:solidFill>
                  <a:schemeClr val="bg2">
                    <a:lumMod val="10000"/>
                  </a:schemeClr>
                </a:solidFill>
                <a:latin typeface="Arial Narrow"/>
              </a:rPr>
              <a:t> = </a:t>
            </a:r>
            <a:r>
              <a:rPr lang="es-PE" sz="2000" b="1" spc="-1" dirty="0">
                <a:solidFill>
                  <a:srgbClr val="FF0000"/>
                </a:solidFill>
                <a:latin typeface="Arial Narrow"/>
              </a:rPr>
              <a:t>1100</a:t>
            </a:r>
            <a:r>
              <a:rPr lang="es-PE" sz="2000" b="1" spc="-1" dirty="0">
                <a:solidFill>
                  <a:schemeClr val="bg2">
                    <a:lumMod val="10000"/>
                  </a:schemeClr>
                </a:solidFill>
                <a:latin typeface="Arial Narrow"/>
              </a:rPr>
              <a:t> 	</a:t>
            </a:r>
          </a:p>
          <a:p>
            <a:pPr marL="343080" indent="-342360">
              <a:lnSpc>
                <a:spcPct val="150000"/>
              </a:lnSpc>
            </a:pPr>
            <a:r>
              <a:rPr lang="es-PE" sz="2000" b="1" spc="-1" dirty="0">
                <a:solidFill>
                  <a:schemeClr val="bg2">
                    <a:lumMod val="10000"/>
                  </a:schemeClr>
                </a:solidFill>
                <a:latin typeface="Arial Narrow"/>
              </a:rPr>
              <a:t>Si </a:t>
            </a:r>
            <a:r>
              <a:rPr lang="es-PE" sz="2000" b="1" spc="-1" dirty="0" err="1">
                <a:solidFill>
                  <a:schemeClr val="bg2">
                    <a:lumMod val="10000"/>
                  </a:schemeClr>
                </a:solidFill>
                <a:latin typeface="Arial Narrow"/>
              </a:rPr>
              <a:t>JN</a:t>
            </a:r>
            <a:r>
              <a:rPr lang="es-PE" sz="2000" b="1" spc="-1" dirty="0">
                <a:solidFill>
                  <a:schemeClr val="bg2">
                    <a:lumMod val="10000"/>
                  </a:schemeClr>
                </a:solidFill>
                <a:latin typeface="Arial Narrow"/>
              </a:rPr>
              <a:t> = 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a:rPr>
              <a:t> </a:t>
            </a:r>
            <a:r>
              <a:rPr lang="es-PE" sz="2000" b="1" spc="-1" dirty="0" err="1">
                <a:solidFill>
                  <a:schemeClr val="bg2">
                    <a:lumMod val="10000"/>
                  </a:schemeClr>
                </a:solidFill>
                <a:latin typeface="Arial Narrow"/>
              </a:rPr>
              <a:t>JT</a:t>
            </a:r>
            <a:r>
              <a:rPr lang="es-PE" sz="2000" b="1" spc="-1" dirty="0">
                <a:solidFill>
                  <a:schemeClr val="bg2">
                    <a:lumMod val="10000"/>
                  </a:schemeClr>
                </a:solidFill>
                <a:latin typeface="Arial Narrow"/>
              </a:rPr>
              <a:t> = 2750</a:t>
            </a:r>
            <a:endParaRPr lang="es-PE" sz="2000" b="1" spc="-1" dirty="0">
              <a:solidFill>
                <a:schemeClr val="bg2">
                  <a:lumMod val="10000"/>
                </a:schemeClr>
              </a:solidFill>
              <a:latin typeface="Arial"/>
            </a:endParaRPr>
          </a:p>
          <a:p>
            <a:pPr marL="343080" indent="-342360">
              <a:lnSpc>
                <a:spcPct val="150000"/>
              </a:lnSpc>
            </a:pPr>
            <a:r>
              <a:rPr lang="es-PE" sz="2000" b="1" spc="-1" dirty="0">
                <a:solidFill>
                  <a:schemeClr val="bg2">
                    <a:lumMod val="10000"/>
                  </a:schemeClr>
                </a:solidFill>
                <a:latin typeface="Arial Narrow"/>
              </a:rPr>
              <a:t>Si </a:t>
            </a:r>
            <a:r>
              <a:rPr lang="es-PE" sz="2000" b="1" spc="-1" dirty="0" err="1">
                <a:solidFill>
                  <a:schemeClr val="bg2">
                    <a:lumMod val="10000"/>
                  </a:schemeClr>
                </a:solidFill>
                <a:latin typeface="Arial Narrow"/>
              </a:rPr>
              <a:t>JT</a:t>
            </a:r>
            <a:r>
              <a:rPr lang="es-PE" sz="2000" b="1" spc="-1" dirty="0">
                <a:solidFill>
                  <a:schemeClr val="bg2">
                    <a:lumMod val="10000"/>
                  </a:schemeClr>
                </a:solidFill>
                <a:latin typeface="Arial Narrow"/>
              </a:rPr>
              <a:t> = 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a:rPr>
              <a:t> </a:t>
            </a:r>
            <a:r>
              <a:rPr lang="es-PE" sz="2000" b="1" spc="-1" dirty="0" err="1">
                <a:solidFill>
                  <a:schemeClr val="bg2">
                    <a:lumMod val="10000"/>
                  </a:schemeClr>
                </a:solidFill>
                <a:latin typeface="Arial Narrow"/>
              </a:rPr>
              <a:t>JN</a:t>
            </a:r>
            <a:r>
              <a:rPr lang="es-PE" sz="2000" b="1" spc="-1" dirty="0">
                <a:solidFill>
                  <a:schemeClr val="bg2">
                    <a:lumMod val="10000"/>
                  </a:schemeClr>
                </a:solidFill>
                <a:latin typeface="Arial Narrow"/>
              </a:rPr>
              <a:t> = 2000</a:t>
            </a:r>
            <a:endParaRPr lang="es-PE" sz="2000" b="1" spc="-1" dirty="0">
              <a:solidFill>
                <a:schemeClr val="bg2">
                  <a:lumMod val="10000"/>
                </a:schemeClr>
              </a:solidFill>
              <a:latin typeface="Arial"/>
            </a:endParaRPr>
          </a:p>
        </p:txBody>
      </p:sp>
      <p:cxnSp>
        <p:nvCxnSpPr>
          <p:cNvPr id="10" name="Conector recto de flecha 9">
            <a:extLst>
              <a:ext uri="{FF2B5EF4-FFF2-40B4-BE49-F238E27FC236}">
                <a16:creationId xmlns:a16="http://schemas.microsoft.com/office/drawing/2014/main" id="{E3798B85-D10A-1ABF-C9BE-87420FBD8D42}"/>
              </a:ext>
            </a:extLst>
          </p:cNvPr>
          <p:cNvCxnSpPr/>
          <p:nvPr/>
        </p:nvCxnSpPr>
        <p:spPr>
          <a:xfrm flipV="1">
            <a:off x="2485829" y="3719910"/>
            <a:ext cx="0" cy="2798053"/>
          </a:xfrm>
          <a:prstGeom prst="straightConnector1">
            <a:avLst/>
          </a:prstGeom>
          <a:noFill/>
          <a:ln w="38160">
            <a:solidFill>
              <a:srgbClr val="FF0000"/>
            </a:solidFill>
            <a:round/>
            <a:tailEnd type="triangle" w="med" len="med"/>
          </a:ln>
        </p:spPr>
        <p:style>
          <a:lnRef idx="1">
            <a:schemeClr val="accent1"/>
          </a:lnRef>
          <a:fillRef idx="0">
            <a:schemeClr val="accent1"/>
          </a:fillRef>
          <a:effectRef idx="0">
            <a:schemeClr val="accent1"/>
          </a:effectRef>
          <a:fontRef idx="minor"/>
        </p:style>
      </p:cxnSp>
    </p:spTree>
    <p:extLst>
      <p:ext uri="{BB962C8B-B14F-4D97-AF65-F5344CB8AC3E}">
        <p14:creationId xmlns:p14="http://schemas.microsoft.com/office/powerpoint/2010/main" val="228154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32"/>
                                        </p:tgtEl>
                                        <p:attrNameLst>
                                          <p:attrName>style.visibility</p:attrName>
                                        </p:attrNameLst>
                                      </p:cBhvr>
                                      <p:to>
                                        <p:strVal val="visible"/>
                                      </p:to>
                                    </p:set>
                                    <p:anim calcmode="lin" valueType="num">
                                      <p:cBhvr additive="base">
                                        <p:cTn id="39" dur="500" fill="hold"/>
                                        <p:tgtEl>
                                          <p:spTgt spid="932"/>
                                        </p:tgtEl>
                                        <p:attrNameLst>
                                          <p:attrName>ppt_x</p:attrName>
                                        </p:attrNameLst>
                                      </p:cBhvr>
                                      <p:tavLst>
                                        <p:tav tm="0">
                                          <p:val>
                                            <p:strVal val="#ppt_x"/>
                                          </p:val>
                                        </p:tav>
                                        <p:tav tm="100000">
                                          <p:val>
                                            <p:strVal val="#ppt_x"/>
                                          </p:val>
                                        </p:tav>
                                      </p:tavLst>
                                    </p:anim>
                                    <p:anim calcmode="lin" valueType="num">
                                      <p:cBhvr additive="base">
                                        <p:cTn id="40" dur="500" fill="hold"/>
                                        <p:tgtEl>
                                          <p:spTgt spid="93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500" fill="hold"/>
                                        <p:tgtEl>
                                          <p:spTgt spid="27"/>
                                        </p:tgtEl>
                                        <p:attrNameLst>
                                          <p:attrName>ppt_x</p:attrName>
                                        </p:attrNameLst>
                                      </p:cBhvr>
                                      <p:tavLst>
                                        <p:tav tm="0">
                                          <p:val>
                                            <p:strVal val="#ppt_x"/>
                                          </p:val>
                                        </p:tav>
                                        <p:tav tm="100000">
                                          <p:val>
                                            <p:strVal val="#ppt_x"/>
                                          </p:val>
                                        </p:tav>
                                      </p:tavLst>
                                    </p:anim>
                                    <p:anim calcmode="lin" valueType="num">
                                      <p:cBhvr additive="base">
                                        <p:cTn id="4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 name="CustomShape 1"/>
          <p:cNvSpPr/>
          <p:nvPr/>
        </p:nvSpPr>
        <p:spPr>
          <a:xfrm>
            <a:off x="211989" y="1436244"/>
            <a:ext cx="5843760" cy="1601810"/>
          </a:xfrm>
          <a:prstGeom prst="rect">
            <a:avLst/>
          </a:prstGeom>
          <a:solidFill>
            <a:schemeClr val="accent4">
              <a:lumMod val="40000"/>
              <a:lumOff val="60000"/>
            </a:schemeClr>
          </a:solid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marL="609480" indent="-608760"/>
            <a:r>
              <a:rPr lang="es-PE" sz="2400" spc="-1" dirty="0">
                <a:solidFill>
                  <a:srgbClr val="FF0000"/>
                </a:solidFill>
                <a:latin typeface="Arial Narrow" panose="020B0606020202030204" pitchFamily="34" charset="0"/>
              </a:rPr>
              <a:t>4)Hallando la Solución Óptima</a:t>
            </a:r>
          </a:p>
          <a:p>
            <a:pPr marL="609480" indent="-608760"/>
            <a:r>
              <a:rPr lang="es-PE" sz="2400" spc="-1" dirty="0">
                <a:solidFill>
                  <a:schemeClr val="bg2">
                    <a:lumMod val="10000"/>
                  </a:schemeClr>
                </a:solidFill>
                <a:latin typeface="Arial Narrow" panose="020B0606020202030204" pitchFamily="34" charset="0"/>
              </a:rPr>
              <a:t>La solución es la intersección de I y II</a:t>
            </a:r>
          </a:p>
          <a:p>
            <a:pPr marL="609480" indent="-608760"/>
            <a:r>
              <a:rPr lang="es-PE" sz="2400" spc="-1" dirty="0">
                <a:solidFill>
                  <a:schemeClr val="bg2">
                    <a:lumMod val="10000"/>
                  </a:schemeClr>
                </a:solidFill>
                <a:latin typeface="Arial Narrow" panose="020B0606020202030204" pitchFamily="34" charset="0"/>
              </a:rPr>
              <a:t>I)        </a:t>
            </a:r>
            <a:r>
              <a:rPr lang="es-PE" sz="2400" spc="-1" dirty="0" err="1">
                <a:solidFill>
                  <a:schemeClr val="bg2">
                    <a:lumMod val="10000"/>
                  </a:schemeClr>
                </a:solidFill>
                <a:latin typeface="Arial Narrow" panose="020B0606020202030204" pitchFamily="34" charset="0"/>
              </a:rPr>
              <a:t>0.04JN</a:t>
            </a:r>
            <a:r>
              <a:rPr lang="es-PE" sz="2400" spc="-1" dirty="0">
                <a:solidFill>
                  <a:schemeClr val="bg2">
                    <a:lumMod val="10000"/>
                  </a:schemeClr>
                </a:solidFill>
                <a:latin typeface="Arial Narrow" panose="020B0606020202030204" pitchFamily="34" charset="0"/>
              </a:rPr>
              <a:t> + </a:t>
            </a:r>
            <a:r>
              <a:rPr lang="es-PE" sz="2400" spc="-1" dirty="0" err="1">
                <a:solidFill>
                  <a:schemeClr val="bg2">
                    <a:lumMod val="10000"/>
                  </a:schemeClr>
                </a:solidFill>
                <a:latin typeface="Arial Narrow" panose="020B0606020202030204" pitchFamily="34" charset="0"/>
              </a:rPr>
              <a:t>0.05JT</a:t>
            </a:r>
            <a:r>
              <a:rPr lang="es-PE" sz="2400" spc="-1" dirty="0">
                <a:solidFill>
                  <a:schemeClr val="bg2">
                    <a:lumMod val="10000"/>
                  </a:schemeClr>
                </a:solidFill>
                <a:latin typeface="Arial Narrow" panose="020B0606020202030204" pitchFamily="34" charset="0"/>
              </a:rPr>
              <a:t> =150   </a:t>
            </a:r>
          </a:p>
          <a:p>
            <a:pPr marL="609480" indent="-608760"/>
            <a:r>
              <a:rPr lang="es-PE" sz="2400" u="sng" spc="-1" dirty="0">
                <a:solidFill>
                  <a:schemeClr val="bg2">
                    <a:lumMod val="10000"/>
                  </a:schemeClr>
                </a:solidFill>
                <a:latin typeface="Arial Narrow" panose="020B0606020202030204" pitchFamily="34" charset="0"/>
              </a:rPr>
              <a:t>II)                     </a:t>
            </a:r>
            <a:r>
              <a:rPr lang="es-PE" sz="2400" u="sng" spc="-1" dirty="0" err="1">
                <a:solidFill>
                  <a:schemeClr val="bg2">
                    <a:lumMod val="10000"/>
                  </a:schemeClr>
                </a:solidFill>
                <a:latin typeface="Arial Narrow" panose="020B0606020202030204" pitchFamily="34" charset="0"/>
              </a:rPr>
              <a:t>0.70JN</a:t>
            </a:r>
            <a:r>
              <a:rPr lang="es-PE" sz="2400" u="sng" spc="-1" dirty="0">
                <a:solidFill>
                  <a:schemeClr val="bg2">
                    <a:lumMod val="10000"/>
                  </a:schemeClr>
                </a:solidFill>
                <a:latin typeface="Arial Narrow" panose="020B0606020202030204" pitchFamily="34" charset="0"/>
              </a:rPr>
              <a:t>  =1000</a:t>
            </a:r>
            <a:endParaRPr lang="es-PE" sz="2400" spc="-1" dirty="0">
              <a:solidFill>
                <a:schemeClr val="bg2">
                  <a:lumMod val="10000"/>
                </a:schemeClr>
              </a:solidFill>
              <a:latin typeface="Arial Narrow" panose="020B0606020202030204" pitchFamily="34" charset="0"/>
            </a:endParaRPr>
          </a:p>
        </p:txBody>
      </p:sp>
      <p:sp>
        <p:nvSpPr>
          <p:cNvPr id="2" name="1 CuadroTexto"/>
          <p:cNvSpPr txBox="1"/>
          <p:nvPr/>
        </p:nvSpPr>
        <p:spPr>
          <a:xfrm>
            <a:off x="6190439" y="1421766"/>
            <a:ext cx="2056414" cy="1938992"/>
          </a:xfrm>
          <a:prstGeom prst="rect">
            <a:avLst/>
          </a:prstGeom>
          <a:solidFill>
            <a:schemeClr val="accent2">
              <a:lumMod val="20000"/>
              <a:lumOff val="80000"/>
            </a:schemeClr>
          </a:solidFill>
        </p:spPr>
        <p:txBody>
          <a:bodyPr wrap="square" rtlCol="0">
            <a:spAutoFit/>
          </a:bodyPr>
          <a:lstStyle/>
          <a:p>
            <a:r>
              <a:rPr lang="es-PE" sz="2400" b="1" dirty="0">
                <a:solidFill>
                  <a:srgbClr val="7030A0"/>
                </a:solidFill>
                <a:latin typeface="Arial Narrow" panose="020B0606020202030204" pitchFamily="34" charset="0"/>
              </a:rPr>
              <a:t>4 MÉTODOS:</a:t>
            </a:r>
          </a:p>
          <a:p>
            <a:r>
              <a:rPr lang="es-PE" sz="2400" b="1" dirty="0">
                <a:solidFill>
                  <a:srgbClr val="7030A0"/>
                </a:solidFill>
                <a:latin typeface="Arial Narrow" panose="020B0606020202030204" pitchFamily="34" charset="0"/>
              </a:rPr>
              <a:t>Igualación</a:t>
            </a:r>
          </a:p>
          <a:p>
            <a:r>
              <a:rPr lang="es-PE" sz="2400" b="1" dirty="0">
                <a:solidFill>
                  <a:srgbClr val="7030A0"/>
                </a:solidFill>
                <a:latin typeface="Arial Narrow" panose="020B0606020202030204" pitchFamily="34" charset="0"/>
              </a:rPr>
              <a:t>Sustitución</a:t>
            </a:r>
          </a:p>
          <a:p>
            <a:r>
              <a:rPr lang="es-PE" sz="2400" b="1" dirty="0">
                <a:solidFill>
                  <a:srgbClr val="7030A0"/>
                </a:solidFill>
                <a:latin typeface="Arial Narrow" panose="020B0606020202030204" pitchFamily="34" charset="0"/>
              </a:rPr>
              <a:t>Sumas o restas</a:t>
            </a:r>
          </a:p>
          <a:p>
            <a:r>
              <a:rPr lang="es-PE" sz="2400" b="1" dirty="0">
                <a:solidFill>
                  <a:srgbClr val="7030A0"/>
                </a:solidFill>
                <a:latin typeface="Arial Narrow" panose="020B0606020202030204" pitchFamily="34" charset="0"/>
              </a:rPr>
              <a:t>Determinante</a:t>
            </a:r>
          </a:p>
        </p:txBody>
      </p:sp>
      <p:sp>
        <p:nvSpPr>
          <p:cNvPr id="4" name="Rectangle 2"/>
          <p:cNvSpPr txBox="1">
            <a:spLocks noChangeArrowheads="1"/>
          </p:cNvSpPr>
          <p:nvPr/>
        </p:nvSpPr>
        <p:spPr>
          <a:xfrm>
            <a:off x="6096000" y="232913"/>
            <a:ext cx="6096000" cy="5804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sz="3200" dirty="0">
                <a:solidFill>
                  <a:schemeClr val="bg1"/>
                </a:solidFill>
                <a:latin typeface="Bauhaus 93" pitchFamily="82" charset="0"/>
                <a:ea typeface="+mn-ea"/>
                <a:cs typeface="+mn-cs"/>
              </a:rPr>
              <a:t>Solución</a:t>
            </a:r>
          </a:p>
        </p:txBody>
      </p:sp>
      <p:sp>
        <p:nvSpPr>
          <p:cNvPr id="3" name="Rectángulo 2">
            <a:extLst>
              <a:ext uri="{FF2B5EF4-FFF2-40B4-BE49-F238E27FC236}">
                <a16:creationId xmlns:a16="http://schemas.microsoft.com/office/drawing/2014/main" id="{C9B96E17-4C7F-4FF8-BDEE-AAA23BFB208D}"/>
              </a:ext>
            </a:extLst>
          </p:cNvPr>
          <p:cNvSpPr/>
          <p:nvPr/>
        </p:nvSpPr>
        <p:spPr>
          <a:xfrm>
            <a:off x="211990" y="3038054"/>
            <a:ext cx="5843760" cy="830997"/>
          </a:xfrm>
          <a:prstGeom prst="rect">
            <a:avLst/>
          </a:prstGeom>
          <a:solidFill>
            <a:schemeClr val="accent4">
              <a:lumMod val="40000"/>
              <a:lumOff val="60000"/>
            </a:schemeClr>
          </a:solidFill>
        </p:spPr>
        <p:txBody>
          <a:bodyPr wrap="square">
            <a:spAutoFit/>
          </a:bodyPr>
          <a:lstStyle/>
          <a:p>
            <a:pPr marL="609480" indent="-608760"/>
            <a:r>
              <a:rPr lang="es-PE" sz="2400" spc="-1" dirty="0">
                <a:solidFill>
                  <a:schemeClr val="bg2">
                    <a:lumMod val="10000"/>
                  </a:schemeClr>
                </a:solidFill>
                <a:latin typeface="Arial Narrow" panose="020B0606020202030204" pitchFamily="34" charset="0"/>
              </a:rPr>
              <a:t>De II 		             </a:t>
            </a:r>
            <a:r>
              <a:rPr lang="es-PE" sz="2400" spc="-1" dirty="0" err="1">
                <a:solidFill>
                  <a:schemeClr val="bg2">
                    <a:lumMod val="10000"/>
                  </a:schemeClr>
                </a:solidFill>
                <a:latin typeface="Arial Narrow" panose="020B0606020202030204" pitchFamily="34" charset="0"/>
              </a:rPr>
              <a:t>JN</a:t>
            </a:r>
            <a:r>
              <a:rPr lang="es-PE" sz="2400" spc="-1" dirty="0">
                <a:solidFill>
                  <a:schemeClr val="bg2">
                    <a:lumMod val="10000"/>
                  </a:schemeClr>
                </a:solidFill>
                <a:latin typeface="Arial Narrow" panose="020B0606020202030204" pitchFamily="34" charset="0"/>
              </a:rPr>
              <a:t> = 1428.57</a:t>
            </a:r>
          </a:p>
          <a:p>
            <a:pPr marL="609480" indent="-608760"/>
            <a:r>
              <a:rPr lang="es-PE" sz="2400" spc="-1" dirty="0">
                <a:solidFill>
                  <a:schemeClr val="bg2">
                    <a:lumMod val="10000"/>
                  </a:schemeClr>
                </a:solidFill>
                <a:latin typeface="Arial Narrow" panose="020B0606020202030204" pitchFamily="34" charset="0"/>
              </a:rPr>
              <a:t>En I    	    	</a:t>
            </a:r>
            <a:r>
              <a:rPr lang="es-PE" sz="2400" spc="-1" dirty="0" err="1">
                <a:solidFill>
                  <a:schemeClr val="bg2">
                    <a:lumMod val="10000"/>
                  </a:schemeClr>
                </a:solidFill>
                <a:latin typeface="Arial Narrow" panose="020B0606020202030204" pitchFamily="34" charset="0"/>
              </a:rPr>
              <a:t>JT</a:t>
            </a:r>
            <a:r>
              <a:rPr lang="es-PE" sz="2400" spc="-1" dirty="0">
                <a:solidFill>
                  <a:schemeClr val="bg2">
                    <a:lumMod val="10000"/>
                  </a:schemeClr>
                </a:solidFill>
                <a:latin typeface="Arial Narrow" panose="020B0606020202030204" pitchFamily="34" charset="0"/>
              </a:rPr>
              <a:t> = 1857.14</a:t>
            </a:r>
          </a:p>
        </p:txBody>
      </p:sp>
      <p:sp>
        <p:nvSpPr>
          <p:cNvPr id="5" name="Rectángulo 4">
            <a:extLst>
              <a:ext uri="{FF2B5EF4-FFF2-40B4-BE49-F238E27FC236}">
                <a16:creationId xmlns:a16="http://schemas.microsoft.com/office/drawing/2014/main" id="{3BB9B7C3-86A5-4B00-954E-F7EA3EDB4AA4}"/>
              </a:ext>
            </a:extLst>
          </p:cNvPr>
          <p:cNvSpPr/>
          <p:nvPr/>
        </p:nvSpPr>
        <p:spPr>
          <a:xfrm>
            <a:off x="208137" y="4220667"/>
            <a:ext cx="5843760" cy="461665"/>
          </a:xfrm>
          <a:prstGeom prst="rect">
            <a:avLst/>
          </a:prstGeom>
          <a:solidFill>
            <a:schemeClr val="accent4">
              <a:lumMod val="40000"/>
              <a:lumOff val="60000"/>
            </a:schemeClr>
          </a:solidFill>
        </p:spPr>
        <p:txBody>
          <a:bodyPr wrap="square">
            <a:spAutoFit/>
          </a:bodyPr>
          <a:lstStyle/>
          <a:p>
            <a:pPr marL="609480" indent="-608760"/>
            <a:r>
              <a:rPr lang="es-PE" sz="2400" spc="-1" dirty="0">
                <a:solidFill>
                  <a:schemeClr val="bg2">
                    <a:lumMod val="10000"/>
                  </a:schemeClr>
                </a:solidFill>
                <a:latin typeface="Arial Narrow" panose="020B0606020202030204" pitchFamily="34" charset="0"/>
              </a:rPr>
              <a:t>La solución óptima es: </a:t>
            </a:r>
            <a:r>
              <a:rPr lang="es-PE" sz="2400" spc="-1" dirty="0" err="1">
                <a:solidFill>
                  <a:schemeClr val="bg2">
                    <a:lumMod val="10000"/>
                  </a:schemeClr>
                </a:solidFill>
                <a:latin typeface="Arial Narrow" panose="020B0606020202030204" pitchFamily="34" charset="0"/>
              </a:rPr>
              <a:t>JN</a:t>
            </a:r>
            <a:r>
              <a:rPr lang="es-PE" sz="2400" spc="-1" dirty="0">
                <a:solidFill>
                  <a:schemeClr val="bg2">
                    <a:lumMod val="10000"/>
                  </a:schemeClr>
                </a:solidFill>
                <a:latin typeface="Arial Narrow" panose="020B0606020202030204" pitchFamily="34" charset="0"/>
              </a:rPr>
              <a:t> = 1428.57  </a:t>
            </a:r>
            <a:r>
              <a:rPr lang="es-PE" sz="2400" spc="-1" dirty="0" err="1">
                <a:solidFill>
                  <a:schemeClr val="bg2">
                    <a:lumMod val="10000"/>
                  </a:schemeClr>
                </a:solidFill>
                <a:latin typeface="Arial Narrow" panose="020B0606020202030204" pitchFamily="34" charset="0"/>
              </a:rPr>
              <a:t>JT</a:t>
            </a:r>
            <a:r>
              <a:rPr lang="es-PE" sz="2400" spc="-1" dirty="0">
                <a:solidFill>
                  <a:schemeClr val="bg2">
                    <a:lumMod val="10000"/>
                  </a:schemeClr>
                </a:solidFill>
                <a:latin typeface="Arial Narrow" panose="020B0606020202030204" pitchFamily="34" charset="0"/>
              </a:rPr>
              <a:t> =1857.14</a:t>
            </a:r>
          </a:p>
        </p:txBody>
      </p:sp>
      <p:sp>
        <p:nvSpPr>
          <p:cNvPr id="6" name="Rectángulo 5">
            <a:extLst>
              <a:ext uri="{FF2B5EF4-FFF2-40B4-BE49-F238E27FC236}">
                <a16:creationId xmlns:a16="http://schemas.microsoft.com/office/drawing/2014/main" id="{592BB5B4-5695-4043-831A-C501010FBB1F}"/>
              </a:ext>
            </a:extLst>
          </p:cNvPr>
          <p:cNvSpPr/>
          <p:nvPr/>
        </p:nvSpPr>
        <p:spPr>
          <a:xfrm>
            <a:off x="194217" y="4814739"/>
            <a:ext cx="5874326" cy="830997"/>
          </a:xfrm>
          <a:prstGeom prst="rect">
            <a:avLst/>
          </a:prstGeom>
          <a:solidFill>
            <a:schemeClr val="accent4">
              <a:lumMod val="40000"/>
              <a:lumOff val="60000"/>
            </a:schemeClr>
          </a:solidFill>
        </p:spPr>
        <p:txBody>
          <a:bodyPr wrap="square">
            <a:spAutoFit/>
          </a:bodyPr>
          <a:lstStyle/>
          <a:p>
            <a:pPr marL="609480" indent="-608760"/>
            <a:r>
              <a:rPr lang="es-PE" sz="2400" spc="-1" dirty="0">
                <a:solidFill>
                  <a:schemeClr val="bg2">
                    <a:lumMod val="10000"/>
                  </a:schemeClr>
                </a:solidFill>
                <a:latin typeface="Arial Narrow" panose="020B0606020202030204" pitchFamily="34" charset="0"/>
              </a:rPr>
              <a:t>Valor de la función objetivo es:</a:t>
            </a:r>
          </a:p>
          <a:p>
            <a:pPr marL="609480" indent="-608760"/>
            <a:r>
              <a:rPr lang="es-PE" sz="2400" spc="-1" dirty="0">
                <a:solidFill>
                  <a:schemeClr val="bg2">
                    <a:lumMod val="10000"/>
                  </a:schemeClr>
                </a:solidFill>
                <a:latin typeface="Arial Narrow" panose="020B0606020202030204" pitchFamily="34" charset="0"/>
              </a:rPr>
              <a:t>Z = 0.55(1428,57)+0.40(1857,14)= 1528.57</a:t>
            </a:r>
          </a:p>
        </p:txBody>
      </p:sp>
      <p:sp>
        <p:nvSpPr>
          <p:cNvPr id="8" name="2 Rectángulo">
            <a:extLst>
              <a:ext uri="{FF2B5EF4-FFF2-40B4-BE49-F238E27FC236}">
                <a16:creationId xmlns:a16="http://schemas.microsoft.com/office/drawing/2014/main" id="{2E81453E-4D47-40CA-890E-507639E282CC}"/>
              </a:ext>
            </a:extLst>
          </p:cNvPr>
          <p:cNvSpPr/>
          <p:nvPr/>
        </p:nvSpPr>
        <p:spPr>
          <a:xfrm>
            <a:off x="8249120" y="1427887"/>
            <a:ext cx="3819233" cy="2341923"/>
          </a:xfrm>
          <a:prstGeom prst="rect">
            <a:avLst/>
          </a:prstGeom>
          <a:solidFill>
            <a:srgbClr val="FFFF00"/>
          </a:solidFill>
        </p:spPr>
        <p:txBody>
          <a:bodyPr wrap="square">
            <a:spAutoFit/>
          </a:bodyPr>
          <a:lstStyle/>
          <a:p>
            <a:pPr lvl="0">
              <a:lnSpc>
                <a:spcPct val="150000"/>
              </a:lnSpc>
            </a:pPr>
            <a:r>
              <a:rPr lang="es-PE" sz="2000" b="1" dirty="0">
                <a:latin typeface="Arial Narrow" pitchFamily="34" charset="0"/>
              </a:rPr>
              <a:t>MAX	</a:t>
            </a:r>
            <a:r>
              <a:rPr lang="es-PE" sz="2000" b="1" dirty="0" err="1">
                <a:latin typeface="Arial Narrow" pitchFamily="34" charset="0"/>
              </a:rPr>
              <a:t>0.55JN</a:t>
            </a:r>
            <a:r>
              <a:rPr lang="es-PE" sz="2000" b="1" dirty="0">
                <a:latin typeface="Arial Narrow" pitchFamily="34" charset="0"/>
              </a:rPr>
              <a:t> +  </a:t>
            </a:r>
            <a:r>
              <a:rPr lang="es-PE" sz="2000" b="1" dirty="0" err="1">
                <a:latin typeface="Arial Narrow" pitchFamily="34" charset="0"/>
              </a:rPr>
              <a:t>0.40JT</a:t>
            </a:r>
            <a:endParaRPr lang="es-PE" sz="2000" b="1" dirty="0">
              <a:latin typeface="Arial Narrow" pitchFamily="34" charset="0"/>
            </a:endParaRPr>
          </a:p>
          <a:p>
            <a:pPr lvl="0">
              <a:lnSpc>
                <a:spcPct val="150000"/>
              </a:lnSpc>
            </a:pPr>
            <a:r>
              <a:rPr lang="es-PE" sz="2000" b="1" dirty="0" err="1">
                <a:latin typeface="Arial Narrow" pitchFamily="34" charset="0"/>
              </a:rPr>
              <a:t>SUBJECT</a:t>
            </a:r>
            <a:r>
              <a:rPr lang="es-PE" sz="2000" b="1" dirty="0">
                <a:latin typeface="Arial Narrow" pitchFamily="34" charset="0"/>
              </a:rPr>
              <a:t> </a:t>
            </a:r>
            <a:r>
              <a:rPr lang="es-PE" sz="2000" b="1" dirty="0" err="1">
                <a:latin typeface="Arial Narrow" pitchFamily="34" charset="0"/>
              </a:rPr>
              <a:t>TO</a:t>
            </a:r>
            <a:endParaRPr lang="es-PE" sz="2000" b="1" dirty="0">
              <a:latin typeface="Arial Narrow" pitchFamily="34" charset="0"/>
            </a:endParaRPr>
          </a:p>
          <a:p>
            <a:pPr lvl="0">
              <a:lnSpc>
                <a:spcPct val="150000"/>
              </a:lnSpc>
            </a:pPr>
            <a:r>
              <a:rPr lang="es-PE" sz="2000" b="1" dirty="0" err="1">
                <a:latin typeface="Arial Narrow" pitchFamily="34" charset="0"/>
              </a:rPr>
              <a:t>0.04JN</a:t>
            </a:r>
            <a:r>
              <a:rPr lang="es-PE" sz="2000" b="1" dirty="0">
                <a:latin typeface="Arial Narrow" pitchFamily="34" charset="0"/>
              </a:rPr>
              <a:t> +  </a:t>
            </a:r>
            <a:r>
              <a:rPr lang="es-PE" sz="2000" b="1" dirty="0" err="1">
                <a:latin typeface="Arial Narrow" pitchFamily="34" charset="0"/>
              </a:rPr>
              <a:t>0.05JT</a:t>
            </a:r>
            <a:r>
              <a:rPr lang="es-PE" sz="2000" b="1" dirty="0">
                <a:latin typeface="Arial Narrow" pitchFamily="34" charset="0"/>
              </a:rPr>
              <a:t>  &lt;=   150 </a:t>
            </a:r>
          </a:p>
          <a:p>
            <a:pPr lvl="0">
              <a:lnSpc>
                <a:spcPct val="150000"/>
              </a:lnSpc>
            </a:pPr>
            <a:r>
              <a:rPr lang="es-PE" sz="2000" b="1" dirty="0">
                <a:latin typeface="Arial Narrow" pitchFamily="34" charset="0"/>
              </a:rPr>
              <a:t>                JN    &lt;= 1428.57</a:t>
            </a:r>
          </a:p>
          <a:p>
            <a:pPr lvl="0">
              <a:lnSpc>
                <a:spcPct val="150000"/>
              </a:lnSpc>
            </a:pPr>
            <a:r>
              <a:rPr lang="es-PE" sz="2000" b="1" dirty="0">
                <a:latin typeface="Arial Narrow" pitchFamily="34" charset="0"/>
              </a:rPr>
              <a:t>                </a:t>
            </a:r>
            <a:r>
              <a:rPr lang="es-PE" sz="2000" b="1" dirty="0" err="1">
                <a:latin typeface="Arial Narrow" pitchFamily="34" charset="0"/>
              </a:rPr>
              <a:t>JT</a:t>
            </a:r>
            <a:r>
              <a:rPr lang="es-PE" sz="2000" b="1" dirty="0">
                <a:latin typeface="Arial Narrow" pitchFamily="34" charset="0"/>
              </a:rPr>
              <a:t>     &lt;= 2000	</a:t>
            </a:r>
          </a:p>
        </p:txBody>
      </p:sp>
      <p:sp>
        <p:nvSpPr>
          <p:cNvPr id="9" name="3 Rectángulo">
            <a:extLst>
              <a:ext uri="{FF2B5EF4-FFF2-40B4-BE49-F238E27FC236}">
                <a16:creationId xmlns:a16="http://schemas.microsoft.com/office/drawing/2014/main" id="{3339F5E8-6E76-4107-8AA6-25DE8CD156A5}"/>
              </a:ext>
            </a:extLst>
          </p:cNvPr>
          <p:cNvSpPr/>
          <p:nvPr/>
        </p:nvSpPr>
        <p:spPr>
          <a:xfrm>
            <a:off x="8254872" y="3851463"/>
            <a:ext cx="3796228" cy="2169825"/>
          </a:xfrm>
          <a:prstGeom prst="rect">
            <a:avLst/>
          </a:prstGeom>
          <a:solidFill>
            <a:schemeClr val="accent6">
              <a:lumMod val="40000"/>
              <a:lumOff val="60000"/>
            </a:schemeClr>
          </a:solidFill>
        </p:spPr>
        <p:txBody>
          <a:bodyPr wrap="square">
            <a:spAutoFit/>
          </a:bodyPr>
          <a:lstStyle/>
          <a:p>
            <a:pPr lvl="0">
              <a:lnSpc>
                <a:spcPct val="150000"/>
              </a:lnSpc>
            </a:pPr>
            <a:r>
              <a:rPr lang="es-PE" b="1" dirty="0" err="1">
                <a:latin typeface="Arial Narrow" pitchFamily="34" charset="0"/>
              </a:rPr>
              <a:t>OBJECTIVE</a:t>
            </a:r>
            <a:r>
              <a:rPr lang="es-PE" b="1" dirty="0">
                <a:latin typeface="Arial Narrow" pitchFamily="34" charset="0"/>
              </a:rPr>
              <a:t> </a:t>
            </a:r>
            <a:r>
              <a:rPr lang="es-PE" b="1" dirty="0" err="1">
                <a:latin typeface="Arial Narrow" pitchFamily="34" charset="0"/>
              </a:rPr>
              <a:t>FUNCTION</a:t>
            </a:r>
            <a:r>
              <a:rPr lang="es-PE" b="1" dirty="0">
                <a:latin typeface="Arial Narrow" pitchFamily="34" charset="0"/>
              </a:rPr>
              <a:t> </a:t>
            </a:r>
            <a:r>
              <a:rPr lang="es-PE" b="1" dirty="0" err="1">
                <a:latin typeface="Arial Narrow" pitchFamily="34" charset="0"/>
              </a:rPr>
              <a:t>VALUE</a:t>
            </a:r>
            <a:endParaRPr lang="es-PE" b="1" dirty="0">
              <a:latin typeface="Arial Narrow" pitchFamily="34" charset="0"/>
            </a:endParaRPr>
          </a:p>
          <a:p>
            <a:pPr lvl="0">
              <a:lnSpc>
                <a:spcPct val="150000"/>
              </a:lnSpc>
            </a:pPr>
            <a:r>
              <a:rPr lang="es-PE" b="1" dirty="0">
                <a:latin typeface="Arial Narrow" pitchFamily="34" charset="0"/>
              </a:rPr>
              <a:t>1)      1528.571</a:t>
            </a:r>
          </a:p>
          <a:p>
            <a:pPr lvl="0">
              <a:lnSpc>
                <a:spcPct val="150000"/>
              </a:lnSpc>
            </a:pPr>
            <a:r>
              <a:rPr lang="es-PE" b="1" dirty="0">
                <a:latin typeface="Arial Narrow" pitchFamily="34" charset="0"/>
              </a:rPr>
              <a:t>VARIABLE     </a:t>
            </a:r>
            <a:r>
              <a:rPr lang="es-PE" b="1" dirty="0" err="1">
                <a:latin typeface="Arial Narrow" pitchFamily="34" charset="0"/>
              </a:rPr>
              <a:t>VALUE</a:t>
            </a:r>
            <a:r>
              <a:rPr lang="es-PE" b="1" dirty="0">
                <a:latin typeface="Arial Narrow" pitchFamily="34" charset="0"/>
              </a:rPr>
              <a:t>     </a:t>
            </a:r>
            <a:r>
              <a:rPr lang="es-PE" b="1" dirty="0" err="1">
                <a:latin typeface="Arial Narrow" pitchFamily="34" charset="0"/>
              </a:rPr>
              <a:t>REDUCED</a:t>
            </a:r>
            <a:r>
              <a:rPr lang="es-PE" b="1" dirty="0">
                <a:latin typeface="Arial Narrow" pitchFamily="34" charset="0"/>
              </a:rPr>
              <a:t> </a:t>
            </a:r>
            <a:r>
              <a:rPr lang="es-PE" b="1" dirty="0" err="1">
                <a:latin typeface="Arial Narrow" pitchFamily="34" charset="0"/>
              </a:rPr>
              <a:t>COST</a:t>
            </a:r>
            <a:endParaRPr lang="es-PE" b="1" dirty="0">
              <a:latin typeface="Arial Narrow" pitchFamily="34" charset="0"/>
            </a:endParaRPr>
          </a:p>
          <a:p>
            <a:pPr lvl="0">
              <a:lnSpc>
                <a:spcPct val="150000"/>
              </a:lnSpc>
            </a:pPr>
            <a:r>
              <a:rPr lang="es-PE" b="1" dirty="0" err="1">
                <a:latin typeface="Arial Narrow" pitchFamily="34" charset="0"/>
              </a:rPr>
              <a:t>JN</a:t>
            </a:r>
            <a:r>
              <a:rPr lang="es-PE" b="1" dirty="0">
                <a:latin typeface="Arial Narrow" pitchFamily="34" charset="0"/>
              </a:rPr>
              <a:t>             1428.569946    0.000000</a:t>
            </a:r>
          </a:p>
          <a:p>
            <a:pPr lvl="0">
              <a:lnSpc>
                <a:spcPct val="150000"/>
              </a:lnSpc>
            </a:pPr>
            <a:r>
              <a:rPr lang="es-PE" b="1" dirty="0" err="1">
                <a:latin typeface="Arial Narrow" pitchFamily="34" charset="0"/>
              </a:rPr>
              <a:t>JT</a:t>
            </a:r>
            <a:r>
              <a:rPr lang="es-PE" b="1" dirty="0">
                <a:latin typeface="Arial Narrow" pitchFamily="34" charset="0"/>
              </a:rPr>
              <a:t>              1857.144043    0.000000</a:t>
            </a:r>
          </a:p>
        </p:txBody>
      </p:sp>
    </p:spTree>
    <p:extLst>
      <p:ext uri="{BB962C8B-B14F-4D97-AF65-F5344CB8AC3E}">
        <p14:creationId xmlns:p14="http://schemas.microsoft.com/office/powerpoint/2010/main" val="104642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1"/>
          <p:cNvSpPr>
            <a:spLocks noChangeArrowheads="1"/>
          </p:cNvSpPr>
          <p:nvPr/>
        </p:nvSpPr>
        <p:spPr bwMode="auto">
          <a:xfrm>
            <a:off x="6096000" y="197124"/>
            <a:ext cx="6096000" cy="587880"/>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38</a:t>
            </a:r>
          </a:p>
        </p:txBody>
      </p:sp>
      <p:sp>
        <p:nvSpPr>
          <p:cNvPr id="4" name="CuadroTexto 3">
            <a:extLst>
              <a:ext uri="{FF2B5EF4-FFF2-40B4-BE49-F238E27FC236}">
                <a16:creationId xmlns:a16="http://schemas.microsoft.com/office/drawing/2014/main" id="{3E111CFC-8569-49F6-B021-FD328B1BE9B3}"/>
              </a:ext>
            </a:extLst>
          </p:cNvPr>
          <p:cNvSpPr txBox="1"/>
          <p:nvPr/>
        </p:nvSpPr>
        <p:spPr>
          <a:xfrm>
            <a:off x="6908702" y="1247771"/>
            <a:ext cx="4469540" cy="1200329"/>
          </a:xfrm>
          <a:prstGeom prst="rect">
            <a:avLst/>
          </a:prstGeom>
          <a:solidFill>
            <a:schemeClr val="accent2">
              <a:lumMod val="20000"/>
              <a:lumOff val="80000"/>
            </a:schemeClr>
          </a:solidFill>
        </p:spPr>
        <p:txBody>
          <a:bodyPr wrap="square" rtlCol="0">
            <a:spAutoFit/>
          </a:bodyPr>
          <a:lstStyle/>
          <a:p>
            <a:r>
              <a:rPr lang="es-ES" sz="2400" dirty="0">
                <a:solidFill>
                  <a:srgbClr val="FF0000"/>
                </a:solidFill>
                <a:latin typeface="Arial Narrow" panose="020B0606020202030204" pitchFamily="34" charset="0"/>
              </a:rPr>
              <a:t>I. Identificación de las variables</a:t>
            </a:r>
          </a:p>
          <a:p>
            <a:r>
              <a:rPr lang="es-ES" sz="2400" dirty="0">
                <a:latin typeface="Arial Narrow" panose="020B0606020202030204" pitchFamily="34" charset="0"/>
              </a:rPr>
              <a:t>   </a:t>
            </a:r>
            <a:r>
              <a:rPr lang="es-ES" sz="2400" dirty="0" err="1">
                <a:latin typeface="Arial Narrow" panose="020B0606020202030204" pitchFamily="34" charset="0"/>
              </a:rPr>
              <a:t>X1</a:t>
            </a:r>
            <a:r>
              <a:rPr lang="es-ES" sz="2400" dirty="0">
                <a:latin typeface="Arial Narrow" panose="020B0606020202030204" pitchFamily="34" charset="0"/>
              </a:rPr>
              <a:t>=número de horas en la tienda 1</a:t>
            </a:r>
          </a:p>
          <a:p>
            <a:r>
              <a:rPr lang="es-ES" sz="2400" dirty="0">
                <a:latin typeface="Arial Narrow" panose="020B0606020202030204" pitchFamily="34" charset="0"/>
              </a:rPr>
              <a:t>   </a:t>
            </a:r>
            <a:r>
              <a:rPr lang="es-ES" sz="2400" dirty="0" err="1">
                <a:latin typeface="Arial Narrow" panose="020B0606020202030204" pitchFamily="34" charset="0"/>
              </a:rPr>
              <a:t>X2</a:t>
            </a:r>
            <a:r>
              <a:rPr lang="es-ES" sz="2400" dirty="0">
                <a:latin typeface="Arial Narrow" panose="020B0606020202030204" pitchFamily="34" charset="0"/>
              </a:rPr>
              <a:t>=número de horas en la tienda 2</a:t>
            </a:r>
            <a:endParaRPr lang="es-PE" sz="2400" dirty="0">
              <a:latin typeface="Arial Narrow" panose="020B0606020202030204" pitchFamily="34" charset="0"/>
            </a:endParaRPr>
          </a:p>
        </p:txBody>
      </p:sp>
      <p:sp>
        <p:nvSpPr>
          <p:cNvPr id="5" name="Rectángulo 4">
            <a:extLst>
              <a:ext uri="{FF2B5EF4-FFF2-40B4-BE49-F238E27FC236}">
                <a16:creationId xmlns:a16="http://schemas.microsoft.com/office/drawing/2014/main" id="{00DBF1CE-A1F7-464D-9634-61915BE6AC37}"/>
              </a:ext>
            </a:extLst>
          </p:cNvPr>
          <p:cNvSpPr/>
          <p:nvPr/>
        </p:nvSpPr>
        <p:spPr>
          <a:xfrm>
            <a:off x="6909759" y="3276934"/>
            <a:ext cx="4459856" cy="1938992"/>
          </a:xfrm>
          <a:prstGeom prst="rect">
            <a:avLst/>
          </a:prstGeom>
          <a:solidFill>
            <a:schemeClr val="accent2">
              <a:lumMod val="20000"/>
              <a:lumOff val="80000"/>
            </a:schemeClr>
          </a:solidFill>
        </p:spPr>
        <p:txBody>
          <a:bodyPr wrap="square" rtlCol="0">
            <a:spAutoFit/>
          </a:bodyPr>
          <a:lstStyle/>
          <a:p>
            <a:r>
              <a:rPr lang="es-ES" sz="2400" dirty="0">
                <a:solidFill>
                  <a:srgbClr val="FF0000"/>
                </a:solidFill>
                <a:latin typeface="Arial Narrow" panose="020B0606020202030204" pitchFamily="34" charset="0"/>
              </a:rPr>
              <a:t>III. Identificación de las restricciones</a:t>
            </a:r>
          </a:p>
          <a:p>
            <a:r>
              <a:rPr lang="es-ES" sz="2400" dirty="0" err="1">
                <a:latin typeface="Arial Narrow" panose="020B0606020202030204" pitchFamily="34" charset="0"/>
              </a:rPr>
              <a:t>X1+X2</a:t>
            </a:r>
            <a:r>
              <a:rPr lang="es-ES" sz="2400" dirty="0">
                <a:latin typeface="Arial Narrow" panose="020B0606020202030204" pitchFamily="34" charset="0"/>
              </a:rPr>
              <a:t>&gt;=20</a:t>
            </a:r>
          </a:p>
          <a:p>
            <a:r>
              <a:rPr lang="es-ES" sz="2400" dirty="0">
                <a:latin typeface="Arial Narrow" panose="020B0606020202030204" pitchFamily="34" charset="0"/>
              </a:rPr>
              <a:t>5&lt;=</a:t>
            </a:r>
            <a:r>
              <a:rPr lang="es-ES" sz="2400" dirty="0" err="1">
                <a:latin typeface="Arial Narrow" panose="020B0606020202030204" pitchFamily="34" charset="0"/>
              </a:rPr>
              <a:t>X1</a:t>
            </a:r>
            <a:r>
              <a:rPr lang="es-ES" sz="2400" dirty="0">
                <a:latin typeface="Arial Narrow" panose="020B0606020202030204" pitchFamily="34" charset="0"/>
              </a:rPr>
              <a:t>&lt;=12</a:t>
            </a:r>
          </a:p>
          <a:p>
            <a:r>
              <a:rPr lang="es-ES" sz="2400" dirty="0">
                <a:latin typeface="Arial Narrow" panose="020B0606020202030204" pitchFamily="34" charset="0"/>
              </a:rPr>
              <a:t>6&lt;=</a:t>
            </a:r>
            <a:r>
              <a:rPr lang="es-ES" sz="2400" dirty="0" err="1">
                <a:latin typeface="Arial Narrow" panose="020B0606020202030204" pitchFamily="34" charset="0"/>
              </a:rPr>
              <a:t>X2</a:t>
            </a:r>
            <a:r>
              <a:rPr lang="es-ES" sz="2400" dirty="0">
                <a:latin typeface="Arial Narrow" panose="020B0606020202030204" pitchFamily="34" charset="0"/>
              </a:rPr>
              <a:t>&lt;=10</a:t>
            </a:r>
          </a:p>
          <a:p>
            <a:r>
              <a:rPr lang="es-ES" sz="2400" dirty="0">
                <a:latin typeface="Arial Narrow" panose="020B0606020202030204" pitchFamily="34" charset="0"/>
              </a:rPr>
              <a:t>Xi&gt;=0</a:t>
            </a:r>
          </a:p>
        </p:txBody>
      </p:sp>
      <p:sp>
        <p:nvSpPr>
          <p:cNvPr id="6" name="Rectángulo 5">
            <a:extLst>
              <a:ext uri="{FF2B5EF4-FFF2-40B4-BE49-F238E27FC236}">
                <a16:creationId xmlns:a16="http://schemas.microsoft.com/office/drawing/2014/main" id="{7711A3F5-7429-4419-8392-C6F11F6E742B}"/>
              </a:ext>
            </a:extLst>
          </p:cNvPr>
          <p:cNvSpPr/>
          <p:nvPr/>
        </p:nvSpPr>
        <p:spPr>
          <a:xfrm>
            <a:off x="6912634" y="2450230"/>
            <a:ext cx="4465608" cy="830997"/>
          </a:xfrm>
          <a:prstGeom prst="rect">
            <a:avLst/>
          </a:prstGeom>
          <a:solidFill>
            <a:schemeClr val="accent2">
              <a:lumMod val="20000"/>
              <a:lumOff val="80000"/>
            </a:schemeClr>
          </a:solidFill>
        </p:spPr>
        <p:txBody>
          <a:bodyPr wrap="square" rtlCol="0">
            <a:spAutoFit/>
          </a:bodyPr>
          <a:lstStyle/>
          <a:p>
            <a:r>
              <a:rPr lang="es-ES" sz="2400" dirty="0">
                <a:solidFill>
                  <a:srgbClr val="FF0000"/>
                </a:solidFill>
                <a:latin typeface="Arial Narrow" panose="020B0606020202030204" pitchFamily="34" charset="0"/>
              </a:rPr>
              <a:t>II. Identificación de la </a:t>
            </a:r>
            <a:r>
              <a:rPr lang="es-ES" sz="2400" dirty="0" err="1">
                <a:solidFill>
                  <a:srgbClr val="FF0000"/>
                </a:solidFill>
                <a:latin typeface="Arial Narrow" panose="020B0606020202030204" pitchFamily="34" charset="0"/>
              </a:rPr>
              <a:t>F.O</a:t>
            </a:r>
            <a:r>
              <a:rPr lang="es-ES" sz="2400" dirty="0">
                <a:solidFill>
                  <a:srgbClr val="FF0000"/>
                </a:solidFill>
                <a:latin typeface="Arial Narrow" panose="020B0606020202030204" pitchFamily="34" charset="0"/>
              </a:rPr>
              <a:t>.</a:t>
            </a:r>
          </a:p>
          <a:p>
            <a:r>
              <a:rPr lang="es-ES" sz="2400" dirty="0">
                <a:latin typeface="Arial Narrow" panose="020B0606020202030204" pitchFamily="34" charset="0"/>
              </a:rPr>
              <a:t>    MIN </a:t>
            </a:r>
            <a:r>
              <a:rPr lang="es-ES" sz="2400" dirty="0" err="1">
                <a:latin typeface="Arial Narrow" panose="020B0606020202030204" pitchFamily="34" charset="0"/>
              </a:rPr>
              <a:t>8X1+6X2</a:t>
            </a:r>
            <a:endParaRPr lang="es-ES" sz="2400" dirty="0">
              <a:latin typeface="Arial Narrow" panose="020B0606020202030204" pitchFamily="34" charset="0"/>
            </a:endParaRPr>
          </a:p>
        </p:txBody>
      </p:sp>
      <p:sp>
        <p:nvSpPr>
          <p:cNvPr id="7" name="3 Rectángulo">
            <a:extLst>
              <a:ext uri="{FF2B5EF4-FFF2-40B4-BE49-F238E27FC236}">
                <a16:creationId xmlns:a16="http://schemas.microsoft.com/office/drawing/2014/main" id="{71465E4C-6C7B-4A45-A052-107B521FEFB9}"/>
              </a:ext>
            </a:extLst>
          </p:cNvPr>
          <p:cNvSpPr/>
          <p:nvPr/>
        </p:nvSpPr>
        <p:spPr>
          <a:xfrm>
            <a:off x="6908702" y="5362033"/>
            <a:ext cx="3627369" cy="1477328"/>
          </a:xfrm>
          <a:prstGeom prst="rect">
            <a:avLst/>
          </a:prstGeom>
          <a:solidFill>
            <a:schemeClr val="accent6">
              <a:lumMod val="40000"/>
              <a:lumOff val="60000"/>
            </a:schemeClr>
          </a:solidFill>
        </p:spPr>
        <p:txBody>
          <a:bodyPr wrap="square">
            <a:spAutoFit/>
          </a:bodyPr>
          <a:lstStyle/>
          <a:p>
            <a:r>
              <a:rPr lang="en-US" b="1" dirty="0">
                <a:solidFill>
                  <a:srgbClr val="FF0000"/>
                </a:solidFill>
                <a:latin typeface="Arial Narrow" panose="020B0606020202030204" pitchFamily="34" charset="0"/>
              </a:rPr>
              <a:t> 1)      140.0000</a:t>
            </a:r>
          </a:p>
          <a:p>
            <a:r>
              <a:rPr lang="en-US" b="1" dirty="0">
                <a:solidFill>
                  <a:srgbClr val="FF0000"/>
                </a:solidFill>
                <a:latin typeface="Arial Narrow" panose="020B0606020202030204" pitchFamily="34" charset="0"/>
              </a:rPr>
              <a:t> VARIABLE  VALUE  REDUCED COST</a:t>
            </a:r>
          </a:p>
          <a:p>
            <a:r>
              <a:rPr lang="en-US" b="1" dirty="0">
                <a:solidFill>
                  <a:srgbClr val="FF0000"/>
                </a:solidFill>
                <a:latin typeface="Arial Narrow" panose="020B0606020202030204" pitchFamily="34" charset="0"/>
              </a:rPr>
              <a:t>        </a:t>
            </a:r>
            <a:r>
              <a:rPr lang="en-US" b="1" dirty="0" err="1">
                <a:solidFill>
                  <a:srgbClr val="FF0000"/>
                </a:solidFill>
                <a:latin typeface="Arial Narrow" panose="020B0606020202030204" pitchFamily="34" charset="0"/>
              </a:rPr>
              <a:t>X1</a:t>
            </a:r>
            <a:r>
              <a:rPr lang="en-US" b="1" dirty="0">
                <a:solidFill>
                  <a:srgbClr val="FF0000"/>
                </a:solidFill>
                <a:latin typeface="Arial Narrow" panose="020B0606020202030204" pitchFamily="34" charset="0"/>
              </a:rPr>
              <a:t>   10.000000          0.000000</a:t>
            </a:r>
          </a:p>
          <a:p>
            <a:r>
              <a:rPr lang="en-US" b="1" dirty="0">
                <a:solidFill>
                  <a:srgbClr val="FF0000"/>
                </a:solidFill>
                <a:latin typeface="Arial Narrow" panose="020B0606020202030204" pitchFamily="34" charset="0"/>
              </a:rPr>
              <a:t>        </a:t>
            </a:r>
            <a:r>
              <a:rPr lang="en-US" b="1" dirty="0" err="1">
                <a:solidFill>
                  <a:srgbClr val="FF0000"/>
                </a:solidFill>
                <a:latin typeface="Arial Narrow" panose="020B0606020202030204" pitchFamily="34" charset="0"/>
              </a:rPr>
              <a:t>X2</a:t>
            </a:r>
            <a:r>
              <a:rPr lang="en-US" b="1" dirty="0">
                <a:solidFill>
                  <a:srgbClr val="FF0000"/>
                </a:solidFill>
                <a:latin typeface="Arial Narrow" panose="020B0606020202030204" pitchFamily="34" charset="0"/>
              </a:rPr>
              <a:t>   10.000000          0.000000</a:t>
            </a:r>
          </a:p>
          <a:p>
            <a:r>
              <a:rPr lang="en-US" b="1" dirty="0">
                <a:solidFill>
                  <a:srgbClr val="FF0000"/>
                </a:solidFill>
                <a:latin typeface="Arial Narrow" panose="020B0606020202030204" pitchFamily="34" charset="0"/>
              </a:rPr>
              <a:t>  </a:t>
            </a:r>
            <a:endParaRPr lang="es-ES" b="1" dirty="0">
              <a:solidFill>
                <a:srgbClr val="FF0000"/>
              </a:solidFill>
              <a:latin typeface="Arial Narrow" panose="020B0606020202030204" pitchFamily="34" charset="0"/>
            </a:endParaRPr>
          </a:p>
        </p:txBody>
      </p:sp>
      <p:sp>
        <p:nvSpPr>
          <p:cNvPr id="8" name="4 Rectángulo">
            <a:extLst>
              <a:ext uri="{FF2B5EF4-FFF2-40B4-BE49-F238E27FC236}">
                <a16:creationId xmlns:a16="http://schemas.microsoft.com/office/drawing/2014/main" id="{8286E05C-542F-4EA5-A5EA-CB4F92487346}"/>
              </a:ext>
            </a:extLst>
          </p:cNvPr>
          <p:cNvSpPr/>
          <p:nvPr/>
        </p:nvSpPr>
        <p:spPr>
          <a:xfrm>
            <a:off x="10369975" y="4449275"/>
            <a:ext cx="1675376" cy="2246769"/>
          </a:xfrm>
          <a:prstGeom prst="rect">
            <a:avLst/>
          </a:prstGeom>
          <a:solidFill>
            <a:srgbClr val="FFFF00"/>
          </a:solidFill>
        </p:spPr>
        <p:txBody>
          <a:bodyPr wrap="square">
            <a:spAutoFit/>
          </a:bodyPr>
          <a:lstStyle/>
          <a:p>
            <a:r>
              <a:rPr lang="es-ES" sz="2000" b="1" dirty="0"/>
              <a:t>MIN </a:t>
            </a:r>
            <a:r>
              <a:rPr lang="es-ES" sz="2000" b="1" dirty="0" err="1"/>
              <a:t>8X1+6X2</a:t>
            </a:r>
            <a:endParaRPr lang="es-ES" sz="2000" b="1" dirty="0"/>
          </a:p>
          <a:p>
            <a:r>
              <a:rPr lang="es-ES" sz="2000" b="1" dirty="0" err="1">
                <a:solidFill>
                  <a:srgbClr val="FF0000"/>
                </a:solidFill>
              </a:rPr>
              <a:t>ST</a:t>
            </a:r>
            <a:endParaRPr lang="es-ES" sz="2000" b="1" dirty="0">
              <a:solidFill>
                <a:srgbClr val="FF0000"/>
              </a:solidFill>
            </a:endParaRPr>
          </a:p>
          <a:p>
            <a:r>
              <a:rPr lang="es-ES" sz="2000" b="1" dirty="0" err="1"/>
              <a:t>X1+X2</a:t>
            </a:r>
            <a:r>
              <a:rPr lang="es-ES" sz="2000" b="1" dirty="0"/>
              <a:t> &gt;=20</a:t>
            </a:r>
          </a:p>
          <a:p>
            <a:r>
              <a:rPr lang="es-ES" sz="2000" b="1" dirty="0" err="1"/>
              <a:t>X1</a:t>
            </a:r>
            <a:r>
              <a:rPr lang="es-ES" sz="2000" b="1" dirty="0"/>
              <a:t>&gt;=5</a:t>
            </a:r>
          </a:p>
          <a:p>
            <a:r>
              <a:rPr lang="es-ES" sz="2000" b="1" dirty="0" err="1"/>
              <a:t>X1</a:t>
            </a:r>
            <a:r>
              <a:rPr lang="es-ES" sz="2000" b="1" dirty="0"/>
              <a:t>&lt;=12</a:t>
            </a:r>
          </a:p>
          <a:p>
            <a:r>
              <a:rPr lang="es-ES" sz="2000" b="1" dirty="0" err="1"/>
              <a:t>X2</a:t>
            </a:r>
            <a:r>
              <a:rPr lang="es-ES" sz="2000" b="1" dirty="0"/>
              <a:t>&gt;=6</a:t>
            </a:r>
          </a:p>
          <a:p>
            <a:r>
              <a:rPr lang="es-ES" sz="2000" b="1" dirty="0" err="1"/>
              <a:t>X2</a:t>
            </a:r>
            <a:r>
              <a:rPr lang="es-ES" sz="2000" b="1" dirty="0"/>
              <a:t>&lt;=10</a:t>
            </a:r>
          </a:p>
        </p:txBody>
      </p:sp>
      <p:sp>
        <p:nvSpPr>
          <p:cNvPr id="10" name="CuadroTexto 9">
            <a:extLst>
              <a:ext uri="{FF2B5EF4-FFF2-40B4-BE49-F238E27FC236}">
                <a16:creationId xmlns:a16="http://schemas.microsoft.com/office/drawing/2014/main" id="{EE10EF0F-977B-09E1-BEE8-9BD0B14FD762}"/>
              </a:ext>
            </a:extLst>
          </p:cNvPr>
          <p:cNvSpPr txBox="1"/>
          <p:nvPr/>
        </p:nvSpPr>
        <p:spPr>
          <a:xfrm>
            <a:off x="-1" y="1291775"/>
            <a:ext cx="6778171" cy="5509200"/>
          </a:xfrm>
          <a:prstGeom prst="rect">
            <a:avLst/>
          </a:prstGeom>
          <a:noFill/>
        </p:spPr>
        <p:txBody>
          <a:bodyPr wrap="square">
            <a:spAutoFit/>
          </a:bodyPr>
          <a:lstStyle/>
          <a:p>
            <a:pPr lvl="0" algn="just" rtl="0"/>
            <a:r>
              <a:rPr lang="es-PE" sz="2200" b="1" dirty="0">
                <a:latin typeface="Arial Narrow" panose="020B0606020202030204" pitchFamily="34" charset="0"/>
              </a:rPr>
              <a:t>Miguel Ángel, debe trabajar por lo menos 20 horas a la semana para complementar su ingreso mientras asiste a la Universidad. Tiene la oportunidad de trabajar en dos tiendas al detalle: en la tienda 1 puede trabajar entre 5 y 12 horas a la semana y en la tienda 2 le permiten trabajar entre 6 y 10 horas. Ambas tiendas pagan el mismo salario por hora. De manera que Miguel Ángel quiere basar su decisión acerca de cuántas horas debe trabajar en cada tienda en un criterio diferente: el factor del estrés en el trabajo. Basándose en entrevistas con los empleados actuales, Miguel Ángel calcula que, en una escala de 1 a 10, los factores del estrés son de 8 y 6 en las tiendas 1 y 2 respectivamente. Debido a que el estrés aumenta por hora, el supone que el estrés total al final de la semana es proporcional al número de horas que trabaja en la tienda. ¿Cuántas horas debe trabajar en cada tienda? Use el método gráfico.</a:t>
            </a:r>
            <a:endParaRPr lang="es-ES" sz="2200" b="1" dirty="0">
              <a:latin typeface="Arial Narrow" panose="020B0606020202030204" pitchFamily="34" charset="0"/>
            </a:endParaRPr>
          </a:p>
        </p:txBody>
      </p:sp>
    </p:spTree>
    <p:extLst>
      <p:ext uri="{BB962C8B-B14F-4D97-AF65-F5344CB8AC3E}">
        <p14:creationId xmlns:p14="http://schemas.microsoft.com/office/powerpoint/2010/main" val="180058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 name="CustomShape 6"/>
          <p:cNvSpPr/>
          <p:nvPr/>
        </p:nvSpPr>
        <p:spPr>
          <a:xfrm>
            <a:off x="1055440" y="6307160"/>
            <a:ext cx="3762720" cy="2160"/>
          </a:xfrm>
          <a:custGeom>
            <a:avLst/>
            <a:gdLst/>
            <a:ahLst/>
            <a:cxnLst/>
            <a:rect l="l" t="t" r="r" b="b"/>
            <a:pathLst>
              <a:path w="21600" h="21600">
                <a:moveTo>
                  <a:pt x="0" y="0"/>
                </a:moveTo>
                <a:lnTo>
                  <a:pt x="21600" y="21600"/>
                </a:lnTo>
              </a:path>
            </a:pathLst>
          </a:custGeom>
          <a:noFill/>
          <a:ln w="38160">
            <a:solidFill>
              <a:srgbClr val="FF0000"/>
            </a:solidFill>
            <a:round/>
            <a:tailEnd type="triangle" w="med" len="med"/>
          </a:ln>
        </p:spPr>
        <p:style>
          <a:lnRef idx="1">
            <a:schemeClr val="accent1"/>
          </a:lnRef>
          <a:fillRef idx="0">
            <a:schemeClr val="accent1"/>
          </a:fillRef>
          <a:effectRef idx="0">
            <a:schemeClr val="accent1"/>
          </a:effectRef>
          <a:fontRef idx="minor"/>
        </p:style>
        <p:txBody>
          <a:bodyPr/>
          <a:lstStyle/>
          <a:p>
            <a:endParaRPr lang="es-PE"/>
          </a:p>
        </p:txBody>
      </p:sp>
      <p:sp>
        <p:nvSpPr>
          <p:cNvPr id="927" name="CustomShape 9"/>
          <p:cNvSpPr/>
          <p:nvPr/>
        </p:nvSpPr>
        <p:spPr>
          <a:xfrm>
            <a:off x="2674200" y="5223960"/>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2</a:t>
            </a:r>
          </a:p>
        </p:txBody>
      </p:sp>
      <p:sp>
        <p:nvSpPr>
          <p:cNvPr id="929" name="CustomShape 11"/>
          <p:cNvSpPr/>
          <p:nvPr/>
        </p:nvSpPr>
        <p:spPr>
          <a:xfrm>
            <a:off x="4672560" y="6174360"/>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s-PE" b="1" spc="-1" dirty="0">
                <a:solidFill>
                  <a:schemeClr val="bg1"/>
                </a:solidFill>
                <a:latin typeface="Arial"/>
                <a:ea typeface="DejaVu Sans"/>
              </a:rPr>
              <a:t>5</a:t>
            </a:r>
          </a:p>
        </p:txBody>
      </p:sp>
      <p:sp>
        <p:nvSpPr>
          <p:cNvPr id="930" name="CustomShape 12"/>
          <p:cNvSpPr/>
          <p:nvPr/>
        </p:nvSpPr>
        <p:spPr>
          <a:xfrm>
            <a:off x="2674200" y="4859640"/>
            <a:ext cx="22536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s-PE" b="1" spc="-1" dirty="0">
                <a:solidFill>
                  <a:schemeClr val="bg1"/>
                </a:solidFill>
                <a:latin typeface="Arial"/>
                <a:ea typeface="DejaVu Sans"/>
              </a:rPr>
              <a:t>3</a:t>
            </a:r>
            <a:endParaRPr lang="es-PE" spc="-1" dirty="0">
              <a:solidFill>
                <a:schemeClr val="bg1"/>
              </a:solidFill>
              <a:latin typeface="Arial"/>
            </a:endParaRPr>
          </a:p>
        </p:txBody>
      </p:sp>
      <p:graphicFrame>
        <p:nvGraphicFramePr>
          <p:cNvPr id="934" name="Table 16"/>
          <p:cNvGraphicFramePr/>
          <p:nvPr>
            <p:extLst>
              <p:ext uri="{D42A27DB-BD31-4B8C-83A1-F6EECF244321}">
                <p14:modId xmlns:p14="http://schemas.microsoft.com/office/powerpoint/2010/main" val="3468007097"/>
              </p:ext>
            </p:extLst>
          </p:nvPr>
        </p:nvGraphicFramePr>
        <p:xfrm>
          <a:off x="7680176" y="1247583"/>
          <a:ext cx="4511824" cy="3054805"/>
        </p:xfrm>
        <a:graphic>
          <a:graphicData uri="http://schemas.openxmlformats.org/drawingml/2006/table">
            <a:tbl>
              <a:tblPr/>
              <a:tblGrid>
                <a:gridCol w="4511824">
                  <a:extLst>
                    <a:ext uri="{9D8B030D-6E8A-4147-A177-3AD203B41FA5}">
                      <a16:colId xmlns:a16="http://schemas.microsoft.com/office/drawing/2014/main" val="20000"/>
                    </a:ext>
                  </a:extLst>
                </a:gridCol>
              </a:tblGrid>
              <a:tr h="3054805">
                <a:tc>
                  <a:txBody>
                    <a:bodyPr/>
                    <a:lstStyle/>
                    <a:p>
                      <a:pPr marL="631800" indent="-631080">
                        <a:lnSpc>
                          <a:spcPct val="100000"/>
                        </a:lnSpc>
                      </a:pPr>
                      <a:r>
                        <a:rPr lang="es-PE" sz="2400" b="0" strike="noStrike" spc="-1" dirty="0">
                          <a:solidFill>
                            <a:schemeClr val="bg2">
                              <a:lumMod val="10000"/>
                            </a:schemeClr>
                          </a:solidFill>
                          <a:latin typeface="Arial Narrow" panose="020B0606020202030204" pitchFamily="34" charset="0"/>
                        </a:rPr>
                        <a:t>SOLUCIÓN</a:t>
                      </a:r>
                    </a:p>
                    <a:p>
                      <a:pPr marL="631800" indent="-631080">
                        <a:lnSpc>
                          <a:spcPct val="100000"/>
                        </a:lnSpc>
                      </a:pPr>
                      <a:r>
                        <a:rPr lang="es-PE" sz="2400" b="0" strike="noStrike" spc="-1" dirty="0">
                          <a:solidFill>
                            <a:schemeClr val="bg2">
                              <a:lumMod val="10000"/>
                            </a:schemeClr>
                          </a:solidFill>
                          <a:latin typeface="Arial Narrow" panose="020B0606020202030204" pitchFamily="34" charset="0"/>
                        </a:rPr>
                        <a:t>PASO 1: Graficando las restricciones:</a:t>
                      </a:r>
                    </a:p>
                    <a:p>
                      <a:pPr marL="343080" indent="-342360">
                        <a:lnSpc>
                          <a:spcPct val="100000"/>
                        </a:lnSpc>
                      </a:pPr>
                      <a:r>
                        <a:rPr lang="es-PE" sz="2400" spc="-1" dirty="0">
                          <a:solidFill>
                            <a:schemeClr val="bg2">
                              <a:lumMod val="10000"/>
                            </a:schemeClr>
                          </a:solidFill>
                          <a:latin typeface="Arial Narrow" panose="020B0606020202030204" pitchFamily="34" charset="0"/>
                        </a:rPr>
                        <a:t>1)  Graficando las Restricciones</a:t>
                      </a:r>
                    </a:p>
                    <a:p>
                      <a:pPr marL="343080" indent="-342360">
                        <a:lnSpc>
                          <a:spcPct val="100000"/>
                        </a:lnSpc>
                      </a:pPr>
                      <a:r>
                        <a:rPr lang="es-PE" sz="2400" spc="-1" dirty="0">
                          <a:solidFill>
                            <a:schemeClr val="bg2">
                              <a:lumMod val="10000"/>
                            </a:schemeClr>
                          </a:solidFill>
                          <a:latin typeface="Arial Narrow" panose="020B0606020202030204" pitchFamily="34" charset="0"/>
                        </a:rPr>
                        <a:t>	</a:t>
                      </a:r>
                      <a:r>
                        <a:rPr lang="es-ES" sz="2400" b="1" dirty="0" err="1">
                          <a:latin typeface="Arial Narrow" panose="020B0606020202030204" pitchFamily="34" charset="0"/>
                        </a:rPr>
                        <a:t>X1+X2</a:t>
                      </a:r>
                      <a:r>
                        <a:rPr lang="es-ES" sz="2400" b="1" dirty="0">
                          <a:latin typeface="Arial Narrow" panose="020B0606020202030204" pitchFamily="34" charset="0"/>
                        </a:rPr>
                        <a:t> =20</a:t>
                      </a:r>
                      <a:r>
                        <a:rPr lang="es-PE" sz="2400" spc="-1" dirty="0">
                          <a:solidFill>
                            <a:schemeClr val="bg2">
                              <a:lumMod val="10000"/>
                            </a:schemeClr>
                          </a:solidFill>
                          <a:latin typeface="Arial Narrow" panose="020B0606020202030204" pitchFamily="34" charset="0"/>
                        </a:rPr>
                        <a:t>         (I) 	</a:t>
                      </a:r>
                    </a:p>
                    <a:p>
                      <a:pPr marL="343080" marR="0" indent="-342360" algn="l" defTabSz="914400" rtl="0" eaLnBrk="1" fontAlgn="auto" latinLnBrk="0" hangingPunct="1">
                        <a:lnSpc>
                          <a:spcPct val="100000"/>
                        </a:lnSpc>
                        <a:spcBef>
                          <a:spcPts val="0"/>
                        </a:spcBef>
                        <a:spcAft>
                          <a:spcPts val="0"/>
                        </a:spcAft>
                        <a:buClrTx/>
                        <a:buSzTx/>
                        <a:buFontTx/>
                        <a:buNone/>
                        <a:tabLst/>
                        <a:defRPr/>
                      </a:pPr>
                      <a:r>
                        <a:rPr lang="es-PE" sz="2400" spc="-1" dirty="0">
                          <a:solidFill>
                            <a:schemeClr val="bg2">
                              <a:lumMod val="10000"/>
                            </a:schemeClr>
                          </a:solidFill>
                          <a:latin typeface="Arial Narrow" panose="020B0606020202030204" pitchFamily="34" charset="0"/>
                        </a:rPr>
                        <a:t>	</a:t>
                      </a:r>
                      <a:r>
                        <a:rPr lang="es-ES" sz="2400" b="1" dirty="0" err="1">
                          <a:latin typeface="Arial Narrow" panose="020B0606020202030204" pitchFamily="34" charset="0"/>
                        </a:rPr>
                        <a:t>X1</a:t>
                      </a:r>
                      <a:r>
                        <a:rPr lang="es-ES" sz="2400" b="1" dirty="0">
                          <a:latin typeface="Arial Narrow" panose="020B0606020202030204" pitchFamily="34" charset="0"/>
                        </a:rPr>
                        <a:t>=5</a:t>
                      </a:r>
                      <a:r>
                        <a:rPr lang="es-PE" sz="2400" spc="-1" dirty="0">
                          <a:solidFill>
                            <a:schemeClr val="bg2">
                              <a:lumMod val="10000"/>
                            </a:schemeClr>
                          </a:solidFill>
                          <a:latin typeface="Arial Narrow" panose="020B0606020202030204" pitchFamily="34" charset="0"/>
                        </a:rPr>
                        <a:t>	     (II)</a:t>
                      </a:r>
                    </a:p>
                    <a:p>
                      <a:pPr>
                        <a:lnSpc>
                          <a:spcPct val="100000"/>
                        </a:lnSpc>
                      </a:pPr>
                      <a:r>
                        <a:rPr lang="es-PE" sz="2400" spc="-1" dirty="0">
                          <a:solidFill>
                            <a:schemeClr val="bg2">
                              <a:lumMod val="10000"/>
                            </a:schemeClr>
                          </a:solidFill>
                          <a:latin typeface="Arial Narrow" panose="020B0606020202030204" pitchFamily="34" charset="0"/>
                        </a:rPr>
                        <a:t>      </a:t>
                      </a:r>
                      <a:r>
                        <a:rPr lang="es-ES" sz="2400" b="1" dirty="0" err="1">
                          <a:latin typeface="Arial Narrow" panose="020B0606020202030204" pitchFamily="34" charset="0"/>
                        </a:rPr>
                        <a:t>X1</a:t>
                      </a:r>
                      <a:r>
                        <a:rPr lang="es-ES" sz="2400" b="1" dirty="0">
                          <a:latin typeface="Arial Narrow" panose="020B0606020202030204" pitchFamily="34" charset="0"/>
                        </a:rPr>
                        <a:t>=12</a:t>
                      </a:r>
                      <a:r>
                        <a:rPr lang="es-PE" sz="2400" spc="-1" dirty="0">
                          <a:solidFill>
                            <a:schemeClr val="bg2">
                              <a:lumMod val="10000"/>
                            </a:schemeClr>
                          </a:solidFill>
                          <a:latin typeface="Arial Narrow" panose="020B0606020202030204" pitchFamily="34" charset="0"/>
                        </a:rPr>
                        <a:t>		</a:t>
                      </a:r>
                    </a:p>
                    <a:p>
                      <a:pPr marL="343080" marR="0" indent="-342360" algn="l" defTabSz="914400" rtl="0" eaLnBrk="1" fontAlgn="auto" latinLnBrk="0" hangingPunct="1">
                        <a:lnSpc>
                          <a:spcPct val="100000"/>
                        </a:lnSpc>
                        <a:spcBef>
                          <a:spcPts val="0"/>
                        </a:spcBef>
                        <a:spcAft>
                          <a:spcPts val="0"/>
                        </a:spcAft>
                        <a:buClrTx/>
                        <a:buSzTx/>
                        <a:buFontTx/>
                        <a:buNone/>
                        <a:tabLst/>
                        <a:defRPr/>
                      </a:pPr>
                      <a:r>
                        <a:rPr lang="es-PE" sz="2400" spc="-1" dirty="0">
                          <a:solidFill>
                            <a:schemeClr val="bg2">
                              <a:lumMod val="10000"/>
                            </a:schemeClr>
                          </a:solidFill>
                          <a:latin typeface="Arial Narrow" panose="020B0606020202030204" pitchFamily="34" charset="0"/>
                        </a:rPr>
                        <a:t>      </a:t>
                      </a:r>
                      <a:r>
                        <a:rPr lang="es-ES" sz="2400" b="1" dirty="0" err="1">
                          <a:latin typeface="Arial Narrow" panose="020B0606020202030204" pitchFamily="34" charset="0"/>
                        </a:rPr>
                        <a:t>X2</a:t>
                      </a:r>
                      <a:r>
                        <a:rPr lang="es-ES" sz="2400" b="1" dirty="0">
                          <a:latin typeface="Arial Narrow" panose="020B0606020202030204" pitchFamily="34" charset="0"/>
                        </a:rPr>
                        <a:t>=6                   </a:t>
                      </a:r>
                      <a:r>
                        <a:rPr lang="es-ES" sz="2400" b="0" dirty="0">
                          <a:latin typeface="Arial Narrow" panose="020B0606020202030204" pitchFamily="34" charset="0"/>
                        </a:rPr>
                        <a:t>(III)</a:t>
                      </a:r>
                    </a:p>
                    <a:p>
                      <a:pPr marL="343080" marR="0" indent="-342360" algn="l" defTabSz="914400" rtl="0" eaLnBrk="1" fontAlgn="auto" latinLnBrk="0" hangingPunct="1">
                        <a:lnSpc>
                          <a:spcPct val="100000"/>
                        </a:lnSpc>
                        <a:spcBef>
                          <a:spcPts val="0"/>
                        </a:spcBef>
                        <a:spcAft>
                          <a:spcPts val="0"/>
                        </a:spcAft>
                        <a:buClrTx/>
                        <a:buSzTx/>
                        <a:buFontTx/>
                        <a:buNone/>
                        <a:tabLst/>
                        <a:defRPr/>
                      </a:pPr>
                      <a:r>
                        <a:rPr lang="es-ES" sz="2400" b="1" dirty="0">
                          <a:latin typeface="Arial Narrow" panose="020B0606020202030204" pitchFamily="34" charset="0"/>
                        </a:rPr>
                        <a:t>      X2=10</a:t>
                      </a:r>
                    </a:p>
                  </a:txBody>
                  <a:tcPr>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bl>
          </a:graphicData>
        </a:graphic>
      </p:graphicFrame>
      <p:sp>
        <p:nvSpPr>
          <p:cNvPr id="3" name="2 CuadroTexto"/>
          <p:cNvSpPr txBox="1"/>
          <p:nvPr/>
        </p:nvSpPr>
        <p:spPr>
          <a:xfrm>
            <a:off x="1559496" y="6352499"/>
            <a:ext cx="3338423" cy="369332"/>
          </a:xfrm>
          <a:prstGeom prst="rect">
            <a:avLst/>
          </a:prstGeom>
          <a:noFill/>
        </p:spPr>
        <p:txBody>
          <a:bodyPr wrap="square" rtlCol="0">
            <a:spAutoFit/>
          </a:bodyPr>
          <a:lstStyle/>
          <a:p>
            <a:r>
              <a:rPr lang="es-PE" dirty="0"/>
              <a:t>5            10         15         20        </a:t>
            </a:r>
          </a:p>
        </p:txBody>
      </p:sp>
      <p:sp>
        <p:nvSpPr>
          <p:cNvPr id="5" name="4 CuadroTexto"/>
          <p:cNvSpPr txBox="1"/>
          <p:nvPr/>
        </p:nvSpPr>
        <p:spPr>
          <a:xfrm>
            <a:off x="4389987" y="6300028"/>
            <a:ext cx="936106" cy="369332"/>
          </a:xfrm>
          <a:prstGeom prst="rect">
            <a:avLst/>
          </a:prstGeom>
          <a:noFill/>
        </p:spPr>
        <p:txBody>
          <a:bodyPr wrap="square" rtlCol="0">
            <a:spAutoFit/>
          </a:bodyPr>
          <a:lstStyle/>
          <a:p>
            <a:r>
              <a:rPr lang="es-PE" b="1" dirty="0" err="1">
                <a:solidFill>
                  <a:srgbClr val="FF0000"/>
                </a:solidFill>
              </a:rPr>
              <a:t>X1</a:t>
            </a:r>
            <a:endParaRPr lang="es-PE" b="1" dirty="0">
              <a:solidFill>
                <a:srgbClr val="FF0000"/>
              </a:solidFill>
            </a:endParaRPr>
          </a:p>
        </p:txBody>
      </p:sp>
      <p:sp>
        <p:nvSpPr>
          <p:cNvPr id="26" name="25 CuadroTexto"/>
          <p:cNvSpPr txBox="1"/>
          <p:nvPr/>
        </p:nvSpPr>
        <p:spPr>
          <a:xfrm>
            <a:off x="596892" y="2677240"/>
            <a:ext cx="648072" cy="374318"/>
          </a:xfrm>
          <a:prstGeom prst="rect">
            <a:avLst/>
          </a:prstGeom>
          <a:noFill/>
        </p:spPr>
        <p:txBody>
          <a:bodyPr wrap="square" rtlCol="0">
            <a:spAutoFit/>
          </a:bodyPr>
          <a:lstStyle/>
          <a:p>
            <a:r>
              <a:rPr lang="es-PE" b="1" dirty="0" err="1">
                <a:solidFill>
                  <a:srgbClr val="FF0000"/>
                </a:solidFill>
              </a:rPr>
              <a:t>X2</a:t>
            </a:r>
            <a:endParaRPr lang="es-PE" b="1" dirty="0">
              <a:solidFill>
                <a:srgbClr val="FF0000"/>
              </a:solidFill>
            </a:endParaRPr>
          </a:p>
        </p:txBody>
      </p:sp>
      <p:sp>
        <p:nvSpPr>
          <p:cNvPr id="7" name="6 CuadroTexto"/>
          <p:cNvSpPr txBox="1"/>
          <p:nvPr/>
        </p:nvSpPr>
        <p:spPr>
          <a:xfrm>
            <a:off x="580168" y="3244334"/>
            <a:ext cx="475264" cy="369332"/>
          </a:xfrm>
          <a:prstGeom prst="rect">
            <a:avLst/>
          </a:prstGeom>
          <a:noFill/>
        </p:spPr>
        <p:txBody>
          <a:bodyPr wrap="square" rtlCol="0">
            <a:spAutoFit/>
          </a:bodyPr>
          <a:lstStyle>
            <a:defPPr>
              <a:defRPr lang="es-ES"/>
            </a:defPPr>
          </a:lstStyle>
          <a:p>
            <a:r>
              <a:rPr lang="es-PE" dirty="0"/>
              <a:t>20</a:t>
            </a:r>
          </a:p>
        </p:txBody>
      </p:sp>
      <p:sp>
        <p:nvSpPr>
          <p:cNvPr id="4" name="3 CuadroTexto"/>
          <p:cNvSpPr txBox="1"/>
          <p:nvPr/>
        </p:nvSpPr>
        <p:spPr>
          <a:xfrm>
            <a:off x="580169" y="4695778"/>
            <a:ext cx="475264" cy="369332"/>
          </a:xfrm>
          <a:prstGeom prst="rect">
            <a:avLst/>
          </a:prstGeom>
          <a:noFill/>
        </p:spPr>
        <p:txBody>
          <a:bodyPr wrap="square" rtlCol="0">
            <a:spAutoFit/>
          </a:bodyPr>
          <a:lstStyle/>
          <a:p>
            <a:r>
              <a:rPr lang="es-PE" dirty="0"/>
              <a:t>10</a:t>
            </a:r>
          </a:p>
        </p:txBody>
      </p:sp>
      <p:sp>
        <p:nvSpPr>
          <p:cNvPr id="27" name="26 Rectángulo"/>
          <p:cNvSpPr/>
          <p:nvPr/>
        </p:nvSpPr>
        <p:spPr>
          <a:xfrm>
            <a:off x="3508422" y="1182231"/>
            <a:ext cx="2808312" cy="2246769"/>
          </a:xfrm>
          <a:prstGeom prst="rect">
            <a:avLst/>
          </a:prstGeom>
        </p:spPr>
        <p:txBody>
          <a:bodyPr wrap="square">
            <a:spAutoFit/>
          </a:bodyPr>
          <a:lstStyle/>
          <a:p>
            <a:r>
              <a:rPr lang="es-ES" sz="2000" b="1" dirty="0"/>
              <a:t>MIN </a:t>
            </a:r>
            <a:r>
              <a:rPr lang="es-ES" sz="2000" b="1" dirty="0" err="1"/>
              <a:t>8X1+6X2</a:t>
            </a:r>
            <a:endParaRPr lang="es-ES" sz="2000" b="1" dirty="0"/>
          </a:p>
          <a:p>
            <a:r>
              <a:rPr lang="es-ES" sz="2000" b="1" dirty="0"/>
              <a:t>Sujeto a:</a:t>
            </a:r>
          </a:p>
          <a:p>
            <a:r>
              <a:rPr lang="es-ES" sz="2000" b="1" dirty="0" err="1"/>
              <a:t>X1+X2</a:t>
            </a:r>
            <a:r>
              <a:rPr lang="es-ES" sz="2000" b="1" dirty="0"/>
              <a:t> ≥20</a:t>
            </a:r>
          </a:p>
          <a:p>
            <a:r>
              <a:rPr lang="es-ES" sz="2000" b="1" dirty="0"/>
              <a:t>5</a:t>
            </a:r>
            <a:r>
              <a:rPr lang="es-PE" sz="2000" b="1" dirty="0"/>
              <a:t>≤</a:t>
            </a:r>
            <a:r>
              <a:rPr lang="es-ES" sz="2000" b="1" dirty="0" err="1"/>
              <a:t>X1</a:t>
            </a:r>
            <a:r>
              <a:rPr lang="es-PE" sz="2000" b="1" dirty="0"/>
              <a:t>≤</a:t>
            </a:r>
            <a:r>
              <a:rPr lang="es-ES" sz="2000" b="1" dirty="0"/>
              <a:t>12</a:t>
            </a:r>
          </a:p>
          <a:p>
            <a:r>
              <a:rPr lang="es-ES" sz="2000" b="1" dirty="0"/>
              <a:t>6</a:t>
            </a:r>
            <a:r>
              <a:rPr lang="es-PE" sz="2000" b="1" dirty="0"/>
              <a:t>≤</a:t>
            </a:r>
            <a:r>
              <a:rPr lang="es-ES" sz="2000" b="1" dirty="0" err="1"/>
              <a:t>X2</a:t>
            </a:r>
            <a:r>
              <a:rPr lang="es-PE" sz="2000" b="1" dirty="0"/>
              <a:t>≤</a:t>
            </a:r>
            <a:r>
              <a:rPr lang="es-ES" sz="2000" b="1" dirty="0"/>
              <a:t>10</a:t>
            </a:r>
          </a:p>
          <a:p>
            <a:r>
              <a:rPr lang="es-ES" sz="2000" b="1" dirty="0"/>
              <a:t>Xi&gt;=0</a:t>
            </a:r>
          </a:p>
          <a:p>
            <a:endParaRPr lang="es-ES" sz="2000" b="1" dirty="0"/>
          </a:p>
        </p:txBody>
      </p:sp>
      <p:sp>
        <p:nvSpPr>
          <p:cNvPr id="30" name="Line 13"/>
          <p:cNvSpPr/>
          <p:nvPr/>
        </p:nvSpPr>
        <p:spPr>
          <a:xfrm>
            <a:off x="943278" y="5445224"/>
            <a:ext cx="2842783" cy="0"/>
          </a:xfrm>
          <a:prstGeom prst="line">
            <a:avLst/>
          </a:prstGeom>
          <a:ln w="3600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 name="9 Triángulo rectángulo"/>
          <p:cNvSpPr/>
          <p:nvPr/>
        </p:nvSpPr>
        <p:spPr>
          <a:xfrm rot="11005461">
            <a:off x="2448058" y="4853871"/>
            <a:ext cx="184511" cy="143136"/>
          </a:xfrm>
          <a:prstGeom prst="rtTriangl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1" name="Line 3"/>
          <p:cNvSpPr/>
          <p:nvPr/>
        </p:nvSpPr>
        <p:spPr>
          <a:xfrm>
            <a:off x="1766939" y="3429000"/>
            <a:ext cx="8581" cy="3023204"/>
          </a:xfrm>
          <a:prstGeom prst="line">
            <a:avLst/>
          </a:prstGeom>
          <a:ln w="38160">
            <a:solidFill>
              <a:srgbClr val="7030A0"/>
            </a:solidFill>
            <a:round/>
          </a:ln>
        </p:spPr>
        <p:style>
          <a:lnRef idx="0">
            <a:scrgbClr r="0" g="0" b="0"/>
          </a:lnRef>
          <a:fillRef idx="0">
            <a:scrgbClr r="0" g="0" b="0"/>
          </a:fillRef>
          <a:effectRef idx="0">
            <a:scrgbClr r="0" g="0" b="0"/>
          </a:effectRef>
          <a:fontRef idx="minor"/>
        </p:style>
        <p:txBody>
          <a:bodyPr/>
          <a:lstStyle/>
          <a:p>
            <a:endParaRPr lang="es-PE"/>
          </a:p>
        </p:txBody>
      </p:sp>
      <p:sp>
        <p:nvSpPr>
          <p:cNvPr id="931" name="Line 13"/>
          <p:cNvSpPr/>
          <p:nvPr/>
        </p:nvSpPr>
        <p:spPr>
          <a:xfrm>
            <a:off x="1059311" y="3415527"/>
            <a:ext cx="3236489" cy="3253833"/>
          </a:xfrm>
          <a:prstGeom prst="line">
            <a:avLst/>
          </a:prstGeom>
          <a:ln w="36000">
            <a:solidFill>
              <a:srgbClr val="00B050"/>
            </a:solidFill>
            <a:round/>
          </a:ln>
        </p:spPr>
        <p:style>
          <a:lnRef idx="0">
            <a:scrgbClr r="0" g="0" b="0"/>
          </a:lnRef>
          <a:fillRef idx="0">
            <a:scrgbClr r="0" g="0" b="0"/>
          </a:fillRef>
          <a:effectRef idx="0">
            <a:scrgbClr r="0" g="0" b="0"/>
          </a:effectRef>
          <a:fontRef idx="minor"/>
        </p:style>
        <p:txBody>
          <a:bodyPr/>
          <a:lstStyle/>
          <a:p>
            <a:endParaRPr lang="es-PE"/>
          </a:p>
        </p:txBody>
      </p:sp>
      <p:sp>
        <p:nvSpPr>
          <p:cNvPr id="28" name="Line 3"/>
          <p:cNvSpPr/>
          <p:nvPr/>
        </p:nvSpPr>
        <p:spPr>
          <a:xfrm>
            <a:off x="2635745" y="3429000"/>
            <a:ext cx="3871" cy="3036622"/>
          </a:xfrm>
          <a:prstGeom prst="line">
            <a:avLst/>
          </a:prstGeom>
          <a:ln w="38160">
            <a:solidFill>
              <a:srgbClr val="7030A0"/>
            </a:solidFill>
            <a:round/>
          </a:ln>
        </p:spPr>
        <p:style>
          <a:lnRef idx="0">
            <a:scrgbClr r="0" g="0" b="0"/>
          </a:lnRef>
          <a:fillRef idx="0">
            <a:scrgbClr r="0" g="0" b="0"/>
          </a:fillRef>
          <a:effectRef idx="0">
            <a:scrgbClr r="0" g="0" b="0"/>
          </a:effectRef>
          <a:fontRef idx="minor"/>
        </p:style>
        <p:txBody>
          <a:bodyPr/>
          <a:lstStyle/>
          <a:p>
            <a:endParaRPr lang="es-PE"/>
          </a:p>
        </p:txBody>
      </p:sp>
      <p:sp>
        <p:nvSpPr>
          <p:cNvPr id="29" name="Line 13"/>
          <p:cNvSpPr/>
          <p:nvPr/>
        </p:nvSpPr>
        <p:spPr>
          <a:xfrm>
            <a:off x="1026647" y="4869160"/>
            <a:ext cx="2842783" cy="0"/>
          </a:xfrm>
          <a:prstGeom prst="line">
            <a:avLst/>
          </a:prstGeom>
          <a:ln w="3600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 name="Line 8"/>
          <p:cNvSpPr/>
          <p:nvPr/>
        </p:nvSpPr>
        <p:spPr>
          <a:xfrm>
            <a:off x="1026646" y="4017350"/>
            <a:ext cx="1647553" cy="2330829"/>
          </a:xfrm>
          <a:prstGeom prst="line">
            <a:avLst/>
          </a:prstGeom>
          <a:ln w="19050">
            <a:solidFill>
              <a:schemeClr val="tx1"/>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sp>
        <p:nvSpPr>
          <p:cNvPr id="31" name="Rectangle 2">
            <a:extLst>
              <a:ext uri="{FF2B5EF4-FFF2-40B4-BE49-F238E27FC236}">
                <a16:creationId xmlns:a16="http://schemas.microsoft.com/office/drawing/2014/main" id="{B84EA92D-7DBC-4F07-B6FB-DA545EEE85B7}"/>
              </a:ext>
            </a:extLst>
          </p:cNvPr>
          <p:cNvSpPr txBox="1">
            <a:spLocks noChangeArrowheads="1"/>
          </p:cNvSpPr>
          <p:nvPr/>
        </p:nvSpPr>
        <p:spPr>
          <a:xfrm>
            <a:off x="6096000" y="253329"/>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a:solidFill>
                  <a:schemeClr val="bg1"/>
                </a:solidFill>
                <a:latin typeface="Bauhaus 93" pitchFamily="82" charset="0"/>
                <a:ea typeface="+mn-ea"/>
                <a:cs typeface="+mn-cs"/>
              </a:rPr>
              <a:t>Solución</a:t>
            </a:r>
            <a:endParaRPr lang="es-ES" sz="3200" dirty="0">
              <a:solidFill>
                <a:schemeClr val="bg1"/>
              </a:solidFill>
              <a:latin typeface="Bauhaus 93" pitchFamily="82" charset="0"/>
              <a:ea typeface="+mn-ea"/>
              <a:cs typeface="+mn-cs"/>
            </a:endParaRPr>
          </a:p>
        </p:txBody>
      </p:sp>
      <p:cxnSp>
        <p:nvCxnSpPr>
          <p:cNvPr id="6" name="Conector recto de flecha 5">
            <a:extLst>
              <a:ext uri="{FF2B5EF4-FFF2-40B4-BE49-F238E27FC236}">
                <a16:creationId xmlns:a16="http://schemas.microsoft.com/office/drawing/2014/main" id="{86F343C4-2661-423F-98EB-82780FB266A3}"/>
              </a:ext>
            </a:extLst>
          </p:cNvPr>
          <p:cNvCxnSpPr/>
          <p:nvPr/>
        </p:nvCxnSpPr>
        <p:spPr>
          <a:xfrm flipV="1">
            <a:off x="1055440" y="2737808"/>
            <a:ext cx="0" cy="3571512"/>
          </a:xfrm>
          <a:prstGeom prst="straightConnector1">
            <a:avLst/>
          </a:prstGeom>
          <a:noFill/>
          <a:ln w="38160">
            <a:solidFill>
              <a:srgbClr val="FF0000"/>
            </a:solidFill>
            <a:round/>
            <a:tailEnd type="triangle" w="med" len="med"/>
          </a:ln>
        </p:spPr>
        <p:style>
          <a:lnRef idx="1">
            <a:schemeClr val="accent1"/>
          </a:lnRef>
          <a:fillRef idx="0">
            <a:schemeClr val="accent1"/>
          </a:fillRef>
          <a:effectRef idx="0">
            <a:schemeClr val="accent1"/>
          </a:effectRef>
          <a:fontRef idx="minor"/>
        </p:style>
      </p:cxnSp>
      <p:cxnSp>
        <p:nvCxnSpPr>
          <p:cNvPr id="9" name="Conector recto de flecha 8">
            <a:extLst>
              <a:ext uri="{FF2B5EF4-FFF2-40B4-BE49-F238E27FC236}">
                <a16:creationId xmlns:a16="http://schemas.microsoft.com/office/drawing/2014/main" id="{39BEA3B2-6CAB-40EF-AF1D-5CAA03F7FA91}"/>
              </a:ext>
            </a:extLst>
          </p:cNvPr>
          <p:cNvCxnSpPr>
            <a:cxnSpLocks/>
          </p:cNvCxnSpPr>
          <p:nvPr/>
        </p:nvCxnSpPr>
        <p:spPr>
          <a:xfrm flipV="1">
            <a:off x="1502281" y="3644500"/>
            <a:ext cx="201231" cy="216548"/>
          </a:xfrm>
          <a:prstGeom prst="straightConnector1">
            <a:avLst/>
          </a:prstGeom>
          <a:ln w="349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3 CuadroTexto">
            <a:extLst>
              <a:ext uri="{FF2B5EF4-FFF2-40B4-BE49-F238E27FC236}">
                <a16:creationId xmlns:a16="http://schemas.microsoft.com/office/drawing/2014/main" id="{7FF87773-09AB-461A-9291-19ADC9B2F8FF}"/>
              </a:ext>
            </a:extLst>
          </p:cNvPr>
          <p:cNvSpPr txBox="1"/>
          <p:nvPr/>
        </p:nvSpPr>
        <p:spPr>
          <a:xfrm>
            <a:off x="580176" y="3933056"/>
            <a:ext cx="475264" cy="369332"/>
          </a:xfrm>
          <a:prstGeom prst="rect">
            <a:avLst/>
          </a:prstGeom>
          <a:noFill/>
        </p:spPr>
        <p:txBody>
          <a:bodyPr wrap="square" rtlCol="0">
            <a:spAutoFit/>
          </a:bodyPr>
          <a:lstStyle/>
          <a:p>
            <a:r>
              <a:rPr lang="es-PE" dirty="0"/>
              <a:t>15</a:t>
            </a:r>
          </a:p>
        </p:txBody>
      </p:sp>
      <p:sp>
        <p:nvSpPr>
          <p:cNvPr id="33" name="3 CuadroTexto">
            <a:extLst>
              <a:ext uri="{FF2B5EF4-FFF2-40B4-BE49-F238E27FC236}">
                <a16:creationId xmlns:a16="http://schemas.microsoft.com/office/drawing/2014/main" id="{1517EF66-218B-4BFF-8044-F536911C2738}"/>
              </a:ext>
            </a:extLst>
          </p:cNvPr>
          <p:cNvSpPr txBox="1"/>
          <p:nvPr/>
        </p:nvSpPr>
        <p:spPr>
          <a:xfrm>
            <a:off x="683662" y="5435932"/>
            <a:ext cx="342985" cy="369332"/>
          </a:xfrm>
          <a:prstGeom prst="rect">
            <a:avLst/>
          </a:prstGeom>
          <a:noFill/>
        </p:spPr>
        <p:txBody>
          <a:bodyPr wrap="square" rtlCol="0">
            <a:spAutoFit/>
          </a:bodyPr>
          <a:lstStyle/>
          <a:p>
            <a:r>
              <a:rPr lang="es-PE" dirty="0"/>
              <a:t>5</a:t>
            </a:r>
          </a:p>
        </p:txBody>
      </p:sp>
      <p:sp>
        <p:nvSpPr>
          <p:cNvPr id="34" name="Line 8">
            <a:extLst>
              <a:ext uri="{FF2B5EF4-FFF2-40B4-BE49-F238E27FC236}">
                <a16:creationId xmlns:a16="http://schemas.microsoft.com/office/drawing/2014/main" id="{439968FC-7E40-4A06-A4AD-03CA45077808}"/>
              </a:ext>
            </a:extLst>
          </p:cNvPr>
          <p:cNvSpPr/>
          <p:nvPr/>
        </p:nvSpPr>
        <p:spPr>
          <a:xfrm>
            <a:off x="1991544" y="4149080"/>
            <a:ext cx="1647553" cy="2330829"/>
          </a:xfrm>
          <a:prstGeom prst="line">
            <a:avLst/>
          </a:prstGeom>
          <a:ln w="19050">
            <a:solidFill>
              <a:schemeClr val="tx1"/>
            </a:solidFill>
            <a:prstDash val="lgDash"/>
            <a:round/>
          </a:ln>
        </p:spPr>
        <p:style>
          <a:lnRef idx="1">
            <a:schemeClr val="accent1"/>
          </a:lnRef>
          <a:fillRef idx="0">
            <a:schemeClr val="accent1"/>
          </a:fillRef>
          <a:effectRef idx="0">
            <a:schemeClr val="accent1"/>
          </a:effectRef>
          <a:fontRef idx="minor"/>
        </p:style>
        <p:txBody>
          <a:bodyPr/>
          <a:lstStyle/>
          <a:p>
            <a:endParaRPr lang="es-PE"/>
          </a:p>
        </p:txBody>
      </p:sp>
      <p:cxnSp>
        <p:nvCxnSpPr>
          <p:cNvPr id="12" name="Conector recto de flecha 11">
            <a:extLst>
              <a:ext uri="{FF2B5EF4-FFF2-40B4-BE49-F238E27FC236}">
                <a16:creationId xmlns:a16="http://schemas.microsoft.com/office/drawing/2014/main" id="{DC8B1AB1-5A4D-4DEE-80D2-E150DADBC645}"/>
              </a:ext>
            </a:extLst>
          </p:cNvPr>
          <p:cNvCxnSpPr>
            <a:cxnSpLocks/>
          </p:cNvCxnSpPr>
          <p:nvPr/>
        </p:nvCxnSpPr>
        <p:spPr>
          <a:xfrm>
            <a:off x="1775520" y="4495702"/>
            <a:ext cx="144015" cy="13418"/>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E30ADAA6-CD45-4C4B-B03F-A23AFFD56CB5}"/>
              </a:ext>
            </a:extLst>
          </p:cNvPr>
          <p:cNvCxnSpPr>
            <a:cxnSpLocks/>
          </p:cNvCxnSpPr>
          <p:nvPr/>
        </p:nvCxnSpPr>
        <p:spPr>
          <a:xfrm flipH="1" flipV="1">
            <a:off x="2495599" y="4495702"/>
            <a:ext cx="144017" cy="13418"/>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A3F4FA83-EB68-4AEB-8B24-4282544DB10A}"/>
              </a:ext>
            </a:extLst>
          </p:cNvPr>
          <p:cNvCxnSpPr/>
          <p:nvPr/>
        </p:nvCxnSpPr>
        <p:spPr>
          <a:xfrm>
            <a:off x="3647728" y="4887087"/>
            <a:ext cx="0" cy="1980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ECA5C858-76B3-4847-B4B4-E524E3A89718}"/>
              </a:ext>
            </a:extLst>
          </p:cNvPr>
          <p:cNvCxnSpPr>
            <a:cxnSpLocks/>
          </p:cNvCxnSpPr>
          <p:nvPr/>
        </p:nvCxnSpPr>
        <p:spPr>
          <a:xfrm flipV="1">
            <a:off x="3647728" y="5229200"/>
            <a:ext cx="0" cy="2150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4AEAAE80-5CE7-4D69-B8CA-C7B2A8C02054}"/>
              </a:ext>
            </a:extLst>
          </p:cNvPr>
          <p:cNvCxnSpPr>
            <a:cxnSpLocks/>
          </p:cNvCxnSpPr>
          <p:nvPr/>
        </p:nvCxnSpPr>
        <p:spPr>
          <a:xfrm flipV="1">
            <a:off x="2495601" y="4893875"/>
            <a:ext cx="0" cy="14380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CF745DC7-0D97-4F5C-BF12-3B0C8A9AF46E}"/>
              </a:ext>
            </a:extLst>
          </p:cNvPr>
          <p:cNvSpPr txBox="1"/>
          <p:nvPr/>
        </p:nvSpPr>
        <p:spPr>
          <a:xfrm>
            <a:off x="4952276" y="4902532"/>
            <a:ext cx="2624963" cy="1938992"/>
          </a:xfrm>
          <a:prstGeom prst="rect">
            <a:avLst/>
          </a:prstGeom>
          <a:noFill/>
        </p:spPr>
        <p:txBody>
          <a:bodyPr wrap="square" rtlCol="0">
            <a:spAutoFit/>
          </a:bodyPr>
          <a:lstStyle/>
          <a:p>
            <a:r>
              <a:rPr lang="es-ES" sz="2400" dirty="0"/>
              <a:t>La solución optima es la intersección</a:t>
            </a:r>
          </a:p>
          <a:p>
            <a:r>
              <a:rPr lang="es-ES" sz="2400" dirty="0" err="1"/>
              <a:t>X1+X2</a:t>
            </a:r>
            <a:r>
              <a:rPr lang="es-ES" sz="2400" dirty="0"/>
              <a:t>=20    (i)</a:t>
            </a:r>
          </a:p>
          <a:p>
            <a:r>
              <a:rPr lang="es-ES" sz="2400" u="sng" dirty="0"/>
              <a:t>       </a:t>
            </a:r>
            <a:r>
              <a:rPr lang="es-ES" sz="2400" u="sng" dirty="0" err="1"/>
              <a:t>X2</a:t>
            </a:r>
            <a:r>
              <a:rPr lang="es-ES" sz="2400" u="sng" dirty="0"/>
              <a:t>=10    (</a:t>
            </a:r>
            <a:r>
              <a:rPr lang="es-ES" sz="2400" u="sng" dirty="0" err="1"/>
              <a:t>ii</a:t>
            </a:r>
            <a:r>
              <a:rPr lang="es-ES" sz="2400" u="sng" dirty="0"/>
              <a:t>)</a:t>
            </a:r>
          </a:p>
          <a:p>
            <a:r>
              <a:rPr lang="es-ES" sz="2400" dirty="0" err="1"/>
              <a:t>ii</a:t>
            </a:r>
            <a:r>
              <a:rPr lang="es-ES" sz="2400" dirty="0"/>
              <a:t> en i      </a:t>
            </a:r>
            <a:r>
              <a:rPr lang="es-ES" sz="2400" dirty="0" err="1"/>
              <a:t>X1</a:t>
            </a:r>
            <a:r>
              <a:rPr lang="es-ES" sz="2400" dirty="0"/>
              <a:t>=10</a:t>
            </a:r>
            <a:endParaRPr lang="es-PE" sz="2400" dirty="0"/>
          </a:p>
        </p:txBody>
      </p:sp>
      <p:sp>
        <p:nvSpPr>
          <p:cNvPr id="11" name="CuadroTexto 10">
            <a:extLst>
              <a:ext uri="{FF2B5EF4-FFF2-40B4-BE49-F238E27FC236}">
                <a16:creationId xmlns:a16="http://schemas.microsoft.com/office/drawing/2014/main" id="{82654882-27F5-3116-8838-702A7CE49C9F}"/>
              </a:ext>
            </a:extLst>
          </p:cNvPr>
          <p:cNvSpPr txBox="1"/>
          <p:nvPr/>
        </p:nvSpPr>
        <p:spPr>
          <a:xfrm>
            <a:off x="7680176" y="4179344"/>
            <a:ext cx="4511824" cy="1569660"/>
          </a:xfrm>
          <a:prstGeom prst="rect">
            <a:avLst/>
          </a:prstGeom>
          <a:solidFill>
            <a:schemeClr val="accent4">
              <a:lumMod val="20000"/>
              <a:lumOff val="80000"/>
            </a:schemeClr>
          </a:solidFill>
        </p:spPr>
        <p:txBody>
          <a:bodyPr wrap="square">
            <a:spAutoFit/>
          </a:bodyPr>
          <a:lstStyle/>
          <a:p>
            <a:pPr marL="343080" indent="-342360">
              <a:lnSpc>
                <a:spcPct val="100000"/>
              </a:lnSpc>
            </a:pPr>
            <a:r>
              <a:rPr lang="es-PE" sz="2400" spc="-1" dirty="0">
                <a:solidFill>
                  <a:schemeClr val="bg2">
                    <a:lumMod val="10000"/>
                  </a:schemeClr>
                </a:solidFill>
                <a:latin typeface="Arial Narrow" panose="020B0606020202030204" pitchFamily="34" charset="0"/>
              </a:rPr>
              <a:t>3) Graficando la Función Objetivo</a:t>
            </a:r>
          </a:p>
          <a:p>
            <a:pPr marL="343080" marR="0" indent="-342360" algn="l" defTabSz="914400" rtl="0" eaLnBrk="1" fontAlgn="auto" latinLnBrk="0" hangingPunct="1">
              <a:lnSpc>
                <a:spcPct val="100000"/>
              </a:lnSpc>
              <a:spcBef>
                <a:spcPts val="0"/>
              </a:spcBef>
              <a:spcAft>
                <a:spcPts val="0"/>
              </a:spcAft>
              <a:buClrTx/>
              <a:buSzTx/>
              <a:buFontTx/>
              <a:buNone/>
              <a:tabLst/>
              <a:defRPr/>
            </a:pPr>
            <a:r>
              <a:rPr lang="es-PE" sz="2400" spc="-1" dirty="0">
                <a:solidFill>
                  <a:schemeClr val="bg2">
                    <a:lumMod val="10000"/>
                  </a:schemeClr>
                </a:solidFill>
                <a:latin typeface="Arial Narrow" panose="020B0606020202030204" pitchFamily="34" charset="0"/>
              </a:rPr>
              <a:t>	</a:t>
            </a:r>
            <a:r>
              <a:rPr lang="es-ES" sz="2400" b="1" dirty="0">
                <a:latin typeface="Arial Narrow" panose="020B0606020202030204" pitchFamily="34" charset="0"/>
              </a:rPr>
              <a:t>8X1+6X2 </a:t>
            </a:r>
            <a:r>
              <a:rPr lang="es-PE" sz="2400" spc="-1" dirty="0">
                <a:solidFill>
                  <a:schemeClr val="bg2">
                    <a:lumMod val="10000"/>
                  </a:schemeClr>
                </a:solidFill>
                <a:latin typeface="Arial Narrow" panose="020B0606020202030204" pitchFamily="34" charset="0"/>
              </a:rPr>
              <a:t>= </a:t>
            </a:r>
            <a:r>
              <a:rPr lang="es-PE" sz="2400" spc="-1" dirty="0">
                <a:solidFill>
                  <a:srgbClr val="FF0000"/>
                </a:solidFill>
                <a:latin typeface="Arial Narrow" panose="020B0606020202030204" pitchFamily="34" charset="0"/>
              </a:rPr>
              <a:t>96</a:t>
            </a:r>
            <a:r>
              <a:rPr lang="es-PE" sz="2400" spc="-1" dirty="0">
                <a:solidFill>
                  <a:schemeClr val="bg2">
                    <a:lumMod val="10000"/>
                  </a:schemeClr>
                </a:solidFill>
                <a:latin typeface="Arial Narrow" panose="020B0606020202030204" pitchFamily="34" charset="0"/>
              </a:rPr>
              <a:t> 		</a:t>
            </a:r>
          </a:p>
          <a:p>
            <a:pPr marL="343080" indent="-342360">
              <a:lnSpc>
                <a:spcPct val="100000"/>
              </a:lnSpc>
            </a:pPr>
            <a:r>
              <a:rPr lang="es-PE" sz="2400" spc="-1" dirty="0">
                <a:solidFill>
                  <a:schemeClr val="bg2">
                    <a:lumMod val="10000"/>
                  </a:schemeClr>
                </a:solidFill>
                <a:latin typeface="Arial Narrow" panose="020B0606020202030204" pitchFamily="34" charset="0"/>
              </a:rPr>
              <a:t>	Si X1 = 0 </a:t>
            </a:r>
            <a:r>
              <a:rPr lang="es-PE" sz="2400" spc="-1" dirty="0">
                <a:solidFill>
                  <a:schemeClr val="bg2">
                    <a:lumMod val="10000"/>
                  </a:schemeClr>
                </a:solidFill>
                <a:latin typeface="Arial Narrow" panose="020B0606020202030204" pitchFamily="34" charset="0"/>
                <a:sym typeface="Wingdings" panose="05000000000000000000" pitchFamily="2" charset="2"/>
              </a:rPr>
              <a:t></a:t>
            </a:r>
            <a:r>
              <a:rPr lang="es-PE" sz="2400" spc="-1" dirty="0">
                <a:solidFill>
                  <a:schemeClr val="bg2">
                    <a:lumMod val="10000"/>
                  </a:schemeClr>
                </a:solidFill>
                <a:latin typeface="Arial Narrow" panose="020B0606020202030204" pitchFamily="34" charset="0"/>
              </a:rPr>
              <a:t> X2 = 16</a:t>
            </a:r>
          </a:p>
          <a:p>
            <a:pPr marL="343080" indent="-342360">
              <a:lnSpc>
                <a:spcPct val="100000"/>
              </a:lnSpc>
            </a:pPr>
            <a:r>
              <a:rPr lang="es-PE" sz="2400" spc="-1" dirty="0">
                <a:solidFill>
                  <a:schemeClr val="bg2">
                    <a:lumMod val="10000"/>
                  </a:schemeClr>
                </a:solidFill>
                <a:latin typeface="Arial Narrow" panose="020B0606020202030204" pitchFamily="34" charset="0"/>
              </a:rPr>
              <a:t>	Si X2 = 0 </a:t>
            </a:r>
            <a:r>
              <a:rPr lang="es-PE" sz="2400" spc="-1" dirty="0">
                <a:solidFill>
                  <a:schemeClr val="bg2">
                    <a:lumMod val="10000"/>
                  </a:schemeClr>
                </a:solidFill>
                <a:latin typeface="Arial Narrow" panose="020B0606020202030204" pitchFamily="34" charset="0"/>
                <a:sym typeface="Wingdings" panose="05000000000000000000" pitchFamily="2" charset="2"/>
              </a:rPr>
              <a:t></a:t>
            </a:r>
            <a:r>
              <a:rPr lang="es-PE" sz="2400" spc="-1" dirty="0">
                <a:solidFill>
                  <a:schemeClr val="bg2">
                    <a:lumMod val="10000"/>
                  </a:schemeClr>
                </a:solidFill>
                <a:latin typeface="Arial Narrow" panose="020B0606020202030204" pitchFamily="34" charset="0"/>
              </a:rPr>
              <a:t> X1 = 12</a:t>
            </a:r>
          </a:p>
        </p:txBody>
      </p:sp>
      <p:sp>
        <p:nvSpPr>
          <p:cNvPr id="15" name="CuadroTexto 14">
            <a:extLst>
              <a:ext uri="{FF2B5EF4-FFF2-40B4-BE49-F238E27FC236}">
                <a16:creationId xmlns:a16="http://schemas.microsoft.com/office/drawing/2014/main" id="{C33F7446-B3CA-E0FF-D80C-34E332EB9C8D}"/>
              </a:ext>
            </a:extLst>
          </p:cNvPr>
          <p:cNvSpPr txBox="1"/>
          <p:nvPr/>
        </p:nvSpPr>
        <p:spPr>
          <a:xfrm>
            <a:off x="7680176" y="5673902"/>
            <a:ext cx="4482794" cy="1200329"/>
          </a:xfrm>
          <a:prstGeom prst="rect">
            <a:avLst/>
          </a:prstGeom>
          <a:solidFill>
            <a:schemeClr val="accent4">
              <a:lumMod val="20000"/>
              <a:lumOff val="80000"/>
            </a:schemeClr>
          </a:solidFill>
        </p:spPr>
        <p:txBody>
          <a:bodyPr wrap="square">
            <a:spAutoFit/>
          </a:bodyPr>
          <a:lstStyle/>
          <a:p>
            <a:pPr marL="343080" indent="-342360">
              <a:lnSpc>
                <a:spcPct val="100000"/>
              </a:lnSpc>
            </a:pPr>
            <a:r>
              <a:rPr lang="es-ES" sz="2400" spc="-1" dirty="0">
                <a:solidFill>
                  <a:schemeClr val="bg2">
                    <a:lumMod val="10000"/>
                  </a:schemeClr>
                </a:solidFill>
                <a:latin typeface="Arial Narrow" panose="020B0606020202030204" pitchFamily="34" charset="0"/>
              </a:rPr>
              <a:t>4) Hallando la solución</a:t>
            </a:r>
            <a:r>
              <a:rPr lang="es-ES" sz="2400" spc="-1" baseline="0" dirty="0">
                <a:solidFill>
                  <a:schemeClr val="bg2">
                    <a:lumMod val="10000"/>
                  </a:schemeClr>
                </a:solidFill>
                <a:latin typeface="Arial Narrow" panose="020B0606020202030204" pitchFamily="34" charset="0"/>
              </a:rPr>
              <a:t> óptima:</a:t>
            </a:r>
          </a:p>
          <a:p>
            <a:pPr marL="343080" indent="-342360">
              <a:lnSpc>
                <a:spcPct val="100000"/>
              </a:lnSpc>
            </a:pPr>
            <a:r>
              <a:rPr lang="es-ES" sz="2400" spc="-1" baseline="0" dirty="0">
                <a:solidFill>
                  <a:schemeClr val="bg2">
                    <a:lumMod val="10000"/>
                  </a:schemeClr>
                </a:solidFill>
                <a:latin typeface="Arial Narrow" panose="020B0606020202030204" pitchFamily="34" charset="0"/>
              </a:rPr>
              <a:t>Del gráfico la S. O. es X1=10 y X2=10</a:t>
            </a:r>
          </a:p>
          <a:p>
            <a:pPr marL="343080" indent="-342360">
              <a:lnSpc>
                <a:spcPct val="100000"/>
              </a:lnSpc>
            </a:pPr>
            <a:r>
              <a:rPr lang="es-ES" sz="2400" spc="-1" baseline="0" dirty="0">
                <a:solidFill>
                  <a:schemeClr val="bg2">
                    <a:lumMod val="10000"/>
                  </a:schemeClr>
                </a:solidFill>
                <a:latin typeface="Arial Narrow" panose="020B0606020202030204" pitchFamily="34" charset="0"/>
              </a:rPr>
              <a:t>Z=8(10)+6(10)=140</a:t>
            </a:r>
            <a:endParaRPr lang="es-PE" sz="2400" spc="-1" dirty="0">
              <a:solidFill>
                <a:schemeClr val="bg2">
                  <a:lumMod val="10000"/>
                </a:schemeClr>
              </a:solidFill>
              <a:latin typeface="Arial Narrow" panose="020B0606020202030204" pitchFamily="34" charset="0"/>
            </a:endParaRPr>
          </a:p>
        </p:txBody>
      </p:sp>
    </p:spTree>
    <p:extLst>
      <p:ext uri="{BB962C8B-B14F-4D97-AF65-F5344CB8AC3E}">
        <p14:creationId xmlns:p14="http://schemas.microsoft.com/office/powerpoint/2010/main" val="331478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p:bldP spid="11"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 name="CustomShape 1"/>
          <p:cNvSpPr/>
          <p:nvPr/>
        </p:nvSpPr>
        <p:spPr>
          <a:xfrm>
            <a:off x="1915465" y="287114"/>
            <a:ext cx="2367430" cy="6516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ctr"/>
            <a:r>
              <a:rPr lang="es-PE" sz="2800" dirty="0">
                <a:solidFill>
                  <a:srgbClr val="FF0000"/>
                </a:solidFill>
                <a:latin typeface="Bauhaus 93" pitchFamily="82" charset="0"/>
              </a:rPr>
              <a:t>Dieta Marina	</a:t>
            </a:r>
          </a:p>
        </p:txBody>
      </p:sp>
      <p:sp>
        <p:nvSpPr>
          <p:cNvPr id="1376" name="CustomShape 2"/>
          <p:cNvSpPr/>
          <p:nvPr/>
        </p:nvSpPr>
        <p:spPr>
          <a:xfrm>
            <a:off x="219144" y="1379009"/>
            <a:ext cx="5777617" cy="2560319"/>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marL="720" algn="just">
              <a:spcBef>
                <a:spcPts val="561"/>
              </a:spcBef>
              <a:buClr>
                <a:srgbClr val="5AD9F2"/>
              </a:buClr>
            </a:pPr>
            <a:r>
              <a:rPr lang="es-PE" sz="2400" b="1" spc="-1" dirty="0">
                <a:latin typeface="Arial Narrow"/>
              </a:rPr>
              <a:t>Se desea minimizar el costo de la dieta, mezclando dos porciones de los productos </a:t>
            </a:r>
            <a:r>
              <a:rPr lang="es-PE" sz="2400" b="1" spc="-1" dirty="0" err="1">
                <a:latin typeface="Arial Narrow"/>
              </a:rPr>
              <a:t>Texfoods</a:t>
            </a:r>
            <a:r>
              <a:rPr lang="es-PE" sz="2400" b="1" spc="-1" dirty="0">
                <a:latin typeface="Arial Narrow"/>
              </a:rPr>
              <a:t> y </a:t>
            </a:r>
            <a:r>
              <a:rPr lang="es-PE" sz="2400" b="1" spc="-1" dirty="0" err="1">
                <a:latin typeface="Arial Narrow"/>
              </a:rPr>
              <a:t>Calration</a:t>
            </a:r>
            <a:r>
              <a:rPr lang="es-PE" sz="2400" b="1" spc="-1" dirty="0">
                <a:latin typeface="Arial Narrow"/>
              </a:rPr>
              <a:t>. Además se desea mantener los requerimientos mínimos de vitamina A, vitamina  D, y hierro. Desarrollar el modelo matemático y resolver usando el método gráfico.</a:t>
            </a:r>
            <a:endParaRPr lang="es-PE" sz="2400" b="1" spc="-1" dirty="0">
              <a:latin typeface="Arial"/>
            </a:endParaRPr>
          </a:p>
        </p:txBody>
      </p:sp>
      <p:sp>
        <p:nvSpPr>
          <p:cNvPr id="5" name="Rectángulo 1">
            <a:extLst>
              <a:ext uri="{FF2B5EF4-FFF2-40B4-BE49-F238E27FC236}">
                <a16:creationId xmlns:a16="http://schemas.microsoft.com/office/drawing/2014/main" id="{BF84F2D6-CCB1-41E5-BC5F-A733C0266DAA}"/>
              </a:ext>
            </a:extLst>
          </p:cNvPr>
          <p:cNvSpPr>
            <a:spLocks noChangeArrowheads="1"/>
          </p:cNvSpPr>
          <p:nvPr/>
        </p:nvSpPr>
        <p:spPr bwMode="auto">
          <a:xfrm>
            <a:off x="6096000" y="197124"/>
            <a:ext cx="6096000" cy="587880"/>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39</a:t>
            </a:r>
          </a:p>
        </p:txBody>
      </p:sp>
      <p:graphicFrame>
        <p:nvGraphicFramePr>
          <p:cNvPr id="2" name="Tabla 2">
            <a:extLst>
              <a:ext uri="{FF2B5EF4-FFF2-40B4-BE49-F238E27FC236}">
                <a16:creationId xmlns:a16="http://schemas.microsoft.com/office/drawing/2014/main" id="{4FBF4C05-23E8-4AAC-BF85-124A4EC92108}"/>
              </a:ext>
            </a:extLst>
          </p:cNvPr>
          <p:cNvGraphicFramePr>
            <a:graphicFrameLocks noGrp="1"/>
          </p:cNvGraphicFramePr>
          <p:nvPr>
            <p:extLst>
              <p:ext uri="{D42A27DB-BD31-4B8C-83A1-F6EECF244321}">
                <p14:modId xmlns:p14="http://schemas.microsoft.com/office/powerpoint/2010/main" val="1786160096"/>
              </p:ext>
            </p:extLst>
          </p:nvPr>
        </p:nvGraphicFramePr>
        <p:xfrm>
          <a:off x="246375" y="4198831"/>
          <a:ext cx="5705610" cy="2560320"/>
        </p:xfrm>
        <a:graphic>
          <a:graphicData uri="http://schemas.openxmlformats.org/drawingml/2006/table">
            <a:tbl>
              <a:tblPr firstRow="1" bandRow="1">
                <a:tableStyleId>{5C22544A-7EE6-4342-B048-85BDC9FD1C3A}</a:tableStyleId>
              </a:tblPr>
              <a:tblGrid>
                <a:gridCol w="1451796">
                  <a:extLst>
                    <a:ext uri="{9D8B030D-6E8A-4147-A177-3AD203B41FA5}">
                      <a16:colId xmlns:a16="http://schemas.microsoft.com/office/drawing/2014/main" val="3342822280"/>
                    </a:ext>
                  </a:extLst>
                </a:gridCol>
                <a:gridCol w="1190172">
                  <a:extLst>
                    <a:ext uri="{9D8B030D-6E8A-4147-A177-3AD203B41FA5}">
                      <a16:colId xmlns:a16="http://schemas.microsoft.com/office/drawing/2014/main" val="2042629409"/>
                    </a:ext>
                  </a:extLst>
                </a:gridCol>
                <a:gridCol w="1219200">
                  <a:extLst>
                    <a:ext uri="{9D8B030D-6E8A-4147-A177-3AD203B41FA5}">
                      <a16:colId xmlns:a16="http://schemas.microsoft.com/office/drawing/2014/main" val="3357511776"/>
                    </a:ext>
                  </a:extLst>
                </a:gridCol>
                <a:gridCol w="943428">
                  <a:extLst>
                    <a:ext uri="{9D8B030D-6E8A-4147-A177-3AD203B41FA5}">
                      <a16:colId xmlns:a16="http://schemas.microsoft.com/office/drawing/2014/main" val="856438363"/>
                    </a:ext>
                  </a:extLst>
                </a:gridCol>
                <a:gridCol w="901014">
                  <a:extLst>
                    <a:ext uri="{9D8B030D-6E8A-4147-A177-3AD203B41FA5}">
                      <a16:colId xmlns:a16="http://schemas.microsoft.com/office/drawing/2014/main" val="218815477"/>
                    </a:ext>
                  </a:extLst>
                </a:gridCol>
              </a:tblGrid>
              <a:tr h="411916">
                <a:tc>
                  <a:txBody>
                    <a:bodyPr/>
                    <a:lstStyle/>
                    <a:p>
                      <a:pPr algn="ctr"/>
                      <a:r>
                        <a:rPr lang="es-ES" sz="2400" dirty="0">
                          <a:latin typeface="Arial Narrow" panose="020B0606020202030204" pitchFamily="34" charset="0"/>
                        </a:rPr>
                        <a:t>Productos</a:t>
                      </a:r>
                      <a:endParaRPr lang="es-PE" sz="2400" dirty="0">
                        <a:latin typeface="Arial Narrow" panose="020B0606020202030204" pitchFamily="34" charset="0"/>
                      </a:endParaRPr>
                    </a:p>
                  </a:txBody>
                  <a:tcPr/>
                </a:tc>
                <a:tc>
                  <a:txBody>
                    <a:bodyPr/>
                    <a:lstStyle/>
                    <a:p>
                      <a:pPr algn="ctr"/>
                      <a:r>
                        <a:rPr lang="es-ES" sz="2400" dirty="0" err="1">
                          <a:latin typeface="Arial Narrow" panose="020B0606020202030204" pitchFamily="34" charset="0"/>
                        </a:rPr>
                        <a:t>Vitam</a:t>
                      </a:r>
                      <a:r>
                        <a:rPr lang="es-ES" sz="2400" dirty="0">
                          <a:latin typeface="Arial Narrow" panose="020B0606020202030204" pitchFamily="34" charset="0"/>
                        </a:rPr>
                        <a:t>. A</a:t>
                      </a:r>
                      <a:endParaRPr lang="es-PE" sz="2400" dirty="0">
                        <a:latin typeface="Arial Narrow" panose="020B0606020202030204" pitchFamily="34" charset="0"/>
                      </a:endParaRPr>
                    </a:p>
                  </a:txBody>
                  <a:tcPr/>
                </a:tc>
                <a:tc>
                  <a:txBody>
                    <a:bodyPr/>
                    <a:lstStyle/>
                    <a:p>
                      <a:pPr algn="ctr"/>
                      <a:r>
                        <a:rPr lang="es-ES" sz="2400" dirty="0" err="1">
                          <a:latin typeface="Arial Narrow" panose="020B0606020202030204" pitchFamily="34" charset="0"/>
                        </a:rPr>
                        <a:t>Vitam</a:t>
                      </a:r>
                      <a:r>
                        <a:rPr lang="es-ES" sz="2400" dirty="0">
                          <a:latin typeface="Arial Narrow" panose="020B0606020202030204" pitchFamily="34" charset="0"/>
                        </a:rPr>
                        <a:t>. D</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Hierro</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Costo</a:t>
                      </a:r>
                      <a:endParaRPr lang="es-PE" sz="2400" dirty="0">
                        <a:latin typeface="Arial Narrow" panose="020B0606020202030204" pitchFamily="34" charset="0"/>
                      </a:endParaRPr>
                    </a:p>
                  </a:txBody>
                  <a:tcPr/>
                </a:tc>
                <a:extLst>
                  <a:ext uri="{0D108BD9-81ED-4DB2-BD59-A6C34878D82A}">
                    <a16:rowId xmlns:a16="http://schemas.microsoft.com/office/drawing/2014/main" val="4187476045"/>
                  </a:ext>
                </a:extLst>
              </a:tr>
              <a:tr h="411916">
                <a:tc>
                  <a:txBody>
                    <a:bodyPr/>
                    <a:lstStyle/>
                    <a:p>
                      <a:pPr algn="ctr"/>
                      <a:r>
                        <a:rPr lang="es-ES" sz="2400" dirty="0" err="1">
                          <a:latin typeface="Arial Narrow" panose="020B0606020202030204" pitchFamily="34" charset="0"/>
                        </a:rPr>
                        <a:t>Texfoods</a:t>
                      </a:r>
                      <a:r>
                        <a:rPr lang="es-ES" sz="2400" dirty="0">
                          <a:latin typeface="Arial Narrow" panose="020B0606020202030204" pitchFamily="34" charset="0"/>
                        </a:rPr>
                        <a:t> (cada 2 oz)</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20</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25</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50</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0,60</a:t>
                      </a:r>
                      <a:endParaRPr lang="es-PE" sz="2400" dirty="0">
                        <a:latin typeface="Arial Narrow" panose="020B0606020202030204" pitchFamily="34" charset="0"/>
                      </a:endParaRPr>
                    </a:p>
                  </a:txBody>
                  <a:tcPr/>
                </a:tc>
                <a:extLst>
                  <a:ext uri="{0D108BD9-81ED-4DB2-BD59-A6C34878D82A}">
                    <a16:rowId xmlns:a16="http://schemas.microsoft.com/office/drawing/2014/main" val="3335118775"/>
                  </a:ext>
                </a:extLst>
              </a:tr>
              <a:tr h="406273">
                <a:tc>
                  <a:txBody>
                    <a:bodyPr/>
                    <a:lstStyle/>
                    <a:p>
                      <a:pPr algn="ctr"/>
                      <a:r>
                        <a:rPr lang="es-ES" sz="2400" dirty="0" err="1">
                          <a:latin typeface="Arial Narrow" panose="020B0606020202030204" pitchFamily="34" charset="0"/>
                        </a:rPr>
                        <a:t>Calration</a:t>
                      </a:r>
                      <a:r>
                        <a:rPr lang="es-ES" sz="2400" dirty="0">
                          <a:latin typeface="Arial Narrow" panose="020B0606020202030204" pitchFamily="34" charset="0"/>
                        </a:rPr>
                        <a:t> (cada 2 oz)</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50</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25</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20</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0,50</a:t>
                      </a:r>
                      <a:endParaRPr lang="es-PE" sz="2400" dirty="0">
                        <a:latin typeface="Arial Narrow" panose="020B0606020202030204" pitchFamily="34" charset="0"/>
                      </a:endParaRPr>
                    </a:p>
                  </a:txBody>
                  <a:tcPr/>
                </a:tc>
                <a:extLst>
                  <a:ext uri="{0D108BD9-81ED-4DB2-BD59-A6C34878D82A}">
                    <a16:rowId xmlns:a16="http://schemas.microsoft.com/office/drawing/2014/main" val="697909576"/>
                  </a:ext>
                </a:extLst>
              </a:tr>
              <a:tr h="406273">
                <a:tc>
                  <a:txBody>
                    <a:bodyPr/>
                    <a:lstStyle/>
                    <a:p>
                      <a:pPr algn="ctr"/>
                      <a:r>
                        <a:rPr lang="es-ES" sz="2400" dirty="0" err="1">
                          <a:latin typeface="Arial Narrow" panose="020B0606020202030204" pitchFamily="34" charset="0"/>
                        </a:rPr>
                        <a:t>Requerim</a:t>
                      </a:r>
                      <a:r>
                        <a:rPr lang="es-ES" sz="2400" dirty="0">
                          <a:latin typeface="Arial Narrow" panose="020B0606020202030204" pitchFamily="34" charset="0"/>
                        </a:rPr>
                        <a:t>.</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100</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100</a:t>
                      </a:r>
                      <a:endParaRPr lang="es-PE" sz="2400" dirty="0">
                        <a:latin typeface="Arial Narrow" panose="020B0606020202030204" pitchFamily="34" charset="0"/>
                      </a:endParaRPr>
                    </a:p>
                  </a:txBody>
                  <a:tcPr/>
                </a:tc>
                <a:tc>
                  <a:txBody>
                    <a:bodyPr/>
                    <a:lstStyle/>
                    <a:p>
                      <a:pPr algn="ctr"/>
                      <a:r>
                        <a:rPr lang="es-ES" sz="2400" dirty="0">
                          <a:latin typeface="Arial Narrow" panose="020B0606020202030204" pitchFamily="34" charset="0"/>
                        </a:rPr>
                        <a:t>100</a:t>
                      </a:r>
                      <a:endParaRPr lang="es-PE" sz="2400" dirty="0">
                        <a:latin typeface="Arial Narrow" panose="020B0606020202030204" pitchFamily="34" charset="0"/>
                      </a:endParaRPr>
                    </a:p>
                  </a:txBody>
                  <a:tcPr/>
                </a:tc>
                <a:tc>
                  <a:txBody>
                    <a:bodyPr/>
                    <a:lstStyle/>
                    <a:p>
                      <a:pPr algn="ctr"/>
                      <a:endParaRPr lang="es-PE" sz="2400" dirty="0">
                        <a:latin typeface="Arial Narrow" panose="020B0606020202030204" pitchFamily="34" charset="0"/>
                      </a:endParaRPr>
                    </a:p>
                  </a:txBody>
                  <a:tcPr/>
                </a:tc>
                <a:extLst>
                  <a:ext uri="{0D108BD9-81ED-4DB2-BD59-A6C34878D82A}">
                    <a16:rowId xmlns:a16="http://schemas.microsoft.com/office/drawing/2014/main" val="1289720004"/>
                  </a:ext>
                </a:extLst>
              </a:tr>
            </a:tbl>
          </a:graphicData>
        </a:graphic>
      </p:graphicFrame>
      <p:sp>
        <p:nvSpPr>
          <p:cNvPr id="7" name="CuadroTexto 6">
            <a:extLst>
              <a:ext uri="{FF2B5EF4-FFF2-40B4-BE49-F238E27FC236}">
                <a16:creationId xmlns:a16="http://schemas.microsoft.com/office/drawing/2014/main" id="{59628D4B-CBE2-407E-9217-A05C9E7890A6}"/>
              </a:ext>
            </a:extLst>
          </p:cNvPr>
          <p:cNvSpPr txBox="1"/>
          <p:nvPr/>
        </p:nvSpPr>
        <p:spPr>
          <a:xfrm>
            <a:off x="6099298" y="1282280"/>
            <a:ext cx="4502571" cy="1200329"/>
          </a:xfrm>
          <a:prstGeom prst="rect">
            <a:avLst/>
          </a:prstGeom>
          <a:solidFill>
            <a:srgbClr val="FFC000"/>
          </a:solidFill>
        </p:spPr>
        <p:txBody>
          <a:bodyPr wrap="square" rtlCol="0">
            <a:spAutoFit/>
          </a:bodyPr>
          <a:lstStyle/>
          <a:p>
            <a:r>
              <a:rPr lang="es-ES" sz="2400" dirty="0">
                <a:solidFill>
                  <a:srgbClr val="FF0000"/>
                </a:solidFill>
              </a:rPr>
              <a:t>I. Identificación de las variables</a:t>
            </a:r>
          </a:p>
          <a:p>
            <a:r>
              <a:rPr lang="es-ES" sz="2400" dirty="0"/>
              <a:t>    Xi=Cantidad de porciones (2 oz)   </a:t>
            </a:r>
          </a:p>
          <a:p>
            <a:r>
              <a:rPr lang="es-ES" sz="2400" dirty="0"/>
              <a:t>          a utilizar del producto i</a:t>
            </a:r>
            <a:endParaRPr lang="es-PE" sz="2400" dirty="0"/>
          </a:p>
        </p:txBody>
      </p:sp>
      <p:sp>
        <p:nvSpPr>
          <p:cNvPr id="3" name="Rectángulo 2">
            <a:extLst>
              <a:ext uri="{FF2B5EF4-FFF2-40B4-BE49-F238E27FC236}">
                <a16:creationId xmlns:a16="http://schemas.microsoft.com/office/drawing/2014/main" id="{962D42D8-B919-4A57-81B0-79D297CFDC91}"/>
              </a:ext>
            </a:extLst>
          </p:cNvPr>
          <p:cNvSpPr/>
          <p:nvPr/>
        </p:nvSpPr>
        <p:spPr>
          <a:xfrm>
            <a:off x="6110382" y="3121790"/>
            <a:ext cx="4491487" cy="2308324"/>
          </a:xfrm>
          <a:prstGeom prst="rect">
            <a:avLst/>
          </a:prstGeom>
          <a:solidFill>
            <a:srgbClr val="FFC000"/>
          </a:solidFill>
        </p:spPr>
        <p:txBody>
          <a:bodyPr wrap="square" rtlCol="0">
            <a:spAutoFit/>
          </a:bodyPr>
          <a:lstStyle/>
          <a:p>
            <a:r>
              <a:rPr lang="es-ES" sz="2400" dirty="0">
                <a:solidFill>
                  <a:srgbClr val="FF0000"/>
                </a:solidFill>
              </a:rPr>
              <a:t>III. Identificación de las</a:t>
            </a:r>
          </a:p>
          <a:p>
            <a:r>
              <a:rPr lang="es-ES" sz="2400" dirty="0">
                <a:solidFill>
                  <a:srgbClr val="FF0000"/>
                </a:solidFill>
              </a:rPr>
              <a:t>      restricciones</a:t>
            </a:r>
          </a:p>
          <a:p>
            <a:r>
              <a:rPr lang="es-ES" sz="2400" dirty="0"/>
              <a:t>      </a:t>
            </a:r>
            <a:r>
              <a:rPr lang="es-ES" sz="2400" dirty="0" err="1"/>
              <a:t>20X1+50X2</a:t>
            </a:r>
            <a:r>
              <a:rPr lang="es-ES" sz="2400" dirty="0"/>
              <a:t> &gt;=100</a:t>
            </a:r>
          </a:p>
          <a:p>
            <a:r>
              <a:rPr lang="es-ES" sz="2400" dirty="0"/>
              <a:t>      </a:t>
            </a:r>
            <a:r>
              <a:rPr lang="es-ES" sz="2400" dirty="0" err="1"/>
              <a:t>25X1+25X2</a:t>
            </a:r>
            <a:r>
              <a:rPr lang="es-ES" sz="2400" dirty="0"/>
              <a:t> &gt;=100</a:t>
            </a:r>
          </a:p>
          <a:p>
            <a:r>
              <a:rPr lang="es-ES" sz="2400" dirty="0"/>
              <a:t>      </a:t>
            </a:r>
            <a:r>
              <a:rPr lang="es-ES" sz="2400" dirty="0" err="1"/>
              <a:t>50X1+20X2</a:t>
            </a:r>
            <a:r>
              <a:rPr lang="es-ES" sz="2400" dirty="0"/>
              <a:t> &gt;=100</a:t>
            </a:r>
          </a:p>
          <a:p>
            <a:r>
              <a:rPr lang="es-ES" sz="2400" dirty="0"/>
              <a:t>                       Xi &gt;=0, </a:t>
            </a:r>
            <a:r>
              <a:rPr lang="es-ES" sz="2400" b="1" dirty="0">
                <a:solidFill>
                  <a:srgbClr val="FF0000"/>
                </a:solidFill>
              </a:rPr>
              <a:t>ENTERA</a:t>
            </a:r>
          </a:p>
        </p:txBody>
      </p:sp>
      <p:sp>
        <p:nvSpPr>
          <p:cNvPr id="4" name="Rectángulo 3">
            <a:extLst>
              <a:ext uri="{FF2B5EF4-FFF2-40B4-BE49-F238E27FC236}">
                <a16:creationId xmlns:a16="http://schemas.microsoft.com/office/drawing/2014/main" id="{19D5183F-95DD-4A66-BD30-2EA136C1BE02}"/>
              </a:ext>
            </a:extLst>
          </p:cNvPr>
          <p:cNvSpPr/>
          <p:nvPr/>
        </p:nvSpPr>
        <p:spPr>
          <a:xfrm>
            <a:off x="6101756" y="2385597"/>
            <a:ext cx="4508740" cy="830997"/>
          </a:xfrm>
          <a:prstGeom prst="rect">
            <a:avLst/>
          </a:prstGeom>
          <a:solidFill>
            <a:srgbClr val="FFC000"/>
          </a:solidFill>
        </p:spPr>
        <p:txBody>
          <a:bodyPr wrap="square" rtlCol="0">
            <a:spAutoFit/>
          </a:bodyPr>
          <a:lstStyle/>
          <a:p>
            <a:r>
              <a:rPr lang="es-ES" sz="2400" dirty="0">
                <a:solidFill>
                  <a:srgbClr val="FF0000"/>
                </a:solidFill>
              </a:rPr>
              <a:t>II. Identificación de la </a:t>
            </a:r>
            <a:r>
              <a:rPr lang="es-ES" sz="2400" dirty="0" err="1">
                <a:solidFill>
                  <a:srgbClr val="FF0000"/>
                </a:solidFill>
              </a:rPr>
              <a:t>F.O</a:t>
            </a:r>
            <a:r>
              <a:rPr lang="es-ES" sz="2400" dirty="0">
                <a:solidFill>
                  <a:srgbClr val="FF0000"/>
                </a:solidFill>
              </a:rPr>
              <a:t>.</a:t>
            </a:r>
          </a:p>
          <a:p>
            <a:r>
              <a:rPr lang="es-ES" sz="2400" dirty="0"/>
              <a:t>    MIN 0.6X1+0.5X2</a:t>
            </a:r>
          </a:p>
        </p:txBody>
      </p:sp>
      <p:sp>
        <p:nvSpPr>
          <p:cNvPr id="6" name="Rectángulo 5">
            <a:extLst>
              <a:ext uri="{FF2B5EF4-FFF2-40B4-BE49-F238E27FC236}">
                <a16:creationId xmlns:a16="http://schemas.microsoft.com/office/drawing/2014/main" id="{969D80F6-64BE-431C-BEA7-85070CE95F34}"/>
              </a:ext>
            </a:extLst>
          </p:cNvPr>
          <p:cNvSpPr/>
          <p:nvPr/>
        </p:nvSpPr>
        <p:spPr>
          <a:xfrm>
            <a:off x="9880873" y="2772108"/>
            <a:ext cx="2294218" cy="2554545"/>
          </a:xfrm>
          <a:prstGeom prst="rect">
            <a:avLst/>
          </a:prstGeom>
          <a:solidFill>
            <a:srgbClr val="FFFF00"/>
          </a:solidFill>
        </p:spPr>
        <p:txBody>
          <a:bodyPr wrap="none">
            <a:spAutoFit/>
          </a:bodyPr>
          <a:lstStyle/>
          <a:p>
            <a:r>
              <a:rPr lang="es-ES" sz="2000" b="1" dirty="0">
                <a:latin typeface="Arial Narrow" panose="020B0606020202030204" pitchFamily="34" charset="0"/>
              </a:rPr>
              <a:t>MIN 0.6X1+0.5X2</a:t>
            </a:r>
          </a:p>
          <a:p>
            <a:r>
              <a:rPr lang="es-ES" sz="2000" b="1" dirty="0" err="1">
                <a:latin typeface="Arial Narrow" panose="020B0606020202030204" pitchFamily="34" charset="0"/>
              </a:rPr>
              <a:t>ST</a:t>
            </a:r>
            <a:endParaRPr lang="es-ES" sz="2000" b="1" dirty="0">
              <a:latin typeface="Arial Narrow" panose="020B0606020202030204" pitchFamily="34" charset="0"/>
            </a:endParaRPr>
          </a:p>
          <a:p>
            <a:r>
              <a:rPr lang="es-ES" sz="2000" b="1" dirty="0" err="1">
                <a:latin typeface="Arial Narrow" panose="020B0606020202030204" pitchFamily="34" charset="0"/>
              </a:rPr>
              <a:t>20X1+50X2</a:t>
            </a:r>
            <a:r>
              <a:rPr lang="es-ES" sz="2000" b="1" dirty="0">
                <a:latin typeface="Arial Narrow" panose="020B0606020202030204" pitchFamily="34" charset="0"/>
              </a:rPr>
              <a:t> &gt;=100</a:t>
            </a:r>
          </a:p>
          <a:p>
            <a:r>
              <a:rPr lang="es-ES" sz="2000" b="1" dirty="0">
                <a:latin typeface="Arial Narrow" panose="020B0606020202030204" pitchFamily="34" charset="0"/>
              </a:rPr>
              <a:t>      </a:t>
            </a:r>
            <a:r>
              <a:rPr lang="es-ES" sz="2000" b="1" dirty="0" err="1">
                <a:latin typeface="Arial Narrow" panose="020B0606020202030204" pitchFamily="34" charset="0"/>
              </a:rPr>
              <a:t>25X1+25X2</a:t>
            </a:r>
            <a:r>
              <a:rPr lang="es-ES" sz="2000" b="1" dirty="0">
                <a:latin typeface="Arial Narrow" panose="020B0606020202030204" pitchFamily="34" charset="0"/>
              </a:rPr>
              <a:t> &gt;=100</a:t>
            </a:r>
          </a:p>
          <a:p>
            <a:r>
              <a:rPr lang="es-ES" sz="2000" b="1" dirty="0">
                <a:latin typeface="Arial Narrow" panose="020B0606020202030204" pitchFamily="34" charset="0"/>
              </a:rPr>
              <a:t>      50X1+20X2 &gt;=100</a:t>
            </a:r>
          </a:p>
          <a:p>
            <a:r>
              <a:rPr lang="en-US" sz="2000" b="1" dirty="0">
                <a:latin typeface="Arial Narrow" panose="020B0606020202030204" pitchFamily="34" charset="0"/>
              </a:rPr>
              <a:t>END</a:t>
            </a:r>
          </a:p>
          <a:p>
            <a:r>
              <a:rPr lang="en-US" sz="2000" b="1" dirty="0">
                <a:latin typeface="Arial Narrow" panose="020B0606020202030204" pitchFamily="34" charset="0"/>
              </a:rPr>
              <a:t>GIN </a:t>
            </a:r>
            <a:r>
              <a:rPr lang="en-US" sz="2000" b="1" dirty="0" err="1">
                <a:latin typeface="Arial Narrow" panose="020B0606020202030204" pitchFamily="34" charset="0"/>
              </a:rPr>
              <a:t>X1</a:t>
            </a:r>
            <a:endParaRPr lang="en-US" sz="2000" b="1" dirty="0">
              <a:latin typeface="Arial Narrow" panose="020B0606020202030204" pitchFamily="34" charset="0"/>
            </a:endParaRPr>
          </a:p>
          <a:p>
            <a:r>
              <a:rPr lang="en-US" sz="2000" b="1" dirty="0">
                <a:latin typeface="Arial Narrow" panose="020B0606020202030204" pitchFamily="34" charset="0"/>
              </a:rPr>
              <a:t>GIN </a:t>
            </a:r>
            <a:r>
              <a:rPr lang="en-US" sz="2000" b="1" dirty="0" err="1">
                <a:latin typeface="Arial Narrow" panose="020B0606020202030204" pitchFamily="34" charset="0"/>
              </a:rPr>
              <a:t>X2</a:t>
            </a:r>
            <a:endParaRPr lang="es-PE" sz="2000" b="1" dirty="0">
              <a:latin typeface="Arial Narrow" panose="020B0606020202030204" pitchFamily="34" charset="0"/>
            </a:endParaRPr>
          </a:p>
        </p:txBody>
      </p:sp>
      <p:sp>
        <p:nvSpPr>
          <p:cNvPr id="8" name="Rectángulo 7">
            <a:extLst>
              <a:ext uri="{FF2B5EF4-FFF2-40B4-BE49-F238E27FC236}">
                <a16:creationId xmlns:a16="http://schemas.microsoft.com/office/drawing/2014/main" id="{7C18033C-C51D-453B-9738-4FEBD954089D}"/>
              </a:ext>
            </a:extLst>
          </p:cNvPr>
          <p:cNvSpPr/>
          <p:nvPr/>
        </p:nvSpPr>
        <p:spPr>
          <a:xfrm>
            <a:off x="6456040" y="5326653"/>
            <a:ext cx="5705610" cy="1569660"/>
          </a:xfrm>
          <a:prstGeom prst="rect">
            <a:avLst/>
          </a:prstGeom>
          <a:solidFill>
            <a:srgbClr val="92D050"/>
          </a:solidFill>
        </p:spPr>
        <p:txBody>
          <a:bodyPr wrap="square">
            <a:spAutoFit/>
          </a:bodyPr>
          <a:lstStyle/>
          <a:p>
            <a:r>
              <a:rPr lang="es-PE" sz="2400" b="1" dirty="0"/>
              <a:t> </a:t>
            </a:r>
            <a:r>
              <a:rPr lang="en-US" sz="2400" b="1" dirty="0"/>
              <a:t>        1)      2.100000</a:t>
            </a:r>
          </a:p>
          <a:p>
            <a:r>
              <a:rPr lang="en-US" sz="2400" b="1" dirty="0"/>
              <a:t>  VARIABLE        VALUE          REDUCED COST</a:t>
            </a:r>
          </a:p>
          <a:p>
            <a:r>
              <a:rPr lang="en-US" sz="2400" b="1" dirty="0"/>
              <a:t>        X1         1.000000          0.600000</a:t>
            </a:r>
          </a:p>
          <a:p>
            <a:r>
              <a:rPr lang="en-US" sz="2400" b="1" dirty="0"/>
              <a:t>        X2         3.000000          0.500000</a:t>
            </a:r>
            <a:endParaRPr lang="es-PE" sz="2400" b="1" dirty="0"/>
          </a:p>
        </p:txBody>
      </p:sp>
    </p:spTree>
    <p:extLst>
      <p:ext uri="{BB962C8B-B14F-4D97-AF65-F5344CB8AC3E}">
        <p14:creationId xmlns:p14="http://schemas.microsoft.com/office/powerpoint/2010/main" val="385334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4" grpId="0" animBg="1"/>
      <p:bldP spid="6"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 name="CustomShape 4"/>
          <p:cNvSpPr/>
          <p:nvPr/>
        </p:nvSpPr>
        <p:spPr>
          <a:xfrm>
            <a:off x="1089712" y="2653976"/>
            <a:ext cx="3586680" cy="3635280"/>
          </a:xfrm>
          <a:prstGeom prst="rtTriangle">
            <a:avLst/>
          </a:prstGeom>
          <a:solidFill>
            <a:schemeClr val="bg1"/>
          </a:solidFill>
          <a:ln w="12600">
            <a:solidFill>
              <a:schemeClr val="bg1"/>
            </a:solidFill>
            <a:miter/>
          </a:ln>
        </p:spPr>
        <p:style>
          <a:lnRef idx="0">
            <a:scrgbClr r="0" g="0" b="0"/>
          </a:lnRef>
          <a:fillRef idx="0">
            <a:scrgbClr r="0" g="0" b="0"/>
          </a:fillRef>
          <a:effectRef idx="0">
            <a:scrgbClr r="0" g="0" b="0"/>
          </a:effectRef>
          <a:fontRef idx="minor"/>
        </p:style>
        <p:txBody>
          <a:bodyPr/>
          <a:lstStyle/>
          <a:p>
            <a:endParaRPr lang="es-PE"/>
          </a:p>
        </p:txBody>
      </p:sp>
      <p:sp>
        <p:nvSpPr>
          <p:cNvPr id="1388" name="CustomShape 5"/>
          <p:cNvSpPr/>
          <p:nvPr/>
        </p:nvSpPr>
        <p:spPr>
          <a:xfrm>
            <a:off x="6106350" y="197695"/>
            <a:ext cx="6054600" cy="639018"/>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oAutofit/>
          </a:bodyPr>
          <a:lstStyle/>
          <a:p>
            <a:pPr algn="ctr"/>
            <a:r>
              <a:rPr lang="es-PE" sz="2800" dirty="0">
                <a:solidFill>
                  <a:schemeClr val="bg1"/>
                </a:solidFill>
                <a:latin typeface="Bauhaus 93" pitchFamily="82" charset="0"/>
              </a:rPr>
              <a:t>Solución gráfica</a:t>
            </a:r>
          </a:p>
        </p:txBody>
      </p:sp>
      <p:sp>
        <p:nvSpPr>
          <p:cNvPr id="1390" name="Line 7"/>
          <p:cNvSpPr/>
          <p:nvPr/>
        </p:nvSpPr>
        <p:spPr>
          <a:xfrm>
            <a:off x="1030940" y="6296456"/>
            <a:ext cx="4950000" cy="0"/>
          </a:xfrm>
          <a:prstGeom prst="line">
            <a:avLst/>
          </a:prstGeom>
          <a:ln w="1260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92" name="Line 9"/>
          <p:cNvSpPr/>
          <p:nvPr/>
        </p:nvSpPr>
        <p:spPr>
          <a:xfrm flipH="1">
            <a:off x="802340" y="2638856"/>
            <a:ext cx="301680" cy="0"/>
          </a:xfrm>
          <a:prstGeom prst="line">
            <a:avLst/>
          </a:prstGeom>
          <a:ln w="1260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395" name="Line 12"/>
          <p:cNvSpPr/>
          <p:nvPr/>
        </p:nvSpPr>
        <p:spPr>
          <a:xfrm>
            <a:off x="4761620" y="6299336"/>
            <a:ext cx="0" cy="149400"/>
          </a:xfrm>
          <a:prstGeom prst="line">
            <a:avLst/>
          </a:prstGeom>
          <a:ln w="1260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1397" name="CustomShape 14"/>
          <p:cNvSpPr/>
          <p:nvPr/>
        </p:nvSpPr>
        <p:spPr>
          <a:xfrm>
            <a:off x="744040" y="2525940"/>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5</a:t>
            </a:r>
            <a:endParaRPr lang="es-PE" spc="-1" dirty="0">
              <a:latin typeface="Arial"/>
            </a:endParaRPr>
          </a:p>
        </p:txBody>
      </p:sp>
      <p:sp>
        <p:nvSpPr>
          <p:cNvPr id="1398" name="CustomShape 15"/>
          <p:cNvSpPr/>
          <p:nvPr/>
        </p:nvSpPr>
        <p:spPr>
          <a:xfrm>
            <a:off x="744040" y="3278544"/>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4</a:t>
            </a:r>
            <a:endParaRPr lang="es-PE" spc="-1" dirty="0">
              <a:latin typeface="Arial"/>
            </a:endParaRPr>
          </a:p>
        </p:txBody>
      </p:sp>
      <p:sp>
        <p:nvSpPr>
          <p:cNvPr id="1400" name="CustomShape 17"/>
          <p:cNvSpPr/>
          <p:nvPr/>
        </p:nvSpPr>
        <p:spPr>
          <a:xfrm>
            <a:off x="3062125" y="6316824"/>
            <a:ext cx="314232"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3</a:t>
            </a:r>
            <a:endParaRPr lang="es-PE" b="1" spc="-1" dirty="0">
              <a:latin typeface="Arial"/>
            </a:endParaRPr>
          </a:p>
        </p:txBody>
      </p:sp>
      <p:sp>
        <p:nvSpPr>
          <p:cNvPr id="1401" name="CustomShape 18"/>
          <p:cNvSpPr/>
          <p:nvPr/>
        </p:nvSpPr>
        <p:spPr>
          <a:xfrm>
            <a:off x="4511824" y="6309320"/>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5</a:t>
            </a:r>
            <a:endParaRPr lang="es-PE" spc="-1" dirty="0">
              <a:latin typeface="Arial"/>
            </a:endParaRPr>
          </a:p>
        </p:txBody>
      </p:sp>
      <p:sp>
        <p:nvSpPr>
          <p:cNvPr id="1402" name="CustomShape 19"/>
          <p:cNvSpPr/>
          <p:nvPr/>
        </p:nvSpPr>
        <p:spPr>
          <a:xfrm>
            <a:off x="3762135" y="6301115"/>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square" lIns="92160" tIns="46080" rIns="92160" bIns="46080">
            <a:spAutoFit/>
          </a:bodyPr>
          <a:lstStyle/>
          <a:p>
            <a:pPr>
              <a:lnSpc>
                <a:spcPct val="100000"/>
              </a:lnSpc>
            </a:pPr>
            <a:r>
              <a:rPr lang="es-PE" b="1" spc="-1" dirty="0">
                <a:solidFill>
                  <a:srgbClr val="000000"/>
                </a:solidFill>
                <a:latin typeface="Arial"/>
                <a:ea typeface="DejaVu Sans"/>
              </a:rPr>
              <a:t>4</a:t>
            </a:r>
            <a:endParaRPr lang="es-PE" spc="-1" dirty="0">
              <a:latin typeface="Arial"/>
            </a:endParaRPr>
          </a:p>
        </p:txBody>
      </p:sp>
      <p:sp>
        <p:nvSpPr>
          <p:cNvPr id="1405" name="CustomShape 22"/>
          <p:cNvSpPr/>
          <p:nvPr/>
        </p:nvSpPr>
        <p:spPr>
          <a:xfrm>
            <a:off x="3128964" y="4218495"/>
            <a:ext cx="914396" cy="585503"/>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sz="3200" b="1" spc="-1" dirty="0">
                <a:solidFill>
                  <a:srgbClr val="B25A00"/>
                </a:solidFill>
                <a:latin typeface="Arial"/>
                <a:ea typeface="DejaVu Sans"/>
              </a:rPr>
              <a:t>R.F.</a:t>
            </a:r>
            <a:endParaRPr lang="es-PE" sz="3200" spc="-1" dirty="0">
              <a:latin typeface="Arial"/>
            </a:endParaRPr>
          </a:p>
        </p:txBody>
      </p:sp>
      <p:sp>
        <p:nvSpPr>
          <p:cNvPr id="1406" name="Line 23"/>
          <p:cNvSpPr/>
          <p:nvPr/>
        </p:nvSpPr>
        <p:spPr>
          <a:xfrm>
            <a:off x="4231340" y="5689856"/>
            <a:ext cx="550800" cy="631800"/>
          </a:xfrm>
          <a:prstGeom prst="line">
            <a:avLst/>
          </a:prstGeom>
          <a:ln w="1260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cxnSp>
        <p:nvCxnSpPr>
          <p:cNvPr id="3" name="2 Conector recto"/>
          <p:cNvCxnSpPr>
            <a:cxnSpLocks/>
            <a:stCxn id="20" idx="1"/>
          </p:cNvCxnSpPr>
          <p:nvPr/>
        </p:nvCxnSpPr>
        <p:spPr>
          <a:xfrm>
            <a:off x="744040" y="1992060"/>
            <a:ext cx="1947006" cy="48573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40 Conector recto"/>
          <p:cNvCxnSpPr>
            <a:cxnSpLocks/>
          </p:cNvCxnSpPr>
          <p:nvPr/>
        </p:nvCxnSpPr>
        <p:spPr>
          <a:xfrm flipV="1">
            <a:off x="2691046" y="6659715"/>
            <a:ext cx="371079" cy="117657"/>
          </a:xfrm>
          <a:prstGeom prst="line">
            <a:avLst/>
          </a:prstGeom>
          <a:ln w="38100">
            <a:solidFill>
              <a:srgbClr val="00B050"/>
            </a:solidFill>
            <a:round/>
            <a:tailEnd type="stealth" w="med" len="lg"/>
          </a:ln>
        </p:spPr>
        <p:style>
          <a:lnRef idx="0">
            <a:scrgbClr r="0" g="0" b="0"/>
          </a:lnRef>
          <a:fillRef idx="0">
            <a:scrgbClr r="0" g="0" b="0"/>
          </a:fillRef>
          <a:effectRef idx="0">
            <a:scrgbClr r="0" g="0" b="0"/>
          </a:effectRef>
          <a:fontRef idx="minor"/>
        </p:style>
      </p:cxnSp>
      <p:cxnSp>
        <p:nvCxnSpPr>
          <p:cNvPr id="44" name="43 Conector recto"/>
          <p:cNvCxnSpPr>
            <a:cxnSpLocks/>
          </p:cNvCxnSpPr>
          <p:nvPr/>
        </p:nvCxnSpPr>
        <p:spPr>
          <a:xfrm flipV="1">
            <a:off x="610756" y="4339119"/>
            <a:ext cx="156652" cy="350021"/>
          </a:xfrm>
          <a:prstGeom prst="line">
            <a:avLst/>
          </a:prstGeom>
          <a:ln w="38100">
            <a:solidFill>
              <a:schemeClr val="tx1"/>
            </a:solidFill>
            <a:round/>
            <a:tailEnd type="stealth" w="med" len="lg"/>
          </a:ln>
        </p:spPr>
        <p:style>
          <a:lnRef idx="0">
            <a:scrgbClr r="0" g="0" b="0"/>
          </a:lnRef>
          <a:fillRef idx="0">
            <a:scrgbClr r="0" g="0" b="0"/>
          </a:fillRef>
          <a:effectRef idx="0">
            <a:scrgbClr r="0" g="0" b="0"/>
          </a:effectRef>
          <a:fontRef idx="minor"/>
        </p:style>
      </p:cxnSp>
      <p:cxnSp>
        <p:nvCxnSpPr>
          <p:cNvPr id="46" name="45 Conector recto"/>
          <p:cNvCxnSpPr>
            <a:cxnSpLocks/>
          </p:cNvCxnSpPr>
          <p:nvPr/>
        </p:nvCxnSpPr>
        <p:spPr>
          <a:xfrm flipV="1">
            <a:off x="124508" y="2312876"/>
            <a:ext cx="244410" cy="215638"/>
          </a:xfrm>
          <a:prstGeom prst="line">
            <a:avLst/>
          </a:prstGeom>
          <a:ln w="38100">
            <a:solidFill>
              <a:srgbClr val="7030A0"/>
            </a:solidFill>
            <a:round/>
            <a:tailEnd type="stealth" w="med" len="lg"/>
          </a:ln>
        </p:spPr>
        <p:style>
          <a:lnRef idx="0">
            <a:scrgbClr r="0" g="0" b="0"/>
          </a:lnRef>
          <a:fillRef idx="0">
            <a:scrgbClr r="0" g="0" b="0"/>
          </a:fillRef>
          <a:effectRef idx="0">
            <a:scrgbClr r="0" g="0" b="0"/>
          </a:effectRef>
          <a:fontRef idx="minor"/>
        </p:style>
      </p:cxnSp>
      <p:sp>
        <p:nvSpPr>
          <p:cNvPr id="2" name="1 Triángulo rectángulo"/>
          <p:cNvSpPr/>
          <p:nvPr/>
        </p:nvSpPr>
        <p:spPr>
          <a:xfrm>
            <a:off x="3843268" y="5569804"/>
            <a:ext cx="2016224" cy="706956"/>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08" name="Line 25"/>
          <p:cNvSpPr/>
          <p:nvPr/>
        </p:nvSpPr>
        <p:spPr>
          <a:xfrm flipH="1">
            <a:off x="1018894" y="6288781"/>
            <a:ext cx="5748592" cy="5231"/>
          </a:xfrm>
          <a:prstGeom prst="line">
            <a:avLst/>
          </a:prstGeom>
          <a:ln w="38100">
            <a:solidFill>
              <a:schemeClr val="accent2"/>
            </a:solidFill>
            <a:round/>
            <a:head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403" name="CustomShape 20"/>
          <p:cNvSpPr/>
          <p:nvPr/>
        </p:nvSpPr>
        <p:spPr>
          <a:xfrm>
            <a:off x="1115540" y="4467656"/>
            <a:ext cx="4652520" cy="1809104"/>
          </a:xfrm>
          <a:prstGeom prst="rtTriangle">
            <a:avLst/>
          </a:prstGeom>
          <a:ln w="38100">
            <a:noFill/>
          </a:ln>
        </p:spPr>
        <p:style>
          <a:lnRef idx="1">
            <a:schemeClr val="accent1"/>
          </a:lnRef>
          <a:fillRef idx="0">
            <a:schemeClr val="accent1"/>
          </a:fillRef>
          <a:effectRef idx="0">
            <a:schemeClr val="accent1"/>
          </a:effectRef>
          <a:fontRef idx="minor">
            <a:schemeClr val="tx1"/>
          </a:fontRef>
        </p:style>
        <p:txBody>
          <a:bodyPr/>
          <a:lstStyle/>
          <a:p>
            <a:endParaRPr lang="es-PE"/>
          </a:p>
        </p:txBody>
      </p:sp>
      <p:sp>
        <p:nvSpPr>
          <p:cNvPr id="1407" name="Line 24"/>
          <p:cNvSpPr/>
          <p:nvPr/>
        </p:nvSpPr>
        <p:spPr>
          <a:xfrm>
            <a:off x="58262" y="2466090"/>
            <a:ext cx="4613241" cy="456331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a:lstStyle/>
          <a:p>
            <a:endParaRPr lang="es-PE"/>
          </a:p>
        </p:txBody>
      </p:sp>
      <p:sp>
        <p:nvSpPr>
          <p:cNvPr id="45" name="Line 9"/>
          <p:cNvSpPr/>
          <p:nvPr/>
        </p:nvSpPr>
        <p:spPr>
          <a:xfrm flipH="1">
            <a:off x="818932" y="816952"/>
            <a:ext cx="301680" cy="0"/>
          </a:xfrm>
          <a:prstGeom prst="line">
            <a:avLst/>
          </a:prstGeom>
          <a:ln w="12600">
            <a:solidFill>
              <a:srgbClr val="000000"/>
            </a:solidFill>
            <a:round/>
          </a:ln>
        </p:spPr>
        <p:style>
          <a:lnRef idx="0">
            <a:scrgbClr r="0" g="0" b="0"/>
          </a:lnRef>
          <a:fillRef idx="0">
            <a:scrgbClr r="0" g="0" b="0"/>
          </a:fillRef>
          <a:effectRef idx="0">
            <a:scrgbClr r="0" g="0" b="0"/>
          </a:effectRef>
          <a:fontRef idx="minor"/>
        </p:style>
        <p:txBody>
          <a:bodyPr/>
          <a:lstStyle/>
          <a:p>
            <a:endParaRPr lang="es-PE"/>
          </a:p>
        </p:txBody>
      </p:sp>
      <p:sp>
        <p:nvSpPr>
          <p:cNvPr id="47" name="CustomShape 15"/>
          <p:cNvSpPr/>
          <p:nvPr/>
        </p:nvSpPr>
        <p:spPr>
          <a:xfrm>
            <a:off x="291508" y="672936"/>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6</a:t>
            </a:r>
            <a:endParaRPr lang="es-PE" spc="-1" dirty="0">
              <a:latin typeface="Arial"/>
            </a:endParaRPr>
          </a:p>
        </p:txBody>
      </p:sp>
      <p:cxnSp>
        <p:nvCxnSpPr>
          <p:cNvPr id="6" name="Conector recto 5">
            <a:extLst>
              <a:ext uri="{FF2B5EF4-FFF2-40B4-BE49-F238E27FC236}">
                <a16:creationId xmlns:a16="http://schemas.microsoft.com/office/drawing/2014/main" id="{74FE8A85-0858-4B4D-B7F0-00AF8FB950D0}"/>
              </a:ext>
            </a:extLst>
          </p:cNvPr>
          <p:cNvCxnSpPr>
            <a:cxnSpLocks/>
          </p:cNvCxnSpPr>
          <p:nvPr/>
        </p:nvCxnSpPr>
        <p:spPr>
          <a:xfrm>
            <a:off x="558694" y="4661146"/>
            <a:ext cx="5579448" cy="2188234"/>
          </a:xfrm>
          <a:prstGeom prst="line">
            <a:avLst/>
          </a:prstGeom>
          <a:ln w="44450"/>
        </p:spPr>
        <p:style>
          <a:lnRef idx="1">
            <a:schemeClr val="dk1"/>
          </a:lnRef>
          <a:fillRef idx="0">
            <a:schemeClr val="dk1"/>
          </a:fillRef>
          <a:effectRef idx="0">
            <a:schemeClr val="dk1"/>
          </a:effectRef>
          <a:fontRef idx="minor">
            <a:schemeClr val="tx1"/>
          </a:fontRef>
        </p:style>
      </p:cxnSp>
      <p:sp>
        <p:nvSpPr>
          <p:cNvPr id="8" name="Rectángulo 7">
            <a:extLst>
              <a:ext uri="{FF2B5EF4-FFF2-40B4-BE49-F238E27FC236}">
                <a16:creationId xmlns:a16="http://schemas.microsoft.com/office/drawing/2014/main" id="{8C5A8E28-C33C-4952-858E-9278CF08AE19}"/>
              </a:ext>
            </a:extLst>
          </p:cNvPr>
          <p:cNvSpPr/>
          <p:nvPr/>
        </p:nvSpPr>
        <p:spPr>
          <a:xfrm>
            <a:off x="6132897" y="1849517"/>
            <a:ext cx="2506518" cy="923330"/>
          </a:xfrm>
          <a:prstGeom prst="rect">
            <a:avLst/>
          </a:prstGeom>
          <a:solidFill>
            <a:schemeClr val="accent4">
              <a:lumMod val="20000"/>
              <a:lumOff val="80000"/>
            </a:schemeClr>
          </a:solidFill>
        </p:spPr>
        <p:txBody>
          <a:bodyPr wrap="square">
            <a:spAutoFit/>
          </a:bodyPr>
          <a:lstStyle/>
          <a:p>
            <a:r>
              <a:rPr lang="es-PE" b="1" spc="-1" dirty="0" err="1">
                <a:latin typeface="Arial Narrow"/>
              </a:rPr>
              <a:t>20X1</a:t>
            </a:r>
            <a:r>
              <a:rPr lang="es-PE" b="1" spc="-1" dirty="0">
                <a:latin typeface="Arial Narrow"/>
              </a:rPr>
              <a:t> +  </a:t>
            </a:r>
            <a:r>
              <a:rPr lang="es-PE" b="1" spc="-1" dirty="0" err="1">
                <a:latin typeface="Arial Narrow"/>
              </a:rPr>
              <a:t>50X2</a:t>
            </a:r>
            <a:r>
              <a:rPr lang="es-PE" b="1" spc="-1" dirty="0">
                <a:latin typeface="Arial Narrow"/>
              </a:rPr>
              <a:t>   =  100  (i)</a:t>
            </a:r>
          </a:p>
          <a:p>
            <a:r>
              <a:rPr lang="es-PE" b="1" spc="-1" dirty="0">
                <a:latin typeface="Arial Narrow"/>
              </a:rPr>
              <a:t>Si </a:t>
            </a:r>
            <a:r>
              <a:rPr lang="es-PE" b="1" spc="-1" dirty="0" err="1">
                <a:latin typeface="Arial Narrow"/>
              </a:rPr>
              <a:t>X1</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X2</a:t>
            </a:r>
            <a:r>
              <a:rPr lang="es-PE" b="1" spc="-1" dirty="0">
                <a:latin typeface="Arial Narrow"/>
                <a:sym typeface="Wingdings" panose="05000000000000000000" pitchFamily="2" charset="2"/>
              </a:rPr>
              <a:t>=2</a:t>
            </a:r>
          </a:p>
          <a:p>
            <a:r>
              <a:rPr lang="es-PE" b="1" spc="-1" dirty="0">
                <a:latin typeface="Arial Narrow"/>
              </a:rPr>
              <a:t>Si </a:t>
            </a:r>
            <a:r>
              <a:rPr lang="es-PE" b="1" spc="-1" dirty="0" err="1">
                <a:latin typeface="Arial Narrow"/>
              </a:rPr>
              <a:t>X2</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X1</a:t>
            </a:r>
            <a:r>
              <a:rPr lang="es-PE" b="1" spc="-1" dirty="0">
                <a:latin typeface="Arial Narrow"/>
                <a:sym typeface="Wingdings" panose="05000000000000000000" pitchFamily="2" charset="2"/>
              </a:rPr>
              <a:t>=5</a:t>
            </a:r>
          </a:p>
        </p:txBody>
      </p:sp>
      <p:sp>
        <p:nvSpPr>
          <p:cNvPr id="48" name="1 Rectángulo">
            <a:extLst>
              <a:ext uri="{FF2B5EF4-FFF2-40B4-BE49-F238E27FC236}">
                <a16:creationId xmlns:a16="http://schemas.microsoft.com/office/drawing/2014/main" id="{6E93FD14-DE5E-4922-9120-289FAD41A741}"/>
              </a:ext>
            </a:extLst>
          </p:cNvPr>
          <p:cNvSpPr/>
          <p:nvPr/>
        </p:nvSpPr>
        <p:spPr>
          <a:xfrm>
            <a:off x="8806723" y="1664804"/>
            <a:ext cx="2744880" cy="646331"/>
          </a:xfrm>
          <a:prstGeom prst="rect">
            <a:avLst/>
          </a:prstGeom>
          <a:solidFill>
            <a:schemeClr val="accent4">
              <a:lumMod val="20000"/>
              <a:lumOff val="80000"/>
            </a:schemeClr>
          </a:solidFill>
        </p:spPr>
        <p:txBody>
          <a:bodyPr wrap="square">
            <a:spAutoFit/>
          </a:bodyPr>
          <a:lstStyle/>
          <a:p>
            <a:r>
              <a:rPr lang="es-ES" b="1" spc="-1" dirty="0">
                <a:latin typeface="Arial Narrow"/>
              </a:rPr>
              <a:t>Del grafico la solución optima es: X1=1    X2=3</a:t>
            </a:r>
          </a:p>
        </p:txBody>
      </p:sp>
      <p:sp>
        <p:nvSpPr>
          <p:cNvPr id="9" name="Elipse 8">
            <a:extLst>
              <a:ext uri="{FF2B5EF4-FFF2-40B4-BE49-F238E27FC236}">
                <a16:creationId xmlns:a16="http://schemas.microsoft.com/office/drawing/2014/main" id="{57E95536-CF71-4FCD-973D-1DCA6226BE42}"/>
              </a:ext>
            </a:extLst>
          </p:cNvPr>
          <p:cNvSpPr/>
          <p:nvPr/>
        </p:nvSpPr>
        <p:spPr>
          <a:xfrm>
            <a:off x="332914" y="4369982"/>
            <a:ext cx="254474" cy="247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PE" dirty="0"/>
          </a:p>
        </p:txBody>
      </p:sp>
      <p:sp>
        <p:nvSpPr>
          <p:cNvPr id="50" name="Elipse 49">
            <a:extLst>
              <a:ext uri="{FF2B5EF4-FFF2-40B4-BE49-F238E27FC236}">
                <a16:creationId xmlns:a16="http://schemas.microsoft.com/office/drawing/2014/main" id="{65C9D4FB-F109-453A-A223-65C5E1488C3B}"/>
              </a:ext>
            </a:extLst>
          </p:cNvPr>
          <p:cNvSpPr/>
          <p:nvPr/>
        </p:nvSpPr>
        <p:spPr>
          <a:xfrm>
            <a:off x="2025102" y="5890256"/>
            <a:ext cx="254474" cy="247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3</a:t>
            </a:r>
            <a:endParaRPr lang="es-PE" dirty="0"/>
          </a:p>
        </p:txBody>
      </p:sp>
      <p:sp>
        <p:nvSpPr>
          <p:cNvPr id="51" name="Elipse 50">
            <a:extLst>
              <a:ext uri="{FF2B5EF4-FFF2-40B4-BE49-F238E27FC236}">
                <a16:creationId xmlns:a16="http://schemas.microsoft.com/office/drawing/2014/main" id="{7CF98C1F-297F-4F67-98F1-5749C3BB1E47}"/>
              </a:ext>
            </a:extLst>
          </p:cNvPr>
          <p:cNvSpPr/>
          <p:nvPr/>
        </p:nvSpPr>
        <p:spPr>
          <a:xfrm>
            <a:off x="368918" y="2497774"/>
            <a:ext cx="254474" cy="247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PE" dirty="0"/>
          </a:p>
        </p:txBody>
      </p:sp>
      <p:sp>
        <p:nvSpPr>
          <p:cNvPr id="1415" name="CustomShape 32"/>
          <p:cNvSpPr/>
          <p:nvPr/>
        </p:nvSpPr>
        <p:spPr>
          <a:xfrm>
            <a:off x="2434260" y="339749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4" name="Rectángulo 3">
            <a:extLst>
              <a:ext uri="{FF2B5EF4-FFF2-40B4-BE49-F238E27FC236}">
                <a16:creationId xmlns:a16="http://schemas.microsoft.com/office/drawing/2014/main" id="{0654D4B9-F127-4A42-BC12-42F5C001EE27}"/>
              </a:ext>
            </a:extLst>
          </p:cNvPr>
          <p:cNvSpPr/>
          <p:nvPr/>
        </p:nvSpPr>
        <p:spPr>
          <a:xfrm>
            <a:off x="6134833" y="4935092"/>
            <a:ext cx="2495955" cy="923330"/>
          </a:xfrm>
          <a:prstGeom prst="rect">
            <a:avLst/>
          </a:prstGeom>
          <a:solidFill>
            <a:schemeClr val="accent4">
              <a:lumMod val="20000"/>
              <a:lumOff val="80000"/>
            </a:schemeClr>
          </a:solidFill>
        </p:spPr>
        <p:txBody>
          <a:bodyPr wrap="square">
            <a:spAutoFit/>
          </a:bodyPr>
          <a:lstStyle/>
          <a:p>
            <a:r>
              <a:rPr lang="es-PE" b="1" spc="-1" dirty="0" err="1">
                <a:latin typeface="Arial Narrow"/>
              </a:rPr>
              <a:t>0.60X1</a:t>
            </a:r>
            <a:r>
              <a:rPr lang="es-PE" b="1" spc="-1" dirty="0">
                <a:latin typeface="Arial Narrow"/>
              </a:rPr>
              <a:t> + </a:t>
            </a:r>
            <a:r>
              <a:rPr lang="es-PE" b="1" spc="-1" dirty="0" err="1">
                <a:latin typeface="Arial Narrow"/>
              </a:rPr>
              <a:t>0.50X2</a:t>
            </a:r>
            <a:r>
              <a:rPr lang="es-PE" b="1" spc="-1" dirty="0">
                <a:latin typeface="Arial Narrow"/>
              </a:rPr>
              <a:t> = 3</a:t>
            </a:r>
          </a:p>
          <a:p>
            <a:r>
              <a:rPr lang="es-PE" b="1" spc="-1" dirty="0">
                <a:latin typeface="Arial Narrow"/>
              </a:rPr>
              <a:t>Si </a:t>
            </a:r>
            <a:r>
              <a:rPr lang="es-PE" b="1" spc="-1" dirty="0" err="1">
                <a:latin typeface="Arial Narrow"/>
              </a:rPr>
              <a:t>X1</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X2</a:t>
            </a:r>
            <a:r>
              <a:rPr lang="es-PE" b="1" spc="-1" dirty="0">
                <a:latin typeface="Arial Narrow"/>
                <a:sym typeface="Wingdings" panose="05000000000000000000" pitchFamily="2" charset="2"/>
              </a:rPr>
              <a:t>=6</a:t>
            </a:r>
          </a:p>
          <a:p>
            <a:r>
              <a:rPr lang="es-PE" b="1" spc="-1" dirty="0">
                <a:latin typeface="Arial Narrow"/>
              </a:rPr>
              <a:t>Si </a:t>
            </a:r>
            <a:r>
              <a:rPr lang="es-PE" b="1" spc="-1" dirty="0" err="1">
                <a:latin typeface="Arial Narrow"/>
              </a:rPr>
              <a:t>X2</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X1</a:t>
            </a:r>
            <a:r>
              <a:rPr lang="es-PE" b="1" spc="-1" dirty="0">
                <a:latin typeface="Arial Narrow"/>
                <a:sym typeface="Wingdings" panose="05000000000000000000" pitchFamily="2" charset="2"/>
              </a:rPr>
              <a:t>=5</a:t>
            </a:r>
            <a:endParaRPr lang="es-PE" b="1" dirty="0"/>
          </a:p>
        </p:txBody>
      </p:sp>
      <p:sp>
        <p:nvSpPr>
          <p:cNvPr id="7" name="CuadroTexto 6">
            <a:extLst>
              <a:ext uri="{FF2B5EF4-FFF2-40B4-BE49-F238E27FC236}">
                <a16:creationId xmlns:a16="http://schemas.microsoft.com/office/drawing/2014/main" id="{862A6731-412A-4637-9AA9-2FB251DF6B77}"/>
              </a:ext>
            </a:extLst>
          </p:cNvPr>
          <p:cNvSpPr txBox="1"/>
          <p:nvPr/>
        </p:nvSpPr>
        <p:spPr>
          <a:xfrm>
            <a:off x="6132213" y="1237696"/>
            <a:ext cx="2507203" cy="707886"/>
          </a:xfrm>
          <a:prstGeom prst="rect">
            <a:avLst/>
          </a:prstGeom>
          <a:solidFill>
            <a:schemeClr val="accent4">
              <a:lumMod val="20000"/>
              <a:lumOff val="80000"/>
            </a:schemeClr>
          </a:solidFill>
        </p:spPr>
        <p:txBody>
          <a:bodyPr wrap="square" rtlCol="0">
            <a:spAutoFit/>
          </a:bodyPr>
          <a:lstStyle/>
          <a:p>
            <a:pPr marL="266700" indent="-266700">
              <a:buAutoNum type="romanLcPeriod"/>
            </a:pPr>
            <a:r>
              <a:rPr lang="es-ES" sz="2000" dirty="0">
                <a:solidFill>
                  <a:srgbClr val="FF0000"/>
                </a:solidFill>
              </a:rPr>
              <a:t>Graficando las</a:t>
            </a:r>
          </a:p>
          <a:p>
            <a:r>
              <a:rPr lang="es-ES" sz="2000" dirty="0">
                <a:solidFill>
                  <a:srgbClr val="FF0000"/>
                </a:solidFill>
              </a:rPr>
              <a:t>     restricciones</a:t>
            </a:r>
            <a:endParaRPr lang="es-PE" sz="2000" dirty="0">
              <a:solidFill>
                <a:srgbClr val="FF0000"/>
              </a:solidFill>
            </a:endParaRPr>
          </a:p>
        </p:txBody>
      </p:sp>
      <p:sp>
        <p:nvSpPr>
          <p:cNvPr id="53" name="CuadroTexto 52">
            <a:extLst>
              <a:ext uri="{FF2B5EF4-FFF2-40B4-BE49-F238E27FC236}">
                <a16:creationId xmlns:a16="http://schemas.microsoft.com/office/drawing/2014/main" id="{0EC2C8A7-5B7B-41F7-A627-B779AFB0BD93}"/>
              </a:ext>
            </a:extLst>
          </p:cNvPr>
          <p:cNvSpPr txBox="1"/>
          <p:nvPr/>
        </p:nvSpPr>
        <p:spPr>
          <a:xfrm>
            <a:off x="6137965" y="4538735"/>
            <a:ext cx="2501450" cy="400110"/>
          </a:xfrm>
          <a:prstGeom prst="rect">
            <a:avLst/>
          </a:prstGeom>
          <a:solidFill>
            <a:schemeClr val="accent4">
              <a:lumMod val="20000"/>
              <a:lumOff val="80000"/>
            </a:schemeClr>
          </a:solidFill>
        </p:spPr>
        <p:txBody>
          <a:bodyPr wrap="square" rtlCol="0">
            <a:spAutoFit/>
          </a:bodyPr>
          <a:lstStyle/>
          <a:p>
            <a:r>
              <a:rPr lang="es-ES" sz="2000" dirty="0" err="1">
                <a:solidFill>
                  <a:srgbClr val="FF0000"/>
                </a:solidFill>
              </a:rPr>
              <a:t>iii</a:t>
            </a:r>
            <a:r>
              <a:rPr lang="es-ES" sz="2000" dirty="0">
                <a:solidFill>
                  <a:srgbClr val="FF0000"/>
                </a:solidFill>
              </a:rPr>
              <a:t>. Graficando la </a:t>
            </a:r>
            <a:r>
              <a:rPr lang="es-ES" sz="2000" dirty="0" err="1">
                <a:solidFill>
                  <a:srgbClr val="FF0000"/>
                </a:solidFill>
              </a:rPr>
              <a:t>F.O</a:t>
            </a:r>
            <a:r>
              <a:rPr lang="es-ES" sz="2000" dirty="0">
                <a:solidFill>
                  <a:srgbClr val="FF0000"/>
                </a:solidFill>
              </a:rPr>
              <a:t>.</a:t>
            </a:r>
            <a:endParaRPr lang="es-PE" sz="2000" dirty="0">
              <a:solidFill>
                <a:srgbClr val="FF0000"/>
              </a:solidFill>
            </a:endParaRPr>
          </a:p>
        </p:txBody>
      </p:sp>
      <p:sp>
        <p:nvSpPr>
          <p:cNvPr id="54" name="CuadroTexto 53">
            <a:extLst>
              <a:ext uri="{FF2B5EF4-FFF2-40B4-BE49-F238E27FC236}">
                <a16:creationId xmlns:a16="http://schemas.microsoft.com/office/drawing/2014/main" id="{72488CC7-D9BF-4825-8071-2E7E3EC2AA65}"/>
              </a:ext>
            </a:extLst>
          </p:cNvPr>
          <p:cNvSpPr txBox="1"/>
          <p:nvPr/>
        </p:nvSpPr>
        <p:spPr>
          <a:xfrm>
            <a:off x="8824306" y="1284329"/>
            <a:ext cx="3336643" cy="400110"/>
          </a:xfrm>
          <a:prstGeom prst="rect">
            <a:avLst/>
          </a:prstGeom>
          <a:solidFill>
            <a:schemeClr val="accent4">
              <a:lumMod val="20000"/>
              <a:lumOff val="80000"/>
            </a:schemeClr>
          </a:solidFill>
        </p:spPr>
        <p:txBody>
          <a:bodyPr wrap="square" rtlCol="0">
            <a:spAutoFit/>
          </a:bodyPr>
          <a:lstStyle/>
          <a:p>
            <a:r>
              <a:rPr lang="es-ES" sz="2000" dirty="0" err="1">
                <a:solidFill>
                  <a:srgbClr val="FF0000"/>
                </a:solidFill>
              </a:rPr>
              <a:t>iv</a:t>
            </a:r>
            <a:r>
              <a:rPr lang="es-ES" sz="2000" dirty="0">
                <a:solidFill>
                  <a:srgbClr val="FF0000"/>
                </a:solidFill>
              </a:rPr>
              <a:t>. Hallando la solución optima</a:t>
            </a:r>
            <a:endParaRPr lang="es-PE" sz="2000" dirty="0">
              <a:solidFill>
                <a:srgbClr val="FF0000"/>
              </a:solidFill>
            </a:endParaRPr>
          </a:p>
        </p:txBody>
      </p:sp>
      <p:sp>
        <p:nvSpPr>
          <p:cNvPr id="10" name="CuadroTexto 9">
            <a:extLst>
              <a:ext uri="{FF2B5EF4-FFF2-40B4-BE49-F238E27FC236}">
                <a16:creationId xmlns:a16="http://schemas.microsoft.com/office/drawing/2014/main" id="{6EB1A0F5-4503-40C2-9E44-0C467AB5BC8D}"/>
              </a:ext>
            </a:extLst>
          </p:cNvPr>
          <p:cNvSpPr txBox="1"/>
          <p:nvPr/>
        </p:nvSpPr>
        <p:spPr>
          <a:xfrm>
            <a:off x="571136" y="272159"/>
            <a:ext cx="626314" cy="461665"/>
          </a:xfrm>
          <a:prstGeom prst="rect">
            <a:avLst/>
          </a:prstGeom>
          <a:noFill/>
        </p:spPr>
        <p:txBody>
          <a:bodyPr wrap="square" rtlCol="0">
            <a:spAutoFit/>
          </a:bodyPr>
          <a:lstStyle/>
          <a:p>
            <a:r>
              <a:rPr lang="es-ES" sz="2400" dirty="0" err="1">
                <a:solidFill>
                  <a:srgbClr val="FF0000"/>
                </a:solidFill>
              </a:rPr>
              <a:t>X2</a:t>
            </a:r>
            <a:endParaRPr lang="es-PE" sz="2400" dirty="0">
              <a:solidFill>
                <a:srgbClr val="FF0000"/>
              </a:solidFill>
            </a:endParaRPr>
          </a:p>
        </p:txBody>
      </p:sp>
      <p:sp>
        <p:nvSpPr>
          <p:cNvPr id="55" name="CuadroTexto 54">
            <a:extLst>
              <a:ext uri="{FF2B5EF4-FFF2-40B4-BE49-F238E27FC236}">
                <a16:creationId xmlns:a16="http://schemas.microsoft.com/office/drawing/2014/main" id="{51A231A1-63BA-433A-97A5-13FD3AE9D2ED}"/>
              </a:ext>
            </a:extLst>
          </p:cNvPr>
          <p:cNvSpPr txBox="1"/>
          <p:nvPr/>
        </p:nvSpPr>
        <p:spPr>
          <a:xfrm>
            <a:off x="6169636" y="6198050"/>
            <a:ext cx="626314" cy="461665"/>
          </a:xfrm>
          <a:prstGeom prst="rect">
            <a:avLst/>
          </a:prstGeom>
          <a:noFill/>
        </p:spPr>
        <p:txBody>
          <a:bodyPr wrap="square" rtlCol="0">
            <a:spAutoFit/>
          </a:bodyPr>
          <a:lstStyle/>
          <a:p>
            <a:r>
              <a:rPr lang="es-ES" sz="2400" dirty="0" err="1">
                <a:solidFill>
                  <a:srgbClr val="FF0000"/>
                </a:solidFill>
              </a:rPr>
              <a:t>X1</a:t>
            </a:r>
            <a:endParaRPr lang="es-PE" sz="2400" dirty="0">
              <a:solidFill>
                <a:srgbClr val="FF0000"/>
              </a:solidFill>
            </a:endParaRPr>
          </a:p>
        </p:txBody>
      </p:sp>
      <p:sp>
        <p:nvSpPr>
          <p:cNvPr id="11" name="Rectángulo 10">
            <a:extLst>
              <a:ext uri="{FF2B5EF4-FFF2-40B4-BE49-F238E27FC236}">
                <a16:creationId xmlns:a16="http://schemas.microsoft.com/office/drawing/2014/main" id="{37FC3C17-3F63-4DA7-A53A-D0C680B6418A}"/>
              </a:ext>
            </a:extLst>
          </p:cNvPr>
          <p:cNvSpPr/>
          <p:nvPr/>
        </p:nvSpPr>
        <p:spPr>
          <a:xfrm>
            <a:off x="6140630" y="3614315"/>
            <a:ext cx="2490159" cy="923330"/>
          </a:xfrm>
          <a:prstGeom prst="rect">
            <a:avLst/>
          </a:prstGeom>
          <a:solidFill>
            <a:schemeClr val="accent4">
              <a:lumMod val="20000"/>
              <a:lumOff val="80000"/>
            </a:schemeClr>
          </a:solidFill>
        </p:spPr>
        <p:txBody>
          <a:bodyPr wrap="square">
            <a:spAutoFit/>
          </a:bodyPr>
          <a:lstStyle/>
          <a:p>
            <a:r>
              <a:rPr lang="es-PE" b="1" spc="-1" dirty="0">
                <a:latin typeface="Arial Narrow"/>
              </a:rPr>
              <a:t>50X1 +  20X2   =  100  (</a:t>
            </a:r>
            <a:r>
              <a:rPr lang="es-PE" b="1" spc="-1" dirty="0" err="1">
                <a:latin typeface="Arial Narrow"/>
              </a:rPr>
              <a:t>iii</a:t>
            </a:r>
            <a:r>
              <a:rPr lang="es-PE" b="1" spc="-1" dirty="0">
                <a:latin typeface="Arial Narrow"/>
              </a:rPr>
              <a:t>)</a:t>
            </a:r>
          </a:p>
          <a:p>
            <a:r>
              <a:rPr lang="es-PE" b="1" spc="-1" dirty="0">
                <a:latin typeface="Arial Narrow"/>
              </a:rPr>
              <a:t>Si </a:t>
            </a:r>
            <a:r>
              <a:rPr lang="es-PE" b="1" spc="-1" dirty="0" err="1">
                <a:latin typeface="Arial Narrow"/>
              </a:rPr>
              <a:t>X1</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X2</a:t>
            </a:r>
            <a:r>
              <a:rPr lang="es-PE" b="1" spc="-1" dirty="0">
                <a:latin typeface="Arial Narrow"/>
                <a:sym typeface="Wingdings" panose="05000000000000000000" pitchFamily="2" charset="2"/>
              </a:rPr>
              <a:t>=5</a:t>
            </a:r>
          </a:p>
          <a:p>
            <a:r>
              <a:rPr lang="es-PE" b="1" spc="-1" dirty="0">
                <a:latin typeface="Arial Narrow"/>
              </a:rPr>
              <a:t>Si </a:t>
            </a:r>
            <a:r>
              <a:rPr lang="es-PE" b="1" spc="-1" dirty="0" err="1">
                <a:latin typeface="Arial Narrow"/>
              </a:rPr>
              <a:t>X2</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X1</a:t>
            </a:r>
            <a:r>
              <a:rPr lang="es-PE" b="1" spc="-1" dirty="0">
                <a:latin typeface="Arial Narrow"/>
                <a:sym typeface="Wingdings" panose="05000000000000000000" pitchFamily="2" charset="2"/>
              </a:rPr>
              <a:t>=2</a:t>
            </a:r>
          </a:p>
        </p:txBody>
      </p:sp>
      <p:sp>
        <p:nvSpPr>
          <p:cNvPr id="12" name="Rectángulo 11">
            <a:extLst>
              <a:ext uri="{FF2B5EF4-FFF2-40B4-BE49-F238E27FC236}">
                <a16:creationId xmlns:a16="http://schemas.microsoft.com/office/drawing/2014/main" id="{F884A3DD-4BEE-4B79-BC9F-0B3F349E7EA1}"/>
              </a:ext>
            </a:extLst>
          </p:cNvPr>
          <p:cNvSpPr/>
          <p:nvPr/>
        </p:nvSpPr>
        <p:spPr>
          <a:xfrm>
            <a:off x="6132004" y="2743048"/>
            <a:ext cx="2507411" cy="923330"/>
          </a:xfrm>
          <a:prstGeom prst="rect">
            <a:avLst/>
          </a:prstGeom>
          <a:solidFill>
            <a:schemeClr val="accent4">
              <a:lumMod val="20000"/>
              <a:lumOff val="80000"/>
            </a:schemeClr>
          </a:solidFill>
        </p:spPr>
        <p:txBody>
          <a:bodyPr wrap="square">
            <a:spAutoFit/>
          </a:bodyPr>
          <a:lstStyle/>
          <a:p>
            <a:r>
              <a:rPr lang="es-PE" b="1" spc="-1" dirty="0" err="1">
                <a:latin typeface="Arial Narrow"/>
              </a:rPr>
              <a:t>25X1</a:t>
            </a:r>
            <a:r>
              <a:rPr lang="es-PE" b="1" spc="-1" dirty="0">
                <a:latin typeface="Arial Narrow"/>
              </a:rPr>
              <a:t> +  </a:t>
            </a:r>
            <a:r>
              <a:rPr lang="es-PE" b="1" spc="-1" dirty="0" err="1">
                <a:latin typeface="Arial Narrow"/>
              </a:rPr>
              <a:t>25X2</a:t>
            </a:r>
            <a:r>
              <a:rPr lang="es-PE" b="1" spc="-1" dirty="0">
                <a:latin typeface="Arial Narrow"/>
              </a:rPr>
              <a:t>   =  100  (</a:t>
            </a:r>
            <a:r>
              <a:rPr lang="es-PE" b="1" spc="-1" dirty="0" err="1">
                <a:latin typeface="Arial Narrow"/>
              </a:rPr>
              <a:t>ii</a:t>
            </a:r>
            <a:r>
              <a:rPr lang="es-PE" b="1" spc="-1" dirty="0">
                <a:latin typeface="Arial Narrow"/>
              </a:rPr>
              <a:t>)</a:t>
            </a:r>
          </a:p>
          <a:p>
            <a:r>
              <a:rPr lang="es-PE" b="1" spc="-1" dirty="0">
                <a:latin typeface="Arial Narrow"/>
              </a:rPr>
              <a:t>Si </a:t>
            </a:r>
            <a:r>
              <a:rPr lang="es-PE" b="1" spc="-1" dirty="0" err="1">
                <a:latin typeface="Arial Narrow"/>
              </a:rPr>
              <a:t>X1</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X2</a:t>
            </a:r>
            <a:r>
              <a:rPr lang="es-PE" b="1" spc="-1" dirty="0">
                <a:latin typeface="Arial Narrow"/>
                <a:sym typeface="Wingdings" panose="05000000000000000000" pitchFamily="2" charset="2"/>
              </a:rPr>
              <a:t>=4</a:t>
            </a:r>
          </a:p>
          <a:p>
            <a:r>
              <a:rPr lang="es-PE" b="1" spc="-1" dirty="0">
                <a:latin typeface="Arial Narrow"/>
              </a:rPr>
              <a:t>Si </a:t>
            </a:r>
            <a:r>
              <a:rPr lang="es-PE" b="1" spc="-1" dirty="0" err="1">
                <a:latin typeface="Arial Narrow"/>
              </a:rPr>
              <a:t>X2</a:t>
            </a:r>
            <a:r>
              <a:rPr lang="es-PE" b="1" spc="-1" dirty="0">
                <a:latin typeface="Arial Narrow"/>
              </a:rPr>
              <a:t>=0  </a:t>
            </a:r>
            <a:r>
              <a:rPr lang="es-PE" b="1" spc="-1" dirty="0">
                <a:latin typeface="Arial Narrow"/>
                <a:sym typeface="Wingdings" panose="05000000000000000000" pitchFamily="2" charset="2"/>
              </a:rPr>
              <a:t> </a:t>
            </a:r>
            <a:r>
              <a:rPr lang="es-PE" b="1" spc="-1" dirty="0" err="1">
                <a:latin typeface="Arial Narrow"/>
                <a:sym typeface="Wingdings" panose="05000000000000000000" pitchFamily="2" charset="2"/>
              </a:rPr>
              <a:t>X1</a:t>
            </a:r>
            <a:r>
              <a:rPr lang="es-PE" b="1" spc="-1" dirty="0">
                <a:latin typeface="Arial Narrow"/>
                <a:sym typeface="Wingdings" panose="05000000000000000000" pitchFamily="2" charset="2"/>
              </a:rPr>
              <a:t>=4</a:t>
            </a:r>
            <a:r>
              <a:rPr lang="es-PE" b="1" spc="-1" dirty="0">
                <a:latin typeface="Arial Narrow"/>
              </a:rPr>
              <a:t>  </a:t>
            </a:r>
            <a:endParaRPr lang="es-PE" b="1" dirty="0"/>
          </a:p>
        </p:txBody>
      </p:sp>
      <p:sp>
        <p:nvSpPr>
          <p:cNvPr id="13" name="Rectángulo 12">
            <a:extLst>
              <a:ext uri="{FF2B5EF4-FFF2-40B4-BE49-F238E27FC236}">
                <a16:creationId xmlns:a16="http://schemas.microsoft.com/office/drawing/2014/main" id="{8FDE3F2D-D24C-4075-BFD0-5BF13012AD4B}"/>
              </a:ext>
            </a:extLst>
          </p:cNvPr>
          <p:cNvSpPr/>
          <p:nvPr/>
        </p:nvSpPr>
        <p:spPr>
          <a:xfrm>
            <a:off x="8821103" y="2327509"/>
            <a:ext cx="2725228" cy="646331"/>
          </a:xfrm>
          <a:prstGeom prst="rect">
            <a:avLst/>
          </a:prstGeom>
          <a:solidFill>
            <a:schemeClr val="accent4">
              <a:lumMod val="20000"/>
              <a:lumOff val="80000"/>
            </a:schemeClr>
          </a:solidFill>
        </p:spPr>
        <p:txBody>
          <a:bodyPr wrap="square">
            <a:spAutoFit/>
          </a:bodyPr>
          <a:lstStyle/>
          <a:p>
            <a:r>
              <a:rPr lang="es-ES" b="1" spc="-1" dirty="0">
                <a:latin typeface="Arial Narrow"/>
              </a:rPr>
              <a:t>El valor que toma la </a:t>
            </a:r>
            <a:r>
              <a:rPr lang="es-ES" b="1" spc="-1" dirty="0" err="1">
                <a:latin typeface="Arial Narrow"/>
              </a:rPr>
              <a:t>F.O</a:t>
            </a:r>
            <a:r>
              <a:rPr lang="es-ES" b="1" spc="-1" dirty="0">
                <a:latin typeface="Arial Narrow"/>
              </a:rPr>
              <a:t> es</a:t>
            </a:r>
          </a:p>
          <a:p>
            <a:r>
              <a:rPr lang="es-PE" b="1" spc="-1" dirty="0">
                <a:latin typeface="Arial Narrow"/>
              </a:rPr>
              <a:t>0.60(1) + 0.50(3)=2.1</a:t>
            </a:r>
          </a:p>
        </p:txBody>
      </p:sp>
      <p:sp>
        <p:nvSpPr>
          <p:cNvPr id="1409" name="Line 26"/>
          <p:cNvSpPr/>
          <p:nvPr/>
        </p:nvSpPr>
        <p:spPr>
          <a:xfrm>
            <a:off x="1056798" y="500459"/>
            <a:ext cx="17253" cy="5822829"/>
          </a:xfrm>
          <a:prstGeom prst="line">
            <a:avLst/>
          </a:prstGeom>
          <a:ln w="38100">
            <a:solidFill>
              <a:schemeClr val="accent2"/>
            </a:solidFill>
            <a:round/>
            <a:headEnd type="stealth" w="med" len="lg"/>
          </a:ln>
        </p:spPr>
        <p:style>
          <a:lnRef idx="0">
            <a:scrgbClr r="0" g="0" b="0"/>
          </a:lnRef>
          <a:fillRef idx="0">
            <a:scrgbClr r="0" g="0" b="0"/>
          </a:fillRef>
          <a:effectRef idx="0">
            <a:scrgbClr r="0" g="0" b="0"/>
          </a:effectRef>
          <a:fontRef idx="minor"/>
        </p:style>
        <p:txBody>
          <a:bodyPr/>
          <a:lstStyle/>
          <a:p>
            <a:endParaRPr lang="es-PE"/>
          </a:p>
        </p:txBody>
      </p:sp>
      <p:sp>
        <p:nvSpPr>
          <p:cNvPr id="14" name="Line 31">
            <a:extLst>
              <a:ext uri="{FF2B5EF4-FFF2-40B4-BE49-F238E27FC236}">
                <a16:creationId xmlns:a16="http://schemas.microsoft.com/office/drawing/2014/main" id="{30BE44B6-DCB5-2CB0-2CCB-B861E1CE6963}"/>
              </a:ext>
            </a:extLst>
          </p:cNvPr>
          <p:cNvSpPr/>
          <p:nvPr/>
        </p:nvSpPr>
        <p:spPr>
          <a:xfrm>
            <a:off x="600023" y="1425495"/>
            <a:ext cx="4465307" cy="5351877"/>
          </a:xfrm>
          <a:prstGeom prst="line">
            <a:avLst/>
          </a:prstGeom>
          <a:ln w="25400">
            <a:solidFill>
              <a:srgbClr val="D0060D"/>
            </a:solidFill>
            <a:prstDash val="dash"/>
            <a:round/>
          </a:ln>
        </p:spPr>
        <p:style>
          <a:lnRef idx="0">
            <a:scrgbClr r="0" g="0" b="0"/>
          </a:lnRef>
          <a:fillRef idx="0">
            <a:scrgbClr r="0" g="0" b="0"/>
          </a:fillRef>
          <a:effectRef idx="0">
            <a:scrgbClr r="0" g="0" b="0"/>
          </a:effectRef>
          <a:fontRef idx="minor"/>
        </p:style>
        <p:txBody>
          <a:bodyPr/>
          <a:lstStyle/>
          <a:p>
            <a:endParaRPr lang="es-PE" dirty="0"/>
          </a:p>
        </p:txBody>
      </p:sp>
      <p:sp>
        <p:nvSpPr>
          <p:cNvPr id="15" name="CustomShape 16">
            <a:extLst>
              <a:ext uri="{FF2B5EF4-FFF2-40B4-BE49-F238E27FC236}">
                <a16:creationId xmlns:a16="http://schemas.microsoft.com/office/drawing/2014/main" id="{48268085-C44C-7EBE-6805-69BE7266E88E}"/>
              </a:ext>
            </a:extLst>
          </p:cNvPr>
          <p:cNvSpPr/>
          <p:nvPr/>
        </p:nvSpPr>
        <p:spPr>
          <a:xfrm>
            <a:off x="731404" y="5366776"/>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1</a:t>
            </a:r>
            <a:endParaRPr lang="es-PE" spc="-1" dirty="0">
              <a:latin typeface="Arial"/>
            </a:endParaRPr>
          </a:p>
        </p:txBody>
      </p:sp>
      <p:sp>
        <p:nvSpPr>
          <p:cNvPr id="16" name="CustomShape 16">
            <a:extLst>
              <a:ext uri="{FF2B5EF4-FFF2-40B4-BE49-F238E27FC236}">
                <a16:creationId xmlns:a16="http://schemas.microsoft.com/office/drawing/2014/main" id="{3C857306-8126-8868-E0A3-920CCE4981C3}"/>
              </a:ext>
            </a:extLst>
          </p:cNvPr>
          <p:cNvSpPr/>
          <p:nvPr/>
        </p:nvSpPr>
        <p:spPr>
          <a:xfrm>
            <a:off x="747966" y="4597828"/>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2</a:t>
            </a:r>
            <a:endParaRPr lang="es-PE" spc="-1" dirty="0">
              <a:latin typeface="Arial"/>
            </a:endParaRPr>
          </a:p>
        </p:txBody>
      </p:sp>
      <p:sp>
        <p:nvSpPr>
          <p:cNvPr id="17" name="CustomShape 16">
            <a:extLst>
              <a:ext uri="{FF2B5EF4-FFF2-40B4-BE49-F238E27FC236}">
                <a16:creationId xmlns:a16="http://schemas.microsoft.com/office/drawing/2014/main" id="{CA3230B6-D60E-77D0-5581-BD82D57CE574}"/>
              </a:ext>
            </a:extLst>
          </p:cNvPr>
          <p:cNvSpPr/>
          <p:nvPr/>
        </p:nvSpPr>
        <p:spPr>
          <a:xfrm>
            <a:off x="2308972" y="6322558"/>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2</a:t>
            </a:r>
            <a:endParaRPr lang="es-PE" spc="-1" dirty="0">
              <a:latin typeface="Arial"/>
            </a:endParaRPr>
          </a:p>
        </p:txBody>
      </p:sp>
      <p:sp>
        <p:nvSpPr>
          <p:cNvPr id="18" name="CustomShape 16">
            <a:extLst>
              <a:ext uri="{FF2B5EF4-FFF2-40B4-BE49-F238E27FC236}">
                <a16:creationId xmlns:a16="http://schemas.microsoft.com/office/drawing/2014/main" id="{BE06ACCF-5500-01AC-18E9-557DF0F9B6B5}"/>
              </a:ext>
            </a:extLst>
          </p:cNvPr>
          <p:cNvSpPr/>
          <p:nvPr/>
        </p:nvSpPr>
        <p:spPr>
          <a:xfrm>
            <a:off x="1612163" y="6337763"/>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1</a:t>
            </a:r>
            <a:endParaRPr lang="es-PE" spc="-1" dirty="0">
              <a:latin typeface="Arial"/>
            </a:endParaRPr>
          </a:p>
        </p:txBody>
      </p:sp>
      <p:sp>
        <p:nvSpPr>
          <p:cNvPr id="24" name="CustomShape 32">
            <a:extLst>
              <a:ext uri="{FF2B5EF4-FFF2-40B4-BE49-F238E27FC236}">
                <a16:creationId xmlns:a16="http://schemas.microsoft.com/office/drawing/2014/main" id="{0A8FE2F4-BBE9-950A-8AA5-C042AE80723D}"/>
              </a:ext>
            </a:extLst>
          </p:cNvPr>
          <p:cNvSpPr/>
          <p:nvPr/>
        </p:nvSpPr>
        <p:spPr>
          <a:xfrm>
            <a:off x="3155901" y="339299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 name="CustomShape 32">
            <a:extLst>
              <a:ext uri="{FF2B5EF4-FFF2-40B4-BE49-F238E27FC236}">
                <a16:creationId xmlns:a16="http://schemas.microsoft.com/office/drawing/2014/main" id="{5ECBCF3B-BBDB-208F-56A3-E656CC455633}"/>
              </a:ext>
            </a:extLst>
          </p:cNvPr>
          <p:cNvSpPr/>
          <p:nvPr/>
        </p:nvSpPr>
        <p:spPr>
          <a:xfrm>
            <a:off x="2437067" y="4106149"/>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6" name="CustomShape 32">
            <a:extLst>
              <a:ext uri="{FF2B5EF4-FFF2-40B4-BE49-F238E27FC236}">
                <a16:creationId xmlns:a16="http://schemas.microsoft.com/office/drawing/2014/main" id="{0A72829E-C84B-F6D7-344B-FB3D45EE8C29}"/>
              </a:ext>
            </a:extLst>
          </p:cNvPr>
          <p:cNvSpPr/>
          <p:nvPr/>
        </p:nvSpPr>
        <p:spPr>
          <a:xfrm>
            <a:off x="3155227" y="4077437"/>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7" name="CustomShape 32">
            <a:extLst>
              <a:ext uri="{FF2B5EF4-FFF2-40B4-BE49-F238E27FC236}">
                <a16:creationId xmlns:a16="http://schemas.microsoft.com/office/drawing/2014/main" id="{4855EB0C-CF1A-B3E8-3486-A022CF0BA1E9}"/>
              </a:ext>
            </a:extLst>
          </p:cNvPr>
          <p:cNvSpPr/>
          <p:nvPr/>
        </p:nvSpPr>
        <p:spPr>
          <a:xfrm>
            <a:off x="3171401" y="482317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8" name="CustomShape 32">
            <a:extLst>
              <a:ext uri="{FF2B5EF4-FFF2-40B4-BE49-F238E27FC236}">
                <a16:creationId xmlns:a16="http://schemas.microsoft.com/office/drawing/2014/main" id="{571C820D-A314-BCF1-D5CB-E442A1A60F42}"/>
              </a:ext>
            </a:extLst>
          </p:cNvPr>
          <p:cNvSpPr/>
          <p:nvPr/>
        </p:nvSpPr>
        <p:spPr>
          <a:xfrm>
            <a:off x="3848381" y="5504289"/>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9" name="CustomShape 32">
            <a:extLst>
              <a:ext uri="{FF2B5EF4-FFF2-40B4-BE49-F238E27FC236}">
                <a16:creationId xmlns:a16="http://schemas.microsoft.com/office/drawing/2014/main" id="{1437330F-F27A-2F1B-6933-8777C05E9E11}"/>
              </a:ext>
            </a:extLst>
          </p:cNvPr>
          <p:cNvSpPr/>
          <p:nvPr/>
        </p:nvSpPr>
        <p:spPr>
          <a:xfrm>
            <a:off x="3879691" y="478424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0" name="CustomShape 32">
            <a:extLst>
              <a:ext uri="{FF2B5EF4-FFF2-40B4-BE49-F238E27FC236}">
                <a16:creationId xmlns:a16="http://schemas.microsoft.com/office/drawing/2014/main" id="{B22AD8F1-06BF-778B-6C6A-9BD9CEAAA956}"/>
              </a:ext>
            </a:extLst>
          </p:cNvPr>
          <p:cNvSpPr/>
          <p:nvPr/>
        </p:nvSpPr>
        <p:spPr>
          <a:xfrm>
            <a:off x="4609725" y="4077437"/>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1" name="CustomShape 32">
            <a:extLst>
              <a:ext uri="{FF2B5EF4-FFF2-40B4-BE49-F238E27FC236}">
                <a16:creationId xmlns:a16="http://schemas.microsoft.com/office/drawing/2014/main" id="{7F3FF315-E451-4DFD-7340-BDC0E90A9985}"/>
              </a:ext>
            </a:extLst>
          </p:cNvPr>
          <p:cNvSpPr/>
          <p:nvPr/>
        </p:nvSpPr>
        <p:spPr>
          <a:xfrm>
            <a:off x="3906954" y="4102887"/>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2" name="CustomShape 32">
            <a:extLst>
              <a:ext uri="{FF2B5EF4-FFF2-40B4-BE49-F238E27FC236}">
                <a16:creationId xmlns:a16="http://schemas.microsoft.com/office/drawing/2014/main" id="{596E35CD-8DB2-F3D3-7DC4-D370F6CD36D2}"/>
              </a:ext>
            </a:extLst>
          </p:cNvPr>
          <p:cNvSpPr/>
          <p:nvPr/>
        </p:nvSpPr>
        <p:spPr>
          <a:xfrm>
            <a:off x="4610411" y="5517232"/>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3" name="CustomShape 32">
            <a:extLst>
              <a:ext uri="{FF2B5EF4-FFF2-40B4-BE49-F238E27FC236}">
                <a16:creationId xmlns:a16="http://schemas.microsoft.com/office/drawing/2014/main" id="{F2FCE1BA-D90F-A0E8-A44B-D68D71FBF407}"/>
              </a:ext>
            </a:extLst>
          </p:cNvPr>
          <p:cNvSpPr/>
          <p:nvPr/>
        </p:nvSpPr>
        <p:spPr>
          <a:xfrm>
            <a:off x="4609725" y="4797152"/>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4" name="CustomShape 32">
            <a:extLst>
              <a:ext uri="{FF2B5EF4-FFF2-40B4-BE49-F238E27FC236}">
                <a16:creationId xmlns:a16="http://schemas.microsoft.com/office/drawing/2014/main" id="{13CA7A3E-DE1F-C0AF-7F21-E6B6BF63F175}"/>
              </a:ext>
            </a:extLst>
          </p:cNvPr>
          <p:cNvSpPr/>
          <p:nvPr/>
        </p:nvSpPr>
        <p:spPr>
          <a:xfrm>
            <a:off x="2420782" y="482317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5" name="CustomShape 32">
            <a:extLst>
              <a:ext uri="{FF2B5EF4-FFF2-40B4-BE49-F238E27FC236}">
                <a16:creationId xmlns:a16="http://schemas.microsoft.com/office/drawing/2014/main" id="{272F9916-7304-43F8-3591-13B5C803829A}"/>
              </a:ext>
            </a:extLst>
          </p:cNvPr>
          <p:cNvSpPr/>
          <p:nvPr/>
        </p:nvSpPr>
        <p:spPr>
          <a:xfrm>
            <a:off x="3858768" y="339749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6" name="CustomShape 32">
            <a:extLst>
              <a:ext uri="{FF2B5EF4-FFF2-40B4-BE49-F238E27FC236}">
                <a16:creationId xmlns:a16="http://schemas.microsoft.com/office/drawing/2014/main" id="{9834E3B5-3EE5-1D3F-20D7-01F889769DE0}"/>
              </a:ext>
            </a:extLst>
          </p:cNvPr>
          <p:cNvSpPr/>
          <p:nvPr/>
        </p:nvSpPr>
        <p:spPr>
          <a:xfrm>
            <a:off x="1713614" y="340035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7" name="CustomShape 32">
            <a:extLst>
              <a:ext uri="{FF2B5EF4-FFF2-40B4-BE49-F238E27FC236}">
                <a16:creationId xmlns:a16="http://schemas.microsoft.com/office/drawing/2014/main" id="{B9D9905C-B6B5-FA0F-441D-EC0AB74D6235}"/>
              </a:ext>
            </a:extLst>
          </p:cNvPr>
          <p:cNvSpPr/>
          <p:nvPr/>
        </p:nvSpPr>
        <p:spPr>
          <a:xfrm>
            <a:off x="4612634" y="339749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8" name="CustomShape 32">
            <a:extLst>
              <a:ext uri="{FF2B5EF4-FFF2-40B4-BE49-F238E27FC236}">
                <a16:creationId xmlns:a16="http://schemas.microsoft.com/office/drawing/2014/main" id="{6E507E5A-6B06-37D0-6CBB-53C499B07F46}"/>
              </a:ext>
            </a:extLst>
          </p:cNvPr>
          <p:cNvSpPr/>
          <p:nvPr/>
        </p:nvSpPr>
        <p:spPr>
          <a:xfrm>
            <a:off x="2424158" y="267741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39" name="CustomShape 32">
            <a:extLst>
              <a:ext uri="{FF2B5EF4-FFF2-40B4-BE49-F238E27FC236}">
                <a16:creationId xmlns:a16="http://schemas.microsoft.com/office/drawing/2014/main" id="{F57E2054-E6D6-D92C-F963-34A22D1666F3}"/>
              </a:ext>
            </a:extLst>
          </p:cNvPr>
          <p:cNvSpPr/>
          <p:nvPr/>
        </p:nvSpPr>
        <p:spPr>
          <a:xfrm>
            <a:off x="3145799" y="267291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40" name="CustomShape 32">
            <a:extLst>
              <a:ext uri="{FF2B5EF4-FFF2-40B4-BE49-F238E27FC236}">
                <a16:creationId xmlns:a16="http://schemas.microsoft.com/office/drawing/2014/main" id="{375C35C5-02CE-22D7-3F4E-1F6946D174B6}"/>
              </a:ext>
            </a:extLst>
          </p:cNvPr>
          <p:cNvSpPr/>
          <p:nvPr/>
        </p:nvSpPr>
        <p:spPr>
          <a:xfrm>
            <a:off x="3848666" y="267741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42" name="CustomShape 32">
            <a:extLst>
              <a:ext uri="{FF2B5EF4-FFF2-40B4-BE49-F238E27FC236}">
                <a16:creationId xmlns:a16="http://schemas.microsoft.com/office/drawing/2014/main" id="{434DEFFD-35B8-698D-B723-BC22A4B343C6}"/>
              </a:ext>
            </a:extLst>
          </p:cNvPr>
          <p:cNvSpPr/>
          <p:nvPr/>
        </p:nvSpPr>
        <p:spPr>
          <a:xfrm>
            <a:off x="1703512" y="268027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43" name="CustomShape 32">
            <a:extLst>
              <a:ext uri="{FF2B5EF4-FFF2-40B4-BE49-F238E27FC236}">
                <a16:creationId xmlns:a16="http://schemas.microsoft.com/office/drawing/2014/main" id="{7FED4826-36CE-951B-1A94-D3D8E8B39F4E}"/>
              </a:ext>
            </a:extLst>
          </p:cNvPr>
          <p:cNvSpPr/>
          <p:nvPr/>
        </p:nvSpPr>
        <p:spPr>
          <a:xfrm>
            <a:off x="4602532" y="267741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49" name="CustomShape 32">
            <a:extLst>
              <a:ext uri="{FF2B5EF4-FFF2-40B4-BE49-F238E27FC236}">
                <a16:creationId xmlns:a16="http://schemas.microsoft.com/office/drawing/2014/main" id="{1CF816F8-EB0A-0387-D0B7-7B89DEA4DFF9}"/>
              </a:ext>
            </a:extLst>
          </p:cNvPr>
          <p:cNvSpPr/>
          <p:nvPr/>
        </p:nvSpPr>
        <p:spPr>
          <a:xfrm>
            <a:off x="2424158" y="195733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56" name="CustomShape 32">
            <a:extLst>
              <a:ext uri="{FF2B5EF4-FFF2-40B4-BE49-F238E27FC236}">
                <a16:creationId xmlns:a16="http://schemas.microsoft.com/office/drawing/2014/main" id="{52C393E2-BDE1-7D22-596A-CE4FD13898F9}"/>
              </a:ext>
            </a:extLst>
          </p:cNvPr>
          <p:cNvSpPr/>
          <p:nvPr/>
        </p:nvSpPr>
        <p:spPr>
          <a:xfrm>
            <a:off x="3145799" y="195283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57" name="CustomShape 32">
            <a:extLst>
              <a:ext uri="{FF2B5EF4-FFF2-40B4-BE49-F238E27FC236}">
                <a16:creationId xmlns:a16="http://schemas.microsoft.com/office/drawing/2014/main" id="{B5DF75DD-7855-D288-7389-72FF845A43FF}"/>
              </a:ext>
            </a:extLst>
          </p:cNvPr>
          <p:cNvSpPr/>
          <p:nvPr/>
        </p:nvSpPr>
        <p:spPr>
          <a:xfrm>
            <a:off x="3848666" y="195733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59" name="CustomShape 32">
            <a:extLst>
              <a:ext uri="{FF2B5EF4-FFF2-40B4-BE49-F238E27FC236}">
                <a16:creationId xmlns:a16="http://schemas.microsoft.com/office/drawing/2014/main" id="{49E1C51B-11F9-562E-7DD5-FB811A7D0FC7}"/>
              </a:ext>
            </a:extLst>
          </p:cNvPr>
          <p:cNvSpPr/>
          <p:nvPr/>
        </p:nvSpPr>
        <p:spPr>
          <a:xfrm>
            <a:off x="1703512" y="196019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0" name="CustomShape 32">
            <a:extLst>
              <a:ext uri="{FF2B5EF4-FFF2-40B4-BE49-F238E27FC236}">
                <a16:creationId xmlns:a16="http://schemas.microsoft.com/office/drawing/2014/main" id="{9D9801E9-1A1D-91B7-F195-6024A351BFA5}"/>
              </a:ext>
            </a:extLst>
          </p:cNvPr>
          <p:cNvSpPr/>
          <p:nvPr/>
        </p:nvSpPr>
        <p:spPr>
          <a:xfrm>
            <a:off x="4602532" y="195733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1" name="CustomShape 32">
            <a:extLst>
              <a:ext uri="{FF2B5EF4-FFF2-40B4-BE49-F238E27FC236}">
                <a16:creationId xmlns:a16="http://schemas.microsoft.com/office/drawing/2014/main" id="{9EC335C4-A66C-F831-D55F-A662ACDF2E59}"/>
              </a:ext>
            </a:extLst>
          </p:cNvPr>
          <p:cNvSpPr/>
          <p:nvPr/>
        </p:nvSpPr>
        <p:spPr>
          <a:xfrm>
            <a:off x="2424158" y="123725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2" name="CustomShape 32">
            <a:extLst>
              <a:ext uri="{FF2B5EF4-FFF2-40B4-BE49-F238E27FC236}">
                <a16:creationId xmlns:a16="http://schemas.microsoft.com/office/drawing/2014/main" id="{62F5F225-BF4B-24F7-04D8-46C424CD1693}"/>
              </a:ext>
            </a:extLst>
          </p:cNvPr>
          <p:cNvSpPr/>
          <p:nvPr/>
        </p:nvSpPr>
        <p:spPr>
          <a:xfrm>
            <a:off x="3145799" y="123275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3" name="CustomShape 32">
            <a:extLst>
              <a:ext uri="{FF2B5EF4-FFF2-40B4-BE49-F238E27FC236}">
                <a16:creationId xmlns:a16="http://schemas.microsoft.com/office/drawing/2014/main" id="{16BFF65F-99DA-1107-23A3-E4A0F2BFFE15}"/>
              </a:ext>
            </a:extLst>
          </p:cNvPr>
          <p:cNvSpPr/>
          <p:nvPr/>
        </p:nvSpPr>
        <p:spPr>
          <a:xfrm>
            <a:off x="3848666" y="123725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44" name="CustomShape 32">
            <a:extLst>
              <a:ext uri="{FF2B5EF4-FFF2-40B4-BE49-F238E27FC236}">
                <a16:creationId xmlns:a16="http://schemas.microsoft.com/office/drawing/2014/main" id="{0158276A-A46E-6DB0-92D5-8945D0E67143}"/>
              </a:ext>
            </a:extLst>
          </p:cNvPr>
          <p:cNvSpPr/>
          <p:nvPr/>
        </p:nvSpPr>
        <p:spPr>
          <a:xfrm>
            <a:off x="1703512" y="124011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45" name="CustomShape 32">
            <a:extLst>
              <a:ext uri="{FF2B5EF4-FFF2-40B4-BE49-F238E27FC236}">
                <a16:creationId xmlns:a16="http://schemas.microsoft.com/office/drawing/2014/main" id="{2B4DF0C2-C21A-F001-DC14-67338099C70F}"/>
              </a:ext>
            </a:extLst>
          </p:cNvPr>
          <p:cNvSpPr/>
          <p:nvPr/>
        </p:nvSpPr>
        <p:spPr>
          <a:xfrm>
            <a:off x="4602532" y="123725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46" name="CustomShape 32">
            <a:extLst>
              <a:ext uri="{FF2B5EF4-FFF2-40B4-BE49-F238E27FC236}">
                <a16:creationId xmlns:a16="http://schemas.microsoft.com/office/drawing/2014/main" id="{D3669D37-A079-7FB6-CC22-4841FFF56C7D}"/>
              </a:ext>
            </a:extLst>
          </p:cNvPr>
          <p:cNvSpPr/>
          <p:nvPr/>
        </p:nvSpPr>
        <p:spPr>
          <a:xfrm>
            <a:off x="1009325" y="267291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47" name="CustomShape 32">
            <a:extLst>
              <a:ext uri="{FF2B5EF4-FFF2-40B4-BE49-F238E27FC236}">
                <a16:creationId xmlns:a16="http://schemas.microsoft.com/office/drawing/2014/main" id="{3EA9E41E-58FD-109D-2461-5F7C9A8E12A9}"/>
              </a:ext>
            </a:extLst>
          </p:cNvPr>
          <p:cNvSpPr/>
          <p:nvPr/>
        </p:nvSpPr>
        <p:spPr>
          <a:xfrm>
            <a:off x="1009325" y="195283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48" name="CustomShape 32">
            <a:extLst>
              <a:ext uri="{FF2B5EF4-FFF2-40B4-BE49-F238E27FC236}">
                <a16:creationId xmlns:a16="http://schemas.microsoft.com/office/drawing/2014/main" id="{FE4CE438-4628-781C-2C5D-44CA39FE8A94}"/>
              </a:ext>
            </a:extLst>
          </p:cNvPr>
          <p:cNvSpPr/>
          <p:nvPr/>
        </p:nvSpPr>
        <p:spPr>
          <a:xfrm>
            <a:off x="1009325" y="123275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49" name="CustomShape 32">
            <a:extLst>
              <a:ext uri="{FF2B5EF4-FFF2-40B4-BE49-F238E27FC236}">
                <a16:creationId xmlns:a16="http://schemas.microsoft.com/office/drawing/2014/main" id="{48A87092-5F50-C178-792C-1A986211EA6C}"/>
              </a:ext>
            </a:extLst>
          </p:cNvPr>
          <p:cNvSpPr/>
          <p:nvPr/>
        </p:nvSpPr>
        <p:spPr>
          <a:xfrm>
            <a:off x="4609725" y="6241811"/>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50" name="CustomShape 32">
            <a:extLst>
              <a:ext uri="{FF2B5EF4-FFF2-40B4-BE49-F238E27FC236}">
                <a16:creationId xmlns:a16="http://schemas.microsoft.com/office/drawing/2014/main" id="{AA6FEB0E-FF46-2ACB-8D46-66EEF3E2816A}"/>
              </a:ext>
            </a:extLst>
          </p:cNvPr>
          <p:cNvSpPr/>
          <p:nvPr/>
        </p:nvSpPr>
        <p:spPr>
          <a:xfrm>
            <a:off x="3169565" y="5557735"/>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51" name="CustomShape 32">
            <a:extLst>
              <a:ext uri="{FF2B5EF4-FFF2-40B4-BE49-F238E27FC236}">
                <a16:creationId xmlns:a16="http://schemas.microsoft.com/office/drawing/2014/main" id="{F780C08F-9F52-4852-3802-DC68B6A5AA05}"/>
              </a:ext>
            </a:extLst>
          </p:cNvPr>
          <p:cNvSpPr/>
          <p:nvPr/>
        </p:nvSpPr>
        <p:spPr>
          <a:xfrm>
            <a:off x="1739516" y="4113076"/>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54" name="CustomShape 17">
            <a:extLst>
              <a:ext uri="{FF2B5EF4-FFF2-40B4-BE49-F238E27FC236}">
                <a16:creationId xmlns:a16="http://schemas.microsoft.com/office/drawing/2014/main" id="{EDFDB79D-F41F-8593-5F10-EDB94A6FC0ED}"/>
              </a:ext>
            </a:extLst>
          </p:cNvPr>
          <p:cNvSpPr/>
          <p:nvPr/>
        </p:nvSpPr>
        <p:spPr>
          <a:xfrm>
            <a:off x="764576" y="3969060"/>
            <a:ext cx="314232"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3</a:t>
            </a:r>
            <a:endParaRPr lang="es-PE" b="1" spc="-1" dirty="0">
              <a:latin typeface="Arial"/>
            </a:endParaRPr>
          </a:p>
        </p:txBody>
      </p:sp>
      <p:sp>
        <p:nvSpPr>
          <p:cNvPr id="1355" name="Line 31">
            <a:extLst>
              <a:ext uri="{FF2B5EF4-FFF2-40B4-BE49-F238E27FC236}">
                <a16:creationId xmlns:a16="http://schemas.microsoft.com/office/drawing/2014/main" id="{A86D8BF1-C6C1-DDBB-8A2E-C677D60CCD3C}"/>
              </a:ext>
            </a:extLst>
          </p:cNvPr>
          <p:cNvSpPr/>
          <p:nvPr/>
        </p:nvSpPr>
        <p:spPr>
          <a:xfrm>
            <a:off x="785431" y="3574137"/>
            <a:ext cx="3092928" cy="3779299"/>
          </a:xfrm>
          <a:prstGeom prst="line">
            <a:avLst/>
          </a:prstGeom>
          <a:ln w="25400">
            <a:solidFill>
              <a:srgbClr val="D0060D"/>
            </a:solidFill>
            <a:prstDash val="dash"/>
            <a:round/>
          </a:ln>
        </p:spPr>
        <p:style>
          <a:lnRef idx="0">
            <a:scrgbClr r="0" g="0" b="0"/>
          </a:lnRef>
          <a:fillRef idx="0">
            <a:scrgbClr r="0" g="0" b="0"/>
          </a:fillRef>
          <a:effectRef idx="0">
            <a:scrgbClr r="0" g="0" b="0"/>
          </a:effectRef>
          <a:fontRef idx="minor"/>
        </p:style>
        <p:txBody>
          <a:bodyPr/>
          <a:lstStyle/>
          <a:p>
            <a:endParaRPr lang="es-PE" dirty="0"/>
          </a:p>
        </p:txBody>
      </p:sp>
      <p:sp>
        <p:nvSpPr>
          <p:cNvPr id="1357" name="CuadroTexto 1356">
            <a:extLst>
              <a:ext uri="{FF2B5EF4-FFF2-40B4-BE49-F238E27FC236}">
                <a16:creationId xmlns:a16="http://schemas.microsoft.com/office/drawing/2014/main" id="{15EDE9E0-B8E2-2941-D87C-D55CCA5E18D0}"/>
              </a:ext>
            </a:extLst>
          </p:cNvPr>
          <p:cNvSpPr txBox="1"/>
          <p:nvPr/>
        </p:nvSpPr>
        <p:spPr>
          <a:xfrm>
            <a:off x="8664498" y="5541039"/>
            <a:ext cx="3469240" cy="1200329"/>
          </a:xfrm>
          <a:prstGeom prst="rect">
            <a:avLst/>
          </a:prstGeom>
          <a:solidFill>
            <a:srgbClr val="FFC000"/>
          </a:solidFill>
        </p:spPr>
        <p:txBody>
          <a:bodyPr wrap="square">
            <a:spAutoFit/>
          </a:bodyPr>
          <a:lstStyle/>
          <a:p>
            <a:r>
              <a:rPr lang="es-PE" b="1" dirty="0">
                <a:latin typeface="Arial Narrow" panose="020B0606020202030204" pitchFamily="34" charset="0"/>
              </a:rPr>
              <a:t> 1)      2.100000</a:t>
            </a:r>
          </a:p>
          <a:p>
            <a:r>
              <a:rPr lang="es-PE" b="1" dirty="0">
                <a:latin typeface="Arial Narrow" panose="020B0606020202030204" pitchFamily="34" charset="0"/>
              </a:rPr>
              <a:t>VARIABLE  </a:t>
            </a:r>
            <a:r>
              <a:rPr lang="es-PE" b="1" dirty="0" err="1">
                <a:latin typeface="Arial Narrow" panose="020B0606020202030204" pitchFamily="34" charset="0"/>
              </a:rPr>
              <a:t>VALUE</a:t>
            </a:r>
            <a:r>
              <a:rPr lang="es-PE" b="1" dirty="0">
                <a:latin typeface="Arial Narrow" panose="020B0606020202030204" pitchFamily="34" charset="0"/>
              </a:rPr>
              <a:t>  </a:t>
            </a:r>
            <a:r>
              <a:rPr lang="es-PE" b="1" dirty="0" err="1">
                <a:latin typeface="Arial Narrow" panose="020B0606020202030204" pitchFamily="34" charset="0"/>
              </a:rPr>
              <a:t>REDUCED</a:t>
            </a:r>
            <a:r>
              <a:rPr lang="es-PE" b="1" dirty="0">
                <a:latin typeface="Arial Narrow" panose="020B0606020202030204" pitchFamily="34" charset="0"/>
              </a:rPr>
              <a:t> COST</a:t>
            </a:r>
          </a:p>
          <a:p>
            <a:r>
              <a:rPr lang="es-PE" b="1" dirty="0">
                <a:latin typeface="Arial Narrow" panose="020B0606020202030204" pitchFamily="34" charset="0"/>
              </a:rPr>
              <a:t>        X1         1.000000          0.600000</a:t>
            </a:r>
          </a:p>
          <a:p>
            <a:r>
              <a:rPr lang="es-PE" b="1" dirty="0">
                <a:latin typeface="Arial Narrow" panose="020B0606020202030204" pitchFamily="34" charset="0"/>
              </a:rPr>
              <a:t>        X2         3.000000          0.500000</a:t>
            </a:r>
          </a:p>
        </p:txBody>
      </p:sp>
      <p:sp>
        <p:nvSpPr>
          <p:cNvPr id="5" name="Rectángulo 4">
            <a:extLst>
              <a:ext uri="{FF2B5EF4-FFF2-40B4-BE49-F238E27FC236}">
                <a16:creationId xmlns:a16="http://schemas.microsoft.com/office/drawing/2014/main" id="{F62576EB-F557-0C2B-A21E-945CD2D8BDA8}"/>
              </a:ext>
            </a:extLst>
          </p:cNvPr>
          <p:cNvSpPr/>
          <p:nvPr/>
        </p:nvSpPr>
        <p:spPr>
          <a:xfrm>
            <a:off x="9252113" y="2969074"/>
            <a:ext cx="2294218" cy="2554545"/>
          </a:xfrm>
          <a:prstGeom prst="rect">
            <a:avLst/>
          </a:prstGeom>
          <a:solidFill>
            <a:srgbClr val="FFFF00"/>
          </a:solidFill>
        </p:spPr>
        <p:txBody>
          <a:bodyPr wrap="none">
            <a:spAutoFit/>
          </a:bodyPr>
          <a:lstStyle/>
          <a:p>
            <a:r>
              <a:rPr lang="es-ES" sz="2000" b="1" dirty="0">
                <a:latin typeface="Arial Narrow" panose="020B0606020202030204" pitchFamily="34" charset="0"/>
              </a:rPr>
              <a:t>MIN </a:t>
            </a:r>
            <a:r>
              <a:rPr lang="es-ES" sz="2000" b="1" dirty="0" err="1">
                <a:latin typeface="Arial Narrow" panose="020B0606020202030204" pitchFamily="34" charset="0"/>
              </a:rPr>
              <a:t>0,6X1+0,5X2</a:t>
            </a:r>
            <a:endParaRPr lang="es-ES" sz="2000" b="1" dirty="0">
              <a:latin typeface="Arial Narrow" panose="020B0606020202030204" pitchFamily="34" charset="0"/>
            </a:endParaRPr>
          </a:p>
          <a:p>
            <a:r>
              <a:rPr lang="es-ES" sz="2000" b="1" dirty="0" err="1">
                <a:latin typeface="Arial Narrow" panose="020B0606020202030204" pitchFamily="34" charset="0"/>
              </a:rPr>
              <a:t>ST</a:t>
            </a:r>
            <a:endParaRPr lang="es-ES" sz="2000" b="1" dirty="0">
              <a:latin typeface="Arial Narrow" panose="020B0606020202030204" pitchFamily="34" charset="0"/>
            </a:endParaRPr>
          </a:p>
          <a:p>
            <a:r>
              <a:rPr lang="es-ES" sz="2000" b="1" dirty="0" err="1">
                <a:latin typeface="Arial Narrow" panose="020B0606020202030204" pitchFamily="34" charset="0"/>
              </a:rPr>
              <a:t>20X1+50X2</a:t>
            </a:r>
            <a:r>
              <a:rPr lang="es-ES" sz="2000" b="1" dirty="0">
                <a:latin typeface="Arial Narrow" panose="020B0606020202030204" pitchFamily="34" charset="0"/>
              </a:rPr>
              <a:t> &gt;=100</a:t>
            </a:r>
          </a:p>
          <a:p>
            <a:r>
              <a:rPr lang="es-ES" sz="2000" b="1" dirty="0">
                <a:latin typeface="Arial Narrow" panose="020B0606020202030204" pitchFamily="34" charset="0"/>
              </a:rPr>
              <a:t>      </a:t>
            </a:r>
            <a:r>
              <a:rPr lang="es-ES" sz="2000" b="1" dirty="0" err="1">
                <a:latin typeface="Arial Narrow" panose="020B0606020202030204" pitchFamily="34" charset="0"/>
              </a:rPr>
              <a:t>25X1+25X2</a:t>
            </a:r>
            <a:r>
              <a:rPr lang="es-ES" sz="2000" b="1" dirty="0">
                <a:latin typeface="Arial Narrow" panose="020B0606020202030204" pitchFamily="34" charset="0"/>
              </a:rPr>
              <a:t> &gt;=100</a:t>
            </a:r>
          </a:p>
          <a:p>
            <a:r>
              <a:rPr lang="es-ES" sz="2000" b="1" dirty="0">
                <a:latin typeface="Arial Narrow" panose="020B0606020202030204" pitchFamily="34" charset="0"/>
              </a:rPr>
              <a:t>      50X1+20X2 &gt;=100</a:t>
            </a:r>
          </a:p>
          <a:p>
            <a:r>
              <a:rPr lang="en-US" sz="2000" b="1" dirty="0">
                <a:latin typeface="Arial Narrow" panose="020B0606020202030204" pitchFamily="34" charset="0"/>
              </a:rPr>
              <a:t>END</a:t>
            </a:r>
          </a:p>
          <a:p>
            <a:r>
              <a:rPr lang="en-US" sz="2000" b="1" dirty="0">
                <a:latin typeface="Arial Narrow" panose="020B0606020202030204" pitchFamily="34" charset="0"/>
              </a:rPr>
              <a:t>GIN </a:t>
            </a:r>
            <a:r>
              <a:rPr lang="en-US" sz="2000" b="1" dirty="0" err="1">
                <a:latin typeface="Arial Narrow" panose="020B0606020202030204" pitchFamily="34" charset="0"/>
              </a:rPr>
              <a:t>X1</a:t>
            </a:r>
            <a:endParaRPr lang="en-US" sz="2000" b="1" dirty="0">
              <a:latin typeface="Arial Narrow" panose="020B0606020202030204" pitchFamily="34" charset="0"/>
            </a:endParaRPr>
          </a:p>
          <a:p>
            <a:r>
              <a:rPr lang="en-US" sz="2000" b="1" dirty="0">
                <a:latin typeface="Arial Narrow" panose="020B0606020202030204" pitchFamily="34" charset="0"/>
              </a:rPr>
              <a:t>GIN </a:t>
            </a:r>
            <a:r>
              <a:rPr lang="en-US" sz="2000" b="1" dirty="0" err="1">
                <a:latin typeface="Arial Narrow" panose="020B0606020202030204" pitchFamily="34" charset="0"/>
              </a:rPr>
              <a:t>X2</a:t>
            </a:r>
            <a:endParaRPr lang="es-PE" sz="2000" b="1" dirty="0">
              <a:latin typeface="Arial Narrow" panose="020B0606020202030204" pitchFamily="34" charset="0"/>
            </a:endParaRPr>
          </a:p>
        </p:txBody>
      </p:sp>
      <p:sp>
        <p:nvSpPr>
          <p:cNvPr id="20" name="CustomShape 14">
            <a:extLst>
              <a:ext uri="{FF2B5EF4-FFF2-40B4-BE49-F238E27FC236}">
                <a16:creationId xmlns:a16="http://schemas.microsoft.com/office/drawing/2014/main" id="{6A000C17-A007-B9F9-F022-E79C105800F7}"/>
              </a:ext>
            </a:extLst>
          </p:cNvPr>
          <p:cNvSpPr/>
          <p:nvPr/>
        </p:nvSpPr>
        <p:spPr>
          <a:xfrm>
            <a:off x="744040" y="1808820"/>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6</a:t>
            </a:r>
            <a:endParaRPr lang="es-PE" spc="-1" dirty="0">
              <a:latin typeface="Arial"/>
            </a:endParaRPr>
          </a:p>
        </p:txBody>
      </p:sp>
    </p:spTree>
    <p:extLst>
      <p:ext uri="{BB962C8B-B14F-4D97-AF65-F5344CB8AC3E}">
        <p14:creationId xmlns:p14="http://schemas.microsoft.com/office/powerpoint/2010/main" val="380749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ppt_x"/>
                                          </p:val>
                                        </p:tav>
                                        <p:tav tm="100000">
                                          <p:val>
                                            <p:strVal val="#ppt_x"/>
                                          </p:val>
                                        </p:tav>
                                      </p:tavLst>
                                    </p:anim>
                                    <p:anim calcmode="lin" valueType="num">
                                      <p:cBhvr additive="base">
                                        <p:cTn id="5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5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5" grpId="0"/>
      <p:bldP spid="8" grpId="0" animBg="1"/>
      <p:bldP spid="48" grpId="0" animBg="1"/>
      <p:bldP spid="4" grpId="0" animBg="1"/>
      <p:bldP spid="7" grpId="0" animBg="1"/>
      <p:bldP spid="53" grpId="0" animBg="1"/>
      <p:bldP spid="54" grpId="0" animBg="1"/>
      <p:bldP spid="11" grpId="0" animBg="1"/>
      <p:bldP spid="12" grpId="0" animBg="1"/>
      <p:bldP spid="13" grpId="0" animBg="1"/>
      <p:bldP spid="14" grpId="0" animBg="1"/>
      <p:bldP spid="1349" grpId="0" animBg="1"/>
      <p:bldP spid="1355" grpId="0" animBg="1"/>
      <p:bldP spid="135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stomShape 14">
            <a:extLst>
              <a:ext uri="{FF2B5EF4-FFF2-40B4-BE49-F238E27FC236}">
                <a16:creationId xmlns:a16="http://schemas.microsoft.com/office/drawing/2014/main" id="{ACA89983-90ED-42C1-91E0-E7BEEE25F173}"/>
              </a:ext>
            </a:extLst>
          </p:cNvPr>
          <p:cNvSpPr/>
          <p:nvPr/>
        </p:nvSpPr>
        <p:spPr>
          <a:xfrm>
            <a:off x="1568077" y="3228070"/>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4</a:t>
            </a:r>
            <a:endParaRPr lang="es-PE" spc="-1" dirty="0">
              <a:latin typeface="Arial"/>
            </a:endParaRPr>
          </a:p>
        </p:txBody>
      </p:sp>
      <p:sp>
        <p:nvSpPr>
          <p:cNvPr id="14" name="CustomShape 15">
            <a:extLst>
              <a:ext uri="{FF2B5EF4-FFF2-40B4-BE49-F238E27FC236}">
                <a16:creationId xmlns:a16="http://schemas.microsoft.com/office/drawing/2014/main" id="{8F3FE0B5-14EE-4E04-A0E8-96D07F5908B0}"/>
              </a:ext>
            </a:extLst>
          </p:cNvPr>
          <p:cNvSpPr/>
          <p:nvPr/>
        </p:nvSpPr>
        <p:spPr>
          <a:xfrm>
            <a:off x="1568077" y="3966007"/>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2</a:t>
            </a:r>
            <a:endParaRPr lang="es-PE" spc="-1" dirty="0">
              <a:latin typeface="Arial"/>
            </a:endParaRPr>
          </a:p>
        </p:txBody>
      </p:sp>
      <p:sp>
        <p:nvSpPr>
          <p:cNvPr id="15" name="CustomShape 16">
            <a:extLst>
              <a:ext uri="{FF2B5EF4-FFF2-40B4-BE49-F238E27FC236}">
                <a16:creationId xmlns:a16="http://schemas.microsoft.com/office/drawing/2014/main" id="{EB167F80-FB4D-4D98-83DF-FCDFC85E966D}"/>
              </a:ext>
            </a:extLst>
          </p:cNvPr>
          <p:cNvSpPr/>
          <p:nvPr/>
        </p:nvSpPr>
        <p:spPr>
          <a:xfrm>
            <a:off x="1535994" y="1784280"/>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8</a:t>
            </a:r>
            <a:endParaRPr lang="es-PE" spc="-1" dirty="0">
              <a:latin typeface="Arial"/>
            </a:endParaRPr>
          </a:p>
        </p:txBody>
      </p:sp>
      <p:sp>
        <p:nvSpPr>
          <p:cNvPr id="16" name="CustomShape 17">
            <a:extLst>
              <a:ext uri="{FF2B5EF4-FFF2-40B4-BE49-F238E27FC236}">
                <a16:creationId xmlns:a16="http://schemas.microsoft.com/office/drawing/2014/main" id="{2E888A95-28A2-44F1-AB39-AE8C6CF15D43}"/>
              </a:ext>
            </a:extLst>
          </p:cNvPr>
          <p:cNvSpPr/>
          <p:nvPr/>
        </p:nvSpPr>
        <p:spPr>
          <a:xfrm>
            <a:off x="2270160" y="4900459"/>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1</a:t>
            </a:r>
            <a:endParaRPr lang="es-PE" spc="-1" dirty="0">
              <a:latin typeface="Arial"/>
            </a:endParaRPr>
          </a:p>
        </p:txBody>
      </p:sp>
      <p:sp>
        <p:nvSpPr>
          <p:cNvPr id="17" name="CustomShape 18">
            <a:extLst>
              <a:ext uri="{FF2B5EF4-FFF2-40B4-BE49-F238E27FC236}">
                <a16:creationId xmlns:a16="http://schemas.microsoft.com/office/drawing/2014/main" id="{9C28F2E4-C742-40DB-8304-53E37A2DAF2E}"/>
              </a:ext>
            </a:extLst>
          </p:cNvPr>
          <p:cNvSpPr/>
          <p:nvPr/>
        </p:nvSpPr>
        <p:spPr>
          <a:xfrm>
            <a:off x="2618837" y="4900459"/>
            <a:ext cx="314232"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2</a:t>
            </a:r>
            <a:endParaRPr lang="es-PE" spc="-1" dirty="0">
              <a:latin typeface="Arial"/>
            </a:endParaRPr>
          </a:p>
        </p:txBody>
      </p:sp>
      <p:sp>
        <p:nvSpPr>
          <p:cNvPr id="18" name="CustomShape 19">
            <a:extLst>
              <a:ext uri="{FF2B5EF4-FFF2-40B4-BE49-F238E27FC236}">
                <a16:creationId xmlns:a16="http://schemas.microsoft.com/office/drawing/2014/main" id="{4EC78656-81B1-401A-B729-3D54062720BC}"/>
              </a:ext>
            </a:extLst>
          </p:cNvPr>
          <p:cNvSpPr/>
          <p:nvPr/>
        </p:nvSpPr>
        <p:spPr>
          <a:xfrm>
            <a:off x="2967873" y="4900459"/>
            <a:ext cx="314232"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3</a:t>
            </a:r>
            <a:endParaRPr lang="es-PE" b="1" spc="-1" dirty="0">
              <a:latin typeface="Arial"/>
            </a:endParaRPr>
          </a:p>
        </p:txBody>
      </p:sp>
      <p:sp>
        <p:nvSpPr>
          <p:cNvPr id="21" name="Line 26">
            <a:extLst>
              <a:ext uri="{FF2B5EF4-FFF2-40B4-BE49-F238E27FC236}">
                <a16:creationId xmlns:a16="http://schemas.microsoft.com/office/drawing/2014/main" id="{D21C40E8-0720-48D3-B9CB-80EEF6C3B248}"/>
              </a:ext>
            </a:extLst>
          </p:cNvPr>
          <p:cNvSpPr/>
          <p:nvPr/>
        </p:nvSpPr>
        <p:spPr>
          <a:xfrm flipH="1">
            <a:off x="2504104" y="1276710"/>
            <a:ext cx="6182" cy="5090650"/>
          </a:xfrm>
          <a:prstGeom prst="line">
            <a:avLst/>
          </a:prstGeom>
          <a:ln w="38100">
            <a:solidFill>
              <a:srgbClr val="FF0000"/>
            </a:solidFill>
            <a:round/>
            <a:headEnd type="stealth" w="med" len="lg"/>
          </a:ln>
        </p:spPr>
        <p:style>
          <a:lnRef idx="0">
            <a:scrgbClr r="0" g="0" b="0"/>
          </a:lnRef>
          <a:fillRef idx="0">
            <a:scrgbClr r="0" g="0" b="0"/>
          </a:fillRef>
          <a:effectRef idx="0">
            <a:scrgbClr r="0" g="0" b="0"/>
          </a:effectRef>
          <a:fontRef idx="minor"/>
        </p:style>
        <p:txBody>
          <a:bodyPr/>
          <a:lstStyle/>
          <a:p>
            <a:endParaRPr lang="es-PE" dirty="0"/>
          </a:p>
        </p:txBody>
      </p:sp>
      <p:cxnSp>
        <p:nvCxnSpPr>
          <p:cNvPr id="29" name="40 Conector recto">
            <a:extLst>
              <a:ext uri="{FF2B5EF4-FFF2-40B4-BE49-F238E27FC236}">
                <a16:creationId xmlns:a16="http://schemas.microsoft.com/office/drawing/2014/main" id="{F5E76B34-AC88-419B-8E26-F1F9174AB94B}"/>
              </a:ext>
            </a:extLst>
          </p:cNvPr>
          <p:cNvCxnSpPr>
            <a:cxnSpLocks/>
          </p:cNvCxnSpPr>
          <p:nvPr/>
        </p:nvCxnSpPr>
        <p:spPr>
          <a:xfrm flipH="1" flipV="1">
            <a:off x="2755253" y="1684420"/>
            <a:ext cx="453783" cy="170751"/>
          </a:xfrm>
          <a:prstGeom prst="line">
            <a:avLst/>
          </a:prstGeom>
          <a:ln w="38100">
            <a:solidFill>
              <a:srgbClr val="00B050"/>
            </a:solidFill>
            <a:round/>
            <a:tailEnd type="stealth" w="med" len="lg"/>
          </a:ln>
        </p:spPr>
        <p:style>
          <a:lnRef idx="0">
            <a:scrgbClr r="0" g="0" b="0"/>
          </a:lnRef>
          <a:fillRef idx="0">
            <a:scrgbClr r="0" g="0" b="0"/>
          </a:fillRef>
          <a:effectRef idx="0">
            <a:scrgbClr r="0" g="0" b="0"/>
          </a:effectRef>
          <a:fontRef idx="minor"/>
        </p:style>
      </p:cxnSp>
      <p:cxnSp>
        <p:nvCxnSpPr>
          <p:cNvPr id="30" name="43 Conector recto">
            <a:extLst>
              <a:ext uri="{FF2B5EF4-FFF2-40B4-BE49-F238E27FC236}">
                <a16:creationId xmlns:a16="http://schemas.microsoft.com/office/drawing/2014/main" id="{26F2ECD0-02E1-45B2-9650-969A2E42C088}"/>
              </a:ext>
            </a:extLst>
          </p:cNvPr>
          <p:cNvCxnSpPr>
            <a:cxnSpLocks/>
          </p:cNvCxnSpPr>
          <p:nvPr/>
        </p:nvCxnSpPr>
        <p:spPr>
          <a:xfrm flipH="1">
            <a:off x="4140320" y="3527471"/>
            <a:ext cx="168368" cy="280258"/>
          </a:xfrm>
          <a:prstGeom prst="line">
            <a:avLst/>
          </a:prstGeom>
          <a:ln w="38100">
            <a:solidFill>
              <a:schemeClr val="tx1"/>
            </a:solidFill>
            <a:round/>
            <a:tailEnd type="stealth" w="med" len="lg"/>
          </a:ln>
        </p:spPr>
        <p:style>
          <a:lnRef idx="0">
            <a:scrgbClr r="0" g="0" b="0"/>
          </a:lnRef>
          <a:fillRef idx="0">
            <a:scrgbClr r="0" g="0" b="0"/>
          </a:fillRef>
          <a:effectRef idx="0">
            <a:scrgbClr r="0" g="0" b="0"/>
          </a:effectRef>
          <a:fontRef idx="minor"/>
        </p:style>
      </p:cxnSp>
      <p:cxnSp>
        <p:nvCxnSpPr>
          <p:cNvPr id="31" name="45 Conector recto">
            <a:extLst>
              <a:ext uri="{FF2B5EF4-FFF2-40B4-BE49-F238E27FC236}">
                <a16:creationId xmlns:a16="http://schemas.microsoft.com/office/drawing/2014/main" id="{C07A8977-46B5-4041-B8D6-DBA70CABCD4F}"/>
              </a:ext>
            </a:extLst>
          </p:cNvPr>
          <p:cNvCxnSpPr>
            <a:cxnSpLocks/>
          </p:cNvCxnSpPr>
          <p:nvPr/>
        </p:nvCxnSpPr>
        <p:spPr>
          <a:xfrm>
            <a:off x="4494470" y="2407148"/>
            <a:ext cx="214421" cy="249601"/>
          </a:xfrm>
          <a:prstGeom prst="line">
            <a:avLst/>
          </a:prstGeom>
          <a:ln w="38100">
            <a:solidFill>
              <a:srgbClr val="7030A0"/>
            </a:solidFill>
            <a:round/>
            <a:tailEnd type="stealth" w="med" len="lg"/>
          </a:ln>
        </p:spPr>
        <p:style>
          <a:lnRef idx="0">
            <a:scrgbClr r="0" g="0" b="0"/>
          </a:lnRef>
          <a:fillRef idx="0">
            <a:scrgbClr r="0" g="0" b="0"/>
          </a:fillRef>
          <a:effectRef idx="0">
            <a:scrgbClr r="0" g="0" b="0"/>
          </a:effectRef>
          <a:fontRef idx="minor"/>
        </p:style>
      </p:cxnSp>
      <p:sp>
        <p:nvSpPr>
          <p:cNvPr id="38" name="CustomShape 15">
            <a:extLst>
              <a:ext uri="{FF2B5EF4-FFF2-40B4-BE49-F238E27FC236}">
                <a16:creationId xmlns:a16="http://schemas.microsoft.com/office/drawing/2014/main" id="{144682E3-5AC8-4107-9A9F-6261A282370D}"/>
              </a:ext>
            </a:extLst>
          </p:cNvPr>
          <p:cNvSpPr/>
          <p:nvPr/>
        </p:nvSpPr>
        <p:spPr>
          <a:xfrm>
            <a:off x="1540479" y="2521133"/>
            <a:ext cx="311400" cy="366480"/>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PE" b="1" spc="-1" dirty="0">
                <a:solidFill>
                  <a:srgbClr val="000000"/>
                </a:solidFill>
                <a:latin typeface="Arial"/>
                <a:ea typeface="DejaVu Sans"/>
              </a:rPr>
              <a:t>6</a:t>
            </a:r>
            <a:endParaRPr lang="es-PE" spc="-1" dirty="0">
              <a:latin typeface="Arial"/>
            </a:endParaRPr>
          </a:p>
        </p:txBody>
      </p:sp>
      <p:sp>
        <p:nvSpPr>
          <p:cNvPr id="40" name="Elipse 39">
            <a:extLst>
              <a:ext uri="{FF2B5EF4-FFF2-40B4-BE49-F238E27FC236}">
                <a16:creationId xmlns:a16="http://schemas.microsoft.com/office/drawing/2014/main" id="{AC1F9749-2D17-4D5C-8085-6C298BC1092D}"/>
              </a:ext>
            </a:extLst>
          </p:cNvPr>
          <p:cNvSpPr/>
          <p:nvPr/>
        </p:nvSpPr>
        <p:spPr>
          <a:xfrm>
            <a:off x="3187567" y="1424526"/>
            <a:ext cx="254474" cy="247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PE" dirty="0"/>
          </a:p>
        </p:txBody>
      </p:sp>
      <p:sp>
        <p:nvSpPr>
          <p:cNvPr id="41" name="Elipse 40">
            <a:extLst>
              <a:ext uri="{FF2B5EF4-FFF2-40B4-BE49-F238E27FC236}">
                <a16:creationId xmlns:a16="http://schemas.microsoft.com/office/drawing/2014/main" id="{06BC0704-D7B7-42D7-A9F5-85B5F9E8C997}"/>
              </a:ext>
            </a:extLst>
          </p:cNvPr>
          <p:cNvSpPr/>
          <p:nvPr/>
        </p:nvSpPr>
        <p:spPr>
          <a:xfrm>
            <a:off x="5306785" y="3957813"/>
            <a:ext cx="254474" cy="247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3</a:t>
            </a:r>
            <a:endParaRPr lang="es-PE" dirty="0"/>
          </a:p>
        </p:txBody>
      </p:sp>
      <p:sp>
        <p:nvSpPr>
          <p:cNvPr id="42" name="Elipse 41">
            <a:extLst>
              <a:ext uri="{FF2B5EF4-FFF2-40B4-BE49-F238E27FC236}">
                <a16:creationId xmlns:a16="http://schemas.microsoft.com/office/drawing/2014/main" id="{14F946D5-7730-484C-A09F-081F28575FD9}"/>
              </a:ext>
            </a:extLst>
          </p:cNvPr>
          <p:cNvSpPr/>
          <p:nvPr/>
        </p:nvSpPr>
        <p:spPr>
          <a:xfrm>
            <a:off x="4648322" y="2091623"/>
            <a:ext cx="254474" cy="247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PE" dirty="0"/>
          </a:p>
        </p:txBody>
      </p:sp>
      <p:sp>
        <p:nvSpPr>
          <p:cNvPr id="45" name="CuadroTexto 44">
            <a:extLst>
              <a:ext uri="{FF2B5EF4-FFF2-40B4-BE49-F238E27FC236}">
                <a16:creationId xmlns:a16="http://schemas.microsoft.com/office/drawing/2014/main" id="{A21C1C05-6084-4BE7-9624-D8EDE9F7D4B6}"/>
              </a:ext>
            </a:extLst>
          </p:cNvPr>
          <p:cNvSpPr txBox="1"/>
          <p:nvPr/>
        </p:nvSpPr>
        <p:spPr>
          <a:xfrm>
            <a:off x="1434650" y="1315830"/>
            <a:ext cx="626314" cy="461665"/>
          </a:xfrm>
          <a:prstGeom prst="rect">
            <a:avLst/>
          </a:prstGeom>
          <a:noFill/>
        </p:spPr>
        <p:txBody>
          <a:bodyPr wrap="square" rtlCol="0">
            <a:spAutoFit/>
          </a:bodyPr>
          <a:lstStyle/>
          <a:p>
            <a:r>
              <a:rPr lang="es-ES" sz="2400" dirty="0" err="1">
                <a:solidFill>
                  <a:srgbClr val="FF0000"/>
                </a:solidFill>
              </a:rPr>
              <a:t>X2</a:t>
            </a:r>
            <a:endParaRPr lang="es-PE" sz="2400" dirty="0">
              <a:solidFill>
                <a:srgbClr val="FF0000"/>
              </a:solidFill>
            </a:endParaRPr>
          </a:p>
        </p:txBody>
      </p:sp>
      <p:sp>
        <p:nvSpPr>
          <p:cNvPr id="46" name="CuadroTexto 45">
            <a:extLst>
              <a:ext uri="{FF2B5EF4-FFF2-40B4-BE49-F238E27FC236}">
                <a16:creationId xmlns:a16="http://schemas.microsoft.com/office/drawing/2014/main" id="{D9E6E07F-E45D-4D65-A2B7-33A0E3129516}"/>
              </a:ext>
            </a:extLst>
          </p:cNvPr>
          <p:cNvSpPr txBox="1"/>
          <p:nvPr/>
        </p:nvSpPr>
        <p:spPr>
          <a:xfrm>
            <a:off x="7321200" y="4869457"/>
            <a:ext cx="626314" cy="461665"/>
          </a:xfrm>
          <a:prstGeom prst="rect">
            <a:avLst/>
          </a:prstGeom>
          <a:noFill/>
        </p:spPr>
        <p:txBody>
          <a:bodyPr wrap="square" rtlCol="0">
            <a:spAutoFit/>
          </a:bodyPr>
          <a:lstStyle/>
          <a:p>
            <a:r>
              <a:rPr lang="es-ES" sz="2400" dirty="0" err="1">
                <a:solidFill>
                  <a:srgbClr val="FF0000"/>
                </a:solidFill>
              </a:rPr>
              <a:t>X1</a:t>
            </a:r>
            <a:endParaRPr lang="es-PE" sz="2400" dirty="0">
              <a:solidFill>
                <a:srgbClr val="FF0000"/>
              </a:solidFill>
            </a:endParaRPr>
          </a:p>
        </p:txBody>
      </p:sp>
      <p:sp>
        <p:nvSpPr>
          <p:cNvPr id="47" name="Rectángulo 46">
            <a:extLst>
              <a:ext uri="{FF2B5EF4-FFF2-40B4-BE49-F238E27FC236}">
                <a16:creationId xmlns:a16="http://schemas.microsoft.com/office/drawing/2014/main" id="{6574F03A-9668-4943-A9CB-DF103CFEC385}"/>
              </a:ext>
            </a:extLst>
          </p:cNvPr>
          <p:cNvSpPr/>
          <p:nvPr/>
        </p:nvSpPr>
        <p:spPr>
          <a:xfrm>
            <a:off x="7874248" y="1327053"/>
            <a:ext cx="4283243" cy="2308324"/>
          </a:xfrm>
          <a:prstGeom prst="rect">
            <a:avLst/>
          </a:prstGeom>
          <a:solidFill>
            <a:srgbClr val="FFC000"/>
          </a:solidFill>
        </p:spPr>
        <p:txBody>
          <a:bodyPr wrap="square">
            <a:spAutoFit/>
          </a:bodyPr>
          <a:lstStyle/>
          <a:p>
            <a:pPr algn="just">
              <a:spcAft>
                <a:spcPts val="0"/>
              </a:spcAft>
            </a:pPr>
            <a:r>
              <a:rPr lang="es-PE" dirty="0">
                <a:latin typeface="Arial" panose="020B0604020202020204" pitchFamily="34" charset="0"/>
                <a:ea typeface="Calibri" panose="020F0502020204030204" pitchFamily="34" charset="0"/>
              </a:rPr>
              <a:t>i)	Graficando las Restricciones</a:t>
            </a:r>
            <a:endParaRPr lang="es-PE" dirty="0">
              <a:latin typeface="Times New Roman" panose="02020603050405020304" pitchFamily="18" charset="0"/>
              <a:ea typeface="Calibri" panose="020F0502020204030204" pitchFamily="34" charset="0"/>
            </a:endParaRPr>
          </a:p>
          <a:p>
            <a:pPr algn="just">
              <a:spcAft>
                <a:spcPts val="0"/>
              </a:spcAft>
            </a:pPr>
            <a:r>
              <a:rPr lang="es-PE" dirty="0">
                <a:latin typeface="Arial" panose="020B0604020202020204" pitchFamily="34" charset="0"/>
                <a:ea typeface="Calibri" panose="020F0502020204030204" pitchFamily="34" charset="0"/>
              </a:rPr>
              <a:t>-</a:t>
            </a:r>
            <a:r>
              <a:rPr lang="es-PE" dirty="0" err="1">
                <a:latin typeface="Arial" panose="020B0604020202020204" pitchFamily="34" charset="0"/>
                <a:ea typeface="Calibri" panose="020F0502020204030204" pitchFamily="34" charset="0"/>
              </a:rPr>
              <a:t>6X1</a:t>
            </a:r>
            <a:r>
              <a:rPr lang="es-PE" dirty="0">
                <a:latin typeface="Arial" panose="020B0604020202020204" pitchFamily="34" charset="0"/>
                <a:ea typeface="Calibri" panose="020F0502020204030204" pitchFamily="34" charset="0"/>
              </a:rPr>
              <a:t> + </a:t>
            </a:r>
            <a:r>
              <a:rPr lang="es-PE" dirty="0" err="1">
                <a:latin typeface="Arial" panose="020B0604020202020204" pitchFamily="34" charset="0"/>
                <a:ea typeface="Calibri" panose="020F0502020204030204" pitchFamily="34" charset="0"/>
              </a:rPr>
              <a:t>2X2</a:t>
            </a:r>
            <a:r>
              <a:rPr lang="es-PE" dirty="0">
                <a:latin typeface="Arial" panose="020B0604020202020204" pitchFamily="34" charset="0"/>
                <a:ea typeface="Calibri" panose="020F0502020204030204" pitchFamily="34" charset="0"/>
              </a:rPr>
              <a:t> </a:t>
            </a:r>
            <a:r>
              <a:rPr lang="es-PE" dirty="0">
                <a:latin typeface="Symbol" panose="05050102010706020507" pitchFamily="18" charset="2"/>
                <a:ea typeface="Calibri" panose="020F0502020204030204" pitchFamily="34" charset="0"/>
              </a:rPr>
              <a:t>³</a:t>
            </a:r>
            <a:r>
              <a:rPr lang="es-PE" dirty="0">
                <a:latin typeface="Arial" panose="020B0604020202020204" pitchFamily="34" charset="0"/>
                <a:ea typeface="Calibri" panose="020F0502020204030204" pitchFamily="34" charset="0"/>
              </a:rPr>
              <a:t> -3	(I)</a:t>
            </a:r>
            <a:endParaRPr lang="es-PE" dirty="0">
              <a:latin typeface="Times New Roman" panose="02020603050405020304" pitchFamily="18" charset="0"/>
              <a:ea typeface="Calibri" panose="020F0502020204030204" pitchFamily="34" charset="0"/>
            </a:endParaRPr>
          </a:p>
          <a:p>
            <a:pPr algn="just">
              <a:spcAft>
                <a:spcPts val="0"/>
              </a:spcAft>
            </a:pPr>
            <a:r>
              <a:rPr lang="es-PE" dirty="0">
                <a:latin typeface="Arial" panose="020B0604020202020204" pitchFamily="34" charset="0"/>
                <a:ea typeface="Calibri" panose="020F0502020204030204" pitchFamily="34" charset="0"/>
              </a:rPr>
              <a:t>-</a:t>
            </a:r>
            <a:r>
              <a:rPr lang="es-PE" dirty="0" err="1">
                <a:latin typeface="Arial" panose="020B0604020202020204" pitchFamily="34" charset="0"/>
                <a:ea typeface="Calibri" panose="020F0502020204030204" pitchFamily="34" charset="0"/>
              </a:rPr>
              <a:t>6X1</a:t>
            </a:r>
            <a:r>
              <a:rPr lang="es-PE" dirty="0">
                <a:latin typeface="Arial" panose="020B0604020202020204" pitchFamily="34" charset="0"/>
                <a:ea typeface="Calibri" panose="020F0502020204030204" pitchFamily="34" charset="0"/>
              </a:rPr>
              <a:t> + </a:t>
            </a:r>
            <a:r>
              <a:rPr lang="es-PE" dirty="0" err="1">
                <a:latin typeface="Arial" panose="020B0604020202020204" pitchFamily="34" charset="0"/>
                <a:ea typeface="Calibri" panose="020F0502020204030204" pitchFamily="34" charset="0"/>
              </a:rPr>
              <a:t>2X2</a:t>
            </a:r>
            <a:r>
              <a:rPr lang="es-PE" dirty="0">
                <a:latin typeface="Arial" panose="020B0604020202020204" pitchFamily="34" charset="0"/>
                <a:ea typeface="Calibri" panose="020F0502020204030204" pitchFamily="34" charset="0"/>
              </a:rPr>
              <a:t> = -3	Si </a:t>
            </a:r>
            <a:r>
              <a:rPr lang="es-PE" dirty="0" err="1">
                <a:latin typeface="Arial" panose="020B0604020202020204" pitchFamily="34" charset="0"/>
                <a:ea typeface="Calibri" panose="020F0502020204030204" pitchFamily="34" charset="0"/>
              </a:rPr>
              <a:t>X1</a:t>
            </a:r>
            <a:r>
              <a:rPr lang="es-PE" dirty="0">
                <a:latin typeface="Arial" panose="020B0604020202020204" pitchFamily="34" charset="0"/>
                <a:ea typeface="Calibri" panose="020F0502020204030204" pitchFamily="34" charset="0"/>
              </a:rPr>
              <a:t> = 0 </a:t>
            </a:r>
            <a:r>
              <a:rPr lang="es-PE" dirty="0">
                <a:latin typeface="Symbol" panose="05050102010706020507" pitchFamily="18" charset="2"/>
                <a:ea typeface="Calibri" panose="020F0502020204030204" pitchFamily="34" charset="0"/>
              </a:rPr>
              <a:t>Þ </a:t>
            </a:r>
            <a:r>
              <a:rPr lang="es-PE" dirty="0" err="1">
                <a:latin typeface="Arial" panose="020B0604020202020204" pitchFamily="34" charset="0"/>
                <a:ea typeface="Calibri" panose="020F0502020204030204" pitchFamily="34" charset="0"/>
              </a:rPr>
              <a:t>X2</a:t>
            </a:r>
            <a:r>
              <a:rPr lang="es-PE" dirty="0">
                <a:latin typeface="Arial" panose="020B0604020202020204" pitchFamily="34" charset="0"/>
                <a:ea typeface="Calibri" panose="020F0502020204030204" pitchFamily="34" charset="0"/>
              </a:rPr>
              <a:t>= -1.5</a:t>
            </a:r>
            <a:endParaRPr lang="es-PE" dirty="0">
              <a:latin typeface="Times New Roman" panose="02020603050405020304" pitchFamily="18" charset="0"/>
              <a:ea typeface="Calibri" panose="020F0502020204030204" pitchFamily="34" charset="0"/>
            </a:endParaRPr>
          </a:p>
          <a:p>
            <a:pPr algn="just">
              <a:spcAft>
                <a:spcPts val="0"/>
              </a:spcAft>
            </a:pPr>
            <a:r>
              <a:rPr lang="es-PE" dirty="0">
                <a:latin typeface="Arial" panose="020B0604020202020204" pitchFamily="34" charset="0"/>
                <a:ea typeface="Calibri" panose="020F0502020204030204" pitchFamily="34" charset="0"/>
              </a:rPr>
              <a:t>		Si </a:t>
            </a:r>
            <a:r>
              <a:rPr lang="es-PE" dirty="0" err="1">
                <a:latin typeface="Arial" panose="020B0604020202020204" pitchFamily="34" charset="0"/>
                <a:ea typeface="Calibri" panose="020F0502020204030204" pitchFamily="34" charset="0"/>
              </a:rPr>
              <a:t>X2</a:t>
            </a:r>
            <a:r>
              <a:rPr lang="es-PE" dirty="0">
                <a:latin typeface="Arial" panose="020B0604020202020204" pitchFamily="34" charset="0"/>
                <a:ea typeface="Calibri" panose="020F0502020204030204" pitchFamily="34" charset="0"/>
              </a:rPr>
              <a:t> = 0 </a:t>
            </a:r>
            <a:r>
              <a:rPr lang="es-PE" dirty="0">
                <a:latin typeface="Symbol" panose="05050102010706020507" pitchFamily="18" charset="2"/>
                <a:ea typeface="Calibri" panose="020F0502020204030204" pitchFamily="34" charset="0"/>
              </a:rPr>
              <a:t>Þ </a:t>
            </a:r>
            <a:r>
              <a:rPr lang="es-PE" dirty="0" err="1">
                <a:latin typeface="Arial" panose="020B0604020202020204" pitchFamily="34" charset="0"/>
                <a:ea typeface="Calibri" panose="020F0502020204030204" pitchFamily="34" charset="0"/>
              </a:rPr>
              <a:t>X1</a:t>
            </a:r>
            <a:r>
              <a:rPr lang="es-PE" dirty="0">
                <a:latin typeface="Arial" panose="020B0604020202020204" pitchFamily="34" charset="0"/>
                <a:ea typeface="Calibri" panose="020F0502020204030204" pitchFamily="34" charset="0"/>
              </a:rPr>
              <a:t>=0.5</a:t>
            </a:r>
            <a:endParaRPr lang="es-PE" dirty="0">
              <a:latin typeface="Times New Roman" panose="02020603050405020304" pitchFamily="18" charset="0"/>
              <a:ea typeface="Calibri" panose="020F0502020204030204" pitchFamily="34" charset="0"/>
            </a:endParaRPr>
          </a:p>
          <a:p>
            <a:pPr algn="just">
              <a:spcAft>
                <a:spcPts val="0"/>
              </a:spcAft>
            </a:pPr>
            <a:r>
              <a:rPr lang="es-PE" dirty="0">
                <a:latin typeface="Arial" panose="020B0604020202020204" pitchFamily="34" charset="0"/>
                <a:ea typeface="Calibri" panose="020F0502020204030204" pitchFamily="34" charset="0"/>
              </a:rPr>
              <a:t>-</a:t>
            </a:r>
            <a:r>
              <a:rPr lang="es-PE" dirty="0" err="1">
                <a:latin typeface="Arial" panose="020B0604020202020204" pitchFamily="34" charset="0"/>
                <a:ea typeface="Calibri" panose="020F0502020204030204" pitchFamily="34" charset="0"/>
              </a:rPr>
              <a:t>2X1</a:t>
            </a:r>
            <a:r>
              <a:rPr lang="es-PE" dirty="0">
                <a:latin typeface="Arial" panose="020B0604020202020204" pitchFamily="34" charset="0"/>
                <a:ea typeface="Calibri" panose="020F0502020204030204" pitchFamily="34" charset="0"/>
              </a:rPr>
              <a:t> + </a:t>
            </a:r>
            <a:r>
              <a:rPr lang="es-PE" dirty="0" err="1">
                <a:latin typeface="Arial" panose="020B0604020202020204" pitchFamily="34" charset="0"/>
                <a:ea typeface="Calibri" panose="020F0502020204030204" pitchFamily="34" charset="0"/>
              </a:rPr>
              <a:t>3X2</a:t>
            </a:r>
            <a:r>
              <a:rPr lang="es-PE" dirty="0">
                <a:latin typeface="Arial" panose="020B0604020202020204" pitchFamily="34" charset="0"/>
                <a:ea typeface="Calibri" panose="020F0502020204030204" pitchFamily="34" charset="0"/>
              </a:rPr>
              <a:t> = 6(II)	Si </a:t>
            </a:r>
            <a:r>
              <a:rPr lang="es-PE" dirty="0" err="1">
                <a:latin typeface="Arial" panose="020B0604020202020204" pitchFamily="34" charset="0"/>
                <a:ea typeface="Calibri" panose="020F0502020204030204" pitchFamily="34" charset="0"/>
              </a:rPr>
              <a:t>X1</a:t>
            </a:r>
            <a:r>
              <a:rPr lang="es-PE" dirty="0">
                <a:latin typeface="Arial" panose="020B0604020202020204" pitchFamily="34" charset="0"/>
                <a:ea typeface="Calibri" panose="020F0502020204030204" pitchFamily="34" charset="0"/>
              </a:rPr>
              <a:t> = 0 </a:t>
            </a:r>
            <a:r>
              <a:rPr lang="es-PE" dirty="0">
                <a:latin typeface="Symbol" panose="05050102010706020507" pitchFamily="18" charset="2"/>
                <a:ea typeface="Calibri" panose="020F0502020204030204" pitchFamily="34" charset="0"/>
              </a:rPr>
              <a:t>Þ </a:t>
            </a:r>
            <a:r>
              <a:rPr lang="es-PE" dirty="0" err="1">
                <a:latin typeface="Arial" panose="020B0604020202020204" pitchFamily="34" charset="0"/>
                <a:ea typeface="Calibri" panose="020F0502020204030204" pitchFamily="34" charset="0"/>
              </a:rPr>
              <a:t>X2</a:t>
            </a:r>
            <a:r>
              <a:rPr lang="es-PE" dirty="0">
                <a:latin typeface="Arial" panose="020B0604020202020204" pitchFamily="34" charset="0"/>
                <a:ea typeface="Calibri" panose="020F0502020204030204" pitchFamily="34" charset="0"/>
              </a:rPr>
              <a:t>=2</a:t>
            </a:r>
            <a:endParaRPr lang="es-PE" dirty="0">
              <a:latin typeface="Times New Roman" panose="02020603050405020304" pitchFamily="18" charset="0"/>
              <a:ea typeface="Calibri" panose="020F0502020204030204" pitchFamily="34" charset="0"/>
            </a:endParaRPr>
          </a:p>
          <a:p>
            <a:pPr algn="just">
              <a:spcAft>
                <a:spcPts val="0"/>
              </a:spcAft>
            </a:pPr>
            <a:r>
              <a:rPr lang="es-PE" dirty="0">
                <a:latin typeface="Arial" panose="020B0604020202020204" pitchFamily="34" charset="0"/>
                <a:ea typeface="Calibri" panose="020F0502020204030204" pitchFamily="34" charset="0"/>
              </a:rPr>
              <a:t>		Si </a:t>
            </a:r>
            <a:r>
              <a:rPr lang="es-PE" dirty="0" err="1">
                <a:latin typeface="Arial" panose="020B0604020202020204" pitchFamily="34" charset="0"/>
                <a:ea typeface="Calibri" panose="020F0502020204030204" pitchFamily="34" charset="0"/>
              </a:rPr>
              <a:t>X2</a:t>
            </a:r>
            <a:r>
              <a:rPr lang="es-PE" dirty="0">
                <a:latin typeface="Arial" panose="020B0604020202020204" pitchFamily="34" charset="0"/>
                <a:ea typeface="Calibri" panose="020F0502020204030204" pitchFamily="34" charset="0"/>
              </a:rPr>
              <a:t> = 0 </a:t>
            </a:r>
            <a:r>
              <a:rPr lang="es-PE" dirty="0">
                <a:latin typeface="Symbol" panose="05050102010706020507" pitchFamily="18" charset="2"/>
                <a:ea typeface="Calibri" panose="020F0502020204030204" pitchFamily="34" charset="0"/>
              </a:rPr>
              <a:t>Þ </a:t>
            </a:r>
            <a:r>
              <a:rPr lang="es-PE" dirty="0" err="1">
                <a:latin typeface="Arial" panose="020B0604020202020204" pitchFamily="34" charset="0"/>
                <a:ea typeface="Calibri" panose="020F0502020204030204" pitchFamily="34" charset="0"/>
              </a:rPr>
              <a:t>X1</a:t>
            </a:r>
            <a:r>
              <a:rPr lang="es-PE" dirty="0">
                <a:latin typeface="Arial" panose="020B0604020202020204" pitchFamily="34" charset="0"/>
                <a:ea typeface="Calibri" panose="020F0502020204030204" pitchFamily="34" charset="0"/>
              </a:rPr>
              <a:t>=-3</a:t>
            </a:r>
            <a:endParaRPr lang="es-PE" dirty="0">
              <a:latin typeface="Times New Roman" panose="02020603050405020304" pitchFamily="18" charset="0"/>
              <a:ea typeface="Calibri" panose="020F0502020204030204" pitchFamily="34" charset="0"/>
            </a:endParaRPr>
          </a:p>
          <a:p>
            <a:pPr algn="just">
              <a:spcAft>
                <a:spcPts val="0"/>
              </a:spcAft>
            </a:pPr>
            <a:r>
              <a:rPr lang="es-PE" dirty="0" err="1">
                <a:latin typeface="Arial" panose="020B0604020202020204" pitchFamily="34" charset="0"/>
                <a:ea typeface="Calibri" panose="020F0502020204030204" pitchFamily="34" charset="0"/>
              </a:rPr>
              <a:t>2X1</a:t>
            </a:r>
            <a:r>
              <a:rPr lang="es-PE" dirty="0">
                <a:latin typeface="Arial" panose="020B0604020202020204" pitchFamily="34" charset="0"/>
                <a:ea typeface="Calibri" panose="020F0502020204030204" pitchFamily="34" charset="0"/>
              </a:rPr>
              <a:t> + </a:t>
            </a:r>
            <a:r>
              <a:rPr lang="es-PE" dirty="0" err="1">
                <a:latin typeface="Arial" panose="020B0604020202020204" pitchFamily="34" charset="0"/>
                <a:ea typeface="Calibri" panose="020F0502020204030204" pitchFamily="34" charset="0"/>
              </a:rPr>
              <a:t>3X2</a:t>
            </a:r>
            <a:r>
              <a:rPr lang="es-PE" dirty="0">
                <a:latin typeface="Arial" panose="020B0604020202020204" pitchFamily="34" charset="0"/>
                <a:ea typeface="Calibri" panose="020F0502020204030204" pitchFamily="34" charset="0"/>
              </a:rPr>
              <a:t> = 24	Si </a:t>
            </a:r>
            <a:r>
              <a:rPr lang="es-PE" dirty="0" err="1">
                <a:latin typeface="Arial" panose="020B0604020202020204" pitchFamily="34" charset="0"/>
                <a:ea typeface="Calibri" panose="020F0502020204030204" pitchFamily="34" charset="0"/>
              </a:rPr>
              <a:t>X1</a:t>
            </a:r>
            <a:r>
              <a:rPr lang="es-PE" dirty="0">
                <a:latin typeface="Arial" panose="020B0604020202020204" pitchFamily="34" charset="0"/>
                <a:ea typeface="Calibri" panose="020F0502020204030204" pitchFamily="34" charset="0"/>
              </a:rPr>
              <a:t> = 0 </a:t>
            </a:r>
            <a:r>
              <a:rPr lang="es-PE" dirty="0">
                <a:latin typeface="Symbol" panose="05050102010706020507" pitchFamily="18" charset="2"/>
                <a:ea typeface="Calibri" panose="020F0502020204030204" pitchFamily="34" charset="0"/>
              </a:rPr>
              <a:t>Þ </a:t>
            </a:r>
            <a:r>
              <a:rPr lang="es-PE" dirty="0" err="1">
                <a:latin typeface="Arial" panose="020B0604020202020204" pitchFamily="34" charset="0"/>
                <a:ea typeface="Calibri" panose="020F0502020204030204" pitchFamily="34" charset="0"/>
              </a:rPr>
              <a:t>X2</a:t>
            </a:r>
            <a:r>
              <a:rPr lang="es-PE" dirty="0">
                <a:latin typeface="Arial" panose="020B0604020202020204" pitchFamily="34" charset="0"/>
                <a:ea typeface="Calibri" panose="020F0502020204030204" pitchFamily="34" charset="0"/>
              </a:rPr>
              <a:t>=8</a:t>
            </a:r>
            <a:endParaRPr lang="es-PE" dirty="0">
              <a:latin typeface="Times New Roman" panose="02020603050405020304" pitchFamily="18" charset="0"/>
              <a:ea typeface="Calibri" panose="020F0502020204030204" pitchFamily="34" charset="0"/>
            </a:endParaRPr>
          </a:p>
          <a:p>
            <a:pPr algn="just">
              <a:spcAft>
                <a:spcPts val="0"/>
              </a:spcAft>
            </a:pPr>
            <a:r>
              <a:rPr lang="es-PE" dirty="0">
                <a:latin typeface="Arial" panose="020B0604020202020204" pitchFamily="34" charset="0"/>
                <a:ea typeface="Calibri" panose="020F0502020204030204" pitchFamily="34" charset="0"/>
              </a:rPr>
              <a:t>		Si </a:t>
            </a:r>
            <a:r>
              <a:rPr lang="es-PE" dirty="0" err="1">
                <a:latin typeface="Arial" panose="020B0604020202020204" pitchFamily="34" charset="0"/>
                <a:ea typeface="Calibri" panose="020F0502020204030204" pitchFamily="34" charset="0"/>
              </a:rPr>
              <a:t>X2</a:t>
            </a:r>
            <a:r>
              <a:rPr lang="es-PE" dirty="0">
                <a:latin typeface="Arial" panose="020B0604020202020204" pitchFamily="34" charset="0"/>
                <a:ea typeface="Calibri" panose="020F0502020204030204" pitchFamily="34" charset="0"/>
              </a:rPr>
              <a:t> = 0 </a:t>
            </a:r>
            <a:r>
              <a:rPr lang="es-PE" dirty="0">
                <a:latin typeface="Symbol" panose="05050102010706020507" pitchFamily="18" charset="2"/>
                <a:ea typeface="Calibri" panose="020F0502020204030204" pitchFamily="34" charset="0"/>
              </a:rPr>
              <a:t>Þ </a:t>
            </a:r>
            <a:r>
              <a:rPr lang="es-PE" dirty="0" err="1">
                <a:latin typeface="Arial" panose="020B0604020202020204" pitchFamily="34" charset="0"/>
                <a:ea typeface="Calibri" panose="020F0502020204030204" pitchFamily="34" charset="0"/>
              </a:rPr>
              <a:t>X1</a:t>
            </a:r>
            <a:r>
              <a:rPr lang="es-PE" dirty="0">
                <a:latin typeface="Arial" panose="020B0604020202020204" pitchFamily="34" charset="0"/>
                <a:ea typeface="Calibri" panose="020F0502020204030204" pitchFamily="34" charset="0"/>
              </a:rPr>
              <a:t>= 12</a:t>
            </a:r>
            <a:endParaRPr lang="es-PE" dirty="0">
              <a:latin typeface="Times New Roman" panose="02020603050405020304" pitchFamily="18" charset="0"/>
              <a:ea typeface="Calibri" panose="020F0502020204030204" pitchFamily="34" charset="0"/>
            </a:endParaRPr>
          </a:p>
        </p:txBody>
      </p:sp>
      <p:sp>
        <p:nvSpPr>
          <p:cNvPr id="63" name="Forma libre: forma 62">
            <a:extLst>
              <a:ext uri="{FF2B5EF4-FFF2-40B4-BE49-F238E27FC236}">
                <a16:creationId xmlns:a16="http://schemas.microsoft.com/office/drawing/2014/main" id="{C45E8B99-9D0B-4EC5-A534-CB7FC7CEF383}"/>
              </a:ext>
            </a:extLst>
          </p:cNvPr>
          <p:cNvSpPr/>
          <p:nvPr/>
        </p:nvSpPr>
        <p:spPr>
          <a:xfrm>
            <a:off x="2059235" y="3832853"/>
            <a:ext cx="465221" cy="1026695"/>
          </a:xfrm>
          <a:custGeom>
            <a:avLst/>
            <a:gdLst>
              <a:gd name="connsiteX0" fmla="*/ 0 w 465221"/>
              <a:gd name="connsiteY0" fmla="*/ 336884 h 1026695"/>
              <a:gd name="connsiteX1" fmla="*/ 0 w 465221"/>
              <a:gd name="connsiteY1" fmla="*/ 1010653 h 1026695"/>
              <a:gd name="connsiteX2" fmla="*/ 112295 w 465221"/>
              <a:gd name="connsiteY2" fmla="*/ 1026695 h 1026695"/>
              <a:gd name="connsiteX3" fmla="*/ 465221 w 465221"/>
              <a:gd name="connsiteY3" fmla="*/ 0 h 1026695"/>
              <a:gd name="connsiteX4" fmla="*/ 0 w 465221"/>
              <a:gd name="connsiteY4" fmla="*/ 336884 h 1026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221" h="1026695">
                <a:moveTo>
                  <a:pt x="0" y="336884"/>
                </a:moveTo>
                <a:lnTo>
                  <a:pt x="0" y="1010653"/>
                </a:lnTo>
                <a:lnTo>
                  <a:pt x="112295" y="1026695"/>
                </a:lnTo>
                <a:lnTo>
                  <a:pt x="465221" y="0"/>
                </a:lnTo>
                <a:lnTo>
                  <a:pt x="0" y="336884"/>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4" name="CustomShape 19">
            <a:extLst>
              <a:ext uri="{FF2B5EF4-FFF2-40B4-BE49-F238E27FC236}">
                <a16:creationId xmlns:a16="http://schemas.microsoft.com/office/drawing/2014/main" id="{19DF85A8-33D9-4CE4-8BFC-8C9A4ADBCFCF}"/>
              </a:ext>
            </a:extLst>
          </p:cNvPr>
          <p:cNvSpPr/>
          <p:nvPr/>
        </p:nvSpPr>
        <p:spPr>
          <a:xfrm>
            <a:off x="6036001" y="4888957"/>
            <a:ext cx="442344"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12</a:t>
            </a:r>
            <a:endParaRPr lang="es-PE" b="1" spc="-1" dirty="0">
              <a:latin typeface="Arial"/>
            </a:endParaRPr>
          </a:p>
        </p:txBody>
      </p:sp>
      <p:sp>
        <p:nvSpPr>
          <p:cNvPr id="33" name="Line 25">
            <a:extLst>
              <a:ext uri="{FF2B5EF4-FFF2-40B4-BE49-F238E27FC236}">
                <a16:creationId xmlns:a16="http://schemas.microsoft.com/office/drawing/2014/main" id="{5F1F7A20-CD6A-48C0-BCB0-B8AFAE59FD89}"/>
              </a:ext>
            </a:extLst>
          </p:cNvPr>
          <p:cNvSpPr/>
          <p:nvPr/>
        </p:nvSpPr>
        <p:spPr>
          <a:xfrm flipH="1">
            <a:off x="-142166" y="4865299"/>
            <a:ext cx="7272826" cy="2874"/>
          </a:xfrm>
          <a:prstGeom prst="line">
            <a:avLst/>
          </a:prstGeom>
          <a:ln w="38100">
            <a:solidFill>
              <a:srgbClr val="FF0000"/>
            </a:solidFill>
            <a:round/>
            <a:headEnd type="stealth" w="med" len="lg"/>
          </a:ln>
        </p:spPr>
        <p:style>
          <a:lnRef idx="0">
            <a:scrgbClr r="0" g="0" b="0"/>
          </a:lnRef>
          <a:fillRef idx="0">
            <a:scrgbClr r="0" g="0" b="0"/>
          </a:fillRef>
          <a:effectRef idx="0">
            <a:scrgbClr r="0" g="0" b="0"/>
          </a:effectRef>
          <a:fontRef idx="minor"/>
        </p:style>
        <p:txBody>
          <a:bodyPr/>
          <a:lstStyle/>
          <a:p>
            <a:endParaRPr lang="es-PE"/>
          </a:p>
        </p:txBody>
      </p:sp>
      <p:cxnSp>
        <p:nvCxnSpPr>
          <p:cNvPr id="39" name="Conector recto 38">
            <a:extLst>
              <a:ext uri="{FF2B5EF4-FFF2-40B4-BE49-F238E27FC236}">
                <a16:creationId xmlns:a16="http://schemas.microsoft.com/office/drawing/2014/main" id="{7803C9C5-F961-492D-A075-809D177AD707}"/>
              </a:ext>
            </a:extLst>
          </p:cNvPr>
          <p:cNvCxnSpPr>
            <a:cxnSpLocks/>
          </p:cNvCxnSpPr>
          <p:nvPr/>
        </p:nvCxnSpPr>
        <p:spPr>
          <a:xfrm>
            <a:off x="1615210" y="1709246"/>
            <a:ext cx="5454315" cy="3657600"/>
          </a:xfrm>
          <a:prstGeom prst="line">
            <a:avLst/>
          </a:prstGeom>
          <a:ln w="31750"/>
        </p:spPr>
        <p:style>
          <a:lnRef idx="1">
            <a:schemeClr val="dk1"/>
          </a:lnRef>
          <a:fillRef idx="0">
            <a:schemeClr val="dk1"/>
          </a:fillRef>
          <a:effectRef idx="0">
            <a:schemeClr val="dk1"/>
          </a:effectRef>
          <a:fontRef idx="minor">
            <a:schemeClr val="tx1"/>
          </a:fontRef>
        </p:style>
      </p:cxnSp>
      <p:cxnSp>
        <p:nvCxnSpPr>
          <p:cNvPr id="28" name="2 Conector recto">
            <a:extLst>
              <a:ext uri="{FF2B5EF4-FFF2-40B4-BE49-F238E27FC236}">
                <a16:creationId xmlns:a16="http://schemas.microsoft.com/office/drawing/2014/main" id="{902DCF4D-70EE-4E67-962E-5A1B5D1F501F}"/>
              </a:ext>
            </a:extLst>
          </p:cNvPr>
          <p:cNvCxnSpPr>
            <a:cxnSpLocks/>
          </p:cNvCxnSpPr>
          <p:nvPr/>
        </p:nvCxnSpPr>
        <p:spPr>
          <a:xfrm flipH="1">
            <a:off x="2326105" y="1732547"/>
            <a:ext cx="1411706" cy="412282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3" name="CustomShape 32">
            <a:extLst>
              <a:ext uri="{FF2B5EF4-FFF2-40B4-BE49-F238E27FC236}">
                <a16:creationId xmlns:a16="http://schemas.microsoft.com/office/drawing/2014/main" id="{C1A5FD77-4CE9-493C-AA67-042BBE14E50F}"/>
              </a:ext>
            </a:extLst>
          </p:cNvPr>
          <p:cNvSpPr/>
          <p:nvPr/>
        </p:nvSpPr>
        <p:spPr>
          <a:xfrm>
            <a:off x="2517410" y="3713439"/>
            <a:ext cx="118123" cy="103513"/>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5" name="CustomShape 19">
            <a:extLst>
              <a:ext uri="{FF2B5EF4-FFF2-40B4-BE49-F238E27FC236}">
                <a16:creationId xmlns:a16="http://schemas.microsoft.com/office/drawing/2014/main" id="{D0610A49-4975-4D1C-BF9D-10989F7353D7}"/>
              </a:ext>
            </a:extLst>
          </p:cNvPr>
          <p:cNvSpPr/>
          <p:nvPr/>
        </p:nvSpPr>
        <p:spPr>
          <a:xfrm>
            <a:off x="713513" y="4888965"/>
            <a:ext cx="391048"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-3</a:t>
            </a:r>
            <a:endParaRPr lang="es-PE" b="1" spc="-1" dirty="0">
              <a:latin typeface="Arial"/>
            </a:endParaRPr>
          </a:p>
        </p:txBody>
      </p:sp>
      <p:sp>
        <p:nvSpPr>
          <p:cNvPr id="36" name="Line 24">
            <a:extLst>
              <a:ext uri="{FF2B5EF4-FFF2-40B4-BE49-F238E27FC236}">
                <a16:creationId xmlns:a16="http://schemas.microsoft.com/office/drawing/2014/main" id="{1C584131-B02A-4A86-8086-B42A5C83FD19}"/>
              </a:ext>
            </a:extLst>
          </p:cNvPr>
          <p:cNvSpPr/>
          <p:nvPr/>
        </p:nvSpPr>
        <p:spPr>
          <a:xfrm flipH="1">
            <a:off x="529389" y="2366816"/>
            <a:ext cx="4523872" cy="319237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a:lstStyle/>
          <a:p>
            <a:endParaRPr lang="es-PE"/>
          </a:p>
        </p:txBody>
      </p:sp>
      <p:sp>
        <p:nvSpPr>
          <p:cNvPr id="66" name="Rectángulo 65">
            <a:extLst>
              <a:ext uri="{FF2B5EF4-FFF2-40B4-BE49-F238E27FC236}">
                <a16:creationId xmlns:a16="http://schemas.microsoft.com/office/drawing/2014/main" id="{E71AF9E2-7792-4798-A4AC-07BDB687626C}"/>
              </a:ext>
            </a:extLst>
          </p:cNvPr>
          <p:cNvSpPr/>
          <p:nvPr/>
        </p:nvSpPr>
        <p:spPr>
          <a:xfrm>
            <a:off x="6213894" y="1306904"/>
            <a:ext cx="1644770" cy="2031325"/>
          </a:xfrm>
          <a:prstGeom prst="rect">
            <a:avLst/>
          </a:prstGeom>
          <a:solidFill>
            <a:srgbClr val="FFFF00"/>
          </a:solidFill>
        </p:spPr>
        <p:txBody>
          <a:bodyPr wrap="square">
            <a:spAutoFit/>
          </a:bodyPr>
          <a:lstStyle/>
          <a:p>
            <a:pPr algn="just">
              <a:spcAft>
                <a:spcPts val="0"/>
              </a:spcAft>
            </a:pPr>
            <a:r>
              <a:rPr lang="es-PE" dirty="0">
                <a:latin typeface="Arial Narrow" panose="020B0606020202030204" pitchFamily="34" charset="0"/>
                <a:ea typeface="Calibri" panose="020F0502020204030204" pitchFamily="34" charset="0"/>
              </a:rPr>
              <a:t>EJERCICIO </a:t>
            </a:r>
          </a:p>
          <a:p>
            <a:pPr algn="just">
              <a:spcAft>
                <a:spcPts val="0"/>
              </a:spcAft>
            </a:pPr>
            <a:r>
              <a:rPr lang="es-PE" dirty="0">
                <a:latin typeface="Arial Narrow" panose="020B0606020202030204" pitchFamily="34" charset="0"/>
                <a:ea typeface="Calibri" panose="020F0502020204030204" pitchFamily="34" charset="0"/>
              </a:rPr>
              <a:t>Max -</a:t>
            </a:r>
            <a:r>
              <a:rPr lang="es-PE" dirty="0" err="1">
                <a:latin typeface="Arial Narrow" panose="020B0606020202030204" pitchFamily="34" charset="0"/>
                <a:ea typeface="Calibri" panose="020F0502020204030204" pitchFamily="34" charset="0"/>
              </a:rPr>
              <a:t>4X1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8X2</a:t>
            </a:r>
            <a:endParaRPr lang="es-PE" dirty="0">
              <a:latin typeface="Arial Narrow" panose="020B0606020202030204" pitchFamily="34" charset="0"/>
              <a:ea typeface="Calibri" panose="020F0502020204030204" pitchFamily="34" charset="0"/>
            </a:endParaRPr>
          </a:p>
          <a:p>
            <a:pPr algn="just">
              <a:spcAft>
                <a:spcPts val="0"/>
              </a:spcAft>
            </a:pPr>
            <a:r>
              <a:rPr lang="es-PE" dirty="0">
                <a:latin typeface="Arial Narrow" panose="020B0606020202030204" pitchFamily="34" charset="0"/>
                <a:ea typeface="Calibri" panose="020F0502020204030204" pitchFamily="34" charset="0"/>
              </a:rPr>
              <a:t>Dependiendo de</a:t>
            </a:r>
          </a:p>
          <a:p>
            <a:pPr algn="just">
              <a:spcAft>
                <a:spcPts val="0"/>
              </a:spcAft>
            </a:pP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6X1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2X2</a:t>
            </a:r>
            <a:r>
              <a:rPr lang="es-PE" dirty="0">
                <a:latin typeface="Arial Narrow" panose="020B0606020202030204" pitchFamily="34" charset="0"/>
                <a:ea typeface="Calibri" panose="020F0502020204030204" pitchFamily="34" charset="0"/>
              </a:rPr>
              <a:t>	&lt;= 3</a:t>
            </a:r>
          </a:p>
          <a:p>
            <a:pPr algn="just">
              <a:spcAft>
                <a:spcPts val="0"/>
              </a:spcAft>
            </a:pPr>
            <a:r>
              <a:rPr lang="es-PE" dirty="0">
                <a:latin typeface="Arial Narrow" panose="020B0606020202030204" pitchFamily="34" charset="0"/>
                <a:ea typeface="Calibri" panose="020F0502020204030204" pitchFamily="34" charset="0"/>
              </a:rPr>
              <a:t>-</a:t>
            </a:r>
            <a:r>
              <a:rPr lang="es-PE" dirty="0" err="1">
                <a:latin typeface="Arial Narrow" panose="020B0606020202030204" pitchFamily="34" charset="0"/>
                <a:ea typeface="Calibri" panose="020F0502020204030204" pitchFamily="34" charset="0"/>
              </a:rPr>
              <a:t>2X1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3X2</a:t>
            </a:r>
            <a:r>
              <a:rPr lang="es-PE" dirty="0">
                <a:latin typeface="Arial Narrow" panose="020B0606020202030204" pitchFamily="34" charset="0"/>
                <a:ea typeface="Calibri" panose="020F0502020204030204" pitchFamily="34" charset="0"/>
              </a:rPr>
              <a:t>	&lt;= 6</a:t>
            </a:r>
          </a:p>
          <a:p>
            <a:pPr algn="just">
              <a:spcAft>
                <a:spcPts val="0"/>
              </a:spcAft>
            </a:pP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2X1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3X2</a:t>
            </a:r>
            <a:r>
              <a:rPr lang="es-PE" dirty="0">
                <a:latin typeface="Arial Narrow" panose="020B0606020202030204" pitchFamily="34" charset="0"/>
                <a:ea typeface="Calibri" panose="020F0502020204030204" pitchFamily="34" charset="0"/>
              </a:rPr>
              <a:t>	&lt;= 24</a:t>
            </a:r>
          </a:p>
          <a:p>
            <a:pPr algn="just">
              <a:spcAft>
                <a:spcPts val="0"/>
              </a:spcAft>
            </a:pP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X2</a:t>
            </a:r>
            <a:r>
              <a:rPr lang="es-PE" dirty="0">
                <a:latin typeface="Arial Narrow" panose="020B0606020202030204" pitchFamily="34" charset="0"/>
                <a:ea typeface="Calibri" panose="020F0502020204030204" pitchFamily="34" charset="0"/>
              </a:rPr>
              <a:t>	&gt;= 0</a:t>
            </a:r>
          </a:p>
        </p:txBody>
      </p:sp>
      <p:sp>
        <p:nvSpPr>
          <p:cNvPr id="2" name="Rectángulo 1">
            <a:extLst>
              <a:ext uri="{FF2B5EF4-FFF2-40B4-BE49-F238E27FC236}">
                <a16:creationId xmlns:a16="http://schemas.microsoft.com/office/drawing/2014/main" id="{57C5CDF9-2535-4170-8BDF-A9A14112A76E}"/>
              </a:ext>
            </a:extLst>
          </p:cNvPr>
          <p:cNvSpPr/>
          <p:nvPr/>
        </p:nvSpPr>
        <p:spPr>
          <a:xfrm>
            <a:off x="7881550" y="3632536"/>
            <a:ext cx="4273066" cy="1323439"/>
          </a:xfrm>
          <a:prstGeom prst="rect">
            <a:avLst/>
          </a:prstGeom>
          <a:solidFill>
            <a:srgbClr val="FFC000"/>
          </a:solidFill>
        </p:spPr>
        <p:txBody>
          <a:bodyPr wrap="square">
            <a:spAutoFit/>
          </a:bodyPr>
          <a:lstStyle/>
          <a:p>
            <a:r>
              <a:rPr lang="es-PE" sz="2000" dirty="0" err="1">
                <a:latin typeface="Arial Narrow" panose="020B0606020202030204" pitchFamily="34" charset="0"/>
                <a:ea typeface="Calibri" panose="020F0502020204030204" pitchFamily="34" charset="0"/>
              </a:rPr>
              <a:t>iii</a:t>
            </a:r>
            <a:r>
              <a:rPr lang="es-PE" sz="2000" dirty="0">
                <a:latin typeface="Arial Narrow" panose="020B0606020202030204" pitchFamily="34" charset="0"/>
                <a:ea typeface="Calibri" panose="020F0502020204030204" pitchFamily="34" charset="0"/>
              </a:rPr>
              <a:t>) Graficando la función objetivo</a:t>
            </a:r>
          </a:p>
          <a:p>
            <a:r>
              <a:rPr lang="es-PE" sz="2000" dirty="0">
                <a:latin typeface="Arial Narrow" panose="020B0606020202030204" pitchFamily="34" charset="0"/>
                <a:ea typeface="Calibri" panose="020F0502020204030204" pitchFamily="34" charset="0"/>
              </a:rPr>
              <a:t>     -</a:t>
            </a:r>
            <a:r>
              <a:rPr lang="es-PE" sz="2000" dirty="0" err="1">
                <a:latin typeface="Arial Narrow" panose="020B0606020202030204" pitchFamily="34" charset="0"/>
                <a:ea typeface="Calibri" panose="020F0502020204030204" pitchFamily="34" charset="0"/>
              </a:rPr>
              <a:t>4X1</a:t>
            </a:r>
            <a:r>
              <a:rPr lang="es-PE" sz="2000" dirty="0">
                <a:latin typeface="Arial Narrow" panose="020B0606020202030204" pitchFamily="34" charset="0"/>
                <a:ea typeface="Calibri" panose="020F0502020204030204" pitchFamily="34" charset="0"/>
              </a:rPr>
              <a:t>+ </a:t>
            </a:r>
            <a:r>
              <a:rPr lang="es-PE" sz="2000" dirty="0" err="1">
                <a:latin typeface="Arial Narrow" panose="020B0606020202030204" pitchFamily="34" charset="0"/>
                <a:ea typeface="Calibri" panose="020F0502020204030204" pitchFamily="34" charset="0"/>
              </a:rPr>
              <a:t>8X2</a:t>
            </a:r>
            <a:r>
              <a:rPr lang="es-PE" sz="2000" dirty="0">
                <a:latin typeface="Arial Narrow" panose="020B0606020202030204" pitchFamily="34" charset="0"/>
                <a:ea typeface="Calibri" panose="020F0502020204030204" pitchFamily="34" charset="0"/>
              </a:rPr>
              <a:t>=</a:t>
            </a:r>
            <a:r>
              <a:rPr lang="es-PE" sz="2000" dirty="0">
                <a:solidFill>
                  <a:srgbClr val="FF0000"/>
                </a:solidFill>
                <a:latin typeface="Arial Narrow" panose="020B0606020202030204" pitchFamily="34" charset="0"/>
                <a:ea typeface="Calibri" panose="020F0502020204030204" pitchFamily="34" charset="0"/>
              </a:rPr>
              <a:t>8</a:t>
            </a:r>
            <a:endParaRPr lang="es-PE" sz="2000" b="1" dirty="0">
              <a:solidFill>
                <a:srgbClr val="FF0000"/>
              </a:solidFill>
              <a:latin typeface="Arial Narrow" panose="020B0606020202030204" pitchFamily="34" charset="0"/>
              <a:ea typeface="Calibri" panose="020F0502020204030204" pitchFamily="34" charset="0"/>
            </a:endParaRPr>
          </a:p>
          <a:p>
            <a:r>
              <a:rPr lang="es-PE" sz="2000" b="1" dirty="0">
                <a:solidFill>
                  <a:srgbClr val="FF0000"/>
                </a:solidFill>
                <a:latin typeface="Arial Narrow" panose="020B0606020202030204" pitchFamily="34" charset="0"/>
              </a:rPr>
              <a:t>   </a:t>
            </a:r>
            <a:r>
              <a:rPr lang="es-PE" sz="2000" dirty="0">
                <a:latin typeface="Arial Narrow" panose="020B0606020202030204" pitchFamily="34" charset="0"/>
              </a:rPr>
              <a:t>Si </a:t>
            </a:r>
            <a:r>
              <a:rPr lang="es-PE" sz="2000" dirty="0" err="1">
                <a:latin typeface="Arial Narrow" panose="020B0606020202030204" pitchFamily="34" charset="0"/>
              </a:rPr>
              <a:t>X1</a:t>
            </a:r>
            <a:r>
              <a:rPr lang="es-PE" sz="2000" dirty="0">
                <a:latin typeface="Arial Narrow" panose="020B0606020202030204" pitchFamily="34" charset="0"/>
              </a:rPr>
              <a:t>=0  </a:t>
            </a:r>
            <a:r>
              <a:rPr lang="es-PE" sz="2000" dirty="0">
                <a:latin typeface="Arial Narrow" panose="020B0606020202030204" pitchFamily="34" charset="0"/>
                <a:sym typeface="Wingdings" panose="05000000000000000000" pitchFamily="2" charset="2"/>
              </a:rPr>
              <a:t></a:t>
            </a:r>
            <a:r>
              <a:rPr lang="es-PE" sz="2000" dirty="0" err="1">
                <a:latin typeface="Arial Narrow" panose="020B0606020202030204" pitchFamily="34" charset="0"/>
                <a:sym typeface="Wingdings" panose="05000000000000000000" pitchFamily="2" charset="2"/>
              </a:rPr>
              <a:t>X2</a:t>
            </a:r>
            <a:r>
              <a:rPr lang="es-PE" sz="2000" dirty="0">
                <a:latin typeface="Arial Narrow" panose="020B0606020202030204" pitchFamily="34" charset="0"/>
                <a:sym typeface="Wingdings" panose="05000000000000000000" pitchFamily="2" charset="2"/>
              </a:rPr>
              <a:t>=1</a:t>
            </a:r>
          </a:p>
          <a:p>
            <a:r>
              <a:rPr lang="es-PE" sz="2000" dirty="0">
                <a:latin typeface="Arial Narrow" panose="020B0606020202030204" pitchFamily="34" charset="0"/>
              </a:rPr>
              <a:t>   Si </a:t>
            </a:r>
            <a:r>
              <a:rPr lang="es-PE" sz="2000" dirty="0" err="1">
                <a:latin typeface="Arial Narrow" panose="020B0606020202030204" pitchFamily="34" charset="0"/>
              </a:rPr>
              <a:t>X2</a:t>
            </a:r>
            <a:r>
              <a:rPr lang="es-PE" sz="2000" dirty="0">
                <a:latin typeface="Arial Narrow" panose="020B0606020202030204" pitchFamily="34" charset="0"/>
              </a:rPr>
              <a:t>=0  </a:t>
            </a:r>
            <a:r>
              <a:rPr lang="es-PE" sz="2000" dirty="0">
                <a:latin typeface="Arial Narrow" panose="020B0606020202030204" pitchFamily="34" charset="0"/>
                <a:sym typeface="Wingdings" panose="05000000000000000000" pitchFamily="2" charset="2"/>
              </a:rPr>
              <a:t></a:t>
            </a:r>
            <a:r>
              <a:rPr lang="es-PE" sz="2000" dirty="0" err="1">
                <a:latin typeface="Arial Narrow" panose="020B0606020202030204" pitchFamily="34" charset="0"/>
                <a:sym typeface="Wingdings" panose="05000000000000000000" pitchFamily="2" charset="2"/>
              </a:rPr>
              <a:t>X1</a:t>
            </a:r>
            <a:r>
              <a:rPr lang="es-PE" sz="2000" dirty="0">
                <a:latin typeface="Arial Narrow" panose="020B0606020202030204" pitchFamily="34" charset="0"/>
                <a:sym typeface="Wingdings" panose="05000000000000000000" pitchFamily="2" charset="2"/>
              </a:rPr>
              <a:t>=-2</a:t>
            </a:r>
            <a:endParaRPr lang="es-PE" sz="2000" dirty="0"/>
          </a:p>
        </p:txBody>
      </p:sp>
      <p:sp>
        <p:nvSpPr>
          <p:cNvPr id="32" name="Line 31">
            <a:extLst>
              <a:ext uri="{FF2B5EF4-FFF2-40B4-BE49-F238E27FC236}">
                <a16:creationId xmlns:a16="http://schemas.microsoft.com/office/drawing/2014/main" id="{9E859AC7-99EE-4508-AB23-A6319C955B8C}"/>
              </a:ext>
            </a:extLst>
          </p:cNvPr>
          <p:cNvSpPr/>
          <p:nvPr/>
        </p:nvSpPr>
        <p:spPr>
          <a:xfrm flipH="1">
            <a:off x="379408" y="2987917"/>
            <a:ext cx="4957012" cy="2566737"/>
          </a:xfrm>
          <a:prstGeom prst="line">
            <a:avLst/>
          </a:prstGeom>
          <a:ln w="25400">
            <a:solidFill>
              <a:srgbClr val="D0060D"/>
            </a:solidFill>
            <a:prstDash val="dash"/>
            <a:round/>
          </a:ln>
        </p:spPr>
        <p:style>
          <a:lnRef idx="0">
            <a:scrgbClr r="0" g="0" b="0"/>
          </a:lnRef>
          <a:fillRef idx="0">
            <a:scrgbClr r="0" g="0" b="0"/>
          </a:fillRef>
          <a:effectRef idx="0">
            <a:scrgbClr r="0" g="0" b="0"/>
          </a:effectRef>
          <a:fontRef idx="minor"/>
        </p:style>
        <p:txBody>
          <a:bodyPr/>
          <a:lstStyle/>
          <a:p>
            <a:endParaRPr lang="es-PE" dirty="0"/>
          </a:p>
        </p:txBody>
      </p:sp>
      <p:sp>
        <p:nvSpPr>
          <p:cNvPr id="35" name="CustomShape 19">
            <a:extLst>
              <a:ext uri="{FF2B5EF4-FFF2-40B4-BE49-F238E27FC236}">
                <a16:creationId xmlns:a16="http://schemas.microsoft.com/office/drawing/2014/main" id="{00EB0CCD-709F-4939-8674-6B6663CC3540}"/>
              </a:ext>
            </a:extLst>
          </p:cNvPr>
          <p:cNvSpPr/>
          <p:nvPr/>
        </p:nvSpPr>
        <p:spPr>
          <a:xfrm>
            <a:off x="1107451" y="4894719"/>
            <a:ext cx="391048"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-2</a:t>
            </a:r>
            <a:endParaRPr lang="es-PE" b="1" spc="-1" dirty="0">
              <a:latin typeface="Arial"/>
            </a:endParaRPr>
          </a:p>
        </p:txBody>
      </p:sp>
      <p:sp>
        <p:nvSpPr>
          <p:cNvPr id="37" name="CustomShape 19">
            <a:extLst>
              <a:ext uri="{FF2B5EF4-FFF2-40B4-BE49-F238E27FC236}">
                <a16:creationId xmlns:a16="http://schemas.microsoft.com/office/drawing/2014/main" id="{5E850CB9-16EE-4FA2-B966-FA58A7DA68FB}"/>
              </a:ext>
            </a:extLst>
          </p:cNvPr>
          <p:cNvSpPr/>
          <p:nvPr/>
        </p:nvSpPr>
        <p:spPr>
          <a:xfrm>
            <a:off x="345447" y="4883214"/>
            <a:ext cx="391048"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-4</a:t>
            </a:r>
            <a:endParaRPr lang="es-PE" b="1" spc="-1" dirty="0">
              <a:latin typeface="Arial"/>
            </a:endParaRPr>
          </a:p>
        </p:txBody>
      </p:sp>
      <p:sp>
        <p:nvSpPr>
          <p:cNvPr id="48" name="CustomShape 19">
            <a:extLst>
              <a:ext uri="{FF2B5EF4-FFF2-40B4-BE49-F238E27FC236}">
                <a16:creationId xmlns:a16="http://schemas.microsoft.com/office/drawing/2014/main" id="{ACCBB8A3-91CA-446C-8088-2BB1CD84AE3A}"/>
              </a:ext>
            </a:extLst>
          </p:cNvPr>
          <p:cNvSpPr/>
          <p:nvPr/>
        </p:nvSpPr>
        <p:spPr>
          <a:xfrm>
            <a:off x="3310054" y="4888957"/>
            <a:ext cx="314232"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4</a:t>
            </a:r>
            <a:endParaRPr lang="es-PE" b="1" spc="-1" dirty="0">
              <a:latin typeface="Arial"/>
            </a:endParaRPr>
          </a:p>
        </p:txBody>
      </p:sp>
      <p:sp>
        <p:nvSpPr>
          <p:cNvPr id="49" name="CustomShape 19">
            <a:extLst>
              <a:ext uri="{FF2B5EF4-FFF2-40B4-BE49-F238E27FC236}">
                <a16:creationId xmlns:a16="http://schemas.microsoft.com/office/drawing/2014/main" id="{813166DD-1B5E-43B8-B3F8-BE0B96FE8C9B}"/>
              </a:ext>
            </a:extLst>
          </p:cNvPr>
          <p:cNvSpPr/>
          <p:nvPr/>
        </p:nvSpPr>
        <p:spPr>
          <a:xfrm>
            <a:off x="3678114" y="4894710"/>
            <a:ext cx="314232"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5</a:t>
            </a:r>
            <a:endParaRPr lang="es-PE" b="1" spc="-1" dirty="0">
              <a:latin typeface="Arial"/>
            </a:endParaRPr>
          </a:p>
        </p:txBody>
      </p:sp>
      <p:sp>
        <p:nvSpPr>
          <p:cNvPr id="50" name="CustomShape 19">
            <a:extLst>
              <a:ext uri="{FF2B5EF4-FFF2-40B4-BE49-F238E27FC236}">
                <a16:creationId xmlns:a16="http://schemas.microsoft.com/office/drawing/2014/main" id="{CD087AA0-2835-41A8-9997-4E8DEEF19699}"/>
              </a:ext>
            </a:extLst>
          </p:cNvPr>
          <p:cNvSpPr/>
          <p:nvPr/>
        </p:nvSpPr>
        <p:spPr>
          <a:xfrm>
            <a:off x="1432371" y="4917729"/>
            <a:ext cx="391048" cy="370059"/>
          </a:xfrm>
          <a:prstGeom prst="rect">
            <a:avLst/>
          </a:prstGeom>
          <a:noFill/>
          <a:ln w="9360">
            <a:noFill/>
          </a:ln>
        </p:spPr>
        <p:style>
          <a:lnRef idx="0">
            <a:scrgbClr r="0" g="0" b="0"/>
          </a:lnRef>
          <a:fillRef idx="0">
            <a:scrgbClr r="0" g="0" b="0"/>
          </a:fillRef>
          <a:effectRef idx="0">
            <a:scrgbClr r="0" g="0" b="0"/>
          </a:effectRef>
          <a:fontRef idx="minor"/>
        </p:style>
        <p:txBody>
          <a:bodyPr wrap="none" lIns="92160" tIns="46080" rIns="92160" bIns="46080">
            <a:spAutoFit/>
          </a:bodyPr>
          <a:lstStyle/>
          <a:p>
            <a:pPr>
              <a:lnSpc>
                <a:spcPct val="100000"/>
              </a:lnSpc>
            </a:pPr>
            <a:r>
              <a:rPr lang="es-ES" b="1" spc="-1" dirty="0">
                <a:latin typeface="Arial"/>
              </a:rPr>
              <a:t>-1</a:t>
            </a:r>
            <a:endParaRPr lang="es-PE" b="1" spc="-1" dirty="0">
              <a:latin typeface="Arial"/>
            </a:endParaRPr>
          </a:p>
        </p:txBody>
      </p:sp>
      <p:sp>
        <p:nvSpPr>
          <p:cNvPr id="3" name="Rectángulo 2">
            <a:extLst>
              <a:ext uri="{FF2B5EF4-FFF2-40B4-BE49-F238E27FC236}">
                <a16:creationId xmlns:a16="http://schemas.microsoft.com/office/drawing/2014/main" id="{F42A8885-CEBB-4037-988C-ACCBEADA48CC}"/>
              </a:ext>
            </a:extLst>
          </p:cNvPr>
          <p:cNvSpPr/>
          <p:nvPr/>
        </p:nvSpPr>
        <p:spPr>
          <a:xfrm>
            <a:off x="7890294" y="4960510"/>
            <a:ext cx="2193986" cy="1754326"/>
          </a:xfrm>
          <a:prstGeom prst="rect">
            <a:avLst/>
          </a:prstGeom>
          <a:solidFill>
            <a:srgbClr val="FFC000"/>
          </a:solidFill>
        </p:spPr>
        <p:txBody>
          <a:bodyPr wrap="square">
            <a:spAutoFit/>
          </a:bodyPr>
          <a:lstStyle/>
          <a:p>
            <a:pPr algn="just">
              <a:spcAft>
                <a:spcPts val="0"/>
              </a:spcAft>
            </a:pPr>
            <a:r>
              <a:rPr lang="es-PE" dirty="0">
                <a:latin typeface="Arial Narrow" panose="020B0606020202030204" pitchFamily="34" charset="0"/>
                <a:ea typeface="Calibri" panose="020F0502020204030204" pitchFamily="34" charset="0"/>
              </a:rPr>
              <a:t>IV) Hallando la </a:t>
            </a:r>
            <a:r>
              <a:rPr lang="es-PE" dirty="0" err="1">
                <a:latin typeface="Arial Narrow" panose="020B0606020202030204" pitchFamily="34" charset="0"/>
                <a:ea typeface="Calibri" panose="020F0502020204030204" pitchFamily="34" charset="0"/>
              </a:rPr>
              <a:t>S.O</a:t>
            </a:r>
            <a:r>
              <a:rPr lang="es-PE" dirty="0">
                <a:latin typeface="Arial Narrow" panose="020B0606020202030204" pitchFamily="34" charset="0"/>
                <a:ea typeface="Calibri" panose="020F0502020204030204" pitchFamily="34" charset="0"/>
              </a:rPr>
              <a:t>.</a:t>
            </a:r>
          </a:p>
          <a:p>
            <a:pPr algn="just">
              <a:spcAft>
                <a:spcPts val="0"/>
              </a:spcAft>
            </a:pPr>
            <a:r>
              <a:rPr lang="es-PE" dirty="0" err="1">
                <a:latin typeface="Arial Narrow" panose="020B0606020202030204" pitchFamily="34" charset="0"/>
                <a:ea typeface="Calibri" panose="020F0502020204030204" pitchFamily="34" charset="0"/>
              </a:rPr>
              <a:t>6X1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2X2</a:t>
            </a:r>
            <a:r>
              <a:rPr lang="es-PE" dirty="0">
                <a:latin typeface="Arial Narrow" panose="020B0606020202030204" pitchFamily="34" charset="0"/>
                <a:ea typeface="Calibri" panose="020F0502020204030204" pitchFamily="34" charset="0"/>
              </a:rPr>
              <a:t>	= 3</a:t>
            </a:r>
          </a:p>
          <a:p>
            <a:pPr algn="just">
              <a:spcAft>
                <a:spcPts val="0"/>
              </a:spcAft>
            </a:pPr>
            <a:r>
              <a:rPr lang="es-PE" u="sng" dirty="0">
                <a:latin typeface="Arial Narrow" panose="020B0606020202030204" pitchFamily="34" charset="0"/>
                <a:ea typeface="Calibri" panose="020F0502020204030204" pitchFamily="34" charset="0"/>
              </a:rPr>
              <a:t>-</a:t>
            </a:r>
            <a:r>
              <a:rPr lang="es-PE" u="sng" dirty="0" err="1">
                <a:latin typeface="Arial Narrow" panose="020B0606020202030204" pitchFamily="34" charset="0"/>
                <a:ea typeface="Calibri" panose="020F0502020204030204" pitchFamily="34" charset="0"/>
              </a:rPr>
              <a:t>2X1</a:t>
            </a:r>
            <a:r>
              <a:rPr lang="es-PE" u="sng" dirty="0">
                <a:latin typeface="Arial Narrow" panose="020B0606020202030204" pitchFamily="34" charset="0"/>
                <a:ea typeface="Calibri" panose="020F0502020204030204" pitchFamily="34" charset="0"/>
              </a:rPr>
              <a:t>+ </a:t>
            </a:r>
            <a:r>
              <a:rPr lang="es-PE" u="sng" dirty="0" err="1">
                <a:latin typeface="Arial Narrow" panose="020B0606020202030204" pitchFamily="34" charset="0"/>
                <a:ea typeface="Calibri" panose="020F0502020204030204" pitchFamily="34" charset="0"/>
              </a:rPr>
              <a:t>3X2</a:t>
            </a:r>
            <a:r>
              <a:rPr lang="es-PE" u="sng" dirty="0">
                <a:latin typeface="Arial Narrow" panose="020B0606020202030204" pitchFamily="34" charset="0"/>
                <a:ea typeface="Calibri" panose="020F0502020204030204" pitchFamily="34" charset="0"/>
              </a:rPr>
              <a:t>	= 6</a:t>
            </a:r>
          </a:p>
          <a:p>
            <a:pPr algn="just">
              <a:spcAft>
                <a:spcPts val="0"/>
              </a:spcAft>
            </a:pPr>
            <a:r>
              <a:rPr lang="es-PE" dirty="0" err="1">
                <a:latin typeface="Arial Narrow" panose="020B0606020202030204" pitchFamily="34" charset="0"/>
                <a:ea typeface="Calibri" panose="020F0502020204030204" pitchFamily="34" charset="0"/>
              </a:rPr>
              <a:t>6X1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2X2</a:t>
            </a:r>
            <a:r>
              <a:rPr lang="es-PE" dirty="0">
                <a:latin typeface="Arial Narrow" panose="020B0606020202030204" pitchFamily="34" charset="0"/>
                <a:ea typeface="Calibri" panose="020F0502020204030204" pitchFamily="34" charset="0"/>
              </a:rPr>
              <a:t>	= 3</a:t>
            </a:r>
          </a:p>
          <a:p>
            <a:pPr algn="just">
              <a:spcAft>
                <a:spcPts val="0"/>
              </a:spcAft>
            </a:pPr>
            <a:r>
              <a:rPr lang="es-PE" u="sng" dirty="0">
                <a:latin typeface="Arial Narrow" panose="020B0606020202030204" pitchFamily="34" charset="0"/>
                <a:ea typeface="Calibri" panose="020F0502020204030204" pitchFamily="34" charset="0"/>
              </a:rPr>
              <a:t>-</a:t>
            </a:r>
            <a:r>
              <a:rPr lang="es-PE" u="sng" dirty="0" err="1">
                <a:latin typeface="Arial Narrow" panose="020B0606020202030204" pitchFamily="34" charset="0"/>
                <a:ea typeface="Calibri" panose="020F0502020204030204" pitchFamily="34" charset="0"/>
              </a:rPr>
              <a:t>6X1</a:t>
            </a:r>
            <a:r>
              <a:rPr lang="es-PE" u="sng" dirty="0">
                <a:latin typeface="Arial Narrow" panose="020B0606020202030204" pitchFamily="34" charset="0"/>
                <a:ea typeface="Calibri" panose="020F0502020204030204" pitchFamily="34" charset="0"/>
              </a:rPr>
              <a:t>+ </a:t>
            </a:r>
            <a:r>
              <a:rPr lang="es-PE" u="sng" dirty="0" err="1">
                <a:latin typeface="Arial Narrow" panose="020B0606020202030204" pitchFamily="34" charset="0"/>
                <a:ea typeface="Calibri" panose="020F0502020204030204" pitchFamily="34" charset="0"/>
              </a:rPr>
              <a:t>9X2</a:t>
            </a:r>
            <a:r>
              <a:rPr lang="es-PE" u="sng" dirty="0">
                <a:latin typeface="Arial Narrow" panose="020B0606020202030204" pitchFamily="34" charset="0"/>
                <a:ea typeface="Calibri" panose="020F0502020204030204" pitchFamily="34" charset="0"/>
              </a:rPr>
              <a:t>	= 18</a:t>
            </a:r>
          </a:p>
          <a:p>
            <a:pPr algn="just">
              <a:spcAft>
                <a:spcPts val="0"/>
              </a:spcAft>
            </a:pP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7X2</a:t>
            </a:r>
            <a:r>
              <a:rPr lang="es-PE" dirty="0">
                <a:latin typeface="Arial Narrow" panose="020B0606020202030204" pitchFamily="34" charset="0"/>
                <a:ea typeface="Calibri" panose="020F0502020204030204" pitchFamily="34" charset="0"/>
              </a:rPr>
              <a:t>=21</a:t>
            </a:r>
          </a:p>
        </p:txBody>
      </p:sp>
      <p:sp>
        <p:nvSpPr>
          <p:cNvPr id="51" name="Rectángulo 50">
            <a:extLst>
              <a:ext uri="{FF2B5EF4-FFF2-40B4-BE49-F238E27FC236}">
                <a16:creationId xmlns:a16="http://schemas.microsoft.com/office/drawing/2014/main" id="{08FF3D15-188D-4740-83D0-9B9640169E7A}"/>
              </a:ext>
            </a:extLst>
          </p:cNvPr>
          <p:cNvSpPr/>
          <p:nvPr/>
        </p:nvSpPr>
        <p:spPr>
          <a:xfrm>
            <a:off x="10052638" y="4957642"/>
            <a:ext cx="2096232" cy="1754326"/>
          </a:xfrm>
          <a:prstGeom prst="rect">
            <a:avLst/>
          </a:prstGeom>
          <a:solidFill>
            <a:srgbClr val="FFC000"/>
          </a:solidFill>
        </p:spPr>
        <p:txBody>
          <a:bodyPr wrap="square">
            <a:spAutoFit/>
          </a:bodyPr>
          <a:lstStyle/>
          <a:p>
            <a:pPr algn="just">
              <a:spcAft>
                <a:spcPts val="0"/>
              </a:spcAft>
            </a:pPr>
            <a:endParaRPr lang="es-PE" dirty="0">
              <a:latin typeface="Arial Narrow" panose="020B0606020202030204" pitchFamily="34" charset="0"/>
              <a:ea typeface="Calibri" panose="020F0502020204030204" pitchFamily="34" charset="0"/>
            </a:endParaRPr>
          </a:p>
          <a:p>
            <a:pPr algn="just">
              <a:spcAft>
                <a:spcPts val="0"/>
              </a:spcAft>
            </a:pPr>
            <a:r>
              <a:rPr lang="es-PE" dirty="0">
                <a:latin typeface="Arial Narrow" panose="020B0606020202030204" pitchFamily="34" charset="0"/>
                <a:ea typeface="Calibri" panose="020F0502020204030204" pitchFamily="34" charset="0"/>
              </a:rPr>
              <a:t>La </a:t>
            </a:r>
            <a:r>
              <a:rPr lang="es-PE" dirty="0" err="1">
                <a:latin typeface="Arial Narrow" panose="020B0606020202030204" pitchFamily="34" charset="0"/>
                <a:ea typeface="Calibri" panose="020F0502020204030204" pitchFamily="34" charset="0"/>
              </a:rPr>
              <a:t>S.O</a:t>
            </a:r>
            <a:r>
              <a:rPr lang="es-PE" dirty="0">
                <a:latin typeface="Arial Narrow" panose="020B0606020202030204" pitchFamily="34" charset="0"/>
                <a:ea typeface="Calibri" panose="020F0502020204030204" pitchFamily="34" charset="0"/>
              </a:rPr>
              <a:t>. es</a:t>
            </a:r>
          </a:p>
          <a:p>
            <a:pPr algn="just">
              <a:spcAft>
                <a:spcPts val="0"/>
              </a:spcAft>
            </a:pPr>
            <a:r>
              <a:rPr lang="es-PE" dirty="0" err="1">
                <a:latin typeface="Arial Narrow" panose="020B0606020202030204" pitchFamily="34" charset="0"/>
                <a:ea typeface="Calibri" panose="020F0502020204030204" pitchFamily="34" charset="0"/>
              </a:rPr>
              <a:t>X1</a:t>
            </a:r>
            <a:r>
              <a:rPr lang="es-PE" dirty="0">
                <a:latin typeface="Arial Narrow" panose="020B0606020202030204" pitchFamily="34" charset="0"/>
                <a:ea typeface="Calibri" panose="020F0502020204030204" pitchFamily="34" charset="0"/>
              </a:rPr>
              <a:t>=1,5</a:t>
            </a:r>
          </a:p>
          <a:p>
            <a:pPr algn="just">
              <a:spcAft>
                <a:spcPts val="0"/>
              </a:spcAft>
            </a:pPr>
            <a:r>
              <a:rPr lang="es-PE" u="sng" dirty="0" err="1">
                <a:latin typeface="Arial Narrow" panose="020B0606020202030204" pitchFamily="34" charset="0"/>
                <a:ea typeface="Calibri" panose="020F0502020204030204" pitchFamily="34" charset="0"/>
              </a:rPr>
              <a:t>X2</a:t>
            </a:r>
            <a:r>
              <a:rPr lang="es-PE" u="sng" dirty="0">
                <a:latin typeface="Arial Narrow" panose="020B0606020202030204" pitchFamily="34" charset="0"/>
                <a:ea typeface="Calibri" panose="020F0502020204030204" pitchFamily="34" charset="0"/>
              </a:rPr>
              <a:t>= 3</a:t>
            </a:r>
          </a:p>
          <a:p>
            <a:pPr algn="just">
              <a:spcAft>
                <a:spcPts val="0"/>
              </a:spcAft>
            </a:pPr>
            <a:r>
              <a:rPr lang="es-PE" dirty="0">
                <a:latin typeface="Arial Narrow" panose="020B0606020202030204" pitchFamily="34" charset="0"/>
                <a:ea typeface="Calibri" panose="020F0502020204030204" pitchFamily="34" charset="0"/>
              </a:rPr>
              <a:t>El valor que toma la </a:t>
            </a:r>
            <a:r>
              <a:rPr lang="es-PE" dirty="0" err="1">
                <a:latin typeface="Arial Narrow" panose="020B0606020202030204" pitchFamily="34" charset="0"/>
                <a:ea typeface="Calibri" panose="020F0502020204030204" pitchFamily="34" charset="0"/>
              </a:rPr>
              <a:t>F.O</a:t>
            </a:r>
            <a:r>
              <a:rPr lang="es-PE" dirty="0">
                <a:latin typeface="Arial Narrow" panose="020B0606020202030204" pitchFamily="34" charset="0"/>
                <a:ea typeface="Calibri" panose="020F0502020204030204" pitchFamily="34" charset="0"/>
              </a:rPr>
              <a:t>. es Z=18</a:t>
            </a:r>
          </a:p>
        </p:txBody>
      </p:sp>
      <p:sp>
        <p:nvSpPr>
          <p:cNvPr id="52" name="1 Rectángulo">
            <a:extLst>
              <a:ext uri="{FF2B5EF4-FFF2-40B4-BE49-F238E27FC236}">
                <a16:creationId xmlns:a16="http://schemas.microsoft.com/office/drawing/2014/main" id="{A5F8CC79-95A0-4F74-A885-2D0C11B13576}"/>
              </a:ext>
            </a:extLst>
          </p:cNvPr>
          <p:cNvSpPr/>
          <p:nvPr/>
        </p:nvSpPr>
        <p:spPr>
          <a:xfrm>
            <a:off x="2549257" y="5380672"/>
            <a:ext cx="1703558" cy="1477328"/>
          </a:xfrm>
          <a:prstGeom prst="rect">
            <a:avLst/>
          </a:prstGeom>
          <a:solidFill>
            <a:srgbClr val="FFFF00"/>
          </a:solidFill>
        </p:spPr>
        <p:txBody>
          <a:bodyPr wrap="square">
            <a:spAutoFit/>
          </a:bodyPr>
          <a:lstStyle/>
          <a:p>
            <a:pPr algn="just">
              <a:spcAft>
                <a:spcPts val="0"/>
              </a:spcAft>
            </a:pPr>
            <a:r>
              <a:rPr lang="es-PE" dirty="0">
                <a:latin typeface="Arial Narrow" panose="020B0606020202030204" pitchFamily="34" charset="0"/>
                <a:ea typeface="Calibri" panose="020F0502020204030204" pitchFamily="34" charset="0"/>
              </a:rPr>
              <a:t>Max -</a:t>
            </a:r>
            <a:r>
              <a:rPr lang="es-PE" dirty="0" err="1">
                <a:latin typeface="Arial Narrow" panose="020B0606020202030204" pitchFamily="34" charset="0"/>
                <a:ea typeface="Calibri" panose="020F0502020204030204" pitchFamily="34" charset="0"/>
              </a:rPr>
              <a:t>4X1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8X2</a:t>
            </a:r>
            <a:endParaRPr lang="es-PE" dirty="0">
              <a:latin typeface="Arial Narrow" panose="020B0606020202030204" pitchFamily="34" charset="0"/>
              <a:ea typeface="Calibri" panose="020F0502020204030204" pitchFamily="34" charset="0"/>
            </a:endParaRPr>
          </a:p>
          <a:p>
            <a:pPr algn="just">
              <a:spcAft>
                <a:spcPts val="0"/>
              </a:spcAft>
            </a:pPr>
            <a:r>
              <a:rPr lang="es-PE" dirty="0" err="1">
                <a:solidFill>
                  <a:srgbClr val="FF0000"/>
                </a:solidFill>
                <a:latin typeface="Arial Narrow" panose="020B0606020202030204" pitchFamily="34" charset="0"/>
                <a:ea typeface="Calibri" panose="020F0502020204030204" pitchFamily="34" charset="0"/>
              </a:rPr>
              <a:t>ST</a:t>
            </a:r>
            <a:endParaRPr lang="es-PE" dirty="0">
              <a:solidFill>
                <a:srgbClr val="FF0000"/>
              </a:solidFill>
              <a:latin typeface="Arial Narrow" panose="020B0606020202030204" pitchFamily="34" charset="0"/>
              <a:ea typeface="Calibri" panose="020F0502020204030204" pitchFamily="34" charset="0"/>
            </a:endParaRPr>
          </a:p>
          <a:p>
            <a:pPr algn="just">
              <a:spcAft>
                <a:spcPts val="0"/>
              </a:spcAft>
            </a:pP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6X1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2X2</a:t>
            </a:r>
            <a:r>
              <a:rPr lang="es-PE" dirty="0">
                <a:latin typeface="Arial Narrow" panose="020B0606020202030204" pitchFamily="34" charset="0"/>
                <a:ea typeface="Calibri" panose="020F0502020204030204" pitchFamily="34" charset="0"/>
              </a:rPr>
              <a:t>	&lt;= 3</a:t>
            </a:r>
          </a:p>
          <a:p>
            <a:pPr algn="just">
              <a:spcAft>
                <a:spcPts val="0"/>
              </a:spcAft>
            </a:pPr>
            <a:r>
              <a:rPr lang="es-PE" dirty="0">
                <a:latin typeface="Arial Narrow" panose="020B0606020202030204" pitchFamily="34" charset="0"/>
                <a:ea typeface="Calibri" panose="020F0502020204030204" pitchFamily="34" charset="0"/>
              </a:rPr>
              <a:t>-</a:t>
            </a:r>
            <a:r>
              <a:rPr lang="es-PE" dirty="0" err="1">
                <a:latin typeface="Arial Narrow" panose="020B0606020202030204" pitchFamily="34" charset="0"/>
                <a:ea typeface="Calibri" panose="020F0502020204030204" pitchFamily="34" charset="0"/>
              </a:rPr>
              <a:t>2X1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3X2</a:t>
            </a:r>
            <a:r>
              <a:rPr lang="es-PE" dirty="0">
                <a:latin typeface="Arial Narrow" panose="020B0606020202030204" pitchFamily="34" charset="0"/>
                <a:ea typeface="Calibri" panose="020F0502020204030204" pitchFamily="34" charset="0"/>
              </a:rPr>
              <a:t>	&lt;= 6</a:t>
            </a:r>
          </a:p>
          <a:p>
            <a:pPr algn="just">
              <a:spcAft>
                <a:spcPts val="0"/>
              </a:spcAft>
            </a:pP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2X1</a:t>
            </a:r>
            <a:r>
              <a:rPr lang="es-PE" dirty="0">
                <a:latin typeface="Arial Narrow" panose="020B0606020202030204" pitchFamily="34" charset="0"/>
                <a:ea typeface="Calibri" panose="020F0502020204030204" pitchFamily="34" charset="0"/>
              </a:rPr>
              <a:t>+ </a:t>
            </a:r>
            <a:r>
              <a:rPr lang="es-PE" dirty="0" err="1">
                <a:latin typeface="Arial Narrow" panose="020B0606020202030204" pitchFamily="34" charset="0"/>
                <a:ea typeface="Calibri" panose="020F0502020204030204" pitchFamily="34" charset="0"/>
              </a:rPr>
              <a:t>3X2</a:t>
            </a:r>
            <a:r>
              <a:rPr lang="es-PE" dirty="0">
                <a:latin typeface="Arial Narrow" panose="020B0606020202030204" pitchFamily="34" charset="0"/>
                <a:ea typeface="Calibri" panose="020F0502020204030204" pitchFamily="34" charset="0"/>
              </a:rPr>
              <a:t>	&lt;= 24</a:t>
            </a:r>
            <a:endParaRPr lang="es-PE" dirty="0">
              <a:latin typeface="Arial Narrow" panose="020B0606020202030204" pitchFamily="34" charset="0"/>
            </a:endParaRPr>
          </a:p>
        </p:txBody>
      </p:sp>
      <p:sp>
        <p:nvSpPr>
          <p:cNvPr id="53" name="2 Rectángulo">
            <a:extLst>
              <a:ext uri="{FF2B5EF4-FFF2-40B4-BE49-F238E27FC236}">
                <a16:creationId xmlns:a16="http://schemas.microsoft.com/office/drawing/2014/main" id="{40A91CD9-7C1D-4B39-843A-844DB392E005}"/>
              </a:ext>
            </a:extLst>
          </p:cNvPr>
          <p:cNvSpPr/>
          <p:nvPr/>
        </p:nvSpPr>
        <p:spPr>
          <a:xfrm>
            <a:off x="4240322" y="5380672"/>
            <a:ext cx="3419926" cy="1477328"/>
          </a:xfrm>
          <a:prstGeom prst="rect">
            <a:avLst/>
          </a:prstGeom>
          <a:solidFill>
            <a:schemeClr val="accent5">
              <a:lumMod val="20000"/>
              <a:lumOff val="80000"/>
            </a:schemeClr>
          </a:solidFill>
        </p:spPr>
        <p:txBody>
          <a:bodyPr wrap="square">
            <a:spAutoFit/>
          </a:bodyPr>
          <a:lstStyle/>
          <a:p>
            <a:r>
              <a:rPr lang="en-US" dirty="0">
                <a:latin typeface="Arial Narrow" pitchFamily="34" charset="0"/>
              </a:rPr>
              <a:t>OBJECTIVE FUNCTION VALUE</a:t>
            </a:r>
          </a:p>
          <a:p>
            <a:r>
              <a:rPr lang="en-US" dirty="0">
                <a:latin typeface="Arial Narrow" pitchFamily="34" charset="0"/>
              </a:rPr>
              <a:t>        1)      18.00000</a:t>
            </a:r>
          </a:p>
          <a:p>
            <a:r>
              <a:rPr lang="en-US" dirty="0">
                <a:latin typeface="Arial Narrow" pitchFamily="34" charset="0"/>
              </a:rPr>
              <a:t>VARIABLE VALUE  REDUCED COST</a:t>
            </a:r>
          </a:p>
          <a:p>
            <a:r>
              <a:rPr lang="en-US" dirty="0">
                <a:latin typeface="Arial Narrow" pitchFamily="34" charset="0"/>
              </a:rPr>
              <a:t>        </a:t>
            </a:r>
            <a:r>
              <a:rPr lang="en-US" dirty="0" err="1">
                <a:latin typeface="Arial Narrow" pitchFamily="34" charset="0"/>
              </a:rPr>
              <a:t>X1</a:t>
            </a:r>
            <a:r>
              <a:rPr lang="en-US" dirty="0">
                <a:latin typeface="Arial Narrow" pitchFamily="34" charset="0"/>
              </a:rPr>
              <a:t>     1.500000          0.000000</a:t>
            </a:r>
          </a:p>
          <a:p>
            <a:r>
              <a:rPr lang="en-US" dirty="0">
                <a:latin typeface="Arial Narrow" pitchFamily="34" charset="0"/>
              </a:rPr>
              <a:t>        </a:t>
            </a:r>
            <a:r>
              <a:rPr lang="en-US" dirty="0" err="1">
                <a:latin typeface="Arial Narrow" pitchFamily="34" charset="0"/>
              </a:rPr>
              <a:t>X2</a:t>
            </a:r>
            <a:r>
              <a:rPr lang="en-US" dirty="0">
                <a:latin typeface="Arial Narrow" pitchFamily="34" charset="0"/>
              </a:rPr>
              <a:t>     3.000000          0.000000</a:t>
            </a:r>
          </a:p>
        </p:txBody>
      </p:sp>
      <p:sp>
        <p:nvSpPr>
          <p:cNvPr id="44" name="Line 31">
            <a:extLst>
              <a:ext uri="{FF2B5EF4-FFF2-40B4-BE49-F238E27FC236}">
                <a16:creationId xmlns:a16="http://schemas.microsoft.com/office/drawing/2014/main" id="{75E9346B-5709-48C6-9ABC-A4769FB80B84}"/>
              </a:ext>
            </a:extLst>
          </p:cNvPr>
          <p:cNvSpPr/>
          <p:nvPr/>
        </p:nvSpPr>
        <p:spPr>
          <a:xfrm flipH="1">
            <a:off x="-276708" y="2671615"/>
            <a:ext cx="4957012" cy="2566737"/>
          </a:xfrm>
          <a:prstGeom prst="line">
            <a:avLst/>
          </a:prstGeom>
          <a:ln w="25400">
            <a:solidFill>
              <a:srgbClr val="D0060D"/>
            </a:solidFill>
            <a:prstDash val="dash"/>
            <a:round/>
          </a:ln>
        </p:spPr>
        <p:style>
          <a:lnRef idx="0">
            <a:scrgbClr r="0" g="0" b="0"/>
          </a:lnRef>
          <a:fillRef idx="0">
            <a:scrgbClr r="0" g="0" b="0"/>
          </a:fillRef>
          <a:effectRef idx="0">
            <a:scrgbClr r="0" g="0" b="0"/>
          </a:effectRef>
          <a:fontRef idx="minor"/>
        </p:style>
        <p:txBody>
          <a:bodyPr/>
          <a:lstStyle/>
          <a:p>
            <a:endParaRPr lang="es-PE" dirty="0"/>
          </a:p>
        </p:txBody>
      </p:sp>
    </p:spTree>
    <p:extLst>
      <p:ext uri="{BB962C8B-B14F-4D97-AF65-F5344CB8AC3E}">
        <p14:creationId xmlns:p14="http://schemas.microsoft.com/office/powerpoint/2010/main" val="382625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52"/>
                                        </p:tgtEl>
                                        <p:attrNameLst>
                                          <p:attrName>style.visibility</p:attrName>
                                        </p:attrNameLst>
                                      </p:cBhvr>
                                      <p:to>
                                        <p:strVal val="visible"/>
                                      </p:to>
                                    </p:set>
                                    <p:anim calcmode="lin" valueType="num">
                                      <p:cBhvr additive="base">
                                        <p:cTn id="59" dur="500" fill="hold"/>
                                        <p:tgtEl>
                                          <p:spTgt spid="52"/>
                                        </p:tgtEl>
                                        <p:attrNameLst>
                                          <p:attrName>ppt_x</p:attrName>
                                        </p:attrNameLst>
                                      </p:cBhvr>
                                      <p:tavLst>
                                        <p:tav tm="0">
                                          <p:val>
                                            <p:strVal val="#ppt_x"/>
                                          </p:val>
                                        </p:tav>
                                        <p:tav tm="100000">
                                          <p:val>
                                            <p:strVal val="#ppt_x"/>
                                          </p:val>
                                        </p:tav>
                                      </p:tavLst>
                                    </p:anim>
                                    <p:anim calcmode="lin" valueType="num">
                                      <p:cBhvr additive="base">
                                        <p:cTn id="6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additive="base">
                                        <p:cTn id="65" dur="500" fill="hold"/>
                                        <p:tgtEl>
                                          <p:spTgt spid="53"/>
                                        </p:tgtEl>
                                        <p:attrNameLst>
                                          <p:attrName>ppt_x</p:attrName>
                                        </p:attrNameLst>
                                      </p:cBhvr>
                                      <p:tavLst>
                                        <p:tav tm="0">
                                          <p:val>
                                            <p:strVal val="#ppt_x"/>
                                          </p:val>
                                        </p:tav>
                                        <p:tav tm="100000">
                                          <p:val>
                                            <p:strVal val="#ppt_x"/>
                                          </p:val>
                                        </p:tav>
                                      </p:tavLst>
                                    </p:anim>
                                    <p:anim calcmode="lin" valueType="num">
                                      <p:cBhvr additive="base">
                                        <p:cTn id="66"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7" grpId="0" animBg="1"/>
      <p:bldP spid="63" grpId="0" animBg="1"/>
      <p:bldP spid="2" grpId="0" animBg="1"/>
      <p:bldP spid="32" grpId="0" animBg="1"/>
      <p:bldP spid="3" grpId="0" animBg="1"/>
      <p:bldP spid="51" grpId="0" animBg="1"/>
      <p:bldP spid="52" grpId="0" animBg="1"/>
      <p:bldP spid="53" grpId="0" animBg="1"/>
      <p:bldP spid="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 y="1229584"/>
            <a:ext cx="6079066" cy="5693866"/>
          </a:xfrm>
          <a:prstGeom prst="rect">
            <a:avLst/>
          </a:prstGeom>
        </p:spPr>
        <p:txBody>
          <a:bodyPr wrap="square">
            <a:spAutoFit/>
          </a:bodyPr>
          <a:lstStyle/>
          <a:p>
            <a:pPr lvl="0" algn="just"/>
            <a:r>
              <a:rPr lang="es-ES" sz="2800" b="1" dirty="0">
                <a:latin typeface="Arial Narrow" pitchFamily="34" charset="0"/>
              </a:rPr>
              <a:t>Una confitería es famosa por su dos especialidades de tartas: la tarta Imperial y la tarta de Lima. la tarta Imperial requiere para su elaboración medio kilo de azúcar y 8 huevos y tiene un precio de venta de 8 soles. La tarta de Lima necesita 1 kilo de azúcar y 8 huevos, y tiene un precio de venta de 10 soles. En el almacén les quedaban 10 kilos de azúcar y 120 huevos. Plantea el problema y resolver gráficamente. ¿Cuántas unidades de cada especialidad han de producirse para obtener el mayor ingreso por ventas?</a:t>
            </a:r>
          </a:p>
        </p:txBody>
      </p:sp>
      <p:sp>
        <p:nvSpPr>
          <p:cNvPr id="4" name="Text Box 2"/>
          <p:cNvSpPr txBox="1">
            <a:spLocks noChangeArrowheads="1"/>
          </p:cNvSpPr>
          <p:nvPr/>
        </p:nvSpPr>
        <p:spPr bwMode="auto">
          <a:xfrm>
            <a:off x="6790267" y="1280383"/>
            <a:ext cx="5278903" cy="1541336"/>
          </a:xfrm>
          <a:prstGeom prst="rect">
            <a:avLst/>
          </a:prstGeom>
          <a:solidFill>
            <a:srgbClr val="FFFF00"/>
          </a:solidFill>
          <a:ln>
            <a:noFill/>
          </a:ln>
        </p:spPr>
        <p:txBody>
          <a:bodyPr vert="horz" wrap="square" lIns="0" tIns="0" rIns="0" bIns="0" numCol="1" anchor="t" anchorCtr="0" compatLnSpc="1">
            <a:prstTxWarp prst="textNoShape">
              <a:avLst/>
            </a:prstTxWarp>
          </a:bodyPr>
          <a:lstStyle/>
          <a:p>
            <a:pPr fontAlgn="base">
              <a:spcBef>
                <a:spcPct val="0"/>
              </a:spcBef>
            </a:pPr>
            <a:r>
              <a:rPr lang="es-ES" sz="2400" b="1" dirty="0">
                <a:latin typeface="Times New Roman" pitchFamily="18" charset="0"/>
                <a:cs typeface="Arial" pitchFamily="34" charset="0"/>
              </a:rPr>
              <a:t>	        </a:t>
            </a:r>
            <a:r>
              <a:rPr lang="es-ES" sz="2400" b="1" dirty="0">
                <a:latin typeface="Calibri" pitchFamily="34" charset="0"/>
                <a:cs typeface="Arial" pitchFamily="34" charset="0"/>
              </a:rPr>
              <a:t>Azúcar	Huevos    PRECIO</a:t>
            </a:r>
          </a:p>
          <a:p>
            <a:pPr fontAlgn="base">
              <a:spcBef>
                <a:spcPct val="0"/>
              </a:spcBef>
            </a:pPr>
            <a:r>
              <a:rPr lang="es-ES" sz="2400" b="1" dirty="0">
                <a:latin typeface="Calibri" pitchFamily="34" charset="0"/>
                <a:cs typeface="Arial" pitchFamily="34" charset="0"/>
              </a:rPr>
              <a:t>Imperial	 0,5 	      8             8</a:t>
            </a:r>
            <a:endParaRPr lang="es-PE" sz="2400" b="1" dirty="0">
              <a:latin typeface="Times New Roman" pitchFamily="18" charset="0"/>
              <a:cs typeface="Arial" pitchFamily="34" charset="0"/>
            </a:endParaRPr>
          </a:p>
          <a:p>
            <a:pPr fontAlgn="base">
              <a:spcBef>
                <a:spcPct val="0"/>
              </a:spcBef>
            </a:pPr>
            <a:r>
              <a:rPr lang="es-ES" sz="2400" b="1" dirty="0">
                <a:latin typeface="Calibri" pitchFamily="34" charset="0"/>
                <a:cs typeface="Arial" pitchFamily="34" charset="0"/>
              </a:rPr>
              <a:t>Lima	  	 1	      8 	      10</a:t>
            </a:r>
          </a:p>
          <a:p>
            <a:pPr fontAlgn="base">
              <a:spcBef>
                <a:spcPct val="0"/>
              </a:spcBef>
            </a:pPr>
            <a:r>
              <a:rPr lang="es-ES" sz="2400" b="1" dirty="0">
                <a:latin typeface="Calibri" pitchFamily="34" charset="0"/>
                <a:cs typeface="Arial" pitchFamily="34" charset="0"/>
              </a:rPr>
              <a:t>STOCK	 	10            120</a:t>
            </a:r>
            <a:endParaRPr lang="es-PE" sz="2400" b="1" dirty="0">
              <a:latin typeface="Arial" pitchFamily="34" charset="0"/>
              <a:cs typeface="Arial" pitchFamily="34" charset="0"/>
            </a:endParaRPr>
          </a:p>
        </p:txBody>
      </p:sp>
      <p:sp>
        <p:nvSpPr>
          <p:cNvPr id="5" name="Rectángulo 1">
            <a:extLst>
              <a:ext uri="{FF2B5EF4-FFF2-40B4-BE49-F238E27FC236}">
                <a16:creationId xmlns:a16="http://schemas.microsoft.com/office/drawing/2014/main" id="{8D72DA20-3207-480B-A490-F48F5A268E14}"/>
              </a:ext>
            </a:extLst>
          </p:cNvPr>
          <p:cNvSpPr>
            <a:spLocks noChangeArrowheads="1"/>
          </p:cNvSpPr>
          <p:nvPr/>
        </p:nvSpPr>
        <p:spPr bwMode="auto">
          <a:xfrm>
            <a:off x="6096000" y="197124"/>
            <a:ext cx="6096000" cy="587880"/>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noAutofit/>
          </a:bodyPr>
          <a:lstStyle/>
          <a:p>
            <a:pPr algn="ctr" fontAlgn="base">
              <a:lnSpc>
                <a:spcPts val="5800"/>
              </a:lnSpc>
              <a:spcBef>
                <a:spcPct val="0"/>
              </a:spcBef>
              <a:spcAft>
                <a:spcPct val="0"/>
              </a:spcAft>
            </a:pPr>
            <a:r>
              <a:rPr lang="es-ES_tradnl" altLang="es-PE" sz="3200" dirty="0">
                <a:solidFill>
                  <a:schemeClr val="bg1"/>
                </a:solidFill>
                <a:effectLst>
                  <a:outerShdw blurRad="63500" dist="38100" dir="5400000" algn="t" rotWithShape="0">
                    <a:prstClr val="black">
                      <a:alpha val="25000"/>
                    </a:prstClr>
                  </a:outerShdw>
                </a:effectLst>
                <a:latin typeface="Bauhaus 93" pitchFamily="82" charset="0"/>
              </a:rPr>
              <a:t>Problema 40</a:t>
            </a:r>
          </a:p>
        </p:txBody>
      </p:sp>
      <p:sp>
        <p:nvSpPr>
          <p:cNvPr id="9" name="3 Rectángulo">
            <a:extLst>
              <a:ext uri="{FF2B5EF4-FFF2-40B4-BE49-F238E27FC236}">
                <a16:creationId xmlns:a16="http://schemas.microsoft.com/office/drawing/2014/main" id="{11FCF8AD-5419-4212-B785-862115BEA112}"/>
              </a:ext>
            </a:extLst>
          </p:cNvPr>
          <p:cNvSpPr/>
          <p:nvPr/>
        </p:nvSpPr>
        <p:spPr>
          <a:xfrm>
            <a:off x="6802225" y="2824888"/>
            <a:ext cx="5265169" cy="1200329"/>
          </a:xfrm>
          <a:prstGeom prst="rect">
            <a:avLst/>
          </a:prstGeom>
          <a:solidFill>
            <a:srgbClr val="FFC000"/>
          </a:solidFill>
        </p:spPr>
        <p:txBody>
          <a:bodyPr wrap="square">
            <a:spAutoFit/>
          </a:bodyPr>
          <a:lstStyle/>
          <a:p>
            <a:pPr marL="400050" indent="-400050" algn="just" fontAlgn="base">
              <a:spcBef>
                <a:spcPct val="0"/>
              </a:spcBef>
              <a:spcAft>
                <a:spcPct val="0"/>
              </a:spcAft>
              <a:buAutoNum type="romanUcPeriod"/>
            </a:pPr>
            <a:r>
              <a:rPr lang="es-PE" sz="2400" b="1" dirty="0">
                <a:solidFill>
                  <a:srgbClr val="FF0000"/>
                </a:solidFill>
                <a:latin typeface="Arial Narrow" pitchFamily="34" charset="0"/>
                <a:ea typeface="Calibri" pitchFamily="34" charset="0"/>
                <a:cs typeface="Arial" pitchFamily="34" charset="0"/>
              </a:rPr>
              <a:t>Identificación de variables</a:t>
            </a:r>
          </a:p>
          <a:p>
            <a:pPr marL="449263" algn="just" fontAlgn="base">
              <a:spcBef>
                <a:spcPct val="0"/>
              </a:spcBef>
              <a:spcAft>
                <a:spcPct val="0"/>
              </a:spcAft>
            </a:pPr>
            <a:r>
              <a:rPr lang="es-PE" sz="2400" b="1" dirty="0" err="1">
                <a:latin typeface="Arial Narrow" pitchFamily="34" charset="0"/>
                <a:ea typeface="Calibri" pitchFamily="34" charset="0"/>
                <a:cs typeface="Arial" pitchFamily="34" charset="0"/>
              </a:rPr>
              <a:t>X1</a:t>
            </a:r>
            <a:r>
              <a:rPr lang="es-PE" sz="2400" b="1" dirty="0">
                <a:latin typeface="Arial Narrow" pitchFamily="34" charset="0"/>
                <a:ea typeface="Calibri" pitchFamily="34" charset="0"/>
                <a:cs typeface="Arial" pitchFamily="34" charset="0"/>
              </a:rPr>
              <a:t> = Número de tartas tipo Imperial</a:t>
            </a:r>
          </a:p>
          <a:p>
            <a:pPr marL="449263" algn="just" fontAlgn="base">
              <a:spcBef>
                <a:spcPct val="0"/>
              </a:spcBef>
              <a:spcAft>
                <a:spcPct val="0"/>
              </a:spcAft>
            </a:pPr>
            <a:r>
              <a:rPr lang="es-PE" sz="2400" b="1" dirty="0" err="1">
                <a:latin typeface="Arial Narrow" pitchFamily="34" charset="0"/>
                <a:ea typeface="Calibri" pitchFamily="34" charset="0"/>
                <a:cs typeface="Arial" pitchFamily="34" charset="0"/>
              </a:rPr>
              <a:t>X2</a:t>
            </a:r>
            <a:r>
              <a:rPr lang="es-PE" sz="2400" b="1" dirty="0">
                <a:latin typeface="Arial Narrow" pitchFamily="34" charset="0"/>
                <a:ea typeface="Calibri" pitchFamily="34" charset="0"/>
                <a:cs typeface="Arial" pitchFamily="34" charset="0"/>
              </a:rPr>
              <a:t> = Número de tartas tipo Lima</a:t>
            </a:r>
          </a:p>
        </p:txBody>
      </p:sp>
      <p:sp>
        <p:nvSpPr>
          <p:cNvPr id="3" name="Rectángulo 2">
            <a:extLst>
              <a:ext uri="{FF2B5EF4-FFF2-40B4-BE49-F238E27FC236}">
                <a16:creationId xmlns:a16="http://schemas.microsoft.com/office/drawing/2014/main" id="{84F03C2B-115C-41FF-BC66-54DA4D412445}"/>
              </a:ext>
            </a:extLst>
          </p:cNvPr>
          <p:cNvSpPr/>
          <p:nvPr/>
        </p:nvSpPr>
        <p:spPr>
          <a:xfrm>
            <a:off x="6802225" y="5265780"/>
            <a:ext cx="5268705" cy="1569660"/>
          </a:xfrm>
          <a:prstGeom prst="rect">
            <a:avLst/>
          </a:prstGeom>
          <a:solidFill>
            <a:srgbClr val="FFC000"/>
          </a:solidFill>
        </p:spPr>
        <p:txBody>
          <a:bodyPr wrap="square">
            <a:spAutoFit/>
          </a:bodyPr>
          <a:lstStyle/>
          <a:p>
            <a:pPr lvl="0" algn="just" eaLnBrk="0" fontAlgn="base" hangingPunct="0">
              <a:spcBef>
                <a:spcPct val="0"/>
              </a:spcBef>
              <a:spcAft>
                <a:spcPct val="0"/>
              </a:spcAft>
            </a:pPr>
            <a:r>
              <a:rPr lang="es-PE" sz="2400" b="1" dirty="0">
                <a:solidFill>
                  <a:srgbClr val="FF0000"/>
                </a:solidFill>
                <a:latin typeface="Arial Narrow" pitchFamily="34" charset="0"/>
                <a:ea typeface="Calibri" pitchFamily="34" charset="0"/>
                <a:cs typeface="Arial" pitchFamily="34" charset="0"/>
              </a:rPr>
              <a:t>III.   Identificación de las restricciones</a:t>
            </a:r>
            <a:endParaRPr lang="es-PE" sz="2400" b="1"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400" b="1" dirty="0" err="1">
                <a:latin typeface="Arial Narrow" pitchFamily="34" charset="0"/>
                <a:ea typeface="Calibri" pitchFamily="34" charset="0"/>
                <a:cs typeface="Arial" pitchFamily="34" charset="0"/>
              </a:rPr>
              <a:t>0,5X1</a:t>
            </a:r>
            <a:r>
              <a:rPr lang="es-PE" sz="2400" b="1" dirty="0">
                <a:latin typeface="Arial Narrow" pitchFamily="34" charset="0"/>
                <a:ea typeface="Calibri" pitchFamily="34" charset="0"/>
                <a:cs typeface="Arial" pitchFamily="34" charset="0"/>
              </a:rPr>
              <a:t> + </a:t>
            </a:r>
            <a:r>
              <a:rPr lang="es-PE" sz="2400" b="1" dirty="0" err="1">
                <a:latin typeface="Arial Narrow" pitchFamily="34" charset="0"/>
                <a:ea typeface="Calibri" pitchFamily="34" charset="0"/>
                <a:cs typeface="Arial" pitchFamily="34" charset="0"/>
              </a:rPr>
              <a:t>X2</a:t>
            </a:r>
            <a:r>
              <a:rPr lang="es-PE" sz="2400" b="1" dirty="0">
                <a:latin typeface="Arial Narrow" pitchFamily="34" charset="0"/>
              </a:rPr>
              <a:t>   ≤ </a:t>
            </a:r>
            <a:r>
              <a:rPr lang="es-PE" sz="2400" b="1" dirty="0">
                <a:latin typeface="Arial Narrow" pitchFamily="34" charset="0"/>
                <a:ea typeface="Calibri" pitchFamily="34" charset="0"/>
                <a:cs typeface="Arial" pitchFamily="34" charset="0"/>
              </a:rPr>
              <a:t> 10</a:t>
            </a:r>
            <a:endParaRPr lang="es-PE" sz="2400" b="1" dirty="0">
              <a:latin typeface="Arial Narrow" pitchFamily="34" charset="0"/>
              <a:cs typeface="Arial" pitchFamily="34" charset="0"/>
            </a:endParaRPr>
          </a:p>
          <a:p>
            <a:pPr indent="449263" algn="just" eaLnBrk="0" fontAlgn="base" hangingPunct="0">
              <a:spcBef>
                <a:spcPct val="0"/>
              </a:spcBef>
              <a:spcAft>
                <a:spcPct val="0"/>
              </a:spcAft>
            </a:pPr>
            <a:r>
              <a:rPr lang="es-PE" sz="2400" b="1" dirty="0" err="1">
                <a:latin typeface="Arial Narrow" pitchFamily="34" charset="0"/>
                <a:ea typeface="Calibri" pitchFamily="34" charset="0"/>
                <a:cs typeface="Arial" pitchFamily="34" charset="0"/>
              </a:rPr>
              <a:t>8X1</a:t>
            </a:r>
            <a:r>
              <a:rPr lang="es-PE" sz="2400" b="1" dirty="0">
                <a:latin typeface="Arial Narrow" pitchFamily="34" charset="0"/>
                <a:ea typeface="Calibri" pitchFamily="34" charset="0"/>
                <a:cs typeface="Arial" pitchFamily="34" charset="0"/>
              </a:rPr>
              <a:t>    + </a:t>
            </a:r>
            <a:r>
              <a:rPr lang="es-PE" sz="2400" b="1" dirty="0" err="1">
                <a:latin typeface="Arial Narrow" pitchFamily="34" charset="0"/>
                <a:ea typeface="Calibri" pitchFamily="34" charset="0"/>
                <a:cs typeface="Arial" pitchFamily="34" charset="0"/>
              </a:rPr>
              <a:t>8X2</a:t>
            </a:r>
            <a:r>
              <a:rPr lang="es-PE" sz="2400" b="1" dirty="0">
                <a:latin typeface="Arial Narrow" pitchFamily="34" charset="0"/>
              </a:rPr>
              <a:t> ≤ </a:t>
            </a:r>
            <a:r>
              <a:rPr lang="es-PE" sz="2400" b="1" dirty="0">
                <a:latin typeface="Arial Narrow" pitchFamily="34" charset="0"/>
                <a:ea typeface="Calibri" pitchFamily="34" charset="0"/>
                <a:cs typeface="Arial" pitchFamily="34" charset="0"/>
              </a:rPr>
              <a:t> 120</a:t>
            </a:r>
          </a:p>
          <a:p>
            <a:pPr indent="449263" algn="just" eaLnBrk="0" fontAlgn="base" hangingPunct="0">
              <a:spcBef>
                <a:spcPct val="0"/>
              </a:spcBef>
              <a:spcAft>
                <a:spcPct val="0"/>
              </a:spcAft>
            </a:pPr>
            <a:r>
              <a:rPr lang="es-ES" sz="2400" b="1" dirty="0">
                <a:latin typeface="Arial Narrow" pitchFamily="34" charset="0"/>
                <a:cs typeface="Arial" pitchFamily="34" charset="0"/>
              </a:rPr>
              <a:t>        </a:t>
            </a:r>
            <a:r>
              <a:rPr lang="es-ES" sz="2400" b="1" dirty="0" err="1">
                <a:latin typeface="Arial Narrow" pitchFamily="34" charset="0"/>
                <a:cs typeface="Arial" pitchFamily="34" charset="0"/>
              </a:rPr>
              <a:t>X1</a:t>
            </a:r>
            <a:r>
              <a:rPr lang="es-ES" sz="2400" b="1" dirty="0">
                <a:latin typeface="Arial Narrow" pitchFamily="34" charset="0"/>
                <a:cs typeface="Arial" pitchFamily="34" charset="0"/>
              </a:rPr>
              <a:t>, </a:t>
            </a:r>
            <a:r>
              <a:rPr lang="es-ES" sz="2400" b="1" dirty="0" err="1">
                <a:latin typeface="Arial Narrow" pitchFamily="34" charset="0"/>
                <a:cs typeface="Arial" pitchFamily="34" charset="0"/>
              </a:rPr>
              <a:t>X2</a:t>
            </a:r>
            <a:r>
              <a:rPr lang="es-ES" sz="2400" b="1" dirty="0">
                <a:latin typeface="Arial Narrow" pitchFamily="34" charset="0"/>
                <a:cs typeface="Arial" pitchFamily="34" charset="0"/>
              </a:rPr>
              <a:t>  ≥  0, </a:t>
            </a:r>
            <a:r>
              <a:rPr lang="es-ES" sz="2400" b="1" dirty="0">
                <a:solidFill>
                  <a:srgbClr val="FF0000"/>
                </a:solidFill>
                <a:latin typeface="Arial Narrow" pitchFamily="34" charset="0"/>
                <a:cs typeface="Arial" pitchFamily="34" charset="0"/>
              </a:rPr>
              <a:t>ENTERO</a:t>
            </a:r>
            <a:endParaRPr lang="es-PE" sz="2400" dirty="0"/>
          </a:p>
        </p:txBody>
      </p:sp>
      <p:sp>
        <p:nvSpPr>
          <p:cNvPr id="6" name="Rectángulo 5">
            <a:extLst>
              <a:ext uri="{FF2B5EF4-FFF2-40B4-BE49-F238E27FC236}">
                <a16:creationId xmlns:a16="http://schemas.microsoft.com/office/drawing/2014/main" id="{BFB14010-B90E-498A-808D-E1BDA8880561}"/>
              </a:ext>
            </a:extLst>
          </p:cNvPr>
          <p:cNvSpPr/>
          <p:nvPr/>
        </p:nvSpPr>
        <p:spPr>
          <a:xfrm>
            <a:off x="6804001" y="4046921"/>
            <a:ext cx="5265169" cy="1200329"/>
          </a:xfrm>
          <a:prstGeom prst="rect">
            <a:avLst/>
          </a:prstGeom>
          <a:solidFill>
            <a:srgbClr val="FFC000"/>
          </a:solidFill>
        </p:spPr>
        <p:txBody>
          <a:bodyPr wrap="square">
            <a:spAutoFit/>
          </a:bodyPr>
          <a:lstStyle/>
          <a:p>
            <a:pPr marL="449263" indent="-449263" algn="just" fontAlgn="base">
              <a:spcBef>
                <a:spcPct val="0"/>
              </a:spcBef>
              <a:spcAft>
                <a:spcPct val="0"/>
              </a:spcAft>
              <a:buAutoNum type="romanUcPeriod" startAt="2"/>
            </a:pPr>
            <a:r>
              <a:rPr lang="es-PE" sz="2400" b="1" dirty="0">
                <a:solidFill>
                  <a:srgbClr val="FF0000"/>
                </a:solidFill>
                <a:latin typeface="Arial Narrow" pitchFamily="34" charset="0"/>
                <a:ea typeface="Calibri" pitchFamily="34" charset="0"/>
                <a:cs typeface="Arial" pitchFamily="34" charset="0"/>
              </a:rPr>
              <a:t>Identificación de la Función Objetivo</a:t>
            </a:r>
            <a:endParaRPr lang="es-PE" sz="2400" b="1" dirty="0">
              <a:solidFill>
                <a:srgbClr val="FF0000"/>
              </a:solidFill>
              <a:latin typeface="Arial Narrow" pitchFamily="34" charset="0"/>
              <a:cs typeface="Arial" pitchFamily="34" charset="0"/>
            </a:endParaRPr>
          </a:p>
          <a:p>
            <a:pPr marL="449263" indent="-449263" algn="just" fontAlgn="base">
              <a:spcBef>
                <a:spcPct val="0"/>
              </a:spcBef>
              <a:spcAft>
                <a:spcPct val="0"/>
              </a:spcAft>
            </a:pPr>
            <a:r>
              <a:rPr lang="en-US" sz="2400" b="1" dirty="0">
                <a:latin typeface="Arial Narrow" pitchFamily="34" charset="0"/>
                <a:ea typeface="Calibri" pitchFamily="34" charset="0"/>
                <a:cs typeface="Arial" pitchFamily="34" charset="0"/>
              </a:rPr>
              <a:t>	Max </a:t>
            </a:r>
            <a:r>
              <a:rPr lang="es-ES" sz="2400" b="1" dirty="0" err="1">
                <a:latin typeface="Arial Narrow" pitchFamily="34" charset="0"/>
                <a:ea typeface="Calibri" pitchFamily="34" charset="0"/>
                <a:cs typeface="Arial" pitchFamily="34" charset="0"/>
              </a:rPr>
              <a:t>8X1+10X2</a:t>
            </a:r>
            <a:endParaRPr lang="es-PE" sz="2400" b="1" dirty="0">
              <a:latin typeface="Arial Narrow" pitchFamily="34" charset="0"/>
              <a:cs typeface="Arial" pitchFamily="34" charset="0"/>
            </a:endParaRPr>
          </a:p>
          <a:p>
            <a:pPr lvl="0" algn="just" eaLnBrk="0" fontAlgn="base" hangingPunct="0">
              <a:spcBef>
                <a:spcPct val="0"/>
              </a:spcBef>
              <a:spcAft>
                <a:spcPct val="0"/>
              </a:spcAft>
            </a:pPr>
            <a:r>
              <a:rPr lang="es-ES" sz="2400" b="1" dirty="0">
                <a:latin typeface="Arial Narrow" pitchFamily="34" charset="0"/>
              </a:rPr>
              <a:t>        Se está maximizando los ingresos .</a:t>
            </a:r>
          </a:p>
        </p:txBody>
      </p:sp>
    </p:spTree>
    <p:extLst>
      <p:ext uri="{BB962C8B-B14F-4D97-AF65-F5344CB8AC3E}">
        <p14:creationId xmlns:p14="http://schemas.microsoft.com/office/powerpoint/2010/main" val="352203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3"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2.jpeg"/>
          <p:cNvPicPr/>
          <p:nvPr/>
        </p:nvPicPr>
        <p:blipFill>
          <a:blip r:embed="rId2" cstate="print"/>
          <a:stretch>
            <a:fillRect/>
          </a:stretch>
        </p:blipFill>
        <p:spPr>
          <a:xfrm>
            <a:off x="4157932" y="1556792"/>
            <a:ext cx="3738268" cy="3353961"/>
          </a:xfrm>
          <a:prstGeom prst="rect">
            <a:avLst/>
          </a:prstGeom>
        </p:spPr>
      </p:pic>
      <p:graphicFrame>
        <p:nvGraphicFramePr>
          <p:cNvPr id="5" name="Table 16"/>
          <p:cNvGraphicFramePr/>
          <p:nvPr/>
        </p:nvGraphicFramePr>
        <p:xfrm>
          <a:off x="120770" y="1290715"/>
          <a:ext cx="4028536" cy="2529840"/>
        </p:xfrm>
        <a:graphic>
          <a:graphicData uri="http://schemas.openxmlformats.org/drawingml/2006/table">
            <a:tbl>
              <a:tblPr/>
              <a:tblGrid>
                <a:gridCol w="4028536">
                  <a:extLst>
                    <a:ext uri="{9D8B030D-6E8A-4147-A177-3AD203B41FA5}">
                      <a16:colId xmlns:a16="http://schemas.microsoft.com/office/drawing/2014/main" val="20000"/>
                    </a:ext>
                  </a:extLst>
                </a:gridCol>
              </a:tblGrid>
              <a:tr h="1475134">
                <a:tc>
                  <a:txBody>
                    <a:bodyPr/>
                    <a:lstStyle/>
                    <a:p>
                      <a:pPr marL="631800" indent="-631080">
                        <a:lnSpc>
                          <a:spcPct val="100000"/>
                        </a:lnSpc>
                      </a:pPr>
                      <a:r>
                        <a:rPr lang="es-PE" sz="2000" b="1" strike="noStrike" spc="-1" dirty="0">
                          <a:solidFill>
                            <a:schemeClr val="bg2">
                              <a:lumMod val="10000"/>
                            </a:schemeClr>
                          </a:solidFill>
                          <a:latin typeface="Arial Narrow" panose="020B0606020202030204" pitchFamily="34" charset="0"/>
                        </a:rPr>
                        <a:t>SOLUCIÓN</a:t>
                      </a:r>
                    </a:p>
                    <a:p>
                      <a:pPr marL="631800" indent="-631080">
                        <a:lnSpc>
                          <a:spcPct val="100000"/>
                        </a:lnSpc>
                      </a:pPr>
                      <a:r>
                        <a:rPr lang="es-PE" sz="2000" b="1" strike="noStrike" spc="-1" dirty="0">
                          <a:solidFill>
                            <a:schemeClr val="bg2">
                              <a:lumMod val="10000"/>
                            </a:schemeClr>
                          </a:solidFill>
                          <a:latin typeface="Arial Narrow" panose="020B0606020202030204" pitchFamily="34" charset="0"/>
                        </a:rPr>
                        <a:t>PASO 1: Graficando las restricciones:</a:t>
                      </a:r>
                    </a:p>
                    <a:p>
                      <a:pPr marL="914400" indent="-513720">
                        <a:lnSpc>
                          <a:spcPct val="100000"/>
                        </a:lnSpc>
                      </a:pPr>
                      <a:r>
                        <a:rPr lang="es-PE" sz="2000" b="1" strike="noStrike" spc="-1" dirty="0" err="1">
                          <a:solidFill>
                            <a:schemeClr val="bg2">
                              <a:lumMod val="10000"/>
                            </a:schemeClr>
                          </a:solidFill>
                          <a:latin typeface="Arial Narrow" panose="020B0606020202030204" pitchFamily="34" charset="0"/>
                        </a:rPr>
                        <a:t>0,5X1</a:t>
                      </a:r>
                      <a:r>
                        <a:rPr lang="es-PE" sz="2000" b="1" strike="noStrike" spc="-1" dirty="0">
                          <a:solidFill>
                            <a:schemeClr val="bg2">
                              <a:lumMod val="10000"/>
                            </a:schemeClr>
                          </a:solidFill>
                          <a:latin typeface="Arial Narrow" panose="020B0606020202030204" pitchFamily="34" charset="0"/>
                        </a:rPr>
                        <a:t> +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 =10  (I)</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=10</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=20</a:t>
                      </a:r>
                    </a:p>
                    <a:p>
                      <a:pPr marL="914400" indent="-513720">
                        <a:lnSpc>
                          <a:spcPct val="100000"/>
                        </a:lnSpc>
                      </a:pPr>
                      <a:r>
                        <a:rPr lang="es-PE" sz="2000" b="1" strike="noStrike" spc="-1" dirty="0" err="1">
                          <a:solidFill>
                            <a:schemeClr val="bg2">
                              <a:lumMod val="10000"/>
                            </a:schemeClr>
                          </a:solidFill>
                          <a:latin typeface="Arial Narrow" panose="020B0606020202030204" pitchFamily="34" charset="0"/>
                        </a:rPr>
                        <a:t>8X1</a:t>
                      </a:r>
                      <a:r>
                        <a:rPr lang="es-PE" sz="2000" b="1" strike="noStrike" spc="-1" dirty="0">
                          <a:solidFill>
                            <a:schemeClr val="bg2">
                              <a:lumMod val="10000"/>
                            </a:schemeClr>
                          </a:solidFill>
                          <a:latin typeface="Arial Narrow" panose="020B0606020202030204" pitchFamily="34" charset="0"/>
                        </a:rPr>
                        <a:t> +  </a:t>
                      </a:r>
                      <a:r>
                        <a:rPr lang="es-PE" sz="2000" b="1" strike="noStrike" spc="-1" dirty="0" err="1">
                          <a:solidFill>
                            <a:schemeClr val="bg2">
                              <a:lumMod val="10000"/>
                            </a:schemeClr>
                          </a:solidFill>
                          <a:latin typeface="Arial Narrow" panose="020B0606020202030204" pitchFamily="34" charset="0"/>
                        </a:rPr>
                        <a:t>8X2</a:t>
                      </a:r>
                      <a:r>
                        <a:rPr lang="es-PE" sz="2000" b="1" strike="noStrike" spc="-1" dirty="0">
                          <a:solidFill>
                            <a:schemeClr val="bg2">
                              <a:lumMod val="10000"/>
                            </a:schemeClr>
                          </a:solidFill>
                          <a:latin typeface="Arial Narrow" panose="020B0606020202030204" pitchFamily="34" charset="0"/>
                        </a:rPr>
                        <a:t> =120  (II)</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=15</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=15</a:t>
                      </a:r>
                    </a:p>
                  </a:txBody>
                  <a:tcPr>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bl>
          </a:graphicData>
        </a:graphic>
      </p:graphicFrame>
      <p:cxnSp>
        <p:nvCxnSpPr>
          <p:cNvPr id="7" name="6 Conector recto"/>
          <p:cNvCxnSpPr>
            <a:cxnSpLocks/>
          </p:cNvCxnSpPr>
          <p:nvPr/>
        </p:nvCxnSpPr>
        <p:spPr>
          <a:xfrm flipH="1" flipV="1">
            <a:off x="4469525" y="2924944"/>
            <a:ext cx="2038038" cy="1728192"/>
          </a:xfrm>
          <a:prstGeom prst="line">
            <a:avLst/>
          </a:prstGeom>
          <a:ln w="2222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2" name="1 Rectángulo"/>
          <p:cNvSpPr/>
          <p:nvPr/>
        </p:nvSpPr>
        <p:spPr>
          <a:xfrm>
            <a:off x="4295952" y="4975302"/>
            <a:ext cx="2622433" cy="1754326"/>
          </a:xfrm>
          <a:prstGeom prst="rect">
            <a:avLst/>
          </a:prstGeom>
          <a:solidFill>
            <a:srgbClr val="FFC000"/>
          </a:solidFill>
        </p:spPr>
        <p:txBody>
          <a:bodyPr wrap="square">
            <a:spAutoFit/>
          </a:bodyPr>
          <a:lstStyle/>
          <a:p>
            <a:pPr algn="just" eaLnBrk="0" fontAlgn="base" hangingPunct="0">
              <a:spcBef>
                <a:spcPct val="0"/>
              </a:spcBef>
              <a:spcAft>
                <a:spcPct val="0"/>
              </a:spcAft>
            </a:pPr>
            <a:r>
              <a:rPr lang="es-PE" b="1" dirty="0" err="1">
                <a:latin typeface="Arial Narrow" pitchFamily="34" charset="0"/>
                <a:ea typeface="Calibri" pitchFamily="34" charset="0"/>
                <a:cs typeface="Arial" pitchFamily="34" charset="0"/>
              </a:rPr>
              <a:t>0,5X1</a:t>
            </a:r>
            <a:r>
              <a:rPr lang="es-PE" b="1" dirty="0">
                <a:latin typeface="Arial Narrow" pitchFamily="34" charset="0"/>
                <a:ea typeface="Calibri" pitchFamily="34" charset="0"/>
                <a:cs typeface="Arial" pitchFamily="34" charset="0"/>
              </a:rPr>
              <a:t> + </a:t>
            </a:r>
            <a:r>
              <a:rPr lang="es-PE" b="1" dirty="0" err="1">
                <a:latin typeface="Arial Narrow" pitchFamily="34" charset="0"/>
                <a:ea typeface="Calibri" pitchFamily="34" charset="0"/>
                <a:cs typeface="Arial" pitchFamily="34" charset="0"/>
              </a:rPr>
              <a:t>X2</a:t>
            </a:r>
            <a:r>
              <a:rPr lang="es-PE" b="1" dirty="0">
                <a:latin typeface="Arial Narrow" pitchFamily="34" charset="0"/>
              </a:rPr>
              <a:t>   = </a:t>
            </a:r>
            <a:r>
              <a:rPr lang="es-PE" b="1" dirty="0">
                <a:latin typeface="Arial Narrow" pitchFamily="34" charset="0"/>
                <a:ea typeface="Calibri" pitchFamily="34" charset="0"/>
                <a:cs typeface="Arial" pitchFamily="34" charset="0"/>
              </a:rPr>
              <a:t> 10    I</a:t>
            </a:r>
            <a:endParaRPr lang="es-PE" b="1" dirty="0">
              <a:latin typeface="Arial Narrow" pitchFamily="34" charset="0"/>
              <a:cs typeface="Arial" pitchFamily="34" charset="0"/>
            </a:endParaRPr>
          </a:p>
          <a:p>
            <a:pPr algn="just" eaLnBrk="0" fontAlgn="base" hangingPunct="0">
              <a:spcBef>
                <a:spcPct val="0"/>
              </a:spcBef>
              <a:spcAft>
                <a:spcPct val="0"/>
              </a:spcAft>
            </a:pPr>
            <a:r>
              <a:rPr lang="es-PE" b="1" u="sng" dirty="0" err="1">
                <a:latin typeface="Arial Narrow" pitchFamily="34" charset="0"/>
                <a:ea typeface="Calibri" pitchFamily="34" charset="0"/>
                <a:cs typeface="Arial" pitchFamily="34" charset="0"/>
              </a:rPr>
              <a:t>8X1</a:t>
            </a:r>
            <a:r>
              <a:rPr lang="es-PE" b="1" u="sng" dirty="0">
                <a:latin typeface="Arial Narrow" pitchFamily="34" charset="0"/>
                <a:ea typeface="Calibri" pitchFamily="34" charset="0"/>
                <a:cs typeface="Arial" pitchFamily="34" charset="0"/>
              </a:rPr>
              <a:t>    + </a:t>
            </a:r>
            <a:r>
              <a:rPr lang="es-PE" b="1" u="sng" dirty="0" err="1">
                <a:latin typeface="Arial Narrow" pitchFamily="34" charset="0"/>
                <a:ea typeface="Calibri" pitchFamily="34" charset="0"/>
                <a:cs typeface="Arial" pitchFamily="34" charset="0"/>
              </a:rPr>
              <a:t>8X2</a:t>
            </a:r>
            <a:r>
              <a:rPr lang="es-PE" b="1" u="sng" dirty="0">
                <a:latin typeface="Arial Narrow" pitchFamily="34" charset="0"/>
              </a:rPr>
              <a:t> = </a:t>
            </a:r>
            <a:r>
              <a:rPr lang="es-PE" b="1" u="sng" dirty="0">
                <a:latin typeface="Arial Narrow" pitchFamily="34" charset="0"/>
                <a:ea typeface="Calibri" pitchFamily="34" charset="0"/>
                <a:cs typeface="Arial" pitchFamily="34" charset="0"/>
              </a:rPr>
              <a:t> 120   II</a:t>
            </a:r>
          </a:p>
          <a:p>
            <a:pPr algn="just" eaLnBrk="0" fontAlgn="base" hangingPunct="0">
              <a:spcBef>
                <a:spcPct val="0"/>
              </a:spcBef>
              <a:spcAft>
                <a:spcPct val="0"/>
              </a:spcAft>
            </a:pPr>
            <a:r>
              <a:rPr lang="es-PE" b="1" dirty="0">
                <a:solidFill>
                  <a:srgbClr val="FF0000"/>
                </a:solidFill>
                <a:latin typeface="Arial Narrow" pitchFamily="34" charset="0"/>
                <a:ea typeface="Calibri" pitchFamily="34" charset="0"/>
                <a:cs typeface="Arial" pitchFamily="34" charset="0"/>
              </a:rPr>
              <a:t>I*8      </a:t>
            </a:r>
            <a:r>
              <a:rPr lang="es-ES" b="1" dirty="0" err="1">
                <a:latin typeface="Arial Narrow" pitchFamily="34" charset="0"/>
                <a:ea typeface="Calibri" pitchFamily="34" charset="0"/>
                <a:cs typeface="Arial" pitchFamily="34" charset="0"/>
              </a:rPr>
              <a:t>4X1</a:t>
            </a:r>
            <a:r>
              <a:rPr lang="es-ES" b="1" dirty="0">
                <a:latin typeface="Arial Narrow" pitchFamily="34" charset="0"/>
                <a:ea typeface="Calibri" pitchFamily="34" charset="0"/>
                <a:cs typeface="Arial" pitchFamily="34" charset="0"/>
              </a:rPr>
              <a:t> + </a:t>
            </a:r>
            <a:r>
              <a:rPr lang="es-ES" b="1" dirty="0" err="1">
                <a:latin typeface="Arial Narrow" pitchFamily="34" charset="0"/>
                <a:ea typeface="Calibri" pitchFamily="34" charset="0"/>
                <a:cs typeface="Arial" pitchFamily="34" charset="0"/>
              </a:rPr>
              <a:t>8X2</a:t>
            </a:r>
            <a:r>
              <a:rPr lang="es-ES" b="1" dirty="0">
                <a:latin typeface="Arial Narrow" pitchFamily="34" charset="0"/>
                <a:ea typeface="Calibri" pitchFamily="34" charset="0"/>
                <a:cs typeface="Arial" pitchFamily="34" charset="0"/>
              </a:rPr>
              <a:t>  =  80    III</a:t>
            </a:r>
          </a:p>
          <a:p>
            <a:pPr algn="just" eaLnBrk="0" fontAlgn="base" hangingPunct="0">
              <a:spcBef>
                <a:spcPct val="0"/>
              </a:spcBef>
              <a:spcAft>
                <a:spcPct val="0"/>
              </a:spcAft>
            </a:pPr>
            <a:r>
              <a:rPr lang="es-ES" b="1" u="sng" dirty="0">
                <a:solidFill>
                  <a:srgbClr val="FF0000"/>
                </a:solidFill>
                <a:latin typeface="Arial Narrow" pitchFamily="34" charset="0"/>
                <a:ea typeface="Calibri" pitchFamily="34" charset="0"/>
                <a:cs typeface="Arial" pitchFamily="34" charset="0"/>
              </a:rPr>
              <a:t>De II   </a:t>
            </a:r>
            <a:r>
              <a:rPr lang="es-ES" b="1" u="sng" dirty="0" err="1">
                <a:latin typeface="Arial Narrow" pitchFamily="34" charset="0"/>
                <a:ea typeface="Calibri" pitchFamily="34" charset="0"/>
                <a:cs typeface="Arial" pitchFamily="34" charset="0"/>
              </a:rPr>
              <a:t>8X1</a:t>
            </a:r>
            <a:r>
              <a:rPr lang="es-ES" b="1" u="sng" dirty="0">
                <a:latin typeface="Arial Narrow" pitchFamily="34" charset="0"/>
                <a:ea typeface="Calibri" pitchFamily="34" charset="0"/>
                <a:cs typeface="Arial" pitchFamily="34" charset="0"/>
              </a:rPr>
              <a:t>+  </a:t>
            </a:r>
            <a:r>
              <a:rPr lang="es-ES" b="1" u="sng" dirty="0" err="1">
                <a:latin typeface="Arial Narrow" pitchFamily="34" charset="0"/>
                <a:ea typeface="Calibri" pitchFamily="34" charset="0"/>
                <a:cs typeface="Arial" pitchFamily="34" charset="0"/>
              </a:rPr>
              <a:t>8X2</a:t>
            </a:r>
            <a:r>
              <a:rPr lang="es-ES" b="1" u="sng" dirty="0">
                <a:latin typeface="Arial Narrow" pitchFamily="34" charset="0"/>
                <a:ea typeface="Calibri" pitchFamily="34" charset="0"/>
                <a:cs typeface="Arial" pitchFamily="34" charset="0"/>
              </a:rPr>
              <a:t>  = 120   IV</a:t>
            </a:r>
          </a:p>
          <a:p>
            <a:pPr algn="just" eaLnBrk="0" fontAlgn="base" hangingPunct="0">
              <a:spcBef>
                <a:spcPct val="0"/>
              </a:spcBef>
              <a:spcAft>
                <a:spcPct val="0"/>
              </a:spcAft>
            </a:pPr>
            <a:r>
              <a:rPr lang="es-ES" b="1" dirty="0">
                <a:solidFill>
                  <a:srgbClr val="FF0000"/>
                </a:solidFill>
                <a:latin typeface="Arial Narrow" pitchFamily="34" charset="0"/>
                <a:ea typeface="Calibri" pitchFamily="34" charset="0"/>
                <a:cs typeface="Arial" pitchFamily="34" charset="0"/>
              </a:rPr>
              <a:t>IV-III </a:t>
            </a:r>
            <a:r>
              <a:rPr lang="es-ES" b="1" dirty="0">
                <a:latin typeface="Arial Narrow" pitchFamily="34" charset="0"/>
                <a:ea typeface="Calibri" pitchFamily="34" charset="0"/>
                <a:cs typeface="Arial" pitchFamily="34" charset="0"/>
              </a:rPr>
              <a:t>      </a:t>
            </a:r>
            <a:r>
              <a:rPr lang="es-ES" b="1" dirty="0" err="1">
                <a:latin typeface="Arial Narrow" pitchFamily="34" charset="0"/>
                <a:ea typeface="Calibri" pitchFamily="34" charset="0"/>
                <a:cs typeface="Arial" pitchFamily="34" charset="0"/>
              </a:rPr>
              <a:t>4X1</a:t>
            </a:r>
            <a:r>
              <a:rPr lang="es-ES" b="1" dirty="0">
                <a:latin typeface="Arial Narrow" pitchFamily="34" charset="0"/>
                <a:ea typeface="Calibri" pitchFamily="34" charset="0"/>
                <a:cs typeface="Arial" pitchFamily="34" charset="0"/>
              </a:rPr>
              <a:t> =  40  </a:t>
            </a:r>
          </a:p>
          <a:p>
            <a:pPr algn="just" eaLnBrk="0" fontAlgn="base" hangingPunct="0">
              <a:spcBef>
                <a:spcPct val="0"/>
              </a:spcBef>
              <a:spcAft>
                <a:spcPct val="0"/>
              </a:spcAft>
            </a:pPr>
            <a:r>
              <a:rPr lang="es-ES" b="1" dirty="0">
                <a:latin typeface="Arial Narrow" pitchFamily="34" charset="0"/>
                <a:ea typeface="Calibri" pitchFamily="34" charset="0"/>
                <a:cs typeface="Arial" pitchFamily="34" charset="0"/>
                <a:sym typeface="Wingdings" pitchFamily="2" charset="2"/>
              </a:rPr>
              <a:t>  </a:t>
            </a:r>
            <a:r>
              <a:rPr lang="es-ES" b="1" dirty="0" err="1">
                <a:latin typeface="Arial Narrow" pitchFamily="34" charset="0"/>
                <a:ea typeface="Calibri" pitchFamily="34" charset="0"/>
                <a:cs typeface="Arial" pitchFamily="34" charset="0"/>
                <a:sym typeface="Wingdings" pitchFamily="2" charset="2"/>
              </a:rPr>
              <a:t>X1</a:t>
            </a:r>
            <a:r>
              <a:rPr lang="es-ES" b="1" dirty="0">
                <a:latin typeface="Arial Narrow" pitchFamily="34" charset="0"/>
                <a:ea typeface="Calibri" pitchFamily="34" charset="0"/>
                <a:cs typeface="Arial" pitchFamily="34" charset="0"/>
                <a:sym typeface="Wingdings" pitchFamily="2" charset="2"/>
              </a:rPr>
              <a:t>=10   </a:t>
            </a:r>
            <a:r>
              <a:rPr lang="es-ES" b="1" dirty="0" err="1">
                <a:latin typeface="Arial Narrow" pitchFamily="34" charset="0"/>
                <a:ea typeface="Calibri" pitchFamily="34" charset="0"/>
                <a:cs typeface="Arial" pitchFamily="34" charset="0"/>
                <a:sym typeface="Wingdings" pitchFamily="2" charset="2"/>
              </a:rPr>
              <a:t>X2</a:t>
            </a:r>
            <a:r>
              <a:rPr lang="es-ES" b="1" dirty="0">
                <a:latin typeface="Arial Narrow" pitchFamily="34" charset="0"/>
                <a:ea typeface="Calibri" pitchFamily="34" charset="0"/>
                <a:cs typeface="Arial" pitchFamily="34" charset="0"/>
                <a:sym typeface="Wingdings" pitchFamily="2" charset="2"/>
              </a:rPr>
              <a:t>= 5      Z=130</a:t>
            </a:r>
            <a:endParaRPr lang="es-PE" b="1" u="sng" dirty="0">
              <a:latin typeface="Arial Narrow" pitchFamily="34" charset="0"/>
              <a:ea typeface="Calibri" pitchFamily="34" charset="0"/>
              <a:cs typeface="Arial" pitchFamily="34" charset="0"/>
            </a:endParaRPr>
          </a:p>
        </p:txBody>
      </p:sp>
      <p:sp>
        <p:nvSpPr>
          <p:cNvPr id="8" name="Rectangle 2"/>
          <p:cNvSpPr>
            <a:spLocks noGrp="1" noChangeArrowheads="1"/>
          </p:cNvSpPr>
          <p:nvPr>
            <p:ph type="title"/>
          </p:nvPr>
        </p:nvSpPr>
        <p:spPr>
          <a:xfrm>
            <a:off x="6096000" y="169635"/>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sp>
        <p:nvSpPr>
          <p:cNvPr id="3" name="Rectángulo 2">
            <a:extLst>
              <a:ext uri="{FF2B5EF4-FFF2-40B4-BE49-F238E27FC236}">
                <a16:creationId xmlns:a16="http://schemas.microsoft.com/office/drawing/2014/main" id="{F70C0E90-DF2B-45ED-AA9C-8310C784195C}"/>
              </a:ext>
            </a:extLst>
          </p:cNvPr>
          <p:cNvSpPr/>
          <p:nvPr/>
        </p:nvSpPr>
        <p:spPr>
          <a:xfrm>
            <a:off x="140898" y="5113253"/>
            <a:ext cx="4008408" cy="1631216"/>
          </a:xfrm>
          <a:prstGeom prst="rect">
            <a:avLst/>
          </a:prstGeom>
          <a:solidFill>
            <a:srgbClr val="FFC000"/>
          </a:solidFill>
        </p:spPr>
        <p:txBody>
          <a:bodyPr wrap="square">
            <a:spAutoFit/>
          </a:bodyPr>
          <a:lstStyle/>
          <a:p>
            <a:pPr marL="914400" indent="-914400"/>
            <a:r>
              <a:rPr lang="es-PE" sz="2000" b="1" spc="-1" dirty="0">
                <a:solidFill>
                  <a:schemeClr val="bg2">
                    <a:lumMod val="10000"/>
                  </a:schemeClr>
                </a:solidFill>
                <a:latin typeface="Arial Narrow" panose="020B0606020202030204" pitchFamily="34" charset="0"/>
              </a:rPr>
              <a:t>PASO 4: Hallando la Solución óptima</a:t>
            </a:r>
          </a:p>
          <a:p>
            <a:pPr marL="914400" indent="-914400"/>
            <a:r>
              <a:rPr lang="es-PE" sz="2000" b="1" spc="-1" dirty="0">
                <a:solidFill>
                  <a:schemeClr val="bg2">
                    <a:lumMod val="10000"/>
                  </a:schemeClr>
                </a:solidFill>
                <a:latin typeface="Arial Narrow" panose="020B0606020202030204" pitchFamily="34" charset="0"/>
              </a:rPr>
              <a:t>Del gráfico la solución óptima es:</a:t>
            </a:r>
          </a:p>
          <a:p>
            <a:pPr marL="914400" indent="-914400"/>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=10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=5</a:t>
            </a:r>
          </a:p>
          <a:p>
            <a:pPr marL="914400" indent="-914400"/>
            <a:r>
              <a:rPr lang="es-PE" sz="2000" b="1" spc="-1" dirty="0">
                <a:solidFill>
                  <a:schemeClr val="bg2">
                    <a:lumMod val="10000"/>
                  </a:schemeClr>
                </a:solidFill>
                <a:latin typeface="Arial Narrow" panose="020B0606020202030204" pitchFamily="34" charset="0"/>
              </a:rPr>
              <a:t>El valor que toma la </a:t>
            </a:r>
            <a:r>
              <a:rPr lang="es-PE" sz="2000" b="1" spc="-1" dirty="0" err="1">
                <a:solidFill>
                  <a:schemeClr val="bg2">
                    <a:lumMod val="10000"/>
                  </a:schemeClr>
                </a:solidFill>
                <a:latin typeface="Arial Narrow" panose="020B0606020202030204" pitchFamily="34" charset="0"/>
              </a:rPr>
              <a:t>F.O</a:t>
            </a:r>
            <a:r>
              <a:rPr lang="es-PE" sz="2000" b="1" spc="-1" dirty="0">
                <a:solidFill>
                  <a:schemeClr val="bg2">
                    <a:lumMod val="10000"/>
                  </a:schemeClr>
                </a:solidFill>
                <a:latin typeface="Arial Narrow" panose="020B0606020202030204" pitchFamily="34" charset="0"/>
              </a:rPr>
              <a:t>. es:</a:t>
            </a:r>
          </a:p>
          <a:p>
            <a:pPr marL="914400" indent="-914400"/>
            <a:r>
              <a:rPr lang="es-PE" sz="2000" b="1" spc="-1" dirty="0">
                <a:solidFill>
                  <a:schemeClr val="bg2">
                    <a:lumMod val="10000"/>
                  </a:schemeClr>
                </a:solidFill>
                <a:latin typeface="Arial Narrow" panose="020B0606020202030204" pitchFamily="34" charset="0"/>
              </a:rPr>
              <a:t>	  Z= 8(10) + 10(5)  =  130</a:t>
            </a:r>
          </a:p>
        </p:txBody>
      </p:sp>
      <p:sp>
        <p:nvSpPr>
          <p:cNvPr id="6" name="Rectángulo 5">
            <a:extLst>
              <a:ext uri="{FF2B5EF4-FFF2-40B4-BE49-F238E27FC236}">
                <a16:creationId xmlns:a16="http://schemas.microsoft.com/office/drawing/2014/main" id="{1519CAC2-EDFE-410E-A417-55A90A9F4C3F}"/>
              </a:ext>
            </a:extLst>
          </p:cNvPr>
          <p:cNvSpPr/>
          <p:nvPr/>
        </p:nvSpPr>
        <p:spPr>
          <a:xfrm>
            <a:off x="129396" y="3803622"/>
            <a:ext cx="4019910" cy="1323439"/>
          </a:xfrm>
          <a:prstGeom prst="rect">
            <a:avLst/>
          </a:prstGeom>
          <a:solidFill>
            <a:srgbClr val="FFC000"/>
          </a:solidFill>
        </p:spPr>
        <p:txBody>
          <a:bodyPr wrap="square">
            <a:spAutoFit/>
          </a:bodyPr>
          <a:lstStyle/>
          <a:p>
            <a:pPr marL="914400" indent="-914400">
              <a:defRPr/>
            </a:pPr>
            <a:r>
              <a:rPr lang="es-PE" sz="2000" b="1" spc="-1" dirty="0">
                <a:solidFill>
                  <a:schemeClr val="bg2">
                    <a:lumMod val="10000"/>
                  </a:schemeClr>
                </a:solidFill>
                <a:latin typeface="Arial Narrow" panose="020B0606020202030204" pitchFamily="34" charset="0"/>
              </a:rPr>
              <a:t>PASO 3: Graficando la </a:t>
            </a:r>
            <a:r>
              <a:rPr lang="es-PE" sz="2000" b="1" spc="-1" dirty="0" err="1">
                <a:solidFill>
                  <a:schemeClr val="bg2">
                    <a:lumMod val="10000"/>
                  </a:schemeClr>
                </a:solidFill>
                <a:latin typeface="Arial Narrow" panose="020B0606020202030204" pitchFamily="34" charset="0"/>
              </a:rPr>
              <a:t>F.O</a:t>
            </a:r>
            <a:endParaRPr lang="es-PE" sz="2000" b="1" spc="-1" dirty="0">
              <a:solidFill>
                <a:schemeClr val="bg2">
                  <a:lumMod val="10000"/>
                </a:schemeClr>
              </a:solidFill>
              <a:latin typeface="Arial Narrow" panose="020B0606020202030204" pitchFamily="34" charset="0"/>
            </a:endParaRPr>
          </a:p>
          <a:p>
            <a:pPr marL="914400" indent="-513720">
              <a:lnSpc>
                <a:spcPct val="100000"/>
              </a:lnSpc>
            </a:pPr>
            <a:r>
              <a:rPr lang="es-PE" sz="2000" b="1" spc="-1" dirty="0" err="1">
                <a:solidFill>
                  <a:schemeClr val="bg2">
                    <a:lumMod val="10000"/>
                  </a:schemeClr>
                </a:solidFill>
                <a:latin typeface="Arial Narrow" panose="020B0606020202030204" pitchFamily="34" charset="0"/>
              </a:rPr>
              <a:t>8X1</a:t>
            </a:r>
            <a:r>
              <a:rPr lang="es-PE" sz="2000" b="1" spc="-1" dirty="0">
                <a:solidFill>
                  <a:schemeClr val="bg2">
                    <a:lumMod val="10000"/>
                  </a:schemeClr>
                </a:solidFill>
                <a:latin typeface="Arial Narrow" panose="020B0606020202030204" pitchFamily="34" charset="0"/>
              </a:rPr>
              <a:t> +  </a:t>
            </a:r>
            <a:r>
              <a:rPr lang="es-PE" sz="2000" b="1" spc="-1" dirty="0" err="1">
                <a:solidFill>
                  <a:schemeClr val="bg2">
                    <a:lumMod val="10000"/>
                  </a:schemeClr>
                </a:solidFill>
                <a:latin typeface="Arial Narrow" panose="020B0606020202030204" pitchFamily="34" charset="0"/>
              </a:rPr>
              <a:t>10X2</a:t>
            </a:r>
            <a:r>
              <a:rPr lang="es-PE" sz="2000" b="1" spc="-1" dirty="0">
                <a:solidFill>
                  <a:schemeClr val="bg2">
                    <a:lumMod val="10000"/>
                  </a:schemeClr>
                </a:solidFill>
                <a:latin typeface="Arial Narrow" panose="020B0606020202030204" pitchFamily="34" charset="0"/>
              </a:rPr>
              <a:t> =</a:t>
            </a:r>
            <a:r>
              <a:rPr lang="es-PE" sz="2000" b="1" spc="-1" dirty="0">
                <a:solidFill>
                  <a:srgbClr val="FF0000"/>
                </a:solidFill>
                <a:latin typeface="Arial Narrow" panose="020B0606020202030204" pitchFamily="34" charset="0"/>
              </a:rPr>
              <a:t>80</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=8</a:t>
            </a:r>
          </a:p>
          <a:p>
            <a:pPr marL="914400" indent="-513720">
              <a:lnSpc>
                <a:spcPct val="100000"/>
              </a:lnSpc>
            </a:pPr>
            <a:r>
              <a:rPr lang="es-PE" sz="2000" b="1" spc="-1" dirty="0">
                <a:solidFill>
                  <a:schemeClr val="bg2">
                    <a:lumMod val="10000"/>
                  </a:schemeClr>
                </a:solidFill>
                <a:latin typeface="Arial Narrow" panose="020B0606020202030204" pitchFamily="34" charset="0"/>
              </a:rPr>
              <a:t>Si </a:t>
            </a:r>
            <a:r>
              <a:rPr lang="es-PE" sz="2000" b="1" spc="-1" dirty="0" err="1">
                <a:solidFill>
                  <a:schemeClr val="bg2">
                    <a:lumMod val="10000"/>
                  </a:schemeClr>
                </a:solidFill>
                <a:latin typeface="Arial Narrow" panose="020B0606020202030204" pitchFamily="34" charset="0"/>
              </a:rPr>
              <a:t>X2</a:t>
            </a:r>
            <a:r>
              <a:rPr lang="es-PE" sz="2000" b="1" spc="-1" dirty="0">
                <a:solidFill>
                  <a:schemeClr val="bg2">
                    <a:lumMod val="10000"/>
                  </a:schemeClr>
                </a:solidFill>
                <a:latin typeface="Arial Narrow" panose="020B0606020202030204" pitchFamily="34" charset="0"/>
              </a:rPr>
              <a:t>=0  </a:t>
            </a:r>
            <a:r>
              <a:rPr lang="es-PE" sz="2000" b="1" spc="-1" dirty="0">
                <a:solidFill>
                  <a:schemeClr val="bg2">
                    <a:lumMod val="10000"/>
                  </a:schemeClr>
                </a:solidFill>
                <a:latin typeface="Arial Narrow" panose="020B0606020202030204" pitchFamily="34" charset="0"/>
                <a:sym typeface="Wingdings" panose="05000000000000000000" pitchFamily="2" charset="2"/>
              </a:rPr>
              <a:t></a:t>
            </a:r>
            <a:r>
              <a:rPr lang="es-PE" sz="2000" b="1" spc="-1" dirty="0">
                <a:solidFill>
                  <a:schemeClr val="bg2">
                    <a:lumMod val="10000"/>
                  </a:schemeClr>
                </a:solidFill>
                <a:latin typeface="Arial Narrow" panose="020B0606020202030204" pitchFamily="34" charset="0"/>
              </a:rPr>
              <a:t>    </a:t>
            </a:r>
            <a:r>
              <a:rPr lang="es-PE" sz="2000" b="1" spc="-1" dirty="0" err="1">
                <a:solidFill>
                  <a:schemeClr val="bg2">
                    <a:lumMod val="10000"/>
                  </a:schemeClr>
                </a:solidFill>
                <a:latin typeface="Arial Narrow" panose="020B0606020202030204" pitchFamily="34" charset="0"/>
              </a:rPr>
              <a:t>X1</a:t>
            </a:r>
            <a:r>
              <a:rPr lang="es-PE" sz="2000" b="1" spc="-1" dirty="0">
                <a:solidFill>
                  <a:schemeClr val="bg2">
                    <a:lumMod val="10000"/>
                  </a:schemeClr>
                </a:solidFill>
                <a:latin typeface="Arial Narrow" panose="020B0606020202030204" pitchFamily="34" charset="0"/>
              </a:rPr>
              <a:t>=10</a:t>
            </a:r>
          </a:p>
        </p:txBody>
      </p:sp>
      <p:sp>
        <p:nvSpPr>
          <p:cNvPr id="10" name="Rectángulo 9">
            <a:extLst>
              <a:ext uri="{FF2B5EF4-FFF2-40B4-BE49-F238E27FC236}">
                <a16:creationId xmlns:a16="http://schemas.microsoft.com/office/drawing/2014/main" id="{B66C1467-AEEE-424D-850F-EE9E81441E0E}"/>
              </a:ext>
            </a:extLst>
          </p:cNvPr>
          <p:cNvSpPr/>
          <p:nvPr/>
        </p:nvSpPr>
        <p:spPr>
          <a:xfrm>
            <a:off x="6981648" y="5520278"/>
            <a:ext cx="1843175" cy="1200329"/>
          </a:xfrm>
          <a:prstGeom prst="rect">
            <a:avLst/>
          </a:prstGeom>
          <a:solidFill>
            <a:srgbClr val="FFFF00"/>
          </a:solidFill>
        </p:spPr>
        <p:txBody>
          <a:bodyPr wrap="square">
            <a:spAutoFit/>
          </a:bodyPr>
          <a:lstStyle/>
          <a:p>
            <a:r>
              <a:rPr lang="es-PE" dirty="0"/>
              <a:t>Max </a:t>
            </a:r>
            <a:r>
              <a:rPr lang="es-PE" dirty="0" err="1"/>
              <a:t>8X1+10X2</a:t>
            </a:r>
            <a:endParaRPr lang="es-PE" dirty="0"/>
          </a:p>
          <a:p>
            <a:r>
              <a:rPr lang="es-PE" dirty="0" err="1"/>
              <a:t>ST</a:t>
            </a:r>
            <a:endParaRPr lang="es-PE" dirty="0"/>
          </a:p>
          <a:p>
            <a:r>
              <a:rPr lang="es-PE" dirty="0" err="1"/>
              <a:t>0.5X1</a:t>
            </a:r>
            <a:r>
              <a:rPr lang="es-PE" dirty="0"/>
              <a:t> + </a:t>
            </a:r>
            <a:r>
              <a:rPr lang="es-PE" dirty="0" err="1"/>
              <a:t>X2</a:t>
            </a:r>
            <a:r>
              <a:rPr lang="es-PE" dirty="0"/>
              <a:t> &lt;=  10</a:t>
            </a:r>
          </a:p>
          <a:p>
            <a:r>
              <a:rPr lang="es-PE" dirty="0" err="1"/>
              <a:t>8X1</a:t>
            </a:r>
            <a:r>
              <a:rPr lang="es-PE" dirty="0"/>
              <a:t>    + </a:t>
            </a:r>
            <a:r>
              <a:rPr lang="es-PE" dirty="0" err="1"/>
              <a:t>8X2</a:t>
            </a:r>
            <a:r>
              <a:rPr lang="es-PE" dirty="0"/>
              <a:t>&lt;=120</a:t>
            </a:r>
          </a:p>
        </p:txBody>
      </p:sp>
      <p:sp>
        <p:nvSpPr>
          <p:cNvPr id="12" name="Rectángulo 11">
            <a:extLst>
              <a:ext uri="{FF2B5EF4-FFF2-40B4-BE49-F238E27FC236}">
                <a16:creationId xmlns:a16="http://schemas.microsoft.com/office/drawing/2014/main" id="{C140EEDC-F30A-457D-A8B5-00875398ECB3}"/>
              </a:ext>
            </a:extLst>
          </p:cNvPr>
          <p:cNvSpPr/>
          <p:nvPr/>
        </p:nvSpPr>
        <p:spPr>
          <a:xfrm>
            <a:off x="8836325" y="5536902"/>
            <a:ext cx="3355675" cy="1200329"/>
          </a:xfrm>
          <a:prstGeom prst="rect">
            <a:avLst/>
          </a:prstGeom>
          <a:solidFill>
            <a:schemeClr val="accent5">
              <a:lumMod val="20000"/>
              <a:lumOff val="80000"/>
            </a:schemeClr>
          </a:solidFill>
        </p:spPr>
        <p:txBody>
          <a:bodyPr wrap="square">
            <a:spAutoFit/>
          </a:bodyPr>
          <a:lstStyle/>
          <a:p>
            <a:r>
              <a:rPr lang="es-PE" dirty="0">
                <a:latin typeface="Arial Narrow" panose="020B0606020202030204" pitchFamily="34" charset="0"/>
              </a:rPr>
              <a:t> 1)      130.0000</a:t>
            </a:r>
          </a:p>
          <a:p>
            <a:r>
              <a:rPr lang="es-PE" dirty="0">
                <a:latin typeface="Arial Narrow" panose="020B0606020202030204" pitchFamily="34" charset="0"/>
              </a:rPr>
              <a:t>VARIABLE </a:t>
            </a:r>
            <a:r>
              <a:rPr lang="es-PE" dirty="0" err="1">
                <a:latin typeface="Arial Narrow" panose="020B0606020202030204" pitchFamily="34" charset="0"/>
              </a:rPr>
              <a:t>VALUE</a:t>
            </a:r>
            <a:r>
              <a:rPr lang="es-PE" dirty="0">
                <a:latin typeface="Arial Narrow" panose="020B0606020202030204" pitchFamily="34" charset="0"/>
              </a:rPr>
              <a:t>  </a:t>
            </a:r>
            <a:r>
              <a:rPr lang="es-PE" dirty="0" err="1">
                <a:latin typeface="Arial Narrow" panose="020B0606020202030204" pitchFamily="34" charset="0"/>
              </a:rPr>
              <a:t>REDUCED</a:t>
            </a:r>
            <a:r>
              <a:rPr lang="es-PE" dirty="0">
                <a:latin typeface="Arial Narrow" panose="020B0606020202030204" pitchFamily="34" charset="0"/>
              </a:rPr>
              <a:t> </a:t>
            </a:r>
            <a:r>
              <a:rPr lang="es-PE" dirty="0" err="1">
                <a:latin typeface="Arial Narrow" panose="020B0606020202030204" pitchFamily="34" charset="0"/>
              </a:rPr>
              <a:t>COST</a:t>
            </a:r>
            <a:endParaRPr lang="es-PE" dirty="0">
              <a:latin typeface="Arial Narrow" panose="020B0606020202030204" pitchFamily="34" charset="0"/>
            </a:endParaRPr>
          </a:p>
          <a:p>
            <a:r>
              <a:rPr lang="es-PE" dirty="0">
                <a:latin typeface="Arial Narrow" panose="020B0606020202030204" pitchFamily="34" charset="0"/>
              </a:rPr>
              <a:t>   </a:t>
            </a:r>
            <a:r>
              <a:rPr lang="es-PE" dirty="0" err="1">
                <a:latin typeface="Arial Narrow" panose="020B0606020202030204" pitchFamily="34" charset="0"/>
              </a:rPr>
              <a:t>X1</a:t>
            </a:r>
            <a:r>
              <a:rPr lang="es-PE" dirty="0">
                <a:latin typeface="Arial Narrow" panose="020B0606020202030204" pitchFamily="34" charset="0"/>
              </a:rPr>
              <a:t>     10.000000          0.000000</a:t>
            </a:r>
          </a:p>
          <a:p>
            <a:r>
              <a:rPr lang="es-PE" dirty="0">
                <a:latin typeface="Arial Narrow" panose="020B0606020202030204" pitchFamily="34" charset="0"/>
              </a:rPr>
              <a:t>   </a:t>
            </a:r>
            <a:r>
              <a:rPr lang="es-PE" dirty="0" err="1">
                <a:latin typeface="Arial Narrow" panose="020B0606020202030204" pitchFamily="34" charset="0"/>
              </a:rPr>
              <a:t>X2</a:t>
            </a:r>
            <a:r>
              <a:rPr lang="es-PE" dirty="0">
                <a:latin typeface="Arial Narrow" panose="020B0606020202030204" pitchFamily="34" charset="0"/>
              </a:rPr>
              <a:t>       5.000000          0.000000</a:t>
            </a:r>
          </a:p>
        </p:txBody>
      </p:sp>
      <p:sp>
        <p:nvSpPr>
          <p:cNvPr id="13" name="3 Rectángulo">
            <a:extLst>
              <a:ext uri="{FF2B5EF4-FFF2-40B4-BE49-F238E27FC236}">
                <a16:creationId xmlns:a16="http://schemas.microsoft.com/office/drawing/2014/main" id="{C77AED75-76A2-42E8-B032-37A6B80B4812}"/>
              </a:ext>
            </a:extLst>
          </p:cNvPr>
          <p:cNvSpPr/>
          <p:nvPr/>
        </p:nvSpPr>
        <p:spPr>
          <a:xfrm>
            <a:off x="7896200" y="1267016"/>
            <a:ext cx="4284521" cy="1015663"/>
          </a:xfrm>
          <a:prstGeom prst="rect">
            <a:avLst/>
          </a:prstGeom>
          <a:solidFill>
            <a:srgbClr val="FFC000"/>
          </a:solidFill>
        </p:spPr>
        <p:txBody>
          <a:bodyPr wrap="square">
            <a:spAutoFit/>
          </a:bodyPr>
          <a:lstStyle/>
          <a:p>
            <a:pPr marL="400050" indent="-400050" algn="just" fontAlgn="base">
              <a:spcBef>
                <a:spcPct val="0"/>
              </a:spcBef>
              <a:spcAft>
                <a:spcPct val="0"/>
              </a:spcAft>
              <a:buAutoNum type="romanUcPeriod"/>
            </a:pPr>
            <a:r>
              <a:rPr lang="es-PE" sz="2000" b="1" dirty="0">
                <a:solidFill>
                  <a:srgbClr val="FF0000"/>
                </a:solidFill>
                <a:latin typeface="Arial Narrow" pitchFamily="34" charset="0"/>
                <a:ea typeface="Calibri" pitchFamily="34" charset="0"/>
                <a:cs typeface="Arial" pitchFamily="34" charset="0"/>
              </a:rPr>
              <a:t>Identificación de variables</a:t>
            </a:r>
          </a:p>
          <a:p>
            <a:pPr marL="449263" algn="just" fontAlgn="base">
              <a:spcBef>
                <a:spcPct val="0"/>
              </a:spcBef>
              <a:spcAft>
                <a:spcPct val="0"/>
              </a:spcAft>
            </a:pPr>
            <a:r>
              <a:rPr lang="es-PE" sz="2000" b="1" dirty="0" err="1">
                <a:latin typeface="Arial Narrow" pitchFamily="34" charset="0"/>
                <a:ea typeface="Calibri" pitchFamily="34" charset="0"/>
                <a:cs typeface="Arial" pitchFamily="34" charset="0"/>
              </a:rPr>
              <a:t>X1</a:t>
            </a:r>
            <a:r>
              <a:rPr lang="es-PE" sz="2000" b="1" dirty="0">
                <a:latin typeface="Arial Narrow" pitchFamily="34" charset="0"/>
                <a:ea typeface="Calibri" pitchFamily="34" charset="0"/>
                <a:cs typeface="Arial" pitchFamily="34" charset="0"/>
              </a:rPr>
              <a:t> = Número de tartas tipo Imperial</a:t>
            </a:r>
          </a:p>
          <a:p>
            <a:pPr marL="449263" algn="just" fontAlgn="base">
              <a:spcBef>
                <a:spcPct val="0"/>
              </a:spcBef>
              <a:spcAft>
                <a:spcPct val="0"/>
              </a:spcAft>
            </a:pPr>
            <a:r>
              <a:rPr lang="es-PE" sz="2000" b="1" dirty="0" err="1">
                <a:latin typeface="Arial Narrow" pitchFamily="34" charset="0"/>
                <a:ea typeface="Calibri" pitchFamily="34" charset="0"/>
                <a:cs typeface="Arial" pitchFamily="34" charset="0"/>
              </a:rPr>
              <a:t>X2</a:t>
            </a:r>
            <a:r>
              <a:rPr lang="es-PE" sz="2000" b="1" dirty="0">
                <a:latin typeface="Arial Narrow" pitchFamily="34" charset="0"/>
                <a:ea typeface="Calibri" pitchFamily="34" charset="0"/>
                <a:cs typeface="Arial" pitchFamily="34" charset="0"/>
              </a:rPr>
              <a:t> = Número de tartas tipo Lima</a:t>
            </a:r>
          </a:p>
        </p:txBody>
      </p:sp>
      <p:sp>
        <p:nvSpPr>
          <p:cNvPr id="14" name="Rectángulo 13">
            <a:extLst>
              <a:ext uri="{FF2B5EF4-FFF2-40B4-BE49-F238E27FC236}">
                <a16:creationId xmlns:a16="http://schemas.microsoft.com/office/drawing/2014/main" id="{46301E0C-F1B4-4C88-9F52-010D9ADF2A77}"/>
              </a:ext>
            </a:extLst>
          </p:cNvPr>
          <p:cNvSpPr/>
          <p:nvPr/>
        </p:nvSpPr>
        <p:spPr>
          <a:xfrm>
            <a:off x="7897977" y="3286036"/>
            <a:ext cx="4277310" cy="1323439"/>
          </a:xfrm>
          <a:prstGeom prst="rect">
            <a:avLst/>
          </a:prstGeom>
          <a:solidFill>
            <a:srgbClr val="FFC000"/>
          </a:solidFill>
        </p:spPr>
        <p:txBody>
          <a:bodyPr wrap="square">
            <a:spAutoFit/>
          </a:bodyPr>
          <a:lstStyle/>
          <a:p>
            <a:pPr lvl="0"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itchFamily="34" charset="0"/>
              </a:rPr>
              <a:t>III.   Identificación de las restricciones</a:t>
            </a:r>
            <a:endParaRPr lang="es-PE" sz="2000" b="1"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000" b="1" dirty="0" err="1">
                <a:latin typeface="Arial Narrow" pitchFamily="34" charset="0"/>
                <a:ea typeface="Calibri" pitchFamily="34" charset="0"/>
                <a:cs typeface="Arial" pitchFamily="34" charset="0"/>
              </a:rPr>
              <a:t>0,5X1</a:t>
            </a:r>
            <a:r>
              <a:rPr lang="es-PE" sz="2000" b="1" dirty="0">
                <a:latin typeface="Arial Narrow" pitchFamily="34" charset="0"/>
                <a:ea typeface="Calibri" pitchFamily="34" charset="0"/>
                <a:cs typeface="Arial" pitchFamily="34" charset="0"/>
              </a:rPr>
              <a:t> + </a:t>
            </a:r>
            <a:r>
              <a:rPr lang="es-PE" sz="2000" b="1" dirty="0" err="1">
                <a:latin typeface="Arial Narrow" pitchFamily="34" charset="0"/>
                <a:ea typeface="Calibri" pitchFamily="34" charset="0"/>
                <a:cs typeface="Arial" pitchFamily="34" charset="0"/>
              </a:rPr>
              <a:t>X2</a:t>
            </a:r>
            <a:r>
              <a:rPr lang="es-PE" sz="2000" b="1" dirty="0">
                <a:latin typeface="Arial Narrow" pitchFamily="34" charset="0"/>
              </a:rPr>
              <a:t>   ≤ </a:t>
            </a:r>
            <a:r>
              <a:rPr lang="es-PE" sz="2000" b="1" dirty="0">
                <a:latin typeface="Arial Narrow" pitchFamily="34" charset="0"/>
                <a:ea typeface="Calibri" pitchFamily="34" charset="0"/>
                <a:cs typeface="Arial" pitchFamily="34" charset="0"/>
              </a:rPr>
              <a:t> 10</a:t>
            </a:r>
            <a:endParaRPr lang="es-PE" sz="2000" b="1" dirty="0">
              <a:latin typeface="Arial Narrow" pitchFamily="34" charset="0"/>
              <a:cs typeface="Arial" pitchFamily="34" charset="0"/>
            </a:endParaRPr>
          </a:p>
          <a:p>
            <a:pPr indent="449263" algn="just" eaLnBrk="0" fontAlgn="base" hangingPunct="0">
              <a:spcBef>
                <a:spcPct val="0"/>
              </a:spcBef>
              <a:spcAft>
                <a:spcPct val="0"/>
              </a:spcAft>
            </a:pPr>
            <a:r>
              <a:rPr lang="es-PE" sz="2000" b="1" dirty="0" err="1">
                <a:latin typeface="Arial Narrow" pitchFamily="34" charset="0"/>
                <a:ea typeface="Calibri" pitchFamily="34" charset="0"/>
                <a:cs typeface="Arial" pitchFamily="34" charset="0"/>
              </a:rPr>
              <a:t>8X1</a:t>
            </a:r>
            <a:r>
              <a:rPr lang="es-PE" sz="2000" b="1" dirty="0">
                <a:latin typeface="Arial Narrow" pitchFamily="34" charset="0"/>
                <a:ea typeface="Calibri" pitchFamily="34" charset="0"/>
                <a:cs typeface="Arial" pitchFamily="34" charset="0"/>
              </a:rPr>
              <a:t>    + </a:t>
            </a:r>
            <a:r>
              <a:rPr lang="es-PE" sz="2000" b="1" dirty="0" err="1">
                <a:latin typeface="Arial Narrow" pitchFamily="34" charset="0"/>
                <a:ea typeface="Calibri" pitchFamily="34" charset="0"/>
                <a:cs typeface="Arial" pitchFamily="34" charset="0"/>
              </a:rPr>
              <a:t>8X2</a:t>
            </a:r>
            <a:r>
              <a:rPr lang="es-PE" sz="2000" b="1" dirty="0">
                <a:latin typeface="Arial Narrow" pitchFamily="34" charset="0"/>
              </a:rPr>
              <a:t> ≤ </a:t>
            </a:r>
            <a:r>
              <a:rPr lang="es-PE" sz="2000" b="1" dirty="0">
                <a:latin typeface="Arial Narrow" pitchFamily="34" charset="0"/>
                <a:ea typeface="Calibri" pitchFamily="34" charset="0"/>
                <a:cs typeface="Arial" pitchFamily="34" charset="0"/>
              </a:rPr>
              <a:t> 120</a:t>
            </a:r>
          </a:p>
          <a:p>
            <a:pPr indent="449263" algn="just" eaLnBrk="0" fontAlgn="base" hangingPunct="0">
              <a:spcBef>
                <a:spcPct val="0"/>
              </a:spcBef>
              <a:spcAft>
                <a:spcPct val="0"/>
              </a:spcAft>
            </a:pPr>
            <a:r>
              <a:rPr lang="es-ES" sz="2000" b="1" dirty="0">
                <a:latin typeface="Arial Narrow" pitchFamily="34" charset="0"/>
                <a:cs typeface="Arial" pitchFamily="34" charset="0"/>
              </a:rPr>
              <a:t>        </a:t>
            </a:r>
            <a:r>
              <a:rPr lang="es-ES" sz="2000" b="1" dirty="0" err="1">
                <a:latin typeface="Arial Narrow" pitchFamily="34" charset="0"/>
                <a:cs typeface="Arial" pitchFamily="34" charset="0"/>
              </a:rPr>
              <a:t>X1</a:t>
            </a:r>
            <a:r>
              <a:rPr lang="es-ES" sz="2000" b="1" dirty="0">
                <a:latin typeface="Arial Narrow" pitchFamily="34" charset="0"/>
                <a:cs typeface="Arial" pitchFamily="34" charset="0"/>
              </a:rPr>
              <a:t>, </a:t>
            </a:r>
            <a:r>
              <a:rPr lang="es-ES" sz="2000" b="1" dirty="0" err="1">
                <a:latin typeface="Arial Narrow" pitchFamily="34" charset="0"/>
                <a:cs typeface="Arial" pitchFamily="34" charset="0"/>
              </a:rPr>
              <a:t>X2</a:t>
            </a:r>
            <a:r>
              <a:rPr lang="es-ES" sz="2000" b="1" dirty="0">
                <a:latin typeface="Arial Narrow" pitchFamily="34" charset="0"/>
                <a:cs typeface="Arial" pitchFamily="34" charset="0"/>
              </a:rPr>
              <a:t>  ≥  0, </a:t>
            </a:r>
            <a:r>
              <a:rPr lang="es-ES" sz="2000" b="1" dirty="0">
                <a:solidFill>
                  <a:srgbClr val="FF0000"/>
                </a:solidFill>
                <a:latin typeface="Arial Narrow" pitchFamily="34" charset="0"/>
                <a:cs typeface="Arial" pitchFamily="34" charset="0"/>
              </a:rPr>
              <a:t>ENTERO</a:t>
            </a:r>
            <a:endParaRPr lang="es-PE" sz="2000" dirty="0"/>
          </a:p>
        </p:txBody>
      </p:sp>
      <p:sp>
        <p:nvSpPr>
          <p:cNvPr id="15" name="Rectángulo 14">
            <a:extLst>
              <a:ext uri="{FF2B5EF4-FFF2-40B4-BE49-F238E27FC236}">
                <a16:creationId xmlns:a16="http://schemas.microsoft.com/office/drawing/2014/main" id="{DB00A3A5-8CD5-48C6-86BE-E81F7C801435}"/>
              </a:ext>
            </a:extLst>
          </p:cNvPr>
          <p:cNvSpPr/>
          <p:nvPr/>
        </p:nvSpPr>
        <p:spPr>
          <a:xfrm>
            <a:off x="7897975" y="2285848"/>
            <a:ext cx="4285589" cy="1015663"/>
          </a:xfrm>
          <a:prstGeom prst="rect">
            <a:avLst/>
          </a:prstGeom>
          <a:solidFill>
            <a:srgbClr val="FFC000"/>
          </a:solidFill>
        </p:spPr>
        <p:txBody>
          <a:bodyPr wrap="square">
            <a:spAutoFit/>
          </a:bodyPr>
          <a:lstStyle/>
          <a:p>
            <a:pPr marL="449263" indent="-449263" algn="just" fontAlgn="base">
              <a:spcBef>
                <a:spcPct val="0"/>
              </a:spcBef>
              <a:spcAft>
                <a:spcPct val="0"/>
              </a:spcAft>
              <a:buAutoNum type="romanUcPeriod" startAt="2"/>
            </a:pPr>
            <a:r>
              <a:rPr lang="es-PE" sz="2000" b="1" dirty="0">
                <a:solidFill>
                  <a:srgbClr val="FF0000"/>
                </a:solidFill>
                <a:latin typeface="Arial Narrow" pitchFamily="34" charset="0"/>
                <a:ea typeface="Calibri" pitchFamily="34" charset="0"/>
                <a:cs typeface="Arial" pitchFamily="34" charset="0"/>
              </a:rPr>
              <a:t>Identificación de la Función Objetivo</a:t>
            </a:r>
            <a:endParaRPr lang="es-PE" sz="2000" b="1" dirty="0">
              <a:solidFill>
                <a:srgbClr val="FF0000"/>
              </a:solidFill>
              <a:latin typeface="Arial Narrow" pitchFamily="34" charset="0"/>
              <a:cs typeface="Arial" pitchFamily="34" charset="0"/>
            </a:endParaRPr>
          </a:p>
          <a:p>
            <a:pPr marL="449263" indent="-449263" algn="just" fontAlgn="base">
              <a:spcBef>
                <a:spcPct val="0"/>
              </a:spcBef>
              <a:spcAft>
                <a:spcPct val="0"/>
              </a:spcAft>
            </a:pPr>
            <a:r>
              <a:rPr lang="en-US" sz="2000" b="1" dirty="0">
                <a:latin typeface="Arial Narrow" pitchFamily="34" charset="0"/>
                <a:ea typeface="Calibri" pitchFamily="34" charset="0"/>
                <a:cs typeface="Arial" pitchFamily="34" charset="0"/>
              </a:rPr>
              <a:t>	Max </a:t>
            </a:r>
            <a:r>
              <a:rPr lang="es-ES" sz="2000" b="1" dirty="0" err="1">
                <a:latin typeface="Arial Narrow" pitchFamily="34" charset="0"/>
                <a:ea typeface="Calibri" pitchFamily="34" charset="0"/>
                <a:cs typeface="Arial" pitchFamily="34" charset="0"/>
              </a:rPr>
              <a:t>8X1+10X2</a:t>
            </a:r>
            <a:endParaRPr lang="es-PE" sz="2000" b="1" dirty="0">
              <a:latin typeface="Arial Narrow" pitchFamily="34" charset="0"/>
              <a:cs typeface="Arial" pitchFamily="34" charset="0"/>
            </a:endParaRPr>
          </a:p>
          <a:p>
            <a:pPr lvl="0" algn="just" eaLnBrk="0" fontAlgn="base" hangingPunct="0">
              <a:spcBef>
                <a:spcPct val="0"/>
              </a:spcBef>
              <a:spcAft>
                <a:spcPct val="0"/>
              </a:spcAft>
            </a:pPr>
            <a:r>
              <a:rPr lang="es-ES" sz="2000" b="1" dirty="0">
                <a:latin typeface="Arial Narrow" pitchFamily="34" charset="0"/>
              </a:rPr>
              <a:t>        Se está maximizando los ingresos .</a:t>
            </a:r>
          </a:p>
        </p:txBody>
      </p:sp>
      <p:sp>
        <p:nvSpPr>
          <p:cNvPr id="59" name="CustomShape 32">
            <a:extLst>
              <a:ext uri="{FF2B5EF4-FFF2-40B4-BE49-F238E27FC236}">
                <a16:creationId xmlns:a16="http://schemas.microsoft.com/office/drawing/2014/main" id="{3EA8E1C3-B3F8-DFF1-F117-B26AA80AF25C}"/>
              </a:ext>
            </a:extLst>
          </p:cNvPr>
          <p:cNvSpPr/>
          <p:nvPr/>
        </p:nvSpPr>
        <p:spPr>
          <a:xfrm>
            <a:off x="6202619"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 name="CustomShape 32">
            <a:extLst>
              <a:ext uri="{FF2B5EF4-FFF2-40B4-BE49-F238E27FC236}">
                <a16:creationId xmlns:a16="http://schemas.microsoft.com/office/drawing/2014/main" id="{B03010EA-FD99-9930-B838-9F480776EA07}"/>
              </a:ext>
            </a:extLst>
          </p:cNvPr>
          <p:cNvSpPr/>
          <p:nvPr/>
        </p:nvSpPr>
        <p:spPr>
          <a:xfrm>
            <a:off x="6079265"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 name="CustomShape 32">
            <a:extLst>
              <a:ext uri="{FF2B5EF4-FFF2-40B4-BE49-F238E27FC236}">
                <a16:creationId xmlns:a16="http://schemas.microsoft.com/office/drawing/2014/main" id="{2B9E5564-A128-0D54-1282-3BBE117FA8DA}"/>
              </a:ext>
            </a:extLst>
          </p:cNvPr>
          <p:cNvSpPr/>
          <p:nvPr/>
        </p:nvSpPr>
        <p:spPr>
          <a:xfrm>
            <a:off x="5955911"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 name="CustomShape 32">
            <a:extLst>
              <a:ext uri="{FF2B5EF4-FFF2-40B4-BE49-F238E27FC236}">
                <a16:creationId xmlns:a16="http://schemas.microsoft.com/office/drawing/2014/main" id="{8948E6AE-7347-0193-22E8-2DE66EFFD298}"/>
              </a:ext>
            </a:extLst>
          </p:cNvPr>
          <p:cNvSpPr/>
          <p:nvPr/>
        </p:nvSpPr>
        <p:spPr>
          <a:xfrm>
            <a:off x="5619406"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 name="CustomShape 32">
            <a:extLst>
              <a:ext uri="{FF2B5EF4-FFF2-40B4-BE49-F238E27FC236}">
                <a16:creationId xmlns:a16="http://schemas.microsoft.com/office/drawing/2014/main" id="{57BDB0FC-364C-D3C7-B628-3F02E41ECC19}"/>
              </a:ext>
            </a:extLst>
          </p:cNvPr>
          <p:cNvSpPr/>
          <p:nvPr/>
        </p:nvSpPr>
        <p:spPr>
          <a:xfrm>
            <a:off x="5843254"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0" name="CustomShape 32">
            <a:extLst>
              <a:ext uri="{FF2B5EF4-FFF2-40B4-BE49-F238E27FC236}">
                <a16:creationId xmlns:a16="http://schemas.microsoft.com/office/drawing/2014/main" id="{CF03397F-3EAD-88CD-14FE-02826DABACBD}"/>
              </a:ext>
            </a:extLst>
          </p:cNvPr>
          <p:cNvSpPr/>
          <p:nvPr/>
        </p:nvSpPr>
        <p:spPr>
          <a:xfrm>
            <a:off x="5742760"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 name="CustomShape 32">
            <a:extLst>
              <a:ext uri="{FF2B5EF4-FFF2-40B4-BE49-F238E27FC236}">
                <a16:creationId xmlns:a16="http://schemas.microsoft.com/office/drawing/2014/main" id="{7485F90C-B84A-6F31-A931-A3D3DB188C50}"/>
              </a:ext>
            </a:extLst>
          </p:cNvPr>
          <p:cNvSpPr/>
          <p:nvPr/>
        </p:nvSpPr>
        <p:spPr>
          <a:xfrm>
            <a:off x="5519936"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2" name="CustomShape 32">
            <a:extLst>
              <a:ext uri="{FF2B5EF4-FFF2-40B4-BE49-F238E27FC236}">
                <a16:creationId xmlns:a16="http://schemas.microsoft.com/office/drawing/2014/main" id="{AB56C00A-1A62-ECB6-C7ED-4C600AD6A2B1}"/>
              </a:ext>
            </a:extLst>
          </p:cNvPr>
          <p:cNvSpPr/>
          <p:nvPr/>
        </p:nvSpPr>
        <p:spPr>
          <a:xfrm>
            <a:off x="5410531"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5" name="CustomShape 32">
            <a:extLst>
              <a:ext uri="{FF2B5EF4-FFF2-40B4-BE49-F238E27FC236}">
                <a16:creationId xmlns:a16="http://schemas.microsoft.com/office/drawing/2014/main" id="{3FF07CD6-78A2-BAA1-3FA1-9CCD3FAADDBC}"/>
              </a:ext>
            </a:extLst>
          </p:cNvPr>
          <p:cNvSpPr/>
          <p:nvPr/>
        </p:nvSpPr>
        <p:spPr>
          <a:xfrm>
            <a:off x="5287177"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6" name="CustomShape 32">
            <a:extLst>
              <a:ext uri="{FF2B5EF4-FFF2-40B4-BE49-F238E27FC236}">
                <a16:creationId xmlns:a16="http://schemas.microsoft.com/office/drawing/2014/main" id="{14F8FFD9-25B1-FFC6-AC08-9FEEEE7F25C6}"/>
              </a:ext>
            </a:extLst>
          </p:cNvPr>
          <p:cNvSpPr/>
          <p:nvPr/>
        </p:nvSpPr>
        <p:spPr>
          <a:xfrm>
            <a:off x="5163823"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7" name="CustomShape 32">
            <a:extLst>
              <a:ext uri="{FF2B5EF4-FFF2-40B4-BE49-F238E27FC236}">
                <a16:creationId xmlns:a16="http://schemas.microsoft.com/office/drawing/2014/main" id="{A2427F8A-2AF5-69EB-9A3C-79BA8CCE2DC5}"/>
              </a:ext>
            </a:extLst>
          </p:cNvPr>
          <p:cNvSpPr/>
          <p:nvPr/>
        </p:nvSpPr>
        <p:spPr>
          <a:xfrm>
            <a:off x="4827318"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8" name="CustomShape 32">
            <a:extLst>
              <a:ext uri="{FF2B5EF4-FFF2-40B4-BE49-F238E27FC236}">
                <a16:creationId xmlns:a16="http://schemas.microsoft.com/office/drawing/2014/main" id="{0E22012F-FF71-A5A1-871B-BBF93729B3E1}"/>
              </a:ext>
            </a:extLst>
          </p:cNvPr>
          <p:cNvSpPr/>
          <p:nvPr/>
        </p:nvSpPr>
        <p:spPr>
          <a:xfrm>
            <a:off x="5051166"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69" name="CustomShape 32">
            <a:extLst>
              <a:ext uri="{FF2B5EF4-FFF2-40B4-BE49-F238E27FC236}">
                <a16:creationId xmlns:a16="http://schemas.microsoft.com/office/drawing/2014/main" id="{6766794E-F913-70EC-FC1E-EAA5299DCB6C}"/>
              </a:ext>
            </a:extLst>
          </p:cNvPr>
          <p:cNvSpPr/>
          <p:nvPr/>
        </p:nvSpPr>
        <p:spPr>
          <a:xfrm>
            <a:off x="4950672"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0" name="CustomShape 32">
            <a:extLst>
              <a:ext uri="{FF2B5EF4-FFF2-40B4-BE49-F238E27FC236}">
                <a16:creationId xmlns:a16="http://schemas.microsoft.com/office/drawing/2014/main" id="{3ADEDB86-8347-9EDB-0EA6-C12C0FC2C2BE}"/>
              </a:ext>
            </a:extLst>
          </p:cNvPr>
          <p:cNvSpPr/>
          <p:nvPr/>
        </p:nvSpPr>
        <p:spPr>
          <a:xfrm>
            <a:off x="4727848"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2" name="CustomShape 32">
            <a:extLst>
              <a:ext uri="{FF2B5EF4-FFF2-40B4-BE49-F238E27FC236}">
                <a16:creationId xmlns:a16="http://schemas.microsoft.com/office/drawing/2014/main" id="{6D4BCC65-AA4E-ACCC-BE66-1691C07CC4B6}"/>
              </a:ext>
            </a:extLst>
          </p:cNvPr>
          <p:cNvSpPr/>
          <p:nvPr/>
        </p:nvSpPr>
        <p:spPr>
          <a:xfrm>
            <a:off x="6863031"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3" name="CustomShape 32">
            <a:extLst>
              <a:ext uri="{FF2B5EF4-FFF2-40B4-BE49-F238E27FC236}">
                <a16:creationId xmlns:a16="http://schemas.microsoft.com/office/drawing/2014/main" id="{ECF8032B-64EC-1EC6-9CB9-F5F81E9ECF89}"/>
              </a:ext>
            </a:extLst>
          </p:cNvPr>
          <p:cNvSpPr/>
          <p:nvPr/>
        </p:nvSpPr>
        <p:spPr>
          <a:xfrm>
            <a:off x="6739677"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4" name="CustomShape 32">
            <a:extLst>
              <a:ext uri="{FF2B5EF4-FFF2-40B4-BE49-F238E27FC236}">
                <a16:creationId xmlns:a16="http://schemas.microsoft.com/office/drawing/2014/main" id="{929671D6-1359-69C9-F670-7962F33DA980}"/>
              </a:ext>
            </a:extLst>
          </p:cNvPr>
          <p:cNvSpPr/>
          <p:nvPr/>
        </p:nvSpPr>
        <p:spPr>
          <a:xfrm>
            <a:off x="6403172"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5" name="CustomShape 32">
            <a:extLst>
              <a:ext uri="{FF2B5EF4-FFF2-40B4-BE49-F238E27FC236}">
                <a16:creationId xmlns:a16="http://schemas.microsoft.com/office/drawing/2014/main" id="{C64D023C-E356-25C5-FE21-224A8C091103}"/>
              </a:ext>
            </a:extLst>
          </p:cNvPr>
          <p:cNvSpPr/>
          <p:nvPr/>
        </p:nvSpPr>
        <p:spPr>
          <a:xfrm>
            <a:off x="6627020"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6" name="CustomShape 32">
            <a:extLst>
              <a:ext uri="{FF2B5EF4-FFF2-40B4-BE49-F238E27FC236}">
                <a16:creationId xmlns:a16="http://schemas.microsoft.com/office/drawing/2014/main" id="{E7F55024-8D17-D7D4-31EA-DAB7FB4B9A84}"/>
              </a:ext>
            </a:extLst>
          </p:cNvPr>
          <p:cNvSpPr/>
          <p:nvPr/>
        </p:nvSpPr>
        <p:spPr>
          <a:xfrm>
            <a:off x="6526526"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7" name="CustomShape 32">
            <a:extLst>
              <a:ext uri="{FF2B5EF4-FFF2-40B4-BE49-F238E27FC236}">
                <a16:creationId xmlns:a16="http://schemas.microsoft.com/office/drawing/2014/main" id="{36716076-D9E0-6A24-4AC4-66306D38049B}"/>
              </a:ext>
            </a:extLst>
          </p:cNvPr>
          <p:cNvSpPr/>
          <p:nvPr/>
        </p:nvSpPr>
        <p:spPr>
          <a:xfrm>
            <a:off x="6303702" y="4283381"/>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8" name="CustomShape 32">
            <a:extLst>
              <a:ext uri="{FF2B5EF4-FFF2-40B4-BE49-F238E27FC236}">
                <a16:creationId xmlns:a16="http://schemas.microsoft.com/office/drawing/2014/main" id="{1C33EC27-A747-3C49-5BC8-9756DFB15A4C}"/>
              </a:ext>
            </a:extLst>
          </p:cNvPr>
          <p:cNvSpPr/>
          <p:nvPr/>
        </p:nvSpPr>
        <p:spPr>
          <a:xfrm>
            <a:off x="6202619"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79" name="CustomShape 32">
            <a:extLst>
              <a:ext uri="{FF2B5EF4-FFF2-40B4-BE49-F238E27FC236}">
                <a16:creationId xmlns:a16="http://schemas.microsoft.com/office/drawing/2014/main" id="{D373BF93-F8C8-34FD-0128-95206637281B}"/>
              </a:ext>
            </a:extLst>
          </p:cNvPr>
          <p:cNvSpPr/>
          <p:nvPr/>
        </p:nvSpPr>
        <p:spPr>
          <a:xfrm>
            <a:off x="6079265"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0" name="CustomShape 32">
            <a:extLst>
              <a:ext uri="{FF2B5EF4-FFF2-40B4-BE49-F238E27FC236}">
                <a16:creationId xmlns:a16="http://schemas.microsoft.com/office/drawing/2014/main" id="{8ACF0FBA-00B5-C59F-81E2-8F7697E847B4}"/>
              </a:ext>
            </a:extLst>
          </p:cNvPr>
          <p:cNvSpPr/>
          <p:nvPr/>
        </p:nvSpPr>
        <p:spPr>
          <a:xfrm>
            <a:off x="5955911"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1" name="CustomShape 32">
            <a:extLst>
              <a:ext uri="{FF2B5EF4-FFF2-40B4-BE49-F238E27FC236}">
                <a16:creationId xmlns:a16="http://schemas.microsoft.com/office/drawing/2014/main" id="{25FA5497-8302-B83B-0AFB-7994D9EA988A}"/>
              </a:ext>
            </a:extLst>
          </p:cNvPr>
          <p:cNvSpPr/>
          <p:nvPr/>
        </p:nvSpPr>
        <p:spPr>
          <a:xfrm>
            <a:off x="5619406"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2" name="CustomShape 32">
            <a:extLst>
              <a:ext uri="{FF2B5EF4-FFF2-40B4-BE49-F238E27FC236}">
                <a16:creationId xmlns:a16="http://schemas.microsoft.com/office/drawing/2014/main" id="{1E5F1B55-5F6F-8F4A-F820-70E710E7A94F}"/>
              </a:ext>
            </a:extLst>
          </p:cNvPr>
          <p:cNvSpPr/>
          <p:nvPr/>
        </p:nvSpPr>
        <p:spPr>
          <a:xfrm>
            <a:off x="5843254"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3" name="CustomShape 32">
            <a:extLst>
              <a:ext uri="{FF2B5EF4-FFF2-40B4-BE49-F238E27FC236}">
                <a16:creationId xmlns:a16="http://schemas.microsoft.com/office/drawing/2014/main" id="{9AA182D2-7DA0-24DA-AF19-A1E3F75BA741}"/>
              </a:ext>
            </a:extLst>
          </p:cNvPr>
          <p:cNvSpPr/>
          <p:nvPr/>
        </p:nvSpPr>
        <p:spPr>
          <a:xfrm>
            <a:off x="5742760"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4" name="CustomShape 32">
            <a:extLst>
              <a:ext uri="{FF2B5EF4-FFF2-40B4-BE49-F238E27FC236}">
                <a16:creationId xmlns:a16="http://schemas.microsoft.com/office/drawing/2014/main" id="{514364BC-E2F9-3FB1-56DE-DE2CD0EF03DD}"/>
              </a:ext>
            </a:extLst>
          </p:cNvPr>
          <p:cNvSpPr/>
          <p:nvPr/>
        </p:nvSpPr>
        <p:spPr>
          <a:xfrm>
            <a:off x="5519936"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5" name="CustomShape 32">
            <a:extLst>
              <a:ext uri="{FF2B5EF4-FFF2-40B4-BE49-F238E27FC236}">
                <a16:creationId xmlns:a16="http://schemas.microsoft.com/office/drawing/2014/main" id="{49D7B378-D2DF-F5AB-4AA5-2F4CD01E21D3}"/>
              </a:ext>
            </a:extLst>
          </p:cNvPr>
          <p:cNvSpPr/>
          <p:nvPr/>
        </p:nvSpPr>
        <p:spPr>
          <a:xfrm>
            <a:off x="5410531"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6" name="CustomShape 32">
            <a:extLst>
              <a:ext uri="{FF2B5EF4-FFF2-40B4-BE49-F238E27FC236}">
                <a16:creationId xmlns:a16="http://schemas.microsoft.com/office/drawing/2014/main" id="{52A94E47-B8FD-D95B-B2D5-F4CD85B13839}"/>
              </a:ext>
            </a:extLst>
          </p:cNvPr>
          <p:cNvSpPr/>
          <p:nvPr/>
        </p:nvSpPr>
        <p:spPr>
          <a:xfrm>
            <a:off x="5287177"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7" name="CustomShape 32">
            <a:extLst>
              <a:ext uri="{FF2B5EF4-FFF2-40B4-BE49-F238E27FC236}">
                <a16:creationId xmlns:a16="http://schemas.microsoft.com/office/drawing/2014/main" id="{A35D7403-33DC-5647-5739-F25059EA1611}"/>
              </a:ext>
            </a:extLst>
          </p:cNvPr>
          <p:cNvSpPr/>
          <p:nvPr/>
        </p:nvSpPr>
        <p:spPr>
          <a:xfrm>
            <a:off x="5163823"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8" name="CustomShape 32">
            <a:extLst>
              <a:ext uri="{FF2B5EF4-FFF2-40B4-BE49-F238E27FC236}">
                <a16:creationId xmlns:a16="http://schemas.microsoft.com/office/drawing/2014/main" id="{AC2A3439-0E9C-3A14-86D2-81A19F4E0688}"/>
              </a:ext>
            </a:extLst>
          </p:cNvPr>
          <p:cNvSpPr/>
          <p:nvPr/>
        </p:nvSpPr>
        <p:spPr>
          <a:xfrm>
            <a:off x="4827318"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89" name="CustomShape 32">
            <a:extLst>
              <a:ext uri="{FF2B5EF4-FFF2-40B4-BE49-F238E27FC236}">
                <a16:creationId xmlns:a16="http://schemas.microsoft.com/office/drawing/2014/main" id="{1A01EFAE-D654-279F-88D4-BB24C3681258}"/>
              </a:ext>
            </a:extLst>
          </p:cNvPr>
          <p:cNvSpPr/>
          <p:nvPr/>
        </p:nvSpPr>
        <p:spPr>
          <a:xfrm>
            <a:off x="5051166"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0" name="CustomShape 32">
            <a:extLst>
              <a:ext uri="{FF2B5EF4-FFF2-40B4-BE49-F238E27FC236}">
                <a16:creationId xmlns:a16="http://schemas.microsoft.com/office/drawing/2014/main" id="{489E7D19-E2F2-EC6D-8A1E-D8C7AFDEAE38}"/>
              </a:ext>
            </a:extLst>
          </p:cNvPr>
          <p:cNvSpPr/>
          <p:nvPr/>
        </p:nvSpPr>
        <p:spPr>
          <a:xfrm>
            <a:off x="4950672"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1" name="CustomShape 32">
            <a:extLst>
              <a:ext uri="{FF2B5EF4-FFF2-40B4-BE49-F238E27FC236}">
                <a16:creationId xmlns:a16="http://schemas.microsoft.com/office/drawing/2014/main" id="{D717620B-E51C-99AF-357D-2C8367A48ED9}"/>
              </a:ext>
            </a:extLst>
          </p:cNvPr>
          <p:cNvSpPr/>
          <p:nvPr/>
        </p:nvSpPr>
        <p:spPr>
          <a:xfrm>
            <a:off x="4727848"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4" name="CustomShape 32">
            <a:extLst>
              <a:ext uri="{FF2B5EF4-FFF2-40B4-BE49-F238E27FC236}">
                <a16:creationId xmlns:a16="http://schemas.microsoft.com/office/drawing/2014/main" id="{82480B58-9B9E-2138-CF0B-6A37D2C0B01C}"/>
              </a:ext>
            </a:extLst>
          </p:cNvPr>
          <p:cNvSpPr/>
          <p:nvPr/>
        </p:nvSpPr>
        <p:spPr>
          <a:xfrm>
            <a:off x="6739677"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5" name="CustomShape 32">
            <a:extLst>
              <a:ext uri="{FF2B5EF4-FFF2-40B4-BE49-F238E27FC236}">
                <a16:creationId xmlns:a16="http://schemas.microsoft.com/office/drawing/2014/main" id="{A112A260-D9CB-3BCD-DC48-ADB9A9EB38D1}"/>
              </a:ext>
            </a:extLst>
          </p:cNvPr>
          <p:cNvSpPr/>
          <p:nvPr/>
        </p:nvSpPr>
        <p:spPr>
          <a:xfrm>
            <a:off x="6403172"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6" name="CustomShape 32">
            <a:extLst>
              <a:ext uri="{FF2B5EF4-FFF2-40B4-BE49-F238E27FC236}">
                <a16:creationId xmlns:a16="http://schemas.microsoft.com/office/drawing/2014/main" id="{DFC0A569-4C80-6287-A6BC-913E7AB11F1C}"/>
              </a:ext>
            </a:extLst>
          </p:cNvPr>
          <p:cNvSpPr/>
          <p:nvPr/>
        </p:nvSpPr>
        <p:spPr>
          <a:xfrm>
            <a:off x="6627020"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7" name="CustomShape 32">
            <a:extLst>
              <a:ext uri="{FF2B5EF4-FFF2-40B4-BE49-F238E27FC236}">
                <a16:creationId xmlns:a16="http://schemas.microsoft.com/office/drawing/2014/main" id="{2EB5861E-3AB2-8259-A2D8-544054B727DD}"/>
              </a:ext>
            </a:extLst>
          </p:cNvPr>
          <p:cNvSpPr/>
          <p:nvPr/>
        </p:nvSpPr>
        <p:spPr>
          <a:xfrm>
            <a:off x="6526526"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8" name="CustomShape 32">
            <a:extLst>
              <a:ext uri="{FF2B5EF4-FFF2-40B4-BE49-F238E27FC236}">
                <a16:creationId xmlns:a16="http://schemas.microsoft.com/office/drawing/2014/main" id="{82B43131-DE3B-9507-8BA5-F05CEB6F8D4E}"/>
              </a:ext>
            </a:extLst>
          </p:cNvPr>
          <p:cNvSpPr/>
          <p:nvPr/>
        </p:nvSpPr>
        <p:spPr>
          <a:xfrm>
            <a:off x="6303702" y="4185084"/>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99" name="CustomShape 32">
            <a:extLst>
              <a:ext uri="{FF2B5EF4-FFF2-40B4-BE49-F238E27FC236}">
                <a16:creationId xmlns:a16="http://schemas.microsoft.com/office/drawing/2014/main" id="{F2636E84-1406-C367-84D1-D65B26F02233}"/>
              </a:ext>
            </a:extLst>
          </p:cNvPr>
          <p:cNvSpPr/>
          <p:nvPr/>
        </p:nvSpPr>
        <p:spPr>
          <a:xfrm>
            <a:off x="6202619"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0" name="CustomShape 32">
            <a:extLst>
              <a:ext uri="{FF2B5EF4-FFF2-40B4-BE49-F238E27FC236}">
                <a16:creationId xmlns:a16="http://schemas.microsoft.com/office/drawing/2014/main" id="{890ECC55-0A14-9169-0C4B-8889423A2E6E}"/>
              </a:ext>
            </a:extLst>
          </p:cNvPr>
          <p:cNvSpPr/>
          <p:nvPr/>
        </p:nvSpPr>
        <p:spPr>
          <a:xfrm>
            <a:off x="6079265"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1" name="CustomShape 32">
            <a:extLst>
              <a:ext uri="{FF2B5EF4-FFF2-40B4-BE49-F238E27FC236}">
                <a16:creationId xmlns:a16="http://schemas.microsoft.com/office/drawing/2014/main" id="{DB8EE517-16EF-F053-AE85-6CAA7D8D2DB1}"/>
              </a:ext>
            </a:extLst>
          </p:cNvPr>
          <p:cNvSpPr/>
          <p:nvPr/>
        </p:nvSpPr>
        <p:spPr>
          <a:xfrm>
            <a:off x="5955911"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2" name="CustomShape 32">
            <a:extLst>
              <a:ext uri="{FF2B5EF4-FFF2-40B4-BE49-F238E27FC236}">
                <a16:creationId xmlns:a16="http://schemas.microsoft.com/office/drawing/2014/main" id="{978129AC-80A6-A679-47A8-DFDE27A2DA20}"/>
              </a:ext>
            </a:extLst>
          </p:cNvPr>
          <p:cNvSpPr/>
          <p:nvPr/>
        </p:nvSpPr>
        <p:spPr>
          <a:xfrm>
            <a:off x="5619406"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3" name="CustomShape 32">
            <a:extLst>
              <a:ext uri="{FF2B5EF4-FFF2-40B4-BE49-F238E27FC236}">
                <a16:creationId xmlns:a16="http://schemas.microsoft.com/office/drawing/2014/main" id="{60715C27-6692-B46D-9500-F4FA75FC2E67}"/>
              </a:ext>
            </a:extLst>
          </p:cNvPr>
          <p:cNvSpPr/>
          <p:nvPr/>
        </p:nvSpPr>
        <p:spPr>
          <a:xfrm>
            <a:off x="5843254"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4" name="CustomShape 32">
            <a:extLst>
              <a:ext uri="{FF2B5EF4-FFF2-40B4-BE49-F238E27FC236}">
                <a16:creationId xmlns:a16="http://schemas.microsoft.com/office/drawing/2014/main" id="{F1E6B397-EFDE-5BF8-8880-C04EB5209A23}"/>
              </a:ext>
            </a:extLst>
          </p:cNvPr>
          <p:cNvSpPr/>
          <p:nvPr/>
        </p:nvSpPr>
        <p:spPr>
          <a:xfrm>
            <a:off x="5742760"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5" name="CustomShape 32">
            <a:extLst>
              <a:ext uri="{FF2B5EF4-FFF2-40B4-BE49-F238E27FC236}">
                <a16:creationId xmlns:a16="http://schemas.microsoft.com/office/drawing/2014/main" id="{5DAF3E76-9BDB-F6FF-965F-306022A12AB0}"/>
              </a:ext>
            </a:extLst>
          </p:cNvPr>
          <p:cNvSpPr/>
          <p:nvPr/>
        </p:nvSpPr>
        <p:spPr>
          <a:xfrm>
            <a:off x="5519936"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6" name="CustomShape 32">
            <a:extLst>
              <a:ext uri="{FF2B5EF4-FFF2-40B4-BE49-F238E27FC236}">
                <a16:creationId xmlns:a16="http://schemas.microsoft.com/office/drawing/2014/main" id="{25B44DEF-9F4F-1CA1-68F8-26F31E5FE5AD}"/>
              </a:ext>
            </a:extLst>
          </p:cNvPr>
          <p:cNvSpPr/>
          <p:nvPr/>
        </p:nvSpPr>
        <p:spPr>
          <a:xfrm>
            <a:off x="5410531"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7" name="CustomShape 32">
            <a:extLst>
              <a:ext uri="{FF2B5EF4-FFF2-40B4-BE49-F238E27FC236}">
                <a16:creationId xmlns:a16="http://schemas.microsoft.com/office/drawing/2014/main" id="{31E8F72C-DAB2-6B65-CFCD-602D43EAD554}"/>
              </a:ext>
            </a:extLst>
          </p:cNvPr>
          <p:cNvSpPr/>
          <p:nvPr/>
        </p:nvSpPr>
        <p:spPr>
          <a:xfrm>
            <a:off x="5287177"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8" name="CustomShape 32">
            <a:extLst>
              <a:ext uri="{FF2B5EF4-FFF2-40B4-BE49-F238E27FC236}">
                <a16:creationId xmlns:a16="http://schemas.microsoft.com/office/drawing/2014/main" id="{1F377183-7B87-5455-E891-39AE79C4D8AB}"/>
              </a:ext>
            </a:extLst>
          </p:cNvPr>
          <p:cNvSpPr/>
          <p:nvPr/>
        </p:nvSpPr>
        <p:spPr>
          <a:xfrm>
            <a:off x="5163823"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09" name="CustomShape 32">
            <a:extLst>
              <a:ext uri="{FF2B5EF4-FFF2-40B4-BE49-F238E27FC236}">
                <a16:creationId xmlns:a16="http://schemas.microsoft.com/office/drawing/2014/main" id="{D44D5075-0659-7FB1-123E-36EFA4AE8F23}"/>
              </a:ext>
            </a:extLst>
          </p:cNvPr>
          <p:cNvSpPr/>
          <p:nvPr/>
        </p:nvSpPr>
        <p:spPr>
          <a:xfrm>
            <a:off x="4827318"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0" name="CustomShape 32">
            <a:extLst>
              <a:ext uri="{FF2B5EF4-FFF2-40B4-BE49-F238E27FC236}">
                <a16:creationId xmlns:a16="http://schemas.microsoft.com/office/drawing/2014/main" id="{C933BF9E-CE9B-05A2-FAE2-A0991A9FB922}"/>
              </a:ext>
            </a:extLst>
          </p:cNvPr>
          <p:cNvSpPr/>
          <p:nvPr/>
        </p:nvSpPr>
        <p:spPr>
          <a:xfrm>
            <a:off x="5051166"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1" name="CustomShape 32">
            <a:extLst>
              <a:ext uri="{FF2B5EF4-FFF2-40B4-BE49-F238E27FC236}">
                <a16:creationId xmlns:a16="http://schemas.microsoft.com/office/drawing/2014/main" id="{B4D2E7CF-2DDD-17F2-7064-B4B86E218EB3}"/>
              </a:ext>
            </a:extLst>
          </p:cNvPr>
          <p:cNvSpPr/>
          <p:nvPr/>
        </p:nvSpPr>
        <p:spPr>
          <a:xfrm>
            <a:off x="4950672"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2" name="CustomShape 32">
            <a:extLst>
              <a:ext uri="{FF2B5EF4-FFF2-40B4-BE49-F238E27FC236}">
                <a16:creationId xmlns:a16="http://schemas.microsoft.com/office/drawing/2014/main" id="{4030A8D2-2BAD-CA46-0202-0A0BA77F3D31}"/>
              </a:ext>
            </a:extLst>
          </p:cNvPr>
          <p:cNvSpPr/>
          <p:nvPr/>
        </p:nvSpPr>
        <p:spPr>
          <a:xfrm>
            <a:off x="4727848"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6" name="CustomShape 32">
            <a:extLst>
              <a:ext uri="{FF2B5EF4-FFF2-40B4-BE49-F238E27FC236}">
                <a16:creationId xmlns:a16="http://schemas.microsoft.com/office/drawing/2014/main" id="{C03FF5B6-FA0A-7E9C-AA1B-03759721091D}"/>
              </a:ext>
            </a:extLst>
          </p:cNvPr>
          <p:cNvSpPr/>
          <p:nvPr/>
        </p:nvSpPr>
        <p:spPr>
          <a:xfrm>
            <a:off x="6403172"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7" name="CustomShape 32">
            <a:extLst>
              <a:ext uri="{FF2B5EF4-FFF2-40B4-BE49-F238E27FC236}">
                <a16:creationId xmlns:a16="http://schemas.microsoft.com/office/drawing/2014/main" id="{94A14875-E2FC-5AA8-E083-1F23F7F6081A}"/>
              </a:ext>
            </a:extLst>
          </p:cNvPr>
          <p:cNvSpPr/>
          <p:nvPr/>
        </p:nvSpPr>
        <p:spPr>
          <a:xfrm>
            <a:off x="6627020"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8" name="CustomShape 32">
            <a:extLst>
              <a:ext uri="{FF2B5EF4-FFF2-40B4-BE49-F238E27FC236}">
                <a16:creationId xmlns:a16="http://schemas.microsoft.com/office/drawing/2014/main" id="{779EB62E-4537-4E8F-E931-5D365AE191E3}"/>
              </a:ext>
            </a:extLst>
          </p:cNvPr>
          <p:cNvSpPr/>
          <p:nvPr/>
        </p:nvSpPr>
        <p:spPr>
          <a:xfrm>
            <a:off x="6526526"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19" name="CustomShape 32">
            <a:extLst>
              <a:ext uri="{FF2B5EF4-FFF2-40B4-BE49-F238E27FC236}">
                <a16:creationId xmlns:a16="http://schemas.microsoft.com/office/drawing/2014/main" id="{BAD5B8D8-A868-0794-642E-415B669CFD67}"/>
              </a:ext>
            </a:extLst>
          </p:cNvPr>
          <p:cNvSpPr/>
          <p:nvPr/>
        </p:nvSpPr>
        <p:spPr>
          <a:xfrm>
            <a:off x="6303702" y="406735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0" name="CustomShape 32">
            <a:extLst>
              <a:ext uri="{FF2B5EF4-FFF2-40B4-BE49-F238E27FC236}">
                <a16:creationId xmlns:a16="http://schemas.microsoft.com/office/drawing/2014/main" id="{2FA3166E-3DA1-BCD3-F510-2269495D9463}"/>
              </a:ext>
            </a:extLst>
          </p:cNvPr>
          <p:cNvSpPr/>
          <p:nvPr/>
        </p:nvSpPr>
        <p:spPr>
          <a:xfrm>
            <a:off x="6202619"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1" name="CustomShape 32">
            <a:extLst>
              <a:ext uri="{FF2B5EF4-FFF2-40B4-BE49-F238E27FC236}">
                <a16:creationId xmlns:a16="http://schemas.microsoft.com/office/drawing/2014/main" id="{629FD46A-2841-DAB3-10CD-D84EB9CF9C25}"/>
              </a:ext>
            </a:extLst>
          </p:cNvPr>
          <p:cNvSpPr/>
          <p:nvPr/>
        </p:nvSpPr>
        <p:spPr>
          <a:xfrm>
            <a:off x="6079265"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2" name="CustomShape 32">
            <a:extLst>
              <a:ext uri="{FF2B5EF4-FFF2-40B4-BE49-F238E27FC236}">
                <a16:creationId xmlns:a16="http://schemas.microsoft.com/office/drawing/2014/main" id="{BE4B4BF6-8E0D-0E54-39B4-D9EA4E9433B6}"/>
              </a:ext>
            </a:extLst>
          </p:cNvPr>
          <p:cNvSpPr/>
          <p:nvPr/>
        </p:nvSpPr>
        <p:spPr>
          <a:xfrm>
            <a:off x="5955911"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3" name="CustomShape 32">
            <a:extLst>
              <a:ext uri="{FF2B5EF4-FFF2-40B4-BE49-F238E27FC236}">
                <a16:creationId xmlns:a16="http://schemas.microsoft.com/office/drawing/2014/main" id="{61C08F81-8842-E75C-647B-7490F3C2E576}"/>
              </a:ext>
            </a:extLst>
          </p:cNvPr>
          <p:cNvSpPr/>
          <p:nvPr/>
        </p:nvSpPr>
        <p:spPr>
          <a:xfrm>
            <a:off x="5619406"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4" name="CustomShape 32">
            <a:extLst>
              <a:ext uri="{FF2B5EF4-FFF2-40B4-BE49-F238E27FC236}">
                <a16:creationId xmlns:a16="http://schemas.microsoft.com/office/drawing/2014/main" id="{BA81C464-65D8-14FF-5A6D-87A62E75AA4B}"/>
              </a:ext>
            </a:extLst>
          </p:cNvPr>
          <p:cNvSpPr/>
          <p:nvPr/>
        </p:nvSpPr>
        <p:spPr>
          <a:xfrm>
            <a:off x="5843254"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5" name="CustomShape 32">
            <a:extLst>
              <a:ext uri="{FF2B5EF4-FFF2-40B4-BE49-F238E27FC236}">
                <a16:creationId xmlns:a16="http://schemas.microsoft.com/office/drawing/2014/main" id="{52FDD9AA-4DFF-665F-79E7-F41A0187A211}"/>
              </a:ext>
            </a:extLst>
          </p:cNvPr>
          <p:cNvSpPr/>
          <p:nvPr/>
        </p:nvSpPr>
        <p:spPr>
          <a:xfrm>
            <a:off x="5742760"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6" name="CustomShape 32">
            <a:extLst>
              <a:ext uri="{FF2B5EF4-FFF2-40B4-BE49-F238E27FC236}">
                <a16:creationId xmlns:a16="http://schemas.microsoft.com/office/drawing/2014/main" id="{916D2840-6182-A6DE-D60C-A9D4116F759F}"/>
              </a:ext>
            </a:extLst>
          </p:cNvPr>
          <p:cNvSpPr/>
          <p:nvPr/>
        </p:nvSpPr>
        <p:spPr>
          <a:xfrm>
            <a:off x="5519936"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7" name="CustomShape 32">
            <a:extLst>
              <a:ext uri="{FF2B5EF4-FFF2-40B4-BE49-F238E27FC236}">
                <a16:creationId xmlns:a16="http://schemas.microsoft.com/office/drawing/2014/main" id="{F0F476B6-EBB8-0D54-3E6D-E4F5106FF000}"/>
              </a:ext>
            </a:extLst>
          </p:cNvPr>
          <p:cNvSpPr/>
          <p:nvPr/>
        </p:nvSpPr>
        <p:spPr>
          <a:xfrm>
            <a:off x="5410531"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8" name="CustomShape 32">
            <a:extLst>
              <a:ext uri="{FF2B5EF4-FFF2-40B4-BE49-F238E27FC236}">
                <a16:creationId xmlns:a16="http://schemas.microsoft.com/office/drawing/2014/main" id="{AD54D0FC-AC46-1D1D-EABF-F6AFD59FAED2}"/>
              </a:ext>
            </a:extLst>
          </p:cNvPr>
          <p:cNvSpPr/>
          <p:nvPr/>
        </p:nvSpPr>
        <p:spPr>
          <a:xfrm>
            <a:off x="5287177"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29" name="CustomShape 32">
            <a:extLst>
              <a:ext uri="{FF2B5EF4-FFF2-40B4-BE49-F238E27FC236}">
                <a16:creationId xmlns:a16="http://schemas.microsoft.com/office/drawing/2014/main" id="{7A231AE8-0939-8303-8859-B849ECE3480E}"/>
              </a:ext>
            </a:extLst>
          </p:cNvPr>
          <p:cNvSpPr/>
          <p:nvPr/>
        </p:nvSpPr>
        <p:spPr>
          <a:xfrm>
            <a:off x="5163823"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0" name="CustomShape 32">
            <a:extLst>
              <a:ext uri="{FF2B5EF4-FFF2-40B4-BE49-F238E27FC236}">
                <a16:creationId xmlns:a16="http://schemas.microsoft.com/office/drawing/2014/main" id="{F6766928-F3D1-E68E-618D-80EDE12DF56E}"/>
              </a:ext>
            </a:extLst>
          </p:cNvPr>
          <p:cNvSpPr/>
          <p:nvPr/>
        </p:nvSpPr>
        <p:spPr>
          <a:xfrm>
            <a:off x="4827318"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1" name="CustomShape 32">
            <a:extLst>
              <a:ext uri="{FF2B5EF4-FFF2-40B4-BE49-F238E27FC236}">
                <a16:creationId xmlns:a16="http://schemas.microsoft.com/office/drawing/2014/main" id="{04A14DA8-6ABA-F3FC-B99F-BF6BEE56034B}"/>
              </a:ext>
            </a:extLst>
          </p:cNvPr>
          <p:cNvSpPr/>
          <p:nvPr/>
        </p:nvSpPr>
        <p:spPr>
          <a:xfrm>
            <a:off x="5051166"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2" name="CustomShape 32">
            <a:extLst>
              <a:ext uri="{FF2B5EF4-FFF2-40B4-BE49-F238E27FC236}">
                <a16:creationId xmlns:a16="http://schemas.microsoft.com/office/drawing/2014/main" id="{12BDCB78-A0FF-8262-C31D-482D564D09BC}"/>
              </a:ext>
            </a:extLst>
          </p:cNvPr>
          <p:cNvSpPr/>
          <p:nvPr/>
        </p:nvSpPr>
        <p:spPr>
          <a:xfrm>
            <a:off x="4950672"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3" name="CustomShape 32">
            <a:extLst>
              <a:ext uri="{FF2B5EF4-FFF2-40B4-BE49-F238E27FC236}">
                <a16:creationId xmlns:a16="http://schemas.microsoft.com/office/drawing/2014/main" id="{E0EE2699-91B8-30DE-71D1-10B096530C01}"/>
              </a:ext>
            </a:extLst>
          </p:cNvPr>
          <p:cNvSpPr/>
          <p:nvPr/>
        </p:nvSpPr>
        <p:spPr>
          <a:xfrm>
            <a:off x="4727848"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7" name="CustomShape 32">
            <a:extLst>
              <a:ext uri="{FF2B5EF4-FFF2-40B4-BE49-F238E27FC236}">
                <a16:creationId xmlns:a16="http://schemas.microsoft.com/office/drawing/2014/main" id="{2CA86BDC-0F15-C4BC-17FC-0ECEA3FD47DD}"/>
              </a:ext>
            </a:extLst>
          </p:cNvPr>
          <p:cNvSpPr/>
          <p:nvPr/>
        </p:nvSpPr>
        <p:spPr>
          <a:xfrm>
            <a:off x="6403172"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39" name="CustomShape 32">
            <a:extLst>
              <a:ext uri="{FF2B5EF4-FFF2-40B4-BE49-F238E27FC236}">
                <a16:creationId xmlns:a16="http://schemas.microsoft.com/office/drawing/2014/main" id="{9D7DFC21-1097-6E41-E0C6-B127466FCC4F}"/>
              </a:ext>
            </a:extLst>
          </p:cNvPr>
          <p:cNvSpPr/>
          <p:nvPr/>
        </p:nvSpPr>
        <p:spPr>
          <a:xfrm>
            <a:off x="6526526"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0" name="CustomShape 32">
            <a:extLst>
              <a:ext uri="{FF2B5EF4-FFF2-40B4-BE49-F238E27FC236}">
                <a16:creationId xmlns:a16="http://schemas.microsoft.com/office/drawing/2014/main" id="{04752E9B-6D57-E8D0-6BC5-C6E2DD3015BA}"/>
              </a:ext>
            </a:extLst>
          </p:cNvPr>
          <p:cNvSpPr/>
          <p:nvPr/>
        </p:nvSpPr>
        <p:spPr>
          <a:xfrm>
            <a:off x="6303702" y="396906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1" name="CustomShape 32">
            <a:extLst>
              <a:ext uri="{FF2B5EF4-FFF2-40B4-BE49-F238E27FC236}">
                <a16:creationId xmlns:a16="http://schemas.microsoft.com/office/drawing/2014/main" id="{0F0D1B5E-F649-1A03-988A-42AD309D21FD}"/>
              </a:ext>
            </a:extLst>
          </p:cNvPr>
          <p:cNvSpPr/>
          <p:nvPr/>
        </p:nvSpPr>
        <p:spPr>
          <a:xfrm>
            <a:off x="6202619"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2" name="CustomShape 32">
            <a:extLst>
              <a:ext uri="{FF2B5EF4-FFF2-40B4-BE49-F238E27FC236}">
                <a16:creationId xmlns:a16="http://schemas.microsoft.com/office/drawing/2014/main" id="{C9F95AA6-6785-D4D9-F6F3-27B1087B3748}"/>
              </a:ext>
            </a:extLst>
          </p:cNvPr>
          <p:cNvSpPr/>
          <p:nvPr/>
        </p:nvSpPr>
        <p:spPr>
          <a:xfrm>
            <a:off x="6079265"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3" name="CustomShape 32">
            <a:extLst>
              <a:ext uri="{FF2B5EF4-FFF2-40B4-BE49-F238E27FC236}">
                <a16:creationId xmlns:a16="http://schemas.microsoft.com/office/drawing/2014/main" id="{5223B05D-9174-2BBC-A6BA-9769A34661AA}"/>
              </a:ext>
            </a:extLst>
          </p:cNvPr>
          <p:cNvSpPr/>
          <p:nvPr/>
        </p:nvSpPr>
        <p:spPr>
          <a:xfrm>
            <a:off x="5955911"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4" name="CustomShape 32">
            <a:extLst>
              <a:ext uri="{FF2B5EF4-FFF2-40B4-BE49-F238E27FC236}">
                <a16:creationId xmlns:a16="http://schemas.microsoft.com/office/drawing/2014/main" id="{81C1E910-7A50-0DA1-E694-A12050CAB672}"/>
              </a:ext>
            </a:extLst>
          </p:cNvPr>
          <p:cNvSpPr/>
          <p:nvPr/>
        </p:nvSpPr>
        <p:spPr>
          <a:xfrm>
            <a:off x="5619406"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5" name="CustomShape 32">
            <a:extLst>
              <a:ext uri="{FF2B5EF4-FFF2-40B4-BE49-F238E27FC236}">
                <a16:creationId xmlns:a16="http://schemas.microsoft.com/office/drawing/2014/main" id="{9CA2591A-A04A-2E88-9364-7E85437E56A8}"/>
              </a:ext>
            </a:extLst>
          </p:cNvPr>
          <p:cNvSpPr/>
          <p:nvPr/>
        </p:nvSpPr>
        <p:spPr>
          <a:xfrm>
            <a:off x="5843254"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6" name="CustomShape 32">
            <a:extLst>
              <a:ext uri="{FF2B5EF4-FFF2-40B4-BE49-F238E27FC236}">
                <a16:creationId xmlns:a16="http://schemas.microsoft.com/office/drawing/2014/main" id="{14810A6C-B8C7-41B5-8D42-C68C585F599E}"/>
              </a:ext>
            </a:extLst>
          </p:cNvPr>
          <p:cNvSpPr/>
          <p:nvPr/>
        </p:nvSpPr>
        <p:spPr>
          <a:xfrm>
            <a:off x="5742760"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7" name="CustomShape 32">
            <a:extLst>
              <a:ext uri="{FF2B5EF4-FFF2-40B4-BE49-F238E27FC236}">
                <a16:creationId xmlns:a16="http://schemas.microsoft.com/office/drawing/2014/main" id="{3C0E38EB-EB0C-4380-A256-FB60BDE7B687}"/>
              </a:ext>
            </a:extLst>
          </p:cNvPr>
          <p:cNvSpPr/>
          <p:nvPr/>
        </p:nvSpPr>
        <p:spPr>
          <a:xfrm>
            <a:off x="5519936"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8" name="CustomShape 32">
            <a:extLst>
              <a:ext uri="{FF2B5EF4-FFF2-40B4-BE49-F238E27FC236}">
                <a16:creationId xmlns:a16="http://schemas.microsoft.com/office/drawing/2014/main" id="{68CFFECB-60AA-79DB-BB63-87F45E54C844}"/>
              </a:ext>
            </a:extLst>
          </p:cNvPr>
          <p:cNvSpPr/>
          <p:nvPr/>
        </p:nvSpPr>
        <p:spPr>
          <a:xfrm>
            <a:off x="5410531"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49" name="CustomShape 32">
            <a:extLst>
              <a:ext uri="{FF2B5EF4-FFF2-40B4-BE49-F238E27FC236}">
                <a16:creationId xmlns:a16="http://schemas.microsoft.com/office/drawing/2014/main" id="{76DB3C58-D22C-D8F7-3D74-EF06F557D3E3}"/>
              </a:ext>
            </a:extLst>
          </p:cNvPr>
          <p:cNvSpPr/>
          <p:nvPr/>
        </p:nvSpPr>
        <p:spPr>
          <a:xfrm>
            <a:off x="5287177"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50" name="CustomShape 32">
            <a:extLst>
              <a:ext uri="{FF2B5EF4-FFF2-40B4-BE49-F238E27FC236}">
                <a16:creationId xmlns:a16="http://schemas.microsoft.com/office/drawing/2014/main" id="{ABBF04F5-E3CF-EFC9-66B5-D46C918F2E99}"/>
              </a:ext>
            </a:extLst>
          </p:cNvPr>
          <p:cNvSpPr/>
          <p:nvPr/>
        </p:nvSpPr>
        <p:spPr>
          <a:xfrm>
            <a:off x="5163823"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51" name="CustomShape 32">
            <a:extLst>
              <a:ext uri="{FF2B5EF4-FFF2-40B4-BE49-F238E27FC236}">
                <a16:creationId xmlns:a16="http://schemas.microsoft.com/office/drawing/2014/main" id="{6CBD3414-AD2F-8B34-1BCE-40B82DD6ABEC}"/>
              </a:ext>
            </a:extLst>
          </p:cNvPr>
          <p:cNvSpPr/>
          <p:nvPr/>
        </p:nvSpPr>
        <p:spPr>
          <a:xfrm>
            <a:off x="4827318"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52" name="CustomShape 32">
            <a:extLst>
              <a:ext uri="{FF2B5EF4-FFF2-40B4-BE49-F238E27FC236}">
                <a16:creationId xmlns:a16="http://schemas.microsoft.com/office/drawing/2014/main" id="{F9F15526-F7FC-C031-4095-C9B694534FA6}"/>
              </a:ext>
            </a:extLst>
          </p:cNvPr>
          <p:cNvSpPr/>
          <p:nvPr/>
        </p:nvSpPr>
        <p:spPr>
          <a:xfrm>
            <a:off x="5051166"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53" name="CustomShape 32">
            <a:extLst>
              <a:ext uri="{FF2B5EF4-FFF2-40B4-BE49-F238E27FC236}">
                <a16:creationId xmlns:a16="http://schemas.microsoft.com/office/drawing/2014/main" id="{3CB0DFBE-3070-5A67-EAFD-346D12D4CE45}"/>
              </a:ext>
            </a:extLst>
          </p:cNvPr>
          <p:cNvSpPr/>
          <p:nvPr/>
        </p:nvSpPr>
        <p:spPr>
          <a:xfrm>
            <a:off x="4950672"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54" name="CustomShape 32">
            <a:extLst>
              <a:ext uri="{FF2B5EF4-FFF2-40B4-BE49-F238E27FC236}">
                <a16:creationId xmlns:a16="http://schemas.microsoft.com/office/drawing/2014/main" id="{8E96078F-3A2F-C575-1147-E383CAE041B0}"/>
              </a:ext>
            </a:extLst>
          </p:cNvPr>
          <p:cNvSpPr/>
          <p:nvPr/>
        </p:nvSpPr>
        <p:spPr>
          <a:xfrm>
            <a:off x="4727848"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58" name="CustomShape 32">
            <a:extLst>
              <a:ext uri="{FF2B5EF4-FFF2-40B4-BE49-F238E27FC236}">
                <a16:creationId xmlns:a16="http://schemas.microsoft.com/office/drawing/2014/main" id="{1813C484-2ABA-7052-C97A-D4DE2D5B481A}"/>
              </a:ext>
            </a:extLst>
          </p:cNvPr>
          <p:cNvSpPr/>
          <p:nvPr/>
        </p:nvSpPr>
        <p:spPr>
          <a:xfrm>
            <a:off x="6403172"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1" name="CustomShape 32">
            <a:extLst>
              <a:ext uri="{FF2B5EF4-FFF2-40B4-BE49-F238E27FC236}">
                <a16:creationId xmlns:a16="http://schemas.microsoft.com/office/drawing/2014/main" id="{889077CA-8A38-12AD-AB01-DC1DE880A6B5}"/>
              </a:ext>
            </a:extLst>
          </p:cNvPr>
          <p:cNvSpPr/>
          <p:nvPr/>
        </p:nvSpPr>
        <p:spPr>
          <a:xfrm>
            <a:off x="6303702" y="3887337"/>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2" name="CustomShape 32">
            <a:extLst>
              <a:ext uri="{FF2B5EF4-FFF2-40B4-BE49-F238E27FC236}">
                <a16:creationId xmlns:a16="http://schemas.microsoft.com/office/drawing/2014/main" id="{16617021-ED79-A74C-091D-89CA489AC030}"/>
              </a:ext>
            </a:extLst>
          </p:cNvPr>
          <p:cNvSpPr/>
          <p:nvPr/>
        </p:nvSpPr>
        <p:spPr>
          <a:xfrm>
            <a:off x="6202619"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3" name="CustomShape 32">
            <a:extLst>
              <a:ext uri="{FF2B5EF4-FFF2-40B4-BE49-F238E27FC236}">
                <a16:creationId xmlns:a16="http://schemas.microsoft.com/office/drawing/2014/main" id="{4238298A-B46A-C2B3-9606-9BA82C812E40}"/>
              </a:ext>
            </a:extLst>
          </p:cNvPr>
          <p:cNvSpPr/>
          <p:nvPr/>
        </p:nvSpPr>
        <p:spPr>
          <a:xfrm>
            <a:off x="6079265"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4" name="CustomShape 32">
            <a:extLst>
              <a:ext uri="{FF2B5EF4-FFF2-40B4-BE49-F238E27FC236}">
                <a16:creationId xmlns:a16="http://schemas.microsoft.com/office/drawing/2014/main" id="{7C37EA5E-F6A1-3310-2AFD-7E3C017530A0}"/>
              </a:ext>
            </a:extLst>
          </p:cNvPr>
          <p:cNvSpPr/>
          <p:nvPr/>
        </p:nvSpPr>
        <p:spPr>
          <a:xfrm>
            <a:off x="5955911"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5" name="CustomShape 32">
            <a:extLst>
              <a:ext uri="{FF2B5EF4-FFF2-40B4-BE49-F238E27FC236}">
                <a16:creationId xmlns:a16="http://schemas.microsoft.com/office/drawing/2014/main" id="{84589DB0-E011-6F76-D61D-4A65FF7F080A}"/>
              </a:ext>
            </a:extLst>
          </p:cNvPr>
          <p:cNvSpPr/>
          <p:nvPr/>
        </p:nvSpPr>
        <p:spPr>
          <a:xfrm>
            <a:off x="5619406"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6" name="CustomShape 32">
            <a:extLst>
              <a:ext uri="{FF2B5EF4-FFF2-40B4-BE49-F238E27FC236}">
                <a16:creationId xmlns:a16="http://schemas.microsoft.com/office/drawing/2014/main" id="{9E587B6A-E333-964C-D29E-E38EB6B258CD}"/>
              </a:ext>
            </a:extLst>
          </p:cNvPr>
          <p:cNvSpPr/>
          <p:nvPr/>
        </p:nvSpPr>
        <p:spPr>
          <a:xfrm>
            <a:off x="5843254"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7" name="CustomShape 32">
            <a:extLst>
              <a:ext uri="{FF2B5EF4-FFF2-40B4-BE49-F238E27FC236}">
                <a16:creationId xmlns:a16="http://schemas.microsoft.com/office/drawing/2014/main" id="{DB2C1F6A-888F-5FC2-5EA2-B86BE61B9ABB}"/>
              </a:ext>
            </a:extLst>
          </p:cNvPr>
          <p:cNvSpPr/>
          <p:nvPr/>
        </p:nvSpPr>
        <p:spPr>
          <a:xfrm>
            <a:off x="5742760"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8" name="CustomShape 32">
            <a:extLst>
              <a:ext uri="{FF2B5EF4-FFF2-40B4-BE49-F238E27FC236}">
                <a16:creationId xmlns:a16="http://schemas.microsoft.com/office/drawing/2014/main" id="{6D518431-D2D5-4307-FA79-EB04B8D9EE2A}"/>
              </a:ext>
            </a:extLst>
          </p:cNvPr>
          <p:cNvSpPr/>
          <p:nvPr/>
        </p:nvSpPr>
        <p:spPr>
          <a:xfrm>
            <a:off x="5519936"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69" name="CustomShape 32">
            <a:extLst>
              <a:ext uri="{FF2B5EF4-FFF2-40B4-BE49-F238E27FC236}">
                <a16:creationId xmlns:a16="http://schemas.microsoft.com/office/drawing/2014/main" id="{0A13AD2E-787C-A683-B735-00966BF5CC09}"/>
              </a:ext>
            </a:extLst>
          </p:cNvPr>
          <p:cNvSpPr/>
          <p:nvPr/>
        </p:nvSpPr>
        <p:spPr>
          <a:xfrm>
            <a:off x="5410531"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0" name="CustomShape 32">
            <a:extLst>
              <a:ext uri="{FF2B5EF4-FFF2-40B4-BE49-F238E27FC236}">
                <a16:creationId xmlns:a16="http://schemas.microsoft.com/office/drawing/2014/main" id="{C4799BC2-C541-396C-A013-41F84F84A821}"/>
              </a:ext>
            </a:extLst>
          </p:cNvPr>
          <p:cNvSpPr/>
          <p:nvPr/>
        </p:nvSpPr>
        <p:spPr>
          <a:xfrm>
            <a:off x="5287177"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1" name="CustomShape 32">
            <a:extLst>
              <a:ext uri="{FF2B5EF4-FFF2-40B4-BE49-F238E27FC236}">
                <a16:creationId xmlns:a16="http://schemas.microsoft.com/office/drawing/2014/main" id="{EB7FDD00-3F8D-67CF-AB57-6731A51EC214}"/>
              </a:ext>
            </a:extLst>
          </p:cNvPr>
          <p:cNvSpPr/>
          <p:nvPr/>
        </p:nvSpPr>
        <p:spPr>
          <a:xfrm>
            <a:off x="5163823"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2" name="CustomShape 32">
            <a:extLst>
              <a:ext uri="{FF2B5EF4-FFF2-40B4-BE49-F238E27FC236}">
                <a16:creationId xmlns:a16="http://schemas.microsoft.com/office/drawing/2014/main" id="{CB66DD02-0601-FCEC-A68A-9E3AC3CB31CD}"/>
              </a:ext>
            </a:extLst>
          </p:cNvPr>
          <p:cNvSpPr/>
          <p:nvPr/>
        </p:nvSpPr>
        <p:spPr>
          <a:xfrm>
            <a:off x="4827318"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3" name="CustomShape 32">
            <a:extLst>
              <a:ext uri="{FF2B5EF4-FFF2-40B4-BE49-F238E27FC236}">
                <a16:creationId xmlns:a16="http://schemas.microsoft.com/office/drawing/2014/main" id="{AF774A3F-20E7-E8C5-9E35-710D1F727908}"/>
              </a:ext>
            </a:extLst>
          </p:cNvPr>
          <p:cNvSpPr/>
          <p:nvPr/>
        </p:nvSpPr>
        <p:spPr>
          <a:xfrm>
            <a:off x="5051166"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4" name="CustomShape 32">
            <a:extLst>
              <a:ext uri="{FF2B5EF4-FFF2-40B4-BE49-F238E27FC236}">
                <a16:creationId xmlns:a16="http://schemas.microsoft.com/office/drawing/2014/main" id="{BE7E8AD8-4CDD-6575-4AB5-31769423C94C}"/>
              </a:ext>
            </a:extLst>
          </p:cNvPr>
          <p:cNvSpPr/>
          <p:nvPr/>
        </p:nvSpPr>
        <p:spPr>
          <a:xfrm>
            <a:off x="4950672"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75" name="CustomShape 32">
            <a:extLst>
              <a:ext uri="{FF2B5EF4-FFF2-40B4-BE49-F238E27FC236}">
                <a16:creationId xmlns:a16="http://schemas.microsoft.com/office/drawing/2014/main" id="{4D727D55-292C-9BE6-2CA0-91609F1D2FD7}"/>
              </a:ext>
            </a:extLst>
          </p:cNvPr>
          <p:cNvSpPr/>
          <p:nvPr/>
        </p:nvSpPr>
        <p:spPr>
          <a:xfrm>
            <a:off x="4727848"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2" name="CustomShape 32">
            <a:extLst>
              <a:ext uri="{FF2B5EF4-FFF2-40B4-BE49-F238E27FC236}">
                <a16:creationId xmlns:a16="http://schemas.microsoft.com/office/drawing/2014/main" id="{4745CA5B-F03F-ECDA-B1DC-4FC72871D2A4}"/>
              </a:ext>
            </a:extLst>
          </p:cNvPr>
          <p:cNvSpPr/>
          <p:nvPr/>
        </p:nvSpPr>
        <p:spPr>
          <a:xfrm>
            <a:off x="6303702" y="3789040"/>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3" name="CustomShape 32">
            <a:extLst>
              <a:ext uri="{FF2B5EF4-FFF2-40B4-BE49-F238E27FC236}">
                <a16:creationId xmlns:a16="http://schemas.microsoft.com/office/drawing/2014/main" id="{906BEB16-B544-8D42-0275-BD9A3763483B}"/>
              </a:ext>
            </a:extLst>
          </p:cNvPr>
          <p:cNvSpPr/>
          <p:nvPr/>
        </p:nvSpPr>
        <p:spPr>
          <a:xfrm>
            <a:off x="6202619"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4" name="CustomShape 32">
            <a:extLst>
              <a:ext uri="{FF2B5EF4-FFF2-40B4-BE49-F238E27FC236}">
                <a16:creationId xmlns:a16="http://schemas.microsoft.com/office/drawing/2014/main" id="{60F5DD7A-48CD-CF86-6F0A-E82BCA7E8604}"/>
              </a:ext>
            </a:extLst>
          </p:cNvPr>
          <p:cNvSpPr/>
          <p:nvPr/>
        </p:nvSpPr>
        <p:spPr>
          <a:xfrm>
            <a:off x="6079265"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5" name="CustomShape 32">
            <a:extLst>
              <a:ext uri="{FF2B5EF4-FFF2-40B4-BE49-F238E27FC236}">
                <a16:creationId xmlns:a16="http://schemas.microsoft.com/office/drawing/2014/main" id="{762311FC-C53F-B346-2F92-C3516A8B4E38}"/>
              </a:ext>
            </a:extLst>
          </p:cNvPr>
          <p:cNvSpPr/>
          <p:nvPr/>
        </p:nvSpPr>
        <p:spPr>
          <a:xfrm>
            <a:off x="5955911"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6" name="CustomShape 32">
            <a:extLst>
              <a:ext uri="{FF2B5EF4-FFF2-40B4-BE49-F238E27FC236}">
                <a16:creationId xmlns:a16="http://schemas.microsoft.com/office/drawing/2014/main" id="{32D79B78-7F43-C988-14C3-D2702C46CD60}"/>
              </a:ext>
            </a:extLst>
          </p:cNvPr>
          <p:cNvSpPr/>
          <p:nvPr/>
        </p:nvSpPr>
        <p:spPr>
          <a:xfrm>
            <a:off x="5619406"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7" name="CustomShape 32">
            <a:extLst>
              <a:ext uri="{FF2B5EF4-FFF2-40B4-BE49-F238E27FC236}">
                <a16:creationId xmlns:a16="http://schemas.microsoft.com/office/drawing/2014/main" id="{879313EF-10DD-C485-1AB7-66E862DEC8A2}"/>
              </a:ext>
            </a:extLst>
          </p:cNvPr>
          <p:cNvSpPr/>
          <p:nvPr/>
        </p:nvSpPr>
        <p:spPr>
          <a:xfrm>
            <a:off x="5843254"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8" name="CustomShape 32">
            <a:extLst>
              <a:ext uri="{FF2B5EF4-FFF2-40B4-BE49-F238E27FC236}">
                <a16:creationId xmlns:a16="http://schemas.microsoft.com/office/drawing/2014/main" id="{909EBCAC-3D41-59A7-E7D8-3F0F1C28DBC3}"/>
              </a:ext>
            </a:extLst>
          </p:cNvPr>
          <p:cNvSpPr/>
          <p:nvPr/>
        </p:nvSpPr>
        <p:spPr>
          <a:xfrm>
            <a:off x="5742760"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89" name="CustomShape 32">
            <a:extLst>
              <a:ext uri="{FF2B5EF4-FFF2-40B4-BE49-F238E27FC236}">
                <a16:creationId xmlns:a16="http://schemas.microsoft.com/office/drawing/2014/main" id="{E14B99DF-BBE2-36BF-9C9E-649DBD1F2A8F}"/>
              </a:ext>
            </a:extLst>
          </p:cNvPr>
          <p:cNvSpPr/>
          <p:nvPr/>
        </p:nvSpPr>
        <p:spPr>
          <a:xfrm>
            <a:off x="5519936"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0" name="CustomShape 32">
            <a:extLst>
              <a:ext uri="{FF2B5EF4-FFF2-40B4-BE49-F238E27FC236}">
                <a16:creationId xmlns:a16="http://schemas.microsoft.com/office/drawing/2014/main" id="{AD27DF91-8C6C-333A-799A-59680768D2A1}"/>
              </a:ext>
            </a:extLst>
          </p:cNvPr>
          <p:cNvSpPr/>
          <p:nvPr/>
        </p:nvSpPr>
        <p:spPr>
          <a:xfrm>
            <a:off x="5410531"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1" name="CustomShape 32">
            <a:extLst>
              <a:ext uri="{FF2B5EF4-FFF2-40B4-BE49-F238E27FC236}">
                <a16:creationId xmlns:a16="http://schemas.microsoft.com/office/drawing/2014/main" id="{5CDC487A-0733-58B6-3705-24BE4A22D5B1}"/>
              </a:ext>
            </a:extLst>
          </p:cNvPr>
          <p:cNvSpPr/>
          <p:nvPr/>
        </p:nvSpPr>
        <p:spPr>
          <a:xfrm>
            <a:off x="5287177"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2" name="CustomShape 32">
            <a:extLst>
              <a:ext uri="{FF2B5EF4-FFF2-40B4-BE49-F238E27FC236}">
                <a16:creationId xmlns:a16="http://schemas.microsoft.com/office/drawing/2014/main" id="{F330C4FC-D4DB-63DB-7059-24F65E07E10C}"/>
              </a:ext>
            </a:extLst>
          </p:cNvPr>
          <p:cNvSpPr/>
          <p:nvPr/>
        </p:nvSpPr>
        <p:spPr>
          <a:xfrm>
            <a:off x="5163823"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3" name="CustomShape 32">
            <a:extLst>
              <a:ext uri="{FF2B5EF4-FFF2-40B4-BE49-F238E27FC236}">
                <a16:creationId xmlns:a16="http://schemas.microsoft.com/office/drawing/2014/main" id="{0A69749E-2661-340E-510D-8291C89E2C37}"/>
              </a:ext>
            </a:extLst>
          </p:cNvPr>
          <p:cNvSpPr/>
          <p:nvPr/>
        </p:nvSpPr>
        <p:spPr>
          <a:xfrm>
            <a:off x="4827318"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4" name="CustomShape 32">
            <a:extLst>
              <a:ext uri="{FF2B5EF4-FFF2-40B4-BE49-F238E27FC236}">
                <a16:creationId xmlns:a16="http://schemas.microsoft.com/office/drawing/2014/main" id="{FDCA356F-6ED0-E76E-5B51-1ABA4390E89B}"/>
              </a:ext>
            </a:extLst>
          </p:cNvPr>
          <p:cNvSpPr/>
          <p:nvPr/>
        </p:nvSpPr>
        <p:spPr>
          <a:xfrm>
            <a:off x="5051166"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5" name="CustomShape 32">
            <a:extLst>
              <a:ext uri="{FF2B5EF4-FFF2-40B4-BE49-F238E27FC236}">
                <a16:creationId xmlns:a16="http://schemas.microsoft.com/office/drawing/2014/main" id="{2A5265BC-55D8-C19F-3D20-2DB0626B126E}"/>
              </a:ext>
            </a:extLst>
          </p:cNvPr>
          <p:cNvSpPr/>
          <p:nvPr/>
        </p:nvSpPr>
        <p:spPr>
          <a:xfrm>
            <a:off x="4950672"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196" name="CustomShape 32">
            <a:extLst>
              <a:ext uri="{FF2B5EF4-FFF2-40B4-BE49-F238E27FC236}">
                <a16:creationId xmlns:a16="http://schemas.microsoft.com/office/drawing/2014/main" id="{BEE9F804-FCB6-3998-C45E-459BEDEB49E7}"/>
              </a:ext>
            </a:extLst>
          </p:cNvPr>
          <p:cNvSpPr/>
          <p:nvPr/>
        </p:nvSpPr>
        <p:spPr>
          <a:xfrm>
            <a:off x="4727848" y="367131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05" name="CustomShape 32">
            <a:extLst>
              <a:ext uri="{FF2B5EF4-FFF2-40B4-BE49-F238E27FC236}">
                <a16:creationId xmlns:a16="http://schemas.microsoft.com/office/drawing/2014/main" id="{3F6E32B3-2C60-E1F6-35D9-E0F2A23EEE96}"/>
              </a:ext>
            </a:extLst>
          </p:cNvPr>
          <p:cNvSpPr/>
          <p:nvPr/>
        </p:nvSpPr>
        <p:spPr>
          <a:xfrm>
            <a:off x="6079265"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06" name="CustomShape 32">
            <a:extLst>
              <a:ext uri="{FF2B5EF4-FFF2-40B4-BE49-F238E27FC236}">
                <a16:creationId xmlns:a16="http://schemas.microsoft.com/office/drawing/2014/main" id="{CD30705B-E394-7BCA-3646-F72A97B89B41}"/>
              </a:ext>
            </a:extLst>
          </p:cNvPr>
          <p:cNvSpPr/>
          <p:nvPr/>
        </p:nvSpPr>
        <p:spPr>
          <a:xfrm>
            <a:off x="5955911"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07" name="CustomShape 32">
            <a:extLst>
              <a:ext uri="{FF2B5EF4-FFF2-40B4-BE49-F238E27FC236}">
                <a16:creationId xmlns:a16="http://schemas.microsoft.com/office/drawing/2014/main" id="{8106FFA8-0FD9-4073-B6C2-3B0D38D3C871}"/>
              </a:ext>
            </a:extLst>
          </p:cNvPr>
          <p:cNvSpPr/>
          <p:nvPr/>
        </p:nvSpPr>
        <p:spPr>
          <a:xfrm>
            <a:off x="5619406"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08" name="CustomShape 32">
            <a:extLst>
              <a:ext uri="{FF2B5EF4-FFF2-40B4-BE49-F238E27FC236}">
                <a16:creationId xmlns:a16="http://schemas.microsoft.com/office/drawing/2014/main" id="{D55FC661-41BC-341B-37F5-217FF4A07E51}"/>
              </a:ext>
            </a:extLst>
          </p:cNvPr>
          <p:cNvSpPr/>
          <p:nvPr/>
        </p:nvSpPr>
        <p:spPr>
          <a:xfrm>
            <a:off x="5843254"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09" name="CustomShape 32">
            <a:extLst>
              <a:ext uri="{FF2B5EF4-FFF2-40B4-BE49-F238E27FC236}">
                <a16:creationId xmlns:a16="http://schemas.microsoft.com/office/drawing/2014/main" id="{AF42458B-CDA7-B12B-ECF3-EC63846AC732}"/>
              </a:ext>
            </a:extLst>
          </p:cNvPr>
          <p:cNvSpPr/>
          <p:nvPr/>
        </p:nvSpPr>
        <p:spPr>
          <a:xfrm>
            <a:off x="5742760"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0" name="CustomShape 32">
            <a:extLst>
              <a:ext uri="{FF2B5EF4-FFF2-40B4-BE49-F238E27FC236}">
                <a16:creationId xmlns:a16="http://schemas.microsoft.com/office/drawing/2014/main" id="{55FDC474-0C56-3791-7CBD-881A38CE99B9}"/>
              </a:ext>
            </a:extLst>
          </p:cNvPr>
          <p:cNvSpPr/>
          <p:nvPr/>
        </p:nvSpPr>
        <p:spPr>
          <a:xfrm>
            <a:off x="5519936"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1" name="CustomShape 32">
            <a:extLst>
              <a:ext uri="{FF2B5EF4-FFF2-40B4-BE49-F238E27FC236}">
                <a16:creationId xmlns:a16="http://schemas.microsoft.com/office/drawing/2014/main" id="{D43A8C6C-82AA-9A55-126C-70B9489F7238}"/>
              </a:ext>
            </a:extLst>
          </p:cNvPr>
          <p:cNvSpPr/>
          <p:nvPr/>
        </p:nvSpPr>
        <p:spPr>
          <a:xfrm>
            <a:off x="5410531"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2" name="CustomShape 32">
            <a:extLst>
              <a:ext uri="{FF2B5EF4-FFF2-40B4-BE49-F238E27FC236}">
                <a16:creationId xmlns:a16="http://schemas.microsoft.com/office/drawing/2014/main" id="{DC34D95E-EF67-85A5-AD2E-B372DFB54DD4}"/>
              </a:ext>
            </a:extLst>
          </p:cNvPr>
          <p:cNvSpPr/>
          <p:nvPr/>
        </p:nvSpPr>
        <p:spPr>
          <a:xfrm>
            <a:off x="5287177"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3" name="CustomShape 32">
            <a:extLst>
              <a:ext uri="{FF2B5EF4-FFF2-40B4-BE49-F238E27FC236}">
                <a16:creationId xmlns:a16="http://schemas.microsoft.com/office/drawing/2014/main" id="{F38A974B-218C-FF94-9D53-DD19867FD4A7}"/>
              </a:ext>
            </a:extLst>
          </p:cNvPr>
          <p:cNvSpPr/>
          <p:nvPr/>
        </p:nvSpPr>
        <p:spPr>
          <a:xfrm>
            <a:off x="5163823"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4" name="CustomShape 32">
            <a:extLst>
              <a:ext uri="{FF2B5EF4-FFF2-40B4-BE49-F238E27FC236}">
                <a16:creationId xmlns:a16="http://schemas.microsoft.com/office/drawing/2014/main" id="{0F1C3019-3985-13B3-CF18-C5003960279B}"/>
              </a:ext>
            </a:extLst>
          </p:cNvPr>
          <p:cNvSpPr/>
          <p:nvPr/>
        </p:nvSpPr>
        <p:spPr>
          <a:xfrm>
            <a:off x="4827318"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5" name="CustomShape 32">
            <a:extLst>
              <a:ext uri="{FF2B5EF4-FFF2-40B4-BE49-F238E27FC236}">
                <a16:creationId xmlns:a16="http://schemas.microsoft.com/office/drawing/2014/main" id="{5437ADB1-323C-E7CD-B6FF-457095F1842D}"/>
              </a:ext>
            </a:extLst>
          </p:cNvPr>
          <p:cNvSpPr/>
          <p:nvPr/>
        </p:nvSpPr>
        <p:spPr>
          <a:xfrm>
            <a:off x="5051166"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6" name="CustomShape 32">
            <a:extLst>
              <a:ext uri="{FF2B5EF4-FFF2-40B4-BE49-F238E27FC236}">
                <a16:creationId xmlns:a16="http://schemas.microsoft.com/office/drawing/2014/main" id="{6BE11E22-94CA-657B-55E1-5BD5C30F5AC5}"/>
              </a:ext>
            </a:extLst>
          </p:cNvPr>
          <p:cNvSpPr/>
          <p:nvPr/>
        </p:nvSpPr>
        <p:spPr>
          <a:xfrm>
            <a:off x="4950672"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17" name="CustomShape 32">
            <a:extLst>
              <a:ext uri="{FF2B5EF4-FFF2-40B4-BE49-F238E27FC236}">
                <a16:creationId xmlns:a16="http://schemas.microsoft.com/office/drawing/2014/main" id="{03ECA213-F460-2ECB-7C1D-2E7C089EDD28}"/>
              </a:ext>
            </a:extLst>
          </p:cNvPr>
          <p:cNvSpPr/>
          <p:nvPr/>
        </p:nvSpPr>
        <p:spPr>
          <a:xfrm>
            <a:off x="4727848" y="357301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25" name="CustomShape 32">
            <a:extLst>
              <a:ext uri="{FF2B5EF4-FFF2-40B4-BE49-F238E27FC236}">
                <a16:creationId xmlns:a16="http://schemas.microsoft.com/office/drawing/2014/main" id="{8EEF4819-53E8-DA1C-4733-FE3A11860FCB}"/>
              </a:ext>
            </a:extLst>
          </p:cNvPr>
          <p:cNvSpPr/>
          <p:nvPr/>
        </p:nvSpPr>
        <p:spPr>
          <a:xfrm>
            <a:off x="5619406"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26" name="CustomShape 32">
            <a:extLst>
              <a:ext uri="{FF2B5EF4-FFF2-40B4-BE49-F238E27FC236}">
                <a16:creationId xmlns:a16="http://schemas.microsoft.com/office/drawing/2014/main" id="{9DF9B03D-AF9E-4D80-31F3-8B2F76A56A88}"/>
              </a:ext>
            </a:extLst>
          </p:cNvPr>
          <p:cNvSpPr/>
          <p:nvPr/>
        </p:nvSpPr>
        <p:spPr>
          <a:xfrm>
            <a:off x="5742760"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27" name="CustomShape 32">
            <a:extLst>
              <a:ext uri="{FF2B5EF4-FFF2-40B4-BE49-F238E27FC236}">
                <a16:creationId xmlns:a16="http://schemas.microsoft.com/office/drawing/2014/main" id="{9C69230C-14C3-8EF8-C297-1687AC19FE27}"/>
              </a:ext>
            </a:extLst>
          </p:cNvPr>
          <p:cNvSpPr/>
          <p:nvPr/>
        </p:nvSpPr>
        <p:spPr>
          <a:xfrm>
            <a:off x="5519936"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28" name="CustomShape 32">
            <a:extLst>
              <a:ext uri="{FF2B5EF4-FFF2-40B4-BE49-F238E27FC236}">
                <a16:creationId xmlns:a16="http://schemas.microsoft.com/office/drawing/2014/main" id="{0467FF6A-F03C-439E-806A-37EC42148CC9}"/>
              </a:ext>
            </a:extLst>
          </p:cNvPr>
          <p:cNvSpPr/>
          <p:nvPr/>
        </p:nvSpPr>
        <p:spPr>
          <a:xfrm>
            <a:off x="5410531"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29" name="CustomShape 32">
            <a:extLst>
              <a:ext uri="{FF2B5EF4-FFF2-40B4-BE49-F238E27FC236}">
                <a16:creationId xmlns:a16="http://schemas.microsoft.com/office/drawing/2014/main" id="{B31BB79A-9E6E-3586-39E1-C0FEE1F867D2}"/>
              </a:ext>
            </a:extLst>
          </p:cNvPr>
          <p:cNvSpPr/>
          <p:nvPr/>
        </p:nvSpPr>
        <p:spPr>
          <a:xfrm>
            <a:off x="5287177"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0" name="CustomShape 32">
            <a:extLst>
              <a:ext uri="{FF2B5EF4-FFF2-40B4-BE49-F238E27FC236}">
                <a16:creationId xmlns:a16="http://schemas.microsoft.com/office/drawing/2014/main" id="{CF67FAD1-DBB7-E0C0-0805-A032FA9E80EF}"/>
              </a:ext>
            </a:extLst>
          </p:cNvPr>
          <p:cNvSpPr/>
          <p:nvPr/>
        </p:nvSpPr>
        <p:spPr>
          <a:xfrm>
            <a:off x="5163823"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1" name="CustomShape 32">
            <a:extLst>
              <a:ext uri="{FF2B5EF4-FFF2-40B4-BE49-F238E27FC236}">
                <a16:creationId xmlns:a16="http://schemas.microsoft.com/office/drawing/2014/main" id="{6E1479C2-CC0D-AFDC-115F-4935A594054B}"/>
              </a:ext>
            </a:extLst>
          </p:cNvPr>
          <p:cNvSpPr/>
          <p:nvPr/>
        </p:nvSpPr>
        <p:spPr>
          <a:xfrm>
            <a:off x="4827318"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2" name="CustomShape 32">
            <a:extLst>
              <a:ext uri="{FF2B5EF4-FFF2-40B4-BE49-F238E27FC236}">
                <a16:creationId xmlns:a16="http://schemas.microsoft.com/office/drawing/2014/main" id="{72083D75-758D-44E9-21F9-0F52856D1396}"/>
              </a:ext>
            </a:extLst>
          </p:cNvPr>
          <p:cNvSpPr/>
          <p:nvPr/>
        </p:nvSpPr>
        <p:spPr>
          <a:xfrm>
            <a:off x="5051166"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3" name="CustomShape 32">
            <a:extLst>
              <a:ext uri="{FF2B5EF4-FFF2-40B4-BE49-F238E27FC236}">
                <a16:creationId xmlns:a16="http://schemas.microsoft.com/office/drawing/2014/main" id="{A0F6D463-826C-ECB1-0BE0-D1BE227ACAB5}"/>
              </a:ext>
            </a:extLst>
          </p:cNvPr>
          <p:cNvSpPr/>
          <p:nvPr/>
        </p:nvSpPr>
        <p:spPr>
          <a:xfrm>
            <a:off x="4950672"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4" name="CustomShape 32">
            <a:extLst>
              <a:ext uri="{FF2B5EF4-FFF2-40B4-BE49-F238E27FC236}">
                <a16:creationId xmlns:a16="http://schemas.microsoft.com/office/drawing/2014/main" id="{80C6B8DC-2487-62CF-D5C7-5CF4EA103230}"/>
              </a:ext>
            </a:extLst>
          </p:cNvPr>
          <p:cNvSpPr/>
          <p:nvPr/>
        </p:nvSpPr>
        <p:spPr>
          <a:xfrm>
            <a:off x="4727848" y="349129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5" name="CustomShape 32">
            <a:extLst>
              <a:ext uri="{FF2B5EF4-FFF2-40B4-BE49-F238E27FC236}">
                <a16:creationId xmlns:a16="http://schemas.microsoft.com/office/drawing/2014/main" id="{9304CB1D-6793-24C9-3E7D-3F1907650C0E}"/>
              </a:ext>
            </a:extLst>
          </p:cNvPr>
          <p:cNvSpPr/>
          <p:nvPr/>
        </p:nvSpPr>
        <p:spPr>
          <a:xfrm>
            <a:off x="5619406"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6" name="CustomShape 32">
            <a:extLst>
              <a:ext uri="{FF2B5EF4-FFF2-40B4-BE49-F238E27FC236}">
                <a16:creationId xmlns:a16="http://schemas.microsoft.com/office/drawing/2014/main" id="{5A21D0F2-D315-EB19-92C6-059D394A119A}"/>
              </a:ext>
            </a:extLst>
          </p:cNvPr>
          <p:cNvSpPr/>
          <p:nvPr/>
        </p:nvSpPr>
        <p:spPr>
          <a:xfrm>
            <a:off x="5742760"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7" name="CustomShape 32">
            <a:extLst>
              <a:ext uri="{FF2B5EF4-FFF2-40B4-BE49-F238E27FC236}">
                <a16:creationId xmlns:a16="http://schemas.microsoft.com/office/drawing/2014/main" id="{28121204-C5D1-9877-BDCF-415218CB0FD0}"/>
              </a:ext>
            </a:extLst>
          </p:cNvPr>
          <p:cNvSpPr/>
          <p:nvPr/>
        </p:nvSpPr>
        <p:spPr>
          <a:xfrm>
            <a:off x="5519936"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8" name="CustomShape 32">
            <a:extLst>
              <a:ext uri="{FF2B5EF4-FFF2-40B4-BE49-F238E27FC236}">
                <a16:creationId xmlns:a16="http://schemas.microsoft.com/office/drawing/2014/main" id="{926A0428-8DE0-1263-9D4A-E7A16AAC03C8}"/>
              </a:ext>
            </a:extLst>
          </p:cNvPr>
          <p:cNvSpPr/>
          <p:nvPr/>
        </p:nvSpPr>
        <p:spPr>
          <a:xfrm>
            <a:off x="5410531"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39" name="CustomShape 32">
            <a:extLst>
              <a:ext uri="{FF2B5EF4-FFF2-40B4-BE49-F238E27FC236}">
                <a16:creationId xmlns:a16="http://schemas.microsoft.com/office/drawing/2014/main" id="{E153D6D1-AA6A-5785-F15B-DEF32286BD9A}"/>
              </a:ext>
            </a:extLst>
          </p:cNvPr>
          <p:cNvSpPr/>
          <p:nvPr/>
        </p:nvSpPr>
        <p:spPr>
          <a:xfrm>
            <a:off x="5287177"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0" name="CustomShape 32">
            <a:extLst>
              <a:ext uri="{FF2B5EF4-FFF2-40B4-BE49-F238E27FC236}">
                <a16:creationId xmlns:a16="http://schemas.microsoft.com/office/drawing/2014/main" id="{792A0F4D-19E5-60DE-AE31-D7841F49A11A}"/>
              </a:ext>
            </a:extLst>
          </p:cNvPr>
          <p:cNvSpPr/>
          <p:nvPr/>
        </p:nvSpPr>
        <p:spPr>
          <a:xfrm>
            <a:off x="5163823"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1" name="CustomShape 32">
            <a:extLst>
              <a:ext uri="{FF2B5EF4-FFF2-40B4-BE49-F238E27FC236}">
                <a16:creationId xmlns:a16="http://schemas.microsoft.com/office/drawing/2014/main" id="{E87E3C12-9E90-AE7F-B8F7-1435895FE8FA}"/>
              </a:ext>
            </a:extLst>
          </p:cNvPr>
          <p:cNvSpPr/>
          <p:nvPr/>
        </p:nvSpPr>
        <p:spPr>
          <a:xfrm>
            <a:off x="4827318"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2" name="CustomShape 32">
            <a:extLst>
              <a:ext uri="{FF2B5EF4-FFF2-40B4-BE49-F238E27FC236}">
                <a16:creationId xmlns:a16="http://schemas.microsoft.com/office/drawing/2014/main" id="{5BF55092-D6A4-BB8D-9A2A-6A6815AAB71E}"/>
              </a:ext>
            </a:extLst>
          </p:cNvPr>
          <p:cNvSpPr/>
          <p:nvPr/>
        </p:nvSpPr>
        <p:spPr>
          <a:xfrm>
            <a:off x="5051166"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3" name="CustomShape 32">
            <a:extLst>
              <a:ext uri="{FF2B5EF4-FFF2-40B4-BE49-F238E27FC236}">
                <a16:creationId xmlns:a16="http://schemas.microsoft.com/office/drawing/2014/main" id="{86EA0861-BCF7-23D9-94E0-1A45C11087EE}"/>
              </a:ext>
            </a:extLst>
          </p:cNvPr>
          <p:cNvSpPr/>
          <p:nvPr/>
        </p:nvSpPr>
        <p:spPr>
          <a:xfrm>
            <a:off x="4950672"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4" name="CustomShape 32">
            <a:extLst>
              <a:ext uri="{FF2B5EF4-FFF2-40B4-BE49-F238E27FC236}">
                <a16:creationId xmlns:a16="http://schemas.microsoft.com/office/drawing/2014/main" id="{D8D0B9A3-106A-C419-8E59-3871022EF385}"/>
              </a:ext>
            </a:extLst>
          </p:cNvPr>
          <p:cNvSpPr/>
          <p:nvPr/>
        </p:nvSpPr>
        <p:spPr>
          <a:xfrm>
            <a:off x="4727848" y="339299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7" name="CustomShape 32">
            <a:extLst>
              <a:ext uri="{FF2B5EF4-FFF2-40B4-BE49-F238E27FC236}">
                <a16:creationId xmlns:a16="http://schemas.microsoft.com/office/drawing/2014/main" id="{C6F76140-C552-E8BA-8C19-ABE60C551110}"/>
              </a:ext>
            </a:extLst>
          </p:cNvPr>
          <p:cNvSpPr/>
          <p:nvPr/>
        </p:nvSpPr>
        <p:spPr>
          <a:xfrm>
            <a:off x="5519936"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8" name="CustomShape 32">
            <a:extLst>
              <a:ext uri="{FF2B5EF4-FFF2-40B4-BE49-F238E27FC236}">
                <a16:creationId xmlns:a16="http://schemas.microsoft.com/office/drawing/2014/main" id="{7472761F-9E20-7D7F-237C-A4DF70EB1D4D}"/>
              </a:ext>
            </a:extLst>
          </p:cNvPr>
          <p:cNvSpPr/>
          <p:nvPr/>
        </p:nvSpPr>
        <p:spPr>
          <a:xfrm>
            <a:off x="5410531"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49" name="CustomShape 32">
            <a:extLst>
              <a:ext uri="{FF2B5EF4-FFF2-40B4-BE49-F238E27FC236}">
                <a16:creationId xmlns:a16="http://schemas.microsoft.com/office/drawing/2014/main" id="{F744CC9D-D35C-93ED-6CB1-290E55543BFF}"/>
              </a:ext>
            </a:extLst>
          </p:cNvPr>
          <p:cNvSpPr/>
          <p:nvPr/>
        </p:nvSpPr>
        <p:spPr>
          <a:xfrm>
            <a:off x="5287177"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0" name="CustomShape 32">
            <a:extLst>
              <a:ext uri="{FF2B5EF4-FFF2-40B4-BE49-F238E27FC236}">
                <a16:creationId xmlns:a16="http://schemas.microsoft.com/office/drawing/2014/main" id="{744CC303-EB45-D5F8-03D2-ABCACDCCBEFC}"/>
              </a:ext>
            </a:extLst>
          </p:cNvPr>
          <p:cNvSpPr/>
          <p:nvPr/>
        </p:nvSpPr>
        <p:spPr>
          <a:xfrm>
            <a:off x="5163823"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1" name="CustomShape 32">
            <a:extLst>
              <a:ext uri="{FF2B5EF4-FFF2-40B4-BE49-F238E27FC236}">
                <a16:creationId xmlns:a16="http://schemas.microsoft.com/office/drawing/2014/main" id="{CD46B001-85E2-62C5-F3AC-3BB63BA3D078}"/>
              </a:ext>
            </a:extLst>
          </p:cNvPr>
          <p:cNvSpPr/>
          <p:nvPr/>
        </p:nvSpPr>
        <p:spPr>
          <a:xfrm>
            <a:off x="4827318"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2" name="CustomShape 32">
            <a:extLst>
              <a:ext uri="{FF2B5EF4-FFF2-40B4-BE49-F238E27FC236}">
                <a16:creationId xmlns:a16="http://schemas.microsoft.com/office/drawing/2014/main" id="{4FA24D6A-A3EF-A228-70D2-8BC6B27E0661}"/>
              </a:ext>
            </a:extLst>
          </p:cNvPr>
          <p:cNvSpPr/>
          <p:nvPr/>
        </p:nvSpPr>
        <p:spPr>
          <a:xfrm>
            <a:off x="5051166"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3" name="CustomShape 32">
            <a:extLst>
              <a:ext uri="{FF2B5EF4-FFF2-40B4-BE49-F238E27FC236}">
                <a16:creationId xmlns:a16="http://schemas.microsoft.com/office/drawing/2014/main" id="{AAB16A07-990D-00A8-2AB3-971B2400D71C}"/>
              </a:ext>
            </a:extLst>
          </p:cNvPr>
          <p:cNvSpPr/>
          <p:nvPr/>
        </p:nvSpPr>
        <p:spPr>
          <a:xfrm>
            <a:off x="4950672"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4" name="CustomShape 32">
            <a:extLst>
              <a:ext uri="{FF2B5EF4-FFF2-40B4-BE49-F238E27FC236}">
                <a16:creationId xmlns:a16="http://schemas.microsoft.com/office/drawing/2014/main" id="{5DB38AC3-BCF9-C265-FA3B-6D50C5EE0292}"/>
              </a:ext>
            </a:extLst>
          </p:cNvPr>
          <p:cNvSpPr/>
          <p:nvPr/>
        </p:nvSpPr>
        <p:spPr>
          <a:xfrm>
            <a:off x="4727848" y="3311273"/>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59" name="CustomShape 32">
            <a:extLst>
              <a:ext uri="{FF2B5EF4-FFF2-40B4-BE49-F238E27FC236}">
                <a16:creationId xmlns:a16="http://schemas.microsoft.com/office/drawing/2014/main" id="{BA251586-54DE-0CBA-3A9A-CC62AFA8A676}"/>
              </a:ext>
            </a:extLst>
          </p:cNvPr>
          <p:cNvSpPr/>
          <p:nvPr/>
        </p:nvSpPr>
        <p:spPr>
          <a:xfrm>
            <a:off x="5287177" y="321297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60" name="CustomShape 32">
            <a:extLst>
              <a:ext uri="{FF2B5EF4-FFF2-40B4-BE49-F238E27FC236}">
                <a16:creationId xmlns:a16="http://schemas.microsoft.com/office/drawing/2014/main" id="{9373B6F7-B9E6-7C91-1B60-FBD6069D30AB}"/>
              </a:ext>
            </a:extLst>
          </p:cNvPr>
          <p:cNvSpPr/>
          <p:nvPr/>
        </p:nvSpPr>
        <p:spPr>
          <a:xfrm>
            <a:off x="5163823" y="321297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61" name="CustomShape 32">
            <a:extLst>
              <a:ext uri="{FF2B5EF4-FFF2-40B4-BE49-F238E27FC236}">
                <a16:creationId xmlns:a16="http://schemas.microsoft.com/office/drawing/2014/main" id="{E351A31A-74E8-2184-83A6-1C04F9F7880F}"/>
              </a:ext>
            </a:extLst>
          </p:cNvPr>
          <p:cNvSpPr/>
          <p:nvPr/>
        </p:nvSpPr>
        <p:spPr>
          <a:xfrm>
            <a:off x="4827318" y="321297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62" name="CustomShape 32">
            <a:extLst>
              <a:ext uri="{FF2B5EF4-FFF2-40B4-BE49-F238E27FC236}">
                <a16:creationId xmlns:a16="http://schemas.microsoft.com/office/drawing/2014/main" id="{A7257030-005A-A0CA-0FC7-F99767C89021}"/>
              </a:ext>
            </a:extLst>
          </p:cNvPr>
          <p:cNvSpPr/>
          <p:nvPr/>
        </p:nvSpPr>
        <p:spPr>
          <a:xfrm>
            <a:off x="5051166" y="321297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63" name="CustomShape 32">
            <a:extLst>
              <a:ext uri="{FF2B5EF4-FFF2-40B4-BE49-F238E27FC236}">
                <a16:creationId xmlns:a16="http://schemas.microsoft.com/office/drawing/2014/main" id="{0A5FDE38-E552-552E-E848-0509CC38E1AE}"/>
              </a:ext>
            </a:extLst>
          </p:cNvPr>
          <p:cNvSpPr/>
          <p:nvPr/>
        </p:nvSpPr>
        <p:spPr>
          <a:xfrm>
            <a:off x="4950672" y="321297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64" name="CustomShape 32">
            <a:extLst>
              <a:ext uri="{FF2B5EF4-FFF2-40B4-BE49-F238E27FC236}">
                <a16:creationId xmlns:a16="http://schemas.microsoft.com/office/drawing/2014/main" id="{14123EE8-9651-FF12-CCD8-B11D0429EE0E}"/>
              </a:ext>
            </a:extLst>
          </p:cNvPr>
          <p:cNvSpPr/>
          <p:nvPr/>
        </p:nvSpPr>
        <p:spPr>
          <a:xfrm>
            <a:off x="4727848" y="3212976"/>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71" name="CustomShape 32">
            <a:extLst>
              <a:ext uri="{FF2B5EF4-FFF2-40B4-BE49-F238E27FC236}">
                <a16:creationId xmlns:a16="http://schemas.microsoft.com/office/drawing/2014/main" id="{AA750EB8-D929-7284-8B97-2540184A5221}"/>
              </a:ext>
            </a:extLst>
          </p:cNvPr>
          <p:cNvSpPr/>
          <p:nvPr/>
        </p:nvSpPr>
        <p:spPr>
          <a:xfrm>
            <a:off x="4827318" y="3095249"/>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72" name="CustomShape 32">
            <a:extLst>
              <a:ext uri="{FF2B5EF4-FFF2-40B4-BE49-F238E27FC236}">
                <a16:creationId xmlns:a16="http://schemas.microsoft.com/office/drawing/2014/main" id="{2D897319-C501-2449-5BD1-024410DB6A5B}"/>
              </a:ext>
            </a:extLst>
          </p:cNvPr>
          <p:cNvSpPr/>
          <p:nvPr/>
        </p:nvSpPr>
        <p:spPr>
          <a:xfrm>
            <a:off x="5051166" y="3095249"/>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73" name="CustomShape 32">
            <a:extLst>
              <a:ext uri="{FF2B5EF4-FFF2-40B4-BE49-F238E27FC236}">
                <a16:creationId xmlns:a16="http://schemas.microsoft.com/office/drawing/2014/main" id="{0E32210C-B67E-54FD-DF99-AFC415AC0F59}"/>
              </a:ext>
            </a:extLst>
          </p:cNvPr>
          <p:cNvSpPr/>
          <p:nvPr/>
        </p:nvSpPr>
        <p:spPr>
          <a:xfrm>
            <a:off x="4950672" y="3095249"/>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74" name="CustomShape 32">
            <a:extLst>
              <a:ext uri="{FF2B5EF4-FFF2-40B4-BE49-F238E27FC236}">
                <a16:creationId xmlns:a16="http://schemas.microsoft.com/office/drawing/2014/main" id="{6FACE448-942E-A5AA-23F6-CCD5B071B74A}"/>
              </a:ext>
            </a:extLst>
          </p:cNvPr>
          <p:cNvSpPr/>
          <p:nvPr/>
        </p:nvSpPr>
        <p:spPr>
          <a:xfrm>
            <a:off x="4727848" y="3095249"/>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81" name="CustomShape 32">
            <a:extLst>
              <a:ext uri="{FF2B5EF4-FFF2-40B4-BE49-F238E27FC236}">
                <a16:creationId xmlns:a16="http://schemas.microsoft.com/office/drawing/2014/main" id="{46CDB3D2-4226-AE12-2380-896DFD0AE9CF}"/>
              </a:ext>
            </a:extLst>
          </p:cNvPr>
          <p:cNvSpPr/>
          <p:nvPr/>
        </p:nvSpPr>
        <p:spPr>
          <a:xfrm>
            <a:off x="4827318" y="2996952"/>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sp>
        <p:nvSpPr>
          <p:cNvPr id="284" name="CustomShape 32">
            <a:extLst>
              <a:ext uri="{FF2B5EF4-FFF2-40B4-BE49-F238E27FC236}">
                <a16:creationId xmlns:a16="http://schemas.microsoft.com/office/drawing/2014/main" id="{2DA3AC66-77D1-1815-E57F-D455D39E9743}"/>
              </a:ext>
            </a:extLst>
          </p:cNvPr>
          <p:cNvSpPr/>
          <p:nvPr/>
        </p:nvSpPr>
        <p:spPr>
          <a:xfrm>
            <a:off x="4727848" y="2996952"/>
            <a:ext cx="45719" cy="45719"/>
          </a:xfrm>
          <a:prstGeom prst="ellipse">
            <a:avLst/>
          </a:prstGeom>
          <a:solidFill>
            <a:schemeClr val="tx1"/>
          </a:solidFill>
          <a:ln w="19050">
            <a:solidFill>
              <a:schemeClr val="tx1"/>
            </a:solidFill>
            <a:round/>
          </a:ln>
        </p:spPr>
        <p:style>
          <a:lnRef idx="0">
            <a:scrgbClr r="0" g="0" b="0"/>
          </a:lnRef>
          <a:fillRef idx="0">
            <a:scrgbClr r="0" g="0" b="0"/>
          </a:fillRef>
          <a:effectRef idx="0">
            <a:scrgbClr r="0" g="0" b="0"/>
          </a:effectRef>
          <a:fontRef idx="minor"/>
        </p:style>
        <p:txBody>
          <a:bodyPr/>
          <a:lstStyle/>
          <a:p>
            <a:endParaRPr lang="es-PE"/>
          </a:p>
        </p:txBody>
      </p:sp>
      <p:cxnSp>
        <p:nvCxnSpPr>
          <p:cNvPr id="19" name="6 Conector recto">
            <a:extLst>
              <a:ext uri="{FF2B5EF4-FFF2-40B4-BE49-F238E27FC236}">
                <a16:creationId xmlns:a16="http://schemas.microsoft.com/office/drawing/2014/main" id="{8C914A52-BA4A-386C-4D43-125A9FC3F575}"/>
              </a:ext>
            </a:extLst>
          </p:cNvPr>
          <p:cNvCxnSpPr>
            <a:cxnSpLocks/>
          </p:cNvCxnSpPr>
          <p:nvPr/>
        </p:nvCxnSpPr>
        <p:spPr>
          <a:xfrm flipH="1" flipV="1">
            <a:off x="4799856" y="2456892"/>
            <a:ext cx="2038038" cy="1728192"/>
          </a:xfrm>
          <a:prstGeom prst="line">
            <a:avLst/>
          </a:prstGeom>
          <a:ln w="22225">
            <a:solidFill>
              <a:srgbClr val="FF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18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2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2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2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2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2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2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3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3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3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37"/>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3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4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4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42"/>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43"/>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4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45"/>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46"/>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47"/>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48"/>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49"/>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5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51"/>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52"/>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53"/>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54"/>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58"/>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61"/>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62"/>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63"/>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6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65"/>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66"/>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67"/>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68"/>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69"/>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70"/>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71"/>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7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73"/>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74"/>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75"/>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82"/>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83"/>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84"/>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85"/>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86"/>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87"/>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88"/>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189"/>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190"/>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91"/>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92"/>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93"/>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194"/>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195"/>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196"/>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205"/>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206"/>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207"/>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208"/>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209"/>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210"/>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211"/>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212"/>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213"/>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214"/>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215"/>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216"/>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217"/>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225"/>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226"/>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227"/>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228"/>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229"/>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230"/>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231"/>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232"/>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233"/>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234"/>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235"/>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236"/>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237"/>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238"/>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239"/>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240"/>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241"/>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242"/>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243"/>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244"/>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247"/>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248"/>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249"/>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250"/>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251"/>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252"/>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253"/>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254"/>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259"/>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260"/>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261"/>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262"/>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263"/>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264"/>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271"/>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272"/>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273"/>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274"/>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281"/>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284"/>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presetID="1" presetClass="entr" presetSubtype="0" fill="hold" nodeType="clickEffect">
                                  <p:stCondLst>
                                    <p:cond delay="0"/>
                                  </p:stCondLst>
                                  <p:childTnLst>
                                    <p:set>
                                      <p:cBhvr>
                                        <p:cTn id="366" dur="1" fill="hold">
                                          <p:stCondLst>
                                            <p:cond delay="0"/>
                                          </p:stCondLst>
                                        </p:cTn>
                                        <p:tgtEl>
                                          <p:spTgt spid="19"/>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presetID="1" presetClass="entr" presetSubtype="0" fill="hold" grpId="0" nodeType="clickEffect">
                                  <p:stCondLst>
                                    <p:cond delay="0"/>
                                  </p:stCondLst>
                                  <p:childTnLst>
                                    <p:set>
                                      <p:cBhvr>
                                        <p:cTn id="370" dur="1" fill="hold">
                                          <p:stCondLst>
                                            <p:cond delay="0"/>
                                          </p:stCondLst>
                                        </p:cTn>
                                        <p:tgtEl>
                                          <p:spTgt spid="3"/>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grpId="0" nodeType="clickEffect">
                                  <p:stCondLst>
                                    <p:cond delay="0"/>
                                  </p:stCondLst>
                                  <p:childTnLst>
                                    <p:set>
                                      <p:cBhvr>
                                        <p:cTn id="374" dur="1" fill="hold">
                                          <p:stCondLst>
                                            <p:cond delay="0"/>
                                          </p:stCondLst>
                                        </p:cTn>
                                        <p:tgtEl>
                                          <p:spTgt spid="2"/>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1" presetClass="entr" presetSubtype="0" fill="hold" grpId="0" nodeType="clickEffect">
                                  <p:stCondLst>
                                    <p:cond delay="0"/>
                                  </p:stCondLst>
                                  <p:childTnLst>
                                    <p:set>
                                      <p:cBhvr>
                                        <p:cTn id="378" dur="1" fill="hold">
                                          <p:stCondLst>
                                            <p:cond delay="0"/>
                                          </p:stCondLst>
                                        </p:cTn>
                                        <p:tgtEl>
                                          <p:spTgt spid="10"/>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grpId="0" nodeType="clickEffect">
                                  <p:stCondLst>
                                    <p:cond delay="0"/>
                                  </p:stCondLst>
                                  <p:childTnLst>
                                    <p:set>
                                      <p:cBhvr>
                                        <p:cTn id="38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10" grpId="0" animBg="1"/>
      <p:bldP spid="12" grpId="0" animBg="1"/>
      <p:bldP spid="59" grpId="0" animBg="1"/>
      <p:bldP spid="11" grpId="0" animBg="1"/>
      <p:bldP spid="16" grpId="0" animBg="1"/>
      <p:bldP spid="17" grpId="0" animBg="1"/>
      <p:bldP spid="18" grpId="0" animBg="1"/>
      <p:bldP spid="20" grpId="0" animBg="1"/>
      <p:bldP spid="21" grpId="0" animBg="1"/>
      <p:bldP spid="22" grpId="0" animBg="1"/>
      <p:bldP spid="65" grpId="0" animBg="1"/>
      <p:bldP spid="66" grpId="0" animBg="1"/>
      <p:bldP spid="67" grpId="0" animBg="1"/>
      <p:bldP spid="68" grpId="0" animBg="1"/>
      <p:bldP spid="69" grpId="0" animBg="1"/>
      <p:bldP spid="70"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7"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8"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P spid="242" grpId="0" animBg="1"/>
      <p:bldP spid="243" grpId="0" animBg="1"/>
      <p:bldP spid="244" grpId="0" animBg="1"/>
      <p:bldP spid="247" grpId="0" animBg="1"/>
      <p:bldP spid="248" grpId="0" animBg="1"/>
      <p:bldP spid="249" grpId="0" animBg="1"/>
      <p:bldP spid="250" grpId="0" animBg="1"/>
      <p:bldP spid="251" grpId="0" animBg="1"/>
      <p:bldP spid="252" grpId="0" animBg="1"/>
      <p:bldP spid="253" grpId="0" animBg="1"/>
      <p:bldP spid="254" grpId="0" animBg="1"/>
      <p:bldP spid="259" grpId="0" animBg="1"/>
      <p:bldP spid="260" grpId="0" animBg="1"/>
      <p:bldP spid="261" grpId="0" animBg="1"/>
      <p:bldP spid="262" grpId="0" animBg="1"/>
      <p:bldP spid="263" grpId="0" animBg="1"/>
      <p:bldP spid="264" grpId="0" animBg="1"/>
      <p:bldP spid="271" grpId="0" animBg="1"/>
      <p:bldP spid="272" grpId="0" animBg="1"/>
      <p:bldP spid="273" grpId="0" animBg="1"/>
      <p:bldP spid="274" grpId="0" animBg="1"/>
      <p:bldP spid="281" grpId="0" animBg="1"/>
      <p:bldP spid="28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ector recto de flecha 4">
            <a:extLst>
              <a:ext uri="{FF2B5EF4-FFF2-40B4-BE49-F238E27FC236}">
                <a16:creationId xmlns:a16="http://schemas.microsoft.com/office/drawing/2014/main" id="{02E3E94C-C029-B0B1-59E6-8D5A404853E8}"/>
              </a:ext>
            </a:extLst>
          </p:cNvPr>
          <p:cNvCxnSpPr/>
          <p:nvPr/>
        </p:nvCxnSpPr>
        <p:spPr>
          <a:xfrm>
            <a:off x="1091444" y="6309320"/>
            <a:ext cx="81009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76392D90-1ACD-FB5F-B564-FDA17A4A1BCC}"/>
              </a:ext>
            </a:extLst>
          </p:cNvPr>
          <p:cNvCxnSpPr>
            <a:cxnSpLocks/>
          </p:cNvCxnSpPr>
          <p:nvPr/>
        </p:nvCxnSpPr>
        <p:spPr>
          <a:xfrm flipV="1">
            <a:off x="1055440" y="720080"/>
            <a:ext cx="24035" cy="56252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Elipse 7">
            <a:extLst>
              <a:ext uri="{FF2B5EF4-FFF2-40B4-BE49-F238E27FC236}">
                <a16:creationId xmlns:a16="http://schemas.microsoft.com/office/drawing/2014/main" id="{279AC440-751B-632A-F8A6-84AF6591044E}"/>
              </a:ext>
            </a:extLst>
          </p:cNvPr>
          <p:cNvSpPr/>
          <p:nvPr/>
        </p:nvSpPr>
        <p:spPr>
          <a:xfrm>
            <a:off x="1009721" y="3356992"/>
            <a:ext cx="81722" cy="720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Elipse 8">
            <a:extLst>
              <a:ext uri="{FF2B5EF4-FFF2-40B4-BE49-F238E27FC236}">
                <a16:creationId xmlns:a16="http://schemas.microsoft.com/office/drawing/2014/main" id="{6F437F7D-4514-EC3A-FFE0-AB666C3C2717}"/>
              </a:ext>
            </a:extLst>
          </p:cNvPr>
          <p:cNvSpPr/>
          <p:nvPr/>
        </p:nvSpPr>
        <p:spPr>
          <a:xfrm rot="3864592">
            <a:off x="6753331" y="6271226"/>
            <a:ext cx="81722" cy="720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1" name="Conector recto 10">
            <a:extLst>
              <a:ext uri="{FF2B5EF4-FFF2-40B4-BE49-F238E27FC236}">
                <a16:creationId xmlns:a16="http://schemas.microsoft.com/office/drawing/2014/main" id="{6701B804-D7EC-9463-1C1A-BAB5815B308D}"/>
              </a:ext>
            </a:extLst>
          </p:cNvPr>
          <p:cNvCxnSpPr>
            <a:cxnSpLocks/>
          </p:cNvCxnSpPr>
          <p:nvPr/>
        </p:nvCxnSpPr>
        <p:spPr>
          <a:xfrm>
            <a:off x="911424" y="3317060"/>
            <a:ext cx="6924737" cy="3517847"/>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E409DEC-DCED-A58F-1CE2-73FE6EA64925}"/>
              </a:ext>
            </a:extLst>
          </p:cNvPr>
          <p:cNvSpPr txBox="1"/>
          <p:nvPr/>
        </p:nvSpPr>
        <p:spPr>
          <a:xfrm>
            <a:off x="551386" y="3248980"/>
            <a:ext cx="422332" cy="369332"/>
          </a:xfrm>
          <a:prstGeom prst="rect">
            <a:avLst/>
          </a:prstGeom>
          <a:noFill/>
        </p:spPr>
        <p:txBody>
          <a:bodyPr wrap="square" rtlCol="0">
            <a:spAutoFit/>
          </a:bodyPr>
          <a:lstStyle/>
          <a:p>
            <a:r>
              <a:rPr lang="es-ES" dirty="0"/>
              <a:t>10</a:t>
            </a:r>
            <a:endParaRPr lang="es-PE" dirty="0"/>
          </a:p>
        </p:txBody>
      </p:sp>
      <p:sp>
        <p:nvSpPr>
          <p:cNvPr id="13" name="CuadroTexto 12">
            <a:extLst>
              <a:ext uri="{FF2B5EF4-FFF2-40B4-BE49-F238E27FC236}">
                <a16:creationId xmlns:a16="http://schemas.microsoft.com/office/drawing/2014/main" id="{1BA99DE8-21C5-A152-6044-7DA0F325C018}"/>
              </a:ext>
            </a:extLst>
          </p:cNvPr>
          <p:cNvSpPr txBox="1"/>
          <p:nvPr/>
        </p:nvSpPr>
        <p:spPr>
          <a:xfrm>
            <a:off x="6583026" y="6374065"/>
            <a:ext cx="422332" cy="369332"/>
          </a:xfrm>
          <a:prstGeom prst="rect">
            <a:avLst/>
          </a:prstGeom>
          <a:noFill/>
        </p:spPr>
        <p:txBody>
          <a:bodyPr wrap="square" rtlCol="0">
            <a:spAutoFit/>
          </a:bodyPr>
          <a:lstStyle/>
          <a:p>
            <a:r>
              <a:rPr lang="es-ES" dirty="0"/>
              <a:t>20</a:t>
            </a:r>
            <a:endParaRPr lang="es-PE" dirty="0"/>
          </a:p>
        </p:txBody>
      </p:sp>
      <p:sp>
        <p:nvSpPr>
          <p:cNvPr id="14" name="CuadroTexto 13">
            <a:extLst>
              <a:ext uri="{FF2B5EF4-FFF2-40B4-BE49-F238E27FC236}">
                <a16:creationId xmlns:a16="http://schemas.microsoft.com/office/drawing/2014/main" id="{607959B0-187D-D7DE-8DA0-C7BAB3BEF021}"/>
              </a:ext>
            </a:extLst>
          </p:cNvPr>
          <p:cNvSpPr txBox="1"/>
          <p:nvPr/>
        </p:nvSpPr>
        <p:spPr>
          <a:xfrm>
            <a:off x="3791744" y="6374065"/>
            <a:ext cx="422332" cy="369332"/>
          </a:xfrm>
          <a:prstGeom prst="rect">
            <a:avLst/>
          </a:prstGeom>
          <a:noFill/>
        </p:spPr>
        <p:txBody>
          <a:bodyPr wrap="square" rtlCol="0">
            <a:spAutoFit/>
          </a:bodyPr>
          <a:lstStyle/>
          <a:p>
            <a:r>
              <a:rPr lang="es-ES" dirty="0"/>
              <a:t>10</a:t>
            </a:r>
            <a:endParaRPr lang="es-PE" dirty="0"/>
          </a:p>
        </p:txBody>
      </p:sp>
      <p:sp>
        <p:nvSpPr>
          <p:cNvPr id="16" name="CuadroTexto 15">
            <a:extLst>
              <a:ext uri="{FF2B5EF4-FFF2-40B4-BE49-F238E27FC236}">
                <a16:creationId xmlns:a16="http://schemas.microsoft.com/office/drawing/2014/main" id="{A1D24964-71EF-046D-116E-46C3A8EECAEE}"/>
              </a:ext>
            </a:extLst>
          </p:cNvPr>
          <p:cNvSpPr txBox="1"/>
          <p:nvPr/>
        </p:nvSpPr>
        <p:spPr>
          <a:xfrm>
            <a:off x="551384" y="1772816"/>
            <a:ext cx="422332" cy="369332"/>
          </a:xfrm>
          <a:prstGeom prst="rect">
            <a:avLst/>
          </a:prstGeom>
          <a:noFill/>
        </p:spPr>
        <p:txBody>
          <a:bodyPr wrap="square" rtlCol="0">
            <a:spAutoFit/>
          </a:bodyPr>
          <a:lstStyle/>
          <a:p>
            <a:r>
              <a:rPr lang="es-ES" dirty="0"/>
              <a:t>15</a:t>
            </a:r>
            <a:endParaRPr lang="es-PE" dirty="0"/>
          </a:p>
        </p:txBody>
      </p:sp>
      <p:sp>
        <p:nvSpPr>
          <p:cNvPr id="17" name="Elipse 16">
            <a:extLst>
              <a:ext uri="{FF2B5EF4-FFF2-40B4-BE49-F238E27FC236}">
                <a16:creationId xmlns:a16="http://schemas.microsoft.com/office/drawing/2014/main" id="{547AF303-8296-8585-29E8-06FA5B56FF4B}"/>
              </a:ext>
            </a:extLst>
          </p:cNvPr>
          <p:cNvSpPr/>
          <p:nvPr/>
        </p:nvSpPr>
        <p:spPr>
          <a:xfrm>
            <a:off x="1055440" y="1952836"/>
            <a:ext cx="81722" cy="720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CuadroTexto 17">
            <a:extLst>
              <a:ext uri="{FF2B5EF4-FFF2-40B4-BE49-F238E27FC236}">
                <a16:creationId xmlns:a16="http://schemas.microsoft.com/office/drawing/2014/main" id="{EFEC683E-4B36-6537-0ACC-6EAE49DA062F}"/>
              </a:ext>
            </a:extLst>
          </p:cNvPr>
          <p:cNvSpPr txBox="1"/>
          <p:nvPr/>
        </p:nvSpPr>
        <p:spPr>
          <a:xfrm>
            <a:off x="5097604" y="6372036"/>
            <a:ext cx="422332" cy="369332"/>
          </a:xfrm>
          <a:prstGeom prst="rect">
            <a:avLst/>
          </a:prstGeom>
          <a:noFill/>
        </p:spPr>
        <p:txBody>
          <a:bodyPr wrap="square" rtlCol="0">
            <a:spAutoFit/>
          </a:bodyPr>
          <a:lstStyle/>
          <a:p>
            <a:r>
              <a:rPr lang="es-ES" dirty="0"/>
              <a:t>15</a:t>
            </a:r>
            <a:endParaRPr lang="es-PE" dirty="0"/>
          </a:p>
        </p:txBody>
      </p:sp>
      <p:sp>
        <p:nvSpPr>
          <p:cNvPr id="19" name="Elipse 18">
            <a:extLst>
              <a:ext uri="{FF2B5EF4-FFF2-40B4-BE49-F238E27FC236}">
                <a16:creationId xmlns:a16="http://schemas.microsoft.com/office/drawing/2014/main" id="{7BF974BE-17F5-FCAE-A5E3-B301C3C17F1C}"/>
              </a:ext>
            </a:extLst>
          </p:cNvPr>
          <p:cNvSpPr/>
          <p:nvPr/>
        </p:nvSpPr>
        <p:spPr>
          <a:xfrm rot="3864592">
            <a:off x="5349176" y="6289717"/>
            <a:ext cx="81722" cy="720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1" name="Conector recto 20">
            <a:extLst>
              <a:ext uri="{FF2B5EF4-FFF2-40B4-BE49-F238E27FC236}">
                <a16:creationId xmlns:a16="http://schemas.microsoft.com/office/drawing/2014/main" id="{D53BD9AA-2E8C-2BDB-0A4E-7AEBB27C866A}"/>
              </a:ext>
            </a:extLst>
          </p:cNvPr>
          <p:cNvCxnSpPr>
            <a:cxnSpLocks/>
          </p:cNvCxnSpPr>
          <p:nvPr/>
        </p:nvCxnSpPr>
        <p:spPr>
          <a:xfrm>
            <a:off x="1062963" y="1993381"/>
            <a:ext cx="4329177" cy="4387947"/>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23" name="Forma libre: forma 22">
            <a:extLst>
              <a:ext uri="{FF2B5EF4-FFF2-40B4-BE49-F238E27FC236}">
                <a16:creationId xmlns:a16="http://schemas.microsoft.com/office/drawing/2014/main" id="{6F812D59-1D18-030B-CEFC-B69E3BB40A58}"/>
              </a:ext>
            </a:extLst>
          </p:cNvPr>
          <p:cNvSpPr/>
          <p:nvPr/>
        </p:nvSpPr>
        <p:spPr>
          <a:xfrm>
            <a:off x="1076632" y="3406877"/>
            <a:ext cx="4321278" cy="2905433"/>
          </a:xfrm>
          <a:custGeom>
            <a:avLst/>
            <a:gdLst>
              <a:gd name="csX0" fmla="*/ 0 w 4321278"/>
              <a:gd name="csY0" fmla="*/ 0 h 2905433"/>
              <a:gd name="csX1" fmla="*/ 0 w 4321278"/>
              <a:gd name="csY1" fmla="*/ 2905433 h 2905433"/>
              <a:gd name="csX2" fmla="*/ 4321278 w 4321278"/>
              <a:gd name="csY2" fmla="*/ 2905433 h 2905433"/>
              <a:gd name="csX3" fmla="*/ 2890684 w 4321278"/>
              <a:gd name="csY3" fmla="*/ 1445342 h 2905433"/>
              <a:gd name="csX4" fmla="*/ 0 w 4321278"/>
              <a:gd name="csY4" fmla="*/ 0 h 2905433"/>
            </a:gdLst>
            <a:ahLst/>
            <a:cxnLst>
              <a:cxn ang="0">
                <a:pos x="csX0" y="csY0"/>
              </a:cxn>
              <a:cxn ang="0">
                <a:pos x="csX1" y="csY1"/>
              </a:cxn>
              <a:cxn ang="0">
                <a:pos x="csX2" y="csY2"/>
              </a:cxn>
              <a:cxn ang="0">
                <a:pos x="csX3" y="csY3"/>
              </a:cxn>
              <a:cxn ang="0">
                <a:pos x="csX4" y="csY4"/>
              </a:cxn>
            </a:cxnLst>
            <a:rect l="l" t="t" r="r" b="b"/>
            <a:pathLst>
              <a:path w="4321278" h="2905433">
                <a:moveTo>
                  <a:pt x="0" y="0"/>
                </a:moveTo>
                <a:lnTo>
                  <a:pt x="0" y="2905433"/>
                </a:lnTo>
                <a:lnTo>
                  <a:pt x="4321278" y="2905433"/>
                </a:lnTo>
                <a:lnTo>
                  <a:pt x="2890684" y="144534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Elipse 23">
            <a:extLst>
              <a:ext uri="{FF2B5EF4-FFF2-40B4-BE49-F238E27FC236}">
                <a16:creationId xmlns:a16="http://schemas.microsoft.com/office/drawing/2014/main" id="{F9BC3AE4-AE4E-EB15-0352-84B58E975D8C}"/>
              </a:ext>
            </a:extLst>
          </p:cNvPr>
          <p:cNvSpPr/>
          <p:nvPr/>
        </p:nvSpPr>
        <p:spPr>
          <a:xfrm>
            <a:off x="1019436" y="3969060"/>
            <a:ext cx="81722" cy="720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7" name="Conector recto 26">
            <a:extLst>
              <a:ext uri="{FF2B5EF4-FFF2-40B4-BE49-F238E27FC236}">
                <a16:creationId xmlns:a16="http://schemas.microsoft.com/office/drawing/2014/main" id="{4DB2082A-F667-DD8E-8FB7-634B8F51A190}"/>
              </a:ext>
            </a:extLst>
          </p:cNvPr>
          <p:cNvCxnSpPr>
            <a:stCxn id="24" idx="0"/>
            <a:endCxn id="14" idx="3"/>
          </p:cNvCxnSpPr>
          <p:nvPr/>
        </p:nvCxnSpPr>
        <p:spPr>
          <a:xfrm>
            <a:off x="1060297" y="3969060"/>
            <a:ext cx="3153779" cy="2589671"/>
          </a:xfrm>
          <a:prstGeom prst="line">
            <a:avLst/>
          </a:prstGeom>
          <a:ln w="317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B79A842E-0868-CDBF-5376-54D5B286DC2F}"/>
              </a:ext>
            </a:extLst>
          </p:cNvPr>
          <p:cNvCxnSpPr/>
          <p:nvPr/>
        </p:nvCxnSpPr>
        <p:spPr>
          <a:xfrm>
            <a:off x="2154991" y="3380312"/>
            <a:ext cx="3153779" cy="2589671"/>
          </a:xfrm>
          <a:prstGeom prst="line">
            <a:avLst/>
          </a:prstGeom>
          <a:ln w="317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65636861-0865-B551-9D80-C49D2DC86139}"/>
              </a:ext>
            </a:extLst>
          </p:cNvPr>
          <p:cNvCxnSpPr/>
          <p:nvPr/>
        </p:nvCxnSpPr>
        <p:spPr>
          <a:xfrm>
            <a:off x="1576014" y="3607046"/>
            <a:ext cx="3153779" cy="2589671"/>
          </a:xfrm>
          <a:prstGeom prst="line">
            <a:avLst/>
          </a:prstGeom>
          <a:ln w="317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76698F13-5DF4-728A-A680-EEEFA02C6F74}"/>
              </a:ext>
            </a:extLst>
          </p:cNvPr>
          <p:cNvCxnSpPr/>
          <p:nvPr/>
        </p:nvCxnSpPr>
        <p:spPr>
          <a:xfrm>
            <a:off x="1106015" y="3671790"/>
            <a:ext cx="3153779" cy="2589671"/>
          </a:xfrm>
          <a:prstGeom prst="line">
            <a:avLst/>
          </a:prstGeom>
          <a:ln w="317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E8939B43-ECB3-B0DE-381D-36EA7D55A855}"/>
              </a:ext>
            </a:extLst>
          </p:cNvPr>
          <p:cNvCxnSpPr/>
          <p:nvPr/>
        </p:nvCxnSpPr>
        <p:spPr>
          <a:xfrm flipV="1">
            <a:off x="3974335" y="4901881"/>
            <a:ext cx="0" cy="1447636"/>
          </a:xfrm>
          <a:prstGeom prst="line">
            <a:avLst/>
          </a:prstGeom>
          <a:ln/>
        </p:spPr>
        <p:style>
          <a:lnRef idx="1">
            <a:schemeClr val="dk1"/>
          </a:lnRef>
          <a:fillRef idx="0">
            <a:schemeClr val="dk1"/>
          </a:fillRef>
          <a:effectRef idx="0">
            <a:schemeClr val="dk1"/>
          </a:effectRef>
          <a:fontRef idx="minor">
            <a:schemeClr val="tx1"/>
          </a:fontRef>
        </p:style>
      </p:cxnSp>
      <p:cxnSp>
        <p:nvCxnSpPr>
          <p:cNvPr id="38" name="Conector recto 37">
            <a:extLst>
              <a:ext uri="{FF2B5EF4-FFF2-40B4-BE49-F238E27FC236}">
                <a16:creationId xmlns:a16="http://schemas.microsoft.com/office/drawing/2014/main" id="{169CEEE7-6C90-8B7A-DB1E-576072903E84}"/>
              </a:ext>
            </a:extLst>
          </p:cNvPr>
          <p:cNvCxnSpPr>
            <a:endCxn id="23" idx="3"/>
          </p:cNvCxnSpPr>
          <p:nvPr/>
        </p:nvCxnSpPr>
        <p:spPr>
          <a:xfrm flipV="1">
            <a:off x="1050582" y="4852219"/>
            <a:ext cx="2916734" cy="7374"/>
          </a:xfrm>
          <a:prstGeom prst="line">
            <a:avLst/>
          </a:prstGeom>
          <a:ln/>
        </p:spPr>
        <p:style>
          <a:lnRef idx="1">
            <a:schemeClr val="dk1"/>
          </a:lnRef>
          <a:fillRef idx="0">
            <a:schemeClr val="dk1"/>
          </a:fillRef>
          <a:effectRef idx="0">
            <a:schemeClr val="dk1"/>
          </a:effectRef>
          <a:fontRef idx="minor">
            <a:schemeClr val="tx1"/>
          </a:fontRef>
        </p:style>
      </p:cxnSp>
      <p:sp>
        <p:nvSpPr>
          <p:cNvPr id="39" name="CuadroTexto 38">
            <a:extLst>
              <a:ext uri="{FF2B5EF4-FFF2-40B4-BE49-F238E27FC236}">
                <a16:creationId xmlns:a16="http://schemas.microsoft.com/office/drawing/2014/main" id="{15A42D2E-5E5A-7C31-5405-644BCCA2CDBC}"/>
              </a:ext>
            </a:extLst>
          </p:cNvPr>
          <p:cNvSpPr txBox="1"/>
          <p:nvPr/>
        </p:nvSpPr>
        <p:spPr>
          <a:xfrm>
            <a:off x="543033" y="4597479"/>
            <a:ext cx="422332" cy="369332"/>
          </a:xfrm>
          <a:prstGeom prst="rect">
            <a:avLst/>
          </a:prstGeom>
          <a:noFill/>
        </p:spPr>
        <p:txBody>
          <a:bodyPr wrap="square" rtlCol="0">
            <a:spAutoFit/>
          </a:bodyPr>
          <a:lstStyle/>
          <a:p>
            <a:r>
              <a:rPr lang="es-ES" dirty="0"/>
              <a:t>5</a:t>
            </a:r>
            <a:endParaRPr lang="es-PE" dirty="0"/>
          </a:p>
        </p:txBody>
      </p:sp>
    </p:spTree>
    <p:extLst>
      <p:ext uri="{BB962C8B-B14F-4D97-AF65-F5344CB8AC3E}">
        <p14:creationId xmlns:p14="http://schemas.microsoft.com/office/powerpoint/2010/main" val="2403287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12171" y="1225628"/>
            <a:ext cx="5796354" cy="4524315"/>
          </a:xfrm>
          <a:prstGeom prst="rect">
            <a:avLst/>
          </a:prstGeom>
        </p:spPr>
        <p:txBody>
          <a:bodyPr wrap="square">
            <a:spAutoFit/>
          </a:bodyPr>
          <a:lstStyle/>
          <a:p>
            <a:pPr algn="just"/>
            <a:r>
              <a:rPr lang="es-ES" sz="2400" b="1" dirty="0">
                <a:latin typeface="Arial Narrow" pitchFamily="34" charset="0"/>
              </a:rPr>
              <a:t>Un comerciante acude a cierto mercado a comprar naranjas con 500 soles. Le ofrecen dos tipos de naranjas: las de tipo A a 0,5 soles el kg y las de tipo B a 0,8 soles el kg. Sabemos que solo dispone de una furgoneta de capacidad para transportar 700 kg de naranjas como máximo y que piensa vender el kilo de naranjas de tipo A a 0,58 soles y el de tipo B a 0,9 soles. Se pide el modelo matemático y resolver con el método gráfico. ¿Cuántos kilogramos de naranjas de cada tipo deberá comprar para obtener beneficio máximo?</a:t>
            </a:r>
            <a:endParaRPr lang="es-PE" sz="2400" b="1" dirty="0">
              <a:latin typeface="Arial Narrow" pitchFamily="34" charset="0"/>
            </a:endParaRPr>
          </a:p>
        </p:txBody>
      </p:sp>
      <p:sp>
        <p:nvSpPr>
          <p:cNvPr id="6" name="5 Rectángulo redondeado"/>
          <p:cNvSpPr/>
          <p:nvPr/>
        </p:nvSpPr>
        <p:spPr>
          <a:xfrm>
            <a:off x="6095999" y="130294"/>
            <a:ext cx="6096001"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Propuestos 2</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2" name="1 CuadroTexto"/>
          <p:cNvSpPr txBox="1"/>
          <p:nvPr/>
        </p:nvSpPr>
        <p:spPr>
          <a:xfrm>
            <a:off x="742223" y="257347"/>
            <a:ext cx="5266302" cy="523220"/>
          </a:xfrm>
          <a:prstGeom prst="rect">
            <a:avLst/>
          </a:prstGeom>
          <a:noFill/>
        </p:spPr>
        <p:txBody>
          <a:bodyPr wrap="square" rtlCol="0">
            <a:spAutoFit/>
          </a:bodyPr>
          <a:lstStyle/>
          <a:p>
            <a:pPr algn="ctr"/>
            <a:r>
              <a:rPr lang="es-ES" sz="2800" b="1" dirty="0"/>
              <a:t>Beneficio= Ingreso - Costo</a:t>
            </a:r>
          </a:p>
        </p:txBody>
      </p:sp>
      <p:graphicFrame>
        <p:nvGraphicFramePr>
          <p:cNvPr id="7" name="Tabla 10">
            <a:extLst>
              <a:ext uri="{FF2B5EF4-FFF2-40B4-BE49-F238E27FC236}">
                <a16:creationId xmlns:a16="http://schemas.microsoft.com/office/drawing/2014/main" id="{3AABC8B6-A062-4285-95B1-B08B16C64A36}"/>
              </a:ext>
            </a:extLst>
          </p:cNvPr>
          <p:cNvGraphicFramePr>
            <a:graphicFrameLocks noGrp="1"/>
          </p:cNvGraphicFramePr>
          <p:nvPr>
            <p:extLst>
              <p:ext uri="{D42A27DB-BD31-4B8C-83A1-F6EECF244321}">
                <p14:modId xmlns:p14="http://schemas.microsoft.com/office/powerpoint/2010/main" val="1906187362"/>
              </p:ext>
            </p:extLst>
          </p:nvPr>
        </p:nvGraphicFramePr>
        <p:xfrm>
          <a:off x="212171" y="5703535"/>
          <a:ext cx="5260552" cy="1135014"/>
        </p:xfrm>
        <a:graphic>
          <a:graphicData uri="http://schemas.openxmlformats.org/drawingml/2006/table">
            <a:tbl>
              <a:tblPr firstRow="1" bandRow="1">
                <a:tableStyleId>{5C22544A-7EE6-4342-B048-85BDC9FD1C3A}</a:tableStyleId>
              </a:tblPr>
              <a:tblGrid>
                <a:gridCol w="1315138">
                  <a:extLst>
                    <a:ext uri="{9D8B030D-6E8A-4147-A177-3AD203B41FA5}">
                      <a16:colId xmlns:a16="http://schemas.microsoft.com/office/drawing/2014/main" val="2603141456"/>
                    </a:ext>
                  </a:extLst>
                </a:gridCol>
                <a:gridCol w="1315138">
                  <a:extLst>
                    <a:ext uri="{9D8B030D-6E8A-4147-A177-3AD203B41FA5}">
                      <a16:colId xmlns:a16="http://schemas.microsoft.com/office/drawing/2014/main" val="2906902990"/>
                    </a:ext>
                  </a:extLst>
                </a:gridCol>
                <a:gridCol w="1315138">
                  <a:extLst>
                    <a:ext uri="{9D8B030D-6E8A-4147-A177-3AD203B41FA5}">
                      <a16:colId xmlns:a16="http://schemas.microsoft.com/office/drawing/2014/main" val="2585093220"/>
                    </a:ext>
                  </a:extLst>
                </a:gridCol>
                <a:gridCol w="1315138">
                  <a:extLst>
                    <a:ext uri="{9D8B030D-6E8A-4147-A177-3AD203B41FA5}">
                      <a16:colId xmlns:a16="http://schemas.microsoft.com/office/drawing/2014/main" val="1147658938"/>
                    </a:ext>
                  </a:extLst>
                </a:gridCol>
              </a:tblGrid>
              <a:tr h="378338">
                <a:tc>
                  <a:txBody>
                    <a:bodyPr/>
                    <a:lstStyle/>
                    <a:p>
                      <a:pPr algn="ctr"/>
                      <a:r>
                        <a:rPr lang="es-ES" b="1" dirty="0"/>
                        <a:t>Tipo</a:t>
                      </a:r>
                      <a:endParaRPr lang="es-PE" b="1" dirty="0"/>
                    </a:p>
                  </a:txBody>
                  <a:tcPr/>
                </a:tc>
                <a:tc>
                  <a:txBody>
                    <a:bodyPr/>
                    <a:lstStyle/>
                    <a:p>
                      <a:pPr algn="ctr"/>
                      <a:r>
                        <a:rPr lang="es-ES" b="1" dirty="0"/>
                        <a:t>Costo</a:t>
                      </a:r>
                      <a:endParaRPr lang="es-PE" b="1" dirty="0"/>
                    </a:p>
                  </a:txBody>
                  <a:tcPr/>
                </a:tc>
                <a:tc>
                  <a:txBody>
                    <a:bodyPr/>
                    <a:lstStyle/>
                    <a:p>
                      <a:pPr algn="ctr"/>
                      <a:r>
                        <a:rPr lang="es-ES" b="1" dirty="0"/>
                        <a:t>Precio</a:t>
                      </a:r>
                      <a:endParaRPr lang="es-PE" b="1" dirty="0"/>
                    </a:p>
                  </a:txBody>
                  <a:tcPr/>
                </a:tc>
                <a:tc>
                  <a:txBody>
                    <a:bodyPr/>
                    <a:lstStyle/>
                    <a:p>
                      <a:pPr algn="ctr"/>
                      <a:r>
                        <a:rPr lang="es-ES" b="1" dirty="0"/>
                        <a:t>Beneficio</a:t>
                      </a:r>
                      <a:endParaRPr lang="es-PE" b="1" dirty="0"/>
                    </a:p>
                  </a:txBody>
                  <a:tcPr/>
                </a:tc>
                <a:extLst>
                  <a:ext uri="{0D108BD9-81ED-4DB2-BD59-A6C34878D82A}">
                    <a16:rowId xmlns:a16="http://schemas.microsoft.com/office/drawing/2014/main" val="2457858109"/>
                  </a:ext>
                </a:extLst>
              </a:tr>
              <a:tr h="378338">
                <a:tc>
                  <a:txBody>
                    <a:bodyPr/>
                    <a:lstStyle/>
                    <a:p>
                      <a:pPr algn="ctr"/>
                      <a:r>
                        <a:rPr lang="es-ES" b="1" dirty="0" err="1"/>
                        <a:t>X1</a:t>
                      </a:r>
                      <a:endParaRPr lang="es-PE" b="1" dirty="0"/>
                    </a:p>
                  </a:txBody>
                  <a:tcPr/>
                </a:tc>
                <a:tc>
                  <a:txBody>
                    <a:bodyPr/>
                    <a:lstStyle/>
                    <a:p>
                      <a:pPr algn="ctr"/>
                      <a:r>
                        <a:rPr lang="es-ES" b="1" dirty="0"/>
                        <a:t>0,5</a:t>
                      </a:r>
                      <a:endParaRPr lang="es-PE" b="1" dirty="0"/>
                    </a:p>
                  </a:txBody>
                  <a:tcPr/>
                </a:tc>
                <a:tc>
                  <a:txBody>
                    <a:bodyPr/>
                    <a:lstStyle/>
                    <a:p>
                      <a:pPr algn="ctr"/>
                      <a:r>
                        <a:rPr lang="es-ES" b="1" dirty="0"/>
                        <a:t>0,58</a:t>
                      </a:r>
                      <a:endParaRPr lang="es-PE" b="1" dirty="0"/>
                    </a:p>
                  </a:txBody>
                  <a:tcPr/>
                </a:tc>
                <a:tc>
                  <a:txBody>
                    <a:bodyPr/>
                    <a:lstStyle/>
                    <a:p>
                      <a:pPr algn="ctr"/>
                      <a:r>
                        <a:rPr lang="es-ES" b="1" dirty="0"/>
                        <a:t>0,08</a:t>
                      </a:r>
                      <a:endParaRPr lang="es-PE" b="1" dirty="0"/>
                    </a:p>
                  </a:txBody>
                  <a:tcPr/>
                </a:tc>
                <a:extLst>
                  <a:ext uri="{0D108BD9-81ED-4DB2-BD59-A6C34878D82A}">
                    <a16:rowId xmlns:a16="http://schemas.microsoft.com/office/drawing/2014/main" val="3186285776"/>
                  </a:ext>
                </a:extLst>
              </a:tr>
              <a:tr h="378338">
                <a:tc>
                  <a:txBody>
                    <a:bodyPr/>
                    <a:lstStyle/>
                    <a:p>
                      <a:pPr algn="ctr"/>
                      <a:r>
                        <a:rPr lang="es-ES" b="1" dirty="0" err="1"/>
                        <a:t>X2</a:t>
                      </a:r>
                      <a:endParaRPr lang="es-PE" b="1" dirty="0"/>
                    </a:p>
                  </a:txBody>
                  <a:tcPr/>
                </a:tc>
                <a:tc>
                  <a:txBody>
                    <a:bodyPr/>
                    <a:lstStyle/>
                    <a:p>
                      <a:pPr algn="ctr"/>
                      <a:r>
                        <a:rPr lang="es-ES" b="1" dirty="0"/>
                        <a:t>0,8</a:t>
                      </a:r>
                      <a:endParaRPr lang="es-PE" b="1" dirty="0"/>
                    </a:p>
                  </a:txBody>
                  <a:tcPr/>
                </a:tc>
                <a:tc>
                  <a:txBody>
                    <a:bodyPr/>
                    <a:lstStyle/>
                    <a:p>
                      <a:pPr algn="ctr"/>
                      <a:r>
                        <a:rPr lang="es-ES" b="1" dirty="0"/>
                        <a:t>0,9</a:t>
                      </a:r>
                      <a:endParaRPr lang="es-PE" b="1" dirty="0"/>
                    </a:p>
                  </a:txBody>
                  <a:tcPr/>
                </a:tc>
                <a:tc>
                  <a:txBody>
                    <a:bodyPr/>
                    <a:lstStyle/>
                    <a:p>
                      <a:pPr algn="ctr"/>
                      <a:r>
                        <a:rPr lang="es-ES" b="1" dirty="0"/>
                        <a:t>0,10</a:t>
                      </a:r>
                      <a:endParaRPr lang="es-PE" b="1" dirty="0"/>
                    </a:p>
                  </a:txBody>
                  <a:tcPr/>
                </a:tc>
                <a:extLst>
                  <a:ext uri="{0D108BD9-81ED-4DB2-BD59-A6C34878D82A}">
                    <a16:rowId xmlns:a16="http://schemas.microsoft.com/office/drawing/2014/main" val="3635905985"/>
                  </a:ext>
                </a:extLst>
              </a:tr>
            </a:tbl>
          </a:graphicData>
        </a:graphic>
      </p:graphicFrame>
      <p:sp>
        <p:nvSpPr>
          <p:cNvPr id="9" name="Rectángulo 8">
            <a:extLst>
              <a:ext uri="{FF2B5EF4-FFF2-40B4-BE49-F238E27FC236}">
                <a16:creationId xmlns:a16="http://schemas.microsoft.com/office/drawing/2014/main" id="{147350DF-2D3E-4AF0-9109-EFC5FA4A9C30}"/>
              </a:ext>
            </a:extLst>
          </p:cNvPr>
          <p:cNvSpPr/>
          <p:nvPr/>
        </p:nvSpPr>
        <p:spPr>
          <a:xfrm>
            <a:off x="6316786" y="5380672"/>
            <a:ext cx="4300413" cy="1631216"/>
          </a:xfrm>
          <a:prstGeom prst="rect">
            <a:avLst/>
          </a:prstGeom>
          <a:solidFill>
            <a:schemeClr val="accent4">
              <a:lumMod val="20000"/>
              <a:lumOff val="80000"/>
            </a:schemeClr>
          </a:solidFill>
        </p:spPr>
        <p:txBody>
          <a:bodyPr wrap="square">
            <a:spAutoFit/>
          </a:bodyPr>
          <a:lstStyle/>
          <a:p>
            <a:r>
              <a:rPr lang="es-PE" sz="2000" b="1" dirty="0">
                <a:latin typeface="Arial Narrow" panose="020B0606020202030204" pitchFamily="34" charset="0"/>
              </a:rPr>
              <a:t> </a:t>
            </a:r>
            <a:r>
              <a:rPr lang="en-US" sz="2000" b="1" dirty="0">
                <a:latin typeface="Arial Narrow" panose="020B0606020202030204" pitchFamily="34" charset="0"/>
              </a:rPr>
              <a:t> OBJECTIVE FUNCTION VALUE</a:t>
            </a:r>
          </a:p>
          <a:p>
            <a:r>
              <a:rPr lang="en-US" sz="2000" b="1" dirty="0">
                <a:latin typeface="Arial Narrow" panose="020B0606020202030204" pitchFamily="34" charset="0"/>
              </a:rPr>
              <a:t>        1)      66.00000</a:t>
            </a:r>
          </a:p>
          <a:p>
            <a:r>
              <a:rPr lang="en-US" sz="2000" b="1" dirty="0">
                <a:latin typeface="Arial Narrow" panose="020B0606020202030204" pitchFamily="34" charset="0"/>
              </a:rPr>
              <a:t>  VARIABLE VALUE REDUCED COST</a:t>
            </a:r>
          </a:p>
          <a:p>
            <a:r>
              <a:rPr lang="en-US" sz="2000" b="1" dirty="0">
                <a:latin typeface="Arial Narrow" panose="020B0606020202030204" pitchFamily="34" charset="0"/>
              </a:rPr>
              <a:t>        </a:t>
            </a:r>
            <a:r>
              <a:rPr lang="en-US" sz="2000" b="1" dirty="0" err="1">
                <a:latin typeface="Arial Narrow" panose="020B0606020202030204" pitchFamily="34" charset="0"/>
              </a:rPr>
              <a:t>X1</a:t>
            </a:r>
            <a:r>
              <a:rPr lang="en-US" sz="2000" b="1" dirty="0">
                <a:latin typeface="Arial Narrow" panose="020B0606020202030204" pitchFamily="34" charset="0"/>
              </a:rPr>
              <a:t>       200.000000          0.000000</a:t>
            </a:r>
          </a:p>
          <a:p>
            <a:r>
              <a:rPr lang="en-US" sz="2000" b="1" dirty="0">
                <a:latin typeface="Arial Narrow" panose="020B0606020202030204" pitchFamily="34" charset="0"/>
              </a:rPr>
              <a:t>        </a:t>
            </a:r>
            <a:r>
              <a:rPr lang="en-US" sz="2000" b="1" dirty="0" err="1">
                <a:latin typeface="Arial Narrow" panose="020B0606020202030204" pitchFamily="34" charset="0"/>
              </a:rPr>
              <a:t>X2</a:t>
            </a:r>
            <a:r>
              <a:rPr lang="en-US" sz="2000" b="1" dirty="0">
                <a:latin typeface="Arial Narrow" panose="020B0606020202030204" pitchFamily="34" charset="0"/>
              </a:rPr>
              <a:t>       500.000000          0.000000</a:t>
            </a:r>
            <a:endParaRPr lang="es-PE" sz="2000" b="1" dirty="0">
              <a:latin typeface="Arial Narrow" panose="020B0606020202030204" pitchFamily="34" charset="0"/>
            </a:endParaRPr>
          </a:p>
        </p:txBody>
      </p:sp>
      <p:sp>
        <p:nvSpPr>
          <p:cNvPr id="11" name="4 Rectángulo">
            <a:extLst>
              <a:ext uri="{FF2B5EF4-FFF2-40B4-BE49-F238E27FC236}">
                <a16:creationId xmlns:a16="http://schemas.microsoft.com/office/drawing/2014/main" id="{17921AE0-EFC6-42D5-93EA-AD6256CB01F4}"/>
              </a:ext>
            </a:extLst>
          </p:cNvPr>
          <p:cNvSpPr/>
          <p:nvPr/>
        </p:nvSpPr>
        <p:spPr>
          <a:xfrm>
            <a:off x="6310349" y="1370486"/>
            <a:ext cx="5668857" cy="1200329"/>
          </a:xfrm>
          <a:prstGeom prst="rect">
            <a:avLst/>
          </a:prstGeom>
          <a:solidFill>
            <a:srgbClr val="FFC000"/>
          </a:solidFill>
        </p:spPr>
        <p:txBody>
          <a:bodyPr wrap="square">
            <a:spAutoFit/>
          </a:bodyPr>
          <a:lstStyle/>
          <a:p>
            <a:pPr marL="400050" indent="-400050" algn="just" fontAlgn="base">
              <a:spcBef>
                <a:spcPct val="0"/>
              </a:spcBef>
              <a:spcAft>
                <a:spcPct val="0"/>
              </a:spcAft>
              <a:buAutoNum type="romanUcPeriod"/>
            </a:pPr>
            <a:r>
              <a:rPr lang="es-PE" sz="2400" b="1" dirty="0">
                <a:solidFill>
                  <a:srgbClr val="FF0000"/>
                </a:solidFill>
                <a:latin typeface="Arial Narrow" pitchFamily="34" charset="0"/>
                <a:ea typeface="Calibri" pitchFamily="34" charset="0"/>
                <a:cs typeface="Arial" pitchFamily="34" charset="0"/>
              </a:rPr>
              <a:t> Identificación de variables</a:t>
            </a:r>
          </a:p>
          <a:p>
            <a:pPr marL="449263" algn="just" fontAlgn="base">
              <a:spcBef>
                <a:spcPct val="0"/>
              </a:spcBef>
              <a:spcAft>
                <a:spcPct val="0"/>
              </a:spcAft>
            </a:pPr>
            <a:r>
              <a:rPr lang="es-PE" sz="2400" b="1" dirty="0">
                <a:latin typeface="Arial Narrow" pitchFamily="34" charset="0"/>
                <a:ea typeface="Calibri" pitchFamily="34" charset="0"/>
                <a:cs typeface="Arial" pitchFamily="34" charset="0"/>
              </a:rPr>
              <a:t>Xi = Número Kg. de naranjas tipo i a comprar</a:t>
            </a:r>
          </a:p>
        </p:txBody>
      </p:sp>
      <p:sp>
        <p:nvSpPr>
          <p:cNvPr id="12" name="Rectángulo 11">
            <a:extLst>
              <a:ext uri="{FF2B5EF4-FFF2-40B4-BE49-F238E27FC236}">
                <a16:creationId xmlns:a16="http://schemas.microsoft.com/office/drawing/2014/main" id="{2F126AB0-857D-4F69-9884-92ECED83B904}"/>
              </a:ext>
            </a:extLst>
          </p:cNvPr>
          <p:cNvSpPr/>
          <p:nvPr/>
        </p:nvSpPr>
        <p:spPr>
          <a:xfrm>
            <a:off x="6316787" y="3440794"/>
            <a:ext cx="5662419" cy="1569660"/>
          </a:xfrm>
          <a:prstGeom prst="rect">
            <a:avLst/>
          </a:prstGeom>
          <a:solidFill>
            <a:srgbClr val="FFC000"/>
          </a:solidFill>
        </p:spPr>
        <p:txBody>
          <a:bodyPr wrap="square">
            <a:spAutoFit/>
          </a:bodyPr>
          <a:lstStyle/>
          <a:p>
            <a:pPr lvl="0" algn="just" eaLnBrk="0" fontAlgn="base" hangingPunct="0">
              <a:spcBef>
                <a:spcPct val="0"/>
              </a:spcBef>
              <a:spcAft>
                <a:spcPct val="0"/>
              </a:spcAft>
            </a:pPr>
            <a:r>
              <a:rPr lang="es-PE" sz="2400" b="1" dirty="0">
                <a:solidFill>
                  <a:srgbClr val="FF0000"/>
                </a:solidFill>
                <a:latin typeface="Arial Narrow" pitchFamily="34" charset="0"/>
                <a:ea typeface="Calibri" pitchFamily="34" charset="0"/>
                <a:cs typeface="Arial" pitchFamily="34" charset="0"/>
              </a:rPr>
              <a:t>III.   Identificación de las restricciones</a:t>
            </a:r>
            <a:endParaRPr lang="es-PE" sz="2400" b="1"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400" b="1" dirty="0" err="1">
                <a:latin typeface="Arial Narrow" pitchFamily="34" charset="0"/>
                <a:ea typeface="Calibri" pitchFamily="34" charset="0"/>
                <a:cs typeface="Arial" pitchFamily="34" charset="0"/>
              </a:rPr>
              <a:t>0,5X1</a:t>
            </a:r>
            <a:r>
              <a:rPr lang="es-PE" sz="2400" b="1" dirty="0">
                <a:latin typeface="Arial Narrow" pitchFamily="34" charset="0"/>
                <a:ea typeface="Calibri" pitchFamily="34" charset="0"/>
                <a:cs typeface="Arial" pitchFamily="34" charset="0"/>
              </a:rPr>
              <a:t> + </a:t>
            </a:r>
            <a:r>
              <a:rPr lang="es-PE" sz="2400" b="1" dirty="0" err="1">
                <a:latin typeface="Arial Narrow" pitchFamily="34" charset="0"/>
                <a:ea typeface="Calibri" pitchFamily="34" charset="0"/>
                <a:cs typeface="Arial" pitchFamily="34" charset="0"/>
              </a:rPr>
              <a:t>0,8X2</a:t>
            </a:r>
            <a:r>
              <a:rPr lang="es-PE" sz="2400" b="1" dirty="0">
                <a:latin typeface="Arial Narrow" pitchFamily="34" charset="0"/>
              </a:rPr>
              <a:t> ≤ 500</a:t>
            </a:r>
            <a:endParaRPr lang="es-PE" sz="2400" b="1" dirty="0">
              <a:latin typeface="Arial Narrow" pitchFamily="34" charset="0"/>
              <a:ea typeface="Calibri" pitchFamily="34" charset="0"/>
              <a:cs typeface="Arial" pitchFamily="34" charset="0"/>
            </a:endParaRPr>
          </a:p>
          <a:p>
            <a:pPr indent="449263" algn="just" eaLnBrk="0" fontAlgn="base" hangingPunct="0">
              <a:spcBef>
                <a:spcPct val="0"/>
              </a:spcBef>
              <a:spcAft>
                <a:spcPct val="0"/>
              </a:spcAft>
            </a:pPr>
            <a:r>
              <a:rPr lang="es-PE" sz="2400" b="1" dirty="0">
                <a:latin typeface="Arial Narrow" pitchFamily="34" charset="0"/>
                <a:ea typeface="Calibri" pitchFamily="34" charset="0"/>
                <a:cs typeface="Arial" pitchFamily="34" charset="0"/>
              </a:rPr>
              <a:t>     </a:t>
            </a:r>
            <a:r>
              <a:rPr lang="es-PE" sz="2400" b="1" dirty="0" err="1">
                <a:latin typeface="Arial Narrow" pitchFamily="34" charset="0"/>
                <a:ea typeface="Calibri" pitchFamily="34" charset="0"/>
                <a:cs typeface="Arial" pitchFamily="34" charset="0"/>
              </a:rPr>
              <a:t>X1</a:t>
            </a:r>
            <a:r>
              <a:rPr lang="es-PE" sz="2400" b="1" dirty="0">
                <a:latin typeface="Arial Narrow" pitchFamily="34" charset="0"/>
                <a:ea typeface="Calibri" pitchFamily="34" charset="0"/>
                <a:cs typeface="Arial" pitchFamily="34" charset="0"/>
              </a:rPr>
              <a:t> + </a:t>
            </a:r>
            <a:r>
              <a:rPr lang="es-PE" sz="2400" b="1" dirty="0" err="1">
                <a:latin typeface="Arial Narrow" pitchFamily="34" charset="0"/>
                <a:ea typeface="Calibri" pitchFamily="34" charset="0"/>
                <a:cs typeface="Arial" pitchFamily="34" charset="0"/>
              </a:rPr>
              <a:t>X2</a:t>
            </a:r>
            <a:r>
              <a:rPr lang="es-PE" sz="2400" b="1" dirty="0">
                <a:latin typeface="Arial Narrow" pitchFamily="34" charset="0"/>
              </a:rPr>
              <a:t>   ≤ </a:t>
            </a:r>
            <a:r>
              <a:rPr lang="es-PE" sz="2400" b="1" dirty="0">
                <a:latin typeface="Arial Narrow" pitchFamily="34" charset="0"/>
                <a:ea typeface="Calibri" pitchFamily="34" charset="0"/>
                <a:cs typeface="Arial" pitchFamily="34" charset="0"/>
              </a:rPr>
              <a:t> 700</a:t>
            </a:r>
            <a:endParaRPr lang="es-PE" sz="2400" b="1" dirty="0">
              <a:latin typeface="Arial Narrow" pitchFamily="34" charset="0"/>
              <a:cs typeface="Arial" pitchFamily="34" charset="0"/>
            </a:endParaRPr>
          </a:p>
          <a:p>
            <a:pPr indent="449263" algn="just" eaLnBrk="0" fontAlgn="base" hangingPunct="0">
              <a:spcBef>
                <a:spcPct val="0"/>
              </a:spcBef>
              <a:spcAft>
                <a:spcPct val="0"/>
              </a:spcAft>
            </a:pPr>
            <a:r>
              <a:rPr lang="es-ES" sz="2400" b="1" dirty="0">
                <a:latin typeface="Arial Narrow" pitchFamily="34" charset="0"/>
                <a:cs typeface="Arial" pitchFamily="34" charset="0"/>
              </a:rPr>
              <a:t>       </a:t>
            </a:r>
            <a:r>
              <a:rPr lang="es-ES" sz="2400" b="1" dirty="0" err="1">
                <a:latin typeface="Arial Narrow" pitchFamily="34" charset="0"/>
                <a:cs typeface="Arial" pitchFamily="34" charset="0"/>
              </a:rPr>
              <a:t>X1</a:t>
            </a:r>
            <a:r>
              <a:rPr lang="es-ES" sz="2400" b="1" dirty="0">
                <a:latin typeface="Arial Narrow" pitchFamily="34" charset="0"/>
                <a:cs typeface="Arial" pitchFamily="34" charset="0"/>
              </a:rPr>
              <a:t>,  </a:t>
            </a:r>
            <a:r>
              <a:rPr lang="es-ES" sz="2400" b="1" dirty="0" err="1">
                <a:latin typeface="Arial Narrow" pitchFamily="34" charset="0"/>
                <a:cs typeface="Arial" pitchFamily="34" charset="0"/>
              </a:rPr>
              <a:t>X2</a:t>
            </a:r>
            <a:r>
              <a:rPr lang="es-ES" sz="2400" b="1" dirty="0">
                <a:latin typeface="Arial Narrow" pitchFamily="34" charset="0"/>
                <a:cs typeface="Arial" pitchFamily="34" charset="0"/>
              </a:rPr>
              <a:t>  ≥  0</a:t>
            </a:r>
            <a:endParaRPr lang="es-PE" sz="2400" dirty="0"/>
          </a:p>
        </p:txBody>
      </p:sp>
      <p:sp>
        <p:nvSpPr>
          <p:cNvPr id="13" name="Rectángulo 12">
            <a:extLst>
              <a:ext uri="{FF2B5EF4-FFF2-40B4-BE49-F238E27FC236}">
                <a16:creationId xmlns:a16="http://schemas.microsoft.com/office/drawing/2014/main" id="{73A790E4-10BB-4B24-8EB2-D9BDF46648AE}"/>
              </a:ext>
            </a:extLst>
          </p:cNvPr>
          <p:cNvSpPr/>
          <p:nvPr/>
        </p:nvSpPr>
        <p:spPr>
          <a:xfrm>
            <a:off x="6314536" y="2594972"/>
            <a:ext cx="5665517" cy="830997"/>
          </a:xfrm>
          <a:prstGeom prst="rect">
            <a:avLst/>
          </a:prstGeom>
          <a:solidFill>
            <a:srgbClr val="FFC000"/>
          </a:solidFill>
        </p:spPr>
        <p:txBody>
          <a:bodyPr wrap="square">
            <a:spAutoFit/>
          </a:bodyPr>
          <a:lstStyle/>
          <a:p>
            <a:pPr marL="449263" indent="-449263" algn="just" fontAlgn="base">
              <a:spcBef>
                <a:spcPct val="0"/>
              </a:spcBef>
              <a:spcAft>
                <a:spcPct val="0"/>
              </a:spcAft>
              <a:buAutoNum type="romanUcPeriod" startAt="2"/>
            </a:pPr>
            <a:r>
              <a:rPr lang="es-PE" sz="2400" b="1" dirty="0">
                <a:solidFill>
                  <a:srgbClr val="FF0000"/>
                </a:solidFill>
                <a:latin typeface="Arial Narrow" pitchFamily="34" charset="0"/>
                <a:ea typeface="Calibri" pitchFamily="34" charset="0"/>
                <a:cs typeface="Arial" pitchFamily="34" charset="0"/>
              </a:rPr>
              <a:t>Identificación de la Función Objetivo</a:t>
            </a:r>
            <a:endParaRPr lang="es-PE" sz="2400" b="1" dirty="0">
              <a:solidFill>
                <a:srgbClr val="FF0000"/>
              </a:solidFill>
              <a:latin typeface="Arial Narrow" pitchFamily="34" charset="0"/>
              <a:cs typeface="Arial" pitchFamily="34" charset="0"/>
            </a:endParaRPr>
          </a:p>
          <a:p>
            <a:pPr marL="449263" indent="-449263" algn="just" fontAlgn="base">
              <a:spcBef>
                <a:spcPct val="0"/>
              </a:spcBef>
              <a:spcAft>
                <a:spcPct val="0"/>
              </a:spcAft>
            </a:pPr>
            <a:r>
              <a:rPr lang="en-US" sz="2400" b="1" dirty="0">
                <a:latin typeface="Arial Narrow" pitchFamily="34" charset="0"/>
                <a:ea typeface="Calibri" pitchFamily="34" charset="0"/>
                <a:cs typeface="Arial" pitchFamily="34" charset="0"/>
              </a:rPr>
              <a:t>	Max 0,0</a:t>
            </a:r>
            <a:r>
              <a:rPr lang="es-ES" sz="2400" b="1" dirty="0" err="1">
                <a:latin typeface="Arial Narrow" pitchFamily="34" charset="0"/>
                <a:ea typeface="Calibri" pitchFamily="34" charset="0"/>
                <a:cs typeface="Arial" pitchFamily="34" charset="0"/>
              </a:rPr>
              <a:t>8X1+0,10X2</a:t>
            </a:r>
            <a:endParaRPr lang="es-PE" sz="2400" b="1" dirty="0">
              <a:latin typeface="Arial Narrow" pitchFamily="34" charset="0"/>
              <a:cs typeface="Arial" pitchFamily="34" charset="0"/>
            </a:endParaRPr>
          </a:p>
        </p:txBody>
      </p:sp>
      <p:sp>
        <p:nvSpPr>
          <p:cNvPr id="8" name="3 Rectángulo">
            <a:extLst>
              <a:ext uri="{FF2B5EF4-FFF2-40B4-BE49-F238E27FC236}">
                <a16:creationId xmlns:a16="http://schemas.microsoft.com/office/drawing/2014/main" id="{AE9DA2DD-E796-4710-B907-9EFDDDCE1C76}"/>
              </a:ext>
            </a:extLst>
          </p:cNvPr>
          <p:cNvSpPr/>
          <p:nvPr/>
        </p:nvSpPr>
        <p:spPr>
          <a:xfrm>
            <a:off x="9145556" y="4180283"/>
            <a:ext cx="2833650" cy="1569660"/>
          </a:xfrm>
          <a:prstGeom prst="rect">
            <a:avLst/>
          </a:prstGeom>
          <a:solidFill>
            <a:srgbClr val="FFFF00"/>
          </a:solidFill>
        </p:spPr>
        <p:txBody>
          <a:bodyPr wrap="square">
            <a:spAutoFit/>
          </a:bodyPr>
          <a:lstStyle/>
          <a:p>
            <a:pPr algn="just" fontAlgn="base">
              <a:spcBef>
                <a:spcPct val="0"/>
              </a:spcBef>
              <a:spcAft>
                <a:spcPct val="0"/>
              </a:spcAft>
            </a:pPr>
            <a:r>
              <a:rPr lang="es-PE" sz="2400" b="1" dirty="0">
                <a:latin typeface="Arial Narrow" panose="020B0606020202030204" pitchFamily="34" charset="0"/>
                <a:ea typeface="Calibri" pitchFamily="34" charset="0"/>
                <a:cs typeface="Arial" pitchFamily="34" charset="0"/>
              </a:rPr>
              <a:t>MAX  </a:t>
            </a:r>
            <a:r>
              <a:rPr lang="es-PE" sz="2400" b="1" dirty="0" err="1">
                <a:latin typeface="Arial Narrow" panose="020B0606020202030204" pitchFamily="34" charset="0"/>
                <a:ea typeface="Calibri" pitchFamily="34" charset="0"/>
                <a:cs typeface="Arial" pitchFamily="34" charset="0"/>
              </a:rPr>
              <a:t>0,08X1+0,10X2</a:t>
            </a:r>
            <a:endParaRPr lang="es-PE" sz="2400" b="1" dirty="0">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PE" sz="2400" b="1" dirty="0" err="1">
                <a:solidFill>
                  <a:srgbClr val="FF0000"/>
                </a:solidFill>
                <a:latin typeface="Arial Narrow" panose="020B0606020202030204" pitchFamily="34" charset="0"/>
                <a:ea typeface="Calibri" pitchFamily="34" charset="0"/>
                <a:cs typeface="Arial" pitchFamily="34" charset="0"/>
              </a:rPr>
              <a:t>ST</a:t>
            </a:r>
            <a:endParaRPr lang="es-PE" sz="2400" b="1" dirty="0">
              <a:solidFill>
                <a:srgbClr val="FF0000"/>
              </a:solidFill>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PE" sz="2400" b="1" dirty="0">
                <a:solidFill>
                  <a:srgbClr val="FF0000"/>
                </a:solidFill>
                <a:latin typeface="Arial Narrow" panose="020B0606020202030204" pitchFamily="34" charset="0"/>
                <a:ea typeface="Calibri" pitchFamily="34" charset="0"/>
                <a:cs typeface="Arial" pitchFamily="34" charset="0"/>
              </a:rPr>
              <a:t>   </a:t>
            </a:r>
            <a:r>
              <a:rPr lang="es-PE" sz="2400" b="1" dirty="0" err="1">
                <a:latin typeface="Arial Narrow" panose="020B0606020202030204" pitchFamily="34" charset="0"/>
                <a:ea typeface="Calibri" pitchFamily="34" charset="0"/>
                <a:cs typeface="Arial" pitchFamily="34" charset="0"/>
              </a:rPr>
              <a:t>0,5X1+0,8X2</a:t>
            </a:r>
            <a:r>
              <a:rPr lang="es-PE" sz="2400" b="1" dirty="0">
                <a:latin typeface="Arial Narrow" panose="020B0606020202030204" pitchFamily="34" charset="0"/>
                <a:ea typeface="Calibri" pitchFamily="34" charset="0"/>
                <a:cs typeface="Arial" pitchFamily="34" charset="0"/>
              </a:rPr>
              <a:t>&lt;=500</a:t>
            </a:r>
          </a:p>
          <a:p>
            <a:pPr marL="449263" indent="-449263" algn="just" fontAlgn="base">
              <a:spcBef>
                <a:spcPct val="0"/>
              </a:spcBef>
              <a:spcAft>
                <a:spcPct val="0"/>
              </a:spcAft>
            </a:pPr>
            <a:r>
              <a:rPr lang="es-PE" sz="2400" b="1" dirty="0">
                <a:latin typeface="Arial Narrow" panose="020B0606020202030204" pitchFamily="34" charset="0"/>
                <a:ea typeface="Calibri" pitchFamily="34" charset="0"/>
                <a:cs typeface="Arial" pitchFamily="34" charset="0"/>
              </a:rPr>
              <a:t>            </a:t>
            </a:r>
            <a:r>
              <a:rPr lang="es-PE" sz="2400" b="1" dirty="0" err="1">
                <a:latin typeface="Arial Narrow" panose="020B0606020202030204" pitchFamily="34" charset="0"/>
                <a:ea typeface="Calibri" pitchFamily="34" charset="0"/>
                <a:cs typeface="Arial" pitchFamily="34" charset="0"/>
              </a:rPr>
              <a:t>X1+X2</a:t>
            </a:r>
            <a:r>
              <a:rPr lang="es-PE" sz="2400" b="1" dirty="0">
                <a:latin typeface="Arial Narrow" panose="020B0606020202030204" pitchFamily="34" charset="0"/>
                <a:ea typeface="Calibri" pitchFamily="34" charset="0"/>
                <a:cs typeface="Arial" pitchFamily="34" charset="0"/>
              </a:rPr>
              <a:t> &lt;=700</a:t>
            </a:r>
          </a:p>
        </p:txBody>
      </p:sp>
    </p:spTree>
    <p:extLst>
      <p:ext uri="{BB962C8B-B14F-4D97-AF65-F5344CB8AC3E}">
        <p14:creationId xmlns:p14="http://schemas.microsoft.com/office/powerpoint/2010/main" val="19702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1" grpId="0" animBg="1"/>
      <p:bldP spid="12" grpId="0" animBg="1"/>
      <p:bldP spid="13"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6096000" y="230832"/>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pic>
        <p:nvPicPr>
          <p:cNvPr id="5" name="image3.jpeg"/>
          <p:cNvPicPr/>
          <p:nvPr/>
        </p:nvPicPr>
        <p:blipFill>
          <a:blip r:embed="rId2" cstate="print"/>
          <a:stretch>
            <a:fillRect/>
          </a:stretch>
        </p:blipFill>
        <p:spPr>
          <a:xfrm>
            <a:off x="5488295" y="4150333"/>
            <a:ext cx="3127985" cy="2615099"/>
          </a:xfrm>
          <a:prstGeom prst="rect">
            <a:avLst/>
          </a:prstGeom>
        </p:spPr>
      </p:pic>
      <p:graphicFrame>
        <p:nvGraphicFramePr>
          <p:cNvPr id="4" name="Table 16"/>
          <p:cNvGraphicFramePr/>
          <p:nvPr/>
        </p:nvGraphicFramePr>
        <p:xfrm>
          <a:off x="1207698" y="1402080"/>
          <a:ext cx="4275473" cy="2529840"/>
        </p:xfrm>
        <a:graphic>
          <a:graphicData uri="http://schemas.openxmlformats.org/drawingml/2006/table">
            <a:tbl>
              <a:tblPr/>
              <a:tblGrid>
                <a:gridCol w="4275473">
                  <a:extLst>
                    <a:ext uri="{9D8B030D-6E8A-4147-A177-3AD203B41FA5}">
                      <a16:colId xmlns:a16="http://schemas.microsoft.com/office/drawing/2014/main" val="20000"/>
                    </a:ext>
                  </a:extLst>
                </a:gridCol>
              </a:tblGrid>
              <a:tr h="2335268">
                <a:tc>
                  <a:txBody>
                    <a:bodyPr/>
                    <a:lstStyle/>
                    <a:p>
                      <a:pPr marL="631800" indent="-631080">
                        <a:lnSpc>
                          <a:spcPct val="100000"/>
                        </a:lnSpc>
                      </a:pPr>
                      <a:r>
                        <a:rPr lang="es-PE" sz="2000" b="1" strike="noStrike" spc="-1" dirty="0">
                          <a:solidFill>
                            <a:schemeClr val="bg2">
                              <a:lumMod val="10000"/>
                            </a:schemeClr>
                          </a:solidFill>
                          <a:latin typeface="Arial Narrow" panose="020B0606020202030204" pitchFamily="34" charset="0"/>
                        </a:rPr>
                        <a:t>SOLUCIÓN</a:t>
                      </a:r>
                    </a:p>
                    <a:p>
                      <a:pPr marL="631800" indent="-631080">
                        <a:lnSpc>
                          <a:spcPct val="100000"/>
                        </a:lnSpc>
                      </a:pPr>
                      <a:r>
                        <a:rPr lang="es-PE" sz="2000" b="1" strike="noStrike" spc="-1" dirty="0">
                          <a:solidFill>
                            <a:schemeClr val="bg2">
                              <a:lumMod val="10000"/>
                            </a:schemeClr>
                          </a:solidFill>
                          <a:latin typeface="Arial Narrow" panose="020B0606020202030204" pitchFamily="34" charset="0"/>
                        </a:rPr>
                        <a:t>PASO 1: Graficando las restricciones:</a:t>
                      </a:r>
                    </a:p>
                    <a:p>
                      <a:pPr marL="914400" indent="-513720">
                        <a:lnSpc>
                          <a:spcPct val="100000"/>
                        </a:lnSpc>
                      </a:pP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 +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 = 700  (I)</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=700</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=700</a:t>
                      </a:r>
                    </a:p>
                    <a:p>
                      <a:pPr marL="914400" indent="-513720">
                        <a:lnSpc>
                          <a:spcPct val="100000"/>
                        </a:lnSpc>
                      </a:pPr>
                      <a:r>
                        <a:rPr lang="es-PE" sz="2000" b="1" strike="noStrike" spc="-1" dirty="0" err="1">
                          <a:solidFill>
                            <a:schemeClr val="bg2">
                              <a:lumMod val="10000"/>
                            </a:schemeClr>
                          </a:solidFill>
                          <a:latin typeface="Arial Narrow" panose="020B0606020202030204" pitchFamily="34" charset="0"/>
                        </a:rPr>
                        <a:t>0,5X1</a:t>
                      </a:r>
                      <a:r>
                        <a:rPr lang="es-PE" sz="2000" b="1" strike="noStrike" spc="-1" dirty="0">
                          <a:solidFill>
                            <a:schemeClr val="bg2">
                              <a:lumMod val="10000"/>
                            </a:schemeClr>
                          </a:solidFill>
                          <a:latin typeface="Arial Narrow" panose="020B0606020202030204" pitchFamily="34" charset="0"/>
                        </a:rPr>
                        <a:t> +  </a:t>
                      </a:r>
                      <a:r>
                        <a:rPr lang="es-PE" sz="2000" b="1" strike="noStrike" spc="-1" dirty="0" err="1">
                          <a:solidFill>
                            <a:schemeClr val="bg2">
                              <a:lumMod val="10000"/>
                            </a:schemeClr>
                          </a:solidFill>
                          <a:latin typeface="Arial Narrow" panose="020B0606020202030204" pitchFamily="34" charset="0"/>
                        </a:rPr>
                        <a:t>0,8X2</a:t>
                      </a:r>
                      <a:r>
                        <a:rPr lang="es-PE" sz="2000" b="1" strike="noStrike" spc="-1" dirty="0">
                          <a:solidFill>
                            <a:schemeClr val="bg2">
                              <a:lumMod val="10000"/>
                            </a:schemeClr>
                          </a:solidFill>
                          <a:latin typeface="Arial Narrow" panose="020B0606020202030204" pitchFamily="34" charset="0"/>
                        </a:rPr>
                        <a:t> =500  (II)</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=625</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=1000</a:t>
                      </a:r>
                    </a:p>
                  </a:txBody>
                  <a:tcPr>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bl>
          </a:graphicData>
        </a:graphic>
      </p:graphicFrame>
      <p:cxnSp>
        <p:nvCxnSpPr>
          <p:cNvPr id="6" name="5 Conector recto"/>
          <p:cNvCxnSpPr/>
          <p:nvPr/>
        </p:nvCxnSpPr>
        <p:spPr>
          <a:xfrm>
            <a:off x="5632311" y="4150332"/>
            <a:ext cx="2839953" cy="252028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a:off x="5519936" y="4438364"/>
            <a:ext cx="2839953" cy="252028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8572782" y="4096322"/>
            <a:ext cx="3036741" cy="2862322"/>
          </a:xfrm>
          <a:prstGeom prst="rect">
            <a:avLst/>
          </a:prstGeom>
          <a:solidFill>
            <a:srgbClr val="FFC000"/>
          </a:solidFill>
        </p:spPr>
        <p:txBody>
          <a:bodyPr wrap="square">
            <a:spAutoFit/>
          </a:bodyPr>
          <a:lstStyle/>
          <a:p>
            <a:pPr indent="449263" algn="just" eaLnBrk="0" fontAlgn="base" hangingPunct="0">
              <a:spcBef>
                <a:spcPct val="0"/>
              </a:spcBef>
              <a:spcAft>
                <a:spcPct val="0"/>
              </a:spcAft>
            </a:pPr>
            <a:r>
              <a:rPr lang="es-PE" b="1" dirty="0">
                <a:latin typeface="Arial Narrow" pitchFamily="34" charset="0"/>
                <a:ea typeface="Calibri" pitchFamily="34" charset="0"/>
                <a:cs typeface="Arial" pitchFamily="34" charset="0"/>
              </a:rPr>
              <a:t>     </a:t>
            </a:r>
            <a:r>
              <a:rPr lang="es-PE" b="1" dirty="0" err="1">
                <a:latin typeface="Arial Narrow" pitchFamily="34" charset="0"/>
                <a:ea typeface="Calibri" pitchFamily="34" charset="0"/>
                <a:cs typeface="Arial" pitchFamily="34" charset="0"/>
              </a:rPr>
              <a:t>X1</a:t>
            </a:r>
            <a:r>
              <a:rPr lang="es-PE" b="1" dirty="0">
                <a:latin typeface="Arial Narrow" pitchFamily="34" charset="0"/>
                <a:ea typeface="Calibri" pitchFamily="34" charset="0"/>
                <a:cs typeface="Arial" pitchFamily="34" charset="0"/>
              </a:rPr>
              <a:t> + </a:t>
            </a:r>
            <a:r>
              <a:rPr lang="es-PE" b="1" dirty="0" err="1">
                <a:latin typeface="Arial Narrow" pitchFamily="34" charset="0"/>
                <a:ea typeface="Calibri" pitchFamily="34" charset="0"/>
                <a:cs typeface="Arial" pitchFamily="34" charset="0"/>
              </a:rPr>
              <a:t>X2</a:t>
            </a:r>
            <a:r>
              <a:rPr lang="es-PE" b="1" dirty="0">
                <a:latin typeface="Arial Narrow" pitchFamily="34" charset="0"/>
              </a:rPr>
              <a:t>     = </a:t>
            </a:r>
            <a:r>
              <a:rPr lang="es-PE" b="1" dirty="0">
                <a:latin typeface="Arial Narrow" pitchFamily="34" charset="0"/>
                <a:ea typeface="Calibri" pitchFamily="34" charset="0"/>
                <a:cs typeface="Arial" pitchFamily="34" charset="0"/>
              </a:rPr>
              <a:t> 700    I</a:t>
            </a:r>
            <a:endParaRPr lang="es-PE" b="1" dirty="0">
              <a:latin typeface="Arial Narrow" pitchFamily="34" charset="0"/>
              <a:cs typeface="Arial" pitchFamily="34" charset="0"/>
            </a:endParaRPr>
          </a:p>
          <a:p>
            <a:pPr indent="449263" algn="just" eaLnBrk="0" fontAlgn="base" hangingPunct="0">
              <a:spcBef>
                <a:spcPct val="0"/>
              </a:spcBef>
              <a:spcAft>
                <a:spcPct val="0"/>
              </a:spcAft>
            </a:pPr>
            <a:r>
              <a:rPr lang="es-PE" b="1" u="sng" dirty="0" err="1">
                <a:latin typeface="Arial Narrow" pitchFamily="34" charset="0"/>
                <a:ea typeface="Calibri" pitchFamily="34" charset="0"/>
                <a:cs typeface="Arial" pitchFamily="34" charset="0"/>
              </a:rPr>
              <a:t>0,5X1</a:t>
            </a:r>
            <a:r>
              <a:rPr lang="es-PE" b="1" u="sng" dirty="0">
                <a:latin typeface="Arial Narrow" pitchFamily="34" charset="0"/>
                <a:ea typeface="Calibri" pitchFamily="34" charset="0"/>
                <a:cs typeface="Arial" pitchFamily="34" charset="0"/>
              </a:rPr>
              <a:t> + </a:t>
            </a:r>
            <a:r>
              <a:rPr lang="es-PE" b="1" u="sng" dirty="0" err="1">
                <a:latin typeface="Arial Narrow" pitchFamily="34" charset="0"/>
                <a:ea typeface="Calibri" pitchFamily="34" charset="0"/>
                <a:cs typeface="Arial" pitchFamily="34" charset="0"/>
              </a:rPr>
              <a:t>0,8X2</a:t>
            </a:r>
            <a:r>
              <a:rPr lang="es-PE" b="1" u="sng" dirty="0">
                <a:latin typeface="Arial Narrow" pitchFamily="34" charset="0"/>
                <a:ea typeface="Calibri" pitchFamily="34" charset="0"/>
                <a:cs typeface="Arial" pitchFamily="34" charset="0"/>
              </a:rPr>
              <a:t>=</a:t>
            </a:r>
            <a:r>
              <a:rPr lang="es-PE" b="1" u="sng" dirty="0">
                <a:latin typeface="Arial Narrow" pitchFamily="34" charset="0"/>
              </a:rPr>
              <a:t> 500     II</a:t>
            </a:r>
          </a:p>
          <a:p>
            <a:pPr indent="449263" algn="just" eaLnBrk="0" fontAlgn="base" hangingPunct="0">
              <a:spcBef>
                <a:spcPct val="0"/>
              </a:spcBef>
              <a:spcAft>
                <a:spcPct val="0"/>
              </a:spcAft>
            </a:pPr>
            <a:r>
              <a:rPr lang="es-ES" b="1" dirty="0">
                <a:latin typeface="Arial Narrow" pitchFamily="34" charset="0"/>
              </a:rPr>
              <a:t>      </a:t>
            </a:r>
            <a:r>
              <a:rPr lang="es-ES" b="1" dirty="0" err="1">
                <a:latin typeface="Arial Narrow" pitchFamily="34" charset="0"/>
              </a:rPr>
              <a:t>X1</a:t>
            </a:r>
            <a:r>
              <a:rPr lang="es-ES" b="1" dirty="0">
                <a:latin typeface="Arial Narrow" pitchFamily="34" charset="0"/>
              </a:rPr>
              <a:t>+  </a:t>
            </a:r>
            <a:r>
              <a:rPr lang="es-ES" b="1" dirty="0" err="1">
                <a:latin typeface="Arial Narrow" pitchFamily="34" charset="0"/>
              </a:rPr>
              <a:t>X2</a:t>
            </a:r>
            <a:r>
              <a:rPr lang="es-ES" b="1" dirty="0">
                <a:latin typeface="Arial Narrow" pitchFamily="34" charset="0"/>
              </a:rPr>
              <a:t>    = 700     III </a:t>
            </a:r>
          </a:p>
          <a:p>
            <a:pPr indent="449263" algn="just" eaLnBrk="0" fontAlgn="base" hangingPunct="0">
              <a:spcBef>
                <a:spcPct val="0"/>
              </a:spcBef>
              <a:spcAft>
                <a:spcPct val="0"/>
              </a:spcAft>
            </a:pPr>
            <a:r>
              <a:rPr lang="es-ES" b="1" u="sng" dirty="0">
                <a:latin typeface="Arial Narrow" pitchFamily="34" charset="0"/>
              </a:rPr>
              <a:t>       </a:t>
            </a:r>
            <a:r>
              <a:rPr lang="es-ES" b="1" u="sng" dirty="0" err="1">
                <a:latin typeface="Arial Narrow" pitchFamily="34" charset="0"/>
              </a:rPr>
              <a:t>X1+1,6X2</a:t>
            </a:r>
            <a:r>
              <a:rPr lang="es-ES" b="1" u="sng" dirty="0">
                <a:latin typeface="Arial Narrow" pitchFamily="34" charset="0"/>
              </a:rPr>
              <a:t>=1000    IV</a:t>
            </a:r>
          </a:p>
          <a:p>
            <a:pPr indent="449263" algn="just" eaLnBrk="0" fontAlgn="base" hangingPunct="0">
              <a:spcBef>
                <a:spcPct val="0"/>
              </a:spcBef>
              <a:spcAft>
                <a:spcPct val="0"/>
              </a:spcAft>
            </a:pPr>
            <a:r>
              <a:rPr lang="es-ES" b="1" dirty="0">
                <a:latin typeface="Arial Narrow" pitchFamily="34" charset="0"/>
              </a:rPr>
              <a:t>IV-III      </a:t>
            </a:r>
            <a:r>
              <a:rPr lang="es-ES" b="1" dirty="0" err="1">
                <a:latin typeface="Arial Narrow" pitchFamily="34" charset="0"/>
              </a:rPr>
              <a:t>0,6X2</a:t>
            </a:r>
            <a:r>
              <a:rPr lang="es-ES" b="1" dirty="0">
                <a:latin typeface="Arial Narrow" pitchFamily="34" charset="0"/>
              </a:rPr>
              <a:t>=300</a:t>
            </a:r>
          </a:p>
          <a:p>
            <a:pPr indent="449263" algn="just" eaLnBrk="0" fontAlgn="base" hangingPunct="0">
              <a:spcBef>
                <a:spcPct val="0"/>
              </a:spcBef>
              <a:spcAft>
                <a:spcPct val="0"/>
              </a:spcAft>
            </a:pPr>
            <a:r>
              <a:rPr lang="es-ES" b="1" dirty="0">
                <a:latin typeface="Arial Narrow" pitchFamily="34" charset="0"/>
                <a:sym typeface="Wingdings" pitchFamily="2" charset="2"/>
              </a:rPr>
              <a:t>   </a:t>
            </a:r>
            <a:r>
              <a:rPr lang="es-ES" b="1" dirty="0" err="1">
                <a:latin typeface="Arial Narrow" pitchFamily="34" charset="0"/>
                <a:sym typeface="Wingdings" pitchFamily="2" charset="2"/>
              </a:rPr>
              <a:t>X2</a:t>
            </a:r>
            <a:r>
              <a:rPr lang="es-ES" b="1" dirty="0">
                <a:latin typeface="Arial Narrow" pitchFamily="34" charset="0"/>
                <a:sym typeface="Wingdings" pitchFamily="2" charset="2"/>
              </a:rPr>
              <a:t>=500	</a:t>
            </a:r>
            <a:r>
              <a:rPr lang="es-ES" b="1" dirty="0" err="1">
                <a:latin typeface="Arial Narrow" pitchFamily="34" charset="0"/>
                <a:sym typeface="Wingdings" pitchFamily="2" charset="2"/>
              </a:rPr>
              <a:t>X1</a:t>
            </a:r>
            <a:r>
              <a:rPr lang="es-ES" b="1" dirty="0">
                <a:latin typeface="Arial Narrow" pitchFamily="34" charset="0"/>
                <a:sym typeface="Wingdings" pitchFamily="2" charset="2"/>
              </a:rPr>
              <a:t>=200        </a:t>
            </a:r>
          </a:p>
          <a:p>
            <a:pPr indent="449263" algn="just" eaLnBrk="0" fontAlgn="base" hangingPunct="0">
              <a:spcBef>
                <a:spcPct val="0"/>
              </a:spcBef>
              <a:spcAft>
                <a:spcPct val="0"/>
              </a:spcAft>
            </a:pPr>
            <a:r>
              <a:rPr lang="es-ES" b="1" dirty="0">
                <a:latin typeface="Arial Narrow" pitchFamily="34" charset="0"/>
                <a:sym typeface="Wingdings" pitchFamily="2" charset="2"/>
              </a:rPr>
              <a:t> Z= 0,08(200)+0,10(500)=66</a:t>
            </a:r>
          </a:p>
          <a:p>
            <a:pPr indent="449263" algn="just" eaLnBrk="0" fontAlgn="base" hangingPunct="0">
              <a:spcBef>
                <a:spcPct val="0"/>
              </a:spcBef>
              <a:spcAft>
                <a:spcPct val="0"/>
              </a:spcAft>
            </a:pPr>
            <a:r>
              <a:rPr lang="es-ES" b="1" dirty="0">
                <a:latin typeface="Arial Narrow" pitchFamily="34" charset="0"/>
                <a:sym typeface="Wingdings" pitchFamily="2" charset="2"/>
              </a:rPr>
              <a:t>La solución optima es :</a:t>
            </a:r>
          </a:p>
          <a:p>
            <a:pPr indent="449263" algn="just" eaLnBrk="0" fontAlgn="base" hangingPunct="0">
              <a:spcBef>
                <a:spcPct val="0"/>
              </a:spcBef>
              <a:spcAft>
                <a:spcPct val="0"/>
              </a:spcAft>
            </a:pPr>
            <a:r>
              <a:rPr lang="es-ES" b="1" dirty="0">
                <a:latin typeface="Arial Narrow" pitchFamily="34" charset="0"/>
                <a:sym typeface="Wingdings" pitchFamily="2" charset="2"/>
              </a:rPr>
              <a:t> x1=200 y x2=500</a:t>
            </a:r>
          </a:p>
          <a:p>
            <a:pPr indent="449263" algn="just" eaLnBrk="0" fontAlgn="base" hangingPunct="0">
              <a:spcBef>
                <a:spcPct val="0"/>
              </a:spcBef>
              <a:spcAft>
                <a:spcPct val="0"/>
              </a:spcAft>
            </a:pPr>
            <a:r>
              <a:rPr lang="es-ES" b="1" dirty="0">
                <a:latin typeface="Arial Narrow" pitchFamily="34" charset="0"/>
                <a:sym typeface="Wingdings" pitchFamily="2" charset="2"/>
              </a:rPr>
              <a:t>El valor de la F.O. es: 66</a:t>
            </a:r>
            <a:endParaRPr lang="es-PE" dirty="0"/>
          </a:p>
        </p:txBody>
      </p:sp>
      <p:graphicFrame>
        <p:nvGraphicFramePr>
          <p:cNvPr id="2" name="Tabla 1">
            <a:extLst>
              <a:ext uri="{FF2B5EF4-FFF2-40B4-BE49-F238E27FC236}">
                <a16:creationId xmlns:a16="http://schemas.microsoft.com/office/drawing/2014/main" id="{F2944FB0-D356-454A-ABC9-B685C2D35F8B}"/>
              </a:ext>
            </a:extLst>
          </p:cNvPr>
          <p:cNvGraphicFramePr>
            <a:graphicFrameLocks noGrp="1"/>
          </p:cNvGraphicFramePr>
          <p:nvPr/>
        </p:nvGraphicFramePr>
        <p:xfrm>
          <a:off x="1209137" y="3888789"/>
          <a:ext cx="4275473" cy="1310640"/>
        </p:xfrm>
        <a:graphic>
          <a:graphicData uri="http://schemas.openxmlformats.org/drawingml/2006/table">
            <a:tbl>
              <a:tblPr/>
              <a:tblGrid>
                <a:gridCol w="4275473">
                  <a:extLst>
                    <a:ext uri="{9D8B030D-6E8A-4147-A177-3AD203B41FA5}">
                      <a16:colId xmlns:a16="http://schemas.microsoft.com/office/drawing/2014/main" val="3872400599"/>
                    </a:ext>
                  </a:extLst>
                </a:gridCol>
              </a:tblGrid>
              <a:tr h="722975">
                <a:tc>
                  <a:txBody>
                    <a:bodyPr/>
                    <a:lstStyle/>
                    <a:p>
                      <a:pPr marL="914400" marR="0" indent="-914400" algn="l" defTabSz="914400" rtl="0" eaLnBrk="1" fontAlgn="auto" latinLnBrk="0" hangingPunct="1">
                        <a:lnSpc>
                          <a:spcPct val="100000"/>
                        </a:lnSpc>
                        <a:spcBef>
                          <a:spcPts val="0"/>
                        </a:spcBef>
                        <a:spcAft>
                          <a:spcPts val="0"/>
                        </a:spcAft>
                        <a:buClrTx/>
                        <a:buSzTx/>
                        <a:buFontTx/>
                        <a:buNone/>
                        <a:tabLst/>
                        <a:defRPr/>
                      </a:pPr>
                      <a:r>
                        <a:rPr lang="es-PE" sz="2000" b="1" spc="-1" dirty="0">
                          <a:solidFill>
                            <a:schemeClr val="bg2">
                              <a:lumMod val="10000"/>
                            </a:schemeClr>
                          </a:solidFill>
                          <a:latin typeface="Arial Narrow" panose="020B0606020202030204" pitchFamily="34" charset="0"/>
                        </a:rPr>
                        <a:t>PASO 3: Graficando las </a:t>
                      </a:r>
                      <a:r>
                        <a:rPr lang="es-PE" sz="2000" b="1" spc="-1" dirty="0" err="1">
                          <a:solidFill>
                            <a:schemeClr val="bg2">
                              <a:lumMod val="10000"/>
                            </a:schemeClr>
                          </a:solidFill>
                          <a:latin typeface="Arial Narrow" panose="020B0606020202030204" pitchFamily="34" charset="0"/>
                        </a:rPr>
                        <a:t>F.O</a:t>
                      </a:r>
                      <a:endParaRPr lang="es-PE" sz="2000" b="1" spc="-1" dirty="0">
                        <a:solidFill>
                          <a:schemeClr val="bg2">
                            <a:lumMod val="10000"/>
                          </a:schemeClr>
                        </a:solidFill>
                        <a:latin typeface="Arial Narrow" panose="020B0606020202030204" pitchFamily="34" charset="0"/>
                      </a:endParaRPr>
                    </a:p>
                    <a:p>
                      <a:pPr marL="914400" indent="-513720">
                        <a:lnSpc>
                          <a:spcPct val="100000"/>
                        </a:lnSpc>
                      </a:pPr>
                      <a:r>
                        <a:rPr lang="es-PE" sz="2000" b="1" strike="noStrike" spc="-1" dirty="0" err="1">
                          <a:solidFill>
                            <a:schemeClr val="bg2">
                              <a:lumMod val="10000"/>
                            </a:schemeClr>
                          </a:solidFill>
                          <a:latin typeface="Arial Narrow" panose="020B0606020202030204" pitchFamily="34" charset="0"/>
                        </a:rPr>
                        <a:t>0,08X1</a:t>
                      </a:r>
                      <a:r>
                        <a:rPr lang="es-PE" sz="2000" b="1" strike="noStrike" spc="-1" dirty="0">
                          <a:solidFill>
                            <a:schemeClr val="bg2">
                              <a:lumMod val="10000"/>
                            </a:schemeClr>
                          </a:solidFill>
                          <a:latin typeface="Arial Narrow" panose="020B0606020202030204" pitchFamily="34" charset="0"/>
                        </a:rPr>
                        <a:t> +  </a:t>
                      </a:r>
                      <a:r>
                        <a:rPr lang="es-PE" sz="2000" b="1" strike="noStrike" spc="-1" dirty="0" err="1">
                          <a:solidFill>
                            <a:schemeClr val="bg2">
                              <a:lumMod val="10000"/>
                            </a:schemeClr>
                          </a:solidFill>
                          <a:latin typeface="Arial Narrow" panose="020B0606020202030204" pitchFamily="34" charset="0"/>
                        </a:rPr>
                        <a:t>0,10X2</a:t>
                      </a:r>
                      <a:r>
                        <a:rPr lang="es-PE" sz="2000" b="1" strike="noStrike" spc="-1" dirty="0">
                          <a:solidFill>
                            <a:schemeClr val="bg2">
                              <a:lumMod val="10000"/>
                            </a:schemeClr>
                          </a:solidFill>
                          <a:latin typeface="Arial Narrow" panose="020B0606020202030204" pitchFamily="34" charset="0"/>
                        </a:rPr>
                        <a:t> =</a:t>
                      </a:r>
                      <a:r>
                        <a:rPr lang="es-PE" sz="2000" b="1" strike="noStrike" spc="-1" dirty="0">
                          <a:solidFill>
                            <a:srgbClr val="FF0000"/>
                          </a:solidFill>
                          <a:latin typeface="Arial Narrow" panose="020B0606020202030204" pitchFamily="34" charset="0"/>
                        </a:rPr>
                        <a:t>80</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=800</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1" strike="noStrike" spc="-1" dirty="0">
                          <a:solidFill>
                            <a:schemeClr val="bg2">
                              <a:lumMod val="10000"/>
                            </a:schemeClr>
                          </a:solidFill>
                          <a:latin typeface="Arial Narrow" panose="020B0606020202030204" pitchFamily="34" charset="0"/>
                          <a:sym typeface="Wingdings" panose="05000000000000000000" pitchFamily="2" charset="2"/>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=1000</a:t>
                      </a:r>
                    </a:p>
                  </a:txBody>
                  <a:tcPr>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820083818"/>
                  </a:ext>
                </a:extLst>
              </a:tr>
            </a:tbl>
          </a:graphicData>
        </a:graphic>
      </p:graphicFrame>
      <p:sp>
        <p:nvSpPr>
          <p:cNvPr id="7" name="Rectángulo 6">
            <a:extLst>
              <a:ext uri="{FF2B5EF4-FFF2-40B4-BE49-F238E27FC236}">
                <a16:creationId xmlns:a16="http://schemas.microsoft.com/office/drawing/2014/main" id="{DEB3AA1A-C4BC-45B5-BE02-AAD1A915B460}"/>
              </a:ext>
            </a:extLst>
          </p:cNvPr>
          <p:cNvSpPr/>
          <p:nvPr/>
        </p:nvSpPr>
        <p:spPr>
          <a:xfrm>
            <a:off x="1219201" y="5183369"/>
            <a:ext cx="4267200" cy="1477328"/>
          </a:xfrm>
          <a:prstGeom prst="rect">
            <a:avLst/>
          </a:prstGeom>
          <a:solidFill>
            <a:srgbClr val="FFC000"/>
          </a:solidFill>
        </p:spPr>
        <p:txBody>
          <a:bodyPr wrap="square">
            <a:spAutoFit/>
          </a:bodyPr>
          <a:lstStyle/>
          <a:p>
            <a:pPr algn="just">
              <a:lnSpc>
                <a:spcPct val="100000"/>
              </a:lnSpc>
            </a:pPr>
            <a:r>
              <a:rPr lang="es-PE" b="1" spc="-1" dirty="0">
                <a:solidFill>
                  <a:schemeClr val="bg2">
                    <a:lumMod val="10000"/>
                  </a:schemeClr>
                </a:solidFill>
                <a:latin typeface="Arial Narrow" panose="020B0606020202030204" pitchFamily="34" charset="0"/>
                <a:ea typeface="DejaVu Sans"/>
              </a:rPr>
              <a:t>PASO 4: Hallando la Solución óptima</a:t>
            </a:r>
            <a:endParaRPr lang="es-PE" b="1" spc="-1" dirty="0">
              <a:solidFill>
                <a:schemeClr val="bg2">
                  <a:lumMod val="10000"/>
                </a:schemeClr>
              </a:solidFill>
              <a:latin typeface="Arial Narrow" panose="020B0606020202030204" pitchFamily="34" charset="0"/>
            </a:endParaRPr>
          </a:p>
          <a:p>
            <a:pPr algn="just">
              <a:lnSpc>
                <a:spcPct val="100000"/>
              </a:lnSpc>
            </a:pPr>
            <a:r>
              <a:rPr lang="es-PE" b="1" spc="-1" dirty="0">
                <a:solidFill>
                  <a:schemeClr val="bg2">
                    <a:lumMod val="10000"/>
                  </a:schemeClr>
                </a:solidFill>
                <a:latin typeface="Arial Narrow" panose="020B0606020202030204" pitchFamily="34" charset="0"/>
                <a:ea typeface="DejaVu Sans"/>
              </a:rPr>
              <a:t>Del gráfico la solución óptima es:</a:t>
            </a:r>
          </a:p>
          <a:p>
            <a:pPr algn="just">
              <a:lnSpc>
                <a:spcPct val="100000"/>
              </a:lnSpc>
            </a:pPr>
            <a:r>
              <a:rPr lang="es-PE" b="1" spc="-1" dirty="0">
                <a:solidFill>
                  <a:schemeClr val="bg2">
                    <a:lumMod val="10000"/>
                  </a:schemeClr>
                </a:solidFill>
                <a:latin typeface="Arial Narrow" panose="020B0606020202030204" pitchFamily="34" charset="0"/>
                <a:ea typeface="DejaVu Sans"/>
              </a:rPr>
              <a:t>	</a:t>
            </a:r>
            <a:r>
              <a:rPr lang="es-PE" b="1" spc="-1" dirty="0" err="1">
                <a:solidFill>
                  <a:schemeClr val="bg2">
                    <a:lumMod val="10000"/>
                  </a:schemeClr>
                </a:solidFill>
                <a:latin typeface="Arial Narrow" panose="020B0606020202030204" pitchFamily="34" charset="0"/>
                <a:ea typeface="DejaVu Sans"/>
              </a:rPr>
              <a:t>X1</a:t>
            </a:r>
            <a:r>
              <a:rPr lang="es-PE" b="1" spc="-1" dirty="0">
                <a:solidFill>
                  <a:schemeClr val="bg2">
                    <a:lumMod val="10000"/>
                  </a:schemeClr>
                </a:solidFill>
                <a:latin typeface="Arial Narrow" panose="020B0606020202030204" pitchFamily="34" charset="0"/>
                <a:ea typeface="DejaVu Sans"/>
              </a:rPr>
              <a:t>=200	   </a:t>
            </a:r>
            <a:r>
              <a:rPr lang="es-PE" b="1" spc="-1" dirty="0" err="1">
                <a:solidFill>
                  <a:schemeClr val="bg2">
                    <a:lumMod val="10000"/>
                  </a:schemeClr>
                </a:solidFill>
                <a:latin typeface="Arial Narrow" panose="020B0606020202030204" pitchFamily="34" charset="0"/>
                <a:ea typeface="DejaVu Sans"/>
              </a:rPr>
              <a:t>X2</a:t>
            </a:r>
            <a:r>
              <a:rPr lang="es-PE" b="1" spc="-1" dirty="0">
                <a:solidFill>
                  <a:schemeClr val="bg2">
                    <a:lumMod val="10000"/>
                  </a:schemeClr>
                </a:solidFill>
                <a:latin typeface="Arial Narrow" panose="020B0606020202030204" pitchFamily="34" charset="0"/>
                <a:ea typeface="DejaVu Sans"/>
              </a:rPr>
              <a:t>= 500</a:t>
            </a:r>
          </a:p>
          <a:p>
            <a:pPr algn="just"/>
            <a:r>
              <a:rPr lang="es-PE" b="1" spc="-1" dirty="0">
                <a:solidFill>
                  <a:schemeClr val="bg2">
                    <a:lumMod val="10000"/>
                  </a:schemeClr>
                </a:solidFill>
                <a:latin typeface="Arial Narrow" panose="020B0606020202030204" pitchFamily="34" charset="0"/>
              </a:rPr>
              <a:t>El valor que toma la </a:t>
            </a:r>
            <a:r>
              <a:rPr lang="es-PE" b="1" spc="-1" dirty="0" err="1">
                <a:solidFill>
                  <a:schemeClr val="bg2">
                    <a:lumMod val="10000"/>
                  </a:schemeClr>
                </a:solidFill>
                <a:latin typeface="Arial Narrow" panose="020B0606020202030204" pitchFamily="34" charset="0"/>
              </a:rPr>
              <a:t>F.O</a:t>
            </a:r>
            <a:r>
              <a:rPr lang="es-PE" b="1" spc="-1" dirty="0">
                <a:solidFill>
                  <a:schemeClr val="bg2">
                    <a:lumMod val="10000"/>
                  </a:schemeClr>
                </a:solidFill>
                <a:latin typeface="Arial Narrow" panose="020B0606020202030204" pitchFamily="34" charset="0"/>
              </a:rPr>
              <a:t>. es:</a:t>
            </a:r>
          </a:p>
          <a:p>
            <a:pPr algn="just"/>
            <a:r>
              <a:rPr lang="es-PE" b="1" spc="-1" dirty="0">
                <a:solidFill>
                  <a:schemeClr val="bg2">
                    <a:lumMod val="10000"/>
                  </a:schemeClr>
                </a:solidFill>
                <a:latin typeface="Arial Narrow" panose="020B0606020202030204" pitchFamily="34" charset="0"/>
              </a:rPr>
              <a:t>	  Z= 66</a:t>
            </a:r>
          </a:p>
        </p:txBody>
      </p:sp>
      <p:sp>
        <p:nvSpPr>
          <p:cNvPr id="13" name="4 Rectángulo">
            <a:extLst>
              <a:ext uri="{FF2B5EF4-FFF2-40B4-BE49-F238E27FC236}">
                <a16:creationId xmlns:a16="http://schemas.microsoft.com/office/drawing/2014/main" id="{9427A4A0-109D-4C03-B7E8-305EC1C091C7}"/>
              </a:ext>
            </a:extLst>
          </p:cNvPr>
          <p:cNvSpPr/>
          <p:nvPr/>
        </p:nvSpPr>
        <p:spPr>
          <a:xfrm>
            <a:off x="6310350" y="1370486"/>
            <a:ext cx="5256584" cy="707886"/>
          </a:xfrm>
          <a:prstGeom prst="rect">
            <a:avLst/>
          </a:prstGeom>
          <a:solidFill>
            <a:srgbClr val="FFC000"/>
          </a:solidFill>
        </p:spPr>
        <p:txBody>
          <a:bodyPr wrap="square">
            <a:spAutoFit/>
          </a:bodyPr>
          <a:lstStyle/>
          <a:p>
            <a:pPr marL="400050" indent="-400050" algn="just" fontAlgn="base">
              <a:spcBef>
                <a:spcPct val="0"/>
              </a:spcBef>
              <a:spcAft>
                <a:spcPct val="0"/>
              </a:spcAft>
              <a:buAutoNum type="romanUcPeriod"/>
            </a:pPr>
            <a:r>
              <a:rPr lang="es-PE" sz="2000" b="1" dirty="0">
                <a:solidFill>
                  <a:srgbClr val="FF0000"/>
                </a:solidFill>
                <a:latin typeface="Arial Narrow" pitchFamily="34" charset="0"/>
                <a:ea typeface="Calibri" pitchFamily="34" charset="0"/>
                <a:cs typeface="Arial" pitchFamily="34" charset="0"/>
              </a:rPr>
              <a:t>Identificación de variables</a:t>
            </a:r>
          </a:p>
          <a:p>
            <a:pPr marL="449263" algn="just" fontAlgn="base">
              <a:spcBef>
                <a:spcPct val="0"/>
              </a:spcBef>
              <a:spcAft>
                <a:spcPct val="0"/>
              </a:spcAft>
            </a:pPr>
            <a:r>
              <a:rPr lang="es-PE" sz="2000" b="1" dirty="0">
                <a:latin typeface="Arial Narrow" pitchFamily="34" charset="0"/>
                <a:ea typeface="Calibri" pitchFamily="34" charset="0"/>
                <a:cs typeface="Arial" pitchFamily="34" charset="0"/>
              </a:rPr>
              <a:t>Xi = Número Kg. de naranjas tipo i a comprar</a:t>
            </a:r>
          </a:p>
        </p:txBody>
      </p:sp>
      <p:sp>
        <p:nvSpPr>
          <p:cNvPr id="14" name="Rectángulo 13">
            <a:extLst>
              <a:ext uri="{FF2B5EF4-FFF2-40B4-BE49-F238E27FC236}">
                <a16:creationId xmlns:a16="http://schemas.microsoft.com/office/drawing/2014/main" id="{8480AC81-D707-45DB-82B6-5C82FA970EC1}"/>
              </a:ext>
            </a:extLst>
          </p:cNvPr>
          <p:cNvSpPr/>
          <p:nvPr/>
        </p:nvSpPr>
        <p:spPr>
          <a:xfrm>
            <a:off x="6317410" y="2664320"/>
            <a:ext cx="5250614" cy="1323439"/>
          </a:xfrm>
          <a:prstGeom prst="rect">
            <a:avLst/>
          </a:prstGeom>
          <a:solidFill>
            <a:srgbClr val="FFC000"/>
          </a:solidFill>
        </p:spPr>
        <p:txBody>
          <a:bodyPr wrap="square">
            <a:spAutoFit/>
          </a:bodyPr>
          <a:lstStyle/>
          <a:p>
            <a:pPr lvl="0" algn="just" eaLnBrk="0" fontAlgn="base" hangingPunct="0">
              <a:spcBef>
                <a:spcPct val="0"/>
              </a:spcBef>
              <a:spcAft>
                <a:spcPct val="0"/>
              </a:spcAft>
            </a:pPr>
            <a:r>
              <a:rPr lang="es-PE" sz="2000" b="1" dirty="0">
                <a:solidFill>
                  <a:srgbClr val="FF0000"/>
                </a:solidFill>
                <a:latin typeface="Arial Narrow" pitchFamily="34" charset="0"/>
                <a:ea typeface="Calibri" pitchFamily="34" charset="0"/>
                <a:cs typeface="Arial" pitchFamily="34" charset="0"/>
              </a:rPr>
              <a:t>III.   Identificación de las restricciones</a:t>
            </a:r>
            <a:endParaRPr lang="es-PE" sz="2000" b="1" dirty="0">
              <a:solidFill>
                <a:srgbClr val="FF0000"/>
              </a:solidFill>
              <a:latin typeface="Arial Narrow" pitchFamily="34" charset="0"/>
              <a:cs typeface="Arial" pitchFamily="34" charset="0"/>
            </a:endParaRPr>
          </a:p>
          <a:p>
            <a:pPr indent="449263" algn="just" eaLnBrk="0" fontAlgn="base" hangingPunct="0">
              <a:spcBef>
                <a:spcPct val="0"/>
              </a:spcBef>
              <a:spcAft>
                <a:spcPct val="0"/>
              </a:spcAft>
            </a:pPr>
            <a:r>
              <a:rPr lang="es-PE" sz="2000" b="1" dirty="0" err="1">
                <a:latin typeface="Arial Narrow" pitchFamily="34" charset="0"/>
                <a:ea typeface="Calibri" pitchFamily="34" charset="0"/>
                <a:cs typeface="Arial" pitchFamily="34" charset="0"/>
              </a:rPr>
              <a:t>0,5X1</a:t>
            </a:r>
            <a:r>
              <a:rPr lang="es-PE" sz="2000" b="1" dirty="0">
                <a:latin typeface="Arial Narrow" pitchFamily="34" charset="0"/>
                <a:ea typeface="Calibri" pitchFamily="34" charset="0"/>
                <a:cs typeface="Arial" pitchFamily="34" charset="0"/>
              </a:rPr>
              <a:t> + </a:t>
            </a:r>
            <a:r>
              <a:rPr lang="es-PE" sz="2000" b="1" dirty="0" err="1">
                <a:latin typeface="Arial Narrow" pitchFamily="34" charset="0"/>
                <a:ea typeface="Calibri" pitchFamily="34" charset="0"/>
                <a:cs typeface="Arial" pitchFamily="34" charset="0"/>
              </a:rPr>
              <a:t>0,8X2</a:t>
            </a:r>
            <a:r>
              <a:rPr lang="es-PE" sz="2000" b="1" dirty="0">
                <a:latin typeface="Arial Narrow" pitchFamily="34" charset="0"/>
              </a:rPr>
              <a:t> ≤ 500</a:t>
            </a:r>
            <a:endParaRPr lang="es-PE" sz="2000" b="1" dirty="0">
              <a:latin typeface="Arial Narrow" pitchFamily="34" charset="0"/>
              <a:ea typeface="Calibri" pitchFamily="34" charset="0"/>
              <a:cs typeface="Arial" pitchFamily="34" charset="0"/>
            </a:endParaRPr>
          </a:p>
          <a:p>
            <a:pPr indent="449263" algn="just" eaLnBrk="0" fontAlgn="base" hangingPunct="0">
              <a:spcBef>
                <a:spcPct val="0"/>
              </a:spcBef>
              <a:spcAft>
                <a:spcPct val="0"/>
              </a:spcAft>
            </a:pPr>
            <a:r>
              <a:rPr lang="es-PE" sz="2000" b="1" dirty="0">
                <a:latin typeface="Arial Narrow" pitchFamily="34" charset="0"/>
                <a:ea typeface="Calibri" pitchFamily="34" charset="0"/>
                <a:cs typeface="Arial" pitchFamily="34" charset="0"/>
              </a:rPr>
              <a:t>        </a:t>
            </a:r>
            <a:r>
              <a:rPr lang="es-PE" sz="2000" b="1" dirty="0" err="1">
                <a:latin typeface="Arial Narrow" pitchFamily="34" charset="0"/>
                <a:ea typeface="Calibri" pitchFamily="34" charset="0"/>
                <a:cs typeface="Arial" pitchFamily="34" charset="0"/>
              </a:rPr>
              <a:t>X1</a:t>
            </a:r>
            <a:r>
              <a:rPr lang="es-PE" sz="2000" b="1" dirty="0">
                <a:latin typeface="Arial Narrow" pitchFamily="34" charset="0"/>
                <a:ea typeface="Calibri" pitchFamily="34" charset="0"/>
                <a:cs typeface="Arial" pitchFamily="34" charset="0"/>
              </a:rPr>
              <a:t> + </a:t>
            </a:r>
            <a:r>
              <a:rPr lang="es-PE" sz="2000" b="1" dirty="0" err="1">
                <a:latin typeface="Arial Narrow" pitchFamily="34" charset="0"/>
                <a:ea typeface="Calibri" pitchFamily="34" charset="0"/>
                <a:cs typeface="Arial" pitchFamily="34" charset="0"/>
              </a:rPr>
              <a:t>X2</a:t>
            </a:r>
            <a:r>
              <a:rPr lang="es-PE" sz="2000" b="1" dirty="0">
                <a:latin typeface="Arial Narrow" pitchFamily="34" charset="0"/>
              </a:rPr>
              <a:t>   ≤ </a:t>
            </a:r>
            <a:r>
              <a:rPr lang="es-PE" sz="2000" b="1" dirty="0">
                <a:latin typeface="Arial Narrow" pitchFamily="34" charset="0"/>
                <a:ea typeface="Calibri" pitchFamily="34" charset="0"/>
                <a:cs typeface="Arial" pitchFamily="34" charset="0"/>
              </a:rPr>
              <a:t> 700</a:t>
            </a:r>
            <a:endParaRPr lang="es-PE" sz="2000" b="1" dirty="0">
              <a:latin typeface="Arial Narrow" pitchFamily="34" charset="0"/>
              <a:cs typeface="Arial" pitchFamily="34" charset="0"/>
            </a:endParaRPr>
          </a:p>
          <a:p>
            <a:pPr indent="449263" algn="just" eaLnBrk="0" fontAlgn="base" hangingPunct="0">
              <a:spcBef>
                <a:spcPct val="0"/>
              </a:spcBef>
              <a:spcAft>
                <a:spcPct val="0"/>
              </a:spcAft>
            </a:pPr>
            <a:r>
              <a:rPr lang="es-ES" sz="2000" b="1" dirty="0">
                <a:latin typeface="Arial Narrow" pitchFamily="34" charset="0"/>
                <a:cs typeface="Arial" pitchFamily="34" charset="0"/>
              </a:rPr>
              <a:t>          </a:t>
            </a:r>
            <a:r>
              <a:rPr lang="es-ES" sz="2000" b="1" dirty="0" err="1">
                <a:latin typeface="Arial Narrow" pitchFamily="34" charset="0"/>
                <a:cs typeface="Arial" pitchFamily="34" charset="0"/>
              </a:rPr>
              <a:t>X1</a:t>
            </a:r>
            <a:r>
              <a:rPr lang="es-ES" sz="2000" b="1" dirty="0">
                <a:latin typeface="Arial Narrow" pitchFamily="34" charset="0"/>
                <a:cs typeface="Arial" pitchFamily="34" charset="0"/>
              </a:rPr>
              <a:t>,  </a:t>
            </a:r>
            <a:r>
              <a:rPr lang="es-ES" sz="2000" b="1" dirty="0" err="1">
                <a:latin typeface="Arial Narrow" pitchFamily="34" charset="0"/>
                <a:cs typeface="Arial" pitchFamily="34" charset="0"/>
              </a:rPr>
              <a:t>X2</a:t>
            </a:r>
            <a:r>
              <a:rPr lang="es-ES" sz="2000" b="1" dirty="0">
                <a:latin typeface="Arial Narrow" pitchFamily="34" charset="0"/>
                <a:cs typeface="Arial" pitchFamily="34" charset="0"/>
              </a:rPr>
              <a:t>  ≥  0</a:t>
            </a:r>
            <a:endParaRPr lang="es-PE" sz="2000" dirty="0"/>
          </a:p>
        </p:txBody>
      </p:sp>
      <p:sp>
        <p:nvSpPr>
          <p:cNvPr id="15" name="Rectángulo 14">
            <a:extLst>
              <a:ext uri="{FF2B5EF4-FFF2-40B4-BE49-F238E27FC236}">
                <a16:creationId xmlns:a16="http://schemas.microsoft.com/office/drawing/2014/main" id="{11D4E49A-CE80-4FE0-B37D-5E7681A7FFEB}"/>
              </a:ext>
            </a:extLst>
          </p:cNvPr>
          <p:cNvSpPr/>
          <p:nvPr/>
        </p:nvSpPr>
        <p:spPr>
          <a:xfrm>
            <a:off x="6314536" y="2036174"/>
            <a:ext cx="5253487" cy="707886"/>
          </a:xfrm>
          <a:prstGeom prst="rect">
            <a:avLst/>
          </a:prstGeom>
          <a:solidFill>
            <a:srgbClr val="FFC000"/>
          </a:solidFill>
        </p:spPr>
        <p:txBody>
          <a:bodyPr wrap="square">
            <a:spAutoFit/>
          </a:bodyPr>
          <a:lstStyle/>
          <a:p>
            <a:pPr marL="449263" indent="-449263" algn="just" fontAlgn="base">
              <a:spcBef>
                <a:spcPct val="0"/>
              </a:spcBef>
              <a:spcAft>
                <a:spcPct val="0"/>
              </a:spcAft>
              <a:buAutoNum type="romanUcPeriod" startAt="2"/>
            </a:pPr>
            <a:r>
              <a:rPr lang="es-PE" sz="2000" b="1" dirty="0">
                <a:solidFill>
                  <a:srgbClr val="FF0000"/>
                </a:solidFill>
                <a:latin typeface="Arial Narrow" pitchFamily="34" charset="0"/>
                <a:ea typeface="Calibri" pitchFamily="34" charset="0"/>
                <a:cs typeface="Arial" pitchFamily="34" charset="0"/>
              </a:rPr>
              <a:t>Identificación de la Función Objetivo</a:t>
            </a:r>
            <a:endParaRPr lang="es-PE" sz="2000" b="1" dirty="0">
              <a:solidFill>
                <a:srgbClr val="FF0000"/>
              </a:solidFill>
              <a:latin typeface="Arial Narrow" pitchFamily="34" charset="0"/>
              <a:cs typeface="Arial" pitchFamily="34" charset="0"/>
            </a:endParaRPr>
          </a:p>
          <a:p>
            <a:pPr marL="449263" indent="-449263" algn="just" fontAlgn="base">
              <a:spcBef>
                <a:spcPct val="0"/>
              </a:spcBef>
              <a:spcAft>
                <a:spcPct val="0"/>
              </a:spcAft>
            </a:pPr>
            <a:r>
              <a:rPr lang="en-US" sz="2000" b="1" dirty="0">
                <a:latin typeface="Arial Narrow" pitchFamily="34" charset="0"/>
                <a:ea typeface="Calibri" pitchFamily="34" charset="0"/>
                <a:cs typeface="Arial" pitchFamily="34" charset="0"/>
              </a:rPr>
              <a:t>	Max 0,0</a:t>
            </a:r>
            <a:r>
              <a:rPr lang="es-ES" sz="2000" b="1" dirty="0" err="1">
                <a:latin typeface="Arial Narrow" pitchFamily="34" charset="0"/>
                <a:ea typeface="Calibri" pitchFamily="34" charset="0"/>
                <a:cs typeface="Arial" pitchFamily="34" charset="0"/>
              </a:rPr>
              <a:t>8X1+0,10X2</a:t>
            </a:r>
            <a:endParaRPr lang="es-PE" sz="2000" b="1" dirty="0">
              <a:latin typeface="Arial Narrow" pitchFamily="34" charset="0"/>
              <a:cs typeface="Arial" pitchFamily="34" charset="0"/>
            </a:endParaRPr>
          </a:p>
        </p:txBody>
      </p:sp>
    </p:spTree>
    <p:extLst>
      <p:ext uri="{BB962C8B-B14F-4D97-AF65-F5344CB8AC3E}">
        <p14:creationId xmlns:p14="http://schemas.microsoft.com/office/powerpoint/2010/main" val="411711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46338" y="1244515"/>
            <a:ext cx="5981746" cy="2677656"/>
          </a:xfrm>
          <a:prstGeom prst="rect">
            <a:avLst/>
          </a:prstGeom>
        </p:spPr>
        <p:txBody>
          <a:bodyPr wrap="square">
            <a:spAutoFit/>
          </a:bodyPr>
          <a:lstStyle/>
          <a:p>
            <a:pPr algn="just"/>
            <a:r>
              <a:rPr lang="es-ES" sz="2400" b="1" dirty="0">
                <a:latin typeface="Arial Narrow" pitchFamily="34" charset="0"/>
              </a:rPr>
              <a:t>Un orfebre fabrica dos tipos de joyas. La unidad del tipo A se hace con 1 g de oro y 1,5 g de plata y se vende a 25 soles. La de tipo B se vende a 30 soles y lleva 1,5 g de oro y 1 g de plata. Si solo dispone de 750 g de cada metal, ¿cuántas joyas ha de fabricar de cada tipo para obtener el máximo beneficio?</a:t>
            </a:r>
            <a:endParaRPr lang="es-PE" sz="2400" b="1" dirty="0">
              <a:latin typeface="Arial Narrow" pitchFamily="34" charset="0"/>
            </a:endParaRPr>
          </a:p>
        </p:txBody>
      </p:sp>
      <p:sp>
        <p:nvSpPr>
          <p:cNvPr id="4" name="3 Rectángulo"/>
          <p:cNvSpPr/>
          <p:nvPr/>
        </p:nvSpPr>
        <p:spPr>
          <a:xfrm>
            <a:off x="203211" y="3863330"/>
            <a:ext cx="5776483" cy="1015663"/>
          </a:xfrm>
          <a:prstGeom prst="rect">
            <a:avLst/>
          </a:prstGeom>
          <a:solidFill>
            <a:srgbClr val="FFFF00"/>
          </a:solidFill>
        </p:spPr>
        <p:txBody>
          <a:bodyPr wrap="square">
            <a:spAutoFit/>
          </a:bodyPr>
          <a:lstStyle/>
          <a:p>
            <a:pPr lvl="0" algn="just" fontAlgn="base">
              <a:spcBef>
                <a:spcPct val="0"/>
              </a:spcBef>
              <a:spcAft>
                <a:spcPct val="0"/>
              </a:spcAft>
            </a:pPr>
            <a:r>
              <a:rPr lang="es-ES" sz="2000" b="1" dirty="0">
                <a:solidFill>
                  <a:srgbClr val="FF0000"/>
                </a:solidFill>
                <a:latin typeface="Arial" pitchFamily="34" charset="0"/>
                <a:ea typeface="Calibri" pitchFamily="34" charset="0"/>
                <a:cs typeface="Arial" pitchFamily="34" charset="0"/>
              </a:rPr>
              <a:t>SOLUCIÓN</a:t>
            </a:r>
            <a:endParaRPr lang="es-PE" sz="2000" b="1" dirty="0">
              <a:solidFill>
                <a:srgbClr val="FF0000"/>
              </a:solidFill>
              <a:latin typeface="Arial" pitchFamily="34" charset="0"/>
              <a:ea typeface="Calibri" pitchFamily="34" charset="0"/>
              <a:cs typeface="Arial" pitchFamily="34" charset="0"/>
            </a:endParaRPr>
          </a:p>
          <a:p>
            <a:pPr marL="400050" indent="-400050" algn="just" fontAlgn="base">
              <a:spcBef>
                <a:spcPct val="0"/>
              </a:spcBef>
              <a:spcAft>
                <a:spcPct val="0"/>
              </a:spcAft>
              <a:buAutoNum type="romanUcPeriod"/>
            </a:pPr>
            <a:r>
              <a:rPr lang="es-PE" sz="2000" b="1" dirty="0">
                <a:solidFill>
                  <a:srgbClr val="FF0000"/>
                </a:solidFill>
                <a:latin typeface="Arial" pitchFamily="34" charset="0"/>
                <a:ea typeface="Calibri" pitchFamily="34" charset="0"/>
                <a:cs typeface="Arial" pitchFamily="34" charset="0"/>
              </a:rPr>
              <a:t>Identificación de variables</a:t>
            </a:r>
          </a:p>
          <a:p>
            <a:pPr marL="449263" algn="just" fontAlgn="base">
              <a:spcBef>
                <a:spcPct val="0"/>
              </a:spcBef>
              <a:spcAft>
                <a:spcPct val="0"/>
              </a:spcAft>
            </a:pPr>
            <a:r>
              <a:rPr lang="es-PE" sz="2000" b="1" dirty="0">
                <a:latin typeface="Arial" pitchFamily="34" charset="0"/>
                <a:ea typeface="Calibri" pitchFamily="34" charset="0"/>
                <a:cs typeface="Arial" pitchFamily="34" charset="0"/>
              </a:rPr>
              <a:t>Xi = Número de joyas del tipo i</a:t>
            </a:r>
          </a:p>
        </p:txBody>
      </p:sp>
      <p:sp>
        <p:nvSpPr>
          <p:cNvPr id="6" name="Rectángulo 5">
            <a:extLst>
              <a:ext uri="{FF2B5EF4-FFF2-40B4-BE49-F238E27FC236}">
                <a16:creationId xmlns:a16="http://schemas.microsoft.com/office/drawing/2014/main" id="{A65F6F04-C6E9-4E58-896E-76E6C3224A89}"/>
              </a:ext>
            </a:extLst>
          </p:cNvPr>
          <p:cNvSpPr/>
          <p:nvPr/>
        </p:nvSpPr>
        <p:spPr>
          <a:xfrm>
            <a:off x="6888088" y="2960948"/>
            <a:ext cx="3252158" cy="2246769"/>
          </a:xfrm>
          <a:prstGeom prst="rect">
            <a:avLst/>
          </a:prstGeom>
          <a:solidFill>
            <a:srgbClr val="FFFF00"/>
          </a:solidFill>
        </p:spPr>
        <p:txBody>
          <a:bodyPr wrap="square">
            <a:spAutoFit/>
          </a:bodyPr>
          <a:lstStyle/>
          <a:p>
            <a:pPr algn="just" fontAlgn="base">
              <a:spcBef>
                <a:spcPct val="0"/>
              </a:spcBef>
              <a:spcAft>
                <a:spcPct val="0"/>
              </a:spcAft>
            </a:pPr>
            <a:r>
              <a:rPr lang="es-PE" sz="2000" b="1" dirty="0">
                <a:latin typeface="Arial Narrow" panose="020B0606020202030204" pitchFamily="34" charset="0"/>
                <a:cs typeface="Arial" pitchFamily="34" charset="0"/>
              </a:rPr>
              <a:t>MAX </a:t>
            </a:r>
            <a:r>
              <a:rPr lang="es-PE" sz="2000" b="1" dirty="0" err="1">
                <a:latin typeface="Arial Narrow" panose="020B0606020202030204" pitchFamily="34" charset="0"/>
                <a:cs typeface="Arial" pitchFamily="34" charset="0"/>
              </a:rPr>
              <a:t>25X1</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30X2</a:t>
            </a:r>
            <a:endParaRPr lang="es-PE"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s-PE" sz="2000" b="1" dirty="0" err="1">
                <a:solidFill>
                  <a:srgbClr val="FF0000"/>
                </a:solidFill>
                <a:latin typeface="Arial Narrow" panose="020B0606020202030204" pitchFamily="34" charset="0"/>
                <a:ea typeface="Calibri" pitchFamily="34" charset="0"/>
                <a:cs typeface="Arial" pitchFamily="34" charset="0"/>
              </a:rPr>
              <a:t>ST</a:t>
            </a:r>
            <a:endParaRPr lang="es-PE" sz="2000" b="1" dirty="0">
              <a:solidFill>
                <a:srgbClr val="FF0000"/>
              </a:solidFill>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ES" sz="2000" b="1" dirty="0" err="1">
                <a:latin typeface="Arial Narrow" panose="020B0606020202030204" pitchFamily="34" charset="0"/>
                <a:cs typeface="Arial" pitchFamily="34" charset="0"/>
              </a:rPr>
              <a:t>1X1+1.5X2</a:t>
            </a:r>
            <a:r>
              <a:rPr lang="es-ES" sz="2000" b="1" dirty="0">
                <a:latin typeface="Arial Narrow" panose="020B0606020202030204" pitchFamily="34" charset="0"/>
                <a:cs typeface="Arial" pitchFamily="34" charset="0"/>
              </a:rPr>
              <a:t>&lt;=750</a:t>
            </a:r>
          </a:p>
          <a:p>
            <a:pPr marL="449263" indent="-449263" algn="just" fontAlgn="base">
              <a:spcBef>
                <a:spcPct val="0"/>
              </a:spcBef>
              <a:spcAft>
                <a:spcPct val="0"/>
              </a:spcAft>
            </a:pPr>
            <a:r>
              <a:rPr lang="es-ES" sz="2000" b="1" dirty="0" err="1">
                <a:latin typeface="Arial Narrow" panose="020B0606020202030204" pitchFamily="34" charset="0"/>
                <a:cs typeface="Arial" pitchFamily="34" charset="0"/>
              </a:rPr>
              <a:t>1.5X1+1X2</a:t>
            </a:r>
            <a:r>
              <a:rPr lang="es-ES" sz="2000" b="1" dirty="0">
                <a:latin typeface="Arial Narrow" panose="020B0606020202030204" pitchFamily="34" charset="0"/>
                <a:cs typeface="Arial" pitchFamily="34" charset="0"/>
              </a:rPr>
              <a:t>&lt;=750</a:t>
            </a:r>
          </a:p>
          <a:p>
            <a:pPr marL="449263" indent="-449263" algn="just" fontAlgn="base">
              <a:spcBef>
                <a:spcPct val="0"/>
              </a:spcBef>
              <a:spcAft>
                <a:spcPct val="0"/>
              </a:spcAft>
            </a:pPr>
            <a:r>
              <a:rPr lang="es-ES" sz="2000" b="1" dirty="0" err="1">
                <a:latin typeface="Arial Narrow" panose="020B0606020202030204" pitchFamily="34" charset="0"/>
                <a:cs typeface="Arial" pitchFamily="34" charset="0"/>
              </a:rPr>
              <a:t>END</a:t>
            </a:r>
            <a:endParaRPr lang="es-ES"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s-ES" sz="2000" b="1" dirty="0">
                <a:latin typeface="Arial Narrow" panose="020B0606020202030204" pitchFamily="34" charset="0"/>
                <a:cs typeface="Arial" pitchFamily="34" charset="0"/>
              </a:rPr>
              <a:t>GIN </a:t>
            </a:r>
            <a:r>
              <a:rPr lang="es-ES" sz="2000" b="1" dirty="0" err="1">
                <a:latin typeface="Arial Narrow" panose="020B0606020202030204" pitchFamily="34" charset="0"/>
                <a:cs typeface="Arial" pitchFamily="34" charset="0"/>
              </a:rPr>
              <a:t>X1</a:t>
            </a:r>
            <a:endParaRPr lang="es-ES"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s-ES" sz="2000" b="1" dirty="0">
                <a:latin typeface="Arial Narrow" panose="020B0606020202030204" pitchFamily="34" charset="0"/>
                <a:cs typeface="Arial" pitchFamily="34" charset="0"/>
              </a:rPr>
              <a:t>GIN </a:t>
            </a:r>
            <a:r>
              <a:rPr lang="es-ES" sz="2000" b="1" dirty="0" err="1">
                <a:latin typeface="Arial Narrow" panose="020B0606020202030204" pitchFamily="34" charset="0"/>
                <a:cs typeface="Arial" pitchFamily="34" charset="0"/>
              </a:rPr>
              <a:t>X2</a:t>
            </a:r>
            <a:endParaRPr lang="es-ES" sz="2000" b="1" dirty="0">
              <a:latin typeface="Arial Narrow" panose="020B0606020202030204" pitchFamily="34" charset="0"/>
              <a:cs typeface="Arial" pitchFamily="34" charset="0"/>
            </a:endParaRPr>
          </a:p>
        </p:txBody>
      </p:sp>
      <p:sp>
        <p:nvSpPr>
          <p:cNvPr id="7" name="Rectángulo 6">
            <a:extLst>
              <a:ext uri="{FF2B5EF4-FFF2-40B4-BE49-F238E27FC236}">
                <a16:creationId xmlns:a16="http://schemas.microsoft.com/office/drawing/2014/main" id="{1757985F-99AF-493E-B63E-1FB0B4A5C1A2}"/>
              </a:ext>
            </a:extLst>
          </p:cNvPr>
          <p:cNvSpPr/>
          <p:nvPr/>
        </p:nvSpPr>
        <p:spPr>
          <a:xfrm>
            <a:off x="6924092" y="5157192"/>
            <a:ext cx="4684880" cy="1631216"/>
          </a:xfrm>
          <a:prstGeom prst="rect">
            <a:avLst/>
          </a:prstGeom>
          <a:solidFill>
            <a:schemeClr val="accent4">
              <a:lumMod val="40000"/>
              <a:lumOff val="60000"/>
            </a:schemeClr>
          </a:solidFill>
        </p:spPr>
        <p:txBody>
          <a:bodyPr wrap="square">
            <a:spAutoFit/>
          </a:bodyPr>
          <a:lstStyle/>
          <a:p>
            <a:r>
              <a:rPr lang="es-PE" sz="2000" b="1" dirty="0"/>
              <a:t> </a:t>
            </a:r>
            <a:r>
              <a:rPr lang="es-PE" sz="2000" b="1" dirty="0" err="1"/>
              <a:t>OBJECTIVE</a:t>
            </a:r>
            <a:r>
              <a:rPr lang="es-PE" sz="2000" b="1" dirty="0"/>
              <a:t> </a:t>
            </a:r>
            <a:r>
              <a:rPr lang="es-PE" sz="2000" b="1" dirty="0" err="1"/>
              <a:t>FUNCTION</a:t>
            </a:r>
            <a:r>
              <a:rPr lang="es-PE" sz="2000" b="1" dirty="0"/>
              <a:t> </a:t>
            </a:r>
            <a:r>
              <a:rPr lang="es-PE" sz="2000" b="1" dirty="0" err="1"/>
              <a:t>VALUE</a:t>
            </a:r>
            <a:endParaRPr lang="es-PE" sz="2000" b="1" dirty="0"/>
          </a:p>
          <a:p>
            <a:r>
              <a:rPr lang="es-PE" sz="2000" b="1" dirty="0"/>
              <a:t>        1)      16500.00</a:t>
            </a:r>
          </a:p>
          <a:p>
            <a:r>
              <a:rPr lang="es-PE" sz="2000" b="1" dirty="0"/>
              <a:t>  VARIABLE        VALUE          REDUCED COST</a:t>
            </a:r>
          </a:p>
          <a:p>
            <a:r>
              <a:rPr lang="es-PE" sz="2000" b="1" dirty="0"/>
              <a:t>        </a:t>
            </a:r>
            <a:r>
              <a:rPr lang="es-PE" sz="2000" b="1" dirty="0" err="1"/>
              <a:t>X1</a:t>
            </a:r>
            <a:r>
              <a:rPr lang="es-PE" sz="2000" b="1" dirty="0"/>
              <a:t>       300.000000          0.000000</a:t>
            </a:r>
          </a:p>
          <a:p>
            <a:r>
              <a:rPr lang="es-PE" sz="2000" b="1" dirty="0"/>
              <a:t>        </a:t>
            </a:r>
            <a:r>
              <a:rPr lang="es-PE" sz="2000" b="1" dirty="0" err="1"/>
              <a:t>X2</a:t>
            </a:r>
            <a:r>
              <a:rPr lang="es-PE" sz="2000" b="1" dirty="0"/>
              <a:t>       300.000000          0.000000</a:t>
            </a:r>
          </a:p>
        </p:txBody>
      </p:sp>
      <p:graphicFrame>
        <p:nvGraphicFramePr>
          <p:cNvPr id="8" name="Tabla 8">
            <a:extLst>
              <a:ext uri="{FF2B5EF4-FFF2-40B4-BE49-F238E27FC236}">
                <a16:creationId xmlns:a16="http://schemas.microsoft.com/office/drawing/2014/main" id="{862B26E8-8CA3-4C75-811F-790318BBAE62}"/>
              </a:ext>
            </a:extLst>
          </p:cNvPr>
          <p:cNvGraphicFramePr>
            <a:graphicFrameLocks noGrp="1"/>
          </p:cNvGraphicFramePr>
          <p:nvPr/>
        </p:nvGraphicFramePr>
        <p:xfrm>
          <a:off x="6649570" y="1336584"/>
          <a:ext cx="4829976" cy="1463040"/>
        </p:xfrm>
        <a:graphic>
          <a:graphicData uri="http://schemas.openxmlformats.org/drawingml/2006/table">
            <a:tbl>
              <a:tblPr firstRow="1" bandRow="1">
                <a:tableStyleId>{5C22544A-7EE6-4342-B048-85BDC9FD1C3A}</a:tableStyleId>
              </a:tblPr>
              <a:tblGrid>
                <a:gridCol w="1207494">
                  <a:extLst>
                    <a:ext uri="{9D8B030D-6E8A-4147-A177-3AD203B41FA5}">
                      <a16:colId xmlns:a16="http://schemas.microsoft.com/office/drawing/2014/main" val="3210197669"/>
                    </a:ext>
                  </a:extLst>
                </a:gridCol>
                <a:gridCol w="1207494">
                  <a:extLst>
                    <a:ext uri="{9D8B030D-6E8A-4147-A177-3AD203B41FA5}">
                      <a16:colId xmlns:a16="http://schemas.microsoft.com/office/drawing/2014/main" val="370324222"/>
                    </a:ext>
                  </a:extLst>
                </a:gridCol>
                <a:gridCol w="1207494">
                  <a:extLst>
                    <a:ext uri="{9D8B030D-6E8A-4147-A177-3AD203B41FA5}">
                      <a16:colId xmlns:a16="http://schemas.microsoft.com/office/drawing/2014/main" val="570993107"/>
                    </a:ext>
                  </a:extLst>
                </a:gridCol>
                <a:gridCol w="1207494">
                  <a:extLst>
                    <a:ext uri="{9D8B030D-6E8A-4147-A177-3AD203B41FA5}">
                      <a16:colId xmlns:a16="http://schemas.microsoft.com/office/drawing/2014/main" val="871154996"/>
                    </a:ext>
                  </a:extLst>
                </a:gridCol>
              </a:tblGrid>
              <a:tr h="298150">
                <a:tc>
                  <a:txBody>
                    <a:bodyPr/>
                    <a:lstStyle/>
                    <a:p>
                      <a:r>
                        <a:rPr lang="es-ES" dirty="0"/>
                        <a:t>Tipo</a:t>
                      </a:r>
                      <a:endParaRPr lang="es-PE" dirty="0"/>
                    </a:p>
                  </a:txBody>
                  <a:tcPr/>
                </a:tc>
                <a:tc>
                  <a:txBody>
                    <a:bodyPr/>
                    <a:lstStyle/>
                    <a:p>
                      <a:r>
                        <a:rPr lang="es-ES" dirty="0"/>
                        <a:t>Oro</a:t>
                      </a:r>
                      <a:endParaRPr lang="es-PE" dirty="0"/>
                    </a:p>
                  </a:txBody>
                  <a:tcPr/>
                </a:tc>
                <a:tc>
                  <a:txBody>
                    <a:bodyPr/>
                    <a:lstStyle/>
                    <a:p>
                      <a:r>
                        <a:rPr lang="es-ES" dirty="0"/>
                        <a:t>Plata</a:t>
                      </a:r>
                      <a:endParaRPr lang="es-PE" dirty="0"/>
                    </a:p>
                  </a:txBody>
                  <a:tcPr/>
                </a:tc>
                <a:tc>
                  <a:txBody>
                    <a:bodyPr/>
                    <a:lstStyle/>
                    <a:p>
                      <a:r>
                        <a:rPr lang="es-ES" dirty="0"/>
                        <a:t>Precio</a:t>
                      </a:r>
                      <a:endParaRPr lang="es-PE" dirty="0"/>
                    </a:p>
                  </a:txBody>
                  <a:tcPr/>
                </a:tc>
                <a:extLst>
                  <a:ext uri="{0D108BD9-81ED-4DB2-BD59-A6C34878D82A}">
                    <a16:rowId xmlns:a16="http://schemas.microsoft.com/office/drawing/2014/main" val="4064376335"/>
                  </a:ext>
                </a:extLst>
              </a:tr>
              <a:tr h="298150">
                <a:tc>
                  <a:txBody>
                    <a:bodyPr/>
                    <a:lstStyle/>
                    <a:p>
                      <a:r>
                        <a:rPr lang="es-ES" dirty="0" err="1"/>
                        <a:t>X1</a:t>
                      </a:r>
                      <a:endParaRPr lang="es-PE" dirty="0"/>
                    </a:p>
                  </a:txBody>
                  <a:tcPr/>
                </a:tc>
                <a:tc>
                  <a:txBody>
                    <a:bodyPr/>
                    <a:lstStyle/>
                    <a:p>
                      <a:r>
                        <a:rPr lang="es-ES" dirty="0"/>
                        <a:t>1</a:t>
                      </a:r>
                      <a:endParaRPr lang="es-PE" dirty="0"/>
                    </a:p>
                  </a:txBody>
                  <a:tcPr/>
                </a:tc>
                <a:tc>
                  <a:txBody>
                    <a:bodyPr/>
                    <a:lstStyle/>
                    <a:p>
                      <a:r>
                        <a:rPr lang="es-ES" dirty="0"/>
                        <a:t>1,5</a:t>
                      </a:r>
                      <a:endParaRPr lang="es-PE" dirty="0"/>
                    </a:p>
                  </a:txBody>
                  <a:tcPr/>
                </a:tc>
                <a:tc>
                  <a:txBody>
                    <a:bodyPr/>
                    <a:lstStyle/>
                    <a:p>
                      <a:r>
                        <a:rPr lang="es-ES" dirty="0"/>
                        <a:t>25</a:t>
                      </a:r>
                      <a:endParaRPr lang="es-PE" dirty="0"/>
                    </a:p>
                  </a:txBody>
                  <a:tcPr/>
                </a:tc>
                <a:extLst>
                  <a:ext uri="{0D108BD9-81ED-4DB2-BD59-A6C34878D82A}">
                    <a16:rowId xmlns:a16="http://schemas.microsoft.com/office/drawing/2014/main" val="2912990378"/>
                  </a:ext>
                </a:extLst>
              </a:tr>
              <a:tr h="298150">
                <a:tc>
                  <a:txBody>
                    <a:bodyPr/>
                    <a:lstStyle/>
                    <a:p>
                      <a:r>
                        <a:rPr lang="es-ES" dirty="0" err="1"/>
                        <a:t>X2</a:t>
                      </a:r>
                      <a:endParaRPr lang="es-PE" dirty="0"/>
                    </a:p>
                  </a:txBody>
                  <a:tcPr/>
                </a:tc>
                <a:tc>
                  <a:txBody>
                    <a:bodyPr/>
                    <a:lstStyle/>
                    <a:p>
                      <a:r>
                        <a:rPr lang="es-ES" dirty="0"/>
                        <a:t>1,5</a:t>
                      </a:r>
                      <a:endParaRPr lang="es-PE" dirty="0"/>
                    </a:p>
                  </a:txBody>
                  <a:tcPr/>
                </a:tc>
                <a:tc>
                  <a:txBody>
                    <a:bodyPr/>
                    <a:lstStyle/>
                    <a:p>
                      <a:r>
                        <a:rPr lang="es-ES" dirty="0"/>
                        <a:t>1</a:t>
                      </a:r>
                      <a:endParaRPr lang="es-PE" dirty="0"/>
                    </a:p>
                  </a:txBody>
                  <a:tcPr/>
                </a:tc>
                <a:tc>
                  <a:txBody>
                    <a:bodyPr/>
                    <a:lstStyle/>
                    <a:p>
                      <a:r>
                        <a:rPr lang="es-ES" dirty="0"/>
                        <a:t>30</a:t>
                      </a:r>
                      <a:endParaRPr lang="es-PE" dirty="0"/>
                    </a:p>
                  </a:txBody>
                  <a:tcPr/>
                </a:tc>
                <a:extLst>
                  <a:ext uri="{0D108BD9-81ED-4DB2-BD59-A6C34878D82A}">
                    <a16:rowId xmlns:a16="http://schemas.microsoft.com/office/drawing/2014/main" val="2036656157"/>
                  </a:ext>
                </a:extLst>
              </a:tr>
              <a:tr h="298150">
                <a:tc>
                  <a:txBody>
                    <a:bodyPr/>
                    <a:lstStyle/>
                    <a:p>
                      <a:r>
                        <a:rPr lang="es-ES" dirty="0"/>
                        <a:t>STOCK</a:t>
                      </a:r>
                      <a:endParaRPr lang="es-PE" dirty="0"/>
                    </a:p>
                  </a:txBody>
                  <a:tcPr/>
                </a:tc>
                <a:tc>
                  <a:txBody>
                    <a:bodyPr/>
                    <a:lstStyle/>
                    <a:p>
                      <a:r>
                        <a:rPr lang="es-ES" dirty="0"/>
                        <a:t>750</a:t>
                      </a:r>
                      <a:endParaRPr lang="es-PE" dirty="0"/>
                    </a:p>
                  </a:txBody>
                  <a:tcPr/>
                </a:tc>
                <a:tc>
                  <a:txBody>
                    <a:bodyPr/>
                    <a:lstStyle/>
                    <a:p>
                      <a:r>
                        <a:rPr lang="es-ES" dirty="0"/>
                        <a:t>750</a:t>
                      </a:r>
                      <a:endParaRPr lang="es-PE" dirty="0"/>
                    </a:p>
                  </a:txBody>
                  <a:tcPr/>
                </a:tc>
                <a:tc>
                  <a:txBody>
                    <a:bodyPr/>
                    <a:lstStyle/>
                    <a:p>
                      <a:endParaRPr lang="es-PE" dirty="0"/>
                    </a:p>
                  </a:txBody>
                  <a:tcPr/>
                </a:tc>
                <a:extLst>
                  <a:ext uri="{0D108BD9-81ED-4DB2-BD59-A6C34878D82A}">
                    <a16:rowId xmlns:a16="http://schemas.microsoft.com/office/drawing/2014/main" val="1418605810"/>
                  </a:ext>
                </a:extLst>
              </a:tr>
            </a:tbl>
          </a:graphicData>
        </a:graphic>
      </p:graphicFrame>
      <p:sp>
        <p:nvSpPr>
          <p:cNvPr id="3" name="2 Rectángulo"/>
          <p:cNvSpPr/>
          <p:nvPr/>
        </p:nvSpPr>
        <p:spPr>
          <a:xfrm>
            <a:off x="203211" y="5572036"/>
            <a:ext cx="5776483" cy="1323439"/>
          </a:xfrm>
          <a:prstGeom prst="rect">
            <a:avLst/>
          </a:prstGeom>
          <a:solidFill>
            <a:srgbClr val="FFFF00"/>
          </a:solidFill>
        </p:spPr>
        <p:txBody>
          <a:bodyPr wrap="square">
            <a:spAutoFit/>
          </a:bodyPr>
          <a:lstStyle/>
          <a:p>
            <a:pPr algn="just" fontAlgn="base">
              <a:spcBef>
                <a:spcPct val="0"/>
              </a:spcBef>
              <a:spcAft>
                <a:spcPct val="0"/>
              </a:spcAft>
            </a:pPr>
            <a:r>
              <a:rPr lang="es-PE" sz="2000" b="1" dirty="0">
                <a:solidFill>
                  <a:srgbClr val="FF0000"/>
                </a:solidFill>
                <a:latin typeface="Arial" pitchFamily="34" charset="0"/>
                <a:cs typeface="Arial" pitchFamily="34" charset="0"/>
              </a:rPr>
              <a:t>Identificación de las restricciones</a:t>
            </a:r>
          </a:p>
          <a:p>
            <a:pPr algn="just" fontAlgn="base">
              <a:spcBef>
                <a:spcPct val="0"/>
              </a:spcBef>
              <a:spcAft>
                <a:spcPct val="0"/>
              </a:spcAft>
            </a:pPr>
            <a:r>
              <a:rPr lang="es-ES" sz="2000" b="1" dirty="0">
                <a:solidFill>
                  <a:srgbClr val="FF0000"/>
                </a:solidFill>
                <a:latin typeface="Arial" pitchFamily="34" charset="0"/>
                <a:cs typeface="Arial" pitchFamily="34" charset="0"/>
              </a:rPr>
              <a:t>	</a:t>
            </a:r>
            <a:r>
              <a:rPr lang="es-ES" sz="2000" b="1" dirty="0">
                <a:latin typeface="Arial" pitchFamily="34" charset="0"/>
                <a:cs typeface="Arial" pitchFamily="34" charset="0"/>
              </a:rPr>
              <a:t>X1 + 1,5X2 &lt;=750</a:t>
            </a:r>
          </a:p>
          <a:p>
            <a:pPr algn="just" fontAlgn="base">
              <a:spcBef>
                <a:spcPct val="0"/>
              </a:spcBef>
              <a:spcAft>
                <a:spcPct val="0"/>
              </a:spcAft>
            </a:pPr>
            <a:r>
              <a:rPr lang="es-ES" sz="2000" b="1" dirty="0">
                <a:latin typeface="Arial" pitchFamily="34" charset="0"/>
                <a:cs typeface="Arial" pitchFamily="34" charset="0"/>
              </a:rPr>
              <a:t>	1,5X1 + X2 &lt;=750</a:t>
            </a:r>
          </a:p>
          <a:p>
            <a:pPr algn="just" fontAlgn="base">
              <a:spcBef>
                <a:spcPct val="0"/>
              </a:spcBef>
              <a:spcAft>
                <a:spcPct val="0"/>
              </a:spcAft>
            </a:pPr>
            <a:r>
              <a:rPr lang="es-ES" sz="2000" b="1" dirty="0">
                <a:latin typeface="Arial" pitchFamily="34" charset="0"/>
                <a:cs typeface="Arial" pitchFamily="34" charset="0"/>
              </a:rPr>
              <a:t>                     X1, X2 &gt;=0, ENTERO</a:t>
            </a:r>
            <a:endParaRPr lang="es-PE" sz="2000" b="1" dirty="0">
              <a:latin typeface="Arial" pitchFamily="34" charset="0"/>
              <a:cs typeface="Arial" pitchFamily="34" charset="0"/>
            </a:endParaRPr>
          </a:p>
        </p:txBody>
      </p:sp>
      <p:sp>
        <p:nvSpPr>
          <p:cNvPr id="5" name="4 Rectángulo"/>
          <p:cNvSpPr/>
          <p:nvPr/>
        </p:nvSpPr>
        <p:spPr>
          <a:xfrm>
            <a:off x="203211" y="4891839"/>
            <a:ext cx="5776483" cy="707886"/>
          </a:xfrm>
          <a:prstGeom prst="rect">
            <a:avLst/>
          </a:prstGeom>
          <a:solidFill>
            <a:srgbClr val="FFFF00"/>
          </a:solidFill>
        </p:spPr>
        <p:txBody>
          <a:bodyPr wrap="square">
            <a:spAutoFit/>
          </a:bodyPr>
          <a:lstStyle/>
          <a:p>
            <a:pPr algn="just" fontAlgn="base">
              <a:spcBef>
                <a:spcPct val="0"/>
              </a:spcBef>
              <a:spcAft>
                <a:spcPct val="0"/>
              </a:spcAft>
            </a:pPr>
            <a:r>
              <a:rPr lang="es-PE" sz="2000" b="1" dirty="0">
                <a:solidFill>
                  <a:srgbClr val="FF0000"/>
                </a:solidFill>
                <a:latin typeface="Arial" pitchFamily="34" charset="0"/>
                <a:cs typeface="Arial" pitchFamily="34" charset="0"/>
              </a:rPr>
              <a:t>II.  Identificación de la Función Objetivo</a:t>
            </a:r>
          </a:p>
          <a:p>
            <a:pPr algn="just" fontAlgn="base">
              <a:spcBef>
                <a:spcPct val="0"/>
              </a:spcBef>
              <a:spcAft>
                <a:spcPct val="0"/>
              </a:spcAft>
            </a:pPr>
            <a:r>
              <a:rPr lang="en-US" sz="2000" b="1" dirty="0">
                <a:latin typeface="Arial" pitchFamily="34" charset="0"/>
                <a:cs typeface="Arial" pitchFamily="34" charset="0"/>
              </a:rPr>
              <a:t>       Max 25X1+ 30X2</a:t>
            </a:r>
            <a:endParaRPr lang="es-PE" sz="2000" b="1" dirty="0">
              <a:latin typeface="Arial" pitchFamily="34" charset="0"/>
              <a:cs typeface="Arial" pitchFamily="34" charset="0"/>
            </a:endParaRPr>
          </a:p>
        </p:txBody>
      </p:sp>
    </p:spTree>
    <p:extLst>
      <p:ext uri="{BB962C8B-B14F-4D97-AF65-F5344CB8AC3E}">
        <p14:creationId xmlns:p14="http://schemas.microsoft.com/office/powerpoint/2010/main" val="1127109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6096000" y="244093"/>
            <a:ext cx="6096000" cy="581823"/>
          </a:xfrm>
          <a:noFill/>
          <a:ln w="9525">
            <a:noFill/>
            <a:miter lim="800000"/>
            <a:headEnd/>
            <a:tailEnd/>
          </a:ln>
          <a:effectLst/>
        </p:spPr>
        <p:txBody>
          <a:bodyPr vert="horz" wrap="square" lIns="91440" tIns="45720" rIns="91440" bIns="45720" numCol="1" anchor="ctr" anchorCtr="0" compatLnSpc="1">
            <a:prstTxWarp prst="textNoShape">
              <a:avLst/>
            </a:prstTxWarp>
          </a:bodyPr>
          <a:lstStyle/>
          <a:p>
            <a:pPr algn="ctr"/>
            <a:r>
              <a:rPr lang="es-ES" sz="3200" dirty="0">
                <a:solidFill>
                  <a:schemeClr val="bg1"/>
                </a:solidFill>
                <a:latin typeface="Bauhaus 93" pitchFamily="82" charset="0"/>
                <a:ea typeface="+mn-ea"/>
                <a:cs typeface="+mn-cs"/>
              </a:rPr>
              <a:t>Solución</a:t>
            </a:r>
          </a:p>
        </p:txBody>
      </p:sp>
      <p:pic>
        <p:nvPicPr>
          <p:cNvPr id="5" name="image4.jpeg"/>
          <p:cNvPicPr/>
          <p:nvPr/>
        </p:nvPicPr>
        <p:blipFill>
          <a:blip r:embed="rId2" cstate="print"/>
          <a:stretch>
            <a:fillRect/>
          </a:stretch>
        </p:blipFill>
        <p:spPr>
          <a:xfrm>
            <a:off x="6204012" y="1556792"/>
            <a:ext cx="3414112" cy="2688124"/>
          </a:xfrm>
          <a:prstGeom prst="rect">
            <a:avLst/>
          </a:prstGeom>
        </p:spPr>
      </p:pic>
      <p:sp>
        <p:nvSpPr>
          <p:cNvPr id="2" name="1 Rectángulo"/>
          <p:cNvSpPr/>
          <p:nvPr/>
        </p:nvSpPr>
        <p:spPr>
          <a:xfrm>
            <a:off x="8292829" y="1334011"/>
            <a:ext cx="3827966" cy="1631216"/>
          </a:xfrm>
          <a:prstGeom prst="rect">
            <a:avLst/>
          </a:prstGeom>
          <a:solidFill>
            <a:schemeClr val="accent4">
              <a:lumMod val="20000"/>
              <a:lumOff val="80000"/>
            </a:schemeClr>
          </a:solidFill>
        </p:spPr>
        <p:txBody>
          <a:bodyPr wrap="square">
            <a:spAutoFit/>
          </a:bodyPr>
          <a:lstStyle/>
          <a:p>
            <a:r>
              <a:rPr lang="en-US" sz="2000" b="1" dirty="0">
                <a:latin typeface="Arial Narrow" panose="020B0606020202030204" pitchFamily="34" charset="0"/>
              </a:rPr>
              <a:t>OBJECTIVE FUNCTION VALUE</a:t>
            </a:r>
          </a:p>
          <a:p>
            <a:r>
              <a:rPr lang="en-US" sz="2000" b="1" dirty="0">
                <a:latin typeface="Arial Narrow" panose="020B0606020202030204" pitchFamily="34" charset="0"/>
              </a:rPr>
              <a:t> 1)      16500.00</a:t>
            </a:r>
          </a:p>
          <a:p>
            <a:r>
              <a:rPr lang="en-US" sz="2000" b="1" dirty="0">
                <a:latin typeface="Arial Narrow" panose="020B0606020202030204" pitchFamily="34" charset="0"/>
              </a:rPr>
              <a:t>VARIABLE  VALUE  REDUCED COST</a:t>
            </a:r>
          </a:p>
          <a:p>
            <a:r>
              <a:rPr lang="en-US" sz="2000" b="1" dirty="0">
                <a:latin typeface="Arial Narrow" panose="020B0606020202030204" pitchFamily="34" charset="0"/>
              </a:rPr>
              <a:t>        </a:t>
            </a:r>
            <a:r>
              <a:rPr lang="en-US" sz="2000" b="1" dirty="0" err="1">
                <a:latin typeface="Arial Narrow" panose="020B0606020202030204" pitchFamily="34" charset="0"/>
              </a:rPr>
              <a:t>X1</a:t>
            </a:r>
            <a:r>
              <a:rPr lang="en-US" sz="2000" b="1" dirty="0">
                <a:latin typeface="Arial Narrow" panose="020B0606020202030204" pitchFamily="34" charset="0"/>
              </a:rPr>
              <a:t>       300.000000      -25.000000</a:t>
            </a:r>
          </a:p>
          <a:p>
            <a:r>
              <a:rPr lang="en-US" sz="2000" b="1" dirty="0">
                <a:latin typeface="Arial Narrow" panose="020B0606020202030204" pitchFamily="34" charset="0"/>
              </a:rPr>
              <a:t>        </a:t>
            </a:r>
            <a:r>
              <a:rPr lang="en-US" sz="2000" b="1" dirty="0" err="1">
                <a:latin typeface="Arial Narrow" panose="020B0606020202030204" pitchFamily="34" charset="0"/>
              </a:rPr>
              <a:t>X2</a:t>
            </a:r>
            <a:r>
              <a:rPr lang="en-US" sz="2000" b="1" dirty="0">
                <a:latin typeface="Arial Narrow" panose="020B0606020202030204" pitchFamily="34" charset="0"/>
              </a:rPr>
              <a:t>       300.000000      -30.000000</a:t>
            </a:r>
            <a:endParaRPr lang="es-PE" sz="2000" b="1" dirty="0">
              <a:latin typeface="Arial Narrow" panose="020B0606020202030204" pitchFamily="34" charset="0"/>
            </a:endParaRPr>
          </a:p>
        </p:txBody>
      </p:sp>
      <p:graphicFrame>
        <p:nvGraphicFramePr>
          <p:cNvPr id="6" name="Table 16"/>
          <p:cNvGraphicFramePr/>
          <p:nvPr/>
        </p:nvGraphicFramePr>
        <p:xfrm>
          <a:off x="1393327" y="1247582"/>
          <a:ext cx="4622461" cy="2529840"/>
        </p:xfrm>
        <a:graphic>
          <a:graphicData uri="http://schemas.openxmlformats.org/drawingml/2006/table">
            <a:tbl>
              <a:tblPr/>
              <a:tblGrid>
                <a:gridCol w="4622461">
                  <a:extLst>
                    <a:ext uri="{9D8B030D-6E8A-4147-A177-3AD203B41FA5}">
                      <a16:colId xmlns:a16="http://schemas.microsoft.com/office/drawing/2014/main" val="20000"/>
                    </a:ext>
                  </a:extLst>
                </a:gridCol>
              </a:tblGrid>
              <a:tr h="1631239">
                <a:tc>
                  <a:txBody>
                    <a:bodyPr/>
                    <a:lstStyle/>
                    <a:p>
                      <a:pPr marL="631800" indent="-631080">
                        <a:lnSpc>
                          <a:spcPct val="100000"/>
                        </a:lnSpc>
                      </a:pPr>
                      <a:r>
                        <a:rPr lang="es-PE" sz="2000" b="1" strike="noStrike" spc="-1" dirty="0">
                          <a:solidFill>
                            <a:schemeClr val="bg2">
                              <a:lumMod val="10000"/>
                            </a:schemeClr>
                          </a:solidFill>
                          <a:latin typeface="Arial Narrow" panose="020B0606020202030204" pitchFamily="34" charset="0"/>
                        </a:rPr>
                        <a:t>SOLUCIÓN</a:t>
                      </a:r>
                    </a:p>
                    <a:p>
                      <a:pPr marL="631800" indent="-631080">
                        <a:lnSpc>
                          <a:spcPct val="100000"/>
                        </a:lnSpc>
                      </a:pPr>
                      <a:r>
                        <a:rPr lang="es-PE" sz="2000" b="1" strike="noStrike" spc="-1" dirty="0">
                          <a:solidFill>
                            <a:schemeClr val="bg2">
                              <a:lumMod val="10000"/>
                            </a:schemeClr>
                          </a:solidFill>
                          <a:latin typeface="Arial Narrow" panose="020B0606020202030204" pitchFamily="34" charset="0"/>
                        </a:rPr>
                        <a:t>PASO 1: Graficando las restricciones:</a:t>
                      </a:r>
                    </a:p>
                    <a:p>
                      <a:pPr marL="914400" marR="0" lvl="0" indent="-513720" algn="l" defTabSz="914400" rtl="0" eaLnBrk="1" fontAlgn="auto" latinLnBrk="0" hangingPunct="1">
                        <a:lnSpc>
                          <a:spcPct val="100000"/>
                        </a:lnSpc>
                        <a:spcBef>
                          <a:spcPts val="0"/>
                        </a:spcBef>
                        <a:spcAft>
                          <a:spcPts val="0"/>
                        </a:spcAft>
                        <a:buClrTx/>
                        <a:buSzTx/>
                        <a:buFontTx/>
                        <a:buNone/>
                        <a:tabLst/>
                        <a:defRPr/>
                      </a:pPr>
                      <a:r>
                        <a:rPr lang="es-ES" sz="2000" dirty="0" err="1">
                          <a:latin typeface="Arial" pitchFamily="34" charset="0"/>
                          <a:ea typeface="Calibri" pitchFamily="34" charset="0"/>
                          <a:cs typeface="Arial" pitchFamily="34" charset="0"/>
                        </a:rPr>
                        <a:t>X1</a:t>
                      </a:r>
                      <a:r>
                        <a:rPr lang="es-ES" sz="2000" dirty="0">
                          <a:latin typeface="Arial" pitchFamily="34" charset="0"/>
                          <a:ea typeface="Calibri" pitchFamily="34" charset="0"/>
                          <a:cs typeface="Arial" pitchFamily="34" charset="0"/>
                        </a:rPr>
                        <a:t> + </a:t>
                      </a:r>
                      <a:r>
                        <a:rPr lang="es-ES" sz="2000" dirty="0" err="1">
                          <a:latin typeface="Arial" pitchFamily="34" charset="0"/>
                          <a:ea typeface="Calibri" pitchFamily="34" charset="0"/>
                          <a:cs typeface="Arial" pitchFamily="34" charset="0"/>
                        </a:rPr>
                        <a:t>1,5X2</a:t>
                      </a:r>
                      <a:r>
                        <a:rPr lang="es-ES" sz="2000" dirty="0">
                          <a:latin typeface="Arial" pitchFamily="34" charset="0"/>
                          <a:ea typeface="Calibri" pitchFamily="34" charset="0"/>
                          <a:cs typeface="Arial" pitchFamily="34" charset="0"/>
                        </a:rPr>
                        <a:t> =750</a:t>
                      </a:r>
                      <a:r>
                        <a:rPr lang="es-PE" sz="2000" b="1" strike="noStrike" spc="-1" dirty="0">
                          <a:solidFill>
                            <a:schemeClr val="bg2">
                              <a:lumMod val="10000"/>
                            </a:schemeClr>
                          </a:solidFill>
                          <a:latin typeface="Arial Narrow" panose="020B0606020202030204" pitchFamily="34" charset="0"/>
                        </a:rPr>
                        <a:t>      (I)</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0" strike="noStrike" spc="-1" dirty="0">
                          <a:solidFill>
                            <a:schemeClr val="bg2">
                              <a:lumMod val="10000"/>
                            </a:schemeClr>
                          </a:solidFill>
                          <a:latin typeface="Wingdings"/>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=500</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0" strike="noStrike" spc="-1" dirty="0">
                          <a:solidFill>
                            <a:schemeClr val="bg2">
                              <a:lumMod val="10000"/>
                            </a:schemeClr>
                          </a:solidFill>
                          <a:latin typeface="Wingdings"/>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=750</a:t>
                      </a:r>
                    </a:p>
                    <a:p>
                      <a:pPr marL="914400" marR="0" lvl="0" indent="-513720" algn="l" defTabSz="914400" rtl="0" eaLnBrk="1" fontAlgn="auto" latinLnBrk="0" hangingPunct="1">
                        <a:lnSpc>
                          <a:spcPct val="100000"/>
                        </a:lnSpc>
                        <a:spcBef>
                          <a:spcPts val="0"/>
                        </a:spcBef>
                        <a:spcAft>
                          <a:spcPts val="0"/>
                        </a:spcAft>
                        <a:buClrTx/>
                        <a:buSzTx/>
                        <a:buFontTx/>
                        <a:buNone/>
                        <a:tabLst/>
                        <a:defRPr/>
                      </a:pPr>
                      <a:r>
                        <a:rPr lang="es-ES" sz="2000" dirty="0" err="1">
                          <a:latin typeface="Arial" pitchFamily="34" charset="0"/>
                          <a:ea typeface="Calibri" pitchFamily="34" charset="0"/>
                          <a:cs typeface="Arial" pitchFamily="34" charset="0"/>
                        </a:rPr>
                        <a:t>1,5X1</a:t>
                      </a:r>
                      <a:r>
                        <a:rPr lang="es-ES" sz="2000" dirty="0">
                          <a:latin typeface="Arial" pitchFamily="34" charset="0"/>
                          <a:ea typeface="Calibri" pitchFamily="34" charset="0"/>
                          <a:cs typeface="Arial" pitchFamily="34" charset="0"/>
                        </a:rPr>
                        <a:t> + </a:t>
                      </a:r>
                      <a:r>
                        <a:rPr lang="es-ES" sz="2000" dirty="0" err="1">
                          <a:latin typeface="Arial" pitchFamily="34" charset="0"/>
                          <a:ea typeface="Calibri" pitchFamily="34" charset="0"/>
                          <a:cs typeface="Arial" pitchFamily="34" charset="0"/>
                        </a:rPr>
                        <a:t>X2</a:t>
                      </a:r>
                      <a:r>
                        <a:rPr lang="es-ES" sz="2000" dirty="0">
                          <a:latin typeface="Arial" pitchFamily="34" charset="0"/>
                          <a:ea typeface="Calibri" pitchFamily="34" charset="0"/>
                          <a:cs typeface="Arial" pitchFamily="34" charset="0"/>
                        </a:rPr>
                        <a:t> =750     </a:t>
                      </a:r>
                      <a:r>
                        <a:rPr lang="es-PE" sz="2000" b="1" strike="noStrike" spc="-1" dirty="0">
                          <a:solidFill>
                            <a:schemeClr val="bg2">
                              <a:lumMod val="10000"/>
                            </a:schemeClr>
                          </a:solidFill>
                          <a:latin typeface="Arial Narrow" panose="020B0606020202030204" pitchFamily="34" charset="0"/>
                        </a:rPr>
                        <a:t>(II)</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=0     </a:t>
                      </a:r>
                      <a:r>
                        <a:rPr lang="es-PE" sz="2000" b="0" strike="noStrike" spc="-1" dirty="0">
                          <a:solidFill>
                            <a:schemeClr val="bg2">
                              <a:lumMod val="10000"/>
                            </a:schemeClr>
                          </a:solidFill>
                          <a:latin typeface="Wingdings"/>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=750</a:t>
                      </a:r>
                    </a:p>
                    <a:p>
                      <a:pPr marL="914400" indent="-513720">
                        <a:lnSpc>
                          <a:spcPct val="100000"/>
                        </a:lnSpc>
                      </a:pPr>
                      <a:r>
                        <a:rPr lang="es-PE" sz="2000" b="1" strike="noStrike" spc="-1" dirty="0">
                          <a:solidFill>
                            <a:schemeClr val="bg2">
                              <a:lumMod val="10000"/>
                            </a:schemeClr>
                          </a:solidFill>
                          <a:latin typeface="Arial Narrow" panose="020B0606020202030204" pitchFamily="34" charset="0"/>
                        </a:rPr>
                        <a:t>Si </a:t>
                      </a:r>
                      <a:r>
                        <a:rPr lang="es-PE" sz="2000" b="1" strike="noStrike" spc="-1" dirty="0" err="1">
                          <a:solidFill>
                            <a:schemeClr val="bg2">
                              <a:lumMod val="10000"/>
                            </a:schemeClr>
                          </a:solidFill>
                          <a:latin typeface="Arial Narrow" panose="020B0606020202030204" pitchFamily="34" charset="0"/>
                        </a:rPr>
                        <a:t>X2</a:t>
                      </a:r>
                      <a:r>
                        <a:rPr lang="es-PE" sz="2000" b="1" strike="noStrike" spc="-1" dirty="0">
                          <a:solidFill>
                            <a:schemeClr val="bg2">
                              <a:lumMod val="10000"/>
                            </a:schemeClr>
                          </a:solidFill>
                          <a:latin typeface="Arial Narrow" panose="020B0606020202030204" pitchFamily="34" charset="0"/>
                        </a:rPr>
                        <a:t>=0     </a:t>
                      </a:r>
                      <a:r>
                        <a:rPr lang="es-PE" sz="2000" b="0" strike="noStrike" spc="-1" dirty="0">
                          <a:solidFill>
                            <a:schemeClr val="bg2">
                              <a:lumMod val="10000"/>
                            </a:schemeClr>
                          </a:solidFill>
                          <a:latin typeface="Wingdings"/>
                        </a:rPr>
                        <a:t></a:t>
                      </a:r>
                      <a:r>
                        <a:rPr lang="es-PE" sz="2000" b="1" strike="noStrike" spc="-1" dirty="0">
                          <a:solidFill>
                            <a:schemeClr val="bg2">
                              <a:lumMod val="10000"/>
                            </a:schemeClr>
                          </a:solidFill>
                          <a:latin typeface="Arial Narrow" panose="020B0606020202030204" pitchFamily="34" charset="0"/>
                        </a:rPr>
                        <a:t>    </a:t>
                      </a:r>
                      <a:r>
                        <a:rPr lang="es-PE" sz="2000" b="1" strike="noStrike" spc="-1" dirty="0" err="1">
                          <a:solidFill>
                            <a:schemeClr val="bg2">
                              <a:lumMod val="10000"/>
                            </a:schemeClr>
                          </a:solidFill>
                          <a:latin typeface="Arial Narrow" panose="020B0606020202030204" pitchFamily="34" charset="0"/>
                        </a:rPr>
                        <a:t>X1</a:t>
                      </a:r>
                      <a:r>
                        <a:rPr lang="es-PE" sz="2000" b="1" strike="noStrike" spc="-1" dirty="0">
                          <a:solidFill>
                            <a:schemeClr val="bg2">
                              <a:lumMod val="10000"/>
                            </a:schemeClr>
                          </a:solidFill>
                          <a:latin typeface="Arial Narrow" panose="020B0606020202030204" pitchFamily="34" charset="0"/>
                        </a:rPr>
                        <a:t>=500</a:t>
                      </a:r>
                    </a:p>
                  </a:txBody>
                  <a:tcPr>
                    <a:lnL w="12240">
                      <a:solidFill>
                        <a:srgbClr val="FFFFFF"/>
                      </a:solidFill>
                    </a:lnL>
                    <a:lnR w="12240">
                      <a:solidFill>
                        <a:srgbClr val="FFFFFF"/>
                      </a:solidFill>
                    </a:lnR>
                    <a:lnT w="12240">
                      <a:solidFill>
                        <a:srgbClr val="FFFFFF"/>
                      </a:solidFill>
                    </a:lnT>
                    <a:lnB w="12240" cap="flat" cmpd="sng" algn="ctr">
                      <a:solidFill>
                        <a:srgbClr val="FFFFFF"/>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bl>
          </a:graphicData>
        </a:graphic>
      </p:graphicFrame>
      <p:cxnSp>
        <p:nvCxnSpPr>
          <p:cNvPr id="8" name="7 Conector recto"/>
          <p:cNvCxnSpPr/>
          <p:nvPr/>
        </p:nvCxnSpPr>
        <p:spPr>
          <a:xfrm>
            <a:off x="6449772" y="2900854"/>
            <a:ext cx="1730082" cy="1344062"/>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6602172" y="2132856"/>
            <a:ext cx="1730082" cy="1344062"/>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1" name="10 Elipse"/>
          <p:cNvSpPr/>
          <p:nvPr/>
        </p:nvSpPr>
        <p:spPr>
          <a:xfrm>
            <a:off x="7529892" y="2852937"/>
            <a:ext cx="72008" cy="959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3" name="12 Conector recto"/>
          <p:cNvCxnSpPr/>
          <p:nvPr/>
        </p:nvCxnSpPr>
        <p:spPr>
          <a:xfrm>
            <a:off x="7566339" y="2852937"/>
            <a:ext cx="0" cy="93597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 name="14 Conector recto"/>
          <p:cNvCxnSpPr>
            <a:cxnSpLocks/>
          </p:cNvCxnSpPr>
          <p:nvPr/>
        </p:nvCxnSpPr>
        <p:spPr>
          <a:xfrm>
            <a:off x="6729508" y="2883640"/>
            <a:ext cx="84521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0" name="19 Rectángulo"/>
          <p:cNvSpPr/>
          <p:nvPr/>
        </p:nvSpPr>
        <p:spPr>
          <a:xfrm>
            <a:off x="6674534" y="4451275"/>
            <a:ext cx="2769838" cy="2246769"/>
          </a:xfrm>
          <a:prstGeom prst="rect">
            <a:avLst/>
          </a:prstGeom>
          <a:solidFill>
            <a:srgbClr val="FFC000"/>
          </a:solidFill>
        </p:spPr>
        <p:txBody>
          <a:bodyPr wrap="square">
            <a:spAutoFit/>
          </a:bodyPr>
          <a:lstStyle/>
          <a:p>
            <a:pPr algn="just"/>
            <a:r>
              <a:rPr lang="es-ES" sz="2000" b="1" spc="-1" dirty="0" err="1">
                <a:solidFill>
                  <a:schemeClr val="bg2">
                    <a:lumMod val="10000"/>
                  </a:schemeClr>
                </a:solidFill>
                <a:latin typeface="Arial Narrow"/>
              </a:rPr>
              <a:t>X1</a:t>
            </a:r>
            <a:r>
              <a:rPr lang="es-ES" sz="2000" b="1" spc="-1" dirty="0">
                <a:solidFill>
                  <a:schemeClr val="bg2">
                    <a:lumMod val="10000"/>
                  </a:schemeClr>
                </a:solidFill>
                <a:latin typeface="Arial Narrow"/>
              </a:rPr>
              <a:t> + </a:t>
            </a:r>
            <a:r>
              <a:rPr lang="es-ES" sz="2000" b="1" spc="-1" dirty="0" err="1">
                <a:solidFill>
                  <a:schemeClr val="bg2">
                    <a:lumMod val="10000"/>
                  </a:schemeClr>
                </a:solidFill>
                <a:latin typeface="Arial Narrow"/>
              </a:rPr>
              <a:t>1,5X2</a:t>
            </a:r>
            <a:r>
              <a:rPr lang="es-ES" sz="2000" b="1" spc="-1" dirty="0">
                <a:solidFill>
                  <a:schemeClr val="bg2">
                    <a:lumMod val="10000"/>
                  </a:schemeClr>
                </a:solidFill>
                <a:latin typeface="Arial Narrow"/>
              </a:rPr>
              <a:t> =750</a:t>
            </a:r>
            <a:r>
              <a:rPr lang="es-PE" sz="2000" b="1" spc="-1" dirty="0">
                <a:solidFill>
                  <a:schemeClr val="bg2">
                    <a:lumMod val="10000"/>
                  </a:schemeClr>
                </a:solidFill>
                <a:latin typeface="Arial Narrow"/>
              </a:rPr>
              <a:t>           I</a:t>
            </a:r>
          </a:p>
          <a:p>
            <a:pPr algn="just"/>
            <a:r>
              <a:rPr lang="es-ES" sz="2000" b="1" spc="-1" dirty="0" err="1">
                <a:solidFill>
                  <a:schemeClr val="bg2">
                    <a:lumMod val="10000"/>
                  </a:schemeClr>
                </a:solidFill>
                <a:latin typeface="Arial Narrow"/>
              </a:rPr>
              <a:t>1,5X1</a:t>
            </a:r>
            <a:r>
              <a:rPr lang="es-ES" sz="2000" b="1" spc="-1" dirty="0">
                <a:solidFill>
                  <a:schemeClr val="bg2">
                    <a:lumMod val="10000"/>
                  </a:schemeClr>
                </a:solidFill>
                <a:latin typeface="Arial Narrow"/>
              </a:rPr>
              <a:t> + </a:t>
            </a:r>
            <a:r>
              <a:rPr lang="es-ES" sz="2000" b="1" spc="-1" dirty="0" err="1">
                <a:solidFill>
                  <a:schemeClr val="bg2">
                    <a:lumMod val="10000"/>
                  </a:schemeClr>
                </a:solidFill>
                <a:latin typeface="Arial Narrow"/>
              </a:rPr>
              <a:t>X2</a:t>
            </a:r>
            <a:r>
              <a:rPr lang="es-ES" sz="2000" b="1" spc="-1" dirty="0">
                <a:solidFill>
                  <a:schemeClr val="bg2">
                    <a:lumMod val="10000"/>
                  </a:schemeClr>
                </a:solidFill>
                <a:latin typeface="Arial Narrow"/>
              </a:rPr>
              <a:t> =750          II </a:t>
            </a:r>
          </a:p>
          <a:p>
            <a:pPr algn="just"/>
            <a:r>
              <a:rPr lang="es-ES" sz="2000" b="1" spc="-1" dirty="0" err="1">
                <a:solidFill>
                  <a:schemeClr val="bg2">
                    <a:lumMod val="10000"/>
                  </a:schemeClr>
                </a:solidFill>
                <a:latin typeface="Arial Narrow"/>
              </a:rPr>
              <a:t>1.5X1+2,25X2</a:t>
            </a:r>
            <a:r>
              <a:rPr lang="es-ES" sz="2000" b="1" spc="-1" dirty="0">
                <a:solidFill>
                  <a:schemeClr val="bg2">
                    <a:lumMod val="10000"/>
                  </a:schemeClr>
                </a:solidFill>
                <a:latin typeface="Arial Narrow"/>
              </a:rPr>
              <a:t>=1125   III</a:t>
            </a:r>
          </a:p>
          <a:p>
            <a:pPr algn="just"/>
            <a:r>
              <a:rPr lang="es-ES" sz="2000" b="1" spc="-1" dirty="0" err="1">
                <a:solidFill>
                  <a:schemeClr val="bg2">
                    <a:lumMod val="10000"/>
                  </a:schemeClr>
                </a:solidFill>
                <a:latin typeface="Arial Narrow"/>
              </a:rPr>
              <a:t>1.5X1</a:t>
            </a:r>
            <a:r>
              <a:rPr lang="es-ES" sz="2000" b="1" spc="-1" dirty="0">
                <a:solidFill>
                  <a:schemeClr val="bg2">
                    <a:lumMod val="10000"/>
                  </a:schemeClr>
                </a:solidFill>
                <a:latin typeface="Arial Narrow"/>
              </a:rPr>
              <a:t>+    </a:t>
            </a:r>
            <a:r>
              <a:rPr lang="es-ES" sz="2000" b="1" spc="-1" dirty="0" err="1">
                <a:solidFill>
                  <a:schemeClr val="bg2">
                    <a:lumMod val="10000"/>
                  </a:schemeClr>
                </a:solidFill>
                <a:latin typeface="Arial Narrow"/>
              </a:rPr>
              <a:t>X2</a:t>
            </a:r>
            <a:r>
              <a:rPr lang="es-ES" sz="2000" b="1" spc="-1" dirty="0">
                <a:solidFill>
                  <a:schemeClr val="bg2">
                    <a:lumMod val="10000"/>
                  </a:schemeClr>
                </a:solidFill>
                <a:latin typeface="Arial Narrow"/>
              </a:rPr>
              <a:t>    =750    IV</a:t>
            </a:r>
          </a:p>
          <a:p>
            <a:pPr algn="just"/>
            <a:r>
              <a:rPr lang="es-ES" sz="2000" b="1" spc="-1" dirty="0">
                <a:solidFill>
                  <a:schemeClr val="bg2">
                    <a:lumMod val="10000"/>
                  </a:schemeClr>
                </a:solidFill>
                <a:latin typeface="Arial Narrow"/>
              </a:rPr>
              <a:t>III-IV     </a:t>
            </a:r>
            <a:r>
              <a:rPr lang="es-ES" sz="2000" b="1" spc="-1" dirty="0" err="1">
                <a:solidFill>
                  <a:schemeClr val="bg2">
                    <a:lumMod val="10000"/>
                  </a:schemeClr>
                </a:solidFill>
                <a:latin typeface="Arial Narrow"/>
              </a:rPr>
              <a:t>1,25X2</a:t>
            </a:r>
            <a:r>
              <a:rPr lang="es-ES" sz="2000" b="1" spc="-1" dirty="0">
                <a:solidFill>
                  <a:schemeClr val="bg2">
                    <a:lumMod val="10000"/>
                  </a:schemeClr>
                </a:solidFill>
                <a:latin typeface="Arial Narrow"/>
              </a:rPr>
              <a:t>=  375</a:t>
            </a:r>
          </a:p>
          <a:p>
            <a:pPr algn="just"/>
            <a:r>
              <a:rPr lang="es-ES" sz="2000" b="1" spc="-1" dirty="0">
                <a:solidFill>
                  <a:schemeClr val="bg2">
                    <a:lumMod val="10000"/>
                  </a:schemeClr>
                </a:solidFill>
                <a:latin typeface="Arial Narrow"/>
              </a:rPr>
              <a:t>                    </a:t>
            </a:r>
            <a:r>
              <a:rPr lang="es-ES" sz="2000" b="1" spc="-1" dirty="0" err="1">
                <a:solidFill>
                  <a:schemeClr val="bg2">
                    <a:lumMod val="10000"/>
                  </a:schemeClr>
                </a:solidFill>
                <a:latin typeface="Arial Narrow"/>
              </a:rPr>
              <a:t>X2</a:t>
            </a:r>
            <a:r>
              <a:rPr lang="es-ES" sz="2000" b="1" spc="-1" dirty="0">
                <a:solidFill>
                  <a:schemeClr val="bg2">
                    <a:lumMod val="10000"/>
                  </a:schemeClr>
                </a:solidFill>
                <a:latin typeface="Arial Narrow"/>
              </a:rPr>
              <a:t>=300</a:t>
            </a:r>
          </a:p>
          <a:p>
            <a:pPr algn="just"/>
            <a:r>
              <a:rPr lang="es-ES" sz="2000" b="1" spc="-1" dirty="0">
                <a:solidFill>
                  <a:schemeClr val="bg2">
                    <a:lumMod val="10000"/>
                  </a:schemeClr>
                </a:solidFill>
                <a:latin typeface="Arial Narrow"/>
              </a:rPr>
              <a:t>           En I   </a:t>
            </a:r>
            <a:r>
              <a:rPr lang="es-ES" sz="2000" b="1" spc="-1" dirty="0" err="1">
                <a:solidFill>
                  <a:schemeClr val="bg2">
                    <a:lumMod val="10000"/>
                  </a:schemeClr>
                </a:solidFill>
                <a:latin typeface="Arial Narrow"/>
              </a:rPr>
              <a:t>x1</a:t>
            </a:r>
            <a:r>
              <a:rPr lang="es-ES" sz="2000" b="1" spc="-1" dirty="0">
                <a:solidFill>
                  <a:schemeClr val="bg2">
                    <a:lumMod val="10000"/>
                  </a:schemeClr>
                </a:solidFill>
                <a:latin typeface="Arial Narrow"/>
              </a:rPr>
              <a:t>=300</a:t>
            </a:r>
            <a:endParaRPr lang="es-PE" sz="2000" b="1" spc="-1" dirty="0">
              <a:solidFill>
                <a:schemeClr val="bg2">
                  <a:lumMod val="10000"/>
                </a:schemeClr>
              </a:solidFill>
              <a:latin typeface="Arial Narrow"/>
            </a:endParaRPr>
          </a:p>
        </p:txBody>
      </p:sp>
      <p:sp>
        <p:nvSpPr>
          <p:cNvPr id="4" name="Rectángulo 3">
            <a:extLst>
              <a:ext uri="{FF2B5EF4-FFF2-40B4-BE49-F238E27FC236}">
                <a16:creationId xmlns:a16="http://schemas.microsoft.com/office/drawing/2014/main" id="{02E10641-9BA9-4679-9178-4318BA923566}"/>
              </a:ext>
            </a:extLst>
          </p:cNvPr>
          <p:cNvSpPr/>
          <p:nvPr/>
        </p:nvSpPr>
        <p:spPr>
          <a:xfrm>
            <a:off x="1417608" y="5071227"/>
            <a:ext cx="4595003" cy="1631216"/>
          </a:xfrm>
          <a:prstGeom prst="rect">
            <a:avLst/>
          </a:prstGeom>
          <a:solidFill>
            <a:srgbClr val="FFC000"/>
          </a:solidFill>
        </p:spPr>
        <p:txBody>
          <a:bodyPr wrap="square">
            <a:spAutoFit/>
          </a:bodyPr>
          <a:lstStyle/>
          <a:p>
            <a:pPr algn="just">
              <a:lnSpc>
                <a:spcPct val="100000"/>
              </a:lnSpc>
            </a:pPr>
            <a:r>
              <a:rPr lang="es-PE" sz="2000" b="1" spc="-1" dirty="0">
                <a:solidFill>
                  <a:schemeClr val="bg2">
                    <a:lumMod val="10000"/>
                  </a:schemeClr>
                </a:solidFill>
                <a:latin typeface="Arial Narrow"/>
                <a:ea typeface="DejaVu Sans"/>
              </a:rPr>
              <a:t>PASO 4: Hallando la Solución óptima</a:t>
            </a:r>
            <a:endParaRPr lang="es-PE" sz="2000" b="1" spc="-1" dirty="0">
              <a:solidFill>
                <a:schemeClr val="bg2">
                  <a:lumMod val="10000"/>
                </a:schemeClr>
              </a:solidFill>
              <a:latin typeface="Arial"/>
            </a:endParaRPr>
          </a:p>
          <a:p>
            <a:pPr algn="just">
              <a:lnSpc>
                <a:spcPct val="100000"/>
              </a:lnSpc>
            </a:pPr>
            <a:r>
              <a:rPr lang="es-PE" sz="2000" b="1" spc="-1" dirty="0">
                <a:solidFill>
                  <a:schemeClr val="bg2">
                    <a:lumMod val="10000"/>
                  </a:schemeClr>
                </a:solidFill>
                <a:latin typeface="Arial Narrow"/>
                <a:ea typeface="DejaVu Sans"/>
              </a:rPr>
              <a:t>Del gráfico la solución óptima es:</a:t>
            </a:r>
          </a:p>
          <a:p>
            <a:pPr algn="just">
              <a:lnSpc>
                <a:spcPct val="100000"/>
              </a:lnSpc>
            </a:pPr>
            <a:r>
              <a:rPr lang="es-PE" sz="2000" b="1" spc="-1" dirty="0">
                <a:solidFill>
                  <a:schemeClr val="bg2">
                    <a:lumMod val="10000"/>
                  </a:schemeClr>
                </a:solidFill>
                <a:latin typeface="Arial Narrow"/>
                <a:ea typeface="DejaVu Sans"/>
              </a:rPr>
              <a:t>	</a:t>
            </a:r>
            <a:r>
              <a:rPr lang="es-PE" sz="2000" b="1" spc="-1" dirty="0" err="1">
                <a:solidFill>
                  <a:schemeClr val="bg2">
                    <a:lumMod val="10000"/>
                  </a:schemeClr>
                </a:solidFill>
                <a:latin typeface="Arial Narrow"/>
                <a:ea typeface="DejaVu Sans"/>
              </a:rPr>
              <a:t>X1</a:t>
            </a:r>
            <a:r>
              <a:rPr lang="es-PE" sz="2000" b="1" spc="-1" dirty="0">
                <a:solidFill>
                  <a:schemeClr val="bg2">
                    <a:lumMod val="10000"/>
                  </a:schemeClr>
                </a:solidFill>
                <a:latin typeface="Arial Narrow"/>
                <a:ea typeface="DejaVu Sans"/>
              </a:rPr>
              <a:t>=300	   </a:t>
            </a:r>
            <a:r>
              <a:rPr lang="es-PE" sz="2000" b="1" spc="-1" dirty="0" err="1">
                <a:solidFill>
                  <a:schemeClr val="bg2">
                    <a:lumMod val="10000"/>
                  </a:schemeClr>
                </a:solidFill>
                <a:latin typeface="Arial Narrow"/>
                <a:ea typeface="DejaVu Sans"/>
              </a:rPr>
              <a:t>X2</a:t>
            </a:r>
            <a:r>
              <a:rPr lang="es-PE" sz="2000" b="1" spc="-1" dirty="0">
                <a:solidFill>
                  <a:schemeClr val="bg2">
                    <a:lumMod val="10000"/>
                  </a:schemeClr>
                </a:solidFill>
                <a:latin typeface="Arial Narrow"/>
                <a:ea typeface="DejaVu Sans"/>
              </a:rPr>
              <a:t>=300</a:t>
            </a:r>
          </a:p>
          <a:p>
            <a:pPr algn="just"/>
            <a:r>
              <a:rPr lang="es-PE" sz="2000" b="1" spc="-1" dirty="0">
                <a:solidFill>
                  <a:schemeClr val="bg2">
                    <a:lumMod val="10000"/>
                  </a:schemeClr>
                </a:solidFill>
                <a:latin typeface="Arial Narrow"/>
              </a:rPr>
              <a:t>El valor que toma la </a:t>
            </a:r>
            <a:r>
              <a:rPr lang="es-PE" sz="2000" b="1" spc="-1" dirty="0" err="1">
                <a:solidFill>
                  <a:schemeClr val="bg2">
                    <a:lumMod val="10000"/>
                  </a:schemeClr>
                </a:solidFill>
                <a:latin typeface="Arial Narrow"/>
              </a:rPr>
              <a:t>F.O</a:t>
            </a:r>
            <a:r>
              <a:rPr lang="es-PE" sz="2000" b="1" spc="-1" dirty="0">
                <a:solidFill>
                  <a:schemeClr val="bg2">
                    <a:lumMod val="10000"/>
                  </a:schemeClr>
                </a:solidFill>
                <a:latin typeface="Arial Narrow"/>
              </a:rPr>
              <a:t>. es:</a:t>
            </a:r>
          </a:p>
          <a:p>
            <a:pPr algn="just"/>
            <a:r>
              <a:rPr lang="es-PE" sz="2000" b="1" spc="-1" dirty="0">
                <a:solidFill>
                  <a:schemeClr val="bg2">
                    <a:lumMod val="10000"/>
                  </a:schemeClr>
                </a:solidFill>
                <a:latin typeface="Arial Narrow"/>
              </a:rPr>
              <a:t>	  Z= 25(300) + 30(300)  =  16500</a:t>
            </a:r>
            <a:endParaRPr lang="es-PE" sz="2000" b="1" spc="-1" dirty="0">
              <a:solidFill>
                <a:schemeClr val="bg2">
                  <a:lumMod val="10000"/>
                </a:schemeClr>
              </a:solidFill>
              <a:latin typeface="Arial Narrow" panose="020B0606020202030204" pitchFamily="34" charset="0"/>
            </a:endParaRPr>
          </a:p>
        </p:txBody>
      </p:sp>
      <p:sp>
        <p:nvSpPr>
          <p:cNvPr id="7" name="Rectángulo 6">
            <a:extLst>
              <a:ext uri="{FF2B5EF4-FFF2-40B4-BE49-F238E27FC236}">
                <a16:creationId xmlns:a16="http://schemas.microsoft.com/office/drawing/2014/main" id="{E42F83F7-0F7A-496A-BF56-560110D56581}"/>
              </a:ext>
            </a:extLst>
          </p:cNvPr>
          <p:cNvSpPr/>
          <p:nvPr/>
        </p:nvSpPr>
        <p:spPr>
          <a:xfrm>
            <a:off x="1408981" y="3760489"/>
            <a:ext cx="4595004" cy="1323439"/>
          </a:xfrm>
          <a:prstGeom prst="rect">
            <a:avLst/>
          </a:prstGeom>
          <a:solidFill>
            <a:srgbClr val="FFC000"/>
          </a:solidFill>
        </p:spPr>
        <p:txBody>
          <a:bodyPr wrap="square">
            <a:spAutoFit/>
          </a:bodyPr>
          <a:lstStyle/>
          <a:p>
            <a:pPr marL="914400" indent="-914400">
              <a:defRPr/>
            </a:pPr>
            <a:r>
              <a:rPr lang="es-PE" sz="2000" b="1" spc="-1" dirty="0">
                <a:solidFill>
                  <a:schemeClr val="bg2">
                    <a:lumMod val="10000"/>
                  </a:schemeClr>
                </a:solidFill>
                <a:latin typeface="Arial Narrow"/>
              </a:rPr>
              <a:t>PASO 3: Graficando la </a:t>
            </a:r>
            <a:r>
              <a:rPr lang="es-PE" sz="2000" b="1" spc="-1" dirty="0" err="1">
                <a:solidFill>
                  <a:schemeClr val="bg2">
                    <a:lumMod val="10000"/>
                  </a:schemeClr>
                </a:solidFill>
                <a:latin typeface="Arial Narrow"/>
              </a:rPr>
              <a:t>F.O</a:t>
            </a:r>
            <a:endParaRPr lang="es-PE" sz="2000" b="1" spc="-1" dirty="0">
              <a:solidFill>
                <a:schemeClr val="bg2">
                  <a:lumMod val="10000"/>
                </a:schemeClr>
              </a:solidFill>
            </a:endParaRPr>
          </a:p>
          <a:p>
            <a:pPr marL="914400" indent="-513720">
              <a:lnSpc>
                <a:spcPct val="100000"/>
              </a:lnSpc>
            </a:pPr>
            <a:r>
              <a:rPr lang="en-US" sz="2000" dirty="0" err="1">
                <a:latin typeface="Arial" pitchFamily="34" charset="0"/>
                <a:ea typeface="Calibri" pitchFamily="34" charset="0"/>
                <a:cs typeface="Arial" pitchFamily="34" charset="0"/>
              </a:rPr>
              <a:t>25X1</a:t>
            </a:r>
            <a:r>
              <a:rPr lang="en-US" sz="2000" dirty="0">
                <a:latin typeface="Arial" pitchFamily="34" charset="0"/>
                <a:ea typeface="Calibri" pitchFamily="34" charset="0"/>
                <a:cs typeface="Arial" pitchFamily="34" charset="0"/>
              </a:rPr>
              <a:t>+ </a:t>
            </a:r>
            <a:r>
              <a:rPr lang="en-US" sz="2000" dirty="0" err="1">
                <a:latin typeface="Arial" pitchFamily="34" charset="0"/>
                <a:ea typeface="Calibri" pitchFamily="34" charset="0"/>
                <a:cs typeface="Arial" pitchFamily="34" charset="0"/>
              </a:rPr>
              <a:t>30X2</a:t>
            </a:r>
            <a:r>
              <a:rPr lang="es-PE" sz="2000" b="1" spc="-1" dirty="0">
                <a:solidFill>
                  <a:schemeClr val="bg2">
                    <a:lumMod val="10000"/>
                  </a:schemeClr>
                </a:solidFill>
                <a:latin typeface="Arial Narrow" panose="020B0606020202030204" pitchFamily="34" charset="0"/>
              </a:rPr>
              <a:t>=7500</a:t>
            </a:r>
          </a:p>
          <a:p>
            <a:pPr marL="914400" indent="-513720">
              <a:lnSpc>
                <a:spcPct val="100000"/>
              </a:lnSpc>
            </a:pPr>
            <a:r>
              <a:rPr lang="es-PE" sz="2000" spc="-1" dirty="0">
                <a:solidFill>
                  <a:schemeClr val="bg2">
                    <a:lumMod val="10000"/>
                  </a:schemeClr>
                </a:solidFill>
                <a:latin typeface="Arial"/>
              </a:rPr>
              <a:t>Si </a:t>
            </a:r>
            <a:r>
              <a:rPr lang="es-PE" sz="2000" spc="-1" dirty="0" err="1">
                <a:solidFill>
                  <a:schemeClr val="bg2">
                    <a:lumMod val="10000"/>
                  </a:schemeClr>
                </a:solidFill>
                <a:latin typeface="Arial"/>
              </a:rPr>
              <a:t>X1</a:t>
            </a:r>
            <a:r>
              <a:rPr lang="es-PE" sz="2000" spc="-1" dirty="0">
                <a:solidFill>
                  <a:schemeClr val="bg2">
                    <a:lumMod val="10000"/>
                  </a:schemeClr>
                </a:solidFill>
                <a:latin typeface="Arial"/>
              </a:rPr>
              <a:t>=0  </a:t>
            </a:r>
            <a:r>
              <a:rPr lang="es-PE" sz="2000" spc="-1" dirty="0">
                <a:solidFill>
                  <a:schemeClr val="bg2">
                    <a:lumMod val="10000"/>
                  </a:schemeClr>
                </a:solidFill>
                <a:latin typeface="Wingdings"/>
              </a:rPr>
              <a:t></a:t>
            </a:r>
            <a:r>
              <a:rPr lang="es-PE" sz="2000" spc="-1" dirty="0">
                <a:solidFill>
                  <a:schemeClr val="bg2">
                    <a:lumMod val="10000"/>
                  </a:schemeClr>
                </a:solidFill>
                <a:latin typeface="Arial"/>
              </a:rPr>
              <a:t>    </a:t>
            </a:r>
            <a:r>
              <a:rPr lang="es-PE" sz="2000" spc="-1" dirty="0" err="1">
                <a:solidFill>
                  <a:schemeClr val="bg2">
                    <a:lumMod val="10000"/>
                  </a:schemeClr>
                </a:solidFill>
                <a:latin typeface="Arial"/>
              </a:rPr>
              <a:t>X2</a:t>
            </a:r>
            <a:r>
              <a:rPr lang="es-PE" sz="2000" spc="-1" dirty="0">
                <a:solidFill>
                  <a:schemeClr val="bg2">
                    <a:lumMod val="10000"/>
                  </a:schemeClr>
                </a:solidFill>
                <a:latin typeface="Arial"/>
              </a:rPr>
              <a:t>=250</a:t>
            </a:r>
          </a:p>
          <a:p>
            <a:pPr marL="914400" indent="-513720">
              <a:lnSpc>
                <a:spcPct val="100000"/>
              </a:lnSpc>
            </a:pPr>
            <a:r>
              <a:rPr lang="es-PE" sz="2000" spc="-1" dirty="0">
                <a:solidFill>
                  <a:schemeClr val="bg2">
                    <a:lumMod val="10000"/>
                  </a:schemeClr>
                </a:solidFill>
                <a:latin typeface="Arial"/>
              </a:rPr>
              <a:t>Si </a:t>
            </a:r>
            <a:r>
              <a:rPr lang="es-PE" sz="2000" spc="-1" dirty="0" err="1">
                <a:solidFill>
                  <a:schemeClr val="bg2">
                    <a:lumMod val="10000"/>
                  </a:schemeClr>
                </a:solidFill>
                <a:latin typeface="Arial"/>
              </a:rPr>
              <a:t>X2</a:t>
            </a:r>
            <a:r>
              <a:rPr lang="es-PE" sz="2000" spc="-1" dirty="0">
                <a:solidFill>
                  <a:schemeClr val="bg2">
                    <a:lumMod val="10000"/>
                  </a:schemeClr>
                </a:solidFill>
                <a:latin typeface="Arial"/>
              </a:rPr>
              <a:t>=0  </a:t>
            </a:r>
            <a:r>
              <a:rPr lang="es-PE" sz="2000" spc="-1" dirty="0">
                <a:solidFill>
                  <a:schemeClr val="bg2">
                    <a:lumMod val="10000"/>
                  </a:schemeClr>
                </a:solidFill>
                <a:latin typeface="Wingdings"/>
              </a:rPr>
              <a:t></a:t>
            </a:r>
            <a:r>
              <a:rPr lang="es-PE" sz="2000" spc="-1" dirty="0">
                <a:solidFill>
                  <a:schemeClr val="bg2">
                    <a:lumMod val="10000"/>
                  </a:schemeClr>
                </a:solidFill>
                <a:latin typeface="Arial"/>
              </a:rPr>
              <a:t>    </a:t>
            </a:r>
            <a:r>
              <a:rPr lang="es-PE" sz="2000" spc="-1" dirty="0" err="1">
                <a:solidFill>
                  <a:schemeClr val="bg2">
                    <a:lumMod val="10000"/>
                  </a:schemeClr>
                </a:solidFill>
                <a:latin typeface="Arial"/>
              </a:rPr>
              <a:t>X1</a:t>
            </a:r>
            <a:r>
              <a:rPr lang="es-PE" sz="2000" spc="-1" dirty="0">
                <a:solidFill>
                  <a:schemeClr val="bg2">
                    <a:lumMod val="10000"/>
                  </a:schemeClr>
                </a:solidFill>
                <a:latin typeface="Arial"/>
              </a:rPr>
              <a:t>=300</a:t>
            </a:r>
            <a:endParaRPr lang="es-PE" sz="2000" spc="-1" dirty="0">
              <a:solidFill>
                <a:schemeClr val="bg2">
                  <a:lumMod val="10000"/>
                </a:schemeClr>
              </a:solidFill>
              <a:latin typeface="Arial Narrow" panose="020B0606020202030204" pitchFamily="34" charset="0"/>
            </a:endParaRPr>
          </a:p>
        </p:txBody>
      </p:sp>
    </p:spTree>
    <p:extLst>
      <p:ext uri="{BB962C8B-B14F-4D97-AF65-F5344CB8AC3E}">
        <p14:creationId xmlns:p14="http://schemas.microsoft.com/office/powerpoint/2010/main" val="308255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0" grpId="0" animBg="1"/>
      <p:bldP spid="4"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326646" y="1349296"/>
            <a:ext cx="6453716" cy="4893647"/>
          </a:xfrm>
          <a:prstGeom prst="rect">
            <a:avLst/>
          </a:prstGeom>
        </p:spPr>
        <p:txBody>
          <a:bodyPr wrap="square">
            <a:spAutoFit/>
          </a:bodyPr>
          <a:lstStyle/>
          <a:p>
            <a:pPr algn="just"/>
            <a:r>
              <a:rPr lang="es-ES" sz="2400" dirty="0">
                <a:latin typeface="Arial Narrow" pitchFamily="34" charset="0"/>
              </a:rPr>
              <a:t>Un veterinario aconseja a un granjero dedicado a la cría de aves una dieta mínima que consiste en 3 unidades de hierro y 4 unidades de vitaminas diarias. El granjero sabe que cada kilo de maíz proporciona 2,5 unidades de hierro y 1 de vitaminas y que cada kilo de pienso compuesto proporciona 1 unidades de hierro y 2 de vitaminas. Sabiendo que el kilo de maíz vale 0,3 soles y el de pienso compuesto 0,52 soles, se pide:</a:t>
            </a:r>
            <a:endParaRPr lang="es-PE" sz="2400" dirty="0">
              <a:latin typeface="Arial Narrow" pitchFamily="34" charset="0"/>
            </a:endParaRPr>
          </a:p>
          <a:p>
            <a:pPr algn="just"/>
            <a:r>
              <a:rPr lang="es-ES" sz="2400" dirty="0">
                <a:latin typeface="Arial Narrow" pitchFamily="34" charset="0"/>
              </a:rPr>
              <a:t>¿Cuál es la composición de la dieta diaria que minimiza los costes del granjero? </a:t>
            </a:r>
            <a:endParaRPr lang="es-PE" sz="2400" dirty="0">
              <a:latin typeface="Arial Narrow" pitchFamily="34" charset="0"/>
            </a:endParaRPr>
          </a:p>
          <a:p>
            <a:pPr algn="just"/>
            <a:r>
              <a:rPr lang="es-ES" sz="2400" dirty="0">
                <a:latin typeface="Arial Narrow" pitchFamily="34" charset="0"/>
              </a:rPr>
              <a:t>¿Cambiaría la solución del problema si por escasez en el mercado el granjero no pudiera disponer de más de 1 kilo diario de pienso compuesto?. Razona la respuesta.</a:t>
            </a:r>
            <a:endParaRPr lang="es-PE" sz="2400" dirty="0">
              <a:latin typeface="Arial Narrow" pitchFamily="34" charset="0"/>
            </a:endParaRPr>
          </a:p>
        </p:txBody>
      </p:sp>
      <p:sp>
        <p:nvSpPr>
          <p:cNvPr id="4" name="2 Rectángulo redondeado">
            <a:extLst>
              <a:ext uri="{FF2B5EF4-FFF2-40B4-BE49-F238E27FC236}">
                <a16:creationId xmlns:a16="http://schemas.microsoft.com/office/drawing/2014/main" id="{56D3546B-A52D-4B61-BDE0-DD4D4DBE7605}"/>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29</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5" name="3 Rectángulo">
            <a:extLst>
              <a:ext uri="{FF2B5EF4-FFF2-40B4-BE49-F238E27FC236}">
                <a16:creationId xmlns:a16="http://schemas.microsoft.com/office/drawing/2014/main" id="{2927B6E1-E972-4C3E-9F49-240DD45B5455}"/>
              </a:ext>
            </a:extLst>
          </p:cNvPr>
          <p:cNvSpPr/>
          <p:nvPr/>
        </p:nvSpPr>
        <p:spPr>
          <a:xfrm>
            <a:off x="7032104" y="3248980"/>
            <a:ext cx="4860540" cy="1938992"/>
          </a:xfrm>
          <a:prstGeom prst="rect">
            <a:avLst/>
          </a:prstGeom>
          <a:solidFill>
            <a:schemeClr val="bg1">
              <a:lumMod val="85000"/>
            </a:schemeClr>
          </a:solidFill>
        </p:spPr>
        <p:txBody>
          <a:bodyPr wrap="square">
            <a:spAutoFit/>
          </a:bodyPr>
          <a:lstStyle/>
          <a:p>
            <a:pPr marL="400050" indent="-400050" algn="just" fontAlgn="base">
              <a:spcBef>
                <a:spcPct val="0"/>
              </a:spcBef>
              <a:spcAft>
                <a:spcPct val="0"/>
              </a:spcAft>
              <a:buAutoNum type="romanUcPeriod"/>
            </a:pPr>
            <a:r>
              <a:rPr lang="es-PE" sz="24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400" dirty="0">
                <a:latin typeface="Arial Narrow" panose="020B0606020202030204" pitchFamily="34" charset="0"/>
                <a:ea typeface="Calibri" pitchFamily="34" charset="0"/>
                <a:cs typeface="Arial" pitchFamily="34" charset="0"/>
              </a:rPr>
              <a:t>M = Cantidad en Kg de Maíz a comprar</a:t>
            </a:r>
          </a:p>
          <a:p>
            <a:pPr algn="just" fontAlgn="base">
              <a:spcBef>
                <a:spcPct val="0"/>
              </a:spcBef>
              <a:spcAft>
                <a:spcPct val="0"/>
              </a:spcAft>
            </a:pPr>
            <a:r>
              <a:rPr lang="es-PE" sz="2400" dirty="0">
                <a:latin typeface="Arial Narrow" panose="020B0606020202030204" pitchFamily="34" charset="0"/>
                <a:ea typeface="Calibri" pitchFamily="34" charset="0"/>
                <a:cs typeface="Arial" pitchFamily="34" charset="0"/>
              </a:rPr>
              <a:t>P= Cantidad en Kg de Pienso a comprar</a:t>
            </a:r>
          </a:p>
          <a:p>
            <a:pPr marL="449263" indent="-449263" algn="just" fontAlgn="base">
              <a:spcBef>
                <a:spcPct val="0"/>
              </a:spcBef>
              <a:spcAft>
                <a:spcPct val="0"/>
              </a:spcAft>
              <a:buAutoNum type="romanUcPeriod" startAt="2"/>
            </a:pPr>
            <a:r>
              <a:rPr lang="es-PE" sz="24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400" dirty="0">
                <a:latin typeface="Arial Narrow" panose="020B0606020202030204" pitchFamily="34" charset="0"/>
                <a:cs typeface="Arial" pitchFamily="34" charset="0"/>
              </a:rPr>
              <a:t>        MIN </a:t>
            </a:r>
            <a:r>
              <a:rPr lang="es-PE" sz="2400" dirty="0" err="1">
                <a:latin typeface="Arial Narrow" panose="020B0606020202030204" pitchFamily="34" charset="0"/>
                <a:cs typeface="Arial" pitchFamily="34" charset="0"/>
              </a:rPr>
              <a:t>0,3M+0,52P</a:t>
            </a:r>
            <a:endParaRPr lang="es-PE" sz="2400" dirty="0">
              <a:latin typeface="Arial Narrow" panose="020B0606020202030204" pitchFamily="34" charset="0"/>
              <a:cs typeface="Arial" pitchFamily="34" charset="0"/>
            </a:endParaRPr>
          </a:p>
        </p:txBody>
      </p:sp>
      <p:graphicFrame>
        <p:nvGraphicFramePr>
          <p:cNvPr id="3" name="Tabla 5">
            <a:extLst>
              <a:ext uri="{FF2B5EF4-FFF2-40B4-BE49-F238E27FC236}">
                <a16:creationId xmlns:a16="http://schemas.microsoft.com/office/drawing/2014/main" id="{78425BEB-012D-48CA-ADDD-28FA85BBC2B1}"/>
              </a:ext>
            </a:extLst>
          </p:cNvPr>
          <p:cNvGraphicFramePr>
            <a:graphicFrameLocks noGrp="1"/>
          </p:cNvGraphicFramePr>
          <p:nvPr>
            <p:extLst>
              <p:ext uri="{D42A27DB-BD31-4B8C-83A1-F6EECF244321}">
                <p14:modId xmlns:p14="http://schemas.microsoft.com/office/powerpoint/2010/main" val="831640434"/>
              </p:ext>
            </p:extLst>
          </p:nvPr>
        </p:nvGraphicFramePr>
        <p:xfrm>
          <a:off x="7012260" y="1392998"/>
          <a:ext cx="4853096" cy="1828800"/>
        </p:xfrm>
        <a:graphic>
          <a:graphicData uri="http://schemas.openxmlformats.org/drawingml/2006/table">
            <a:tbl>
              <a:tblPr firstRow="1" bandRow="1">
                <a:tableStyleId>{5C22544A-7EE6-4342-B048-85BDC9FD1C3A}</a:tableStyleId>
              </a:tblPr>
              <a:tblGrid>
                <a:gridCol w="1213274">
                  <a:extLst>
                    <a:ext uri="{9D8B030D-6E8A-4147-A177-3AD203B41FA5}">
                      <a16:colId xmlns:a16="http://schemas.microsoft.com/office/drawing/2014/main" val="1966746115"/>
                    </a:ext>
                  </a:extLst>
                </a:gridCol>
                <a:gridCol w="1110826">
                  <a:extLst>
                    <a:ext uri="{9D8B030D-6E8A-4147-A177-3AD203B41FA5}">
                      <a16:colId xmlns:a16="http://schemas.microsoft.com/office/drawing/2014/main" val="1746090455"/>
                    </a:ext>
                  </a:extLst>
                </a:gridCol>
                <a:gridCol w="1548172">
                  <a:extLst>
                    <a:ext uri="{9D8B030D-6E8A-4147-A177-3AD203B41FA5}">
                      <a16:colId xmlns:a16="http://schemas.microsoft.com/office/drawing/2014/main" val="4190329794"/>
                    </a:ext>
                  </a:extLst>
                </a:gridCol>
                <a:gridCol w="980824">
                  <a:extLst>
                    <a:ext uri="{9D8B030D-6E8A-4147-A177-3AD203B41FA5}">
                      <a16:colId xmlns:a16="http://schemas.microsoft.com/office/drawing/2014/main" val="2261499804"/>
                    </a:ext>
                  </a:extLst>
                </a:gridCol>
              </a:tblGrid>
              <a:tr h="409810">
                <a:tc>
                  <a:txBody>
                    <a:bodyPr/>
                    <a:lstStyle/>
                    <a:p>
                      <a:pPr algn="ctr"/>
                      <a:endParaRPr lang="es-PE" sz="2400" dirty="0"/>
                    </a:p>
                  </a:txBody>
                  <a:tcPr/>
                </a:tc>
                <a:tc>
                  <a:txBody>
                    <a:bodyPr/>
                    <a:lstStyle/>
                    <a:p>
                      <a:pPr algn="ctr"/>
                      <a:r>
                        <a:rPr lang="es-ES" sz="2400" dirty="0"/>
                        <a:t>Hierro</a:t>
                      </a:r>
                      <a:endParaRPr lang="es-PE" sz="2400" dirty="0"/>
                    </a:p>
                  </a:txBody>
                  <a:tcPr/>
                </a:tc>
                <a:tc>
                  <a:txBody>
                    <a:bodyPr/>
                    <a:lstStyle/>
                    <a:p>
                      <a:pPr algn="ctr"/>
                      <a:r>
                        <a:rPr lang="es-ES" sz="2400" dirty="0"/>
                        <a:t>Vitaminas</a:t>
                      </a:r>
                      <a:endParaRPr lang="es-PE" sz="2400" dirty="0"/>
                    </a:p>
                  </a:txBody>
                  <a:tcPr/>
                </a:tc>
                <a:tc>
                  <a:txBody>
                    <a:bodyPr/>
                    <a:lstStyle/>
                    <a:p>
                      <a:pPr algn="ctr"/>
                      <a:r>
                        <a:rPr lang="es-ES" sz="2400" dirty="0"/>
                        <a:t>Costo</a:t>
                      </a:r>
                      <a:endParaRPr lang="es-PE" sz="2400" dirty="0"/>
                    </a:p>
                  </a:txBody>
                  <a:tcPr/>
                </a:tc>
                <a:extLst>
                  <a:ext uri="{0D108BD9-81ED-4DB2-BD59-A6C34878D82A}">
                    <a16:rowId xmlns:a16="http://schemas.microsoft.com/office/drawing/2014/main" val="1719834880"/>
                  </a:ext>
                </a:extLst>
              </a:tr>
              <a:tr h="409810">
                <a:tc>
                  <a:txBody>
                    <a:bodyPr/>
                    <a:lstStyle/>
                    <a:p>
                      <a:pPr algn="ctr"/>
                      <a:r>
                        <a:rPr lang="es-ES" sz="2400" dirty="0"/>
                        <a:t>Maíz</a:t>
                      </a:r>
                      <a:endParaRPr lang="es-PE" sz="2400" dirty="0"/>
                    </a:p>
                  </a:txBody>
                  <a:tcPr/>
                </a:tc>
                <a:tc>
                  <a:txBody>
                    <a:bodyPr/>
                    <a:lstStyle/>
                    <a:p>
                      <a:pPr algn="ctr"/>
                      <a:r>
                        <a:rPr lang="es-ES" sz="2400" dirty="0"/>
                        <a:t>2,5</a:t>
                      </a:r>
                      <a:endParaRPr lang="es-PE" sz="2400" dirty="0"/>
                    </a:p>
                  </a:txBody>
                  <a:tcPr/>
                </a:tc>
                <a:tc>
                  <a:txBody>
                    <a:bodyPr/>
                    <a:lstStyle/>
                    <a:p>
                      <a:pPr algn="ctr"/>
                      <a:r>
                        <a:rPr lang="es-ES" sz="2400" dirty="0"/>
                        <a:t>1</a:t>
                      </a:r>
                      <a:endParaRPr lang="es-PE" sz="2400" dirty="0"/>
                    </a:p>
                  </a:txBody>
                  <a:tcPr/>
                </a:tc>
                <a:tc>
                  <a:txBody>
                    <a:bodyPr/>
                    <a:lstStyle/>
                    <a:p>
                      <a:pPr algn="ctr"/>
                      <a:r>
                        <a:rPr lang="es-ES" sz="2400" dirty="0"/>
                        <a:t>0,3</a:t>
                      </a:r>
                      <a:endParaRPr lang="es-PE" sz="2400" dirty="0"/>
                    </a:p>
                  </a:txBody>
                  <a:tcPr/>
                </a:tc>
                <a:extLst>
                  <a:ext uri="{0D108BD9-81ED-4DB2-BD59-A6C34878D82A}">
                    <a16:rowId xmlns:a16="http://schemas.microsoft.com/office/drawing/2014/main" val="2756527351"/>
                  </a:ext>
                </a:extLst>
              </a:tr>
              <a:tr h="409810">
                <a:tc>
                  <a:txBody>
                    <a:bodyPr/>
                    <a:lstStyle/>
                    <a:p>
                      <a:pPr algn="ctr"/>
                      <a:r>
                        <a:rPr lang="es-ES" sz="2400" dirty="0"/>
                        <a:t>Pienso</a:t>
                      </a:r>
                      <a:endParaRPr lang="es-PE" sz="2400" dirty="0"/>
                    </a:p>
                  </a:txBody>
                  <a:tcPr/>
                </a:tc>
                <a:tc>
                  <a:txBody>
                    <a:bodyPr/>
                    <a:lstStyle/>
                    <a:p>
                      <a:pPr algn="ctr"/>
                      <a:r>
                        <a:rPr lang="es-ES" sz="2400" dirty="0"/>
                        <a:t>1</a:t>
                      </a:r>
                      <a:endParaRPr lang="es-PE" sz="2400" dirty="0"/>
                    </a:p>
                  </a:txBody>
                  <a:tcPr/>
                </a:tc>
                <a:tc>
                  <a:txBody>
                    <a:bodyPr/>
                    <a:lstStyle/>
                    <a:p>
                      <a:pPr algn="ctr"/>
                      <a:r>
                        <a:rPr lang="es-ES" sz="2400" dirty="0"/>
                        <a:t>2</a:t>
                      </a:r>
                      <a:endParaRPr lang="es-PE" sz="2400" dirty="0"/>
                    </a:p>
                  </a:txBody>
                  <a:tcPr/>
                </a:tc>
                <a:tc>
                  <a:txBody>
                    <a:bodyPr/>
                    <a:lstStyle/>
                    <a:p>
                      <a:pPr algn="ctr"/>
                      <a:r>
                        <a:rPr lang="es-ES" sz="2400" dirty="0"/>
                        <a:t>0,52</a:t>
                      </a:r>
                      <a:endParaRPr lang="es-PE" sz="2400" dirty="0"/>
                    </a:p>
                  </a:txBody>
                  <a:tcPr/>
                </a:tc>
                <a:extLst>
                  <a:ext uri="{0D108BD9-81ED-4DB2-BD59-A6C34878D82A}">
                    <a16:rowId xmlns:a16="http://schemas.microsoft.com/office/drawing/2014/main" val="2062083234"/>
                  </a:ext>
                </a:extLst>
              </a:tr>
              <a:tr h="409810">
                <a:tc>
                  <a:txBody>
                    <a:bodyPr/>
                    <a:lstStyle/>
                    <a:p>
                      <a:pPr algn="ctr"/>
                      <a:r>
                        <a:rPr lang="es-ES" sz="2400" dirty="0"/>
                        <a:t>Mínimo</a:t>
                      </a:r>
                      <a:endParaRPr lang="es-PE" sz="2400" dirty="0"/>
                    </a:p>
                  </a:txBody>
                  <a:tcPr/>
                </a:tc>
                <a:tc>
                  <a:txBody>
                    <a:bodyPr/>
                    <a:lstStyle/>
                    <a:p>
                      <a:pPr algn="ctr"/>
                      <a:r>
                        <a:rPr lang="es-ES" sz="2400" dirty="0"/>
                        <a:t>3</a:t>
                      </a:r>
                      <a:endParaRPr lang="es-PE" sz="2400" dirty="0"/>
                    </a:p>
                  </a:txBody>
                  <a:tcPr/>
                </a:tc>
                <a:tc>
                  <a:txBody>
                    <a:bodyPr/>
                    <a:lstStyle/>
                    <a:p>
                      <a:pPr algn="ctr"/>
                      <a:r>
                        <a:rPr lang="es-ES" sz="2400" dirty="0"/>
                        <a:t>4</a:t>
                      </a:r>
                      <a:endParaRPr lang="es-PE" sz="2400" dirty="0"/>
                    </a:p>
                  </a:txBody>
                  <a:tcPr/>
                </a:tc>
                <a:tc>
                  <a:txBody>
                    <a:bodyPr/>
                    <a:lstStyle/>
                    <a:p>
                      <a:pPr algn="ctr"/>
                      <a:endParaRPr lang="es-PE" sz="2400" dirty="0"/>
                    </a:p>
                  </a:txBody>
                  <a:tcPr/>
                </a:tc>
                <a:extLst>
                  <a:ext uri="{0D108BD9-81ED-4DB2-BD59-A6C34878D82A}">
                    <a16:rowId xmlns:a16="http://schemas.microsoft.com/office/drawing/2014/main" val="3102399642"/>
                  </a:ext>
                </a:extLst>
              </a:tr>
            </a:tbl>
          </a:graphicData>
        </a:graphic>
      </p:graphicFrame>
      <p:sp>
        <p:nvSpPr>
          <p:cNvPr id="7" name="CuadroTexto 6">
            <a:extLst>
              <a:ext uri="{FF2B5EF4-FFF2-40B4-BE49-F238E27FC236}">
                <a16:creationId xmlns:a16="http://schemas.microsoft.com/office/drawing/2014/main" id="{176A8439-3157-3399-1616-4E82917122B2}"/>
              </a:ext>
            </a:extLst>
          </p:cNvPr>
          <p:cNvSpPr txBox="1"/>
          <p:nvPr/>
        </p:nvSpPr>
        <p:spPr>
          <a:xfrm>
            <a:off x="7068108" y="5229200"/>
            <a:ext cx="4824536" cy="1569660"/>
          </a:xfrm>
          <a:prstGeom prst="rect">
            <a:avLst/>
          </a:prstGeom>
          <a:solidFill>
            <a:schemeClr val="bg1">
              <a:lumMod val="85000"/>
            </a:schemeClr>
          </a:solidFill>
        </p:spPr>
        <p:txBody>
          <a:bodyPr wrap="square">
            <a:spAutoFit/>
          </a:bodyPr>
          <a:lstStyle/>
          <a:p>
            <a:pPr marL="449263" indent="-449263" algn="just" fontAlgn="base">
              <a:spcBef>
                <a:spcPct val="0"/>
              </a:spcBef>
              <a:spcAft>
                <a:spcPct val="0"/>
              </a:spcAft>
            </a:pPr>
            <a:r>
              <a:rPr lang="es-PE" sz="2400" b="1" dirty="0">
                <a:solidFill>
                  <a:srgbClr val="FF0000"/>
                </a:solidFill>
                <a:latin typeface="Arial Narrow" panose="020B0606020202030204" pitchFamily="34" charset="0"/>
                <a:ea typeface="Calibri" pitchFamily="34" charset="0"/>
                <a:cs typeface="Arial" pitchFamily="34" charset="0"/>
              </a:rPr>
              <a:t>III.	</a:t>
            </a:r>
            <a:r>
              <a:rPr lang="es-PE" sz="2400" dirty="0">
                <a:solidFill>
                  <a:srgbClr val="FF0000"/>
                </a:solidFill>
                <a:latin typeface="Arial Narrow" panose="020B0606020202030204" pitchFamily="34" charset="0"/>
                <a:ea typeface="Calibri" pitchFamily="34" charset="0"/>
                <a:cs typeface="Arial" pitchFamily="34" charset="0"/>
              </a:rPr>
              <a:t>Identificación de las restricciones</a:t>
            </a:r>
          </a:p>
          <a:p>
            <a:pPr marL="449263" indent="-449263" algn="just" fontAlgn="base">
              <a:spcBef>
                <a:spcPct val="0"/>
              </a:spcBef>
              <a:spcAft>
                <a:spcPct val="0"/>
              </a:spcAft>
            </a:pPr>
            <a:r>
              <a:rPr lang="es-PE" sz="2400" dirty="0">
                <a:solidFill>
                  <a:srgbClr val="FF0000"/>
                </a:solidFill>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2,5M+1P</a:t>
            </a:r>
            <a:r>
              <a:rPr lang="es-PE" sz="2400" dirty="0">
                <a:latin typeface="Arial Narrow" panose="020B0606020202030204" pitchFamily="34" charset="0"/>
                <a:cs typeface="Arial" pitchFamily="34" charset="0"/>
              </a:rPr>
              <a:t>&gt;=3</a:t>
            </a:r>
          </a:p>
          <a:p>
            <a:pPr marL="449263" indent="-449263" algn="just"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1M+2P</a:t>
            </a:r>
            <a:r>
              <a:rPr lang="es-PE" sz="2400" dirty="0">
                <a:latin typeface="Arial Narrow" panose="020B0606020202030204" pitchFamily="34" charset="0"/>
                <a:cs typeface="Arial" pitchFamily="34" charset="0"/>
              </a:rPr>
              <a:t>&gt;=4</a:t>
            </a:r>
          </a:p>
          <a:p>
            <a:pPr marL="449263" indent="-449263" algn="just" fontAlgn="base">
              <a:spcBef>
                <a:spcPct val="0"/>
              </a:spcBef>
              <a:spcAft>
                <a:spcPct val="0"/>
              </a:spcAft>
            </a:pP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M,P</a:t>
            </a:r>
            <a:r>
              <a:rPr lang="es-PE" sz="2400" dirty="0">
                <a:latin typeface="Arial Narrow" panose="020B0606020202030204" pitchFamily="34" charset="0"/>
                <a:cs typeface="Arial" pitchFamily="34" charset="0"/>
              </a:rPr>
              <a:t>&gt;=0</a:t>
            </a:r>
          </a:p>
        </p:txBody>
      </p:sp>
    </p:spTree>
    <p:extLst>
      <p:ext uri="{BB962C8B-B14F-4D97-AF65-F5344CB8AC3E}">
        <p14:creationId xmlns:p14="http://schemas.microsoft.com/office/powerpoint/2010/main" val="53064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541A9EF-B591-4797-A885-7706CDDB1471}"/>
              </a:ext>
            </a:extLst>
          </p:cNvPr>
          <p:cNvSpPr/>
          <p:nvPr/>
        </p:nvSpPr>
        <p:spPr>
          <a:xfrm>
            <a:off x="6418052" y="1741908"/>
            <a:ext cx="4684143" cy="1323439"/>
          </a:xfrm>
          <a:prstGeom prst="rect">
            <a:avLst/>
          </a:prstGeom>
          <a:solidFill>
            <a:srgbClr val="FFFF00"/>
          </a:solidFill>
        </p:spPr>
        <p:txBody>
          <a:bodyPr wrap="square">
            <a:spAutoFit/>
          </a:bodyPr>
          <a:lstStyle/>
          <a:p>
            <a:pPr algn="just" fontAlgn="base">
              <a:spcBef>
                <a:spcPct val="0"/>
              </a:spcBef>
              <a:spcAft>
                <a:spcPct val="0"/>
              </a:spcAft>
            </a:pPr>
            <a:r>
              <a:rPr lang="es-PE" sz="2000" b="1" dirty="0">
                <a:latin typeface="Arial Narrow" panose="020B0606020202030204" pitchFamily="34" charset="0"/>
                <a:cs typeface="Arial" pitchFamily="34" charset="0"/>
              </a:rPr>
              <a:t>MIN </a:t>
            </a:r>
            <a:r>
              <a:rPr lang="es-PE" sz="2000" b="1" dirty="0" err="1">
                <a:latin typeface="Arial Narrow" panose="020B0606020202030204" pitchFamily="34" charset="0"/>
                <a:cs typeface="Arial" pitchFamily="34" charset="0"/>
              </a:rPr>
              <a:t>0,3M</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0,52P</a:t>
            </a:r>
            <a:endParaRPr lang="es-PE"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latin typeface="Arial Narrow" panose="020B0606020202030204" pitchFamily="34" charset="0"/>
                <a:ea typeface="Calibri" pitchFamily="34" charset="0"/>
                <a:cs typeface="Arial" pitchFamily="34" charset="0"/>
              </a:rPr>
              <a:t>ST</a:t>
            </a:r>
            <a:endParaRPr lang="es-PE" sz="2000" b="1" dirty="0">
              <a:solidFill>
                <a:srgbClr val="FF0000"/>
              </a:solidFill>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ES" sz="2000" b="1" dirty="0" err="1">
                <a:latin typeface="Arial Narrow" panose="020B0606020202030204" pitchFamily="34" charset="0"/>
                <a:cs typeface="Arial" pitchFamily="34" charset="0"/>
              </a:rPr>
              <a:t>2,5M+1P</a:t>
            </a:r>
            <a:r>
              <a:rPr lang="es-ES" sz="2000" b="1" dirty="0">
                <a:latin typeface="Arial Narrow" panose="020B0606020202030204" pitchFamily="34" charset="0"/>
                <a:cs typeface="Arial" pitchFamily="34" charset="0"/>
              </a:rPr>
              <a:t>&gt;=3</a:t>
            </a:r>
          </a:p>
          <a:p>
            <a:pPr marL="449263" indent="-449263" algn="just" fontAlgn="base">
              <a:spcBef>
                <a:spcPct val="0"/>
              </a:spcBef>
              <a:spcAft>
                <a:spcPct val="0"/>
              </a:spcAft>
            </a:pPr>
            <a:r>
              <a:rPr lang="es-ES" sz="2000" b="1" dirty="0" err="1">
                <a:latin typeface="Arial Narrow" panose="020B0606020202030204" pitchFamily="34" charset="0"/>
                <a:cs typeface="Arial" pitchFamily="34" charset="0"/>
              </a:rPr>
              <a:t>1M+2P</a:t>
            </a:r>
            <a:r>
              <a:rPr lang="es-ES" sz="2000" b="1" dirty="0">
                <a:latin typeface="Arial Narrow" panose="020B0606020202030204" pitchFamily="34" charset="0"/>
                <a:cs typeface="Arial" pitchFamily="34" charset="0"/>
              </a:rPr>
              <a:t>&gt;=4</a:t>
            </a:r>
          </a:p>
        </p:txBody>
      </p:sp>
      <p:sp>
        <p:nvSpPr>
          <p:cNvPr id="3" name="3 Rectángulo">
            <a:extLst>
              <a:ext uri="{FF2B5EF4-FFF2-40B4-BE49-F238E27FC236}">
                <a16:creationId xmlns:a16="http://schemas.microsoft.com/office/drawing/2014/main" id="{03B15B27-BC23-4922-9EF4-6AB8FAB17D7A}"/>
              </a:ext>
            </a:extLst>
          </p:cNvPr>
          <p:cNvSpPr/>
          <p:nvPr/>
        </p:nvSpPr>
        <p:spPr>
          <a:xfrm>
            <a:off x="1070811" y="1293313"/>
            <a:ext cx="4657236" cy="2862322"/>
          </a:xfrm>
          <a:prstGeom prst="rect">
            <a:avLst/>
          </a:prstGeom>
          <a:solidFill>
            <a:srgbClr val="FFC000"/>
          </a:solidFill>
        </p:spPr>
        <p:txBody>
          <a:bodyPr wrap="square">
            <a:spAutoFit/>
          </a:bodyPr>
          <a:lstStyle/>
          <a:p>
            <a:pPr marL="400050" indent="-400050" algn="just" fontAlgn="base">
              <a:spcBef>
                <a:spcPct val="0"/>
              </a:spcBef>
              <a:spcAft>
                <a:spcPct val="0"/>
              </a:spcAft>
              <a:buAutoNum type="romanUcPeriod"/>
            </a:pPr>
            <a:r>
              <a:rPr lang="es-PE" sz="2000" b="1"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        </a:t>
            </a:r>
            <a:r>
              <a:rPr lang="es-PE" sz="2000" b="1" dirty="0">
                <a:latin typeface="Arial Narrow" panose="020B0606020202030204" pitchFamily="34" charset="0"/>
                <a:ea typeface="Calibri" pitchFamily="34" charset="0"/>
                <a:cs typeface="Arial" pitchFamily="34" charset="0"/>
              </a:rPr>
              <a:t>M =Numero de Kg de maíz</a:t>
            </a:r>
          </a:p>
          <a:p>
            <a:pPr algn="just" fontAlgn="base">
              <a:spcBef>
                <a:spcPct val="0"/>
              </a:spcBef>
              <a:spcAft>
                <a:spcPct val="0"/>
              </a:spcAft>
            </a:pPr>
            <a:r>
              <a:rPr lang="es-PE" sz="2000" b="1" dirty="0">
                <a:latin typeface="Arial Narrow" panose="020B0606020202030204" pitchFamily="34" charset="0"/>
                <a:ea typeface="Calibri" pitchFamily="34" charset="0"/>
                <a:cs typeface="Arial" pitchFamily="34" charset="0"/>
              </a:rPr>
              <a:t>        P= Numero de Kg de pienso</a:t>
            </a:r>
          </a:p>
          <a:p>
            <a:pPr marL="449263" indent="-449263" algn="just" fontAlgn="base">
              <a:spcBef>
                <a:spcPct val="0"/>
              </a:spcBef>
              <a:spcAft>
                <a:spcPct val="0"/>
              </a:spcAft>
              <a:buAutoNum type="romanUcPeriod" startAt="2"/>
            </a:pPr>
            <a:r>
              <a:rPr lang="es-PE" sz="2000" b="1"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b="1" dirty="0">
                <a:latin typeface="Arial Narrow" panose="020B0606020202030204" pitchFamily="34" charset="0"/>
                <a:cs typeface="Arial" pitchFamily="34" charset="0"/>
              </a:rPr>
              <a:t>        MIN </a:t>
            </a:r>
            <a:r>
              <a:rPr lang="es-PE" sz="2000" b="1" dirty="0" err="1">
                <a:latin typeface="Arial Narrow" panose="020B0606020202030204" pitchFamily="34" charset="0"/>
                <a:cs typeface="Arial" pitchFamily="34" charset="0"/>
              </a:rPr>
              <a:t>0,3M</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0,52P</a:t>
            </a:r>
            <a:endParaRPr lang="es-PE"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latin typeface="Arial Narrow" panose="020B0606020202030204" pitchFamily="34" charset="0"/>
                <a:ea typeface="Calibri" pitchFamily="34" charset="0"/>
                <a:cs typeface="Arial" pitchFamily="34" charset="0"/>
              </a:rPr>
              <a:t>	</a:t>
            </a:r>
            <a:r>
              <a:rPr lang="es-PE" sz="2000" b="1" dirty="0">
                <a:solidFill>
                  <a:srgbClr val="FF0000"/>
                </a:solidFill>
                <a:latin typeface="Arial Narrow" panose="020B0606020202030204" pitchFamily="34" charset="0"/>
                <a:ea typeface="Calibri" pitchFamily="34" charset="0"/>
                <a:cs typeface="Arial" pitchFamily="34" charset="0"/>
              </a:rPr>
              <a:t>III.	Identificación de las restricciones</a:t>
            </a:r>
            <a:endParaRPr lang="es-PE" sz="2000" b="1"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b="1" dirty="0" err="1">
                <a:latin typeface="Arial Narrow" panose="020B0606020202030204" pitchFamily="34" charset="0"/>
                <a:cs typeface="Arial" pitchFamily="34" charset="0"/>
              </a:rPr>
              <a:t>2,5M+1P</a:t>
            </a:r>
            <a:r>
              <a:rPr lang="es-ES" sz="2000" b="1" dirty="0">
                <a:latin typeface="Arial Narrow" panose="020B0606020202030204" pitchFamily="34" charset="0"/>
                <a:cs typeface="Arial" pitchFamily="34" charset="0"/>
              </a:rPr>
              <a:t>&gt;=3</a:t>
            </a:r>
          </a:p>
          <a:p>
            <a:pPr indent="449263" algn="just" eaLnBrk="0" fontAlgn="base" hangingPunct="0">
              <a:spcBef>
                <a:spcPct val="0"/>
              </a:spcBef>
              <a:spcAft>
                <a:spcPct val="0"/>
              </a:spcAft>
            </a:pPr>
            <a:r>
              <a:rPr lang="es-ES" sz="2000" b="1" dirty="0" err="1">
                <a:latin typeface="Arial Narrow" panose="020B0606020202030204" pitchFamily="34" charset="0"/>
                <a:cs typeface="Arial" pitchFamily="34" charset="0"/>
              </a:rPr>
              <a:t>1M+2P</a:t>
            </a:r>
            <a:r>
              <a:rPr lang="es-ES" sz="2000" b="1" dirty="0">
                <a:latin typeface="Arial Narrow" panose="020B0606020202030204" pitchFamily="34" charset="0"/>
                <a:cs typeface="Arial" pitchFamily="34" charset="0"/>
              </a:rPr>
              <a:t>&gt;=4</a:t>
            </a:r>
          </a:p>
          <a:p>
            <a:pPr indent="449263" algn="just" eaLnBrk="0" fontAlgn="base" hangingPunct="0">
              <a:spcBef>
                <a:spcPct val="0"/>
              </a:spcBef>
              <a:spcAft>
                <a:spcPct val="0"/>
              </a:spcAft>
            </a:pPr>
            <a:r>
              <a:rPr lang="es-ES" sz="2000" b="1" dirty="0">
                <a:latin typeface="Arial Narrow" panose="020B0606020202030204" pitchFamily="34" charset="0"/>
                <a:cs typeface="Arial" pitchFamily="34" charset="0"/>
              </a:rPr>
              <a:t>M, P&gt;=0</a:t>
            </a:r>
          </a:p>
        </p:txBody>
      </p:sp>
      <p:sp>
        <p:nvSpPr>
          <p:cNvPr id="4" name="Rectángulo 3">
            <a:extLst>
              <a:ext uri="{FF2B5EF4-FFF2-40B4-BE49-F238E27FC236}">
                <a16:creationId xmlns:a16="http://schemas.microsoft.com/office/drawing/2014/main" id="{C02C51E2-69AB-4F29-9E3D-B87240FFF219}"/>
              </a:ext>
            </a:extLst>
          </p:cNvPr>
          <p:cNvSpPr/>
          <p:nvPr/>
        </p:nvSpPr>
        <p:spPr>
          <a:xfrm>
            <a:off x="6271450" y="3526146"/>
            <a:ext cx="5182613" cy="2246769"/>
          </a:xfrm>
          <a:prstGeom prst="rect">
            <a:avLst/>
          </a:prstGeom>
        </p:spPr>
        <p:txBody>
          <a:bodyPr wrap="square">
            <a:spAutoFit/>
          </a:bodyPr>
          <a:lstStyle/>
          <a:p>
            <a:r>
              <a:rPr lang="es-PE" sz="2000" b="1" dirty="0"/>
              <a:t> </a:t>
            </a:r>
            <a:r>
              <a:rPr lang="en-US" sz="2000" b="1" dirty="0"/>
              <a:t>OBJECTIVE FUNCTION VALUE</a:t>
            </a:r>
          </a:p>
          <a:p>
            <a:endParaRPr lang="en-US" sz="2000" b="1" dirty="0"/>
          </a:p>
          <a:p>
            <a:r>
              <a:rPr lang="en-US" sz="2000" b="1" dirty="0"/>
              <a:t>        1)      1.060000</a:t>
            </a:r>
          </a:p>
          <a:p>
            <a:endParaRPr lang="en-US" sz="2000" b="1" dirty="0"/>
          </a:p>
          <a:p>
            <a:r>
              <a:rPr lang="en-US" sz="2000" b="1" dirty="0"/>
              <a:t>  VARIABLE        VALUE          REDUCED COST</a:t>
            </a:r>
          </a:p>
          <a:p>
            <a:r>
              <a:rPr lang="en-US" sz="2000" b="1" dirty="0"/>
              <a:t>         M         0.500000          0.000000</a:t>
            </a:r>
          </a:p>
          <a:p>
            <a:r>
              <a:rPr lang="en-US" sz="2000" b="1" dirty="0"/>
              <a:t>         P         1.750000          0.000000</a:t>
            </a:r>
            <a:endParaRPr lang="es-PE" sz="2000" b="1" dirty="0"/>
          </a:p>
        </p:txBody>
      </p:sp>
      <p:pic>
        <p:nvPicPr>
          <p:cNvPr id="5" name="image5.jpeg">
            <a:extLst>
              <a:ext uri="{FF2B5EF4-FFF2-40B4-BE49-F238E27FC236}">
                <a16:creationId xmlns:a16="http://schemas.microsoft.com/office/drawing/2014/main" id="{A5C6D5A2-70F9-4E8F-901D-171007EAA645}"/>
              </a:ext>
            </a:extLst>
          </p:cNvPr>
          <p:cNvPicPr/>
          <p:nvPr/>
        </p:nvPicPr>
        <p:blipFill>
          <a:blip r:embed="rId2" cstate="print"/>
          <a:stretch>
            <a:fillRect/>
          </a:stretch>
        </p:blipFill>
        <p:spPr>
          <a:xfrm>
            <a:off x="1703512" y="4257093"/>
            <a:ext cx="3672408" cy="2600908"/>
          </a:xfrm>
          <a:prstGeom prst="rect">
            <a:avLst/>
          </a:prstGeom>
        </p:spPr>
      </p:pic>
    </p:spTree>
    <p:extLst>
      <p:ext uri="{BB962C8B-B14F-4D97-AF65-F5344CB8AC3E}">
        <p14:creationId xmlns:p14="http://schemas.microsoft.com/office/powerpoint/2010/main" val="124621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rma libre: forma 38">
            <a:extLst>
              <a:ext uri="{FF2B5EF4-FFF2-40B4-BE49-F238E27FC236}">
                <a16:creationId xmlns:a16="http://schemas.microsoft.com/office/drawing/2014/main" id="{5C287DCF-9647-4F05-B066-CE02DDBC3E61}"/>
              </a:ext>
            </a:extLst>
          </p:cNvPr>
          <p:cNvSpPr/>
          <p:nvPr/>
        </p:nvSpPr>
        <p:spPr>
          <a:xfrm>
            <a:off x="1777042" y="4339087"/>
            <a:ext cx="2889849" cy="1975449"/>
          </a:xfrm>
          <a:custGeom>
            <a:avLst/>
            <a:gdLst>
              <a:gd name="connsiteX0" fmla="*/ 8626 w 2889849"/>
              <a:gd name="connsiteY0" fmla="*/ 25879 h 1975449"/>
              <a:gd name="connsiteX1" fmla="*/ 8626 w 2889849"/>
              <a:gd name="connsiteY1" fmla="*/ 25879 h 1975449"/>
              <a:gd name="connsiteX2" fmla="*/ 17252 w 2889849"/>
              <a:gd name="connsiteY2" fmla="*/ 301924 h 1975449"/>
              <a:gd name="connsiteX3" fmla="*/ 8626 w 2889849"/>
              <a:gd name="connsiteY3" fmla="*/ 845388 h 1975449"/>
              <a:gd name="connsiteX4" fmla="*/ 0 w 2889849"/>
              <a:gd name="connsiteY4" fmla="*/ 888521 h 1975449"/>
              <a:gd name="connsiteX5" fmla="*/ 155275 w 2889849"/>
              <a:gd name="connsiteY5" fmla="*/ 1328468 h 1975449"/>
              <a:gd name="connsiteX6" fmla="*/ 1630392 w 2889849"/>
              <a:gd name="connsiteY6" fmla="*/ 1975449 h 1975449"/>
              <a:gd name="connsiteX7" fmla="*/ 2881222 w 2889849"/>
              <a:gd name="connsiteY7" fmla="*/ 1958196 h 1975449"/>
              <a:gd name="connsiteX8" fmla="*/ 2889849 w 2889849"/>
              <a:gd name="connsiteY8" fmla="*/ 0 h 1975449"/>
              <a:gd name="connsiteX9" fmla="*/ 8626 w 2889849"/>
              <a:gd name="connsiteY9" fmla="*/ 25879 h 197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89849" h="1975449">
                <a:moveTo>
                  <a:pt x="8626" y="25879"/>
                </a:moveTo>
                <a:lnTo>
                  <a:pt x="8626" y="25879"/>
                </a:lnTo>
                <a:cubicBezTo>
                  <a:pt x="11501" y="117894"/>
                  <a:pt x="17252" y="209864"/>
                  <a:pt x="17252" y="301924"/>
                </a:cubicBezTo>
                <a:cubicBezTo>
                  <a:pt x="17252" y="483101"/>
                  <a:pt x="13952" y="664289"/>
                  <a:pt x="8626" y="845388"/>
                </a:cubicBezTo>
                <a:cubicBezTo>
                  <a:pt x="8195" y="860044"/>
                  <a:pt x="0" y="888521"/>
                  <a:pt x="0" y="888521"/>
                </a:cubicBezTo>
                <a:lnTo>
                  <a:pt x="155275" y="1328468"/>
                </a:lnTo>
                <a:lnTo>
                  <a:pt x="1630392" y="1975449"/>
                </a:lnTo>
                <a:lnTo>
                  <a:pt x="2881222" y="1958196"/>
                </a:lnTo>
                <a:cubicBezTo>
                  <a:pt x="2884098" y="1305464"/>
                  <a:pt x="2886973" y="652732"/>
                  <a:pt x="2889849" y="0"/>
                </a:cubicBezTo>
                <a:lnTo>
                  <a:pt x="8626" y="25879"/>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3" name="Conector recto 12">
            <a:extLst>
              <a:ext uri="{FF2B5EF4-FFF2-40B4-BE49-F238E27FC236}">
                <a16:creationId xmlns:a16="http://schemas.microsoft.com/office/drawing/2014/main" id="{ED7A999C-D2E9-4A9C-8933-63FD096BF098}"/>
              </a:ext>
            </a:extLst>
          </p:cNvPr>
          <p:cNvCxnSpPr>
            <a:cxnSpLocks/>
          </p:cNvCxnSpPr>
          <p:nvPr/>
        </p:nvCxnSpPr>
        <p:spPr>
          <a:xfrm>
            <a:off x="1624110" y="5070136"/>
            <a:ext cx="2602833" cy="156357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2" name="3 Rectángulo">
            <a:extLst>
              <a:ext uri="{FF2B5EF4-FFF2-40B4-BE49-F238E27FC236}">
                <a16:creationId xmlns:a16="http://schemas.microsoft.com/office/drawing/2014/main" id="{70C3D418-E8B9-4DB6-8AA7-1BBD79C27342}"/>
              </a:ext>
            </a:extLst>
          </p:cNvPr>
          <p:cNvSpPr/>
          <p:nvPr/>
        </p:nvSpPr>
        <p:spPr>
          <a:xfrm>
            <a:off x="1070811" y="1293313"/>
            <a:ext cx="4657236" cy="2862322"/>
          </a:xfrm>
          <a:prstGeom prst="rect">
            <a:avLst/>
          </a:prstGeom>
          <a:solidFill>
            <a:srgbClr val="FFC000"/>
          </a:solidFill>
        </p:spPr>
        <p:txBody>
          <a:bodyPr wrap="square">
            <a:spAutoFit/>
          </a:bodyPr>
          <a:lstStyle/>
          <a:p>
            <a:pPr marL="400050" indent="-400050" algn="just" fontAlgn="base">
              <a:spcBef>
                <a:spcPct val="0"/>
              </a:spcBef>
              <a:spcAft>
                <a:spcPct val="0"/>
              </a:spcAft>
              <a:buAutoNum type="romanUcPeriod"/>
            </a:pPr>
            <a:r>
              <a:rPr lang="es-PE" sz="2000" b="1"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        </a:t>
            </a:r>
            <a:r>
              <a:rPr lang="es-PE" sz="2000" b="1" dirty="0">
                <a:latin typeface="Arial Narrow" panose="020B0606020202030204" pitchFamily="34" charset="0"/>
                <a:ea typeface="Calibri" pitchFamily="34" charset="0"/>
                <a:cs typeface="Arial" pitchFamily="34" charset="0"/>
              </a:rPr>
              <a:t>M =Numero de Kg de maíz</a:t>
            </a:r>
          </a:p>
          <a:p>
            <a:pPr algn="just" fontAlgn="base">
              <a:spcBef>
                <a:spcPct val="0"/>
              </a:spcBef>
              <a:spcAft>
                <a:spcPct val="0"/>
              </a:spcAft>
            </a:pPr>
            <a:r>
              <a:rPr lang="es-PE" sz="2000" b="1" dirty="0">
                <a:latin typeface="Arial Narrow" panose="020B0606020202030204" pitchFamily="34" charset="0"/>
                <a:ea typeface="Calibri" pitchFamily="34" charset="0"/>
                <a:cs typeface="Arial" pitchFamily="34" charset="0"/>
              </a:rPr>
              <a:t>        P= Numero de Kg de pienso</a:t>
            </a:r>
          </a:p>
          <a:p>
            <a:pPr marL="449263" indent="-449263" algn="just" fontAlgn="base">
              <a:spcBef>
                <a:spcPct val="0"/>
              </a:spcBef>
              <a:spcAft>
                <a:spcPct val="0"/>
              </a:spcAft>
              <a:buAutoNum type="romanUcPeriod" startAt="2"/>
            </a:pPr>
            <a:r>
              <a:rPr lang="es-PE" sz="2000" b="1"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b="1" dirty="0">
                <a:latin typeface="Arial Narrow" panose="020B0606020202030204" pitchFamily="34" charset="0"/>
                <a:cs typeface="Arial" pitchFamily="34" charset="0"/>
              </a:rPr>
              <a:t>        MIN </a:t>
            </a:r>
            <a:r>
              <a:rPr lang="es-PE" sz="2000" b="1" dirty="0" err="1">
                <a:latin typeface="Arial Narrow" panose="020B0606020202030204" pitchFamily="34" charset="0"/>
                <a:cs typeface="Arial" pitchFamily="34" charset="0"/>
              </a:rPr>
              <a:t>0,3M</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0,52P</a:t>
            </a:r>
            <a:endParaRPr lang="es-PE"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latin typeface="Arial Narrow" panose="020B0606020202030204" pitchFamily="34" charset="0"/>
                <a:ea typeface="Calibri" pitchFamily="34" charset="0"/>
                <a:cs typeface="Arial" pitchFamily="34" charset="0"/>
              </a:rPr>
              <a:t>	</a:t>
            </a:r>
            <a:r>
              <a:rPr lang="es-PE" sz="2000" b="1" dirty="0">
                <a:solidFill>
                  <a:srgbClr val="FF0000"/>
                </a:solidFill>
                <a:latin typeface="Arial Narrow" panose="020B0606020202030204" pitchFamily="34" charset="0"/>
                <a:ea typeface="Calibri" pitchFamily="34" charset="0"/>
                <a:cs typeface="Arial" pitchFamily="34" charset="0"/>
              </a:rPr>
              <a:t>III.	Identificación de las restricciones</a:t>
            </a:r>
            <a:endParaRPr lang="es-PE" sz="2000" b="1"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b="1" dirty="0" err="1">
                <a:latin typeface="Arial Narrow" panose="020B0606020202030204" pitchFamily="34" charset="0"/>
                <a:cs typeface="Arial" pitchFamily="34" charset="0"/>
              </a:rPr>
              <a:t>2,5M+1P</a:t>
            </a:r>
            <a:r>
              <a:rPr lang="es-ES" sz="2000" b="1" dirty="0">
                <a:latin typeface="Arial Narrow" panose="020B0606020202030204" pitchFamily="34" charset="0"/>
                <a:cs typeface="Arial" pitchFamily="34" charset="0"/>
              </a:rPr>
              <a:t>&gt;=3</a:t>
            </a:r>
          </a:p>
          <a:p>
            <a:pPr indent="449263" algn="just" eaLnBrk="0" fontAlgn="base" hangingPunct="0">
              <a:spcBef>
                <a:spcPct val="0"/>
              </a:spcBef>
              <a:spcAft>
                <a:spcPct val="0"/>
              </a:spcAft>
            </a:pPr>
            <a:r>
              <a:rPr lang="es-ES" sz="2000" b="1" dirty="0" err="1">
                <a:latin typeface="Arial Narrow" panose="020B0606020202030204" pitchFamily="34" charset="0"/>
                <a:cs typeface="Arial" pitchFamily="34" charset="0"/>
              </a:rPr>
              <a:t>1M+2P</a:t>
            </a:r>
            <a:r>
              <a:rPr lang="es-ES" sz="2000" b="1" dirty="0">
                <a:latin typeface="Arial Narrow" panose="020B0606020202030204" pitchFamily="34" charset="0"/>
                <a:cs typeface="Arial" pitchFamily="34" charset="0"/>
              </a:rPr>
              <a:t>&gt;=4</a:t>
            </a:r>
          </a:p>
          <a:p>
            <a:pPr indent="449263" algn="just" eaLnBrk="0" fontAlgn="base" hangingPunct="0">
              <a:spcBef>
                <a:spcPct val="0"/>
              </a:spcBef>
              <a:spcAft>
                <a:spcPct val="0"/>
              </a:spcAft>
            </a:pPr>
            <a:r>
              <a:rPr lang="es-ES" sz="2000" b="1" dirty="0">
                <a:latin typeface="Arial Narrow" panose="020B0606020202030204" pitchFamily="34" charset="0"/>
                <a:cs typeface="Arial" pitchFamily="34" charset="0"/>
              </a:rPr>
              <a:t>M, P&gt;=0</a:t>
            </a:r>
          </a:p>
        </p:txBody>
      </p:sp>
      <p:cxnSp>
        <p:nvCxnSpPr>
          <p:cNvPr id="4" name="Conector recto de flecha 3">
            <a:extLst>
              <a:ext uri="{FF2B5EF4-FFF2-40B4-BE49-F238E27FC236}">
                <a16:creationId xmlns:a16="http://schemas.microsoft.com/office/drawing/2014/main" id="{D4EC3C25-03F3-4B9A-81EE-DE1C2D9AD51A}"/>
              </a:ext>
            </a:extLst>
          </p:cNvPr>
          <p:cNvCxnSpPr/>
          <p:nvPr/>
        </p:nvCxnSpPr>
        <p:spPr>
          <a:xfrm flipV="1">
            <a:off x="1777042" y="4183811"/>
            <a:ext cx="0" cy="251891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7BC8248D-785B-4562-B9E9-D0AEF37BCA0F}"/>
              </a:ext>
            </a:extLst>
          </p:cNvPr>
          <p:cNvCxnSpPr>
            <a:cxnSpLocks/>
          </p:cNvCxnSpPr>
          <p:nvPr/>
        </p:nvCxnSpPr>
        <p:spPr>
          <a:xfrm>
            <a:off x="724619" y="6305897"/>
            <a:ext cx="483079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5A366DDC-E06E-4051-AFA5-F57D9F549343}"/>
              </a:ext>
            </a:extLst>
          </p:cNvPr>
          <p:cNvSpPr txBox="1"/>
          <p:nvPr/>
        </p:nvSpPr>
        <p:spPr>
          <a:xfrm>
            <a:off x="5072331" y="6280030"/>
            <a:ext cx="301925" cy="369332"/>
          </a:xfrm>
          <a:prstGeom prst="rect">
            <a:avLst/>
          </a:prstGeom>
          <a:noFill/>
        </p:spPr>
        <p:txBody>
          <a:bodyPr wrap="square" rtlCol="0">
            <a:spAutoFit/>
          </a:bodyPr>
          <a:lstStyle/>
          <a:p>
            <a:r>
              <a:rPr lang="es-ES" dirty="0"/>
              <a:t>M</a:t>
            </a:r>
            <a:endParaRPr lang="es-PE" dirty="0"/>
          </a:p>
        </p:txBody>
      </p:sp>
      <p:sp>
        <p:nvSpPr>
          <p:cNvPr id="17" name="CuadroTexto 16">
            <a:extLst>
              <a:ext uri="{FF2B5EF4-FFF2-40B4-BE49-F238E27FC236}">
                <a16:creationId xmlns:a16="http://schemas.microsoft.com/office/drawing/2014/main" id="{6AB43BB5-A0E1-43CC-B59A-BF97548C72B6}"/>
              </a:ext>
            </a:extLst>
          </p:cNvPr>
          <p:cNvSpPr txBox="1"/>
          <p:nvPr/>
        </p:nvSpPr>
        <p:spPr>
          <a:xfrm>
            <a:off x="1454987" y="4224068"/>
            <a:ext cx="301925" cy="369332"/>
          </a:xfrm>
          <a:prstGeom prst="rect">
            <a:avLst/>
          </a:prstGeom>
          <a:noFill/>
        </p:spPr>
        <p:txBody>
          <a:bodyPr wrap="square" rtlCol="0">
            <a:spAutoFit/>
          </a:bodyPr>
          <a:lstStyle/>
          <a:p>
            <a:r>
              <a:rPr lang="es-ES" dirty="0"/>
              <a:t>P</a:t>
            </a:r>
            <a:endParaRPr lang="es-PE" dirty="0"/>
          </a:p>
        </p:txBody>
      </p:sp>
      <p:cxnSp>
        <p:nvCxnSpPr>
          <p:cNvPr id="19" name="Conector recto 18">
            <a:extLst>
              <a:ext uri="{FF2B5EF4-FFF2-40B4-BE49-F238E27FC236}">
                <a16:creationId xmlns:a16="http://schemas.microsoft.com/office/drawing/2014/main" id="{C97BFC0D-3409-4A21-8797-10D72173AC50}"/>
              </a:ext>
            </a:extLst>
          </p:cNvPr>
          <p:cNvCxnSpPr/>
          <p:nvPr/>
        </p:nvCxnSpPr>
        <p:spPr>
          <a:xfrm>
            <a:off x="1647645" y="4873925"/>
            <a:ext cx="664234" cy="181154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12C9E87A-3812-44E4-816C-79AC61436F10}"/>
              </a:ext>
            </a:extLst>
          </p:cNvPr>
          <p:cNvCxnSpPr>
            <a:cxnSpLocks/>
          </p:cNvCxnSpPr>
          <p:nvPr/>
        </p:nvCxnSpPr>
        <p:spPr>
          <a:xfrm flipV="1">
            <a:off x="2113470" y="6029864"/>
            <a:ext cx="232915" cy="9488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D82BA446-C017-4E6D-B8EE-2A1526D13B6A}"/>
              </a:ext>
            </a:extLst>
          </p:cNvPr>
          <p:cNvCxnSpPr/>
          <p:nvPr/>
        </p:nvCxnSpPr>
        <p:spPr>
          <a:xfrm>
            <a:off x="1130060" y="5279366"/>
            <a:ext cx="2717321" cy="1242204"/>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24F2FDB4-3CC2-4313-9F5F-BB298205F8C0}"/>
              </a:ext>
            </a:extLst>
          </p:cNvPr>
          <p:cNvCxnSpPr/>
          <p:nvPr/>
        </p:nvCxnSpPr>
        <p:spPr>
          <a:xfrm flipV="1">
            <a:off x="1155940" y="5089585"/>
            <a:ext cx="86264" cy="198407"/>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5E0B6A4D-89FF-4FD7-BDB8-760519A5E056}"/>
              </a:ext>
            </a:extLst>
          </p:cNvPr>
          <p:cNvSpPr txBox="1"/>
          <p:nvPr/>
        </p:nvSpPr>
        <p:spPr>
          <a:xfrm>
            <a:off x="1854678" y="4761781"/>
            <a:ext cx="715993" cy="369332"/>
          </a:xfrm>
          <a:prstGeom prst="rect">
            <a:avLst/>
          </a:prstGeom>
          <a:noFill/>
        </p:spPr>
        <p:txBody>
          <a:bodyPr wrap="square" rtlCol="0">
            <a:spAutoFit/>
          </a:bodyPr>
          <a:lstStyle/>
          <a:p>
            <a:r>
              <a:rPr lang="es-ES" dirty="0" err="1"/>
              <a:t>R.F</a:t>
            </a:r>
            <a:r>
              <a:rPr lang="es-ES" dirty="0"/>
              <a:t>.</a:t>
            </a:r>
            <a:endParaRPr lang="es-PE" dirty="0"/>
          </a:p>
        </p:txBody>
      </p:sp>
      <p:sp>
        <p:nvSpPr>
          <p:cNvPr id="28" name="Rectángulo 27">
            <a:extLst>
              <a:ext uri="{FF2B5EF4-FFF2-40B4-BE49-F238E27FC236}">
                <a16:creationId xmlns:a16="http://schemas.microsoft.com/office/drawing/2014/main" id="{599BD46D-F6F4-49DA-8818-4F6919692997}"/>
              </a:ext>
            </a:extLst>
          </p:cNvPr>
          <p:cNvSpPr/>
          <p:nvPr/>
        </p:nvSpPr>
        <p:spPr>
          <a:xfrm>
            <a:off x="6096000" y="1291426"/>
            <a:ext cx="3655155" cy="2308324"/>
          </a:xfrm>
          <a:prstGeom prst="rect">
            <a:avLst/>
          </a:prstGeom>
          <a:solidFill>
            <a:schemeClr val="accent3">
              <a:lumMod val="40000"/>
              <a:lumOff val="60000"/>
            </a:schemeClr>
          </a:solidFill>
        </p:spPr>
        <p:txBody>
          <a:bodyPr wrap="square">
            <a:spAutoFit/>
          </a:bodyPr>
          <a:lstStyle/>
          <a:p>
            <a:pPr marL="631800" indent="-631080">
              <a:lnSpc>
                <a:spcPct val="100000"/>
              </a:lnSpc>
            </a:pPr>
            <a:r>
              <a:rPr lang="es-PE" b="1" spc="-1" dirty="0">
                <a:solidFill>
                  <a:schemeClr val="bg2">
                    <a:lumMod val="10000"/>
                  </a:schemeClr>
                </a:solidFill>
                <a:latin typeface="Arial Narrow" panose="020B0606020202030204" pitchFamily="34" charset="0"/>
              </a:rPr>
              <a:t>SOLUCIÓN</a:t>
            </a:r>
          </a:p>
          <a:p>
            <a:pPr marL="631800" indent="-631080">
              <a:lnSpc>
                <a:spcPct val="100000"/>
              </a:lnSpc>
            </a:pPr>
            <a:r>
              <a:rPr lang="es-PE" b="1" spc="-1" dirty="0">
                <a:solidFill>
                  <a:schemeClr val="bg2">
                    <a:lumMod val="10000"/>
                  </a:schemeClr>
                </a:solidFill>
                <a:latin typeface="Arial Narrow" panose="020B0606020202030204" pitchFamily="34" charset="0"/>
              </a:rPr>
              <a:t>PASO 1: Graficando las restricciones:</a:t>
            </a:r>
          </a:p>
          <a:p>
            <a:pPr marL="914400" lvl="0" indent="-513720">
              <a:defRPr/>
            </a:pPr>
            <a:r>
              <a:rPr lang="es-ES" dirty="0" err="1">
                <a:latin typeface="Arial" pitchFamily="34" charset="0"/>
                <a:ea typeface="Calibri" pitchFamily="34" charset="0"/>
                <a:cs typeface="Arial" pitchFamily="34" charset="0"/>
              </a:rPr>
              <a:t>2,5M</a:t>
            </a:r>
            <a:r>
              <a:rPr lang="es-ES" dirty="0">
                <a:latin typeface="Arial" pitchFamily="34" charset="0"/>
                <a:ea typeface="Calibri" pitchFamily="34" charset="0"/>
                <a:cs typeface="Arial" pitchFamily="34" charset="0"/>
              </a:rPr>
              <a:t> + </a:t>
            </a:r>
            <a:r>
              <a:rPr lang="es-ES" dirty="0" err="1">
                <a:latin typeface="Arial" pitchFamily="34" charset="0"/>
                <a:ea typeface="Calibri" pitchFamily="34" charset="0"/>
                <a:cs typeface="Arial" pitchFamily="34" charset="0"/>
              </a:rPr>
              <a:t>1P</a:t>
            </a:r>
            <a:r>
              <a:rPr lang="es-ES" dirty="0">
                <a:latin typeface="Arial" pitchFamily="34" charset="0"/>
                <a:ea typeface="Calibri" pitchFamily="34" charset="0"/>
                <a:cs typeface="Arial" pitchFamily="34" charset="0"/>
              </a:rPr>
              <a:t> =3</a:t>
            </a:r>
            <a:r>
              <a:rPr lang="es-PE" b="1" spc="-1" dirty="0">
                <a:solidFill>
                  <a:schemeClr val="bg2">
                    <a:lumMod val="10000"/>
                  </a:schemeClr>
                </a:solidFill>
                <a:latin typeface="Arial Narrow" panose="020B0606020202030204" pitchFamily="34" charset="0"/>
              </a:rPr>
              <a:t>      (I)</a:t>
            </a:r>
          </a:p>
          <a:p>
            <a:pPr marL="914400" indent="-513720">
              <a:lnSpc>
                <a:spcPct val="100000"/>
              </a:lnSpc>
            </a:pPr>
            <a:r>
              <a:rPr lang="es-PE" b="1" spc="-1" dirty="0">
                <a:solidFill>
                  <a:schemeClr val="bg2">
                    <a:lumMod val="10000"/>
                  </a:schemeClr>
                </a:solidFill>
                <a:latin typeface="Arial Narrow" panose="020B0606020202030204" pitchFamily="34" charset="0"/>
              </a:rPr>
              <a:t>Si M=0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P=3</a:t>
            </a:r>
          </a:p>
          <a:p>
            <a:pPr marL="914400" indent="-513720">
              <a:lnSpc>
                <a:spcPct val="100000"/>
              </a:lnSpc>
            </a:pPr>
            <a:r>
              <a:rPr lang="es-PE" b="1" spc="-1" dirty="0">
                <a:solidFill>
                  <a:schemeClr val="bg2">
                    <a:lumMod val="10000"/>
                  </a:schemeClr>
                </a:solidFill>
                <a:latin typeface="Arial Narrow" panose="020B0606020202030204" pitchFamily="34" charset="0"/>
              </a:rPr>
              <a:t>Si P=0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M=1,2</a:t>
            </a:r>
          </a:p>
          <a:p>
            <a:pPr marL="914400" lvl="0" indent="-513720">
              <a:defRPr/>
            </a:pPr>
            <a:r>
              <a:rPr lang="es-ES" dirty="0" err="1">
                <a:latin typeface="Arial" pitchFamily="34" charset="0"/>
                <a:ea typeface="Calibri" pitchFamily="34" charset="0"/>
                <a:cs typeface="Arial" pitchFamily="34" charset="0"/>
              </a:rPr>
              <a:t>1M</a:t>
            </a:r>
            <a:r>
              <a:rPr lang="es-ES" dirty="0">
                <a:latin typeface="Arial" pitchFamily="34" charset="0"/>
                <a:ea typeface="Calibri" pitchFamily="34" charset="0"/>
                <a:cs typeface="Arial" pitchFamily="34" charset="0"/>
              </a:rPr>
              <a:t> +</a:t>
            </a:r>
            <a:r>
              <a:rPr lang="es-ES" dirty="0" err="1">
                <a:latin typeface="Arial" pitchFamily="34" charset="0"/>
                <a:ea typeface="Calibri" pitchFamily="34" charset="0"/>
                <a:cs typeface="Arial" pitchFamily="34" charset="0"/>
              </a:rPr>
              <a:t>2P</a:t>
            </a:r>
            <a:r>
              <a:rPr lang="es-ES" dirty="0">
                <a:latin typeface="Arial" pitchFamily="34" charset="0"/>
                <a:ea typeface="Calibri" pitchFamily="34" charset="0"/>
                <a:cs typeface="Arial" pitchFamily="34" charset="0"/>
              </a:rPr>
              <a:t> =4        </a:t>
            </a:r>
            <a:r>
              <a:rPr lang="es-PE" b="1" spc="-1" dirty="0">
                <a:solidFill>
                  <a:schemeClr val="bg2">
                    <a:lumMod val="10000"/>
                  </a:schemeClr>
                </a:solidFill>
                <a:latin typeface="Arial Narrow" panose="020B0606020202030204" pitchFamily="34" charset="0"/>
              </a:rPr>
              <a:t>(II)</a:t>
            </a:r>
          </a:p>
          <a:p>
            <a:pPr marL="914400" indent="-513720">
              <a:lnSpc>
                <a:spcPct val="100000"/>
              </a:lnSpc>
            </a:pPr>
            <a:r>
              <a:rPr lang="es-PE" b="1" spc="-1" dirty="0">
                <a:solidFill>
                  <a:schemeClr val="bg2">
                    <a:lumMod val="10000"/>
                  </a:schemeClr>
                </a:solidFill>
                <a:latin typeface="Arial Narrow" panose="020B0606020202030204" pitchFamily="34" charset="0"/>
              </a:rPr>
              <a:t>Si M=0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P=2</a:t>
            </a:r>
          </a:p>
          <a:p>
            <a:pPr marL="914400" indent="-513720">
              <a:lnSpc>
                <a:spcPct val="100000"/>
              </a:lnSpc>
            </a:pPr>
            <a:r>
              <a:rPr lang="es-PE" b="1" spc="-1" dirty="0">
                <a:solidFill>
                  <a:schemeClr val="bg2">
                    <a:lumMod val="10000"/>
                  </a:schemeClr>
                </a:solidFill>
                <a:latin typeface="Arial Narrow" panose="020B0606020202030204" pitchFamily="34" charset="0"/>
              </a:rPr>
              <a:t>Si P=0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M=4</a:t>
            </a:r>
          </a:p>
        </p:txBody>
      </p:sp>
      <p:sp>
        <p:nvSpPr>
          <p:cNvPr id="29" name="Rectángulo 28">
            <a:extLst>
              <a:ext uri="{FF2B5EF4-FFF2-40B4-BE49-F238E27FC236}">
                <a16:creationId xmlns:a16="http://schemas.microsoft.com/office/drawing/2014/main" id="{836B7BF0-2613-4189-A9FB-2D9269084725}"/>
              </a:ext>
            </a:extLst>
          </p:cNvPr>
          <p:cNvSpPr/>
          <p:nvPr/>
        </p:nvSpPr>
        <p:spPr>
          <a:xfrm>
            <a:off x="6096000" y="3613840"/>
            <a:ext cx="3672408" cy="1200329"/>
          </a:xfrm>
          <a:prstGeom prst="rect">
            <a:avLst/>
          </a:prstGeom>
          <a:solidFill>
            <a:schemeClr val="accent3">
              <a:lumMod val="40000"/>
              <a:lumOff val="60000"/>
            </a:schemeClr>
          </a:solidFill>
        </p:spPr>
        <p:txBody>
          <a:bodyPr wrap="square">
            <a:spAutoFit/>
          </a:bodyPr>
          <a:lstStyle/>
          <a:p>
            <a:pPr marL="914400" indent="-914400">
              <a:defRPr/>
            </a:pPr>
            <a:r>
              <a:rPr lang="es-PE" b="1" spc="-1" dirty="0">
                <a:solidFill>
                  <a:schemeClr val="bg2">
                    <a:lumMod val="10000"/>
                  </a:schemeClr>
                </a:solidFill>
                <a:latin typeface="Arial Narrow"/>
              </a:rPr>
              <a:t>PASO 3: Graficando la </a:t>
            </a:r>
            <a:r>
              <a:rPr lang="es-PE" b="1" spc="-1" dirty="0" err="1">
                <a:solidFill>
                  <a:schemeClr val="bg2">
                    <a:lumMod val="10000"/>
                  </a:schemeClr>
                </a:solidFill>
                <a:latin typeface="Arial Narrow"/>
              </a:rPr>
              <a:t>F.O</a:t>
            </a:r>
            <a:endParaRPr lang="es-PE" b="1" spc="-1" dirty="0">
              <a:solidFill>
                <a:schemeClr val="bg2">
                  <a:lumMod val="10000"/>
                </a:schemeClr>
              </a:solidFill>
            </a:endParaRPr>
          </a:p>
          <a:p>
            <a:pPr marL="914400" indent="-513720">
              <a:lnSpc>
                <a:spcPct val="100000"/>
              </a:lnSpc>
            </a:pPr>
            <a:r>
              <a:rPr lang="es-PE" dirty="0" err="1">
                <a:latin typeface="Arial Narrow" panose="020B0606020202030204" pitchFamily="34" charset="0"/>
                <a:cs typeface="Arial" pitchFamily="34" charset="0"/>
              </a:rPr>
              <a:t>0,3M</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0,52P</a:t>
            </a:r>
            <a:r>
              <a:rPr lang="es-PE" spc="-1" dirty="0">
                <a:solidFill>
                  <a:schemeClr val="bg2">
                    <a:lumMod val="10000"/>
                  </a:schemeClr>
                </a:solidFill>
                <a:latin typeface="Arial"/>
              </a:rPr>
              <a:t>=</a:t>
            </a:r>
            <a:r>
              <a:rPr lang="es-PE" spc="-1" dirty="0">
                <a:solidFill>
                  <a:srgbClr val="FF0000"/>
                </a:solidFill>
                <a:latin typeface="Arial"/>
              </a:rPr>
              <a:t>1.56</a:t>
            </a:r>
          </a:p>
          <a:p>
            <a:pPr marL="914400" indent="-513720">
              <a:lnSpc>
                <a:spcPct val="100000"/>
              </a:lnSpc>
            </a:pPr>
            <a:r>
              <a:rPr lang="es-PE" spc="-1" dirty="0">
                <a:solidFill>
                  <a:schemeClr val="bg2">
                    <a:lumMod val="10000"/>
                  </a:schemeClr>
                </a:solidFill>
                <a:latin typeface="Arial"/>
              </a:rPr>
              <a:t>Si M=0  </a:t>
            </a:r>
            <a:r>
              <a:rPr lang="es-PE" spc="-1" dirty="0">
                <a:solidFill>
                  <a:schemeClr val="bg2">
                    <a:lumMod val="10000"/>
                  </a:schemeClr>
                </a:solidFill>
                <a:latin typeface="Wingdings"/>
              </a:rPr>
              <a:t></a:t>
            </a:r>
            <a:r>
              <a:rPr lang="es-PE" spc="-1" dirty="0">
                <a:solidFill>
                  <a:schemeClr val="bg2">
                    <a:lumMod val="10000"/>
                  </a:schemeClr>
                </a:solidFill>
                <a:latin typeface="Arial"/>
              </a:rPr>
              <a:t>    P=3</a:t>
            </a:r>
          </a:p>
          <a:p>
            <a:pPr marL="914400" indent="-513720">
              <a:lnSpc>
                <a:spcPct val="100000"/>
              </a:lnSpc>
            </a:pPr>
            <a:r>
              <a:rPr lang="es-PE" spc="-1" dirty="0">
                <a:solidFill>
                  <a:schemeClr val="bg2">
                    <a:lumMod val="10000"/>
                  </a:schemeClr>
                </a:solidFill>
                <a:latin typeface="Arial"/>
              </a:rPr>
              <a:t>Si P=0  </a:t>
            </a:r>
            <a:r>
              <a:rPr lang="es-PE" spc="-1" dirty="0">
                <a:solidFill>
                  <a:schemeClr val="bg2">
                    <a:lumMod val="10000"/>
                  </a:schemeClr>
                </a:solidFill>
                <a:latin typeface="Wingdings"/>
              </a:rPr>
              <a:t></a:t>
            </a:r>
            <a:r>
              <a:rPr lang="es-PE" spc="-1" dirty="0">
                <a:solidFill>
                  <a:schemeClr val="bg2">
                    <a:lumMod val="10000"/>
                  </a:schemeClr>
                </a:solidFill>
                <a:latin typeface="Arial"/>
              </a:rPr>
              <a:t>    M=5,2</a:t>
            </a:r>
            <a:endParaRPr lang="es-PE" spc="-1" dirty="0">
              <a:solidFill>
                <a:schemeClr val="bg2">
                  <a:lumMod val="10000"/>
                </a:schemeClr>
              </a:solidFill>
              <a:latin typeface="Arial Narrow" panose="020B0606020202030204" pitchFamily="34" charset="0"/>
            </a:endParaRPr>
          </a:p>
        </p:txBody>
      </p:sp>
      <p:sp>
        <p:nvSpPr>
          <p:cNvPr id="30" name="Rectángulo 29">
            <a:extLst>
              <a:ext uri="{FF2B5EF4-FFF2-40B4-BE49-F238E27FC236}">
                <a16:creationId xmlns:a16="http://schemas.microsoft.com/office/drawing/2014/main" id="{2205A3C6-F547-4144-A2B9-9147C6254CBF}"/>
              </a:ext>
            </a:extLst>
          </p:cNvPr>
          <p:cNvSpPr/>
          <p:nvPr/>
        </p:nvSpPr>
        <p:spPr>
          <a:xfrm>
            <a:off x="6096000" y="4846939"/>
            <a:ext cx="3672408" cy="1477328"/>
          </a:xfrm>
          <a:prstGeom prst="rect">
            <a:avLst/>
          </a:prstGeom>
          <a:solidFill>
            <a:schemeClr val="accent3">
              <a:lumMod val="40000"/>
              <a:lumOff val="60000"/>
            </a:schemeClr>
          </a:solidFill>
        </p:spPr>
        <p:txBody>
          <a:bodyPr wrap="square">
            <a:spAutoFit/>
          </a:bodyPr>
          <a:lstStyle/>
          <a:p>
            <a:pPr algn="just">
              <a:lnSpc>
                <a:spcPct val="100000"/>
              </a:lnSpc>
            </a:pPr>
            <a:r>
              <a:rPr lang="es-PE" b="1" spc="-1" dirty="0">
                <a:solidFill>
                  <a:schemeClr val="bg2">
                    <a:lumMod val="10000"/>
                  </a:schemeClr>
                </a:solidFill>
                <a:latin typeface="Arial Narrow"/>
                <a:ea typeface="DejaVu Sans"/>
              </a:rPr>
              <a:t>PASO 4: Hallando la Solución óptima</a:t>
            </a:r>
            <a:endParaRPr lang="es-PE" b="1" spc="-1" dirty="0">
              <a:solidFill>
                <a:schemeClr val="bg2">
                  <a:lumMod val="10000"/>
                </a:schemeClr>
              </a:solidFill>
              <a:latin typeface="Arial"/>
            </a:endParaRPr>
          </a:p>
          <a:p>
            <a:pPr algn="just">
              <a:lnSpc>
                <a:spcPct val="100000"/>
              </a:lnSpc>
            </a:pPr>
            <a:r>
              <a:rPr lang="es-PE" b="1" spc="-1" dirty="0">
                <a:solidFill>
                  <a:schemeClr val="bg2">
                    <a:lumMod val="10000"/>
                  </a:schemeClr>
                </a:solidFill>
                <a:latin typeface="Arial Narrow"/>
                <a:ea typeface="DejaVu Sans"/>
              </a:rPr>
              <a:t>Del gráfico la solución óptima es:</a:t>
            </a:r>
          </a:p>
          <a:p>
            <a:pPr algn="just">
              <a:lnSpc>
                <a:spcPct val="100000"/>
              </a:lnSpc>
            </a:pPr>
            <a:r>
              <a:rPr lang="es-PE" b="1" spc="-1" dirty="0">
                <a:solidFill>
                  <a:schemeClr val="bg2">
                    <a:lumMod val="10000"/>
                  </a:schemeClr>
                </a:solidFill>
                <a:latin typeface="Arial Narrow"/>
                <a:ea typeface="DejaVu Sans"/>
              </a:rPr>
              <a:t>	M=0,5      P=1,75</a:t>
            </a:r>
          </a:p>
          <a:p>
            <a:pPr algn="just"/>
            <a:r>
              <a:rPr lang="es-PE" b="1" spc="-1" dirty="0">
                <a:solidFill>
                  <a:schemeClr val="bg2">
                    <a:lumMod val="10000"/>
                  </a:schemeClr>
                </a:solidFill>
                <a:latin typeface="Arial Narrow"/>
              </a:rPr>
              <a:t>El valor que toma la </a:t>
            </a:r>
            <a:r>
              <a:rPr lang="es-PE" b="1" spc="-1" dirty="0" err="1">
                <a:solidFill>
                  <a:schemeClr val="bg2">
                    <a:lumMod val="10000"/>
                  </a:schemeClr>
                </a:solidFill>
                <a:latin typeface="Arial Narrow"/>
              </a:rPr>
              <a:t>F.O</a:t>
            </a:r>
            <a:r>
              <a:rPr lang="es-PE" b="1" spc="-1" dirty="0">
                <a:solidFill>
                  <a:schemeClr val="bg2">
                    <a:lumMod val="10000"/>
                  </a:schemeClr>
                </a:solidFill>
                <a:latin typeface="Arial Narrow"/>
              </a:rPr>
              <a:t>. es:</a:t>
            </a:r>
          </a:p>
          <a:p>
            <a:pPr algn="just"/>
            <a:r>
              <a:rPr lang="es-PE" b="1" spc="-1" dirty="0">
                <a:solidFill>
                  <a:schemeClr val="bg2">
                    <a:lumMod val="10000"/>
                  </a:schemeClr>
                </a:solidFill>
                <a:latin typeface="Arial Narrow"/>
              </a:rPr>
              <a:t>	  Z=0,3(0,5)+0,52(1,75)=1,06</a:t>
            </a:r>
            <a:endParaRPr lang="es-PE" b="1" spc="-1" dirty="0">
              <a:solidFill>
                <a:schemeClr val="bg2">
                  <a:lumMod val="10000"/>
                </a:schemeClr>
              </a:solidFill>
              <a:latin typeface="Arial Narrow" panose="020B0606020202030204" pitchFamily="34" charset="0"/>
            </a:endParaRPr>
          </a:p>
        </p:txBody>
      </p:sp>
      <p:sp>
        <p:nvSpPr>
          <p:cNvPr id="15" name="Rectángulo 14">
            <a:extLst>
              <a:ext uri="{FF2B5EF4-FFF2-40B4-BE49-F238E27FC236}">
                <a16:creationId xmlns:a16="http://schemas.microsoft.com/office/drawing/2014/main" id="{9F2A3DA4-CA0F-4ECC-ABAB-E7E972C03243}"/>
              </a:ext>
            </a:extLst>
          </p:cNvPr>
          <p:cNvSpPr/>
          <p:nvPr/>
        </p:nvSpPr>
        <p:spPr>
          <a:xfrm>
            <a:off x="10020436" y="2136338"/>
            <a:ext cx="2083333" cy="2585323"/>
          </a:xfrm>
          <a:prstGeom prst="rect">
            <a:avLst/>
          </a:prstGeom>
          <a:solidFill>
            <a:schemeClr val="accent4">
              <a:lumMod val="40000"/>
              <a:lumOff val="60000"/>
            </a:schemeClr>
          </a:solidFill>
        </p:spPr>
        <p:txBody>
          <a:bodyPr wrap="square">
            <a:spAutoFit/>
          </a:bodyPr>
          <a:lstStyle/>
          <a:p>
            <a:pPr algn="just" eaLnBrk="0" fontAlgn="base" hangingPunct="0">
              <a:spcBef>
                <a:spcPct val="0"/>
              </a:spcBef>
              <a:spcAft>
                <a:spcPct val="0"/>
              </a:spcAft>
            </a:pPr>
            <a:r>
              <a:rPr lang="es-ES" b="1" dirty="0">
                <a:latin typeface="Arial Narrow" panose="020B0606020202030204" pitchFamily="34" charset="0"/>
                <a:cs typeface="Arial" pitchFamily="34" charset="0"/>
              </a:rPr>
              <a:t>2,5M+1P=3       I</a:t>
            </a:r>
          </a:p>
          <a:p>
            <a:pPr algn="just" eaLnBrk="0" fontAlgn="base" hangingPunct="0">
              <a:spcBef>
                <a:spcPct val="0"/>
              </a:spcBef>
              <a:spcAft>
                <a:spcPct val="0"/>
              </a:spcAft>
            </a:pPr>
            <a:r>
              <a:rPr lang="es-ES" b="1" u="sng" dirty="0">
                <a:latin typeface="Arial Narrow" panose="020B0606020202030204" pitchFamily="34" charset="0"/>
                <a:cs typeface="Arial" pitchFamily="34" charset="0"/>
              </a:rPr>
              <a:t>        </a:t>
            </a:r>
            <a:r>
              <a:rPr lang="es-ES" b="1" u="sng" dirty="0" err="1">
                <a:latin typeface="Arial Narrow" panose="020B0606020202030204" pitchFamily="34" charset="0"/>
                <a:cs typeface="Arial" pitchFamily="34" charset="0"/>
              </a:rPr>
              <a:t>1M+2P</a:t>
            </a:r>
            <a:r>
              <a:rPr lang="es-ES" b="1" u="sng" dirty="0">
                <a:latin typeface="Arial Narrow" panose="020B0606020202030204" pitchFamily="34" charset="0"/>
                <a:cs typeface="Arial" pitchFamily="34" charset="0"/>
              </a:rPr>
              <a:t>=4       II</a:t>
            </a:r>
          </a:p>
          <a:p>
            <a:pPr algn="just" eaLnBrk="0" fontAlgn="base" hangingPunct="0">
              <a:spcBef>
                <a:spcPct val="0"/>
              </a:spcBef>
              <a:spcAft>
                <a:spcPct val="0"/>
              </a:spcAft>
            </a:pPr>
            <a:r>
              <a:rPr lang="es-ES" b="1" dirty="0">
                <a:latin typeface="Arial Narrow" panose="020B0606020202030204" pitchFamily="34" charset="0"/>
                <a:cs typeface="Arial" pitchFamily="34" charset="0"/>
              </a:rPr>
              <a:t>I*2   </a:t>
            </a:r>
            <a:r>
              <a:rPr lang="es-ES" b="1" dirty="0" err="1">
                <a:latin typeface="Arial Narrow" panose="020B0606020202030204" pitchFamily="34" charset="0"/>
                <a:cs typeface="Arial" pitchFamily="34" charset="0"/>
              </a:rPr>
              <a:t>5M+2P</a:t>
            </a:r>
            <a:r>
              <a:rPr lang="es-ES" b="1" dirty="0">
                <a:latin typeface="Arial Narrow" panose="020B0606020202030204" pitchFamily="34" charset="0"/>
                <a:cs typeface="Arial" pitchFamily="34" charset="0"/>
              </a:rPr>
              <a:t>=6       III</a:t>
            </a:r>
          </a:p>
          <a:p>
            <a:pPr algn="just" eaLnBrk="0" fontAlgn="base" hangingPunct="0">
              <a:spcBef>
                <a:spcPct val="0"/>
              </a:spcBef>
              <a:spcAft>
                <a:spcPct val="0"/>
              </a:spcAft>
            </a:pPr>
            <a:r>
              <a:rPr lang="es-ES" b="1" u="sng" dirty="0">
                <a:latin typeface="Arial Narrow" panose="020B0606020202030204" pitchFamily="34" charset="0"/>
                <a:cs typeface="Arial" pitchFamily="34" charset="0"/>
              </a:rPr>
              <a:t>II      </a:t>
            </a:r>
            <a:r>
              <a:rPr lang="es-ES" b="1" u="sng" dirty="0" err="1">
                <a:latin typeface="Arial Narrow" panose="020B0606020202030204" pitchFamily="34" charset="0"/>
                <a:cs typeface="Arial" pitchFamily="34" charset="0"/>
              </a:rPr>
              <a:t>1M+2P</a:t>
            </a:r>
            <a:r>
              <a:rPr lang="es-ES" b="1" u="sng" dirty="0">
                <a:latin typeface="Arial Narrow" panose="020B0606020202030204" pitchFamily="34" charset="0"/>
                <a:cs typeface="Arial" pitchFamily="34" charset="0"/>
              </a:rPr>
              <a:t>=4      IV</a:t>
            </a:r>
          </a:p>
          <a:p>
            <a:pPr algn="just" eaLnBrk="0" fontAlgn="base" hangingPunct="0">
              <a:spcBef>
                <a:spcPct val="0"/>
              </a:spcBef>
              <a:spcAft>
                <a:spcPct val="0"/>
              </a:spcAft>
            </a:pPr>
            <a:r>
              <a:rPr lang="es-ES" b="1" dirty="0">
                <a:latin typeface="Arial Narrow" panose="020B0606020202030204" pitchFamily="34" charset="0"/>
                <a:cs typeface="Arial" pitchFamily="34" charset="0"/>
              </a:rPr>
              <a:t>III-IV        </a:t>
            </a:r>
            <a:r>
              <a:rPr lang="es-ES" b="1" dirty="0" err="1">
                <a:latin typeface="Arial Narrow" panose="020B0606020202030204" pitchFamily="34" charset="0"/>
                <a:cs typeface="Arial" pitchFamily="34" charset="0"/>
              </a:rPr>
              <a:t>4M</a:t>
            </a:r>
            <a:r>
              <a:rPr lang="es-ES" b="1" dirty="0">
                <a:latin typeface="Arial Narrow" panose="020B0606020202030204" pitchFamily="34" charset="0"/>
                <a:cs typeface="Arial" pitchFamily="34" charset="0"/>
              </a:rPr>
              <a:t>=2</a:t>
            </a:r>
          </a:p>
          <a:p>
            <a:pPr algn="just" eaLnBrk="0" fontAlgn="base" hangingPunct="0">
              <a:spcBef>
                <a:spcPct val="0"/>
              </a:spcBef>
              <a:spcAft>
                <a:spcPct val="0"/>
              </a:spcAft>
            </a:pPr>
            <a:r>
              <a:rPr lang="es-ES" b="1" u="sng" dirty="0">
                <a:latin typeface="Arial Narrow" panose="020B0606020202030204" pitchFamily="34" charset="0"/>
                <a:cs typeface="Arial" pitchFamily="34" charset="0"/>
              </a:rPr>
              <a:t>                  M=0,5</a:t>
            </a:r>
          </a:p>
          <a:p>
            <a:pPr algn="just" eaLnBrk="0" fontAlgn="base" hangingPunct="0">
              <a:spcBef>
                <a:spcPct val="0"/>
              </a:spcBef>
              <a:spcAft>
                <a:spcPct val="0"/>
              </a:spcAft>
            </a:pPr>
            <a:r>
              <a:rPr lang="es-ES" b="1" dirty="0">
                <a:latin typeface="Arial Narrow" panose="020B0606020202030204" pitchFamily="34" charset="0"/>
                <a:cs typeface="Arial" pitchFamily="34" charset="0"/>
              </a:rPr>
              <a:t>En II   </a:t>
            </a:r>
            <a:r>
              <a:rPr lang="es-ES" b="1" dirty="0" err="1">
                <a:latin typeface="Arial Narrow" panose="020B0606020202030204" pitchFamily="34" charset="0"/>
                <a:cs typeface="Arial" pitchFamily="34" charset="0"/>
              </a:rPr>
              <a:t>0,5+2P</a:t>
            </a:r>
            <a:r>
              <a:rPr lang="es-ES" b="1" dirty="0">
                <a:latin typeface="Arial Narrow" panose="020B0606020202030204" pitchFamily="34" charset="0"/>
                <a:cs typeface="Arial" pitchFamily="34" charset="0"/>
              </a:rPr>
              <a:t>=4</a:t>
            </a:r>
          </a:p>
          <a:p>
            <a:pPr algn="just" eaLnBrk="0" fontAlgn="base" hangingPunct="0">
              <a:spcBef>
                <a:spcPct val="0"/>
              </a:spcBef>
              <a:spcAft>
                <a:spcPct val="0"/>
              </a:spcAft>
            </a:pPr>
            <a:r>
              <a:rPr lang="es-ES" b="1" dirty="0">
                <a:latin typeface="Arial Narrow" panose="020B0606020202030204" pitchFamily="34" charset="0"/>
                <a:cs typeface="Arial" pitchFamily="34" charset="0"/>
              </a:rPr>
              <a:t>                    </a:t>
            </a:r>
            <a:r>
              <a:rPr lang="es-ES" b="1" dirty="0" err="1">
                <a:latin typeface="Arial Narrow" panose="020B0606020202030204" pitchFamily="34" charset="0"/>
                <a:cs typeface="Arial" pitchFamily="34" charset="0"/>
              </a:rPr>
              <a:t>2P</a:t>
            </a:r>
            <a:r>
              <a:rPr lang="es-ES" b="1" dirty="0">
                <a:latin typeface="Arial Narrow" panose="020B0606020202030204" pitchFamily="34" charset="0"/>
                <a:cs typeface="Arial" pitchFamily="34" charset="0"/>
              </a:rPr>
              <a:t>=3,5</a:t>
            </a:r>
          </a:p>
          <a:p>
            <a:pPr algn="just" eaLnBrk="0" fontAlgn="base" hangingPunct="0">
              <a:spcBef>
                <a:spcPct val="0"/>
              </a:spcBef>
              <a:spcAft>
                <a:spcPct val="0"/>
              </a:spcAft>
            </a:pPr>
            <a:r>
              <a:rPr lang="es-ES" b="1" u="sng" dirty="0">
                <a:latin typeface="Arial Narrow" panose="020B0606020202030204" pitchFamily="34" charset="0"/>
                <a:cs typeface="Arial" pitchFamily="34" charset="0"/>
              </a:rPr>
              <a:t>                      P=1,75</a:t>
            </a:r>
          </a:p>
        </p:txBody>
      </p:sp>
      <p:cxnSp>
        <p:nvCxnSpPr>
          <p:cNvPr id="33" name="Conector recto 32">
            <a:extLst>
              <a:ext uri="{FF2B5EF4-FFF2-40B4-BE49-F238E27FC236}">
                <a16:creationId xmlns:a16="http://schemas.microsoft.com/office/drawing/2014/main" id="{0B17B39F-2686-46CE-8D5F-EF071921C3DF}"/>
              </a:ext>
            </a:extLst>
          </p:cNvPr>
          <p:cNvCxnSpPr>
            <a:cxnSpLocks/>
          </p:cNvCxnSpPr>
          <p:nvPr/>
        </p:nvCxnSpPr>
        <p:spPr>
          <a:xfrm>
            <a:off x="1362442" y="5317428"/>
            <a:ext cx="2579830" cy="152332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6" name="Elipse 35">
            <a:extLst>
              <a:ext uri="{FF2B5EF4-FFF2-40B4-BE49-F238E27FC236}">
                <a16:creationId xmlns:a16="http://schemas.microsoft.com/office/drawing/2014/main" id="{8FA182BD-B020-4C07-B3EF-EA685215B010}"/>
              </a:ext>
            </a:extLst>
          </p:cNvPr>
          <p:cNvSpPr/>
          <p:nvPr/>
        </p:nvSpPr>
        <p:spPr>
          <a:xfrm>
            <a:off x="1915066" y="5633042"/>
            <a:ext cx="69012" cy="7763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
        <p:nvSpPr>
          <p:cNvPr id="37" name="Elipse 36">
            <a:extLst>
              <a:ext uri="{FF2B5EF4-FFF2-40B4-BE49-F238E27FC236}">
                <a16:creationId xmlns:a16="http://schemas.microsoft.com/office/drawing/2014/main" id="{5FCEDF1F-61BB-42ED-88B7-F9479CE809F5}"/>
              </a:ext>
            </a:extLst>
          </p:cNvPr>
          <p:cNvSpPr/>
          <p:nvPr/>
        </p:nvSpPr>
        <p:spPr>
          <a:xfrm>
            <a:off x="9954883" y="4727275"/>
            <a:ext cx="2113471" cy="2130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latin typeface="Arial Narrow" panose="020B0606020202030204" pitchFamily="34" charset="0"/>
              </a:rPr>
              <a:t>Igualación</a:t>
            </a:r>
          </a:p>
          <a:p>
            <a:pPr algn="ctr"/>
            <a:r>
              <a:rPr lang="es-ES" b="1" dirty="0">
                <a:latin typeface="Arial Narrow" panose="020B0606020202030204" pitchFamily="34" charset="0"/>
              </a:rPr>
              <a:t>Sustitución</a:t>
            </a:r>
          </a:p>
          <a:p>
            <a:pPr algn="ctr"/>
            <a:r>
              <a:rPr lang="es-ES" b="1" dirty="0">
                <a:latin typeface="Arial Narrow" panose="020B0606020202030204" pitchFamily="34" charset="0"/>
              </a:rPr>
              <a:t>Sumas/restas</a:t>
            </a:r>
          </a:p>
          <a:p>
            <a:pPr algn="ctr"/>
            <a:r>
              <a:rPr lang="es-ES" b="1" dirty="0">
                <a:latin typeface="Arial Narrow" panose="020B0606020202030204" pitchFamily="34" charset="0"/>
              </a:rPr>
              <a:t>Determinantes</a:t>
            </a:r>
            <a:endParaRPr lang="es-PE" b="1" dirty="0">
              <a:latin typeface="Arial Narrow" panose="020B0606020202030204" pitchFamily="34" charset="0"/>
            </a:endParaRPr>
          </a:p>
        </p:txBody>
      </p:sp>
    </p:spTree>
    <p:extLst>
      <p:ext uri="{BB962C8B-B14F-4D97-AF65-F5344CB8AC3E}">
        <p14:creationId xmlns:p14="http://schemas.microsoft.com/office/powerpoint/2010/main" val="134919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8" grpId="0" animBg="1"/>
      <p:bldP spid="29" grpId="0" animBg="1"/>
      <p:bldP spid="30"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541A9EF-B591-4797-A885-7706CDDB1471}"/>
              </a:ext>
            </a:extLst>
          </p:cNvPr>
          <p:cNvSpPr/>
          <p:nvPr/>
        </p:nvSpPr>
        <p:spPr>
          <a:xfrm>
            <a:off x="6240016" y="1741908"/>
            <a:ext cx="4862179" cy="1477328"/>
          </a:xfrm>
          <a:prstGeom prst="rect">
            <a:avLst/>
          </a:prstGeom>
          <a:solidFill>
            <a:srgbClr val="FFFF00"/>
          </a:solidFill>
        </p:spPr>
        <p:txBody>
          <a:bodyPr wrap="square">
            <a:spAutoFit/>
          </a:bodyPr>
          <a:lstStyle/>
          <a:p>
            <a:pPr algn="just" fontAlgn="base">
              <a:spcBef>
                <a:spcPct val="0"/>
              </a:spcBef>
              <a:spcAft>
                <a:spcPct val="0"/>
              </a:spcAft>
            </a:pPr>
            <a:r>
              <a:rPr lang="es-PE" b="1" dirty="0">
                <a:latin typeface="Arial Narrow" panose="020B0606020202030204" pitchFamily="34" charset="0"/>
                <a:cs typeface="Arial" pitchFamily="34" charset="0"/>
              </a:rPr>
              <a:t>MIN </a:t>
            </a:r>
            <a:r>
              <a:rPr lang="es-PE" b="1" dirty="0" err="1">
                <a:latin typeface="Arial Narrow" panose="020B0606020202030204" pitchFamily="34" charset="0"/>
                <a:cs typeface="Arial" pitchFamily="34" charset="0"/>
              </a:rPr>
              <a:t>0,3M</a:t>
            </a:r>
            <a:r>
              <a:rPr lang="es-PE" b="1" dirty="0">
                <a:latin typeface="Arial Narrow" panose="020B0606020202030204" pitchFamily="34" charset="0"/>
                <a:cs typeface="Arial" pitchFamily="34" charset="0"/>
              </a:rPr>
              <a:t>+ </a:t>
            </a:r>
            <a:r>
              <a:rPr lang="es-PE" b="1" dirty="0" err="1">
                <a:latin typeface="Arial Narrow" panose="020B0606020202030204" pitchFamily="34" charset="0"/>
                <a:cs typeface="Arial" pitchFamily="34" charset="0"/>
              </a:rPr>
              <a:t>0,52P</a:t>
            </a:r>
            <a:endParaRPr lang="es-PE" b="1" dirty="0">
              <a:latin typeface="Arial Narrow" panose="020B0606020202030204" pitchFamily="34" charset="0"/>
              <a:cs typeface="Arial" pitchFamily="34" charset="0"/>
            </a:endParaRPr>
          </a:p>
          <a:p>
            <a:pPr marL="449263" indent="-449263" algn="just" fontAlgn="base">
              <a:spcBef>
                <a:spcPct val="0"/>
              </a:spcBef>
              <a:spcAft>
                <a:spcPct val="0"/>
              </a:spcAft>
            </a:pPr>
            <a:r>
              <a:rPr lang="en-US" b="1" dirty="0">
                <a:latin typeface="Arial Narrow" panose="020B0606020202030204" pitchFamily="34" charset="0"/>
                <a:ea typeface="Calibri" pitchFamily="34" charset="0"/>
                <a:cs typeface="Arial" pitchFamily="34" charset="0"/>
              </a:rPr>
              <a:t>ST</a:t>
            </a:r>
            <a:endParaRPr lang="es-PE" b="1" dirty="0">
              <a:solidFill>
                <a:srgbClr val="FF0000"/>
              </a:solidFill>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ES" b="1" dirty="0" err="1">
                <a:latin typeface="Arial Narrow" panose="020B0606020202030204" pitchFamily="34" charset="0"/>
                <a:cs typeface="Arial" pitchFamily="34" charset="0"/>
              </a:rPr>
              <a:t>2,5M+1P</a:t>
            </a:r>
            <a:r>
              <a:rPr lang="es-ES" b="1" dirty="0">
                <a:latin typeface="Arial Narrow" panose="020B0606020202030204" pitchFamily="34" charset="0"/>
                <a:cs typeface="Arial" pitchFamily="34" charset="0"/>
              </a:rPr>
              <a:t>&gt;=3</a:t>
            </a:r>
          </a:p>
          <a:p>
            <a:pPr marL="449263" indent="-449263" algn="just" fontAlgn="base">
              <a:spcBef>
                <a:spcPct val="0"/>
              </a:spcBef>
              <a:spcAft>
                <a:spcPct val="0"/>
              </a:spcAft>
            </a:pPr>
            <a:r>
              <a:rPr lang="es-ES" b="1" dirty="0" err="1">
                <a:latin typeface="Arial Narrow" panose="020B0606020202030204" pitchFamily="34" charset="0"/>
                <a:cs typeface="Arial" pitchFamily="34" charset="0"/>
              </a:rPr>
              <a:t>1M+2P</a:t>
            </a:r>
            <a:r>
              <a:rPr lang="es-ES" b="1" dirty="0">
                <a:latin typeface="Arial Narrow" panose="020B0606020202030204" pitchFamily="34" charset="0"/>
                <a:cs typeface="Arial" pitchFamily="34" charset="0"/>
              </a:rPr>
              <a:t>&gt;=4</a:t>
            </a:r>
          </a:p>
          <a:p>
            <a:pPr marL="449263" indent="-449263" algn="just" fontAlgn="base">
              <a:spcBef>
                <a:spcPct val="0"/>
              </a:spcBef>
              <a:spcAft>
                <a:spcPct val="0"/>
              </a:spcAft>
            </a:pPr>
            <a:r>
              <a:rPr lang="es-ES" b="1" dirty="0">
                <a:latin typeface="Arial Narrow" panose="020B0606020202030204" pitchFamily="34" charset="0"/>
                <a:cs typeface="Arial" pitchFamily="34" charset="0"/>
              </a:rPr>
              <a:t>     P&lt;=1</a:t>
            </a:r>
          </a:p>
        </p:txBody>
      </p:sp>
      <p:sp>
        <p:nvSpPr>
          <p:cNvPr id="3" name="3 Rectángulo">
            <a:extLst>
              <a:ext uri="{FF2B5EF4-FFF2-40B4-BE49-F238E27FC236}">
                <a16:creationId xmlns:a16="http://schemas.microsoft.com/office/drawing/2014/main" id="{03B15B27-BC23-4922-9EF4-6AB8FAB17D7A}"/>
              </a:ext>
            </a:extLst>
          </p:cNvPr>
          <p:cNvSpPr/>
          <p:nvPr/>
        </p:nvSpPr>
        <p:spPr>
          <a:xfrm>
            <a:off x="1515440" y="1551591"/>
            <a:ext cx="4405112" cy="3170099"/>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a:t>
            </a:r>
            <a:r>
              <a:rPr lang="es-PE" sz="2000" dirty="0">
                <a:latin typeface="Arial Narrow" panose="020B0606020202030204" pitchFamily="34" charset="0"/>
                <a:ea typeface="Calibri" pitchFamily="34" charset="0"/>
                <a:cs typeface="Arial" pitchFamily="34" charset="0"/>
              </a:rPr>
              <a:t>M =Numero de Kg de maíz</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P= Numero de Kg de pienso</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MIN </a:t>
            </a:r>
            <a:r>
              <a:rPr lang="es-PE" sz="2000" dirty="0" err="1">
                <a:latin typeface="Arial Narrow" panose="020B0606020202030204" pitchFamily="34" charset="0"/>
                <a:cs typeface="Arial" pitchFamily="34" charset="0"/>
              </a:rPr>
              <a:t>0,3M</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0,52P</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latin typeface="Arial Narrow" panose="020B0606020202030204" pitchFamily="34" charset="0"/>
                <a:ea typeface="Calibri" pitchFamily="34" charset="0"/>
                <a:cs typeface="Arial" pitchFamily="34" charset="0"/>
              </a:rPr>
              <a:t>	</a:t>
            </a: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2,5M+1P</a:t>
            </a:r>
            <a:r>
              <a:rPr lang="es-ES" sz="2000" dirty="0">
                <a:latin typeface="Arial Narrow" panose="020B0606020202030204" pitchFamily="34" charset="0"/>
                <a:cs typeface="Arial" pitchFamily="34" charset="0"/>
              </a:rPr>
              <a:t>&gt;=3</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1M+2P</a:t>
            </a:r>
            <a:r>
              <a:rPr lang="es-ES" sz="2000" dirty="0">
                <a:latin typeface="Arial Narrow" panose="020B0606020202030204" pitchFamily="34" charset="0"/>
                <a:cs typeface="Arial" pitchFamily="34" charset="0"/>
              </a:rPr>
              <a:t>&gt;=4</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     P&lt;=1</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M, P&gt;=0</a:t>
            </a:r>
          </a:p>
        </p:txBody>
      </p:sp>
      <p:sp>
        <p:nvSpPr>
          <p:cNvPr id="4" name="Rectángulo 3">
            <a:extLst>
              <a:ext uri="{FF2B5EF4-FFF2-40B4-BE49-F238E27FC236}">
                <a16:creationId xmlns:a16="http://schemas.microsoft.com/office/drawing/2014/main" id="{C02C51E2-69AB-4F29-9E3D-B87240FFF219}"/>
              </a:ext>
            </a:extLst>
          </p:cNvPr>
          <p:cNvSpPr/>
          <p:nvPr/>
        </p:nvSpPr>
        <p:spPr>
          <a:xfrm>
            <a:off x="6271450" y="3526146"/>
            <a:ext cx="4830745" cy="1631216"/>
          </a:xfrm>
          <a:prstGeom prst="rect">
            <a:avLst/>
          </a:prstGeom>
          <a:solidFill>
            <a:schemeClr val="accent3">
              <a:lumMod val="40000"/>
              <a:lumOff val="60000"/>
            </a:schemeClr>
          </a:solidFill>
        </p:spPr>
        <p:txBody>
          <a:bodyPr wrap="square">
            <a:spAutoFit/>
          </a:bodyPr>
          <a:lstStyle/>
          <a:p>
            <a:r>
              <a:rPr lang="es-PE" sz="2000" b="1" dirty="0"/>
              <a:t> </a:t>
            </a:r>
            <a:r>
              <a:rPr lang="en-US" sz="2000" b="1" dirty="0"/>
              <a:t> OBJECTIVE FUNCTION VALUE</a:t>
            </a:r>
          </a:p>
          <a:p>
            <a:r>
              <a:rPr lang="en-US" sz="2000" b="1" dirty="0"/>
              <a:t>        1)      1.120000</a:t>
            </a:r>
          </a:p>
          <a:p>
            <a:r>
              <a:rPr lang="en-US" sz="2000" b="1" dirty="0"/>
              <a:t>  VARIABLE        VALUE          REDUCED COST</a:t>
            </a:r>
          </a:p>
          <a:p>
            <a:r>
              <a:rPr lang="en-US" sz="2000" b="1" dirty="0"/>
              <a:t>         M          2.000000          0.000000</a:t>
            </a:r>
          </a:p>
          <a:p>
            <a:r>
              <a:rPr lang="en-US" sz="2000" b="1" dirty="0"/>
              <a:t>         P            1.000000          0.000000</a:t>
            </a:r>
            <a:endParaRPr lang="es-PE" sz="2000" b="1" dirty="0"/>
          </a:p>
        </p:txBody>
      </p:sp>
      <p:pic>
        <p:nvPicPr>
          <p:cNvPr id="6" name="image6.jpeg">
            <a:extLst>
              <a:ext uri="{FF2B5EF4-FFF2-40B4-BE49-F238E27FC236}">
                <a16:creationId xmlns:a16="http://schemas.microsoft.com/office/drawing/2014/main" id="{D49EE21B-582E-4DE0-8457-B94ACDECB902}"/>
              </a:ext>
            </a:extLst>
          </p:cNvPr>
          <p:cNvPicPr/>
          <p:nvPr/>
        </p:nvPicPr>
        <p:blipFill>
          <a:blip r:embed="rId2" cstate="print"/>
          <a:stretch>
            <a:fillRect/>
          </a:stretch>
        </p:blipFill>
        <p:spPr>
          <a:xfrm>
            <a:off x="2679299" y="4603351"/>
            <a:ext cx="2653665" cy="1640205"/>
          </a:xfrm>
          <a:prstGeom prst="rect">
            <a:avLst/>
          </a:prstGeom>
        </p:spPr>
      </p:pic>
      <p:cxnSp>
        <p:nvCxnSpPr>
          <p:cNvPr id="7" name="Conector recto 6">
            <a:extLst>
              <a:ext uri="{FF2B5EF4-FFF2-40B4-BE49-F238E27FC236}">
                <a16:creationId xmlns:a16="http://schemas.microsoft.com/office/drawing/2014/main" id="{8E32D471-9758-4B5B-BEBC-5140D8ECC18A}"/>
              </a:ext>
            </a:extLst>
          </p:cNvPr>
          <p:cNvCxnSpPr>
            <a:cxnSpLocks/>
          </p:cNvCxnSpPr>
          <p:nvPr/>
        </p:nvCxnSpPr>
        <p:spPr>
          <a:xfrm>
            <a:off x="3191244" y="5024138"/>
            <a:ext cx="2579830" cy="152332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32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Tabla"/>
          <p:cNvGraphicFramePr>
            <a:graphicFrameLocks noGrp="1"/>
          </p:cNvGraphicFramePr>
          <p:nvPr>
            <p:extLst>
              <p:ext uri="{D42A27DB-BD31-4B8C-83A1-F6EECF244321}">
                <p14:modId xmlns:p14="http://schemas.microsoft.com/office/powerpoint/2010/main" val="724750552"/>
              </p:ext>
            </p:extLst>
          </p:nvPr>
        </p:nvGraphicFramePr>
        <p:xfrm>
          <a:off x="1533648" y="5262527"/>
          <a:ext cx="2175709" cy="1043382"/>
        </p:xfrm>
        <a:graphic>
          <a:graphicData uri="http://schemas.openxmlformats.org/drawingml/2006/table">
            <a:tbl>
              <a:tblPr firstRow="1" firstCol="1" lastRow="1" lastCol="1" bandRow="1" bandCol="1">
                <a:tableStyleId>{5C22544A-7EE6-4342-B048-85BDC9FD1C3A}</a:tableStyleId>
              </a:tblPr>
              <a:tblGrid>
                <a:gridCol w="791920">
                  <a:extLst>
                    <a:ext uri="{9D8B030D-6E8A-4147-A177-3AD203B41FA5}">
                      <a16:colId xmlns:a16="http://schemas.microsoft.com/office/drawing/2014/main" val="20000"/>
                    </a:ext>
                  </a:extLst>
                </a:gridCol>
                <a:gridCol w="629478">
                  <a:extLst>
                    <a:ext uri="{9D8B030D-6E8A-4147-A177-3AD203B41FA5}">
                      <a16:colId xmlns:a16="http://schemas.microsoft.com/office/drawing/2014/main" val="20001"/>
                    </a:ext>
                  </a:extLst>
                </a:gridCol>
                <a:gridCol w="754311">
                  <a:extLst>
                    <a:ext uri="{9D8B030D-6E8A-4147-A177-3AD203B41FA5}">
                      <a16:colId xmlns:a16="http://schemas.microsoft.com/office/drawing/2014/main" val="20002"/>
                    </a:ext>
                  </a:extLst>
                </a:gridCol>
              </a:tblGrid>
              <a:tr h="310773">
                <a:tc>
                  <a:txBody>
                    <a:bodyPr/>
                    <a:lstStyle/>
                    <a:p>
                      <a:pPr algn="ctr">
                        <a:lnSpc>
                          <a:spcPts val="1365"/>
                        </a:lnSpc>
                        <a:spcAft>
                          <a:spcPts val="0"/>
                        </a:spcAft>
                      </a:pPr>
                      <a:r>
                        <a:rPr lang="es-ES" sz="1800" dirty="0">
                          <a:effectLst/>
                        </a:rPr>
                        <a:t> </a:t>
                      </a:r>
                      <a:endParaRPr lang="es-PE" sz="1800" dirty="0">
                        <a:effectLst/>
                        <a:latin typeface="Calibri"/>
                        <a:ea typeface="Calibri"/>
                        <a:cs typeface="Times New Roman"/>
                      </a:endParaRPr>
                    </a:p>
                  </a:txBody>
                  <a:tcPr marL="0" marR="0" marT="0" marB="0" anchor="ctr">
                    <a:solidFill>
                      <a:schemeClr val="accent2"/>
                    </a:solidFill>
                  </a:tcPr>
                </a:tc>
                <a:tc>
                  <a:txBody>
                    <a:bodyPr/>
                    <a:lstStyle/>
                    <a:p>
                      <a:pPr marL="10160" algn="ctr">
                        <a:lnSpc>
                          <a:spcPts val="1365"/>
                        </a:lnSpc>
                        <a:spcAft>
                          <a:spcPts val="0"/>
                        </a:spcAft>
                      </a:pPr>
                      <a:r>
                        <a:rPr lang="es-ES" sz="1800" dirty="0">
                          <a:effectLst/>
                        </a:rPr>
                        <a:t>A</a:t>
                      </a:r>
                      <a:endParaRPr lang="es-PE" sz="1800" dirty="0">
                        <a:effectLst/>
                        <a:latin typeface="Calibri"/>
                        <a:ea typeface="Calibri"/>
                        <a:cs typeface="Times New Roman"/>
                      </a:endParaRPr>
                    </a:p>
                  </a:txBody>
                  <a:tcPr marL="0" marR="0" marT="0" marB="0" anchor="ctr">
                    <a:solidFill>
                      <a:schemeClr val="accent2"/>
                    </a:solidFill>
                  </a:tcPr>
                </a:tc>
                <a:tc>
                  <a:txBody>
                    <a:bodyPr/>
                    <a:lstStyle/>
                    <a:p>
                      <a:pPr marL="10160" algn="ctr">
                        <a:lnSpc>
                          <a:spcPts val="1365"/>
                        </a:lnSpc>
                        <a:spcAft>
                          <a:spcPts val="0"/>
                        </a:spcAft>
                      </a:pPr>
                      <a:r>
                        <a:rPr lang="es-ES" sz="1800" dirty="0">
                          <a:effectLst/>
                        </a:rPr>
                        <a:t>B</a:t>
                      </a:r>
                      <a:endParaRPr lang="es-PE" sz="1800" dirty="0">
                        <a:effectLst/>
                        <a:latin typeface="Calibri"/>
                        <a:ea typeface="Calibri"/>
                        <a:cs typeface="Times New Roman"/>
                      </a:endParaRPr>
                    </a:p>
                  </a:txBody>
                  <a:tcPr marL="0" marR="0" marT="0" marB="0" anchor="ctr">
                    <a:solidFill>
                      <a:schemeClr val="accent2"/>
                    </a:solidFill>
                  </a:tcPr>
                </a:tc>
                <a:extLst>
                  <a:ext uri="{0D108BD9-81ED-4DB2-BD59-A6C34878D82A}">
                    <a16:rowId xmlns:a16="http://schemas.microsoft.com/office/drawing/2014/main" val="10000"/>
                  </a:ext>
                </a:extLst>
              </a:tr>
              <a:tr h="366814">
                <a:tc>
                  <a:txBody>
                    <a:bodyPr/>
                    <a:lstStyle/>
                    <a:p>
                      <a:pPr marL="180975" marR="179705" algn="ctr">
                        <a:lnSpc>
                          <a:spcPts val="1365"/>
                        </a:lnSpc>
                        <a:spcBef>
                          <a:spcPts val="60"/>
                        </a:spcBef>
                        <a:spcAft>
                          <a:spcPts val="0"/>
                        </a:spcAft>
                      </a:pPr>
                      <a:r>
                        <a:rPr lang="es-ES" sz="1800" dirty="0" err="1">
                          <a:effectLst/>
                        </a:rPr>
                        <a:t>P1</a:t>
                      </a:r>
                      <a:endParaRPr lang="es-PE" sz="1800" dirty="0">
                        <a:effectLst/>
                        <a:latin typeface="Calibri"/>
                        <a:ea typeface="Calibri"/>
                        <a:cs typeface="Times New Roman"/>
                      </a:endParaRPr>
                    </a:p>
                  </a:txBody>
                  <a:tcPr marL="0" marR="0" marT="0" marB="0" anchor="ctr">
                    <a:solidFill>
                      <a:schemeClr val="accent2"/>
                    </a:solidFill>
                  </a:tcPr>
                </a:tc>
                <a:tc>
                  <a:txBody>
                    <a:bodyPr/>
                    <a:lstStyle/>
                    <a:p>
                      <a:pPr marL="11430" algn="ctr">
                        <a:lnSpc>
                          <a:spcPts val="1365"/>
                        </a:lnSpc>
                        <a:spcAft>
                          <a:spcPts val="0"/>
                        </a:spcAft>
                      </a:pPr>
                      <a:r>
                        <a:rPr lang="es-ES" sz="1800" b="1" dirty="0">
                          <a:solidFill>
                            <a:schemeClr val="tx1"/>
                          </a:solidFill>
                          <a:effectLst/>
                        </a:rPr>
                        <a:t>2</a:t>
                      </a:r>
                      <a:endParaRPr lang="es-PE" sz="1800" b="1" dirty="0">
                        <a:solidFill>
                          <a:schemeClr val="tx1"/>
                        </a:solidFill>
                        <a:effectLst/>
                        <a:latin typeface="Calibri"/>
                        <a:ea typeface="Calibri"/>
                        <a:cs typeface="Times New Roman"/>
                      </a:endParaRPr>
                    </a:p>
                  </a:txBody>
                  <a:tcPr marL="0" marR="0" marT="0" marB="0" anchor="ctr">
                    <a:solidFill>
                      <a:schemeClr val="accent2">
                        <a:lumMod val="20000"/>
                        <a:lumOff val="80000"/>
                      </a:schemeClr>
                    </a:solidFill>
                  </a:tcPr>
                </a:tc>
                <a:tc>
                  <a:txBody>
                    <a:bodyPr/>
                    <a:lstStyle/>
                    <a:p>
                      <a:pPr marL="10160" algn="ctr">
                        <a:lnSpc>
                          <a:spcPts val="1365"/>
                        </a:lnSpc>
                        <a:spcAft>
                          <a:spcPts val="0"/>
                        </a:spcAft>
                      </a:pPr>
                      <a:r>
                        <a:rPr lang="es-ES" sz="1800" b="1">
                          <a:solidFill>
                            <a:schemeClr val="tx1"/>
                          </a:solidFill>
                          <a:effectLst/>
                        </a:rPr>
                        <a:t>6</a:t>
                      </a:r>
                      <a:endParaRPr lang="es-PE" sz="1800" b="1">
                        <a:solidFill>
                          <a:schemeClr val="tx1"/>
                        </a:solidFill>
                        <a:effectLst/>
                        <a:latin typeface="Calibri"/>
                        <a:ea typeface="Calibri"/>
                        <a:cs typeface="Times New Roman"/>
                      </a:endParaRPr>
                    </a:p>
                  </a:txBody>
                  <a:tcPr marL="0" marR="0" marT="0" marB="0" anchor="ctr">
                    <a:solidFill>
                      <a:schemeClr val="accent2">
                        <a:lumMod val="20000"/>
                        <a:lumOff val="80000"/>
                      </a:schemeClr>
                    </a:solidFill>
                  </a:tcPr>
                </a:tc>
                <a:extLst>
                  <a:ext uri="{0D108BD9-81ED-4DB2-BD59-A6C34878D82A}">
                    <a16:rowId xmlns:a16="http://schemas.microsoft.com/office/drawing/2014/main" val="10001"/>
                  </a:ext>
                </a:extLst>
              </a:tr>
              <a:tr h="365795">
                <a:tc>
                  <a:txBody>
                    <a:bodyPr/>
                    <a:lstStyle/>
                    <a:p>
                      <a:pPr marL="182245" marR="179070" algn="ctr">
                        <a:lnSpc>
                          <a:spcPts val="1365"/>
                        </a:lnSpc>
                        <a:spcBef>
                          <a:spcPts val="60"/>
                        </a:spcBef>
                        <a:spcAft>
                          <a:spcPts val="0"/>
                        </a:spcAft>
                      </a:pPr>
                      <a:r>
                        <a:rPr lang="es-ES" sz="1800" dirty="0" err="1">
                          <a:effectLst/>
                        </a:rPr>
                        <a:t>P2</a:t>
                      </a:r>
                      <a:endParaRPr lang="es-PE" sz="1800" dirty="0">
                        <a:effectLst/>
                        <a:latin typeface="Calibri"/>
                        <a:ea typeface="Calibri"/>
                        <a:cs typeface="Times New Roman"/>
                      </a:endParaRPr>
                    </a:p>
                  </a:txBody>
                  <a:tcPr marL="0" marR="0" marT="0" marB="0" anchor="ctr">
                    <a:solidFill>
                      <a:schemeClr val="accent2"/>
                    </a:solidFill>
                  </a:tcPr>
                </a:tc>
                <a:tc>
                  <a:txBody>
                    <a:bodyPr/>
                    <a:lstStyle/>
                    <a:p>
                      <a:pPr marL="11430" algn="ctr">
                        <a:lnSpc>
                          <a:spcPts val="1365"/>
                        </a:lnSpc>
                        <a:spcAft>
                          <a:spcPts val="0"/>
                        </a:spcAft>
                      </a:pPr>
                      <a:r>
                        <a:rPr lang="es-ES" sz="1800" b="1" dirty="0">
                          <a:solidFill>
                            <a:schemeClr val="tx1"/>
                          </a:solidFill>
                          <a:effectLst/>
                        </a:rPr>
                        <a:t>4</a:t>
                      </a:r>
                      <a:endParaRPr lang="es-PE" sz="1800" b="1" dirty="0">
                        <a:solidFill>
                          <a:schemeClr val="tx1"/>
                        </a:solidFill>
                        <a:effectLst/>
                        <a:latin typeface="Calibri"/>
                        <a:ea typeface="Calibri"/>
                        <a:cs typeface="Times New Roman"/>
                      </a:endParaRPr>
                    </a:p>
                  </a:txBody>
                  <a:tcPr marL="0" marR="0" marT="0" marB="0" anchor="ctr">
                    <a:solidFill>
                      <a:schemeClr val="accent2">
                        <a:lumMod val="20000"/>
                        <a:lumOff val="80000"/>
                      </a:schemeClr>
                    </a:solidFill>
                  </a:tcPr>
                </a:tc>
                <a:tc>
                  <a:txBody>
                    <a:bodyPr/>
                    <a:lstStyle/>
                    <a:p>
                      <a:pPr marL="10160" algn="ctr">
                        <a:lnSpc>
                          <a:spcPts val="1365"/>
                        </a:lnSpc>
                        <a:spcAft>
                          <a:spcPts val="0"/>
                        </a:spcAft>
                      </a:pPr>
                      <a:r>
                        <a:rPr lang="es-ES" sz="1800" b="1" dirty="0">
                          <a:solidFill>
                            <a:schemeClr val="tx1"/>
                          </a:solidFill>
                          <a:effectLst/>
                        </a:rPr>
                        <a:t>3</a:t>
                      </a:r>
                      <a:endParaRPr lang="es-PE" sz="1800" b="1" dirty="0">
                        <a:solidFill>
                          <a:schemeClr val="tx1"/>
                        </a:solidFill>
                        <a:effectLst/>
                        <a:latin typeface="Calibri"/>
                        <a:ea typeface="Calibri"/>
                        <a:cs typeface="Times New Roman"/>
                      </a:endParaRPr>
                    </a:p>
                  </a:txBody>
                  <a:tcPr marL="0" marR="0" marT="0" marB="0" anchor="ctr">
                    <a:solidFill>
                      <a:schemeClr val="accent2">
                        <a:lumMod val="20000"/>
                        <a:lumOff val="80000"/>
                      </a:schemeClr>
                    </a:solidFill>
                  </a:tcPr>
                </a:tc>
                <a:extLst>
                  <a:ext uri="{0D108BD9-81ED-4DB2-BD59-A6C34878D82A}">
                    <a16:rowId xmlns:a16="http://schemas.microsoft.com/office/drawing/2014/main" val="10002"/>
                  </a:ext>
                </a:extLst>
              </a:tr>
            </a:tbl>
          </a:graphicData>
        </a:graphic>
      </p:graphicFrame>
      <p:sp>
        <p:nvSpPr>
          <p:cNvPr id="4" name="3 Rectángulo"/>
          <p:cNvSpPr/>
          <p:nvPr/>
        </p:nvSpPr>
        <p:spPr>
          <a:xfrm>
            <a:off x="266261" y="1476876"/>
            <a:ext cx="5539316" cy="3785652"/>
          </a:xfrm>
          <a:prstGeom prst="rect">
            <a:avLst/>
          </a:prstGeom>
        </p:spPr>
        <p:txBody>
          <a:bodyPr wrap="square">
            <a:spAutoFit/>
          </a:bodyPr>
          <a:lstStyle/>
          <a:p>
            <a:pPr algn="just"/>
            <a:r>
              <a:rPr lang="es-ES" sz="2400" b="1" dirty="0">
                <a:latin typeface="Arial Narrow" pitchFamily="34" charset="0"/>
              </a:rPr>
              <a:t>Un ganadero debe suministrar un mínimo diario de 4 mg de vitamina A y 6 mg de vitamina B en el pienso que da a sus reses. Dispone para ello de dos tipos de pienso </a:t>
            </a:r>
            <a:r>
              <a:rPr lang="es-ES" sz="2400" b="1" dirty="0" err="1">
                <a:latin typeface="Arial Narrow" pitchFamily="34" charset="0"/>
              </a:rPr>
              <a:t>P1</a:t>
            </a:r>
            <a:r>
              <a:rPr lang="es-ES" sz="2400" b="1" dirty="0">
                <a:latin typeface="Arial Narrow" pitchFamily="34" charset="0"/>
              </a:rPr>
              <a:t> y </a:t>
            </a:r>
            <a:r>
              <a:rPr lang="es-ES" sz="2400" b="1" dirty="0" err="1">
                <a:latin typeface="Arial Narrow" pitchFamily="34" charset="0"/>
              </a:rPr>
              <a:t>P2</a:t>
            </a:r>
            <a:r>
              <a:rPr lang="es-ES" sz="2400" b="1" dirty="0">
                <a:latin typeface="Arial Narrow" pitchFamily="34" charset="0"/>
              </a:rPr>
              <a:t> , cuyos contenidos vitamínicos por kg son los que aparecen en la tabla.</a:t>
            </a:r>
            <a:endParaRPr lang="es-PE" sz="2400" b="1" dirty="0">
              <a:latin typeface="Arial Narrow" pitchFamily="34" charset="0"/>
            </a:endParaRPr>
          </a:p>
          <a:p>
            <a:pPr algn="just"/>
            <a:r>
              <a:rPr lang="es-ES" sz="2400" b="1" dirty="0">
                <a:latin typeface="Arial Narrow" pitchFamily="34" charset="0"/>
              </a:rPr>
              <a:t>Si el kilogramo de pienso </a:t>
            </a:r>
            <a:r>
              <a:rPr lang="es-ES" sz="2400" b="1" dirty="0" err="1">
                <a:latin typeface="Arial Narrow" pitchFamily="34" charset="0"/>
              </a:rPr>
              <a:t>P1</a:t>
            </a:r>
            <a:r>
              <a:rPr lang="es-ES" sz="2400" b="1" dirty="0">
                <a:latin typeface="Arial Narrow" pitchFamily="34" charset="0"/>
              </a:rPr>
              <a:t> vale 0,4 soles y el del </a:t>
            </a:r>
            <a:r>
              <a:rPr lang="es-ES" sz="2400" b="1" dirty="0" err="1">
                <a:latin typeface="Arial Narrow" pitchFamily="34" charset="0"/>
              </a:rPr>
              <a:t>P2</a:t>
            </a:r>
            <a:r>
              <a:rPr lang="es-ES" sz="2400" b="1" dirty="0">
                <a:latin typeface="Arial Narrow" pitchFamily="34" charset="0"/>
              </a:rPr>
              <a:t> vale 0,6 soles, ¿cómo deben mezclarse los piensos para suministrar las vitaminas requeridas con un coste mínimo.</a:t>
            </a:r>
            <a:r>
              <a:rPr lang="es-PE" sz="2400" b="1" dirty="0">
                <a:latin typeface="Arial Narrow" pitchFamily="34" charset="0"/>
              </a:rPr>
              <a:t> </a:t>
            </a:r>
          </a:p>
        </p:txBody>
      </p:sp>
      <p:sp>
        <p:nvSpPr>
          <p:cNvPr id="6" name="2 Rectángulo redondeado">
            <a:extLst>
              <a:ext uri="{FF2B5EF4-FFF2-40B4-BE49-F238E27FC236}">
                <a16:creationId xmlns:a16="http://schemas.microsoft.com/office/drawing/2014/main" id="{87F55DEA-8DF6-45F1-B6B0-7A7C153D12A8}"/>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30</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5" name="3 Rectángulo">
            <a:extLst>
              <a:ext uri="{FF2B5EF4-FFF2-40B4-BE49-F238E27FC236}">
                <a16:creationId xmlns:a16="http://schemas.microsoft.com/office/drawing/2014/main" id="{86C8E2C4-EBB5-4658-9202-387805BD3C15}"/>
              </a:ext>
            </a:extLst>
          </p:cNvPr>
          <p:cNvSpPr/>
          <p:nvPr/>
        </p:nvSpPr>
        <p:spPr>
          <a:xfrm>
            <a:off x="6129127" y="3193231"/>
            <a:ext cx="5691510" cy="1200329"/>
          </a:xfrm>
          <a:prstGeom prst="rect">
            <a:avLst/>
          </a:prstGeom>
          <a:solidFill>
            <a:schemeClr val="accent4">
              <a:lumMod val="60000"/>
              <a:lumOff val="40000"/>
            </a:schemeClr>
          </a:solidFill>
        </p:spPr>
        <p:txBody>
          <a:bodyPr wrap="square">
            <a:spAutoFit/>
          </a:bodyPr>
          <a:lstStyle/>
          <a:p>
            <a:pPr marL="400050" indent="-400050" algn="just" fontAlgn="base">
              <a:spcBef>
                <a:spcPct val="0"/>
              </a:spcBef>
              <a:spcAft>
                <a:spcPct val="0"/>
              </a:spcAft>
              <a:buAutoNum type="romanUcPeriod"/>
            </a:pPr>
            <a:r>
              <a:rPr lang="es-PE" sz="24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400" dirty="0">
                <a:solidFill>
                  <a:srgbClr val="FF0000"/>
                </a:solidFill>
                <a:latin typeface="Arial Narrow" panose="020B0606020202030204" pitchFamily="34" charset="0"/>
                <a:ea typeface="Calibri" pitchFamily="34" charset="0"/>
                <a:cs typeface="Arial" pitchFamily="34" charset="0"/>
              </a:rPr>
              <a:t>        </a:t>
            </a:r>
            <a:r>
              <a:rPr lang="es-PE" sz="2400" dirty="0" err="1">
                <a:latin typeface="Arial Narrow" panose="020B0606020202030204" pitchFamily="34" charset="0"/>
                <a:ea typeface="Calibri" pitchFamily="34" charset="0"/>
                <a:cs typeface="Arial" pitchFamily="34" charset="0"/>
              </a:rPr>
              <a:t>P1</a:t>
            </a:r>
            <a:r>
              <a:rPr lang="es-PE" sz="2400" dirty="0">
                <a:latin typeface="Arial Narrow" panose="020B0606020202030204" pitchFamily="34" charset="0"/>
                <a:ea typeface="Calibri" pitchFamily="34" charset="0"/>
                <a:cs typeface="Arial" pitchFamily="34" charset="0"/>
              </a:rPr>
              <a:t> =Número de Kg de pienso 1</a:t>
            </a:r>
          </a:p>
          <a:p>
            <a:pPr algn="just" fontAlgn="base">
              <a:spcBef>
                <a:spcPct val="0"/>
              </a:spcBef>
              <a:spcAft>
                <a:spcPct val="0"/>
              </a:spcAft>
            </a:pPr>
            <a:r>
              <a:rPr lang="es-PE" sz="2400" dirty="0">
                <a:latin typeface="Arial Narrow" panose="020B0606020202030204" pitchFamily="34" charset="0"/>
                <a:ea typeface="Calibri" pitchFamily="34" charset="0"/>
                <a:cs typeface="Arial" pitchFamily="34" charset="0"/>
              </a:rPr>
              <a:t>        </a:t>
            </a:r>
            <a:r>
              <a:rPr lang="es-PE" sz="2400" dirty="0" err="1">
                <a:latin typeface="Arial Narrow" panose="020B0606020202030204" pitchFamily="34" charset="0"/>
                <a:ea typeface="Calibri" pitchFamily="34" charset="0"/>
                <a:cs typeface="Arial" pitchFamily="34" charset="0"/>
              </a:rPr>
              <a:t>P2</a:t>
            </a:r>
            <a:r>
              <a:rPr lang="es-PE" sz="2400" dirty="0">
                <a:latin typeface="Arial Narrow" panose="020B0606020202030204" pitchFamily="34" charset="0"/>
                <a:ea typeface="Calibri" pitchFamily="34" charset="0"/>
                <a:cs typeface="Arial" pitchFamily="34" charset="0"/>
              </a:rPr>
              <a:t>= Número de Kg de pienso 2</a:t>
            </a:r>
            <a:r>
              <a:rPr lang="en-US" sz="2400" b="1" dirty="0">
                <a:latin typeface="Arial Narrow" panose="020B0606020202030204" pitchFamily="34" charset="0"/>
                <a:ea typeface="Calibri" pitchFamily="34" charset="0"/>
                <a:cs typeface="Arial" pitchFamily="34" charset="0"/>
              </a:rPr>
              <a:t>	</a:t>
            </a:r>
            <a:endParaRPr lang="es-ES" sz="2400" dirty="0">
              <a:latin typeface="Arial Narrow" panose="020B0606020202030204" pitchFamily="34" charset="0"/>
              <a:cs typeface="Arial" pitchFamily="34" charset="0"/>
            </a:endParaRPr>
          </a:p>
        </p:txBody>
      </p:sp>
      <p:graphicFrame>
        <p:nvGraphicFramePr>
          <p:cNvPr id="7" name="Tabla 5">
            <a:extLst>
              <a:ext uri="{FF2B5EF4-FFF2-40B4-BE49-F238E27FC236}">
                <a16:creationId xmlns:a16="http://schemas.microsoft.com/office/drawing/2014/main" id="{81A17945-0C07-46D1-87B5-8538A12EB164}"/>
              </a:ext>
            </a:extLst>
          </p:cNvPr>
          <p:cNvGraphicFramePr>
            <a:graphicFrameLocks noGrp="1"/>
          </p:cNvGraphicFramePr>
          <p:nvPr>
            <p:extLst>
              <p:ext uri="{D42A27DB-BD31-4B8C-83A1-F6EECF244321}">
                <p14:modId xmlns:p14="http://schemas.microsoft.com/office/powerpoint/2010/main" val="221576360"/>
              </p:ext>
            </p:extLst>
          </p:nvPr>
        </p:nvGraphicFramePr>
        <p:xfrm>
          <a:off x="6118614" y="1304764"/>
          <a:ext cx="5702023" cy="1828800"/>
        </p:xfrm>
        <a:graphic>
          <a:graphicData uri="http://schemas.openxmlformats.org/drawingml/2006/table">
            <a:tbl>
              <a:tblPr firstRow="1" bandRow="1">
                <a:tableStyleId>{5C22544A-7EE6-4342-B048-85BDC9FD1C3A}</a:tableStyleId>
              </a:tblPr>
              <a:tblGrid>
                <a:gridCol w="2137626">
                  <a:extLst>
                    <a:ext uri="{9D8B030D-6E8A-4147-A177-3AD203B41FA5}">
                      <a16:colId xmlns:a16="http://schemas.microsoft.com/office/drawing/2014/main" val="1966746115"/>
                    </a:ext>
                  </a:extLst>
                </a:gridCol>
                <a:gridCol w="1025895">
                  <a:extLst>
                    <a:ext uri="{9D8B030D-6E8A-4147-A177-3AD203B41FA5}">
                      <a16:colId xmlns:a16="http://schemas.microsoft.com/office/drawing/2014/main" val="1746090455"/>
                    </a:ext>
                  </a:extLst>
                </a:gridCol>
                <a:gridCol w="1112996">
                  <a:extLst>
                    <a:ext uri="{9D8B030D-6E8A-4147-A177-3AD203B41FA5}">
                      <a16:colId xmlns:a16="http://schemas.microsoft.com/office/drawing/2014/main" val="4190329794"/>
                    </a:ext>
                  </a:extLst>
                </a:gridCol>
                <a:gridCol w="1425506">
                  <a:extLst>
                    <a:ext uri="{9D8B030D-6E8A-4147-A177-3AD203B41FA5}">
                      <a16:colId xmlns:a16="http://schemas.microsoft.com/office/drawing/2014/main" val="2261499804"/>
                    </a:ext>
                  </a:extLst>
                </a:gridCol>
              </a:tblGrid>
              <a:tr h="432048">
                <a:tc>
                  <a:txBody>
                    <a:bodyPr/>
                    <a:lstStyle/>
                    <a:p>
                      <a:pPr algn="ctr"/>
                      <a:endParaRPr lang="es-PE" sz="2400" b="1" dirty="0"/>
                    </a:p>
                  </a:txBody>
                  <a:tcPr/>
                </a:tc>
                <a:tc>
                  <a:txBody>
                    <a:bodyPr/>
                    <a:lstStyle/>
                    <a:p>
                      <a:pPr algn="ctr"/>
                      <a:r>
                        <a:rPr lang="es-ES" sz="2400" b="1" dirty="0"/>
                        <a:t>A</a:t>
                      </a:r>
                      <a:endParaRPr lang="es-PE" sz="2400" b="1" dirty="0"/>
                    </a:p>
                  </a:txBody>
                  <a:tcPr/>
                </a:tc>
                <a:tc>
                  <a:txBody>
                    <a:bodyPr/>
                    <a:lstStyle/>
                    <a:p>
                      <a:pPr algn="ctr"/>
                      <a:r>
                        <a:rPr lang="es-ES" sz="2400" b="1" dirty="0"/>
                        <a:t>B</a:t>
                      </a:r>
                      <a:endParaRPr lang="es-PE" sz="2400" b="1" dirty="0"/>
                    </a:p>
                  </a:txBody>
                  <a:tcPr/>
                </a:tc>
                <a:tc>
                  <a:txBody>
                    <a:bodyPr/>
                    <a:lstStyle/>
                    <a:p>
                      <a:pPr algn="ctr"/>
                      <a:r>
                        <a:rPr lang="es-ES" sz="2400" b="1" dirty="0"/>
                        <a:t>Costo</a:t>
                      </a:r>
                      <a:endParaRPr lang="es-PE" sz="2400" b="1" dirty="0"/>
                    </a:p>
                  </a:txBody>
                  <a:tcPr/>
                </a:tc>
                <a:extLst>
                  <a:ext uri="{0D108BD9-81ED-4DB2-BD59-A6C34878D82A}">
                    <a16:rowId xmlns:a16="http://schemas.microsoft.com/office/drawing/2014/main" val="1719834880"/>
                  </a:ext>
                </a:extLst>
              </a:tr>
              <a:tr h="432048">
                <a:tc>
                  <a:txBody>
                    <a:bodyPr/>
                    <a:lstStyle/>
                    <a:p>
                      <a:pPr algn="ctr"/>
                      <a:r>
                        <a:rPr lang="es-ES" sz="2400" b="1" dirty="0" err="1"/>
                        <a:t>P1</a:t>
                      </a:r>
                      <a:endParaRPr lang="es-PE" sz="2400" b="1" dirty="0"/>
                    </a:p>
                  </a:txBody>
                  <a:tcPr/>
                </a:tc>
                <a:tc>
                  <a:txBody>
                    <a:bodyPr/>
                    <a:lstStyle/>
                    <a:p>
                      <a:pPr algn="ctr"/>
                      <a:r>
                        <a:rPr lang="es-ES" sz="2400" b="1" dirty="0"/>
                        <a:t>2</a:t>
                      </a:r>
                      <a:endParaRPr lang="es-PE" sz="2400" b="1" dirty="0"/>
                    </a:p>
                  </a:txBody>
                  <a:tcPr/>
                </a:tc>
                <a:tc>
                  <a:txBody>
                    <a:bodyPr/>
                    <a:lstStyle/>
                    <a:p>
                      <a:pPr algn="ctr"/>
                      <a:r>
                        <a:rPr lang="es-ES" sz="2400" b="1" dirty="0"/>
                        <a:t>6</a:t>
                      </a:r>
                      <a:endParaRPr lang="es-PE" sz="2400" b="1" dirty="0"/>
                    </a:p>
                  </a:txBody>
                  <a:tcPr/>
                </a:tc>
                <a:tc>
                  <a:txBody>
                    <a:bodyPr/>
                    <a:lstStyle/>
                    <a:p>
                      <a:pPr algn="ctr"/>
                      <a:r>
                        <a:rPr lang="es-ES" sz="2400" b="1" dirty="0"/>
                        <a:t>0,4</a:t>
                      </a:r>
                      <a:endParaRPr lang="es-PE" sz="2400" b="1" dirty="0"/>
                    </a:p>
                  </a:txBody>
                  <a:tcPr/>
                </a:tc>
                <a:extLst>
                  <a:ext uri="{0D108BD9-81ED-4DB2-BD59-A6C34878D82A}">
                    <a16:rowId xmlns:a16="http://schemas.microsoft.com/office/drawing/2014/main" val="2756527351"/>
                  </a:ext>
                </a:extLst>
              </a:tr>
              <a:tr h="432048">
                <a:tc>
                  <a:txBody>
                    <a:bodyPr/>
                    <a:lstStyle/>
                    <a:p>
                      <a:pPr algn="ctr"/>
                      <a:r>
                        <a:rPr lang="es-ES" sz="2400" b="1" dirty="0" err="1"/>
                        <a:t>P2</a:t>
                      </a:r>
                      <a:endParaRPr lang="es-PE" sz="2400" b="1" dirty="0"/>
                    </a:p>
                  </a:txBody>
                  <a:tcPr/>
                </a:tc>
                <a:tc>
                  <a:txBody>
                    <a:bodyPr/>
                    <a:lstStyle/>
                    <a:p>
                      <a:pPr algn="ctr"/>
                      <a:r>
                        <a:rPr lang="es-ES" sz="2400" b="1" dirty="0"/>
                        <a:t>4</a:t>
                      </a:r>
                      <a:endParaRPr lang="es-PE" sz="2400" b="1" dirty="0"/>
                    </a:p>
                  </a:txBody>
                  <a:tcPr/>
                </a:tc>
                <a:tc>
                  <a:txBody>
                    <a:bodyPr/>
                    <a:lstStyle/>
                    <a:p>
                      <a:pPr algn="ctr"/>
                      <a:r>
                        <a:rPr lang="es-ES" sz="2400" b="1" dirty="0"/>
                        <a:t>3</a:t>
                      </a:r>
                      <a:endParaRPr lang="es-PE" sz="2400" b="1" dirty="0"/>
                    </a:p>
                  </a:txBody>
                  <a:tcPr/>
                </a:tc>
                <a:tc>
                  <a:txBody>
                    <a:bodyPr/>
                    <a:lstStyle/>
                    <a:p>
                      <a:pPr algn="ctr"/>
                      <a:r>
                        <a:rPr lang="es-ES" sz="2400" b="1" dirty="0"/>
                        <a:t>0,6</a:t>
                      </a:r>
                      <a:endParaRPr lang="es-PE" sz="2400" b="1" dirty="0"/>
                    </a:p>
                  </a:txBody>
                  <a:tcPr/>
                </a:tc>
                <a:extLst>
                  <a:ext uri="{0D108BD9-81ED-4DB2-BD59-A6C34878D82A}">
                    <a16:rowId xmlns:a16="http://schemas.microsoft.com/office/drawing/2014/main" val="2062083234"/>
                  </a:ext>
                </a:extLst>
              </a:tr>
              <a:tr h="432048">
                <a:tc>
                  <a:txBody>
                    <a:bodyPr/>
                    <a:lstStyle/>
                    <a:p>
                      <a:pPr algn="ctr"/>
                      <a:r>
                        <a:rPr lang="es-ES" sz="2400" b="1" dirty="0"/>
                        <a:t>Requerimiento</a:t>
                      </a:r>
                      <a:endParaRPr lang="es-PE" sz="2400" b="1" dirty="0"/>
                    </a:p>
                  </a:txBody>
                  <a:tcPr/>
                </a:tc>
                <a:tc>
                  <a:txBody>
                    <a:bodyPr/>
                    <a:lstStyle/>
                    <a:p>
                      <a:pPr algn="ctr"/>
                      <a:r>
                        <a:rPr lang="es-ES" sz="2400" b="1" dirty="0"/>
                        <a:t>4</a:t>
                      </a:r>
                      <a:endParaRPr lang="es-PE" sz="2400" b="1" dirty="0"/>
                    </a:p>
                  </a:txBody>
                  <a:tcPr/>
                </a:tc>
                <a:tc>
                  <a:txBody>
                    <a:bodyPr/>
                    <a:lstStyle/>
                    <a:p>
                      <a:pPr algn="ctr"/>
                      <a:r>
                        <a:rPr lang="es-ES" sz="2400" b="1" dirty="0"/>
                        <a:t>6</a:t>
                      </a:r>
                      <a:endParaRPr lang="es-PE" sz="2400" b="1" dirty="0"/>
                    </a:p>
                  </a:txBody>
                  <a:tcPr/>
                </a:tc>
                <a:tc>
                  <a:txBody>
                    <a:bodyPr/>
                    <a:lstStyle/>
                    <a:p>
                      <a:pPr algn="ctr"/>
                      <a:endParaRPr lang="es-PE" sz="2400" b="1" dirty="0"/>
                    </a:p>
                  </a:txBody>
                  <a:tcPr/>
                </a:tc>
                <a:extLst>
                  <a:ext uri="{0D108BD9-81ED-4DB2-BD59-A6C34878D82A}">
                    <a16:rowId xmlns:a16="http://schemas.microsoft.com/office/drawing/2014/main" val="642715733"/>
                  </a:ext>
                </a:extLst>
              </a:tr>
            </a:tbl>
          </a:graphicData>
        </a:graphic>
      </p:graphicFrame>
      <p:sp>
        <p:nvSpPr>
          <p:cNvPr id="3" name="Rectángulo 2">
            <a:extLst>
              <a:ext uri="{FF2B5EF4-FFF2-40B4-BE49-F238E27FC236}">
                <a16:creationId xmlns:a16="http://schemas.microsoft.com/office/drawing/2014/main" id="{A3649B5B-59C0-4930-A1DC-4B3037E01685}"/>
              </a:ext>
            </a:extLst>
          </p:cNvPr>
          <p:cNvSpPr/>
          <p:nvPr/>
        </p:nvSpPr>
        <p:spPr>
          <a:xfrm>
            <a:off x="6132276" y="5207043"/>
            <a:ext cx="5691509" cy="1569660"/>
          </a:xfrm>
          <a:prstGeom prst="rect">
            <a:avLst/>
          </a:prstGeom>
          <a:solidFill>
            <a:schemeClr val="accent4">
              <a:lumMod val="60000"/>
              <a:lumOff val="40000"/>
            </a:schemeClr>
          </a:solidFill>
        </p:spPr>
        <p:txBody>
          <a:bodyPr wrap="square">
            <a:spAutoFit/>
          </a:bodyPr>
          <a:lstStyle/>
          <a:p>
            <a:pPr marL="449263" indent="-449263" algn="just" fontAlgn="base">
              <a:spcBef>
                <a:spcPct val="0"/>
              </a:spcBef>
              <a:spcAft>
                <a:spcPct val="0"/>
              </a:spcAft>
            </a:pPr>
            <a:r>
              <a:rPr lang="es-PE" sz="2400" b="1" dirty="0">
                <a:solidFill>
                  <a:srgbClr val="FF0000"/>
                </a:solidFill>
                <a:latin typeface="Arial Narrow" panose="020B0606020202030204" pitchFamily="34" charset="0"/>
                <a:ea typeface="Calibri" pitchFamily="34" charset="0"/>
                <a:cs typeface="Arial" pitchFamily="34" charset="0"/>
              </a:rPr>
              <a:t>III.	</a:t>
            </a:r>
            <a:r>
              <a:rPr lang="es-PE" sz="24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4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400" dirty="0" err="1">
                <a:latin typeface="Arial Narrow" panose="020B0606020202030204" pitchFamily="34" charset="0"/>
                <a:cs typeface="Arial" pitchFamily="34" charset="0"/>
              </a:rPr>
              <a:t>2P1+4P2</a:t>
            </a:r>
            <a:r>
              <a:rPr lang="es-ES" sz="2400" dirty="0">
                <a:latin typeface="Arial Narrow" panose="020B0606020202030204" pitchFamily="34" charset="0"/>
                <a:cs typeface="Arial" pitchFamily="34" charset="0"/>
              </a:rPr>
              <a:t>&gt;=4</a:t>
            </a:r>
          </a:p>
          <a:p>
            <a:pPr indent="449263" algn="just" eaLnBrk="0" fontAlgn="base" hangingPunct="0">
              <a:spcBef>
                <a:spcPct val="0"/>
              </a:spcBef>
              <a:spcAft>
                <a:spcPct val="0"/>
              </a:spcAft>
            </a:pPr>
            <a:r>
              <a:rPr lang="es-ES" sz="2400" dirty="0" err="1">
                <a:latin typeface="Arial Narrow" panose="020B0606020202030204" pitchFamily="34" charset="0"/>
                <a:cs typeface="Arial" pitchFamily="34" charset="0"/>
              </a:rPr>
              <a:t>6P1+3P2</a:t>
            </a:r>
            <a:r>
              <a:rPr lang="es-ES" sz="2400" dirty="0">
                <a:latin typeface="Arial Narrow" panose="020B0606020202030204" pitchFamily="34" charset="0"/>
                <a:cs typeface="Arial" pitchFamily="34" charset="0"/>
              </a:rPr>
              <a:t>&gt;=6</a:t>
            </a:r>
          </a:p>
          <a:p>
            <a:pPr indent="449263" algn="just" eaLnBrk="0" fontAlgn="base" hangingPunct="0">
              <a:spcBef>
                <a:spcPct val="0"/>
              </a:spcBef>
              <a:spcAft>
                <a:spcPct val="0"/>
              </a:spcAft>
            </a:pPr>
            <a:r>
              <a:rPr lang="es-ES" sz="2400" dirty="0" err="1">
                <a:latin typeface="Arial Narrow" panose="020B0606020202030204" pitchFamily="34" charset="0"/>
                <a:cs typeface="Arial" pitchFamily="34" charset="0"/>
              </a:rPr>
              <a:t>P1,P2</a:t>
            </a:r>
            <a:r>
              <a:rPr lang="es-ES" sz="2400" dirty="0">
                <a:latin typeface="Arial Narrow" panose="020B0606020202030204" pitchFamily="34" charset="0"/>
                <a:cs typeface="Arial" pitchFamily="34" charset="0"/>
              </a:rPr>
              <a:t>&gt;=0</a:t>
            </a:r>
            <a:endParaRPr lang="es-PE" sz="2400" dirty="0"/>
          </a:p>
        </p:txBody>
      </p:sp>
      <p:sp>
        <p:nvSpPr>
          <p:cNvPr id="8" name="Rectángulo 7">
            <a:extLst>
              <a:ext uri="{FF2B5EF4-FFF2-40B4-BE49-F238E27FC236}">
                <a16:creationId xmlns:a16="http://schemas.microsoft.com/office/drawing/2014/main" id="{2625E41A-2950-4ACA-9B48-AF52F954D9C2}"/>
              </a:ext>
            </a:extLst>
          </p:cNvPr>
          <p:cNvSpPr/>
          <p:nvPr/>
        </p:nvSpPr>
        <p:spPr>
          <a:xfrm>
            <a:off x="6129126" y="4388718"/>
            <a:ext cx="5691509" cy="830997"/>
          </a:xfrm>
          <a:prstGeom prst="rect">
            <a:avLst/>
          </a:prstGeom>
          <a:solidFill>
            <a:schemeClr val="accent4">
              <a:lumMod val="60000"/>
              <a:lumOff val="40000"/>
            </a:schemeClr>
          </a:solidFill>
        </p:spPr>
        <p:txBody>
          <a:bodyPr wrap="square">
            <a:spAutoFit/>
          </a:bodyPr>
          <a:lstStyle/>
          <a:p>
            <a:pPr marL="449263" indent="-449263" algn="just" fontAlgn="base">
              <a:spcBef>
                <a:spcPct val="0"/>
              </a:spcBef>
              <a:spcAft>
                <a:spcPct val="0"/>
              </a:spcAft>
              <a:buAutoNum type="romanUcPeriod" startAt="2"/>
            </a:pPr>
            <a:r>
              <a:rPr lang="es-PE" sz="24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400" dirty="0">
                <a:latin typeface="Arial Narrow" panose="020B0606020202030204" pitchFamily="34" charset="0"/>
                <a:cs typeface="Arial" pitchFamily="34" charset="0"/>
              </a:rPr>
              <a:t>        MIN </a:t>
            </a:r>
            <a:r>
              <a:rPr lang="es-PE" sz="2400" dirty="0" err="1">
                <a:latin typeface="Arial Narrow" panose="020B0606020202030204" pitchFamily="34" charset="0"/>
                <a:cs typeface="Arial" pitchFamily="34" charset="0"/>
              </a:rPr>
              <a:t>0,4P1</a:t>
            </a:r>
            <a:r>
              <a:rPr lang="es-PE" sz="2400" dirty="0">
                <a:latin typeface="Arial Narrow" panose="020B0606020202030204" pitchFamily="34" charset="0"/>
                <a:cs typeface="Arial" pitchFamily="34" charset="0"/>
              </a:rPr>
              <a:t>+ </a:t>
            </a:r>
            <a:r>
              <a:rPr lang="es-PE" sz="2400" dirty="0" err="1">
                <a:latin typeface="Arial Narrow" panose="020B0606020202030204" pitchFamily="34" charset="0"/>
                <a:cs typeface="Arial" pitchFamily="34" charset="0"/>
              </a:rPr>
              <a:t>0,6P2</a:t>
            </a:r>
            <a:endParaRPr lang="es-PE" sz="2400" dirty="0">
              <a:latin typeface="Arial Narrow" panose="020B0606020202030204" pitchFamily="34" charset="0"/>
              <a:cs typeface="Arial" pitchFamily="34" charset="0"/>
            </a:endParaRPr>
          </a:p>
        </p:txBody>
      </p:sp>
    </p:spTree>
    <p:extLst>
      <p:ext uri="{BB962C8B-B14F-4D97-AF65-F5344CB8AC3E}">
        <p14:creationId xmlns:p14="http://schemas.microsoft.com/office/powerpoint/2010/main" val="259774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7.jpeg">
            <a:extLst>
              <a:ext uri="{FF2B5EF4-FFF2-40B4-BE49-F238E27FC236}">
                <a16:creationId xmlns:a16="http://schemas.microsoft.com/office/drawing/2014/main" id="{0D2825A3-EE4E-473E-88CF-ACF77AC1176B}"/>
              </a:ext>
            </a:extLst>
          </p:cNvPr>
          <p:cNvPicPr/>
          <p:nvPr/>
        </p:nvPicPr>
        <p:blipFill>
          <a:blip r:embed="rId2" cstate="print"/>
          <a:stretch>
            <a:fillRect/>
          </a:stretch>
        </p:blipFill>
        <p:spPr>
          <a:xfrm>
            <a:off x="306558" y="4191533"/>
            <a:ext cx="2652395" cy="2477827"/>
          </a:xfrm>
          <a:prstGeom prst="rect">
            <a:avLst/>
          </a:prstGeom>
        </p:spPr>
      </p:pic>
      <p:sp>
        <p:nvSpPr>
          <p:cNvPr id="6" name="3 Rectángulo">
            <a:extLst>
              <a:ext uri="{FF2B5EF4-FFF2-40B4-BE49-F238E27FC236}">
                <a16:creationId xmlns:a16="http://schemas.microsoft.com/office/drawing/2014/main" id="{710832EE-3CB7-4BA2-9FDF-4E66B4D0CB9E}"/>
              </a:ext>
            </a:extLst>
          </p:cNvPr>
          <p:cNvSpPr/>
          <p:nvPr/>
        </p:nvSpPr>
        <p:spPr>
          <a:xfrm>
            <a:off x="6780076" y="1448780"/>
            <a:ext cx="4405112" cy="1015663"/>
          </a:xfrm>
          <a:prstGeom prst="rect">
            <a:avLst/>
          </a:prstGeom>
          <a:solidFill>
            <a:schemeClr val="accent4">
              <a:lumMod val="60000"/>
              <a:lumOff val="40000"/>
            </a:schemeClr>
          </a:solidFill>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a:t>
            </a:r>
            <a:r>
              <a:rPr lang="es-PE" sz="2000" dirty="0" err="1">
                <a:latin typeface="Arial Narrow" panose="020B0606020202030204" pitchFamily="34" charset="0"/>
                <a:ea typeface="Calibri" pitchFamily="34" charset="0"/>
                <a:cs typeface="Arial" pitchFamily="34" charset="0"/>
              </a:rPr>
              <a:t>P1</a:t>
            </a:r>
            <a:r>
              <a:rPr lang="es-PE" sz="2000" dirty="0">
                <a:latin typeface="Arial Narrow" panose="020B0606020202030204" pitchFamily="34" charset="0"/>
                <a:ea typeface="Calibri" pitchFamily="34" charset="0"/>
                <a:cs typeface="Arial" pitchFamily="34" charset="0"/>
              </a:rPr>
              <a:t> =Número de Kg de pienso 1</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a:t>
            </a:r>
            <a:r>
              <a:rPr lang="es-PE" sz="2000" dirty="0" err="1">
                <a:latin typeface="Arial Narrow" panose="020B0606020202030204" pitchFamily="34" charset="0"/>
                <a:ea typeface="Calibri" pitchFamily="34" charset="0"/>
                <a:cs typeface="Arial" pitchFamily="34" charset="0"/>
              </a:rPr>
              <a:t>P2</a:t>
            </a:r>
            <a:r>
              <a:rPr lang="es-PE" sz="2000" dirty="0">
                <a:latin typeface="Arial Narrow" panose="020B0606020202030204" pitchFamily="34" charset="0"/>
                <a:ea typeface="Calibri" pitchFamily="34" charset="0"/>
                <a:cs typeface="Arial" pitchFamily="34" charset="0"/>
              </a:rPr>
              <a:t>= Número de Kg de pienso 2</a:t>
            </a:r>
            <a:r>
              <a:rPr lang="en-US" sz="2000" b="1" dirty="0">
                <a:latin typeface="Arial Narrow" panose="020B0606020202030204" pitchFamily="34" charset="0"/>
                <a:ea typeface="Calibri" pitchFamily="34" charset="0"/>
                <a:cs typeface="Arial" pitchFamily="34" charset="0"/>
              </a:rPr>
              <a:t>	</a:t>
            </a:r>
            <a:endParaRPr lang="es-ES" sz="2000" dirty="0">
              <a:latin typeface="Arial Narrow" panose="020B0606020202030204" pitchFamily="34" charset="0"/>
              <a:cs typeface="Arial" pitchFamily="34" charset="0"/>
            </a:endParaRPr>
          </a:p>
        </p:txBody>
      </p:sp>
      <p:sp>
        <p:nvSpPr>
          <p:cNvPr id="7" name="Rectángulo 6">
            <a:extLst>
              <a:ext uri="{FF2B5EF4-FFF2-40B4-BE49-F238E27FC236}">
                <a16:creationId xmlns:a16="http://schemas.microsoft.com/office/drawing/2014/main" id="{F99A4857-191A-42AE-B25A-2A29844F09A3}"/>
              </a:ext>
            </a:extLst>
          </p:cNvPr>
          <p:cNvSpPr/>
          <p:nvPr/>
        </p:nvSpPr>
        <p:spPr>
          <a:xfrm>
            <a:off x="6785771" y="3187239"/>
            <a:ext cx="4413849" cy="1323439"/>
          </a:xfrm>
          <a:prstGeom prst="rect">
            <a:avLst/>
          </a:prstGeom>
          <a:solidFill>
            <a:schemeClr val="accent4">
              <a:lumMod val="60000"/>
              <a:lumOff val="40000"/>
            </a:schemeClr>
          </a:solidFill>
        </p:spPr>
        <p:txBody>
          <a:bodyPr wrap="square">
            <a:spAutoFit/>
          </a:bodyPr>
          <a:lstStyle/>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2P1+4P2</a:t>
            </a:r>
            <a:r>
              <a:rPr lang="es-ES" sz="2000" dirty="0">
                <a:latin typeface="Arial Narrow" panose="020B0606020202030204" pitchFamily="34" charset="0"/>
                <a:cs typeface="Arial" pitchFamily="34" charset="0"/>
              </a:rPr>
              <a:t>&gt;=4</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6P1+3P2</a:t>
            </a:r>
            <a:r>
              <a:rPr lang="es-ES" sz="2000" dirty="0">
                <a:latin typeface="Arial Narrow" panose="020B0606020202030204" pitchFamily="34" charset="0"/>
                <a:cs typeface="Arial" pitchFamily="34" charset="0"/>
              </a:rPr>
              <a:t>&gt;=6</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P1,P2</a:t>
            </a:r>
            <a:r>
              <a:rPr lang="es-ES" sz="2000" dirty="0">
                <a:latin typeface="Arial Narrow" panose="020B0606020202030204" pitchFamily="34" charset="0"/>
                <a:cs typeface="Arial" pitchFamily="34" charset="0"/>
              </a:rPr>
              <a:t>&gt;=0</a:t>
            </a:r>
            <a:endParaRPr lang="es-PE" sz="2000" dirty="0"/>
          </a:p>
        </p:txBody>
      </p:sp>
      <p:sp>
        <p:nvSpPr>
          <p:cNvPr id="8" name="Rectángulo 7">
            <a:extLst>
              <a:ext uri="{FF2B5EF4-FFF2-40B4-BE49-F238E27FC236}">
                <a16:creationId xmlns:a16="http://schemas.microsoft.com/office/drawing/2014/main" id="{D4BA3020-2136-4049-B86E-E907B6BCD5D6}"/>
              </a:ext>
            </a:extLst>
          </p:cNvPr>
          <p:cNvSpPr/>
          <p:nvPr/>
        </p:nvSpPr>
        <p:spPr>
          <a:xfrm>
            <a:off x="6785770" y="2472205"/>
            <a:ext cx="4422476" cy="707886"/>
          </a:xfrm>
          <a:prstGeom prst="rect">
            <a:avLst/>
          </a:prstGeom>
          <a:solidFill>
            <a:schemeClr val="accent4">
              <a:lumMod val="60000"/>
              <a:lumOff val="40000"/>
            </a:schemeClr>
          </a:solidFill>
        </p:spPr>
        <p:txBody>
          <a:bodyPr wrap="square">
            <a:spAutoFit/>
          </a:bodyPr>
          <a:lstStyle/>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MIN </a:t>
            </a:r>
            <a:r>
              <a:rPr lang="es-PE" sz="2000" dirty="0" err="1">
                <a:latin typeface="Arial Narrow" panose="020B0606020202030204" pitchFamily="34" charset="0"/>
                <a:cs typeface="Arial" pitchFamily="34" charset="0"/>
              </a:rPr>
              <a:t>0,4P1</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0,6P2</a:t>
            </a:r>
            <a:endParaRPr lang="es-PE" sz="2000" dirty="0">
              <a:latin typeface="Arial Narrow" panose="020B0606020202030204" pitchFamily="34" charset="0"/>
              <a:cs typeface="Arial" pitchFamily="34" charset="0"/>
            </a:endParaRPr>
          </a:p>
        </p:txBody>
      </p:sp>
      <p:sp>
        <p:nvSpPr>
          <p:cNvPr id="3" name="Rectángulo 2">
            <a:extLst>
              <a:ext uri="{FF2B5EF4-FFF2-40B4-BE49-F238E27FC236}">
                <a16:creationId xmlns:a16="http://schemas.microsoft.com/office/drawing/2014/main" id="{C529766A-8C5D-4266-9BB5-1F09285495F6}"/>
              </a:ext>
            </a:extLst>
          </p:cNvPr>
          <p:cNvSpPr/>
          <p:nvPr/>
        </p:nvSpPr>
        <p:spPr>
          <a:xfrm>
            <a:off x="6780076" y="4545124"/>
            <a:ext cx="1908212" cy="1323439"/>
          </a:xfrm>
          <a:prstGeom prst="rect">
            <a:avLst/>
          </a:prstGeom>
          <a:solidFill>
            <a:srgbClr val="FFFF00"/>
          </a:solidFill>
        </p:spPr>
        <p:txBody>
          <a:bodyPr wrap="square">
            <a:spAutoFit/>
          </a:bodyPr>
          <a:lstStyle/>
          <a:p>
            <a:pPr algn="just" fontAlgn="base">
              <a:spcBef>
                <a:spcPct val="0"/>
              </a:spcBef>
              <a:spcAft>
                <a:spcPct val="0"/>
              </a:spcAft>
            </a:pPr>
            <a:r>
              <a:rPr lang="es-PE" sz="2000" dirty="0">
                <a:latin typeface="Arial Narrow" panose="020B0606020202030204" pitchFamily="34" charset="0"/>
                <a:cs typeface="Arial" pitchFamily="34" charset="0"/>
              </a:rPr>
              <a:t>MIN </a:t>
            </a:r>
            <a:r>
              <a:rPr lang="es-PE" sz="2000" dirty="0" err="1">
                <a:latin typeface="Arial Narrow" panose="020B0606020202030204" pitchFamily="34" charset="0"/>
                <a:cs typeface="Arial" pitchFamily="34" charset="0"/>
              </a:rPr>
              <a:t>0,4P1</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0,6P2</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s-PE" sz="2000" b="1" dirty="0" err="1">
                <a:solidFill>
                  <a:srgbClr val="FF0000"/>
                </a:solidFill>
                <a:latin typeface="Arial Narrow" panose="020B0606020202030204" pitchFamily="34" charset="0"/>
                <a:ea typeface="Calibri" pitchFamily="34" charset="0"/>
                <a:cs typeface="Arial" pitchFamily="34" charset="0"/>
              </a:rPr>
              <a:t>ST</a:t>
            </a:r>
            <a:endParaRPr lang="es-PE" sz="2000" b="1" dirty="0">
              <a:solidFill>
                <a:srgbClr val="FF0000"/>
              </a:solidFill>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ES" sz="2000" dirty="0" err="1">
                <a:latin typeface="Arial Narrow" panose="020B0606020202030204" pitchFamily="34" charset="0"/>
                <a:cs typeface="Arial" pitchFamily="34" charset="0"/>
              </a:rPr>
              <a:t>2P1+4P2</a:t>
            </a:r>
            <a:r>
              <a:rPr lang="es-ES" sz="2000" dirty="0">
                <a:latin typeface="Arial Narrow" panose="020B0606020202030204" pitchFamily="34" charset="0"/>
                <a:cs typeface="Arial" pitchFamily="34" charset="0"/>
              </a:rPr>
              <a:t>&gt;=4</a:t>
            </a:r>
          </a:p>
          <a:p>
            <a:pPr marL="449263" indent="-449263" algn="just" fontAlgn="base">
              <a:spcBef>
                <a:spcPct val="0"/>
              </a:spcBef>
              <a:spcAft>
                <a:spcPct val="0"/>
              </a:spcAft>
            </a:pPr>
            <a:r>
              <a:rPr lang="es-ES" sz="2000" dirty="0" err="1">
                <a:latin typeface="Arial Narrow" panose="020B0606020202030204" pitchFamily="34" charset="0"/>
                <a:cs typeface="Arial" pitchFamily="34" charset="0"/>
              </a:rPr>
              <a:t>6P1+3P2</a:t>
            </a:r>
            <a:r>
              <a:rPr lang="es-ES" sz="2000" dirty="0">
                <a:latin typeface="Arial Narrow" panose="020B0606020202030204" pitchFamily="34" charset="0"/>
                <a:cs typeface="Arial" pitchFamily="34" charset="0"/>
              </a:rPr>
              <a:t>&gt;=6</a:t>
            </a:r>
          </a:p>
        </p:txBody>
      </p:sp>
      <p:sp>
        <p:nvSpPr>
          <p:cNvPr id="4" name="Rectángulo 3">
            <a:extLst>
              <a:ext uri="{FF2B5EF4-FFF2-40B4-BE49-F238E27FC236}">
                <a16:creationId xmlns:a16="http://schemas.microsoft.com/office/drawing/2014/main" id="{F45D0C27-86C9-4879-860D-FE22014C489E}"/>
              </a:ext>
            </a:extLst>
          </p:cNvPr>
          <p:cNvSpPr/>
          <p:nvPr/>
        </p:nvSpPr>
        <p:spPr>
          <a:xfrm>
            <a:off x="8688288" y="4552563"/>
            <a:ext cx="3503712" cy="1477328"/>
          </a:xfrm>
          <a:prstGeom prst="rect">
            <a:avLst/>
          </a:prstGeom>
          <a:solidFill>
            <a:schemeClr val="accent4">
              <a:lumMod val="20000"/>
              <a:lumOff val="80000"/>
            </a:schemeClr>
          </a:solidFill>
        </p:spPr>
        <p:txBody>
          <a:bodyPr wrap="square">
            <a:spAutoFit/>
          </a:bodyPr>
          <a:lstStyle/>
          <a:p>
            <a:r>
              <a:rPr lang="es-PE" b="1" dirty="0">
                <a:latin typeface="Arial Narrow" panose="020B0606020202030204" pitchFamily="34" charset="0"/>
              </a:rPr>
              <a:t> </a:t>
            </a:r>
            <a:r>
              <a:rPr lang="en-US" b="1" dirty="0">
                <a:latin typeface="Arial Narrow" panose="020B0606020202030204" pitchFamily="34" charset="0"/>
              </a:rPr>
              <a:t> OBJECTIVE FUNCTION VALUE</a:t>
            </a:r>
          </a:p>
          <a:p>
            <a:r>
              <a:rPr lang="en-US" b="1" dirty="0">
                <a:latin typeface="Arial Narrow" panose="020B0606020202030204" pitchFamily="34" charset="0"/>
              </a:rPr>
              <a:t>        1)     0.6666667</a:t>
            </a:r>
          </a:p>
          <a:p>
            <a:r>
              <a:rPr lang="en-US" b="1" dirty="0">
                <a:latin typeface="Arial Narrow" panose="020B0606020202030204" pitchFamily="34" charset="0"/>
              </a:rPr>
              <a:t>VARIABLE  VALUE REDUCED COST</a:t>
            </a:r>
          </a:p>
          <a:p>
            <a:r>
              <a:rPr lang="en-US" b="1" dirty="0">
                <a:latin typeface="Arial Narrow" panose="020B0606020202030204" pitchFamily="34" charset="0"/>
              </a:rPr>
              <a:t>        </a:t>
            </a:r>
            <a:r>
              <a:rPr lang="en-US" b="1" dirty="0" err="1">
                <a:latin typeface="Arial Narrow" panose="020B0606020202030204" pitchFamily="34" charset="0"/>
              </a:rPr>
              <a:t>P1</a:t>
            </a:r>
            <a:r>
              <a:rPr lang="en-US" b="1" dirty="0">
                <a:latin typeface="Arial Narrow" panose="020B0606020202030204" pitchFamily="34" charset="0"/>
              </a:rPr>
              <a:t>         0.666667          0.000000</a:t>
            </a:r>
          </a:p>
          <a:p>
            <a:r>
              <a:rPr lang="en-US" b="1" dirty="0">
                <a:latin typeface="Arial Narrow" panose="020B0606020202030204" pitchFamily="34" charset="0"/>
              </a:rPr>
              <a:t>        </a:t>
            </a:r>
            <a:r>
              <a:rPr lang="en-US" b="1" dirty="0" err="1">
                <a:latin typeface="Arial Narrow" panose="020B0606020202030204" pitchFamily="34" charset="0"/>
              </a:rPr>
              <a:t>P2</a:t>
            </a:r>
            <a:r>
              <a:rPr lang="en-US" b="1" dirty="0">
                <a:latin typeface="Arial Narrow" panose="020B0606020202030204" pitchFamily="34" charset="0"/>
              </a:rPr>
              <a:t>         0.666667          0.000000</a:t>
            </a:r>
            <a:endParaRPr lang="es-PE" b="1" dirty="0">
              <a:latin typeface="Arial Narrow" panose="020B0606020202030204" pitchFamily="34" charset="0"/>
            </a:endParaRPr>
          </a:p>
        </p:txBody>
      </p:sp>
      <p:sp>
        <p:nvSpPr>
          <p:cNvPr id="10" name="Rectángulo 9">
            <a:extLst>
              <a:ext uri="{FF2B5EF4-FFF2-40B4-BE49-F238E27FC236}">
                <a16:creationId xmlns:a16="http://schemas.microsoft.com/office/drawing/2014/main" id="{E47904D6-757B-4D11-89F6-75CD128610C7}"/>
              </a:ext>
            </a:extLst>
          </p:cNvPr>
          <p:cNvSpPr/>
          <p:nvPr/>
        </p:nvSpPr>
        <p:spPr>
          <a:xfrm>
            <a:off x="3091195" y="1446701"/>
            <a:ext cx="3637472" cy="2308324"/>
          </a:xfrm>
          <a:prstGeom prst="rect">
            <a:avLst/>
          </a:prstGeom>
          <a:solidFill>
            <a:schemeClr val="accent3">
              <a:lumMod val="40000"/>
              <a:lumOff val="60000"/>
            </a:schemeClr>
          </a:solidFill>
        </p:spPr>
        <p:txBody>
          <a:bodyPr wrap="square">
            <a:spAutoFit/>
          </a:bodyPr>
          <a:lstStyle/>
          <a:p>
            <a:pPr marL="631800" indent="-631080">
              <a:lnSpc>
                <a:spcPct val="100000"/>
              </a:lnSpc>
            </a:pPr>
            <a:r>
              <a:rPr lang="es-PE" b="1" spc="-1" dirty="0">
                <a:solidFill>
                  <a:schemeClr val="bg2">
                    <a:lumMod val="10000"/>
                  </a:schemeClr>
                </a:solidFill>
                <a:latin typeface="Arial Narrow" panose="020B0606020202030204" pitchFamily="34" charset="0"/>
              </a:rPr>
              <a:t>SOLUCIÓN</a:t>
            </a:r>
          </a:p>
          <a:p>
            <a:pPr marL="631800" indent="-631080">
              <a:lnSpc>
                <a:spcPct val="100000"/>
              </a:lnSpc>
            </a:pPr>
            <a:r>
              <a:rPr lang="es-PE" b="1" spc="-1" dirty="0">
                <a:solidFill>
                  <a:schemeClr val="bg2">
                    <a:lumMod val="10000"/>
                  </a:schemeClr>
                </a:solidFill>
                <a:latin typeface="Arial Narrow" panose="020B0606020202030204" pitchFamily="34" charset="0"/>
              </a:rPr>
              <a:t>PASO 1: Graficando las restricciones:</a:t>
            </a:r>
          </a:p>
          <a:p>
            <a:pPr marL="914400" indent="-513720">
              <a:defRPr/>
            </a:pPr>
            <a:r>
              <a:rPr lang="es-ES" b="1" dirty="0" err="1">
                <a:latin typeface="Arial Narrow" panose="020B0606020202030204" pitchFamily="34" charset="0"/>
                <a:cs typeface="Arial" pitchFamily="34" charset="0"/>
              </a:rPr>
              <a:t>2P1+4P2</a:t>
            </a:r>
            <a:r>
              <a:rPr lang="es-ES" b="1" dirty="0">
                <a:latin typeface="Arial Narrow" panose="020B0606020202030204" pitchFamily="34" charset="0"/>
                <a:cs typeface="Arial" pitchFamily="34" charset="0"/>
              </a:rPr>
              <a:t> =4</a:t>
            </a:r>
            <a:r>
              <a:rPr lang="es-PE" b="1" spc="-1" dirty="0">
                <a:solidFill>
                  <a:schemeClr val="bg2">
                    <a:lumMod val="10000"/>
                  </a:schemeClr>
                </a:solidFill>
                <a:latin typeface="Arial Narrow" panose="020B0606020202030204" pitchFamily="34" charset="0"/>
              </a:rPr>
              <a:t>      (I)</a:t>
            </a:r>
          </a:p>
          <a:p>
            <a:pPr marL="914400" indent="-513720">
              <a:lnSpc>
                <a:spcPct val="100000"/>
              </a:lnSpc>
            </a:pPr>
            <a:r>
              <a:rPr lang="es-PE" b="1" spc="-1" dirty="0">
                <a:solidFill>
                  <a:schemeClr val="bg2">
                    <a:lumMod val="10000"/>
                  </a:schemeClr>
                </a:solidFill>
                <a:latin typeface="Arial Narrow" panose="020B0606020202030204" pitchFamily="34" charset="0"/>
              </a:rPr>
              <a:t>Si </a:t>
            </a:r>
            <a:r>
              <a:rPr lang="es-PE" b="1" spc="-1" dirty="0" err="1">
                <a:solidFill>
                  <a:schemeClr val="bg2">
                    <a:lumMod val="10000"/>
                  </a:schemeClr>
                </a:solidFill>
                <a:latin typeface="Arial Narrow" panose="020B0606020202030204" pitchFamily="34" charset="0"/>
              </a:rPr>
              <a:t>P1</a:t>
            </a:r>
            <a:r>
              <a:rPr lang="es-PE" b="1" spc="-1" dirty="0">
                <a:solidFill>
                  <a:schemeClr val="bg2">
                    <a:lumMod val="10000"/>
                  </a:schemeClr>
                </a:solidFill>
                <a:latin typeface="Arial Narrow" panose="020B0606020202030204" pitchFamily="34" charset="0"/>
              </a:rPr>
              <a:t>=0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a:t>
            </a:r>
            <a:r>
              <a:rPr lang="es-PE" b="1" spc="-1" dirty="0" err="1">
                <a:solidFill>
                  <a:schemeClr val="bg2">
                    <a:lumMod val="10000"/>
                  </a:schemeClr>
                </a:solidFill>
                <a:latin typeface="Arial Narrow" panose="020B0606020202030204" pitchFamily="34" charset="0"/>
              </a:rPr>
              <a:t>P2</a:t>
            </a:r>
            <a:r>
              <a:rPr lang="es-PE" b="1" spc="-1" dirty="0">
                <a:solidFill>
                  <a:schemeClr val="bg2">
                    <a:lumMod val="10000"/>
                  </a:schemeClr>
                </a:solidFill>
                <a:latin typeface="Arial Narrow" panose="020B0606020202030204" pitchFamily="34" charset="0"/>
              </a:rPr>
              <a:t>=1</a:t>
            </a:r>
          </a:p>
          <a:p>
            <a:pPr marL="914400" indent="-513720">
              <a:lnSpc>
                <a:spcPct val="100000"/>
              </a:lnSpc>
            </a:pPr>
            <a:r>
              <a:rPr lang="es-PE" b="1" spc="-1" dirty="0">
                <a:solidFill>
                  <a:schemeClr val="bg2">
                    <a:lumMod val="10000"/>
                  </a:schemeClr>
                </a:solidFill>
                <a:latin typeface="Arial Narrow" panose="020B0606020202030204" pitchFamily="34" charset="0"/>
              </a:rPr>
              <a:t>Si </a:t>
            </a:r>
            <a:r>
              <a:rPr lang="es-PE" b="1" spc="-1" dirty="0" err="1">
                <a:solidFill>
                  <a:schemeClr val="bg2">
                    <a:lumMod val="10000"/>
                  </a:schemeClr>
                </a:solidFill>
                <a:latin typeface="Arial Narrow" panose="020B0606020202030204" pitchFamily="34" charset="0"/>
              </a:rPr>
              <a:t>P2</a:t>
            </a:r>
            <a:r>
              <a:rPr lang="es-PE" b="1" spc="-1" dirty="0">
                <a:solidFill>
                  <a:schemeClr val="bg2">
                    <a:lumMod val="10000"/>
                  </a:schemeClr>
                </a:solidFill>
                <a:latin typeface="Arial Narrow" panose="020B0606020202030204" pitchFamily="34" charset="0"/>
              </a:rPr>
              <a:t>=0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a:t>
            </a:r>
            <a:r>
              <a:rPr lang="es-PE" b="1" spc="-1" dirty="0" err="1">
                <a:solidFill>
                  <a:schemeClr val="bg2">
                    <a:lumMod val="10000"/>
                  </a:schemeClr>
                </a:solidFill>
                <a:latin typeface="Arial Narrow" panose="020B0606020202030204" pitchFamily="34" charset="0"/>
              </a:rPr>
              <a:t>P1</a:t>
            </a:r>
            <a:r>
              <a:rPr lang="es-PE" b="1" spc="-1" dirty="0">
                <a:solidFill>
                  <a:schemeClr val="bg2">
                    <a:lumMod val="10000"/>
                  </a:schemeClr>
                </a:solidFill>
                <a:latin typeface="Arial Narrow" panose="020B0606020202030204" pitchFamily="34" charset="0"/>
              </a:rPr>
              <a:t>= 2</a:t>
            </a:r>
          </a:p>
          <a:p>
            <a:pPr marL="914400" indent="-513720">
              <a:defRPr/>
            </a:pPr>
            <a:r>
              <a:rPr lang="es-ES" b="1" dirty="0" err="1">
                <a:latin typeface="Arial Narrow" panose="020B0606020202030204" pitchFamily="34" charset="0"/>
                <a:cs typeface="Arial" pitchFamily="34" charset="0"/>
              </a:rPr>
              <a:t>6P1+3P2</a:t>
            </a:r>
            <a:r>
              <a:rPr lang="es-ES" b="1" dirty="0">
                <a:latin typeface="Arial Narrow" panose="020B0606020202030204" pitchFamily="34" charset="0"/>
                <a:cs typeface="Arial" pitchFamily="34" charset="0"/>
              </a:rPr>
              <a:t>=6     </a:t>
            </a:r>
            <a:r>
              <a:rPr lang="es-PE" b="1" spc="-1" dirty="0">
                <a:solidFill>
                  <a:schemeClr val="bg2">
                    <a:lumMod val="10000"/>
                  </a:schemeClr>
                </a:solidFill>
                <a:latin typeface="Arial Narrow" panose="020B0606020202030204" pitchFamily="34" charset="0"/>
              </a:rPr>
              <a:t>(II)</a:t>
            </a:r>
          </a:p>
          <a:p>
            <a:pPr marL="914400" indent="-513720">
              <a:lnSpc>
                <a:spcPct val="100000"/>
              </a:lnSpc>
            </a:pPr>
            <a:r>
              <a:rPr lang="es-PE" b="1" spc="-1" dirty="0">
                <a:solidFill>
                  <a:schemeClr val="bg2">
                    <a:lumMod val="10000"/>
                  </a:schemeClr>
                </a:solidFill>
                <a:latin typeface="Arial Narrow" panose="020B0606020202030204" pitchFamily="34" charset="0"/>
              </a:rPr>
              <a:t>Si </a:t>
            </a:r>
            <a:r>
              <a:rPr lang="es-PE" b="1" spc="-1" dirty="0" err="1">
                <a:solidFill>
                  <a:schemeClr val="bg2">
                    <a:lumMod val="10000"/>
                  </a:schemeClr>
                </a:solidFill>
                <a:latin typeface="Arial Narrow" panose="020B0606020202030204" pitchFamily="34" charset="0"/>
              </a:rPr>
              <a:t>P1</a:t>
            </a:r>
            <a:r>
              <a:rPr lang="es-PE" b="1" spc="-1" dirty="0">
                <a:solidFill>
                  <a:schemeClr val="bg2">
                    <a:lumMod val="10000"/>
                  </a:schemeClr>
                </a:solidFill>
                <a:latin typeface="Arial Narrow" panose="020B0606020202030204" pitchFamily="34" charset="0"/>
              </a:rPr>
              <a:t>=0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a:t>
            </a:r>
            <a:r>
              <a:rPr lang="es-PE" b="1" spc="-1" dirty="0" err="1">
                <a:solidFill>
                  <a:schemeClr val="bg2">
                    <a:lumMod val="10000"/>
                  </a:schemeClr>
                </a:solidFill>
                <a:latin typeface="Arial Narrow" panose="020B0606020202030204" pitchFamily="34" charset="0"/>
              </a:rPr>
              <a:t>P2</a:t>
            </a:r>
            <a:r>
              <a:rPr lang="es-PE" b="1" spc="-1" dirty="0">
                <a:solidFill>
                  <a:schemeClr val="bg2">
                    <a:lumMod val="10000"/>
                  </a:schemeClr>
                </a:solidFill>
                <a:latin typeface="Arial Narrow" panose="020B0606020202030204" pitchFamily="34" charset="0"/>
              </a:rPr>
              <a:t>=2</a:t>
            </a:r>
          </a:p>
          <a:p>
            <a:pPr marL="914400" indent="-513720">
              <a:lnSpc>
                <a:spcPct val="100000"/>
              </a:lnSpc>
            </a:pPr>
            <a:r>
              <a:rPr lang="es-PE" b="1" spc="-1" dirty="0">
                <a:solidFill>
                  <a:schemeClr val="bg2">
                    <a:lumMod val="10000"/>
                  </a:schemeClr>
                </a:solidFill>
                <a:latin typeface="Arial Narrow" panose="020B0606020202030204" pitchFamily="34" charset="0"/>
              </a:rPr>
              <a:t>Si </a:t>
            </a:r>
            <a:r>
              <a:rPr lang="es-PE" b="1" spc="-1" dirty="0" err="1">
                <a:solidFill>
                  <a:schemeClr val="bg2">
                    <a:lumMod val="10000"/>
                  </a:schemeClr>
                </a:solidFill>
                <a:latin typeface="Arial Narrow" panose="020B0606020202030204" pitchFamily="34" charset="0"/>
              </a:rPr>
              <a:t>P2</a:t>
            </a:r>
            <a:r>
              <a:rPr lang="es-PE" b="1" spc="-1" dirty="0">
                <a:solidFill>
                  <a:schemeClr val="bg2">
                    <a:lumMod val="10000"/>
                  </a:schemeClr>
                </a:solidFill>
                <a:latin typeface="Arial Narrow" panose="020B0606020202030204" pitchFamily="34" charset="0"/>
              </a:rPr>
              <a:t>=0       </a:t>
            </a:r>
            <a:r>
              <a:rPr lang="es-PE" b="1" spc="-1" dirty="0">
                <a:solidFill>
                  <a:schemeClr val="bg2">
                    <a:lumMod val="10000"/>
                  </a:schemeClr>
                </a:solidFill>
                <a:latin typeface="Arial Narrow" panose="020B0606020202030204" pitchFamily="34" charset="0"/>
                <a:sym typeface="Wingdings" panose="05000000000000000000" pitchFamily="2" charset="2"/>
              </a:rPr>
              <a:t></a:t>
            </a:r>
            <a:r>
              <a:rPr lang="es-PE" b="1" spc="-1" dirty="0">
                <a:solidFill>
                  <a:schemeClr val="bg2">
                    <a:lumMod val="10000"/>
                  </a:schemeClr>
                </a:solidFill>
                <a:latin typeface="Arial Narrow" panose="020B0606020202030204" pitchFamily="34" charset="0"/>
              </a:rPr>
              <a:t>    </a:t>
            </a:r>
            <a:r>
              <a:rPr lang="es-PE" b="1" spc="-1" dirty="0" err="1">
                <a:solidFill>
                  <a:schemeClr val="bg2">
                    <a:lumMod val="10000"/>
                  </a:schemeClr>
                </a:solidFill>
                <a:latin typeface="Arial Narrow" panose="020B0606020202030204" pitchFamily="34" charset="0"/>
              </a:rPr>
              <a:t>P1</a:t>
            </a:r>
            <a:r>
              <a:rPr lang="es-PE" b="1" spc="-1" dirty="0">
                <a:solidFill>
                  <a:schemeClr val="bg2">
                    <a:lumMod val="10000"/>
                  </a:schemeClr>
                </a:solidFill>
                <a:latin typeface="Arial Narrow" panose="020B0606020202030204" pitchFamily="34" charset="0"/>
              </a:rPr>
              <a:t>= 1</a:t>
            </a:r>
          </a:p>
        </p:txBody>
      </p:sp>
      <p:sp>
        <p:nvSpPr>
          <p:cNvPr id="11" name="Rectángulo 10">
            <a:extLst>
              <a:ext uri="{FF2B5EF4-FFF2-40B4-BE49-F238E27FC236}">
                <a16:creationId xmlns:a16="http://schemas.microsoft.com/office/drawing/2014/main" id="{E90C2FCC-0C81-48B8-9AAB-6647275FACB6}"/>
              </a:ext>
            </a:extLst>
          </p:cNvPr>
          <p:cNvSpPr/>
          <p:nvPr/>
        </p:nvSpPr>
        <p:spPr>
          <a:xfrm>
            <a:off x="3091195" y="3751863"/>
            <a:ext cx="3628846" cy="1200329"/>
          </a:xfrm>
          <a:prstGeom prst="rect">
            <a:avLst/>
          </a:prstGeom>
          <a:solidFill>
            <a:schemeClr val="accent3">
              <a:lumMod val="40000"/>
              <a:lumOff val="60000"/>
            </a:schemeClr>
          </a:solidFill>
        </p:spPr>
        <p:txBody>
          <a:bodyPr wrap="square">
            <a:spAutoFit/>
          </a:bodyPr>
          <a:lstStyle/>
          <a:p>
            <a:pPr marL="914400" indent="-914400">
              <a:defRPr/>
            </a:pPr>
            <a:r>
              <a:rPr lang="es-PE" b="1" spc="-1" dirty="0">
                <a:solidFill>
                  <a:schemeClr val="bg2">
                    <a:lumMod val="10000"/>
                  </a:schemeClr>
                </a:solidFill>
                <a:latin typeface="Arial Narrow"/>
              </a:rPr>
              <a:t>PASO 3: Graficando la </a:t>
            </a:r>
            <a:r>
              <a:rPr lang="es-PE" b="1" spc="-1" dirty="0" err="1">
                <a:solidFill>
                  <a:schemeClr val="bg2">
                    <a:lumMod val="10000"/>
                  </a:schemeClr>
                </a:solidFill>
                <a:latin typeface="Arial Narrow"/>
              </a:rPr>
              <a:t>F.O</a:t>
            </a:r>
            <a:endParaRPr lang="es-PE" b="1" spc="-1" dirty="0">
              <a:solidFill>
                <a:schemeClr val="bg2">
                  <a:lumMod val="10000"/>
                </a:schemeClr>
              </a:solidFill>
            </a:endParaRPr>
          </a:p>
          <a:p>
            <a:pPr marL="914400" indent="-513720">
              <a:lnSpc>
                <a:spcPct val="100000"/>
              </a:lnSpc>
            </a:pPr>
            <a:r>
              <a:rPr lang="es-PE" b="1" dirty="0" err="1">
                <a:latin typeface="Arial Narrow" panose="020B0606020202030204" pitchFamily="34" charset="0"/>
                <a:cs typeface="Arial" pitchFamily="34" charset="0"/>
              </a:rPr>
              <a:t>0,4P1</a:t>
            </a:r>
            <a:r>
              <a:rPr lang="es-PE" b="1" dirty="0">
                <a:latin typeface="Arial Narrow" panose="020B0606020202030204" pitchFamily="34" charset="0"/>
                <a:cs typeface="Arial" pitchFamily="34" charset="0"/>
              </a:rPr>
              <a:t>+ </a:t>
            </a:r>
            <a:r>
              <a:rPr lang="es-PE" b="1" dirty="0" err="1">
                <a:latin typeface="Arial Narrow" panose="020B0606020202030204" pitchFamily="34" charset="0"/>
                <a:cs typeface="Arial" pitchFamily="34" charset="0"/>
              </a:rPr>
              <a:t>0,6P2</a:t>
            </a:r>
            <a:r>
              <a:rPr lang="es-PE" b="1" spc="-1" dirty="0">
                <a:solidFill>
                  <a:schemeClr val="bg2">
                    <a:lumMod val="10000"/>
                  </a:schemeClr>
                </a:solidFill>
                <a:latin typeface="Arial"/>
              </a:rPr>
              <a:t>=</a:t>
            </a:r>
            <a:r>
              <a:rPr lang="es-PE" b="1" spc="-1" dirty="0">
                <a:solidFill>
                  <a:srgbClr val="FF0000"/>
                </a:solidFill>
                <a:latin typeface="Arial"/>
              </a:rPr>
              <a:t>1.2</a:t>
            </a:r>
          </a:p>
          <a:p>
            <a:pPr marL="914400" indent="-513720">
              <a:lnSpc>
                <a:spcPct val="100000"/>
              </a:lnSpc>
            </a:pPr>
            <a:r>
              <a:rPr lang="es-PE" b="1" spc="-1" dirty="0">
                <a:solidFill>
                  <a:schemeClr val="bg2">
                    <a:lumMod val="10000"/>
                  </a:schemeClr>
                </a:solidFill>
                <a:latin typeface="Arial"/>
              </a:rPr>
              <a:t>Si </a:t>
            </a:r>
            <a:r>
              <a:rPr lang="es-PE" b="1" spc="-1" dirty="0" err="1">
                <a:solidFill>
                  <a:schemeClr val="bg2">
                    <a:lumMod val="10000"/>
                  </a:schemeClr>
                </a:solidFill>
                <a:latin typeface="Arial"/>
              </a:rPr>
              <a:t>P1</a:t>
            </a:r>
            <a:r>
              <a:rPr lang="es-PE" b="1" spc="-1" dirty="0">
                <a:solidFill>
                  <a:schemeClr val="bg2">
                    <a:lumMod val="10000"/>
                  </a:schemeClr>
                </a:solidFill>
                <a:latin typeface="Arial"/>
              </a:rPr>
              <a:t>=0  </a:t>
            </a:r>
            <a:r>
              <a:rPr lang="es-PE" b="1" spc="-1" dirty="0">
                <a:solidFill>
                  <a:schemeClr val="bg2">
                    <a:lumMod val="10000"/>
                  </a:schemeClr>
                </a:solidFill>
                <a:latin typeface="Wingdings"/>
              </a:rPr>
              <a:t></a:t>
            </a:r>
            <a:r>
              <a:rPr lang="es-PE" b="1" spc="-1" dirty="0">
                <a:solidFill>
                  <a:schemeClr val="bg2">
                    <a:lumMod val="10000"/>
                  </a:schemeClr>
                </a:solidFill>
                <a:latin typeface="Arial"/>
              </a:rPr>
              <a:t>    </a:t>
            </a:r>
            <a:r>
              <a:rPr lang="es-PE" b="1" spc="-1" dirty="0" err="1">
                <a:solidFill>
                  <a:schemeClr val="bg2">
                    <a:lumMod val="10000"/>
                  </a:schemeClr>
                </a:solidFill>
                <a:latin typeface="Arial"/>
              </a:rPr>
              <a:t>P2</a:t>
            </a:r>
            <a:r>
              <a:rPr lang="es-PE" b="1" spc="-1" dirty="0">
                <a:solidFill>
                  <a:schemeClr val="bg2">
                    <a:lumMod val="10000"/>
                  </a:schemeClr>
                </a:solidFill>
                <a:latin typeface="Arial"/>
              </a:rPr>
              <a:t>=2</a:t>
            </a:r>
          </a:p>
          <a:p>
            <a:pPr marL="914400" indent="-513720">
              <a:lnSpc>
                <a:spcPct val="100000"/>
              </a:lnSpc>
            </a:pPr>
            <a:r>
              <a:rPr lang="es-PE" b="1" spc="-1" dirty="0">
                <a:solidFill>
                  <a:schemeClr val="bg2">
                    <a:lumMod val="10000"/>
                  </a:schemeClr>
                </a:solidFill>
                <a:latin typeface="Arial"/>
              </a:rPr>
              <a:t>Si </a:t>
            </a:r>
            <a:r>
              <a:rPr lang="es-PE" b="1" spc="-1" dirty="0" err="1">
                <a:solidFill>
                  <a:schemeClr val="bg2">
                    <a:lumMod val="10000"/>
                  </a:schemeClr>
                </a:solidFill>
                <a:latin typeface="Arial"/>
              </a:rPr>
              <a:t>P2</a:t>
            </a:r>
            <a:r>
              <a:rPr lang="es-PE" b="1" spc="-1" dirty="0">
                <a:solidFill>
                  <a:schemeClr val="bg2">
                    <a:lumMod val="10000"/>
                  </a:schemeClr>
                </a:solidFill>
                <a:latin typeface="Arial"/>
              </a:rPr>
              <a:t>=0  </a:t>
            </a:r>
            <a:r>
              <a:rPr lang="es-PE" b="1" spc="-1" dirty="0">
                <a:solidFill>
                  <a:schemeClr val="bg2">
                    <a:lumMod val="10000"/>
                  </a:schemeClr>
                </a:solidFill>
                <a:latin typeface="Wingdings"/>
              </a:rPr>
              <a:t></a:t>
            </a:r>
            <a:r>
              <a:rPr lang="es-PE" b="1" spc="-1" dirty="0">
                <a:solidFill>
                  <a:schemeClr val="bg2">
                    <a:lumMod val="10000"/>
                  </a:schemeClr>
                </a:solidFill>
                <a:latin typeface="Arial"/>
              </a:rPr>
              <a:t>    M=3</a:t>
            </a:r>
            <a:endParaRPr lang="es-PE" b="1" spc="-1" dirty="0">
              <a:solidFill>
                <a:schemeClr val="bg2">
                  <a:lumMod val="10000"/>
                </a:schemeClr>
              </a:solidFill>
              <a:latin typeface="Arial Narrow" panose="020B0606020202030204" pitchFamily="34" charset="0"/>
            </a:endParaRPr>
          </a:p>
        </p:txBody>
      </p:sp>
      <p:sp>
        <p:nvSpPr>
          <p:cNvPr id="12" name="Rectángulo 11">
            <a:extLst>
              <a:ext uri="{FF2B5EF4-FFF2-40B4-BE49-F238E27FC236}">
                <a16:creationId xmlns:a16="http://schemas.microsoft.com/office/drawing/2014/main" id="{66598741-409B-4FAE-BA21-4F9799809604}"/>
              </a:ext>
            </a:extLst>
          </p:cNvPr>
          <p:cNvSpPr/>
          <p:nvPr/>
        </p:nvSpPr>
        <p:spPr>
          <a:xfrm>
            <a:off x="3085464" y="4959082"/>
            <a:ext cx="3628846" cy="1754326"/>
          </a:xfrm>
          <a:prstGeom prst="rect">
            <a:avLst/>
          </a:prstGeom>
          <a:solidFill>
            <a:schemeClr val="accent3">
              <a:lumMod val="40000"/>
              <a:lumOff val="60000"/>
            </a:schemeClr>
          </a:solidFill>
        </p:spPr>
        <p:txBody>
          <a:bodyPr wrap="square">
            <a:spAutoFit/>
          </a:bodyPr>
          <a:lstStyle/>
          <a:p>
            <a:pPr algn="just">
              <a:lnSpc>
                <a:spcPct val="100000"/>
              </a:lnSpc>
            </a:pPr>
            <a:r>
              <a:rPr lang="es-PE" b="1" spc="-1" dirty="0">
                <a:solidFill>
                  <a:schemeClr val="bg2">
                    <a:lumMod val="10000"/>
                  </a:schemeClr>
                </a:solidFill>
                <a:latin typeface="Arial Narrow"/>
                <a:ea typeface="DejaVu Sans"/>
              </a:rPr>
              <a:t>PASO 4: Hallando la Solución óptima</a:t>
            </a:r>
            <a:endParaRPr lang="es-PE" b="1" spc="-1" dirty="0">
              <a:solidFill>
                <a:schemeClr val="bg2">
                  <a:lumMod val="10000"/>
                </a:schemeClr>
              </a:solidFill>
              <a:latin typeface="Arial"/>
            </a:endParaRPr>
          </a:p>
          <a:p>
            <a:pPr algn="just">
              <a:lnSpc>
                <a:spcPct val="100000"/>
              </a:lnSpc>
            </a:pPr>
            <a:r>
              <a:rPr lang="es-PE" b="1" spc="-1" dirty="0">
                <a:solidFill>
                  <a:schemeClr val="bg2">
                    <a:lumMod val="10000"/>
                  </a:schemeClr>
                </a:solidFill>
                <a:latin typeface="Arial Narrow"/>
                <a:ea typeface="DejaVu Sans"/>
              </a:rPr>
              <a:t>Del gráfico la solución óptima es:</a:t>
            </a:r>
          </a:p>
          <a:p>
            <a:pPr algn="just">
              <a:lnSpc>
                <a:spcPct val="100000"/>
              </a:lnSpc>
            </a:pPr>
            <a:r>
              <a:rPr lang="es-PE" b="1" spc="-1" dirty="0">
                <a:solidFill>
                  <a:schemeClr val="bg2">
                    <a:lumMod val="10000"/>
                  </a:schemeClr>
                </a:solidFill>
                <a:latin typeface="Arial Narrow"/>
                <a:ea typeface="DejaVu Sans"/>
              </a:rPr>
              <a:t>	</a:t>
            </a:r>
            <a:r>
              <a:rPr lang="es-PE" b="1" spc="-1" dirty="0" err="1">
                <a:solidFill>
                  <a:schemeClr val="bg2">
                    <a:lumMod val="10000"/>
                  </a:schemeClr>
                </a:solidFill>
                <a:latin typeface="Arial Narrow"/>
                <a:ea typeface="DejaVu Sans"/>
              </a:rPr>
              <a:t>P1</a:t>
            </a:r>
            <a:r>
              <a:rPr lang="es-PE" b="1" spc="-1" dirty="0">
                <a:solidFill>
                  <a:schemeClr val="bg2">
                    <a:lumMod val="10000"/>
                  </a:schemeClr>
                </a:solidFill>
                <a:latin typeface="Arial Narrow"/>
                <a:ea typeface="DejaVu Sans"/>
              </a:rPr>
              <a:t>=0,6667      </a:t>
            </a:r>
            <a:r>
              <a:rPr lang="es-PE" b="1" spc="-1" dirty="0" err="1">
                <a:solidFill>
                  <a:schemeClr val="bg2">
                    <a:lumMod val="10000"/>
                  </a:schemeClr>
                </a:solidFill>
                <a:latin typeface="Arial Narrow"/>
                <a:ea typeface="DejaVu Sans"/>
              </a:rPr>
              <a:t>P2</a:t>
            </a:r>
            <a:r>
              <a:rPr lang="es-PE" b="1" spc="-1" dirty="0">
                <a:solidFill>
                  <a:schemeClr val="bg2">
                    <a:lumMod val="10000"/>
                  </a:schemeClr>
                </a:solidFill>
                <a:latin typeface="Arial Narrow"/>
                <a:ea typeface="DejaVu Sans"/>
              </a:rPr>
              <a:t>=0,6667</a:t>
            </a:r>
          </a:p>
          <a:p>
            <a:pPr algn="just"/>
            <a:r>
              <a:rPr lang="es-PE" b="1" spc="-1" dirty="0">
                <a:solidFill>
                  <a:schemeClr val="bg2">
                    <a:lumMod val="10000"/>
                  </a:schemeClr>
                </a:solidFill>
                <a:latin typeface="Arial Narrow"/>
              </a:rPr>
              <a:t>El valor que toma la </a:t>
            </a:r>
            <a:r>
              <a:rPr lang="es-PE" b="1" spc="-1" dirty="0" err="1">
                <a:solidFill>
                  <a:schemeClr val="bg2">
                    <a:lumMod val="10000"/>
                  </a:schemeClr>
                </a:solidFill>
                <a:latin typeface="Arial Narrow"/>
              </a:rPr>
              <a:t>F.O</a:t>
            </a:r>
            <a:r>
              <a:rPr lang="es-PE" b="1" spc="-1" dirty="0">
                <a:solidFill>
                  <a:schemeClr val="bg2">
                    <a:lumMod val="10000"/>
                  </a:schemeClr>
                </a:solidFill>
                <a:latin typeface="Arial Narrow"/>
              </a:rPr>
              <a:t>. es:</a:t>
            </a:r>
          </a:p>
          <a:p>
            <a:pPr algn="just"/>
            <a:r>
              <a:rPr lang="es-PE" b="1" spc="-1" dirty="0">
                <a:solidFill>
                  <a:schemeClr val="bg2">
                    <a:lumMod val="10000"/>
                  </a:schemeClr>
                </a:solidFill>
                <a:latin typeface="Arial Narrow"/>
              </a:rPr>
              <a:t>	  Z=0,4(0,6667)+0,6(0,6667)=0,6667</a:t>
            </a:r>
            <a:endParaRPr lang="es-PE" b="1" spc="-1" dirty="0">
              <a:solidFill>
                <a:schemeClr val="bg2">
                  <a:lumMod val="10000"/>
                </a:schemeClr>
              </a:solidFill>
              <a:latin typeface="Arial Narrow" panose="020B0606020202030204" pitchFamily="34" charset="0"/>
            </a:endParaRPr>
          </a:p>
        </p:txBody>
      </p:sp>
      <p:sp>
        <p:nvSpPr>
          <p:cNvPr id="13" name="Elipse 12">
            <a:extLst>
              <a:ext uri="{FF2B5EF4-FFF2-40B4-BE49-F238E27FC236}">
                <a16:creationId xmlns:a16="http://schemas.microsoft.com/office/drawing/2014/main" id="{4266AAA5-602E-4041-AA32-8FFA6DC6EBF5}"/>
              </a:ext>
            </a:extLst>
          </p:cNvPr>
          <p:cNvSpPr/>
          <p:nvPr/>
        </p:nvSpPr>
        <p:spPr>
          <a:xfrm>
            <a:off x="474516" y="3865725"/>
            <a:ext cx="215660" cy="2113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PE" dirty="0"/>
          </a:p>
        </p:txBody>
      </p:sp>
      <p:sp>
        <p:nvSpPr>
          <p:cNvPr id="14" name="Elipse 13">
            <a:extLst>
              <a:ext uri="{FF2B5EF4-FFF2-40B4-BE49-F238E27FC236}">
                <a16:creationId xmlns:a16="http://schemas.microsoft.com/office/drawing/2014/main" id="{AB64AC31-F971-447C-BB5B-175A09045F52}"/>
              </a:ext>
            </a:extLst>
          </p:cNvPr>
          <p:cNvSpPr/>
          <p:nvPr/>
        </p:nvSpPr>
        <p:spPr>
          <a:xfrm>
            <a:off x="454389" y="4508736"/>
            <a:ext cx="215660" cy="2113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PE" dirty="0"/>
          </a:p>
        </p:txBody>
      </p:sp>
      <p:cxnSp>
        <p:nvCxnSpPr>
          <p:cNvPr id="16" name="Conector recto 15">
            <a:extLst>
              <a:ext uri="{FF2B5EF4-FFF2-40B4-BE49-F238E27FC236}">
                <a16:creationId xmlns:a16="http://schemas.microsoft.com/office/drawing/2014/main" id="{3D331B85-F104-403E-A2C9-55B389F50ECF}"/>
              </a:ext>
            </a:extLst>
          </p:cNvPr>
          <p:cNvCxnSpPr>
            <a:cxnSpLocks/>
          </p:cNvCxnSpPr>
          <p:nvPr/>
        </p:nvCxnSpPr>
        <p:spPr>
          <a:xfrm>
            <a:off x="905836" y="4252823"/>
            <a:ext cx="1949570" cy="1086928"/>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66C72672-CB45-4E65-85A1-525760930CE3}"/>
              </a:ext>
            </a:extLst>
          </p:cNvPr>
          <p:cNvCxnSpPr>
            <a:cxnSpLocks/>
          </p:cNvCxnSpPr>
          <p:nvPr/>
        </p:nvCxnSpPr>
        <p:spPr>
          <a:xfrm>
            <a:off x="488896" y="4500109"/>
            <a:ext cx="1949570" cy="1086928"/>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9" name="Rectángulo 18">
            <a:extLst>
              <a:ext uri="{FF2B5EF4-FFF2-40B4-BE49-F238E27FC236}">
                <a16:creationId xmlns:a16="http://schemas.microsoft.com/office/drawing/2014/main" id="{A19E0F00-81FF-47F5-9E9C-5AC743135F02}"/>
              </a:ext>
            </a:extLst>
          </p:cNvPr>
          <p:cNvSpPr/>
          <p:nvPr/>
        </p:nvSpPr>
        <p:spPr>
          <a:xfrm>
            <a:off x="155340" y="1448780"/>
            <a:ext cx="2907100" cy="2585323"/>
          </a:xfrm>
          <a:prstGeom prst="rect">
            <a:avLst/>
          </a:prstGeom>
          <a:solidFill>
            <a:schemeClr val="accent4">
              <a:lumMod val="40000"/>
              <a:lumOff val="60000"/>
            </a:schemeClr>
          </a:solidFill>
        </p:spPr>
        <p:txBody>
          <a:bodyPr wrap="square">
            <a:spAutoFit/>
          </a:bodyPr>
          <a:lstStyle/>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2P1+4P2</a:t>
            </a:r>
            <a:r>
              <a:rPr lang="es-ES" dirty="0">
                <a:latin typeface="Arial Narrow" panose="020B0606020202030204" pitchFamily="34" charset="0"/>
                <a:cs typeface="Arial" pitchFamily="34" charset="0"/>
              </a:rPr>
              <a:t>&gt;=4   I</a:t>
            </a:r>
          </a:p>
          <a:p>
            <a:pPr indent="449263" algn="just" eaLnBrk="0" fontAlgn="base" hangingPunct="0">
              <a:spcBef>
                <a:spcPct val="0"/>
              </a:spcBef>
              <a:spcAft>
                <a:spcPct val="0"/>
              </a:spcAft>
            </a:pPr>
            <a:r>
              <a:rPr lang="es-ES" u="sng" dirty="0" err="1">
                <a:latin typeface="Arial Narrow" panose="020B0606020202030204" pitchFamily="34" charset="0"/>
                <a:cs typeface="Arial" pitchFamily="34" charset="0"/>
              </a:rPr>
              <a:t>6P1+3P2</a:t>
            </a:r>
            <a:r>
              <a:rPr lang="es-ES" u="sng" dirty="0">
                <a:latin typeface="Arial Narrow" panose="020B0606020202030204" pitchFamily="34" charset="0"/>
                <a:cs typeface="Arial" pitchFamily="34" charset="0"/>
              </a:rPr>
              <a:t>&gt;=6 </a:t>
            </a:r>
            <a:r>
              <a:rPr lang="es-ES" b="1" u="sng" dirty="0">
                <a:latin typeface="Arial Narrow" panose="020B0606020202030204" pitchFamily="34" charset="0"/>
                <a:cs typeface="Arial" pitchFamily="34" charset="0"/>
              </a:rPr>
              <a:t> II</a:t>
            </a:r>
          </a:p>
          <a:p>
            <a:pPr indent="449263" algn="just" eaLnBrk="0" fontAlgn="base" hangingPunct="0">
              <a:spcBef>
                <a:spcPct val="0"/>
              </a:spcBef>
              <a:spcAft>
                <a:spcPct val="0"/>
              </a:spcAft>
            </a:pPr>
            <a:r>
              <a:rPr lang="es-ES" b="1" dirty="0">
                <a:latin typeface="Arial Narrow" panose="020B0606020202030204" pitchFamily="34" charset="0"/>
                <a:cs typeface="Arial" pitchFamily="34" charset="0"/>
              </a:rPr>
              <a:t>I*3   </a:t>
            </a:r>
            <a:r>
              <a:rPr lang="es-ES" b="1" dirty="0" err="1">
                <a:latin typeface="Arial Narrow" panose="020B0606020202030204" pitchFamily="34" charset="0"/>
                <a:cs typeface="Arial" pitchFamily="34" charset="0"/>
              </a:rPr>
              <a:t>6P1+12P2</a:t>
            </a:r>
            <a:r>
              <a:rPr lang="es-ES" b="1" dirty="0">
                <a:latin typeface="Arial Narrow" panose="020B0606020202030204" pitchFamily="34" charset="0"/>
                <a:cs typeface="Arial" pitchFamily="34" charset="0"/>
              </a:rPr>
              <a:t>=12       III</a:t>
            </a:r>
          </a:p>
          <a:p>
            <a:pPr indent="449263" algn="just" eaLnBrk="0" fontAlgn="base" hangingPunct="0">
              <a:spcBef>
                <a:spcPct val="0"/>
              </a:spcBef>
              <a:spcAft>
                <a:spcPct val="0"/>
              </a:spcAft>
            </a:pPr>
            <a:r>
              <a:rPr lang="es-ES" b="1" u="sng" dirty="0">
                <a:latin typeface="Arial Narrow" panose="020B0606020202030204" pitchFamily="34" charset="0"/>
                <a:cs typeface="Arial" pitchFamily="34" charset="0"/>
              </a:rPr>
              <a:t>II      </a:t>
            </a:r>
            <a:r>
              <a:rPr lang="es-ES" b="1" u="sng" dirty="0" err="1">
                <a:latin typeface="Arial Narrow" panose="020B0606020202030204" pitchFamily="34" charset="0"/>
                <a:cs typeface="Arial" pitchFamily="34" charset="0"/>
              </a:rPr>
              <a:t>6P1</a:t>
            </a:r>
            <a:r>
              <a:rPr lang="es-ES" b="1" u="sng" dirty="0">
                <a:latin typeface="Arial Narrow" panose="020B0606020202030204" pitchFamily="34" charset="0"/>
                <a:cs typeface="Arial" pitchFamily="34" charset="0"/>
              </a:rPr>
              <a:t>+ </a:t>
            </a:r>
            <a:r>
              <a:rPr lang="es-ES" b="1" u="sng" dirty="0" err="1">
                <a:latin typeface="Arial Narrow" panose="020B0606020202030204" pitchFamily="34" charset="0"/>
                <a:cs typeface="Arial" pitchFamily="34" charset="0"/>
              </a:rPr>
              <a:t>3P2</a:t>
            </a:r>
            <a:r>
              <a:rPr lang="es-ES" b="1" u="sng" dirty="0">
                <a:latin typeface="Arial Narrow" panose="020B0606020202030204" pitchFamily="34" charset="0"/>
                <a:cs typeface="Arial" pitchFamily="34" charset="0"/>
              </a:rPr>
              <a:t>=6      IV</a:t>
            </a:r>
          </a:p>
          <a:p>
            <a:pPr indent="449263" algn="just" eaLnBrk="0" fontAlgn="base" hangingPunct="0">
              <a:spcBef>
                <a:spcPct val="0"/>
              </a:spcBef>
              <a:spcAft>
                <a:spcPct val="0"/>
              </a:spcAft>
            </a:pPr>
            <a:r>
              <a:rPr lang="es-ES" b="1" dirty="0">
                <a:latin typeface="Arial Narrow" panose="020B0606020202030204" pitchFamily="34" charset="0"/>
                <a:cs typeface="Arial" pitchFamily="34" charset="0"/>
              </a:rPr>
              <a:t>III-IV        </a:t>
            </a:r>
            <a:r>
              <a:rPr lang="es-ES" b="1" dirty="0" err="1">
                <a:latin typeface="Arial Narrow" panose="020B0606020202030204" pitchFamily="34" charset="0"/>
                <a:cs typeface="Arial" pitchFamily="34" charset="0"/>
              </a:rPr>
              <a:t>9P2</a:t>
            </a:r>
            <a:r>
              <a:rPr lang="es-ES" b="1" dirty="0">
                <a:latin typeface="Arial Narrow" panose="020B0606020202030204" pitchFamily="34" charset="0"/>
                <a:cs typeface="Arial" pitchFamily="34" charset="0"/>
              </a:rPr>
              <a:t>=6</a:t>
            </a:r>
          </a:p>
          <a:p>
            <a:pPr indent="449263" algn="just" eaLnBrk="0" fontAlgn="base" hangingPunct="0">
              <a:spcBef>
                <a:spcPct val="0"/>
              </a:spcBef>
              <a:spcAft>
                <a:spcPct val="0"/>
              </a:spcAft>
            </a:pPr>
            <a:r>
              <a:rPr lang="es-ES" b="1" u="sng" dirty="0">
                <a:latin typeface="Arial Narrow" panose="020B0606020202030204" pitchFamily="34" charset="0"/>
                <a:cs typeface="Arial" pitchFamily="34" charset="0"/>
              </a:rPr>
              <a:t>                  </a:t>
            </a:r>
            <a:r>
              <a:rPr lang="es-ES" b="1" u="sng" dirty="0" err="1">
                <a:latin typeface="Arial Narrow" panose="020B0606020202030204" pitchFamily="34" charset="0"/>
                <a:cs typeface="Arial" pitchFamily="34" charset="0"/>
              </a:rPr>
              <a:t>P2</a:t>
            </a:r>
            <a:r>
              <a:rPr lang="es-ES" b="1" u="sng" dirty="0">
                <a:latin typeface="Arial Narrow" panose="020B0606020202030204" pitchFamily="34" charset="0"/>
                <a:cs typeface="Arial" pitchFamily="34" charset="0"/>
              </a:rPr>
              <a:t>=0,6667</a:t>
            </a:r>
          </a:p>
          <a:p>
            <a:pPr indent="449263" algn="just" eaLnBrk="0" fontAlgn="base" hangingPunct="0">
              <a:spcBef>
                <a:spcPct val="0"/>
              </a:spcBef>
              <a:spcAft>
                <a:spcPct val="0"/>
              </a:spcAft>
            </a:pPr>
            <a:r>
              <a:rPr lang="es-ES" b="1" dirty="0">
                <a:latin typeface="Arial Narrow" panose="020B0606020202030204" pitchFamily="34" charset="0"/>
                <a:cs typeface="Arial" pitchFamily="34" charset="0"/>
              </a:rPr>
              <a:t>En II   </a:t>
            </a:r>
            <a:r>
              <a:rPr lang="es-ES" b="1" dirty="0" err="1">
                <a:latin typeface="Arial Narrow" panose="020B0606020202030204" pitchFamily="34" charset="0"/>
                <a:cs typeface="Arial" pitchFamily="34" charset="0"/>
              </a:rPr>
              <a:t>6P1+3</a:t>
            </a:r>
            <a:r>
              <a:rPr lang="es-ES" b="1" dirty="0">
                <a:latin typeface="Arial Narrow" panose="020B0606020202030204" pitchFamily="34" charset="0"/>
                <a:cs typeface="Arial" pitchFamily="34" charset="0"/>
              </a:rPr>
              <a:t>(0,6667)=6</a:t>
            </a:r>
          </a:p>
          <a:p>
            <a:pPr indent="449263" algn="just" eaLnBrk="0" fontAlgn="base" hangingPunct="0">
              <a:spcBef>
                <a:spcPct val="0"/>
              </a:spcBef>
              <a:spcAft>
                <a:spcPct val="0"/>
              </a:spcAft>
            </a:pPr>
            <a:r>
              <a:rPr lang="es-ES" b="1" dirty="0">
                <a:latin typeface="Arial Narrow" panose="020B0606020202030204" pitchFamily="34" charset="0"/>
                <a:cs typeface="Arial" pitchFamily="34" charset="0"/>
              </a:rPr>
              <a:t>                    </a:t>
            </a:r>
            <a:r>
              <a:rPr lang="es-ES" b="1" dirty="0" err="1">
                <a:latin typeface="Arial Narrow" panose="020B0606020202030204" pitchFamily="34" charset="0"/>
                <a:cs typeface="Arial" pitchFamily="34" charset="0"/>
              </a:rPr>
              <a:t>6P1</a:t>
            </a:r>
            <a:r>
              <a:rPr lang="es-ES" b="1" dirty="0">
                <a:latin typeface="Arial Narrow" panose="020B0606020202030204" pitchFamily="34" charset="0"/>
                <a:cs typeface="Arial" pitchFamily="34" charset="0"/>
              </a:rPr>
              <a:t>=4</a:t>
            </a:r>
          </a:p>
          <a:p>
            <a:pPr indent="449263" algn="just" eaLnBrk="0" fontAlgn="base" hangingPunct="0">
              <a:spcBef>
                <a:spcPct val="0"/>
              </a:spcBef>
              <a:spcAft>
                <a:spcPct val="0"/>
              </a:spcAft>
            </a:pPr>
            <a:r>
              <a:rPr lang="es-ES" b="1" u="sng" dirty="0">
                <a:latin typeface="Arial Narrow" panose="020B0606020202030204" pitchFamily="34" charset="0"/>
                <a:cs typeface="Arial" pitchFamily="34" charset="0"/>
              </a:rPr>
              <a:t>                      </a:t>
            </a:r>
            <a:r>
              <a:rPr lang="es-ES" b="1" u="sng" dirty="0" err="1">
                <a:latin typeface="Arial Narrow" panose="020B0606020202030204" pitchFamily="34" charset="0"/>
                <a:cs typeface="Arial" pitchFamily="34" charset="0"/>
              </a:rPr>
              <a:t>P1</a:t>
            </a:r>
            <a:r>
              <a:rPr lang="es-ES" b="1" u="sng" dirty="0">
                <a:latin typeface="Arial Narrow" panose="020B0606020202030204" pitchFamily="34" charset="0"/>
                <a:cs typeface="Arial" pitchFamily="34" charset="0"/>
              </a:rPr>
              <a:t>=0,6667</a:t>
            </a:r>
          </a:p>
        </p:txBody>
      </p:sp>
    </p:spTree>
    <p:extLst>
      <p:ext uri="{BB962C8B-B14F-4D97-AF65-F5344CB8AC3E}">
        <p14:creationId xmlns:p14="http://schemas.microsoft.com/office/powerpoint/2010/main" val="40974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P spid="11" grpId="0" animBg="1"/>
      <p:bldP spid="12"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4F7941C-195C-4C9A-BD58-EF8E4D92F4EA}"/>
              </a:ext>
            </a:extLst>
          </p:cNvPr>
          <p:cNvSpPr/>
          <p:nvPr/>
        </p:nvSpPr>
        <p:spPr>
          <a:xfrm>
            <a:off x="191344" y="1340768"/>
            <a:ext cx="8750433" cy="2382960"/>
          </a:xfrm>
          <a:prstGeom prst="rect">
            <a:avLst/>
          </a:prstGeom>
        </p:spPr>
        <p:txBody>
          <a:bodyPr wrap="square">
            <a:spAutoFit/>
          </a:bodyPr>
          <a:lstStyle/>
          <a:p>
            <a:pPr algn="just">
              <a:lnSpc>
                <a:spcPct val="107000"/>
              </a:lnSpc>
              <a:spcAft>
                <a:spcPts val="800"/>
              </a:spcAft>
              <a:tabLst>
                <a:tab pos="900430" algn="l"/>
                <a:tab pos="1350645" algn="l"/>
                <a:tab pos="1800860" algn="l"/>
                <a:tab pos="3287395" algn="l"/>
              </a:tabLst>
            </a:pPr>
            <a:r>
              <a:rPr lang="es-PE" sz="2000" b="1" spc="-15" dirty="0">
                <a:latin typeface="Calibri" panose="020F0502020204030204" pitchFamily="34" charset="0"/>
                <a:ea typeface="Calibri" panose="020F0502020204030204" pitchFamily="34" charset="0"/>
                <a:cs typeface="Times New Roman" panose="02020603050405020304" pitchFamily="18" charset="0"/>
              </a:rPr>
              <a:t>Una compañía elabora dos tipos de sombreros. Cada sombrero del primer tipo requiere dos veces más tiempo de </a:t>
            </a:r>
            <a:r>
              <a:rPr lang="es-PE" sz="2000" b="1" spc="-15" dirty="0">
                <a:latin typeface="Arial Narrow" panose="020B0606020202030204" pitchFamily="34" charset="0"/>
                <a:ea typeface="Calibri" panose="020F0502020204030204" pitchFamily="34" charset="0"/>
                <a:cs typeface="Times New Roman" panose="02020603050405020304" pitchFamily="18" charset="0"/>
              </a:rPr>
              <a:t>mano</a:t>
            </a:r>
            <a:r>
              <a:rPr lang="es-PE" sz="2000" b="1" spc="-15" dirty="0">
                <a:latin typeface="Calibri" panose="020F0502020204030204" pitchFamily="34" charset="0"/>
                <a:ea typeface="Calibri" panose="020F0502020204030204" pitchFamily="34" charset="0"/>
                <a:cs typeface="Times New Roman" panose="02020603050405020304" pitchFamily="18" charset="0"/>
              </a:rPr>
              <a:t> de obra que un producto del segundo tipo. Si todos los sombreros son exclusivamente del segundo tipo, la compañía puede producir un total de 500 unidades al día. El mercado limita las ventas diarias del primero y segundo tipo a 150 y 200 unidades. Supóngase que la ganancia que obtiene por producto es $8 por el tipo 1 y $5 por el tipo 2. Determine el número de sombreros de cada tipo que deben elaborarse para maximizar la ganancia. </a:t>
            </a:r>
            <a:endParaRPr lang="es-PE" sz="2000" b="1"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CuadroTexto 2">
            <a:extLst>
              <a:ext uri="{FF2B5EF4-FFF2-40B4-BE49-F238E27FC236}">
                <a16:creationId xmlns:a16="http://schemas.microsoft.com/office/drawing/2014/main" id="{E8C67A54-733B-413A-853A-631356CCEAEE}"/>
              </a:ext>
            </a:extLst>
          </p:cNvPr>
          <p:cNvSpPr txBox="1"/>
          <p:nvPr/>
        </p:nvSpPr>
        <p:spPr>
          <a:xfrm>
            <a:off x="305745" y="3825044"/>
            <a:ext cx="4962163" cy="2862322"/>
          </a:xfrm>
          <a:prstGeom prst="rect">
            <a:avLst/>
          </a:prstGeom>
          <a:solidFill>
            <a:schemeClr val="bg1">
              <a:lumMod val="85000"/>
            </a:schemeClr>
          </a:solidFill>
        </p:spPr>
        <p:txBody>
          <a:bodyPr wrap="square" rtlCol="0">
            <a:spAutoFit/>
          </a:bodyPr>
          <a:lstStyle/>
          <a:p>
            <a:r>
              <a:rPr lang="es-ES" sz="2000" dirty="0">
                <a:solidFill>
                  <a:srgbClr val="FF0000"/>
                </a:solidFill>
              </a:rPr>
              <a:t>Identificación de las variables</a:t>
            </a:r>
          </a:p>
          <a:p>
            <a:r>
              <a:rPr lang="es-ES" sz="2000" dirty="0"/>
              <a:t>Xi=Numero SOMBREROS tipo i que produce</a:t>
            </a:r>
          </a:p>
          <a:p>
            <a:r>
              <a:rPr lang="es-ES" sz="2000" dirty="0">
                <a:solidFill>
                  <a:srgbClr val="FF0000"/>
                </a:solidFill>
              </a:rPr>
              <a:t>Identificación de la Función Objetivo</a:t>
            </a:r>
          </a:p>
          <a:p>
            <a:r>
              <a:rPr lang="es-PE" sz="2000" dirty="0"/>
              <a:t>MAX </a:t>
            </a:r>
            <a:r>
              <a:rPr lang="es-PE" sz="2000" dirty="0" err="1"/>
              <a:t>8X1+5X2</a:t>
            </a:r>
            <a:endParaRPr lang="es-PE" sz="2000" dirty="0"/>
          </a:p>
          <a:p>
            <a:r>
              <a:rPr lang="es-PE" sz="2000" dirty="0">
                <a:solidFill>
                  <a:srgbClr val="FF0000"/>
                </a:solidFill>
              </a:rPr>
              <a:t>Identificación de las restricciones</a:t>
            </a:r>
          </a:p>
          <a:p>
            <a:r>
              <a:rPr lang="es-PE" sz="2000" dirty="0" err="1"/>
              <a:t>3X1+X2</a:t>
            </a:r>
            <a:r>
              <a:rPr lang="es-PE" sz="2000" dirty="0"/>
              <a:t>&lt;=500</a:t>
            </a:r>
          </a:p>
          <a:p>
            <a:r>
              <a:rPr lang="es-PE" sz="2000" dirty="0" err="1"/>
              <a:t>X1</a:t>
            </a:r>
            <a:r>
              <a:rPr lang="es-PE" sz="2000" dirty="0"/>
              <a:t>&lt;=150</a:t>
            </a:r>
          </a:p>
          <a:p>
            <a:r>
              <a:rPr lang="es-PE" sz="2000" dirty="0" err="1"/>
              <a:t>X2</a:t>
            </a:r>
            <a:r>
              <a:rPr lang="es-PE" sz="2000" dirty="0"/>
              <a:t>&lt;=200 </a:t>
            </a:r>
          </a:p>
          <a:p>
            <a:r>
              <a:rPr lang="es-PE" sz="2000" dirty="0"/>
              <a:t>Xi&gt;=0, entero</a:t>
            </a:r>
          </a:p>
        </p:txBody>
      </p:sp>
      <p:sp>
        <p:nvSpPr>
          <p:cNvPr id="6" name="Rectángulo 5">
            <a:extLst>
              <a:ext uri="{FF2B5EF4-FFF2-40B4-BE49-F238E27FC236}">
                <a16:creationId xmlns:a16="http://schemas.microsoft.com/office/drawing/2014/main" id="{A0191584-B949-47F4-B72E-DBBBA4C875D0}"/>
              </a:ext>
            </a:extLst>
          </p:cNvPr>
          <p:cNvSpPr/>
          <p:nvPr/>
        </p:nvSpPr>
        <p:spPr>
          <a:xfrm>
            <a:off x="9514936" y="2182483"/>
            <a:ext cx="396815" cy="2615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8A1CCB27-8766-4117-95D7-9FCBF8471B21}"/>
              </a:ext>
            </a:extLst>
          </p:cNvPr>
          <p:cNvSpPr txBox="1"/>
          <p:nvPr/>
        </p:nvSpPr>
        <p:spPr>
          <a:xfrm>
            <a:off x="9445925" y="1498877"/>
            <a:ext cx="1922529" cy="369332"/>
          </a:xfrm>
          <a:prstGeom prst="rect">
            <a:avLst/>
          </a:prstGeom>
          <a:noFill/>
        </p:spPr>
        <p:txBody>
          <a:bodyPr wrap="square" rtlCol="0">
            <a:spAutoFit/>
          </a:bodyPr>
          <a:lstStyle/>
          <a:p>
            <a:r>
              <a:rPr lang="es-ES" dirty="0" err="1"/>
              <a:t>X1</a:t>
            </a:r>
            <a:r>
              <a:rPr lang="es-ES" dirty="0"/>
              <a:t>                   </a:t>
            </a:r>
            <a:r>
              <a:rPr lang="es-ES" dirty="0" err="1"/>
              <a:t>X2</a:t>
            </a:r>
            <a:endParaRPr lang="es-PE" dirty="0"/>
          </a:p>
        </p:txBody>
      </p:sp>
      <p:sp>
        <p:nvSpPr>
          <p:cNvPr id="8" name="Rectángulo 7">
            <a:extLst>
              <a:ext uri="{FF2B5EF4-FFF2-40B4-BE49-F238E27FC236}">
                <a16:creationId xmlns:a16="http://schemas.microsoft.com/office/drawing/2014/main" id="{3AD517D7-B732-458E-9026-F48D13EAB4D1}"/>
              </a:ext>
            </a:extLst>
          </p:cNvPr>
          <p:cNvSpPr/>
          <p:nvPr/>
        </p:nvSpPr>
        <p:spPr>
          <a:xfrm>
            <a:off x="9514936" y="2483299"/>
            <a:ext cx="396815" cy="2615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extLst>
              <a:ext uri="{FF2B5EF4-FFF2-40B4-BE49-F238E27FC236}">
                <a16:creationId xmlns:a16="http://schemas.microsoft.com/office/drawing/2014/main" id="{7D053C12-F517-407F-99C5-9058FC513778}"/>
              </a:ext>
            </a:extLst>
          </p:cNvPr>
          <p:cNvSpPr/>
          <p:nvPr/>
        </p:nvSpPr>
        <p:spPr>
          <a:xfrm>
            <a:off x="9514935" y="2829969"/>
            <a:ext cx="396815" cy="2615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F7D7ED49-B04C-41D0-9EB9-FCE958D9158B}"/>
              </a:ext>
            </a:extLst>
          </p:cNvPr>
          <p:cNvSpPr/>
          <p:nvPr/>
        </p:nvSpPr>
        <p:spPr>
          <a:xfrm>
            <a:off x="10709860" y="2173857"/>
            <a:ext cx="396815" cy="2615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ángulo 10">
            <a:extLst>
              <a:ext uri="{FF2B5EF4-FFF2-40B4-BE49-F238E27FC236}">
                <a16:creationId xmlns:a16="http://schemas.microsoft.com/office/drawing/2014/main" id="{F25AD940-A10E-49B0-B044-3682289501D8}"/>
              </a:ext>
            </a:extLst>
          </p:cNvPr>
          <p:cNvSpPr/>
          <p:nvPr/>
        </p:nvSpPr>
        <p:spPr>
          <a:xfrm>
            <a:off x="6217414" y="3815065"/>
            <a:ext cx="2508354" cy="2308324"/>
          </a:xfrm>
          <a:prstGeom prst="rect">
            <a:avLst/>
          </a:prstGeom>
          <a:solidFill>
            <a:srgbClr val="FFFF00"/>
          </a:solidFill>
        </p:spPr>
        <p:txBody>
          <a:bodyPr wrap="square">
            <a:spAutoFit/>
          </a:bodyPr>
          <a:lstStyle/>
          <a:p>
            <a:r>
              <a:rPr lang="es-PE" dirty="0"/>
              <a:t>MAX </a:t>
            </a:r>
            <a:r>
              <a:rPr lang="es-PE" dirty="0" err="1"/>
              <a:t>8X1+5X2</a:t>
            </a:r>
            <a:endParaRPr lang="es-PE" dirty="0"/>
          </a:p>
          <a:p>
            <a:r>
              <a:rPr lang="es-PE" dirty="0" err="1">
                <a:solidFill>
                  <a:srgbClr val="FF0000"/>
                </a:solidFill>
              </a:rPr>
              <a:t>ST</a:t>
            </a:r>
            <a:endParaRPr lang="es-PE" dirty="0">
              <a:solidFill>
                <a:srgbClr val="FF0000"/>
              </a:solidFill>
            </a:endParaRPr>
          </a:p>
          <a:p>
            <a:r>
              <a:rPr lang="es-PE" dirty="0" err="1"/>
              <a:t>3X1+X2</a:t>
            </a:r>
            <a:r>
              <a:rPr lang="es-PE" dirty="0"/>
              <a:t>&lt;=500</a:t>
            </a:r>
          </a:p>
          <a:p>
            <a:r>
              <a:rPr lang="es-PE" dirty="0" err="1"/>
              <a:t>X1</a:t>
            </a:r>
            <a:r>
              <a:rPr lang="es-PE" dirty="0"/>
              <a:t>&lt;=150</a:t>
            </a:r>
          </a:p>
          <a:p>
            <a:r>
              <a:rPr lang="es-PE" dirty="0" err="1"/>
              <a:t>X2</a:t>
            </a:r>
            <a:r>
              <a:rPr lang="es-PE" dirty="0"/>
              <a:t>&lt;=200 </a:t>
            </a:r>
          </a:p>
          <a:p>
            <a:r>
              <a:rPr lang="es-PE" dirty="0" err="1"/>
              <a:t>END</a:t>
            </a:r>
            <a:endParaRPr lang="es-PE" dirty="0"/>
          </a:p>
          <a:p>
            <a:r>
              <a:rPr lang="es-PE" dirty="0"/>
              <a:t>GIN </a:t>
            </a:r>
            <a:r>
              <a:rPr lang="es-PE" dirty="0" err="1"/>
              <a:t>X1</a:t>
            </a:r>
            <a:endParaRPr lang="es-PE" dirty="0"/>
          </a:p>
          <a:p>
            <a:r>
              <a:rPr lang="es-PE" dirty="0"/>
              <a:t>GIN </a:t>
            </a:r>
            <a:r>
              <a:rPr lang="es-PE" dirty="0" err="1"/>
              <a:t>X2</a:t>
            </a:r>
            <a:endParaRPr lang="es-PE" dirty="0"/>
          </a:p>
        </p:txBody>
      </p:sp>
      <p:sp>
        <p:nvSpPr>
          <p:cNvPr id="12" name="Rectángulo 11">
            <a:extLst>
              <a:ext uri="{FF2B5EF4-FFF2-40B4-BE49-F238E27FC236}">
                <a16:creationId xmlns:a16="http://schemas.microsoft.com/office/drawing/2014/main" id="{40D24BCD-6AE5-4D7A-A669-6134492B0C2B}"/>
              </a:ext>
            </a:extLst>
          </p:cNvPr>
          <p:cNvSpPr/>
          <p:nvPr/>
        </p:nvSpPr>
        <p:spPr>
          <a:xfrm>
            <a:off x="8184232" y="4901641"/>
            <a:ext cx="3888432" cy="1200329"/>
          </a:xfrm>
          <a:prstGeom prst="rect">
            <a:avLst/>
          </a:prstGeom>
          <a:solidFill>
            <a:schemeClr val="accent5">
              <a:lumMod val="40000"/>
              <a:lumOff val="60000"/>
            </a:schemeClr>
          </a:solidFill>
        </p:spPr>
        <p:txBody>
          <a:bodyPr wrap="square">
            <a:spAutoFit/>
          </a:bodyPr>
          <a:lstStyle/>
          <a:p>
            <a:r>
              <a:rPr lang="es-PE" dirty="0"/>
              <a:t> 1)      1800.000</a:t>
            </a:r>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a:t>
            </a:r>
            <a:r>
              <a:rPr lang="es-PE" dirty="0" err="1"/>
              <a:t>X1</a:t>
            </a:r>
            <a:r>
              <a:rPr lang="es-PE" dirty="0"/>
              <a:t>       100.000000         -8.000000</a:t>
            </a:r>
          </a:p>
          <a:p>
            <a:r>
              <a:rPr lang="es-PE" dirty="0"/>
              <a:t>        </a:t>
            </a:r>
            <a:r>
              <a:rPr lang="es-PE" dirty="0" err="1"/>
              <a:t>X2</a:t>
            </a:r>
            <a:r>
              <a:rPr lang="es-PE" dirty="0"/>
              <a:t>       200.000000         -5.000000</a:t>
            </a:r>
          </a:p>
        </p:txBody>
      </p:sp>
    </p:spTree>
    <p:extLst>
      <p:ext uri="{BB962C8B-B14F-4D97-AF65-F5344CB8AC3E}">
        <p14:creationId xmlns:p14="http://schemas.microsoft.com/office/powerpoint/2010/main" val="2914360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p:bldP spid="8" grpId="0" animBg="1"/>
      <p:bldP spid="9" grpId="0" animBg="1"/>
      <p:bldP spid="10"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95293" y="1268760"/>
            <a:ext cx="4426873" cy="5016758"/>
          </a:xfrm>
          <a:prstGeom prst="rect">
            <a:avLst/>
          </a:prstGeom>
        </p:spPr>
        <p:txBody>
          <a:bodyPr wrap="square">
            <a:spAutoFit/>
          </a:bodyPr>
          <a:lstStyle/>
          <a:p>
            <a:pPr lvl="0" algn="just"/>
            <a:r>
              <a:rPr lang="es-ES" sz="2000" b="1" dirty="0"/>
              <a:t>Se va a organizar una planta de un taller de automóviles donde van a trabajar electricistas y mecánicos. Por necesidades del mercado, es necesario que haya mayor o igual número de mecánicos que de electricistas y que el número de mecánicos no supere al doble que de electricistas. En total hay disponibles 30 electricistas y 20 mecánicos.</a:t>
            </a:r>
            <a:endParaRPr lang="es-PE" sz="2000" b="1" dirty="0"/>
          </a:p>
          <a:p>
            <a:pPr algn="just"/>
            <a:r>
              <a:rPr lang="es-ES" sz="2000" b="1" dirty="0"/>
              <a:t>El beneficio de la empresa por jornada es de 150 soles por electricista y 120 soles por mecánico. ¿Cuántos trabajadores de cada clase deben elegirse para obtener el máximo beneficio?</a:t>
            </a:r>
            <a:endParaRPr lang="es-PE" sz="2000" b="1" dirty="0"/>
          </a:p>
        </p:txBody>
      </p:sp>
      <p:sp>
        <p:nvSpPr>
          <p:cNvPr id="4" name="2 Rectángulo redondeado">
            <a:extLst>
              <a:ext uri="{FF2B5EF4-FFF2-40B4-BE49-F238E27FC236}">
                <a16:creationId xmlns:a16="http://schemas.microsoft.com/office/drawing/2014/main" id="{00DB4E18-F851-4287-9367-08131EDEB842}"/>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31</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5" name="3 Rectángulo">
            <a:extLst>
              <a:ext uri="{FF2B5EF4-FFF2-40B4-BE49-F238E27FC236}">
                <a16:creationId xmlns:a16="http://schemas.microsoft.com/office/drawing/2014/main" id="{DD41F965-BB46-43BA-BFB7-0E6BEE2DD74E}"/>
              </a:ext>
            </a:extLst>
          </p:cNvPr>
          <p:cNvSpPr/>
          <p:nvPr/>
        </p:nvSpPr>
        <p:spPr>
          <a:xfrm>
            <a:off x="5074920" y="1375044"/>
            <a:ext cx="4405112" cy="3477875"/>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E</a:t>
            </a:r>
            <a:r>
              <a:rPr lang="es-PE" sz="2000" dirty="0">
                <a:latin typeface="Arial Narrow" panose="020B0606020202030204" pitchFamily="34" charset="0"/>
                <a:ea typeface="Calibri" pitchFamily="34" charset="0"/>
                <a:cs typeface="Arial" pitchFamily="34" charset="0"/>
              </a:rPr>
              <a:t> =Número de electricistas</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M= Número de mecánicos</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MAX </a:t>
            </a:r>
            <a:r>
              <a:rPr lang="es-PE" sz="2000" dirty="0" err="1">
                <a:latin typeface="Arial Narrow" panose="020B0606020202030204" pitchFamily="34" charset="0"/>
                <a:cs typeface="Arial" pitchFamily="34" charset="0"/>
              </a:rPr>
              <a:t>150E</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120M</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latin typeface="Arial Narrow" panose="020B0606020202030204" pitchFamily="34" charset="0"/>
                <a:ea typeface="Calibri" pitchFamily="34" charset="0"/>
                <a:cs typeface="Arial" pitchFamily="34" charset="0"/>
              </a:rPr>
              <a:t>	</a:t>
            </a: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M&gt;=E</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M&lt;=</a:t>
            </a:r>
            <a:r>
              <a:rPr lang="es-ES" sz="2000" dirty="0" err="1">
                <a:latin typeface="Arial Narrow" panose="020B0606020202030204" pitchFamily="34" charset="0"/>
                <a:cs typeface="Arial" pitchFamily="34" charset="0"/>
              </a:rPr>
              <a:t>2E</a:t>
            </a:r>
            <a:endParaRPr lang="es-ES" sz="2000" dirty="0">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E&lt;=30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M&lt;=20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M, E &gt;=0, ENTERO</a:t>
            </a:r>
          </a:p>
        </p:txBody>
      </p:sp>
      <p:sp>
        <p:nvSpPr>
          <p:cNvPr id="2" name="Rectángulo 1">
            <a:extLst>
              <a:ext uri="{FF2B5EF4-FFF2-40B4-BE49-F238E27FC236}">
                <a16:creationId xmlns:a16="http://schemas.microsoft.com/office/drawing/2014/main" id="{61D9B038-054C-4114-A293-B8508836134A}"/>
              </a:ext>
            </a:extLst>
          </p:cNvPr>
          <p:cNvSpPr/>
          <p:nvPr/>
        </p:nvSpPr>
        <p:spPr>
          <a:xfrm>
            <a:off x="6541699" y="4941605"/>
            <a:ext cx="2179608" cy="1754326"/>
          </a:xfrm>
          <a:prstGeom prst="rect">
            <a:avLst/>
          </a:prstGeom>
          <a:solidFill>
            <a:srgbClr val="FFFF00"/>
          </a:solidFill>
        </p:spPr>
        <p:txBody>
          <a:bodyPr wrap="square">
            <a:spAutoFit/>
          </a:bodyPr>
          <a:lstStyle/>
          <a:p>
            <a:pPr algn="just" fontAlgn="base">
              <a:spcBef>
                <a:spcPct val="0"/>
              </a:spcBef>
              <a:spcAft>
                <a:spcPct val="0"/>
              </a:spcAft>
            </a:pPr>
            <a:r>
              <a:rPr lang="es-PE" dirty="0">
                <a:latin typeface="Arial Narrow" panose="020B0606020202030204" pitchFamily="34" charset="0"/>
                <a:cs typeface="Arial" pitchFamily="34" charset="0"/>
              </a:rPr>
              <a:t>MAX </a:t>
            </a:r>
            <a:r>
              <a:rPr lang="es-PE" dirty="0" err="1">
                <a:latin typeface="Arial Narrow" panose="020B0606020202030204" pitchFamily="34" charset="0"/>
                <a:cs typeface="Arial" pitchFamily="34" charset="0"/>
              </a:rPr>
              <a:t>150E</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120M</a:t>
            </a:r>
            <a:endParaRPr lang="es-PE" dirty="0">
              <a:latin typeface="Arial Narrow" panose="020B0606020202030204" pitchFamily="34" charset="0"/>
              <a:cs typeface="Arial" pitchFamily="34" charset="0"/>
            </a:endParaRPr>
          </a:p>
          <a:p>
            <a:pPr marL="449263" indent="-449263" algn="just" fontAlgn="base">
              <a:spcBef>
                <a:spcPct val="0"/>
              </a:spcBef>
              <a:spcAft>
                <a:spcPct val="0"/>
              </a:spcAft>
            </a:pPr>
            <a:r>
              <a:rPr lang="en-US" b="1" dirty="0">
                <a:latin typeface="Arial Narrow" panose="020B0606020202030204" pitchFamily="34" charset="0"/>
                <a:ea typeface="Calibri" pitchFamily="34" charset="0"/>
                <a:cs typeface="Arial" pitchFamily="34" charset="0"/>
              </a:rPr>
              <a:t>ST</a:t>
            </a:r>
          </a:p>
          <a:p>
            <a:pPr marL="449263" indent="-449263" algn="just" fontAlgn="base">
              <a:spcBef>
                <a:spcPct val="0"/>
              </a:spcBef>
              <a:spcAft>
                <a:spcPct val="0"/>
              </a:spcAft>
            </a:pPr>
            <a:r>
              <a:rPr lang="es-ES" dirty="0">
                <a:latin typeface="Arial Narrow" panose="020B0606020202030204" pitchFamily="34" charset="0"/>
                <a:cs typeface="Arial" pitchFamily="34" charset="0"/>
              </a:rPr>
              <a:t>M-E&gt;=0</a:t>
            </a:r>
          </a:p>
          <a:p>
            <a:pPr marL="449263" indent="-449263" algn="just" fontAlgn="base">
              <a:spcBef>
                <a:spcPct val="0"/>
              </a:spcBef>
              <a:spcAft>
                <a:spcPct val="0"/>
              </a:spcAft>
            </a:pPr>
            <a:r>
              <a:rPr lang="es-ES" dirty="0">
                <a:latin typeface="Arial Narrow" panose="020B0606020202030204" pitchFamily="34" charset="0"/>
                <a:cs typeface="Arial" pitchFamily="34" charset="0"/>
              </a:rPr>
              <a:t>M-</a:t>
            </a:r>
            <a:r>
              <a:rPr lang="es-ES" dirty="0" err="1">
                <a:latin typeface="Arial Narrow" panose="020B0606020202030204" pitchFamily="34" charset="0"/>
                <a:cs typeface="Arial" pitchFamily="34" charset="0"/>
              </a:rPr>
              <a:t>2E</a:t>
            </a:r>
            <a:r>
              <a:rPr lang="es-ES" dirty="0">
                <a:latin typeface="Arial Narrow" panose="020B0606020202030204" pitchFamily="34" charset="0"/>
                <a:cs typeface="Arial" pitchFamily="34" charset="0"/>
              </a:rPr>
              <a:t>&lt;=0</a:t>
            </a:r>
          </a:p>
          <a:p>
            <a:pPr marL="449263" indent="-449263" algn="just" fontAlgn="base">
              <a:spcBef>
                <a:spcPct val="0"/>
              </a:spcBef>
              <a:spcAft>
                <a:spcPct val="0"/>
              </a:spcAft>
            </a:pPr>
            <a:r>
              <a:rPr lang="es-ES" dirty="0">
                <a:latin typeface="Arial Narrow" panose="020B0606020202030204" pitchFamily="34" charset="0"/>
                <a:cs typeface="Arial" pitchFamily="34" charset="0"/>
              </a:rPr>
              <a:t>E&lt;=30</a:t>
            </a:r>
          </a:p>
          <a:p>
            <a:pPr marL="449263" indent="-449263" algn="just" fontAlgn="base">
              <a:spcBef>
                <a:spcPct val="0"/>
              </a:spcBef>
              <a:spcAft>
                <a:spcPct val="0"/>
              </a:spcAft>
            </a:pPr>
            <a:r>
              <a:rPr lang="es-ES" dirty="0">
                <a:latin typeface="Arial Narrow" panose="020B0606020202030204" pitchFamily="34" charset="0"/>
                <a:cs typeface="Arial" pitchFamily="34" charset="0"/>
              </a:rPr>
              <a:t>M&lt;=20</a:t>
            </a:r>
          </a:p>
        </p:txBody>
      </p:sp>
      <p:sp>
        <p:nvSpPr>
          <p:cNvPr id="6" name="Rectángulo 5">
            <a:extLst>
              <a:ext uri="{FF2B5EF4-FFF2-40B4-BE49-F238E27FC236}">
                <a16:creationId xmlns:a16="http://schemas.microsoft.com/office/drawing/2014/main" id="{C2FD4AF6-80D9-4222-A859-410364A3A0ED}"/>
              </a:ext>
            </a:extLst>
          </p:cNvPr>
          <p:cNvSpPr/>
          <p:nvPr/>
        </p:nvSpPr>
        <p:spPr>
          <a:xfrm>
            <a:off x="8721307" y="4941605"/>
            <a:ext cx="3470693" cy="1323439"/>
          </a:xfrm>
          <a:prstGeom prst="rect">
            <a:avLst/>
          </a:prstGeom>
        </p:spPr>
        <p:txBody>
          <a:bodyPr wrap="square">
            <a:spAutoFit/>
          </a:bodyPr>
          <a:lstStyle/>
          <a:p>
            <a:r>
              <a:rPr lang="es-PE" sz="1600" dirty="0">
                <a:latin typeface="Arial Narrow" panose="020B0606020202030204" pitchFamily="34" charset="0"/>
              </a:rPr>
              <a:t> </a:t>
            </a:r>
            <a:r>
              <a:rPr lang="es-PE" sz="1600" dirty="0" err="1">
                <a:latin typeface="Arial Narrow" panose="020B0606020202030204" pitchFamily="34" charset="0"/>
              </a:rPr>
              <a:t>OBJECTIVE</a:t>
            </a:r>
            <a:r>
              <a:rPr lang="es-PE" sz="1600" dirty="0">
                <a:latin typeface="Arial Narrow" panose="020B0606020202030204" pitchFamily="34" charset="0"/>
              </a:rPr>
              <a:t> </a:t>
            </a:r>
            <a:r>
              <a:rPr lang="es-PE" sz="1600" dirty="0" err="1">
                <a:latin typeface="Arial Narrow" panose="020B0606020202030204" pitchFamily="34" charset="0"/>
              </a:rPr>
              <a:t>FUNCTION</a:t>
            </a:r>
            <a:r>
              <a:rPr lang="es-PE" sz="1600" dirty="0">
                <a:latin typeface="Arial Narrow" panose="020B0606020202030204" pitchFamily="34" charset="0"/>
              </a:rPr>
              <a:t> </a:t>
            </a:r>
            <a:r>
              <a:rPr lang="es-PE" sz="1600" dirty="0" err="1">
                <a:latin typeface="Arial Narrow" panose="020B0606020202030204" pitchFamily="34" charset="0"/>
              </a:rPr>
              <a:t>VALUE</a:t>
            </a:r>
            <a:endParaRPr lang="es-PE" sz="1600" dirty="0">
              <a:latin typeface="Arial Narrow" panose="020B0606020202030204" pitchFamily="34" charset="0"/>
            </a:endParaRPr>
          </a:p>
          <a:p>
            <a:r>
              <a:rPr lang="es-PE" sz="1600" dirty="0">
                <a:latin typeface="Arial Narrow" panose="020B0606020202030204" pitchFamily="34" charset="0"/>
              </a:rPr>
              <a:t>        1)      5400.000</a:t>
            </a:r>
          </a:p>
          <a:p>
            <a:r>
              <a:rPr lang="es-PE" sz="1600" dirty="0">
                <a:latin typeface="Arial Narrow" panose="020B0606020202030204" pitchFamily="34" charset="0"/>
              </a:rPr>
              <a:t>  VARIABLE      </a:t>
            </a:r>
            <a:r>
              <a:rPr lang="es-PE" sz="1600" dirty="0" err="1">
                <a:latin typeface="Arial Narrow" panose="020B0606020202030204" pitchFamily="34" charset="0"/>
              </a:rPr>
              <a:t>VALUE</a:t>
            </a:r>
            <a:r>
              <a:rPr lang="es-PE" sz="1600" dirty="0">
                <a:latin typeface="Arial Narrow" panose="020B0606020202030204" pitchFamily="34" charset="0"/>
              </a:rPr>
              <a:t>     </a:t>
            </a:r>
            <a:r>
              <a:rPr lang="es-PE" sz="1600" dirty="0" err="1">
                <a:latin typeface="Arial Narrow" panose="020B0606020202030204" pitchFamily="34" charset="0"/>
              </a:rPr>
              <a:t>REDUCED</a:t>
            </a:r>
            <a:r>
              <a:rPr lang="es-PE" sz="1600" dirty="0">
                <a:latin typeface="Arial Narrow" panose="020B0606020202030204" pitchFamily="34" charset="0"/>
              </a:rPr>
              <a:t> </a:t>
            </a:r>
            <a:r>
              <a:rPr lang="es-PE" sz="1600" dirty="0" err="1">
                <a:latin typeface="Arial Narrow" panose="020B0606020202030204" pitchFamily="34" charset="0"/>
              </a:rPr>
              <a:t>COST</a:t>
            </a:r>
            <a:endParaRPr lang="es-PE" sz="1600" dirty="0">
              <a:latin typeface="Arial Narrow" panose="020B0606020202030204" pitchFamily="34" charset="0"/>
            </a:endParaRPr>
          </a:p>
          <a:p>
            <a:r>
              <a:rPr lang="es-PE" sz="1600" dirty="0">
                <a:latin typeface="Arial Narrow" panose="020B0606020202030204" pitchFamily="34" charset="0"/>
              </a:rPr>
              <a:t>         E        20.000000          0.000000</a:t>
            </a:r>
          </a:p>
          <a:p>
            <a:r>
              <a:rPr lang="es-PE" sz="1600" dirty="0">
                <a:latin typeface="Arial Narrow" panose="020B0606020202030204" pitchFamily="34" charset="0"/>
              </a:rPr>
              <a:t>         M        20.000000          0.000000</a:t>
            </a:r>
          </a:p>
        </p:txBody>
      </p:sp>
      <p:pic>
        <p:nvPicPr>
          <p:cNvPr id="7" name="image8.jpeg">
            <a:extLst>
              <a:ext uri="{FF2B5EF4-FFF2-40B4-BE49-F238E27FC236}">
                <a16:creationId xmlns:a16="http://schemas.microsoft.com/office/drawing/2014/main" id="{F4FF8596-5D2E-43F6-9732-D219A90E3FC8}"/>
              </a:ext>
            </a:extLst>
          </p:cNvPr>
          <p:cNvPicPr/>
          <p:nvPr/>
        </p:nvPicPr>
        <p:blipFill>
          <a:blip r:embed="rId2" cstate="print"/>
          <a:stretch>
            <a:fillRect/>
          </a:stretch>
        </p:blipFill>
        <p:spPr>
          <a:xfrm>
            <a:off x="9244330" y="1723073"/>
            <a:ext cx="2786380" cy="2802255"/>
          </a:xfrm>
          <a:prstGeom prst="rect">
            <a:avLst/>
          </a:prstGeom>
        </p:spPr>
      </p:pic>
    </p:spTree>
    <p:extLst>
      <p:ext uri="{BB962C8B-B14F-4D97-AF65-F5344CB8AC3E}">
        <p14:creationId xmlns:p14="http://schemas.microsoft.com/office/powerpoint/2010/main" val="129592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4895" y="1225689"/>
            <a:ext cx="3780420" cy="5632311"/>
          </a:xfrm>
          <a:prstGeom prst="rect">
            <a:avLst/>
          </a:prstGeom>
          <a:solidFill>
            <a:schemeClr val="accent3">
              <a:lumMod val="40000"/>
              <a:lumOff val="60000"/>
            </a:schemeClr>
          </a:solidFill>
        </p:spPr>
        <p:txBody>
          <a:bodyPr wrap="square">
            <a:spAutoFit/>
          </a:bodyPr>
          <a:lstStyle/>
          <a:p>
            <a:pPr lvl="0"/>
            <a:r>
              <a:rPr lang="es-ES" sz="2400" dirty="0"/>
              <a:t>Una persona tiene 15000 Soles para invertir en dos tipos de acciones, A y B. El tipo A tiene un interés anual del 9%, y el tipo B, del 5%. Decide invertir, como máximo, 9000 Soles en A, y como mínimo, 3000 Soles en B. Además, quiere invertir en A tanto o más que en B.</a:t>
            </a:r>
            <a:endParaRPr lang="es-PE" sz="2400" dirty="0"/>
          </a:p>
          <a:p>
            <a:pPr lvl="0"/>
            <a:r>
              <a:rPr lang="es-ES" sz="2400" dirty="0"/>
              <a:t>¿Cómo debe invertir los 15000 Soles para que el beneficio sea máximo?. ¿Cuál es ese beneficio anual máximo?</a:t>
            </a:r>
            <a:endParaRPr lang="es-PE" sz="2400" dirty="0"/>
          </a:p>
        </p:txBody>
      </p:sp>
      <p:sp>
        <p:nvSpPr>
          <p:cNvPr id="5" name="2 Rectángulo redondeado">
            <a:extLst>
              <a:ext uri="{FF2B5EF4-FFF2-40B4-BE49-F238E27FC236}">
                <a16:creationId xmlns:a16="http://schemas.microsoft.com/office/drawing/2014/main" id="{4E5745D7-B49C-403D-9F1C-546FDAED31BC}"/>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32</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6" name="3 Rectángulo">
            <a:extLst>
              <a:ext uri="{FF2B5EF4-FFF2-40B4-BE49-F238E27FC236}">
                <a16:creationId xmlns:a16="http://schemas.microsoft.com/office/drawing/2014/main" id="{D6F7B9F2-A07E-435D-951E-F062E31B23B5}"/>
              </a:ext>
            </a:extLst>
          </p:cNvPr>
          <p:cNvSpPr/>
          <p:nvPr/>
        </p:nvSpPr>
        <p:spPr>
          <a:xfrm>
            <a:off x="3785315" y="1361080"/>
            <a:ext cx="4675216" cy="3477875"/>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A</a:t>
            </a:r>
            <a:r>
              <a:rPr lang="es-PE" sz="2000" dirty="0">
                <a:latin typeface="Arial Narrow" panose="020B0606020202030204" pitchFamily="34" charset="0"/>
                <a:ea typeface="Calibri" pitchFamily="34" charset="0"/>
                <a:cs typeface="Arial" pitchFamily="34" charset="0"/>
              </a:rPr>
              <a:t> =Cantidad de soles a invertir en acciones A</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B= Cantidad de soles a invertir en acciones B</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MAX </a:t>
            </a:r>
            <a:r>
              <a:rPr lang="es-PE" sz="2000" dirty="0" err="1">
                <a:latin typeface="Arial Narrow" panose="020B0606020202030204" pitchFamily="34" charset="0"/>
                <a:cs typeface="Arial" pitchFamily="34" charset="0"/>
              </a:rPr>
              <a:t>0,09A</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0,05B</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latin typeface="Arial Narrow" panose="020B0606020202030204" pitchFamily="34" charset="0"/>
                <a:ea typeface="Calibri" pitchFamily="34" charset="0"/>
                <a:cs typeface="Arial" pitchFamily="34" charset="0"/>
              </a:rPr>
              <a:t>	</a:t>
            </a: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A+B</a:t>
            </a:r>
            <a:r>
              <a:rPr lang="es-ES" sz="2000" dirty="0">
                <a:latin typeface="Arial Narrow" panose="020B0606020202030204" pitchFamily="34" charset="0"/>
                <a:cs typeface="Arial" pitchFamily="34" charset="0"/>
              </a:rPr>
              <a:t>&lt;=15000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A&lt;=9000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B&gt;=3000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A&gt;=B</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A, B &gt;=0, ENTERO</a:t>
            </a:r>
          </a:p>
        </p:txBody>
      </p:sp>
      <p:sp>
        <p:nvSpPr>
          <p:cNvPr id="2" name="Rectángulo 1">
            <a:extLst>
              <a:ext uri="{FF2B5EF4-FFF2-40B4-BE49-F238E27FC236}">
                <a16:creationId xmlns:a16="http://schemas.microsoft.com/office/drawing/2014/main" id="{CDFD8619-37F4-4E6C-A912-EA48B665B323}"/>
              </a:ext>
            </a:extLst>
          </p:cNvPr>
          <p:cNvSpPr/>
          <p:nvPr/>
        </p:nvSpPr>
        <p:spPr>
          <a:xfrm>
            <a:off x="4086356" y="4795520"/>
            <a:ext cx="2441692" cy="1938992"/>
          </a:xfrm>
          <a:prstGeom prst="rect">
            <a:avLst/>
          </a:prstGeom>
          <a:solidFill>
            <a:srgbClr val="FFFF00"/>
          </a:solidFill>
        </p:spPr>
        <p:txBody>
          <a:bodyPr wrap="square">
            <a:spAutoFit/>
          </a:bodyPr>
          <a:lstStyle/>
          <a:p>
            <a:pPr algn="just" fontAlgn="base">
              <a:spcBef>
                <a:spcPct val="0"/>
              </a:spcBef>
              <a:spcAft>
                <a:spcPct val="0"/>
              </a:spcAft>
            </a:pPr>
            <a:r>
              <a:rPr lang="es-PE" sz="2000" b="1" dirty="0">
                <a:latin typeface="Arial Narrow" panose="020B0606020202030204" pitchFamily="34" charset="0"/>
                <a:cs typeface="Arial" pitchFamily="34" charset="0"/>
              </a:rPr>
              <a:t> MAX </a:t>
            </a:r>
            <a:r>
              <a:rPr lang="es-PE" sz="2000" b="1" dirty="0" err="1">
                <a:latin typeface="Arial Narrow" panose="020B0606020202030204" pitchFamily="34" charset="0"/>
                <a:cs typeface="Arial" pitchFamily="34" charset="0"/>
              </a:rPr>
              <a:t>0.09A</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0.05B</a:t>
            </a:r>
            <a:endParaRPr lang="es-PE" sz="2000" b="1" dirty="0">
              <a:latin typeface="Arial Narrow" panose="020B0606020202030204" pitchFamily="34" charset="0"/>
              <a:cs typeface="Arial" pitchFamily="34" charset="0"/>
            </a:endParaRPr>
          </a:p>
          <a:p>
            <a:pPr marL="449263" indent="-449263" algn="just" fontAlgn="base">
              <a:spcBef>
                <a:spcPct val="0"/>
              </a:spcBef>
              <a:spcAft>
                <a:spcPct val="0"/>
              </a:spcAft>
            </a:pPr>
            <a:r>
              <a:rPr lang="en-US" sz="2000" b="1" dirty="0">
                <a:solidFill>
                  <a:srgbClr val="FF0000"/>
                </a:solidFill>
                <a:latin typeface="Arial Narrow" panose="020B0606020202030204" pitchFamily="34" charset="0"/>
                <a:ea typeface="Calibri" pitchFamily="34" charset="0"/>
                <a:cs typeface="Arial" pitchFamily="34" charset="0"/>
              </a:rPr>
              <a:t>ST</a:t>
            </a:r>
            <a:endParaRPr lang="es-PE" sz="2000" b="1" dirty="0">
              <a:solidFill>
                <a:srgbClr val="FF0000"/>
              </a:solidFill>
              <a:latin typeface="Arial Narrow" panose="020B0606020202030204" pitchFamily="34" charset="0"/>
              <a:ea typeface="Calibri" pitchFamily="34" charset="0"/>
              <a:cs typeface="Arial" pitchFamily="34" charset="0"/>
            </a:endParaRPr>
          </a:p>
          <a:p>
            <a:pPr marL="449263" indent="-449263" algn="just" fontAlgn="base">
              <a:spcBef>
                <a:spcPct val="0"/>
              </a:spcBef>
              <a:spcAft>
                <a:spcPct val="0"/>
              </a:spcAft>
            </a:pPr>
            <a:r>
              <a:rPr lang="es-ES" sz="2000" b="1" dirty="0" err="1">
                <a:latin typeface="Arial Narrow" panose="020B0606020202030204" pitchFamily="34" charset="0"/>
                <a:cs typeface="Arial" pitchFamily="34" charset="0"/>
              </a:rPr>
              <a:t>A+B</a:t>
            </a:r>
            <a:r>
              <a:rPr lang="es-ES" sz="2000" b="1" dirty="0">
                <a:latin typeface="Arial Narrow" panose="020B0606020202030204" pitchFamily="34" charset="0"/>
                <a:cs typeface="Arial" pitchFamily="34" charset="0"/>
              </a:rPr>
              <a:t>&lt;=15000</a:t>
            </a:r>
          </a:p>
          <a:p>
            <a:pPr marL="449263" indent="-449263" algn="just" fontAlgn="base">
              <a:spcBef>
                <a:spcPct val="0"/>
              </a:spcBef>
              <a:spcAft>
                <a:spcPct val="0"/>
              </a:spcAft>
            </a:pPr>
            <a:r>
              <a:rPr lang="es-ES" sz="2000" b="1" dirty="0">
                <a:latin typeface="Arial Narrow" panose="020B0606020202030204" pitchFamily="34" charset="0"/>
                <a:cs typeface="Arial" pitchFamily="34" charset="0"/>
              </a:rPr>
              <a:t>A&lt;=9000</a:t>
            </a:r>
          </a:p>
          <a:p>
            <a:pPr marL="449263" indent="-449263" algn="just" fontAlgn="base">
              <a:spcBef>
                <a:spcPct val="0"/>
              </a:spcBef>
              <a:spcAft>
                <a:spcPct val="0"/>
              </a:spcAft>
            </a:pPr>
            <a:r>
              <a:rPr lang="es-ES" sz="2000" b="1" dirty="0">
                <a:latin typeface="Arial Narrow" panose="020B0606020202030204" pitchFamily="34" charset="0"/>
                <a:cs typeface="Arial" pitchFamily="34" charset="0"/>
              </a:rPr>
              <a:t>B&gt;=3000</a:t>
            </a:r>
          </a:p>
          <a:p>
            <a:pPr marL="449263" indent="-449263" algn="just" fontAlgn="base">
              <a:spcBef>
                <a:spcPct val="0"/>
              </a:spcBef>
              <a:spcAft>
                <a:spcPct val="0"/>
              </a:spcAft>
            </a:pPr>
            <a:r>
              <a:rPr lang="es-ES" sz="2000" b="1" dirty="0">
                <a:latin typeface="Arial Narrow" panose="020B0606020202030204" pitchFamily="34" charset="0"/>
                <a:cs typeface="Arial" pitchFamily="34" charset="0"/>
              </a:rPr>
              <a:t>A-B&gt;=0</a:t>
            </a:r>
            <a:endParaRPr lang="es-PE" sz="2000" b="1" dirty="0"/>
          </a:p>
        </p:txBody>
      </p:sp>
      <p:sp>
        <p:nvSpPr>
          <p:cNvPr id="3" name="Rectángulo 2">
            <a:extLst>
              <a:ext uri="{FF2B5EF4-FFF2-40B4-BE49-F238E27FC236}">
                <a16:creationId xmlns:a16="http://schemas.microsoft.com/office/drawing/2014/main" id="{95DAB10A-9E8B-4DA2-ABBB-1445E135C4A5}"/>
              </a:ext>
            </a:extLst>
          </p:cNvPr>
          <p:cNvSpPr/>
          <p:nvPr/>
        </p:nvSpPr>
        <p:spPr>
          <a:xfrm>
            <a:off x="7263621" y="4795520"/>
            <a:ext cx="4865022" cy="1631216"/>
          </a:xfrm>
          <a:prstGeom prst="rect">
            <a:avLst/>
          </a:prstGeom>
          <a:solidFill>
            <a:srgbClr val="FFFF00"/>
          </a:solidFill>
        </p:spPr>
        <p:txBody>
          <a:bodyPr wrap="square">
            <a:spAutoFit/>
          </a:bodyPr>
          <a:lstStyle/>
          <a:p>
            <a:pPr algn="just" fontAlgn="base">
              <a:spcBef>
                <a:spcPct val="0"/>
              </a:spcBef>
              <a:spcAft>
                <a:spcPct val="0"/>
              </a:spcAft>
            </a:pP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OBJECTIVE</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FUNCTION</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VALUE</a:t>
            </a:r>
            <a:endParaRPr lang="es-PE" sz="2000" b="1" dirty="0">
              <a:latin typeface="Arial Narrow" panose="020B0606020202030204" pitchFamily="34" charset="0"/>
              <a:cs typeface="Arial" pitchFamily="34" charset="0"/>
            </a:endParaRPr>
          </a:p>
          <a:p>
            <a:pPr algn="just" fontAlgn="base">
              <a:spcBef>
                <a:spcPct val="0"/>
              </a:spcBef>
              <a:spcAft>
                <a:spcPct val="0"/>
              </a:spcAft>
            </a:pPr>
            <a:r>
              <a:rPr lang="es-PE" sz="2000" b="1" dirty="0">
                <a:latin typeface="Arial Narrow" panose="020B0606020202030204" pitchFamily="34" charset="0"/>
                <a:cs typeface="Arial" pitchFamily="34" charset="0"/>
              </a:rPr>
              <a:t>        1)      1110.000</a:t>
            </a:r>
          </a:p>
          <a:p>
            <a:pPr algn="just" fontAlgn="base">
              <a:spcBef>
                <a:spcPct val="0"/>
              </a:spcBef>
              <a:spcAft>
                <a:spcPct val="0"/>
              </a:spcAft>
            </a:pPr>
            <a:r>
              <a:rPr lang="es-PE" sz="2000" b="1" dirty="0">
                <a:latin typeface="Arial Narrow" panose="020B0606020202030204" pitchFamily="34" charset="0"/>
                <a:cs typeface="Arial" pitchFamily="34" charset="0"/>
              </a:rPr>
              <a:t>  VARIABLE        </a:t>
            </a:r>
            <a:r>
              <a:rPr lang="es-PE" sz="2000" b="1" dirty="0" err="1">
                <a:latin typeface="Arial Narrow" panose="020B0606020202030204" pitchFamily="34" charset="0"/>
                <a:cs typeface="Arial" pitchFamily="34" charset="0"/>
              </a:rPr>
              <a:t>VALUE</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REDUCED</a:t>
            </a:r>
            <a:r>
              <a:rPr lang="es-PE" sz="2000" b="1" dirty="0">
                <a:latin typeface="Arial Narrow" panose="020B0606020202030204" pitchFamily="34" charset="0"/>
                <a:cs typeface="Arial" pitchFamily="34" charset="0"/>
              </a:rPr>
              <a:t> </a:t>
            </a:r>
            <a:r>
              <a:rPr lang="es-PE" sz="2000" b="1" dirty="0" err="1">
                <a:latin typeface="Arial Narrow" panose="020B0606020202030204" pitchFamily="34" charset="0"/>
                <a:cs typeface="Arial" pitchFamily="34" charset="0"/>
              </a:rPr>
              <a:t>COST</a:t>
            </a:r>
            <a:endParaRPr lang="es-PE" sz="2000" b="1" dirty="0">
              <a:latin typeface="Arial Narrow" panose="020B0606020202030204" pitchFamily="34" charset="0"/>
              <a:cs typeface="Arial" pitchFamily="34" charset="0"/>
            </a:endParaRPr>
          </a:p>
          <a:p>
            <a:pPr algn="just" fontAlgn="base">
              <a:spcBef>
                <a:spcPct val="0"/>
              </a:spcBef>
              <a:spcAft>
                <a:spcPct val="0"/>
              </a:spcAft>
            </a:pPr>
            <a:r>
              <a:rPr lang="es-PE" sz="2000" b="1" dirty="0">
                <a:latin typeface="Arial Narrow" panose="020B0606020202030204" pitchFamily="34" charset="0"/>
                <a:cs typeface="Arial" pitchFamily="34" charset="0"/>
              </a:rPr>
              <a:t>         A      9000.000000          0.000000</a:t>
            </a:r>
          </a:p>
          <a:p>
            <a:pPr algn="just" fontAlgn="base">
              <a:spcBef>
                <a:spcPct val="0"/>
              </a:spcBef>
              <a:spcAft>
                <a:spcPct val="0"/>
              </a:spcAft>
            </a:pPr>
            <a:r>
              <a:rPr lang="es-PE" sz="2000" b="1" dirty="0">
                <a:latin typeface="Arial Narrow" panose="020B0606020202030204" pitchFamily="34" charset="0"/>
                <a:cs typeface="Arial" pitchFamily="34" charset="0"/>
              </a:rPr>
              <a:t>         B      6000.000000          0.000000</a:t>
            </a:r>
          </a:p>
        </p:txBody>
      </p:sp>
      <p:pic>
        <p:nvPicPr>
          <p:cNvPr id="7" name="image9.jpeg">
            <a:extLst>
              <a:ext uri="{FF2B5EF4-FFF2-40B4-BE49-F238E27FC236}">
                <a16:creationId xmlns:a16="http://schemas.microsoft.com/office/drawing/2014/main" id="{FDDCB9FD-59DB-473D-90AE-B3B7666B7D5C}"/>
              </a:ext>
            </a:extLst>
          </p:cNvPr>
          <p:cNvPicPr/>
          <p:nvPr/>
        </p:nvPicPr>
        <p:blipFill>
          <a:blip r:embed="rId2" cstate="print"/>
          <a:stretch>
            <a:fillRect/>
          </a:stretch>
        </p:blipFill>
        <p:spPr>
          <a:xfrm>
            <a:off x="8445182" y="1270000"/>
            <a:ext cx="3683635" cy="3525520"/>
          </a:xfrm>
          <a:prstGeom prst="rect">
            <a:avLst/>
          </a:prstGeom>
        </p:spPr>
      </p:pic>
    </p:spTree>
    <p:extLst>
      <p:ext uri="{BB962C8B-B14F-4D97-AF65-F5344CB8AC3E}">
        <p14:creationId xmlns:p14="http://schemas.microsoft.com/office/powerpoint/2010/main" val="403882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215661" y="1399756"/>
            <a:ext cx="4019909" cy="5324535"/>
          </a:xfrm>
          <a:prstGeom prst="rect">
            <a:avLst/>
          </a:prstGeom>
        </p:spPr>
        <p:txBody>
          <a:bodyPr wrap="square">
            <a:spAutoFit/>
          </a:bodyPr>
          <a:lstStyle/>
          <a:p>
            <a:pPr lvl="0" algn="just"/>
            <a:r>
              <a:rPr lang="es-ES" sz="2000" dirty="0"/>
              <a:t>Un taller de confección hace chaquetas y pantalones para niños. Para hacer una chaqueta, se necesitan 1 m de tela y 2 botones; y para hacer unos pantalones, hacen falta 2 m de tela, 1 botón y 1 cremallera. El taller dispone de 500 m de tela, 400 botones y 225 cremalleras. El beneficio que se obtiene por la venta de una chaqueta es de 20 Soles, y por un pantalón, 30 Soles.</a:t>
            </a:r>
            <a:endParaRPr lang="es-PE" sz="2000" dirty="0"/>
          </a:p>
          <a:p>
            <a:pPr algn="just"/>
            <a:r>
              <a:rPr lang="es-ES" sz="2000" dirty="0"/>
              <a:t>Suponiendo que se vende todo lo que se fabrica, calcula el número de chaquetas y de pantalones que se tienen que hacer para obtener un beneficio máximo.</a:t>
            </a:r>
            <a:endParaRPr lang="es-PE" sz="2000" dirty="0"/>
          </a:p>
        </p:txBody>
      </p:sp>
      <p:sp>
        <p:nvSpPr>
          <p:cNvPr id="4" name="2 Rectángulo redondeado">
            <a:extLst>
              <a:ext uri="{FF2B5EF4-FFF2-40B4-BE49-F238E27FC236}">
                <a16:creationId xmlns:a16="http://schemas.microsoft.com/office/drawing/2014/main" id="{11DD7C6A-FD72-44C9-B8C7-C5B67B4370EA}"/>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33</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5" name="3 Rectángulo">
            <a:extLst>
              <a:ext uri="{FF2B5EF4-FFF2-40B4-BE49-F238E27FC236}">
                <a16:creationId xmlns:a16="http://schemas.microsoft.com/office/drawing/2014/main" id="{05F786AF-AD30-409E-B233-7D85609A0F8E}"/>
              </a:ext>
            </a:extLst>
          </p:cNvPr>
          <p:cNvSpPr/>
          <p:nvPr/>
        </p:nvSpPr>
        <p:spPr>
          <a:xfrm>
            <a:off x="4646762" y="2962302"/>
            <a:ext cx="4405112" cy="3170099"/>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C</a:t>
            </a:r>
            <a:r>
              <a:rPr lang="es-PE" sz="2000" dirty="0">
                <a:latin typeface="Arial Narrow" panose="020B0606020202030204" pitchFamily="34" charset="0"/>
                <a:ea typeface="Calibri" pitchFamily="34" charset="0"/>
                <a:cs typeface="Arial" pitchFamily="34" charset="0"/>
              </a:rPr>
              <a:t>=Número de chaquetas</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P= Número de pantalones</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MAX </a:t>
            </a:r>
            <a:r>
              <a:rPr lang="es-PE" sz="2000" dirty="0" err="1">
                <a:latin typeface="Arial Narrow" panose="020B0606020202030204" pitchFamily="34" charset="0"/>
                <a:cs typeface="Arial" pitchFamily="34" charset="0"/>
              </a:rPr>
              <a:t>20C</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30P</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1C+2P</a:t>
            </a:r>
            <a:r>
              <a:rPr lang="es-ES" sz="2000" dirty="0">
                <a:latin typeface="Arial Narrow" panose="020B0606020202030204" pitchFamily="34" charset="0"/>
                <a:cs typeface="Arial" pitchFamily="34" charset="0"/>
              </a:rPr>
              <a:t>&lt;=500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2C+1P</a:t>
            </a:r>
            <a:r>
              <a:rPr lang="es-ES" sz="2000" dirty="0">
                <a:latin typeface="Arial Narrow" panose="020B0606020202030204" pitchFamily="34" charset="0"/>
                <a:cs typeface="Arial" pitchFamily="34" charset="0"/>
              </a:rPr>
              <a:t>&lt;=400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P&lt;=250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C,P</a:t>
            </a:r>
            <a:r>
              <a:rPr lang="es-ES" sz="2000" dirty="0">
                <a:latin typeface="Arial Narrow" panose="020B0606020202030204" pitchFamily="34" charset="0"/>
                <a:cs typeface="Arial" pitchFamily="34" charset="0"/>
              </a:rPr>
              <a:t> &gt;=0, ENTERO</a:t>
            </a:r>
          </a:p>
        </p:txBody>
      </p:sp>
      <p:graphicFrame>
        <p:nvGraphicFramePr>
          <p:cNvPr id="2" name="Tabla 5">
            <a:extLst>
              <a:ext uri="{FF2B5EF4-FFF2-40B4-BE49-F238E27FC236}">
                <a16:creationId xmlns:a16="http://schemas.microsoft.com/office/drawing/2014/main" id="{D59732D8-E645-46E4-A25F-EA53C8CA943D}"/>
              </a:ext>
            </a:extLst>
          </p:cNvPr>
          <p:cNvGraphicFramePr>
            <a:graphicFrameLocks noGrp="1"/>
          </p:cNvGraphicFramePr>
          <p:nvPr/>
        </p:nvGraphicFramePr>
        <p:xfrm>
          <a:off x="4937760" y="1316850"/>
          <a:ext cx="5333999" cy="1655944"/>
        </p:xfrm>
        <a:graphic>
          <a:graphicData uri="http://schemas.openxmlformats.org/drawingml/2006/table">
            <a:tbl>
              <a:tblPr firstRow="1" bandRow="1">
                <a:tableStyleId>{5C22544A-7EE6-4342-B048-85BDC9FD1C3A}</a:tableStyleId>
              </a:tblPr>
              <a:tblGrid>
                <a:gridCol w="1130991">
                  <a:extLst>
                    <a:ext uri="{9D8B030D-6E8A-4147-A177-3AD203B41FA5}">
                      <a16:colId xmlns:a16="http://schemas.microsoft.com/office/drawing/2014/main" val="956567899"/>
                    </a:ext>
                  </a:extLst>
                </a:gridCol>
                <a:gridCol w="1003625">
                  <a:extLst>
                    <a:ext uri="{9D8B030D-6E8A-4147-A177-3AD203B41FA5}">
                      <a16:colId xmlns:a16="http://schemas.microsoft.com/office/drawing/2014/main" val="2250067548"/>
                    </a:ext>
                  </a:extLst>
                </a:gridCol>
                <a:gridCol w="823604">
                  <a:extLst>
                    <a:ext uri="{9D8B030D-6E8A-4147-A177-3AD203B41FA5}">
                      <a16:colId xmlns:a16="http://schemas.microsoft.com/office/drawing/2014/main" val="2215159595"/>
                    </a:ext>
                  </a:extLst>
                </a:gridCol>
                <a:gridCol w="1235405">
                  <a:extLst>
                    <a:ext uri="{9D8B030D-6E8A-4147-A177-3AD203B41FA5}">
                      <a16:colId xmlns:a16="http://schemas.microsoft.com/office/drawing/2014/main" val="3713963941"/>
                    </a:ext>
                  </a:extLst>
                </a:gridCol>
                <a:gridCol w="1140374">
                  <a:extLst>
                    <a:ext uri="{9D8B030D-6E8A-4147-A177-3AD203B41FA5}">
                      <a16:colId xmlns:a16="http://schemas.microsoft.com/office/drawing/2014/main" val="2833581453"/>
                    </a:ext>
                  </a:extLst>
                </a:gridCol>
              </a:tblGrid>
              <a:tr h="462212">
                <a:tc>
                  <a:txBody>
                    <a:bodyPr/>
                    <a:lstStyle/>
                    <a:p>
                      <a:pPr algn="ctr"/>
                      <a:endParaRPr lang="es-PE" dirty="0"/>
                    </a:p>
                  </a:txBody>
                  <a:tcPr/>
                </a:tc>
                <a:tc>
                  <a:txBody>
                    <a:bodyPr/>
                    <a:lstStyle/>
                    <a:p>
                      <a:pPr algn="ctr"/>
                      <a:r>
                        <a:rPr lang="es-ES" dirty="0"/>
                        <a:t>Tela (m)</a:t>
                      </a:r>
                      <a:endParaRPr lang="es-PE" dirty="0"/>
                    </a:p>
                  </a:txBody>
                  <a:tcPr/>
                </a:tc>
                <a:tc>
                  <a:txBody>
                    <a:bodyPr/>
                    <a:lstStyle/>
                    <a:p>
                      <a:pPr algn="ctr"/>
                      <a:r>
                        <a:rPr lang="es-ES" dirty="0"/>
                        <a:t>Botón</a:t>
                      </a:r>
                      <a:endParaRPr lang="es-PE" dirty="0"/>
                    </a:p>
                  </a:txBody>
                  <a:tcPr/>
                </a:tc>
                <a:tc>
                  <a:txBody>
                    <a:bodyPr/>
                    <a:lstStyle/>
                    <a:p>
                      <a:pPr algn="ctr"/>
                      <a:r>
                        <a:rPr lang="es-ES" dirty="0"/>
                        <a:t>Cremallera</a:t>
                      </a:r>
                      <a:endParaRPr lang="es-PE" dirty="0"/>
                    </a:p>
                  </a:txBody>
                  <a:tcPr/>
                </a:tc>
                <a:tc>
                  <a:txBody>
                    <a:bodyPr/>
                    <a:lstStyle/>
                    <a:p>
                      <a:pPr algn="ctr"/>
                      <a:r>
                        <a:rPr lang="es-ES" dirty="0"/>
                        <a:t>Beneficio</a:t>
                      </a:r>
                      <a:endParaRPr lang="es-PE" dirty="0"/>
                    </a:p>
                  </a:txBody>
                  <a:tcPr/>
                </a:tc>
                <a:extLst>
                  <a:ext uri="{0D108BD9-81ED-4DB2-BD59-A6C34878D82A}">
                    <a16:rowId xmlns:a16="http://schemas.microsoft.com/office/drawing/2014/main" val="1746209843"/>
                  </a:ext>
                </a:extLst>
              </a:tr>
              <a:tr h="462212">
                <a:tc>
                  <a:txBody>
                    <a:bodyPr/>
                    <a:lstStyle/>
                    <a:p>
                      <a:pPr algn="ctr"/>
                      <a:r>
                        <a:rPr lang="es-ES" dirty="0"/>
                        <a:t>Chaqueta</a:t>
                      </a:r>
                      <a:endParaRPr lang="es-PE" dirty="0"/>
                    </a:p>
                  </a:txBody>
                  <a:tcPr/>
                </a:tc>
                <a:tc>
                  <a:txBody>
                    <a:bodyPr/>
                    <a:lstStyle/>
                    <a:p>
                      <a:pPr algn="ctr"/>
                      <a:r>
                        <a:rPr lang="es-ES" dirty="0"/>
                        <a:t>1</a:t>
                      </a:r>
                      <a:endParaRPr lang="es-PE" dirty="0"/>
                    </a:p>
                  </a:txBody>
                  <a:tcPr/>
                </a:tc>
                <a:tc>
                  <a:txBody>
                    <a:bodyPr/>
                    <a:lstStyle/>
                    <a:p>
                      <a:pPr algn="ctr"/>
                      <a:r>
                        <a:rPr lang="es-ES" dirty="0"/>
                        <a:t>2</a:t>
                      </a:r>
                      <a:endParaRPr lang="es-PE" dirty="0"/>
                    </a:p>
                  </a:txBody>
                  <a:tcPr/>
                </a:tc>
                <a:tc>
                  <a:txBody>
                    <a:bodyPr/>
                    <a:lstStyle/>
                    <a:p>
                      <a:pPr algn="ctr"/>
                      <a:r>
                        <a:rPr lang="es-ES" dirty="0"/>
                        <a:t>0</a:t>
                      </a:r>
                      <a:endParaRPr lang="es-PE" dirty="0"/>
                    </a:p>
                  </a:txBody>
                  <a:tcPr/>
                </a:tc>
                <a:tc>
                  <a:txBody>
                    <a:bodyPr/>
                    <a:lstStyle/>
                    <a:p>
                      <a:pPr algn="ctr"/>
                      <a:r>
                        <a:rPr lang="es-ES" dirty="0"/>
                        <a:t>20</a:t>
                      </a:r>
                      <a:endParaRPr lang="es-PE" dirty="0"/>
                    </a:p>
                  </a:txBody>
                  <a:tcPr/>
                </a:tc>
                <a:extLst>
                  <a:ext uri="{0D108BD9-81ED-4DB2-BD59-A6C34878D82A}">
                    <a16:rowId xmlns:a16="http://schemas.microsoft.com/office/drawing/2014/main" val="656539111"/>
                  </a:ext>
                </a:extLst>
              </a:tr>
              <a:tr h="276452">
                <a:tc>
                  <a:txBody>
                    <a:bodyPr/>
                    <a:lstStyle/>
                    <a:p>
                      <a:pPr algn="ctr"/>
                      <a:r>
                        <a:rPr lang="es-ES" dirty="0"/>
                        <a:t>Pantalón</a:t>
                      </a:r>
                      <a:endParaRPr lang="es-PE" dirty="0"/>
                    </a:p>
                  </a:txBody>
                  <a:tcPr/>
                </a:tc>
                <a:tc>
                  <a:txBody>
                    <a:bodyPr/>
                    <a:lstStyle/>
                    <a:p>
                      <a:pPr algn="ctr"/>
                      <a:r>
                        <a:rPr lang="es-ES" dirty="0"/>
                        <a:t>2</a:t>
                      </a:r>
                      <a:endParaRPr lang="es-PE" dirty="0"/>
                    </a:p>
                  </a:txBody>
                  <a:tcPr/>
                </a:tc>
                <a:tc>
                  <a:txBody>
                    <a:bodyPr/>
                    <a:lstStyle/>
                    <a:p>
                      <a:pPr algn="ctr"/>
                      <a:r>
                        <a:rPr lang="es-ES" dirty="0"/>
                        <a:t>1</a:t>
                      </a:r>
                      <a:endParaRPr lang="es-PE" dirty="0"/>
                    </a:p>
                  </a:txBody>
                  <a:tcPr/>
                </a:tc>
                <a:tc>
                  <a:txBody>
                    <a:bodyPr/>
                    <a:lstStyle/>
                    <a:p>
                      <a:pPr algn="ctr"/>
                      <a:r>
                        <a:rPr lang="es-ES" dirty="0"/>
                        <a:t>1</a:t>
                      </a:r>
                      <a:endParaRPr lang="es-PE" dirty="0"/>
                    </a:p>
                  </a:txBody>
                  <a:tcPr/>
                </a:tc>
                <a:tc>
                  <a:txBody>
                    <a:bodyPr/>
                    <a:lstStyle/>
                    <a:p>
                      <a:pPr algn="ctr"/>
                      <a:r>
                        <a:rPr lang="es-ES" dirty="0"/>
                        <a:t>30</a:t>
                      </a:r>
                      <a:endParaRPr lang="es-PE" dirty="0"/>
                    </a:p>
                  </a:txBody>
                  <a:tcPr/>
                </a:tc>
                <a:extLst>
                  <a:ext uri="{0D108BD9-81ED-4DB2-BD59-A6C34878D82A}">
                    <a16:rowId xmlns:a16="http://schemas.microsoft.com/office/drawing/2014/main" val="869371251"/>
                  </a:ext>
                </a:extLst>
              </a:tr>
              <a:tr h="276452">
                <a:tc>
                  <a:txBody>
                    <a:bodyPr/>
                    <a:lstStyle/>
                    <a:p>
                      <a:pPr algn="ctr"/>
                      <a:r>
                        <a:rPr lang="es-ES" dirty="0"/>
                        <a:t>STOCK</a:t>
                      </a:r>
                      <a:endParaRPr lang="es-PE" dirty="0"/>
                    </a:p>
                  </a:txBody>
                  <a:tcPr/>
                </a:tc>
                <a:tc>
                  <a:txBody>
                    <a:bodyPr/>
                    <a:lstStyle/>
                    <a:p>
                      <a:pPr algn="ctr"/>
                      <a:r>
                        <a:rPr lang="es-ES" dirty="0"/>
                        <a:t>500</a:t>
                      </a:r>
                      <a:endParaRPr lang="es-PE" dirty="0"/>
                    </a:p>
                  </a:txBody>
                  <a:tcPr/>
                </a:tc>
                <a:tc>
                  <a:txBody>
                    <a:bodyPr/>
                    <a:lstStyle/>
                    <a:p>
                      <a:pPr algn="ctr"/>
                      <a:r>
                        <a:rPr lang="es-ES" dirty="0"/>
                        <a:t>400</a:t>
                      </a:r>
                      <a:endParaRPr lang="es-PE" dirty="0"/>
                    </a:p>
                  </a:txBody>
                  <a:tcPr/>
                </a:tc>
                <a:tc>
                  <a:txBody>
                    <a:bodyPr/>
                    <a:lstStyle/>
                    <a:p>
                      <a:pPr algn="ctr"/>
                      <a:r>
                        <a:rPr lang="es-ES" dirty="0"/>
                        <a:t>225</a:t>
                      </a:r>
                      <a:endParaRPr lang="es-PE" dirty="0"/>
                    </a:p>
                  </a:txBody>
                  <a:tcPr/>
                </a:tc>
                <a:tc>
                  <a:txBody>
                    <a:bodyPr/>
                    <a:lstStyle/>
                    <a:p>
                      <a:pPr algn="ctr"/>
                      <a:endParaRPr lang="es-PE" dirty="0"/>
                    </a:p>
                  </a:txBody>
                  <a:tcPr/>
                </a:tc>
                <a:extLst>
                  <a:ext uri="{0D108BD9-81ED-4DB2-BD59-A6C34878D82A}">
                    <a16:rowId xmlns:a16="http://schemas.microsoft.com/office/drawing/2014/main" val="1397428690"/>
                  </a:ext>
                </a:extLst>
              </a:tr>
            </a:tbl>
          </a:graphicData>
        </a:graphic>
      </p:graphicFrame>
      <p:sp>
        <p:nvSpPr>
          <p:cNvPr id="7" name="Rectángulo 6">
            <a:extLst>
              <a:ext uri="{FF2B5EF4-FFF2-40B4-BE49-F238E27FC236}">
                <a16:creationId xmlns:a16="http://schemas.microsoft.com/office/drawing/2014/main" id="{F588E5F9-1B45-4687-A187-14F115713742}"/>
              </a:ext>
            </a:extLst>
          </p:cNvPr>
          <p:cNvSpPr/>
          <p:nvPr/>
        </p:nvSpPr>
        <p:spPr>
          <a:xfrm>
            <a:off x="10342205" y="1486989"/>
            <a:ext cx="1724420" cy="1477328"/>
          </a:xfrm>
          <a:prstGeom prst="rect">
            <a:avLst/>
          </a:prstGeom>
          <a:solidFill>
            <a:srgbClr val="FFFF00"/>
          </a:solidFill>
        </p:spPr>
        <p:txBody>
          <a:bodyPr wrap="square">
            <a:spAutoFit/>
          </a:bodyPr>
          <a:lstStyle/>
          <a:p>
            <a:pPr algn="just" fontAlgn="base">
              <a:spcBef>
                <a:spcPct val="0"/>
              </a:spcBef>
              <a:spcAft>
                <a:spcPct val="0"/>
              </a:spcAft>
            </a:pPr>
            <a:r>
              <a:rPr lang="es-PE" dirty="0">
                <a:latin typeface="Arial Narrow" panose="020B0606020202030204" pitchFamily="34" charset="0"/>
                <a:cs typeface="Arial" pitchFamily="34" charset="0"/>
              </a:rPr>
              <a:t>MAX </a:t>
            </a:r>
            <a:r>
              <a:rPr lang="es-PE" dirty="0" err="1">
                <a:latin typeface="Arial Narrow" panose="020B0606020202030204" pitchFamily="34" charset="0"/>
                <a:cs typeface="Arial" pitchFamily="34" charset="0"/>
              </a:rPr>
              <a:t>20C</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30P</a:t>
            </a:r>
            <a:endParaRPr lang="es-PE" dirty="0">
              <a:latin typeface="Arial Narrow" panose="020B0606020202030204" pitchFamily="34" charset="0"/>
              <a:cs typeface="Arial" pitchFamily="34" charset="0"/>
            </a:endParaRPr>
          </a:p>
          <a:p>
            <a:pPr marL="449263" indent="-449263" algn="just" fontAlgn="base">
              <a:spcBef>
                <a:spcPct val="0"/>
              </a:spcBef>
              <a:spcAft>
                <a:spcPct val="0"/>
              </a:spcAft>
            </a:pPr>
            <a:r>
              <a:rPr lang="es-PE" b="1" dirty="0" err="1">
                <a:solidFill>
                  <a:srgbClr val="FF0000"/>
                </a:solidFill>
                <a:latin typeface="Arial Narrow" panose="020B0606020202030204" pitchFamily="34" charset="0"/>
                <a:ea typeface="Calibri" pitchFamily="34" charset="0"/>
                <a:cs typeface="Arial" pitchFamily="34" charset="0"/>
              </a:rPr>
              <a:t>ST</a:t>
            </a:r>
            <a:endParaRPr lang="es-PE"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C+2P</a:t>
            </a:r>
            <a:r>
              <a:rPr lang="es-ES" dirty="0">
                <a:latin typeface="Arial Narrow" panose="020B0606020202030204" pitchFamily="34" charset="0"/>
                <a:cs typeface="Arial" pitchFamily="34" charset="0"/>
              </a:rPr>
              <a:t>&lt;=500</a:t>
            </a: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2C+P</a:t>
            </a:r>
            <a:r>
              <a:rPr lang="es-ES" dirty="0">
                <a:latin typeface="Arial Narrow" panose="020B0606020202030204" pitchFamily="34" charset="0"/>
                <a:cs typeface="Arial" pitchFamily="34" charset="0"/>
              </a:rPr>
              <a:t>&lt;=400</a:t>
            </a:r>
          </a:p>
          <a:p>
            <a:pPr indent="449263" algn="just" eaLnBrk="0" fontAlgn="base" hangingPunct="0">
              <a:spcBef>
                <a:spcPct val="0"/>
              </a:spcBef>
              <a:spcAft>
                <a:spcPct val="0"/>
              </a:spcAft>
            </a:pPr>
            <a:r>
              <a:rPr lang="es-ES" dirty="0">
                <a:latin typeface="Arial Narrow" panose="020B0606020202030204" pitchFamily="34" charset="0"/>
                <a:cs typeface="Arial" pitchFamily="34" charset="0"/>
              </a:rPr>
              <a:t>P&lt;=250</a:t>
            </a:r>
          </a:p>
        </p:txBody>
      </p:sp>
      <p:sp>
        <p:nvSpPr>
          <p:cNvPr id="8" name="Rectángulo 7">
            <a:extLst>
              <a:ext uri="{FF2B5EF4-FFF2-40B4-BE49-F238E27FC236}">
                <a16:creationId xmlns:a16="http://schemas.microsoft.com/office/drawing/2014/main" id="{C91B3B8E-EDDC-492C-A273-BCB5C4517DD0}"/>
              </a:ext>
            </a:extLst>
          </p:cNvPr>
          <p:cNvSpPr/>
          <p:nvPr/>
        </p:nvSpPr>
        <p:spPr>
          <a:xfrm>
            <a:off x="7680387" y="5369635"/>
            <a:ext cx="4511614" cy="1477328"/>
          </a:xfrm>
          <a:prstGeom prst="rect">
            <a:avLst/>
          </a:prstGeom>
        </p:spPr>
        <p:txBody>
          <a:bodyPr wrap="square">
            <a:spAutoFit/>
          </a:bodyPr>
          <a:lstStyle/>
          <a:p>
            <a:r>
              <a:rPr lang="es-PE" dirty="0"/>
              <a:t> </a:t>
            </a:r>
            <a:r>
              <a:rPr lang="es-PE" dirty="0" err="1"/>
              <a:t>OBJECTIVE</a:t>
            </a:r>
            <a:r>
              <a:rPr lang="es-PE" dirty="0"/>
              <a:t> </a:t>
            </a:r>
            <a:r>
              <a:rPr lang="es-PE" dirty="0" err="1"/>
              <a:t>FUNCTION</a:t>
            </a:r>
            <a:r>
              <a:rPr lang="es-PE" dirty="0"/>
              <a:t> </a:t>
            </a:r>
            <a:r>
              <a:rPr lang="es-PE" dirty="0" err="1"/>
              <a:t>VALUE</a:t>
            </a:r>
            <a:endParaRPr lang="es-PE" dirty="0"/>
          </a:p>
          <a:p>
            <a:r>
              <a:rPr lang="es-PE" dirty="0"/>
              <a:t>        1)      8000.000</a:t>
            </a:r>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C       100.000000          0.000000</a:t>
            </a:r>
          </a:p>
          <a:p>
            <a:r>
              <a:rPr lang="es-PE" dirty="0"/>
              <a:t>         P       200.000000          0.000000</a:t>
            </a:r>
          </a:p>
        </p:txBody>
      </p:sp>
      <p:pic>
        <p:nvPicPr>
          <p:cNvPr id="9" name="image10.jpeg">
            <a:extLst>
              <a:ext uri="{FF2B5EF4-FFF2-40B4-BE49-F238E27FC236}">
                <a16:creationId xmlns:a16="http://schemas.microsoft.com/office/drawing/2014/main" id="{C78267DB-989F-417E-92B2-973CCC8A543B}"/>
              </a:ext>
            </a:extLst>
          </p:cNvPr>
          <p:cNvPicPr/>
          <p:nvPr/>
        </p:nvPicPr>
        <p:blipFill>
          <a:blip r:embed="rId2" cstate="print"/>
          <a:stretch>
            <a:fillRect/>
          </a:stretch>
        </p:blipFill>
        <p:spPr>
          <a:xfrm>
            <a:off x="9153207" y="3055303"/>
            <a:ext cx="2938145" cy="2332355"/>
          </a:xfrm>
          <a:prstGeom prst="rect">
            <a:avLst/>
          </a:prstGeom>
        </p:spPr>
      </p:pic>
    </p:spTree>
    <p:extLst>
      <p:ext uri="{BB962C8B-B14F-4D97-AF65-F5344CB8AC3E}">
        <p14:creationId xmlns:p14="http://schemas.microsoft.com/office/powerpoint/2010/main" val="212095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23286" y="1292161"/>
            <a:ext cx="4145197" cy="3416320"/>
          </a:xfrm>
          <a:prstGeom prst="rect">
            <a:avLst/>
          </a:prstGeom>
        </p:spPr>
        <p:txBody>
          <a:bodyPr wrap="square">
            <a:spAutoFit/>
          </a:bodyPr>
          <a:lstStyle/>
          <a:p>
            <a:pPr lvl="0" algn="just"/>
            <a:r>
              <a:rPr lang="es-ES" dirty="0"/>
              <a:t>Un artesano fabrica collares y pulseras. Hacer un collar le lleva dos horas y hacer</a:t>
            </a:r>
            <a:endParaRPr lang="es-PE" dirty="0"/>
          </a:p>
          <a:p>
            <a:pPr algn="just"/>
            <a:r>
              <a:rPr lang="es-ES" dirty="0"/>
              <a:t>una pulsera una hora. El material de que dispone no le permite hacer más de 50 piezas. Como mucho, el artesano puede dedicar al trabajo 80 horas. Por cada collar gana 5 Soles y por cada pulsera 4 Soles. El artesano desea determinar el número de collares y pulseras que debe fabricar para optimizar sus beneficios. Obténgase el número de collares y pulseras correspondientes al máximo beneficio.</a:t>
            </a:r>
            <a:endParaRPr lang="es-PE" dirty="0"/>
          </a:p>
        </p:txBody>
      </p:sp>
      <p:sp>
        <p:nvSpPr>
          <p:cNvPr id="5" name="2 Rectángulo redondeado">
            <a:extLst>
              <a:ext uri="{FF2B5EF4-FFF2-40B4-BE49-F238E27FC236}">
                <a16:creationId xmlns:a16="http://schemas.microsoft.com/office/drawing/2014/main" id="{E57EEBEC-98B0-4CBD-B6AD-195A515C875F}"/>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34</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6" name="3 Rectángulo">
            <a:extLst>
              <a:ext uri="{FF2B5EF4-FFF2-40B4-BE49-F238E27FC236}">
                <a16:creationId xmlns:a16="http://schemas.microsoft.com/office/drawing/2014/main" id="{FC762ED2-1D87-4E9F-9E4D-7C332F805FF6}"/>
              </a:ext>
            </a:extLst>
          </p:cNvPr>
          <p:cNvSpPr/>
          <p:nvPr/>
        </p:nvSpPr>
        <p:spPr>
          <a:xfrm>
            <a:off x="4646762" y="2962302"/>
            <a:ext cx="4405112" cy="2862322"/>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C</a:t>
            </a:r>
            <a:r>
              <a:rPr lang="es-PE" sz="2000" dirty="0">
                <a:latin typeface="Arial Narrow" panose="020B0606020202030204" pitchFamily="34" charset="0"/>
                <a:ea typeface="Calibri" pitchFamily="34" charset="0"/>
                <a:cs typeface="Arial" pitchFamily="34" charset="0"/>
              </a:rPr>
              <a:t>=Número de collares</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P= Número de pulseras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MAX </a:t>
            </a:r>
            <a:r>
              <a:rPr lang="es-PE" sz="2000" dirty="0" err="1">
                <a:latin typeface="Arial Narrow" panose="020B0606020202030204" pitchFamily="34" charset="0"/>
                <a:cs typeface="Arial" pitchFamily="34" charset="0"/>
              </a:rPr>
              <a:t>5C</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4P</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C+P</a:t>
            </a:r>
            <a:r>
              <a:rPr lang="es-ES" sz="2000" dirty="0">
                <a:latin typeface="Arial Narrow" panose="020B0606020202030204" pitchFamily="34" charset="0"/>
                <a:cs typeface="Arial" pitchFamily="34" charset="0"/>
              </a:rPr>
              <a:t>&lt;=50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2C+1P</a:t>
            </a:r>
            <a:r>
              <a:rPr lang="es-ES" sz="2000" dirty="0">
                <a:latin typeface="Arial Narrow" panose="020B0606020202030204" pitchFamily="34" charset="0"/>
                <a:cs typeface="Arial" pitchFamily="34" charset="0"/>
              </a:rPr>
              <a:t>&lt;=80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C,P</a:t>
            </a:r>
            <a:r>
              <a:rPr lang="es-ES" sz="2000" dirty="0">
                <a:latin typeface="Arial Narrow" panose="020B0606020202030204" pitchFamily="34" charset="0"/>
                <a:cs typeface="Arial" pitchFamily="34" charset="0"/>
              </a:rPr>
              <a:t> &gt;=0, ENTERO</a:t>
            </a:r>
          </a:p>
        </p:txBody>
      </p:sp>
      <p:graphicFrame>
        <p:nvGraphicFramePr>
          <p:cNvPr id="7" name="Tabla 5">
            <a:extLst>
              <a:ext uri="{FF2B5EF4-FFF2-40B4-BE49-F238E27FC236}">
                <a16:creationId xmlns:a16="http://schemas.microsoft.com/office/drawing/2014/main" id="{A20FF98F-F33F-4DB6-A680-D2C23730D016}"/>
              </a:ext>
            </a:extLst>
          </p:cNvPr>
          <p:cNvGraphicFramePr>
            <a:graphicFrameLocks noGrp="1"/>
          </p:cNvGraphicFramePr>
          <p:nvPr/>
        </p:nvGraphicFramePr>
        <p:xfrm>
          <a:off x="5124090" y="1309707"/>
          <a:ext cx="3773196" cy="1463040"/>
        </p:xfrm>
        <a:graphic>
          <a:graphicData uri="http://schemas.openxmlformats.org/drawingml/2006/table">
            <a:tbl>
              <a:tblPr firstRow="1" bandRow="1">
                <a:tableStyleId>{5C22544A-7EE6-4342-B048-85BDC9FD1C3A}</a:tableStyleId>
              </a:tblPr>
              <a:tblGrid>
                <a:gridCol w="1257732">
                  <a:extLst>
                    <a:ext uri="{9D8B030D-6E8A-4147-A177-3AD203B41FA5}">
                      <a16:colId xmlns:a16="http://schemas.microsoft.com/office/drawing/2014/main" val="956567899"/>
                    </a:ext>
                  </a:extLst>
                </a:gridCol>
                <a:gridCol w="1257732">
                  <a:extLst>
                    <a:ext uri="{9D8B030D-6E8A-4147-A177-3AD203B41FA5}">
                      <a16:colId xmlns:a16="http://schemas.microsoft.com/office/drawing/2014/main" val="2250067548"/>
                    </a:ext>
                  </a:extLst>
                </a:gridCol>
                <a:gridCol w="1257732">
                  <a:extLst>
                    <a:ext uri="{9D8B030D-6E8A-4147-A177-3AD203B41FA5}">
                      <a16:colId xmlns:a16="http://schemas.microsoft.com/office/drawing/2014/main" val="2833581453"/>
                    </a:ext>
                  </a:extLst>
                </a:gridCol>
              </a:tblGrid>
              <a:tr h="211283">
                <a:tc>
                  <a:txBody>
                    <a:bodyPr/>
                    <a:lstStyle/>
                    <a:p>
                      <a:endParaRPr lang="es-PE" dirty="0"/>
                    </a:p>
                  </a:txBody>
                  <a:tcPr/>
                </a:tc>
                <a:tc>
                  <a:txBody>
                    <a:bodyPr/>
                    <a:lstStyle/>
                    <a:p>
                      <a:r>
                        <a:rPr lang="es-ES" dirty="0"/>
                        <a:t>Horas</a:t>
                      </a:r>
                      <a:endParaRPr lang="es-PE" dirty="0"/>
                    </a:p>
                  </a:txBody>
                  <a:tcPr/>
                </a:tc>
                <a:tc>
                  <a:txBody>
                    <a:bodyPr/>
                    <a:lstStyle/>
                    <a:p>
                      <a:r>
                        <a:rPr lang="es-ES" dirty="0"/>
                        <a:t>Ganancia</a:t>
                      </a:r>
                      <a:endParaRPr lang="es-PE" dirty="0"/>
                    </a:p>
                  </a:txBody>
                  <a:tcPr/>
                </a:tc>
                <a:extLst>
                  <a:ext uri="{0D108BD9-81ED-4DB2-BD59-A6C34878D82A}">
                    <a16:rowId xmlns:a16="http://schemas.microsoft.com/office/drawing/2014/main" val="1746209843"/>
                  </a:ext>
                </a:extLst>
              </a:tr>
              <a:tr h="316566">
                <a:tc>
                  <a:txBody>
                    <a:bodyPr/>
                    <a:lstStyle/>
                    <a:p>
                      <a:r>
                        <a:rPr lang="es-ES" dirty="0"/>
                        <a:t>Collar</a:t>
                      </a:r>
                      <a:endParaRPr lang="es-PE" dirty="0"/>
                    </a:p>
                  </a:txBody>
                  <a:tcPr/>
                </a:tc>
                <a:tc>
                  <a:txBody>
                    <a:bodyPr/>
                    <a:lstStyle/>
                    <a:p>
                      <a:r>
                        <a:rPr lang="es-ES" dirty="0"/>
                        <a:t>2</a:t>
                      </a:r>
                      <a:endParaRPr lang="es-PE" dirty="0"/>
                    </a:p>
                  </a:txBody>
                  <a:tcPr/>
                </a:tc>
                <a:tc>
                  <a:txBody>
                    <a:bodyPr/>
                    <a:lstStyle/>
                    <a:p>
                      <a:r>
                        <a:rPr lang="es-ES" dirty="0"/>
                        <a:t>5</a:t>
                      </a:r>
                      <a:endParaRPr lang="es-PE" dirty="0"/>
                    </a:p>
                  </a:txBody>
                  <a:tcPr/>
                </a:tc>
                <a:extLst>
                  <a:ext uri="{0D108BD9-81ED-4DB2-BD59-A6C34878D82A}">
                    <a16:rowId xmlns:a16="http://schemas.microsoft.com/office/drawing/2014/main" val="656539111"/>
                  </a:ext>
                </a:extLst>
              </a:tr>
              <a:tr h="211283">
                <a:tc>
                  <a:txBody>
                    <a:bodyPr/>
                    <a:lstStyle/>
                    <a:p>
                      <a:r>
                        <a:rPr lang="es-ES" dirty="0"/>
                        <a:t>Pulsera</a:t>
                      </a:r>
                      <a:endParaRPr lang="es-PE" dirty="0"/>
                    </a:p>
                  </a:txBody>
                  <a:tcPr/>
                </a:tc>
                <a:tc>
                  <a:txBody>
                    <a:bodyPr/>
                    <a:lstStyle/>
                    <a:p>
                      <a:r>
                        <a:rPr lang="es-ES" dirty="0"/>
                        <a:t>1</a:t>
                      </a:r>
                      <a:endParaRPr lang="es-PE" dirty="0"/>
                    </a:p>
                  </a:txBody>
                  <a:tcPr/>
                </a:tc>
                <a:tc>
                  <a:txBody>
                    <a:bodyPr/>
                    <a:lstStyle/>
                    <a:p>
                      <a:r>
                        <a:rPr lang="es-ES" dirty="0"/>
                        <a:t>4</a:t>
                      </a:r>
                      <a:endParaRPr lang="es-PE" dirty="0"/>
                    </a:p>
                  </a:txBody>
                  <a:tcPr/>
                </a:tc>
                <a:extLst>
                  <a:ext uri="{0D108BD9-81ED-4DB2-BD59-A6C34878D82A}">
                    <a16:rowId xmlns:a16="http://schemas.microsoft.com/office/drawing/2014/main" val="869371251"/>
                  </a:ext>
                </a:extLst>
              </a:tr>
              <a:tr h="211283">
                <a:tc>
                  <a:txBody>
                    <a:bodyPr/>
                    <a:lstStyle/>
                    <a:p>
                      <a:r>
                        <a:rPr lang="es-ES" dirty="0"/>
                        <a:t>STOCK</a:t>
                      </a:r>
                      <a:endParaRPr lang="es-PE" dirty="0"/>
                    </a:p>
                  </a:txBody>
                  <a:tcPr/>
                </a:tc>
                <a:tc>
                  <a:txBody>
                    <a:bodyPr/>
                    <a:lstStyle/>
                    <a:p>
                      <a:r>
                        <a:rPr lang="es-ES" dirty="0"/>
                        <a:t>80</a:t>
                      </a:r>
                      <a:endParaRPr lang="es-PE" dirty="0"/>
                    </a:p>
                  </a:txBody>
                  <a:tcPr/>
                </a:tc>
                <a:tc>
                  <a:txBody>
                    <a:bodyPr/>
                    <a:lstStyle/>
                    <a:p>
                      <a:endParaRPr lang="es-PE" dirty="0"/>
                    </a:p>
                  </a:txBody>
                  <a:tcPr/>
                </a:tc>
                <a:extLst>
                  <a:ext uri="{0D108BD9-81ED-4DB2-BD59-A6C34878D82A}">
                    <a16:rowId xmlns:a16="http://schemas.microsoft.com/office/drawing/2014/main" val="1397428690"/>
                  </a:ext>
                </a:extLst>
              </a:tr>
            </a:tbl>
          </a:graphicData>
        </a:graphic>
      </p:graphicFrame>
      <p:sp>
        <p:nvSpPr>
          <p:cNvPr id="2" name="Rectángulo 1">
            <a:extLst>
              <a:ext uri="{FF2B5EF4-FFF2-40B4-BE49-F238E27FC236}">
                <a16:creationId xmlns:a16="http://schemas.microsoft.com/office/drawing/2014/main" id="{B0B78B13-5963-4022-A813-C9B457677B6F}"/>
              </a:ext>
            </a:extLst>
          </p:cNvPr>
          <p:cNvSpPr/>
          <p:nvPr/>
        </p:nvSpPr>
        <p:spPr>
          <a:xfrm>
            <a:off x="8692551" y="4082361"/>
            <a:ext cx="3499449" cy="1200329"/>
          </a:xfrm>
          <a:prstGeom prst="rect">
            <a:avLst/>
          </a:prstGeom>
          <a:solidFill>
            <a:srgbClr val="FFFF00"/>
          </a:solidFill>
        </p:spPr>
        <p:txBody>
          <a:bodyPr wrap="square">
            <a:spAutoFit/>
          </a:bodyPr>
          <a:lstStyle/>
          <a:p>
            <a:pPr algn="just" fontAlgn="base">
              <a:spcBef>
                <a:spcPct val="0"/>
              </a:spcBef>
              <a:spcAft>
                <a:spcPct val="0"/>
              </a:spcAft>
            </a:pPr>
            <a:r>
              <a:rPr lang="es-PE" dirty="0">
                <a:latin typeface="Arial Narrow" panose="020B0606020202030204" pitchFamily="34" charset="0"/>
                <a:cs typeface="Arial" pitchFamily="34" charset="0"/>
              </a:rPr>
              <a:t>MAX </a:t>
            </a:r>
            <a:r>
              <a:rPr lang="es-PE" dirty="0" err="1">
                <a:latin typeface="Arial Narrow" panose="020B0606020202030204" pitchFamily="34" charset="0"/>
                <a:cs typeface="Arial" pitchFamily="34" charset="0"/>
              </a:rPr>
              <a:t>5C</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4P</a:t>
            </a:r>
            <a:endParaRPr lang="es-PE" dirty="0">
              <a:latin typeface="Arial Narrow" panose="020B0606020202030204" pitchFamily="34" charset="0"/>
              <a:cs typeface="Arial" pitchFamily="34" charset="0"/>
            </a:endParaRPr>
          </a:p>
          <a:p>
            <a:pPr marL="449263" indent="-449263" algn="just" fontAlgn="base">
              <a:spcBef>
                <a:spcPct val="0"/>
              </a:spcBef>
              <a:spcAft>
                <a:spcPct val="0"/>
              </a:spcAft>
            </a:pPr>
            <a:r>
              <a:rPr lang="es-PE" b="1" dirty="0" err="1">
                <a:solidFill>
                  <a:srgbClr val="FF0000"/>
                </a:solidFill>
                <a:latin typeface="Arial Narrow" panose="020B0606020202030204" pitchFamily="34" charset="0"/>
                <a:ea typeface="Calibri" pitchFamily="34" charset="0"/>
                <a:cs typeface="Arial" pitchFamily="34" charset="0"/>
              </a:rPr>
              <a:t>ST</a:t>
            </a:r>
            <a:endParaRPr lang="es-PE"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C+P</a:t>
            </a:r>
            <a:r>
              <a:rPr lang="es-ES" dirty="0">
                <a:latin typeface="Arial Narrow" panose="020B0606020202030204" pitchFamily="34" charset="0"/>
                <a:cs typeface="Arial" pitchFamily="34" charset="0"/>
              </a:rPr>
              <a:t>&lt;=50</a:t>
            </a: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2C+1P</a:t>
            </a:r>
            <a:r>
              <a:rPr lang="es-ES" dirty="0">
                <a:latin typeface="Arial Narrow" panose="020B0606020202030204" pitchFamily="34" charset="0"/>
                <a:cs typeface="Arial" pitchFamily="34" charset="0"/>
              </a:rPr>
              <a:t>&lt;=80</a:t>
            </a:r>
          </a:p>
        </p:txBody>
      </p:sp>
      <p:sp>
        <p:nvSpPr>
          <p:cNvPr id="3" name="Rectángulo 2">
            <a:extLst>
              <a:ext uri="{FF2B5EF4-FFF2-40B4-BE49-F238E27FC236}">
                <a16:creationId xmlns:a16="http://schemas.microsoft.com/office/drawing/2014/main" id="{1AE99253-A934-4E24-B6BE-6388BA957AB2}"/>
              </a:ext>
            </a:extLst>
          </p:cNvPr>
          <p:cNvSpPr/>
          <p:nvPr/>
        </p:nvSpPr>
        <p:spPr>
          <a:xfrm>
            <a:off x="8514273" y="5351530"/>
            <a:ext cx="3677728" cy="1323439"/>
          </a:xfrm>
          <a:prstGeom prst="rect">
            <a:avLst/>
          </a:prstGeom>
        </p:spPr>
        <p:txBody>
          <a:bodyPr wrap="square">
            <a:spAutoFit/>
          </a:bodyPr>
          <a:lstStyle/>
          <a:p>
            <a:r>
              <a:rPr lang="es-PE" sz="1600" dirty="0">
                <a:latin typeface="Arial Narrow" panose="020B0606020202030204" pitchFamily="34" charset="0"/>
              </a:rPr>
              <a:t> </a:t>
            </a:r>
            <a:r>
              <a:rPr lang="es-PE" sz="1600" dirty="0" err="1">
                <a:latin typeface="Arial Narrow" panose="020B0606020202030204" pitchFamily="34" charset="0"/>
              </a:rPr>
              <a:t>OBJECTIVE</a:t>
            </a:r>
            <a:r>
              <a:rPr lang="es-PE" sz="1600" dirty="0">
                <a:latin typeface="Arial Narrow" panose="020B0606020202030204" pitchFamily="34" charset="0"/>
              </a:rPr>
              <a:t> </a:t>
            </a:r>
            <a:r>
              <a:rPr lang="es-PE" sz="1600" dirty="0" err="1">
                <a:latin typeface="Arial Narrow" panose="020B0606020202030204" pitchFamily="34" charset="0"/>
              </a:rPr>
              <a:t>FUNCTION</a:t>
            </a:r>
            <a:r>
              <a:rPr lang="es-PE" sz="1600" dirty="0">
                <a:latin typeface="Arial Narrow" panose="020B0606020202030204" pitchFamily="34" charset="0"/>
              </a:rPr>
              <a:t> </a:t>
            </a:r>
            <a:r>
              <a:rPr lang="es-PE" sz="1600" dirty="0" err="1">
                <a:latin typeface="Arial Narrow" panose="020B0606020202030204" pitchFamily="34" charset="0"/>
              </a:rPr>
              <a:t>VALUE</a:t>
            </a:r>
            <a:endParaRPr lang="es-PE" sz="1600" dirty="0">
              <a:latin typeface="Arial Narrow" panose="020B0606020202030204" pitchFamily="34" charset="0"/>
            </a:endParaRPr>
          </a:p>
          <a:p>
            <a:r>
              <a:rPr lang="es-PE" sz="1600" dirty="0">
                <a:latin typeface="Arial Narrow" panose="020B0606020202030204" pitchFamily="34" charset="0"/>
              </a:rPr>
              <a:t>        1)      230.0000</a:t>
            </a:r>
          </a:p>
          <a:p>
            <a:r>
              <a:rPr lang="es-PE" sz="1600" dirty="0">
                <a:latin typeface="Arial Narrow" panose="020B0606020202030204" pitchFamily="34" charset="0"/>
              </a:rPr>
              <a:t>  VARIABLE     </a:t>
            </a:r>
            <a:r>
              <a:rPr lang="es-PE" sz="1600" dirty="0" err="1">
                <a:latin typeface="Arial Narrow" panose="020B0606020202030204" pitchFamily="34" charset="0"/>
              </a:rPr>
              <a:t>VALUE</a:t>
            </a:r>
            <a:r>
              <a:rPr lang="es-PE" sz="1600" dirty="0">
                <a:latin typeface="Arial Narrow" panose="020B0606020202030204" pitchFamily="34" charset="0"/>
              </a:rPr>
              <a:t>          </a:t>
            </a:r>
            <a:r>
              <a:rPr lang="es-PE" sz="1600" dirty="0" err="1">
                <a:latin typeface="Arial Narrow" panose="020B0606020202030204" pitchFamily="34" charset="0"/>
              </a:rPr>
              <a:t>REDUCED</a:t>
            </a:r>
            <a:r>
              <a:rPr lang="es-PE" sz="1600" dirty="0">
                <a:latin typeface="Arial Narrow" panose="020B0606020202030204" pitchFamily="34" charset="0"/>
              </a:rPr>
              <a:t> </a:t>
            </a:r>
            <a:r>
              <a:rPr lang="es-PE" sz="1600" dirty="0" err="1">
                <a:latin typeface="Arial Narrow" panose="020B0606020202030204" pitchFamily="34" charset="0"/>
              </a:rPr>
              <a:t>COST</a:t>
            </a:r>
            <a:endParaRPr lang="es-PE" sz="1600" dirty="0">
              <a:latin typeface="Arial Narrow" panose="020B0606020202030204" pitchFamily="34" charset="0"/>
            </a:endParaRPr>
          </a:p>
          <a:p>
            <a:r>
              <a:rPr lang="es-PE" sz="1600" dirty="0">
                <a:latin typeface="Arial Narrow" panose="020B0606020202030204" pitchFamily="34" charset="0"/>
              </a:rPr>
              <a:t>         C        30.000000          0.000000</a:t>
            </a:r>
          </a:p>
          <a:p>
            <a:r>
              <a:rPr lang="es-PE" sz="1600" dirty="0">
                <a:latin typeface="Arial Narrow" panose="020B0606020202030204" pitchFamily="34" charset="0"/>
              </a:rPr>
              <a:t>         P        20.000000          0.000000</a:t>
            </a:r>
          </a:p>
        </p:txBody>
      </p:sp>
      <p:pic>
        <p:nvPicPr>
          <p:cNvPr id="8" name="image11.jpeg">
            <a:extLst>
              <a:ext uri="{FF2B5EF4-FFF2-40B4-BE49-F238E27FC236}">
                <a16:creationId xmlns:a16="http://schemas.microsoft.com/office/drawing/2014/main" id="{77D59B32-8774-41DD-B2D6-895D4679BAA6}"/>
              </a:ext>
            </a:extLst>
          </p:cNvPr>
          <p:cNvPicPr/>
          <p:nvPr/>
        </p:nvPicPr>
        <p:blipFill>
          <a:blip r:embed="rId2" cstate="print"/>
          <a:stretch>
            <a:fillRect/>
          </a:stretch>
        </p:blipFill>
        <p:spPr>
          <a:xfrm>
            <a:off x="9289415" y="1380173"/>
            <a:ext cx="2086610" cy="2543175"/>
          </a:xfrm>
          <a:prstGeom prst="rect">
            <a:avLst/>
          </a:prstGeom>
        </p:spPr>
      </p:pic>
    </p:spTree>
    <p:extLst>
      <p:ext uri="{BB962C8B-B14F-4D97-AF65-F5344CB8AC3E}">
        <p14:creationId xmlns:p14="http://schemas.microsoft.com/office/powerpoint/2010/main" val="412394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58792" y="1369799"/>
            <a:ext cx="4666891" cy="5016758"/>
          </a:xfrm>
          <a:prstGeom prst="rect">
            <a:avLst/>
          </a:prstGeom>
        </p:spPr>
        <p:txBody>
          <a:bodyPr wrap="square">
            <a:spAutoFit/>
          </a:bodyPr>
          <a:lstStyle/>
          <a:p>
            <a:pPr algn="just"/>
            <a:r>
              <a:rPr lang="es-ES" sz="2000" dirty="0"/>
              <a:t>Una empresa que sirve comidas preparadas tiene que diseñar un menú utilizando dos ingredientes. El ingrediente A contiene 35 g de grasas y 150 Kilocalorías por cada 100 g de ingrediente, mientras que el B contiene 15 g de grasas y 100 Kilocalorías por cada 100 g. El coste es de 1,5 Soles por cada 100 g. del ingrediente A y de 1 Soles por cada 100 g del ingrediente B. El menú a diseñar debería contener no más de 30 g de grasas y al menos 110 Kilocalorías por cada 100 g de alimento. Se pide determinar las proporciones de cada ingrediente a emplear en el menú de manera que su coste sea lo más reducido posible. </a:t>
            </a:r>
            <a:endParaRPr lang="es-PE" sz="2000" dirty="0"/>
          </a:p>
        </p:txBody>
      </p:sp>
      <p:sp>
        <p:nvSpPr>
          <p:cNvPr id="5" name="2 Rectángulo redondeado">
            <a:extLst>
              <a:ext uri="{FF2B5EF4-FFF2-40B4-BE49-F238E27FC236}">
                <a16:creationId xmlns:a16="http://schemas.microsoft.com/office/drawing/2014/main" id="{C9E6946C-CE55-4161-BD32-062BB752003D}"/>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33</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6" name="3 Rectángulo">
            <a:extLst>
              <a:ext uri="{FF2B5EF4-FFF2-40B4-BE49-F238E27FC236}">
                <a16:creationId xmlns:a16="http://schemas.microsoft.com/office/drawing/2014/main" id="{954B002C-FE09-4929-AF9A-E121475BC813}"/>
              </a:ext>
            </a:extLst>
          </p:cNvPr>
          <p:cNvSpPr/>
          <p:nvPr/>
        </p:nvSpPr>
        <p:spPr>
          <a:xfrm>
            <a:off x="5063763" y="2764182"/>
            <a:ext cx="4037105" cy="2862322"/>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a:t>
            </a:r>
            <a:r>
              <a:rPr lang="es-PE" sz="2000" dirty="0">
                <a:latin typeface="Arial Narrow" panose="020B0606020202030204" pitchFamily="34" charset="0"/>
                <a:ea typeface="Calibri" pitchFamily="34" charset="0"/>
                <a:cs typeface="Arial" pitchFamily="34" charset="0"/>
              </a:rPr>
              <a:t>A=Número 100 g del ingrediente A</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B= Número 100 g del ingrediente B</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MIN </a:t>
            </a:r>
            <a:r>
              <a:rPr lang="es-PE" sz="2000" dirty="0" err="1">
                <a:latin typeface="Arial Narrow" panose="020B0606020202030204" pitchFamily="34" charset="0"/>
                <a:cs typeface="Arial" pitchFamily="34" charset="0"/>
              </a:rPr>
              <a:t>1,5A</a:t>
            </a:r>
            <a:r>
              <a:rPr lang="es-PE" sz="2000" dirty="0">
                <a:latin typeface="Arial Narrow" panose="020B0606020202030204" pitchFamily="34" charset="0"/>
                <a:cs typeface="Arial" pitchFamily="34" charset="0"/>
              </a:rPr>
              <a:t>+ B</a:t>
            </a:r>
          </a:p>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35A+15B</a:t>
            </a:r>
            <a:r>
              <a:rPr lang="es-ES" sz="2000" dirty="0">
                <a:latin typeface="Arial Narrow" panose="020B0606020202030204" pitchFamily="34" charset="0"/>
                <a:cs typeface="Arial" pitchFamily="34" charset="0"/>
              </a:rPr>
              <a:t>&lt;=30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150A+100B</a:t>
            </a:r>
            <a:r>
              <a:rPr lang="es-ES" sz="2000" dirty="0">
                <a:latin typeface="Arial Narrow" panose="020B0606020202030204" pitchFamily="34" charset="0"/>
                <a:cs typeface="Arial" pitchFamily="34" charset="0"/>
              </a:rPr>
              <a:t>&gt;=110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A,B</a:t>
            </a:r>
            <a:r>
              <a:rPr lang="es-ES" sz="2000" dirty="0">
                <a:latin typeface="Arial Narrow" panose="020B0606020202030204" pitchFamily="34" charset="0"/>
                <a:cs typeface="Arial" pitchFamily="34" charset="0"/>
              </a:rPr>
              <a:t> &gt;=0</a:t>
            </a:r>
          </a:p>
        </p:txBody>
      </p:sp>
      <p:graphicFrame>
        <p:nvGraphicFramePr>
          <p:cNvPr id="7" name="Tabla 5">
            <a:extLst>
              <a:ext uri="{FF2B5EF4-FFF2-40B4-BE49-F238E27FC236}">
                <a16:creationId xmlns:a16="http://schemas.microsoft.com/office/drawing/2014/main" id="{682847D7-2F73-47D6-9C68-F971480DECB9}"/>
              </a:ext>
            </a:extLst>
          </p:cNvPr>
          <p:cNvGraphicFramePr>
            <a:graphicFrameLocks noGrp="1"/>
          </p:cNvGraphicFramePr>
          <p:nvPr/>
        </p:nvGraphicFramePr>
        <p:xfrm>
          <a:off x="5555410" y="1309707"/>
          <a:ext cx="6167887" cy="1463040"/>
        </p:xfrm>
        <a:graphic>
          <a:graphicData uri="http://schemas.openxmlformats.org/drawingml/2006/table">
            <a:tbl>
              <a:tblPr firstRow="1" bandRow="1">
                <a:tableStyleId>{5C22544A-7EE6-4342-B048-85BDC9FD1C3A}</a:tableStyleId>
              </a:tblPr>
              <a:tblGrid>
                <a:gridCol w="1819061">
                  <a:extLst>
                    <a:ext uri="{9D8B030D-6E8A-4147-A177-3AD203B41FA5}">
                      <a16:colId xmlns:a16="http://schemas.microsoft.com/office/drawing/2014/main" val="956567899"/>
                    </a:ext>
                  </a:extLst>
                </a:gridCol>
                <a:gridCol w="1110473">
                  <a:extLst>
                    <a:ext uri="{9D8B030D-6E8A-4147-A177-3AD203B41FA5}">
                      <a16:colId xmlns:a16="http://schemas.microsoft.com/office/drawing/2014/main" val="2250067548"/>
                    </a:ext>
                  </a:extLst>
                </a:gridCol>
                <a:gridCol w="1696381">
                  <a:extLst>
                    <a:ext uri="{9D8B030D-6E8A-4147-A177-3AD203B41FA5}">
                      <a16:colId xmlns:a16="http://schemas.microsoft.com/office/drawing/2014/main" val="2215159595"/>
                    </a:ext>
                  </a:extLst>
                </a:gridCol>
                <a:gridCol w="1541972">
                  <a:extLst>
                    <a:ext uri="{9D8B030D-6E8A-4147-A177-3AD203B41FA5}">
                      <a16:colId xmlns:a16="http://schemas.microsoft.com/office/drawing/2014/main" val="2833581453"/>
                    </a:ext>
                  </a:extLst>
                </a:gridCol>
              </a:tblGrid>
              <a:tr h="326024">
                <a:tc>
                  <a:txBody>
                    <a:bodyPr/>
                    <a:lstStyle/>
                    <a:p>
                      <a:pPr algn="ctr"/>
                      <a:endParaRPr lang="es-PE" dirty="0"/>
                    </a:p>
                  </a:txBody>
                  <a:tcPr/>
                </a:tc>
                <a:tc>
                  <a:txBody>
                    <a:bodyPr/>
                    <a:lstStyle/>
                    <a:p>
                      <a:pPr algn="ctr"/>
                      <a:r>
                        <a:rPr lang="es-ES" dirty="0"/>
                        <a:t>Grasa</a:t>
                      </a:r>
                      <a:endParaRPr lang="es-PE" dirty="0"/>
                    </a:p>
                  </a:txBody>
                  <a:tcPr/>
                </a:tc>
                <a:tc>
                  <a:txBody>
                    <a:bodyPr/>
                    <a:lstStyle/>
                    <a:p>
                      <a:pPr algn="ctr"/>
                      <a:r>
                        <a:rPr lang="es-ES" dirty="0" err="1"/>
                        <a:t>Kilocalorias</a:t>
                      </a:r>
                      <a:endParaRPr lang="es-PE" dirty="0"/>
                    </a:p>
                  </a:txBody>
                  <a:tcPr/>
                </a:tc>
                <a:tc>
                  <a:txBody>
                    <a:bodyPr/>
                    <a:lstStyle/>
                    <a:p>
                      <a:pPr algn="ctr"/>
                      <a:r>
                        <a:rPr lang="es-ES" dirty="0"/>
                        <a:t>Coste</a:t>
                      </a:r>
                      <a:endParaRPr lang="es-PE" dirty="0"/>
                    </a:p>
                  </a:txBody>
                  <a:tcPr/>
                </a:tc>
                <a:extLst>
                  <a:ext uri="{0D108BD9-81ED-4DB2-BD59-A6C34878D82A}">
                    <a16:rowId xmlns:a16="http://schemas.microsoft.com/office/drawing/2014/main" val="1746209843"/>
                  </a:ext>
                </a:extLst>
              </a:tr>
              <a:tr h="326024">
                <a:tc>
                  <a:txBody>
                    <a:bodyPr/>
                    <a:lstStyle/>
                    <a:p>
                      <a:pPr algn="ctr"/>
                      <a:r>
                        <a:rPr lang="es-ES" dirty="0"/>
                        <a:t>Ingrediente A</a:t>
                      </a:r>
                      <a:endParaRPr lang="es-PE" dirty="0"/>
                    </a:p>
                  </a:txBody>
                  <a:tcPr/>
                </a:tc>
                <a:tc>
                  <a:txBody>
                    <a:bodyPr/>
                    <a:lstStyle/>
                    <a:p>
                      <a:pPr algn="ctr"/>
                      <a:r>
                        <a:rPr lang="es-ES" dirty="0"/>
                        <a:t>35</a:t>
                      </a:r>
                      <a:endParaRPr lang="es-PE" dirty="0"/>
                    </a:p>
                  </a:txBody>
                  <a:tcPr/>
                </a:tc>
                <a:tc>
                  <a:txBody>
                    <a:bodyPr/>
                    <a:lstStyle/>
                    <a:p>
                      <a:pPr algn="ctr"/>
                      <a:r>
                        <a:rPr lang="es-ES" dirty="0"/>
                        <a:t>150</a:t>
                      </a:r>
                      <a:endParaRPr lang="es-PE" dirty="0"/>
                    </a:p>
                  </a:txBody>
                  <a:tcPr/>
                </a:tc>
                <a:tc>
                  <a:txBody>
                    <a:bodyPr/>
                    <a:lstStyle/>
                    <a:p>
                      <a:pPr algn="ctr"/>
                      <a:r>
                        <a:rPr lang="es-ES" dirty="0"/>
                        <a:t>1,5</a:t>
                      </a:r>
                      <a:endParaRPr lang="es-PE" dirty="0"/>
                    </a:p>
                  </a:txBody>
                  <a:tcPr/>
                </a:tc>
                <a:extLst>
                  <a:ext uri="{0D108BD9-81ED-4DB2-BD59-A6C34878D82A}">
                    <a16:rowId xmlns:a16="http://schemas.microsoft.com/office/drawing/2014/main" val="656539111"/>
                  </a:ext>
                </a:extLst>
              </a:tr>
              <a:tr h="326024">
                <a:tc>
                  <a:txBody>
                    <a:bodyPr/>
                    <a:lstStyle/>
                    <a:p>
                      <a:pPr algn="ctr"/>
                      <a:r>
                        <a:rPr lang="es-ES" dirty="0"/>
                        <a:t>Ingrediente B</a:t>
                      </a:r>
                      <a:endParaRPr lang="es-PE" dirty="0"/>
                    </a:p>
                  </a:txBody>
                  <a:tcPr/>
                </a:tc>
                <a:tc>
                  <a:txBody>
                    <a:bodyPr/>
                    <a:lstStyle/>
                    <a:p>
                      <a:pPr algn="ctr"/>
                      <a:r>
                        <a:rPr lang="es-ES" dirty="0"/>
                        <a:t>15</a:t>
                      </a:r>
                      <a:endParaRPr lang="es-PE" dirty="0"/>
                    </a:p>
                  </a:txBody>
                  <a:tcPr/>
                </a:tc>
                <a:tc>
                  <a:txBody>
                    <a:bodyPr/>
                    <a:lstStyle/>
                    <a:p>
                      <a:pPr algn="ctr"/>
                      <a:r>
                        <a:rPr lang="es-ES" dirty="0"/>
                        <a:t>100</a:t>
                      </a:r>
                      <a:endParaRPr lang="es-PE" dirty="0"/>
                    </a:p>
                  </a:txBody>
                  <a:tcPr/>
                </a:tc>
                <a:tc>
                  <a:txBody>
                    <a:bodyPr/>
                    <a:lstStyle/>
                    <a:p>
                      <a:pPr algn="ctr"/>
                      <a:r>
                        <a:rPr lang="es-ES" dirty="0"/>
                        <a:t>1</a:t>
                      </a:r>
                      <a:endParaRPr lang="es-PE" dirty="0"/>
                    </a:p>
                  </a:txBody>
                  <a:tcPr/>
                </a:tc>
                <a:extLst>
                  <a:ext uri="{0D108BD9-81ED-4DB2-BD59-A6C34878D82A}">
                    <a16:rowId xmlns:a16="http://schemas.microsoft.com/office/drawing/2014/main" val="869371251"/>
                  </a:ext>
                </a:extLst>
              </a:tr>
              <a:tr h="326024">
                <a:tc>
                  <a:txBody>
                    <a:bodyPr/>
                    <a:lstStyle/>
                    <a:p>
                      <a:pPr algn="ctr"/>
                      <a:endParaRPr lang="es-PE" dirty="0"/>
                    </a:p>
                  </a:txBody>
                  <a:tcPr/>
                </a:tc>
                <a:tc>
                  <a:txBody>
                    <a:bodyPr/>
                    <a:lstStyle/>
                    <a:p>
                      <a:pPr algn="ctr"/>
                      <a:r>
                        <a:rPr lang="es-ES" dirty="0"/>
                        <a:t>&lt;=30</a:t>
                      </a:r>
                      <a:endParaRPr lang="es-PE" dirty="0"/>
                    </a:p>
                  </a:txBody>
                  <a:tcPr/>
                </a:tc>
                <a:tc>
                  <a:txBody>
                    <a:bodyPr/>
                    <a:lstStyle/>
                    <a:p>
                      <a:pPr algn="ctr"/>
                      <a:r>
                        <a:rPr lang="es-ES" dirty="0"/>
                        <a:t>&gt;=110</a:t>
                      </a:r>
                      <a:endParaRPr lang="es-PE" dirty="0"/>
                    </a:p>
                  </a:txBody>
                  <a:tcPr/>
                </a:tc>
                <a:tc>
                  <a:txBody>
                    <a:bodyPr/>
                    <a:lstStyle/>
                    <a:p>
                      <a:pPr algn="ctr"/>
                      <a:endParaRPr lang="es-PE" dirty="0"/>
                    </a:p>
                  </a:txBody>
                  <a:tcPr/>
                </a:tc>
                <a:extLst>
                  <a:ext uri="{0D108BD9-81ED-4DB2-BD59-A6C34878D82A}">
                    <a16:rowId xmlns:a16="http://schemas.microsoft.com/office/drawing/2014/main" val="1397428690"/>
                  </a:ext>
                </a:extLst>
              </a:tr>
            </a:tbl>
          </a:graphicData>
        </a:graphic>
      </p:graphicFrame>
      <p:sp>
        <p:nvSpPr>
          <p:cNvPr id="2" name="Rectángulo 1">
            <a:extLst>
              <a:ext uri="{FF2B5EF4-FFF2-40B4-BE49-F238E27FC236}">
                <a16:creationId xmlns:a16="http://schemas.microsoft.com/office/drawing/2014/main" id="{E5FF871F-5EF7-439E-B968-CC0A908522F6}"/>
              </a:ext>
            </a:extLst>
          </p:cNvPr>
          <p:cNvSpPr/>
          <p:nvPr/>
        </p:nvSpPr>
        <p:spPr>
          <a:xfrm>
            <a:off x="5676348" y="5649192"/>
            <a:ext cx="2490565" cy="1200329"/>
          </a:xfrm>
          <a:prstGeom prst="rect">
            <a:avLst/>
          </a:prstGeom>
          <a:solidFill>
            <a:srgbClr val="FFFF00"/>
          </a:solidFill>
        </p:spPr>
        <p:txBody>
          <a:bodyPr wrap="square">
            <a:spAutoFit/>
          </a:bodyPr>
          <a:lstStyle/>
          <a:p>
            <a:pPr algn="just" fontAlgn="base">
              <a:spcBef>
                <a:spcPct val="0"/>
              </a:spcBef>
              <a:spcAft>
                <a:spcPct val="0"/>
              </a:spcAft>
            </a:pPr>
            <a:r>
              <a:rPr lang="es-PE" dirty="0">
                <a:latin typeface="Arial Narrow" panose="020B0606020202030204" pitchFamily="34" charset="0"/>
                <a:cs typeface="Arial" pitchFamily="34" charset="0"/>
              </a:rPr>
              <a:t>MIN </a:t>
            </a:r>
            <a:r>
              <a:rPr lang="es-PE" dirty="0" err="1">
                <a:latin typeface="Arial Narrow" panose="020B0606020202030204" pitchFamily="34" charset="0"/>
                <a:cs typeface="Arial" pitchFamily="34" charset="0"/>
              </a:rPr>
              <a:t>1.5A</a:t>
            </a:r>
            <a:r>
              <a:rPr lang="es-PE" dirty="0">
                <a:latin typeface="Arial Narrow" panose="020B0606020202030204" pitchFamily="34" charset="0"/>
                <a:cs typeface="Arial" pitchFamily="34" charset="0"/>
              </a:rPr>
              <a:t>+ B</a:t>
            </a:r>
          </a:p>
          <a:p>
            <a:pPr marL="449263" indent="-449263" algn="just" fontAlgn="base">
              <a:spcBef>
                <a:spcPct val="0"/>
              </a:spcBef>
              <a:spcAft>
                <a:spcPct val="0"/>
              </a:spcAft>
            </a:pPr>
            <a:r>
              <a:rPr lang="es-PE" b="1" dirty="0" err="1">
                <a:solidFill>
                  <a:srgbClr val="FF0000"/>
                </a:solidFill>
                <a:latin typeface="Arial Narrow" panose="020B0606020202030204" pitchFamily="34" charset="0"/>
                <a:ea typeface="Calibri" pitchFamily="34" charset="0"/>
                <a:cs typeface="Arial" pitchFamily="34" charset="0"/>
              </a:rPr>
              <a:t>ST</a:t>
            </a:r>
            <a:endParaRPr lang="es-PE"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35A+15B</a:t>
            </a:r>
            <a:r>
              <a:rPr lang="es-ES" dirty="0">
                <a:latin typeface="Arial Narrow" panose="020B0606020202030204" pitchFamily="34" charset="0"/>
                <a:cs typeface="Arial" pitchFamily="34" charset="0"/>
              </a:rPr>
              <a:t>&lt;=30</a:t>
            </a: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150A+100B</a:t>
            </a:r>
            <a:r>
              <a:rPr lang="es-ES" dirty="0">
                <a:latin typeface="Arial Narrow" panose="020B0606020202030204" pitchFamily="34" charset="0"/>
                <a:cs typeface="Arial" pitchFamily="34" charset="0"/>
              </a:rPr>
              <a:t>&gt;=110</a:t>
            </a:r>
          </a:p>
        </p:txBody>
      </p:sp>
      <p:sp>
        <p:nvSpPr>
          <p:cNvPr id="3" name="Rectángulo 2">
            <a:extLst>
              <a:ext uri="{FF2B5EF4-FFF2-40B4-BE49-F238E27FC236}">
                <a16:creationId xmlns:a16="http://schemas.microsoft.com/office/drawing/2014/main" id="{A2603909-9384-4D47-A02F-582B1A759F9A}"/>
              </a:ext>
            </a:extLst>
          </p:cNvPr>
          <p:cNvSpPr/>
          <p:nvPr/>
        </p:nvSpPr>
        <p:spPr>
          <a:xfrm>
            <a:off x="8209472" y="5526082"/>
            <a:ext cx="3913517" cy="1323439"/>
          </a:xfrm>
          <a:prstGeom prst="rect">
            <a:avLst/>
          </a:prstGeom>
        </p:spPr>
        <p:txBody>
          <a:bodyPr wrap="square">
            <a:spAutoFit/>
          </a:bodyPr>
          <a:lstStyle/>
          <a:p>
            <a:r>
              <a:rPr lang="es-PE" sz="1600" dirty="0">
                <a:latin typeface="Arial Narrow" panose="020B0606020202030204" pitchFamily="34" charset="0"/>
              </a:rPr>
              <a:t> </a:t>
            </a:r>
            <a:r>
              <a:rPr lang="en-US" sz="1600" dirty="0">
                <a:solidFill>
                  <a:srgbClr val="FF0000"/>
                </a:solidFill>
                <a:latin typeface="Arial Narrow" panose="020B0606020202030204" pitchFamily="34" charset="0"/>
              </a:rPr>
              <a:t>OBJECTIVE FUNCTION VALUE</a:t>
            </a:r>
          </a:p>
          <a:p>
            <a:r>
              <a:rPr lang="en-US" sz="1600" dirty="0">
                <a:solidFill>
                  <a:srgbClr val="FF0000"/>
                </a:solidFill>
                <a:latin typeface="Arial Narrow" panose="020B0606020202030204" pitchFamily="34" charset="0"/>
              </a:rPr>
              <a:t>        1)      1.100000</a:t>
            </a:r>
          </a:p>
          <a:p>
            <a:r>
              <a:rPr lang="en-US" sz="1600" dirty="0">
                <a:solidFill>
                  <a:srgbClr val="FF0000"/>
                </a:solidFill>
                <a:latin typeface="Arial Narrow" panose="020B0606020202030204" pitchFamily="34" charset="0"/>
              </a:rPr>
              <a:t>  VARIABLE        VALUE          REDUCED COST</a:t>
            </a:r>
          </a:p>
          <a:p>
            <a:r>
              <a:rPr lang="en-US" sz="1600" dirty="0">
                <a:solidFill>
                  <a:srgbClr val="FF0000"/>
                </a:solidFill>
                <a:latin typeface="Arial Narrow" panose="020B0606020202030204" pitchFamily="34" charset="0"/>
              </a:rPr>
              <a:t>         A         0.000000          0.000000</a:t>
            </a:r>
          </a:p>
          <a:p>
            <a:r>
              <a:rPr lang="en-US" sz="1600" dirty="0">
                <a:solidFill>
                  <a:srgbClr val="FF0000"/>
                </a:solidFill>
                <a:latin typeface="Arial Narrow" panose="020B0606020202030204" pitchFamily="34" charset="0"/>
              </a:rPr>
              <a:t>         B         1.100000          0.000000</a:t>
            </a:r>
            <a:endParaRPr lang="es-PE" sz="1600" dirty="0">
              <a:solidFill>
                <a:srgbClr val="FF0000"/>
              </a:solidFill>
              <a:latin typeface="Arial Narrow" panose="020B0606020202030204" pitchFamily="34" charset="0"/>
            </a:endParaRPr>
          </a:p>
        </p:txBody>
      </p:sp>
      <p:pic>
        <p:nvPicPr>
          <p:cNvPr id="8" name="image12.jpeg">
            <a:extLst>
              <a:ext uri="{FF2B5EF4-FFF2-40B4-BE49-F238E27FC236}">
                <a16:creationId xmlns:a16="http://schemas.microsoft.com/office/drawing/2014/main" id="{BA08D02C-AA4D-4B50-A607-7F28E0AFDDD9}"/>
              </a:ext>
            </a:extLst>
          </p:cNvPr>
          <p:cNvPicPr/>
          <p:nvPr/>
        </p:nvPicPr>
        <p:blipFill>
          <a:blip r:embed="rId2" cstate="print"/>
          <a:stretch>
            <a:fillRect/>
          </a:stretch>
        </p:blipFill>
        <p:spPr>
          <a:xfrm>
            <a:off x="9737089" y="2797810"/>
            <a:ext cx="1986207" cy="2612390"/>
          </a:xfrm>
          <a:prstGeom prst="rect">
            <a:avLst/>
          </a:prstGeom>
        </p:spPr>
      </p:pic>
    </p:spTree>
    <p:extLst>
      <p:ext uri="{BB962C8B-B14F-4D97-AF65-F5344CB8AC3E}">
        <p14:creationId xmlns:p14="http://schemas.microsoft.com/office/powerpoint/2010/main" val="184434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31912" y="1335295"/>
            <a:ext cx="4550639" cy="5016758"/>
          </a:xfrm>
          <a:prstGeom prst="rect">
            <a:avLst/>
          </a:prstGeom>
        </p:spPr>
        <p:txBody>
          <a:bodyPr wrap="square">
            <a:spAutoFit/>
          </a:bodyPr>
          <a:lstStyle/>
          <a:p>
            <a:pPr lvl="0" algn="just"/>
            <a:r>
              <a:rPr lang="es-ES" sz="2000" dirty="0"/>
              <a:t>Un pintor necesita pintura para pintar como mínimo una superficie de 480 </a:t>
            </a:r>
            <a:r>
              <a:rPr lang="es-ES" sz="2000" dirty="0" err="1"/>
              <a:t>m</a:t>
            </a:r>
            <a:r>
              <a:rPr lang="es-ES" sz="2000" baseline="30000" dirty="0" err="1"/>
              <a:t>2</a:t>
            </a:r>
            <a:r>
              <a:rPr lang="es-ES" sz="2000" dirty="0"/>
              <a:t>. Puede comprar la pintura a dos proveedores, A y B. El proveedor A le ofrece una pintura con un rendimiento de 6 </a:t>
            </a:r>
            <a:r>
              <a:rPr lang="es-ES" sz="2000" dirty="0" err="1"/>
              <a:t>m</a:t>
            </a:r>
            <a:r>
              <a:rPr lang="es-ES" sz="2000" baseline="30000" dirty="0" err="1"/>
              <a:t>2</a:t>
            </a:r>
            <a:r>
              <a:rPr lang="es-ES" sz="2000" dirty="0"/>
              <a:t> por kg y un precio de 1 Soles por kg. La pintura del proveedor B tiene un precio de 1,2 Soles por kg y un rendimiento de 8 </a:t>
            </a:r>
            <a:r>
              <a:rPr lang="es-ES" sz="2000" dirty="0" err="1"/>
              <a:t>m</a:t>
            </a:r>
            <a:r>
              <a:rPr lang="es-ES" sz="2000" baseline="30000" dirty="0" err="1"/>
              <a:t>2</a:t>
            </a:r>
            <a:r>
              <a:rPr lang="es-ES" sz="2000" dirty="0"/>
              <a:t> por kg. Ningún proveedor le puede proporcionar mas de 75 kg y el presupuesto máximo del pintor es de 120 Soles.</a:t>
            </a:r>
            <a:endParaRPr lang="es-PE" sz="2000" dirty="0"/>
          </a:p>
          <a:p>
            <a:pPr algn="just"/>
            <a:r>
              <a:rPr lang="es-ES" sz="2000" dirty="0"/>
              <a:t>Calcúlese la cantidad de pintura que el pintor tiene que comprar a cada proveedor para obtener el mínimo coste. Calcúlese dicho coste mínimo.</a:t>
            </a:r>
            <a:endParaRPr lang="es-PE" sz="2000" dirty="0"/>
          </a:p>
        </p:txBody>
      </p:sp>
      <p:sp>
        <p:nvSpPr>
          <p:cNvPr id="5" name="2 Rectángulo redondeado">
            <a:extLst>
              <a:ext uri="{FF2B5EF4-FFF2-40B4-BE49-F238E27FC236}">
                <a16:creationId xmlns:a16="http://schemas.microsoft.com/office/drawing/2014/main" id="{B59A419C-EA8E-4267-A43B-328D21981F65}"/>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34</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6" name="3 Rectángulo">
            <a:extLst>
              <a:ext uri="{FF2B5EF4-FFF2-40B4-BE49-F238E27FC236}">
                <a16:creationId xmlns:a16="http://schemas.microsoft.com/office/drawing/2014/main" id="{3108D037-8803-4AEC-A36C-9FF7D7DF9EF1}"/>
              </a:ext>
            </a:extLst>
          </p:cNvPr>
          <p:cNvSpPr/>
          <p:nvPr/>
        </p:nvSpPr>
        <p:spPr>
          <a:xfrm>
            <a:off x="5063763" y="2962302"/>
            <a:ext cx="4037105" cy="3477875"/>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a:t>
            </a:r>
            <a:r>
              <a:rPr lang="es-PE" sz="2000" dirty="0">
                <a:latin typeface="Arial Narrow" panose="020B0606020202030204" pitchFamily="34" charset="0"/>
                <a:ea typeface="Calibri" pitchFamily="34" charset="0"/>
                <a:cs typeface="Arial" pitchFamily="34" charset="0"/>
              </a:rPr>
              <a:t>A=Número de Kg del proveedor A</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B=Número de Kg del proveedor B</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MIN </a:t>
            </a:r>
            <a:r>
              <a:rPr lang="es-PE" sz="2000" dirty="0" err="1">
                <a:latin typeface="Arial Narrow" panose="020B0606020202030204" pitchFamily="34" charset="0"/>
                <a:cs typeface="Arial" pitchFamily="34" charset="0"/>
              </a:rPr>
              <a:t>1A</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1,2B</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6A+8B</a:t>
            </a:r>
            <a:r>
              <a:rPr lang="es-ES" sz="2000" dirty="0">
                <a:latin typeface="Arial Narrow" panose="020B0606020202030204" pitchFamily="34" charset="0"/>
                <a:cs typeface="Arial" pitchFamily="34" charset="0"/>
              </a:rPr>
              <a:t>&gt;=480</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A&lt;=75</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B&lt;=75</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A+1,2B</a:t>
            </a:r>
            <a:r>
              <a:rPr lang="es-ES" sz="2000" dirty="0">
                <a:latin typeface="Arial Narrow" panose="020B0606020202030204" pitchFamily="34" charset="0"/>
                <a:cs typeface="Arial" pitchFamily="34" charset="0"/>
              </a:rPr>
              <a:t>&lt;=120</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A,B</a:t>
            </a:r>
            <a:r>
              <a:rPr lang="es-ES" sz="2000" dirty="0">
                <a:latin typeface="Arial Narrow" panose="020B0606020202030204" pitchFamily="34" charset="0"/>
                <a:cs typeface="Arial" pitchFamily="34" charset="0"/>
              </a:rPr>
              <a:t> &gt;=0</a:t>
            </a:r>
          </a:p>
        </p:txBody>
      </p:sp>
      <p:graphicFrame>
        <p:nvGraphicFramePr>
          <p:cNvPr id="7" name="Tabla 5">
            <a:extLst>
              <a:ext uri="{FF2B5EF4-FFF2-40B4-BE49-F238E27FC236}">
                <a16:creationId xmlns:a16="http://schemas.microsoft.com/office/drawing/2014/main" id="{31BE030A-8A61-4465-875B-F03B5ACF52B4}"/>
              </a:ext>
            </a:extLst>
          </p:cNvPr>
          <p:cNvGraphicFramePr>
            <a:graphicFrameLocks noGrp="1"/>
          </p:cNvGraphicFramePr>
          <p:nvPr/>
        </p:nvGraphicFramePr>
        <p:xfrm>
          <a:off x="5174148" y="1261286"/>
          <a:ext cx="3743840" cy="1651266"/>
        </p:xfrm>
        <a:graphic>
          <a:graphicData uri="http://schemas.openxmlformats.org/drawingml/2006/table">
            <a:tbl>
              <a:tblPr firstRow="1" bandRow="1">
                <a:tableStyleId>{5C22544A-7EE6-4342-B048-85BDC9FD1C3A}</a:tableStyleId>
              </a:tblPr>
              <a:tblGrid>
                <a:gridCol w="1402874">
                  <a:extLst>
                    <a:ext uri="{9D8B030D-6E8A-4147-A177-3AD203B41FA5}">
                      <a16:colId xmlns:a16="http://schemas.microsoft.com/office/drawing/2014/main" val="956567899"/>
                    </a:ext>
                  </a:extLst>
                </a:gridCol>
                <a:gridCol w="1432741">
                  <a:extLst>
                    <a:ext uri="{9D8B030D-6E8A-4147-A177-3AD203B41FA5}">
                      <a16:colId xmlns:a16="http://schemas.microsoft.com/office/drawing/2014/main" val="2250067548"/>
                    </a:ext>
                  </a:extLst>
                </a:gridCol>
                <a:gridCol w="908225">
                  <a:extLst>
                    <a:ext uri="{9D8B030D-6E8A-4147-A177-3AD203B41FA5}">
                      <a16:colId xmlns:a16="http://schemas.microsoft.com/office/drawing/2014/main" val="2833581453"/>
                    </a:ext>
                  </a:extLst>
                </a:gridCol>
              </a:tblGrid>
              <a:tr h="550422">
                <a:tc>
                  <a:txBody>
                    <a:bodyPr/>
                    <a:lstStyle/>
                    <a:p>
                      <a:pPr algn="ctr"/>
                      <a:endParaRPr lang="es-PE" dirty="0"/>
                    </a:p>
                  </a:txBody>
                  <a:tcPr/>
                </a:tc>
                <a:tc>
                  <a:txBody>
                    <a:bodyPr/>
                    <a:lstStyle/>
                    <a:p>
                      <a:pPr algn="ctr"/>
                      <a:r>
                        <a:rPr lang="es-ES" dirty="0"/>
                        <a:t>Rendimiento</a:t>
                      </a:r>
                      <a:endParaRPr lang="es-PE" dirty="0"/>
                    </a:p>
                  </a:txBody>
                  <a:tcPr/>
                </a:tc>
                <a:tc>
                  <a:txBody>
                    <a:bodyPr/>
                    <a:lstStyle/>
                    <a:p>
                      <a:pPr algn="ctr"/>
                      <a:r>
                        <a:rPr lang="es-ES" dirty="0"/>
                        <a:t>Coste</a:t>
                      </a:r>
                      <a:endParaRPr lang="es-PE" dirty="0"/>
                    </a:p>
                  </a:txBody>
                  <a:tcPr/>
                </a:tc>
                <a:extLst>
                  <a:ext uri="{0D108BD9-81ED-4DB2-BD59-A6C34878D82A}">
                    <a16:rowId xmlns:a16="http://schemas.microsoft.com/office/drawing/2014/main" val="1746209843"/>
                  </a:ext>
                </a:extLst>
              </a:tr>
              <a:tr h="550422">
                <a:tc>
                  <a:txBody>
                    <a:bodyPr/>
                    <a:lstStyle/>
                    <a:p>
                      <a:pPr algn="ctr"/>
                      <a:r>
                        <a:rPr lang="es-ES" dirty="0"/>
                        <a:t>Proveedor A</a:t>
                      </a:r>
                      <a:endParaRPr lang="es-PE" dirty="0"/>
                    </a:p>
                  </a:txBody>
                  <a:tcPr/>
                </a:tc>
                <a:tc>
                  <a:txBody>
                    <a:bodyPr/>
                    <a:lstStyle/>
                    <a:p>
                      <a:pPr algn="ctr"/>
                      <a:r>
                        <a:rPr lang="es-ES" dirty="0"/>
                        <a:t>6</a:t>
                      </a:r>
                      <a:endParaRPr lang="es-PE" dirty="0"/>
                    </a:p>
                  </a:txBody>
                  <a:tcPr/>
                </a:tc>
                <a:tc>
                  <a:txBody>
                    <a:bodyPr/>
                    <a:lstStyle/>
                    <a:p>
                      <a:pPr algn="ctr"/>
                      <a:r>
                        <a:rPr lang="es-ES" dirty="0"/>
                        <a:t>1</a:t>
                      </a:r>
                      <a:endParaRPr lang="es-PE" dirty="0"/>
                    </a:p>
                  </a:txBody>
                  <a:tcPr/>
                </a:tc>
                <a:extLst>
                  <a:ext uri="{0D108BD9-81ED-4DB2-BD59-A6C34878D82A}">
                    <a16:rowId xmlns:a16="http://schemas.microsoft.com/office/drawing/2014/main" val="656539111"/>
                  </a:ext>
                </a:extLst>
              </a:tr>
              <a:tr h="550422">
                <a:tc>
                  <a:txBody>
                    <a:bodyPr/>
                    <a:lstStyle/>
                    <a:p>
                      <a:pPr algn="ctr"/>
                      <a:r>
                        <a:rPr lang="es-ES" dirty="0"/>
                        <a:t>Proveedor B</a:t>
                      </a:r>
                      <a:endParaRPr lang="es-PE" dirty="0"/>
                    </a:p>
                  </a:txBody>
                  <a:tcPr/>
                </a:tc>
                <a:tc>
                  <a:txBody>
                    <a:bodyPr/>
                    <a:lstStyle/>
                    <a:p>
                      <a:pPr algn="ctr"/>
                      <a:r>
                        <a:rPr lang="es-ES" dirty="0"/>
                        <a:t>8</a:t>
                      </a:r>
                      <a:endParaRPr lang="es-PE" dirty="0"/>
                    </a:p>
                  </a:txBody>
                  <a:tcPr/>
                </a:tc>
                <a:tc>
                  <a:txBody>
                    <a:bodyPr/>
                    <a:lstStyle/>
                    <a:p>
                      <a:pPr algn="ctr"/>
                      <a:r>
                        <a:rPr lang="es-ES" dirty="0"/>
                        <a:t>1,2</a:t>
                      </a:r>
                      <a:endParaRPr lang="es-PE" dirty="0"/>
                    </a:p>
                  </a:txBody>
                  <a:tcPr/>
                </a:tc>
                <a:extLst>
                  <a:ext uri="{0D108BD9-81ED-4DB2-BD59-A6C34878D82A}">
                    <a16:rowId xmlns:a16="http://schemas.microsoft.com/office/drawing/2014/main" val="869371251"/>
                  </a:ext>
                </a:extLst>
              </a:tr>
            </a:tbl>
          </a:graphicData>
        </a:graphic>
      </p:graphicFrame>
      <p:sp>
        <p:nvSpPr>
          <p:cNvPr id="3" name="Rectángulo 2">
            <a:extLst>
              <a:ext uri="{FF2B5EF4-FFF2-40B4-BE49-F238E27FC236}">
                <a16:creationId xmlns:a16="http://schemas.microsoft.com/office/drawing/2014/main" id="{49B1CBB0-7D59-4407-B686-FD1155AF905B}"/>
              </a:ext>
            </a:extLst>
          </p:cNvPr>
          <p:cNvSpPr/>
          <p:nvPr/>
        </p:nvSpPr>
        <p:spPr>
          <a:xfrm>
            <a:off x="9490494" y="3364953"/>
            <a:ext cx="2222740" cy="1754326"/>
          </a:xfrm>
          <a:prstGeom prst="rect">
            <a:avLst/>
          </a:prstGeom>
          <a:solidFill>
            <a:srgbClr val="FFFF00"/>
          </a:solidFill>
        </p:spPr>
        <p:txBody>
          <a:bodyPr wrap="square">
            <a:spAutoFit/>
          </a:bodyPr>
          <a:lstStyle/>
          <a:p>
            <a:pPr algn="just" fontAlgn="base">
              <a:spcBef>
                <a:spcPct val="0"/>
              </a:spcBef>
              <a:spcAft>
                <a:spcPct val="0"/>
              </a:spcAft>
            </a:pPr>
            <a:r>
              <a:rPr lang="es-PE" dirty="0">
                <a:latin typeface="Arial Narrow" panose="020B0606020202030204" pitchFamily="34" charset="0"/>
                <a:cs typeface="Arial" pitchFamily="34" charset="0"/>
              </a:rPr>
              <a:t>MIN </a:t>
            </a:r>
            <a:r>
              <a:rPr lang="es-PE" dirty="0" err="1">
                <a:latin typeface="Arial Narrow" panose="020B0606020202030204" pitchFamily="34" charset="0"/>
                <a:cs typeface="Arial" pitchFamily="34" charset="0"/>
              </a:rPr>
              <a:t>1A</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1,2B</a:t>
            </a:r>
            <a:endParaRPr lang="es-PE" dirty="0">
              <a:latin typeface="Arial Narrow" panose="020B0606020202030204" pitchFamily="34" charset="0"/>
              <a:cs typeface="Arial" pitchFamily="34" charset="0"/>
            </a:endParaRPr>
          </a:p>
          <a:p>
            <a:pPr marL="449263" indent="-449263" algn="just" fontAlgn="base">
              <a:spcBef>
                <a:spcPct val="0"/>
              </a:spcBef>
              <a:spcAft>
                <a:spcPct val="0"/>
              </a:spcAft>
            </a:pPr>
            <a:r>
              <a:rPr lang="es-PE" b="1" dirty="0" err="1">
                <a:solidFill>
                  <a:srgbClr val="FF0000"/>
                </a:solidFill>
                <a:latin typeface="Arial Narrow" panose="020B0606020202030204" pitchFamily="34" charset="0"/>
                <a:ea typeface="Calibri" pitchFamily="34" charset="0"/>
                <a:cs typeface="Arial" pitchFamily="34" charset="0"/>
              </a:rPr>
              <a:t>ST</a:t>
            </a:r>
            <a:endParaRPr lang="es-PE"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6A+8B</a:t>
            </a:r>
            <a:r>
              <a:rPr lang="es-ES" dirty="0">
                <a:latin typeface="Arial Narrow" panose="020B0606020202030204" pitchFamily="34" charset="0"/>
                <a:cs typeface="Arial" pitchFamily="34" charset="0"/>
              </a:rPr>
              <a:t>&gt;=480</a:t>
            </a:r>
          </a:p>
          <a:p>
            <a:pPr indent="449263" algn="just" eaLnBrk="0" fontAlgn="base" hangingPunct="0">
              <a:spcBef>
                <a:spcPct val="0"/>
              </a:spcBef>
              <a:spcAft>
                <a:spcPct val="0"/>
              </a:spcAft>
            </a:pPr>
            <a:r>
              <a:rPr lang="es-ES" dirty="0">
                <a:latin typeface="Arial Narrow" panose="020B0606020202030204" pitchFamily="34" charset="0"/>
                <a:cs typeface="Arial" pitchFamily="34" charset="0"/>
              </a:rPr>
              <a:t>A&lt;=75</a:t>
            </a:r>
          </a:p>
          <a:p>
            <a:pPr indent="449263" algn="just" eaLnBrk="0" fontAlgn="base" hangingPunct="0">
              <a:spcBef>
                <a:spcPct val="0"/>
              </a:spcBef>
              <a:spcAft>
                <a:spcPct val="0"/>
              </a:spcAft>
            </a:pPr>
            <a:r>
              <a:rPr lang="es-ES" dirty="0">
                <a:latin typeface="Arial Narrow" panose="020B0606020202030204" pitchFamily="34" charset="0"/>
                <a:cs typeface="Arial" pitchFamily="34" charset="0"/>
              </a:rPr>
              <a:t>B&lt;=75</a:t>
            </a: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A+1,2B</a:t>
            </a:r>
            <a:r>
              <a:rPr lang="es-ES" dirty="0">
                <a:latin typeface="Arial Narrow" panose="020B0606020202030204" pitchFamily="34" charset="0"/>
                <a:cs typeface="Arial" pitchFamily="34" charset="0"/>
              </a:rPr>
              <a:t>&lt;=120</a:t>
            </a:r>
          </a:p>
        </p:txBody>
      </p:sp>
      <p:sp>
        <p:nvSpPr>
          <p:cNvPr id="8" name="Rectángulo 7">
            <a:extLst>
              <a:ext uri="{FF2B5EF4-FFF2-40B4-BE49-F238E27FC236}">
                <a16:creationId xmlns:a16="http://schemas.microsoft.com/office/drawing/2014/main" id="{89D09611-1244-41AE-B9A8-20F376E9318C}"/>
              </a:ext>
            </a:extLst>
          </p:cNvPr>
          <p:cNvSpPr/>
          <p:nvPr/>
        </p:nvSpPr>
        <p:spPr>
          <a:xfrm>
            <a:off x="7858664" y="5119279"/>
            <a:ext cx="4244196" cy="1477328"/>
          </a:xfrm>
          <a:prstGeom prst="rect">
            <a:avLst/>
          </a:prstGeom>
        </p:spPr>
        <p:txBody>
          <a:bodyPr wrap="square">
            <a:spAutoFit/>
          </a:bodyPr>
          <a:lstStyle/>
          <a:p>
            <a:r>
              <a:rPr lang="es-PE" dirty="0"/>
              <a:t> </a:t>
            </a:r>
            <a:r>
              <a:rPr lang="en-US" dirty="0"/>
              <a:t> OBJECTIVE FUNCTION VALUE</a:t>
            </a:r>
          </a:p>
          <a:p>
            <a:r>
              <a:rPr lang="en-US" dirty="0"/>
              <a:t>        1)      72.00000</a:t>
            </a:r>
          </a:p>
          <a:p>
            <a:r>
              <a:rPr lang="en-US" dirty="0"/>
              <a:t>  VARIABLE        VALUE          REDUCED COST</a:t>
            </a:r>
          </a:p>
          <a:p>
            <a:r>
              <a:rPr lang="en-US" dirty="0"/>
              <a:t>         A         0.000000          0.100000</a:t>
            </a:r>
          </a:p>
          <a:p>
            <a:r>
              <a:rPr lang="en-US" dirty="0"/>
              <a:t>         B        60.000000          0.000000</a:t>
            </a:r>
            <a:endParaRPr lang="es-PE" dirty="0"/>
          </a:p>
        </p:txBody>
      </p:sp>
      <p:pic>
        <p:nvPicPr>
          <p:cNvPr id="9" name="image13.jpeg">
            <a:extLst>
              <a:ext uri="{FF2B5EF4-FFF2-40B4-BE49-F238E27FC236}">
                <a16:creationId xmlns:a16="http://schemas.microsoft.com/office/drawing/2014/main" id="{2B841814-AE84-4307-88FB-1743AE82813B}"/>
              </a:ext>
            </a:extLst>
          </p:cNvPr>
          <p:cNvPicPr/>
          <p:nvPr/>
        </p:nvPicPr>
        <p:blipFill>
          <a:blip r:embed="rId2" cstate="print"/>
          <a:stretch>
            <a:fillRect/>
          </a:stretch>
        </p:blipFill>
        <p:spPr>
          <a:xfrm>
            <a:off x="9104312" y="1270317"/>
            <a:ext cx="2974975" cy="1970405"/>
          </a:xfrm>
          <a:prstGeom prst="rect">
            <a:avLst/>
          </a:prstGeom>
        </p:spPr>
      </p:pic>
    </p:spTree>
    <p:extLst>
      <p:ext uri="{BB962C8B-B14F-4D97-AF65-F5344CB8AC3E}">
        <p14:creationId xmlns:p14="http://schemas.microsoft.com/office/powerpoint/2010/main" val="270522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93298" y="1369800"/>
            <a:ext cx="4796287" cy="5016758"/>
          </a:xfrm>
          <a:prstGeom prst="rect">
            <a:avLst/>
          </a:prstGeom>
        </p:spPr>
        <p:txBody>
          <a:bodyPr wrap="square">
            <a:spAutoFit/>
          </a:bodyPr>
          <a:lstStyle/>
          <a:p>
            <a:pPr algn="just"/>
            <a:r>
              <a:rPr lang="es-ES" sz="2000" dirty="0"/>
              <a:t>Una fábrica de piensos para animales produce diariamente como mucho seis toneladas de pienso del tipo A y como máximo cuatro toneladas de pienso del tipo B. Además, la producción diaria de pienso del tipo B no puede superar el doble de la del tipo A y, por último, el doble de la fabricación de pienso del tipo A sumada con la del tipo B debe ser como poco cuatro toneladas diarias. Teniendo en cuenta que el coste de fabricación de una tonelada de pienso del tipo A es de 1000 Soles y el de una tonelada del tipo B de 2000 Soles. ¿Cuál es la producción diaria para que la fábrica cumpla con sus obligaciones con un coste mínimo? </a:t>
            </a:r>
            <a:endParaRPr lang="es-PE" sz="2000" dirty="0"/>
          </a:p>
        </p:txBody>
      </p:sp>
      <p:sp>
        <p:nvSpPr>
          <p:cNvPr id="5" name="2 Rectángulo redondeado">
            <a:extLst>
              <a:ext uri="{FF2B5EF4-FFF2-40B4-BE49-F238E27FC236}">
                <a16:creationId xmlns:a16="http://schemas.microsoft.com/office/drawing/2014/main" id="{A8523E94-8166-4362-9EFC-7FB957FF6A62}"/>
              </a:ext>
            </a:extLst>
          </p:cNvPr>
          <p:cNvSpPr/>
          <p:nvPr/>
        </p:nvSpPr>
        <p:spPr>
          <a:xfrm>
            <a:off x="6096000" y="162069"/>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bg1"/>
                </a:solidFill>
                <a:effectLst>
                  <a:outerShdw blurRad="63500" dist="38100" dir="5400000" algn="t" rotWithShape="0">
                    <a:prstClr val="black">
                      <a:alpha val="25000"/>
                    </a:prstClr>
                  </a:outerShdw>
                </a:effectLst>
                <a:latin typeface="Bauhaus 93" pitchFamily="82" charset="0"/>
              </a:rPr>
              <a:t>Problema 35</a:t>
            </a:r>
            <a:endParaRPr lang="es-PE" sz="3200" dirty="0">
              <a:solidFill>
                <a:schemeClr val="bg1"/>
              </a:solidFill>
              <a:effectLst>
                <a:outerShdw blurRad="63500" dist="38100" dir="5400000" algn="t" rotWithShape="0">
                  <a:prstClr val="black">
                    <a:alpha val="25000"/>
                  </a:prstClr>
                </a:outerShdw>
              </a:effectLst>
              <a:latin typeface="Bauhaus 93" pitchFamily="82" charset="0"/>
            </a:endParaRPr>
          </a:p>
        </p:txBody>
      </p:sp>
      <p:sp>
        <p:nvSpPr>
          <p:cNvPr id="6" name="3 Rectángulo">
            <a:extLst>
              <a:ext uri="{FF2B5EF4-FFF2-40B4-BE49-F238E27FC236}">
                <a16:creationId xmlns:a16="http://schemas.microsoft.com/office/drawing/2014/main" id="{DDE42634-7C71-44E9-AA18-05DDA84511A8}"/>
              </a:ext>
            </a:extLst>
          </p:cNvPr>
          <p:cNvSpPr/>
          <p:nvPr/>
        </p:nvSpPr>
        <p:spPr>
          <a:xfrm>
            <a:off x="5063763" y="2962302"/>
            <a:ext cx="4037105" cy="3477875"/>
          </a:xfrm>
          <a:prstGeom prst="rect">
            <a:avLst/>
          </a:prstGeom>
        </p:spPr>
        <p:txBody>
          <a:bodyPr wrap="square">
            <a:spAutoFit/>
          </a:bodyPr>
          <a:lstStyle/>
          <a:p>
            <a:pPr marL="400050" indent="-400050" algn="just" fontAlgn="base">
              <a:spcBef>
                <a:spcPct val="0"/>
              </a:spcBef>
              <a:spcAft>
                <a:spcPct val="0"/>
              </a:spcAft>
              <a:buAutoNum type="romanUcPeriod"/>
            </a:pPr>
            <a:r>
              <a:rPr lang="es-PE" sz="2000" dirty="0">
                <a:solidFill>
                  <a:srgbClr val="FF0000"/>
                </a:solidFill>
                <a:latin typeface="Arial Narrow" panose="020B0606020202030204" pitchFamily="34" charset="0"/>
                <a:ea typeface="Calibri" pitchFamily="34" charset="0"/>
                <a:cs typeface="Arial" pitchFamily="34" charset="0"/>
              </a:rPr>
              <a:t>Identificación de variables</a:t>
            </a:r>
          </a:p>
          <a:p>
            <a:pPr algn="just" fontAlgn="base">
              <a:spcBef>
                <a:spcPct val="0"/>
              </a:spcBef>
              <a:spcAft>
                <a:spcPct val="0"/>
              </a:spcAft>
            </a:pPr>
            <a:r>
              <a:rPr lang="es-PE" sz="2000" dirty="0">
                <a:solidFill>
                  <a:srgbClr val="FF0000"/>
                </a:solidFill>
                <a:latin typeface="Arial Narrow" panose="020B0606020202030204" pitchFamily="34" charset="0"/>
                <a:ea typeface="Calibri" pitchFamily="34" charset="0"/>
                <a:cs typeface="Arial" pitchFamily="34" charset="0"/>
              </a:rPr>
              <a:t>        </a:t>
            </a:r>
            <a:r>
              <a:rPr lang="es-PE" sz="2000" dirty="0">
                <a:latin typeface="Arial Narrow" panose="020B0606020202030204" pitchFamily="34" charset="0"/>
                <a:ea typeface="Calibri" pitchFamily="34" charset="0"/>
                <a:cs typeface="Arial" pitchFamily="34" charset="0"/>
              </a:rPr>
              <a:t>A=Número de </a:t>
            </a:r>
            <a:r>
              <a:rPr lang="es-PE" sz="2000" dirty="0" err="1">
                <a:latin typeface="Arial Narrow" panose="020B0606020202030204" pitchFamily="34" charset="0"/>
                <a:ea typeface="Calibri" pitchFamily="34" charset="0"/>
                <a:cs typeface="Arial" pitchFamily="34" charset="0"/>
              </a:rPr>
              <a:t>Tn</a:t>
            </a:r>
            <a:r>
              <a:rPr lang="es-PE" sz="2000" dirty="0">
                <a:latin typeface="Arial Narrow" panose="020B0606020202030204" pitchFamily="34" charset="0"/>
                <a:ea typeface="Calibri" pitchFamily="34" charset="0"/>
                <a:cs typeface="Arial" pitchFamily="34" charset="0"/>
              </a:rPr>
              <a:t> del proveedor A</a:t>
            </a:r>
          </a:p>
          <a:p>
            <a:pPr algn="just" fontAlgn="base">
              <a:spcBef>
                <a:spcPct val="0"/>
              </a:spcBef>
              <a:spcAft>
                <a:spcPct val="0"/>
              </a:spcAft>
            </a:pPr>
            <a:r>
              <a:rPr lang="es-PE" sz="2000" dirty="0">
                <a:latin typeface="Arial Narrow" panose="020B0606020202030204" pitchFamily="34" charset="0"/>
                <a:ea typeface="Calibri" pitchFamily="34" charset="0"/>
                <a:cs typeface="Arial" pitchFamily="34" charset="0"/>
              </a:rPr>
              <a:t>        B=Número de </a:t>
            </a:r>
            <a:r>
              <a:rPr lang="es-PE" sz="2000" dirty="0" err="1">
                <a:latin typeface="Arial Narrow" panose="020B0606020202030204" pitchFamily="34" charset="0"/>
                <a:ea typeface="Calibri" pitchFamily="34" charset="0"/>
                <a:cs typeface="Arial" pitchFamily="34" charset="0"/>
              </a:rPr>
              <a:t>Tn</a:t>
            </a:r>
            <a:r>
              <a:rPr lang="es-PE" sz="2000" dirty="0">
                <a:latin typeface="Arial Narrow" panose="020B0606020202030204" pitchFamily="34" charset="0"/>
                <a:ea typeface="Calibri" pitchFamily="34" charset="0"/>
                <a:cs typeface="Arial" pitchFamily="34" charset="0"/>
              </a:rPr>
              <a:t> del proveedor B</a:t>
            </a:r>
          </a:p>
          <a:p>
            <a:pPr marL="449263" indent="-449263" algn="just" fontAlgn="base">
              <a:spcBef>
                <a:spcPct val="0"/>
              </a:spcBef>
              <a:spcAft>
                <a:spcPct val="0"/>
              </a:spcAft>
              <a:buAutoNum type="romanUcPeriod" startAt="2"/>
            </a:pPr>
            <a:r>
              <a:rPr lang="es-PE" sz="2000" dirty="0">
                <a:solidFill>
                  <a:srgbClr val="FF0000"/>
                </a:solidFill>
                <a:latin typeface="Arial Narrow" panose="020B0606020202030204" pitchFamily="34" charset="0"/>
                <a:ea typeface="Calibri" pitchFamily="34" charset="0"/>
                <a:cs typeface="Arial" pitchFamily="34" charset="0"/>
              </a:rPr>
              <a:t>Identificación de la Función Objetivo</a:t>
            </a:r>
          </a:p>
          <a:p>
            <a:pPr algn="just" fontAlgn="base">
              <a:spcBef>
                <a:spcPct val="0"/>
              </a:spcBef>
              <a:spcAft>
                <a:spcPct val="0"/>
              </a:spcAft>
            </a:pPr>
            <a:r>
              <a:rPr lang="es-PE" sz="2000" dirty="0">
                <a:latin typeface="Arial Narrow" panose="020B0606020202030204" pitchFamily="34" charset="0"/>
                <a:cs typeface="Arial" pitchFamily="34" charset="0"/>
              </a:rPr>
              <a:t>        MIN </a:t>
            </a:r>
            <a:r>
              <a:rPr lang="es-PE" sz="2000" dirty="0" err="1">
                <a:latin typeface="Arial Narrow" panose="020B0606020202030204" pitchFamily="34" charset="0"/>
                <a:cs typeface="Arial" pitchFamily="34" charset="0"/>
              </a:rPr>
              <a:t>1000A</a:t>
            </a:r>
            <a:r>
              <a:rPr lang="es-PE" sz="2000" dirty="0">
                <a:latin typeface="Arial Narrow" panose="020B0606020202030204" pitchFamily="34" charset="0"/>
                <a:cs typeface="Arial" pitchFamily="34" charset="0"/>
              </a:rPr>
              <a:t>+ </a:t>
            </a:r>
            <a:r>
              <a:rPr lang="es-PE" sz="2000" dirty="0" err="1">
                <a:latin typeface="Arial Narrow" panose="020B0606020202030204" pitchFamily="34" charset="0"/>
                <a:cs typeface="Arial" pitchFamily="34" charset="0"/>
              </a:rPr>
              <a:t>2000B</a:t>
            </a:r>
            <a:endParaRPr lang="es-PE" sz="2000" dirty="0">
              <a:latin typeface="Arial Narrow" panose="020B0606020202030204" pitchFamily="34" charset="0"/>
              <a:cs typeface="Arial" pitchFamily="34" charset="0"/>
            </a:endParaRPr>
          </a:p>
          <a:p>
            <a:pPr marL="449263" indent="-449263" algn="just" fontAlgn="base">
              <a:spcBef>
                <a:spcPct val="0"/>
              </a:spcBef>
              <a:spcAft>
                <a:spcPct val="0"/>
              </a:spcAft>
            </a:pPr>
            <a:r>
              <a:rPr lang="es-PE" sz="2000" b="1" dirty="0">
                <a:solidFill>
                  <a:srgbClr val="FF0000"/>
                </a:solidFill>
                <a:latin typeface="Arial Narrow" panose="020B0606020202030204" pitchFamily="34" charset="0"/>
                <a:ea typeface="Calibri" pitchFamily="34" charset="0"/>
                <a:cs typeface="Arial" pitchFamily="34" charset="0"/>
              </a:rPr>
              <a:t>III.	</a:t>
            </a:r>
            <a:r>
              <a:rPr lang="es-PE" sz="2000" dirty="0">
                <a:solidFill>
                  <a:srgbClr val="FF0000"/>
                </a:solidFill>
                <a:latin typeface="Arial Narrow" panose="020B0606020202030204" pitchFamily="34" charset="0"/>
                <a:ea typeface="Calibri" pitchFamily="34" charset="0"/>
                <a:cs typeface="Arial" pitchFamily="34" charset="0"/>
              </a:rPr>
              <a:t>Identificación de las restricciones</a:t>
            </a:r>
            <a:endParaRPr lang="es-PE" sz="2000"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A&lt;=6</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B&lt;=4</a:t>
            </a:r>
          </a:p>
          <a:p>
            <a:pPr indent="449263" algn="just" eaLnBrk="0" fontAlgn="base" hangingPunct="0">
              <a:spcBef>
                <a:spcPct val="0"/>
              </a:spcBef>
              <a:spcAft>
                <a:spcPct val="0"/>
              </a:spcAft>
            </a:pPr>
            <a:r>
              <a:rPr lang="es-ES" sz="2000" dirty="0">
                <a:latin typeface="Arial Narrow" panose="020B0606020202030204" pitchFamily="34" charset="0"/>
                <a:cs typeface="Arial" pitchFamily="34" charset="0"/>
              </a:rPr>
              <a:t>B&lt;=</a:t>
            </a:r>
            <a:r>
              <a:rPr lang="es-ES" sz="2000" dirty="0" err="1">
                <a:latin typeface="Arial Narrow" panose="020B0606020202030204" pitchFamily="34" charset="0"/>
                <a:cs typeface="Arial" pitchFamily="34" charset="0"/>
              </a:rPr>
              <a:t>2A</a:t>
            </a:r>
            <a:endParaRPr lang="es-ES" sz="2000" dirty="0">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2A+B</a:t>
            </a:r>
            <a:r>
              <a:rPr lang="es-ES" sz="2000" dirty="0">
                <a:latin typeface="Arial Narrow" panose="020B0606020202030204" pitchFamily="34" charset="0"/>
                <a:cs typeface="Arial" pitchFamily="34" charset="0"/>
              </a:rPr>
              <a:t>&gt;=4</a:t>
            </a:r>
          </a:p>
          <a:p>
            <a:pPr indent="449263" algn="just" eaLnBrk="0" fontAlgn="base" hangingPunct="0">
              <a:spcBef>
                <a:spcPct val="0"/>
              </a:spcBef>
              <a:spcAft>
                <a:spcPct val="0"/>
              </a:spcAft>
            </a:pPr>
            <a:r>
              <a:rPr lang="es-ES" sz="2000" dirty="0" err="1">
                <a:latin typeface="Arial Narrow" panose="020B0606020202030204" pitchFamily="34" charset="0"/>
                <a:cs typeface="Arial" pitchFamily="34" charset="0"/>
              </a:rPr>
              <a:t>A,B</a:t>
            </a:r>
            <a:r>
              <a:rPr lang="es-ES" sz="2000" dirty="0">
                <a:latin typeface="Arial Narrow" panose="020B0606020202030204" pitchFamily="34" charset="0"/>
                <a:cs typeface="Arial" pitchFamily="34" charset="0"/>
              </a:rPr>
              <a:t> &gt;=0</a:t>
            </a:r>
          </a:p>
        </p:txBody>
      </p:sp>
      <p:graphicFrame>
        <p:nvGraphicFramePr>
          <p:cNvPr id="7" name="Tabla 5">
            <a:extLst>
              <a:ext uri="{FF2B5EF4-FFF2-40B4-BE49-F238E27FC236}">
                <a16:creationId xmlns:a16="http://schemas.microsoft.com/office/drawing/2014/main" id="{18FDFBAF-D4B0-4C41-9D8D-7DC696502AE1}"/>
              </a:ext>
            </a:extLst>
          </p:cNvPr>
          <p:cNvGraphicFramePr>
            <a:graphicFrameLocks noGrp="1"/>
          </p:cNvGraphicFramePr>
          <p:nvPr/>
        </p:nvGraphicFramePr>
        <p:xfrm>
          <a:off x="5571509" y="1309706"/>
          <a:ext cx="3542012" cy="1477326"/>
        </p:xfrm>
        <a:graphic>
          <a:graphicData uri="http://schemas.openxmlformats.org/drawingml/2006/table">
            <a:tbl>
              <a:tblPr firstRow="1" bandRow="1">
                <a:tableStyleId>{5C22544A-7EE6-4342-B048-85BDC9FD1C3A}</a:tableStyleId>
              </a:tblPr>
              <a:tblGrid>
                <a:gridCol w="1621771">
                  <a:extLst>
                    <a:ext uri="{9D8B030D-6E8A-4147-A177-3AD203B41FA5}">
                      <a16:colId xmlns:a16="http://schemas.microsoft.com/office/drawing/2014/main" val="956567899"/>
                    </a:ext>
                  </a:extLst>
                </a:gridCol>
                <a:gridCol w="1127760">
                  <a:extLst>
                    <a:ext uri="{9D8B030D-6E8A-4147-A177-3AD203B41FA5}">
                      <a16:colId xmlns:a16="http://schemas.microsoft.com/office/drawing/2014/main" val="2250067548"/>
                    </a:ext>
                  </a:extLst>
                </a:gridCol>
                <a:gridCol w="792481">
                  <a:extLst>
                    <a:ext uri="{9D8B030D-6E8A-4147-A177-3AD203B41FA5}">
                      <a16:colId xmlns:a16="http://schemas.microsoft.com/office/drawing/2014/main" val="2833581453"/>
                    </a:ext>
                  </a:extLst>
                </a:gridCol>
              </a:tblGrid>
              <a:tr h="492442">
                <a:tc>
                  <a:txBody>
                    <a:bodyPr/>
                    <a:lstStyle/>
                    <a:p>
                      <a:pPr algn="ctr"/>
                      <a:r>
                        <a:rPr lang="es-ES" dirty="0"/>
                        <a:t>Tipo de Pienso</a:t>
                      </a:r>
                      <a:endParaRPr lang="es-PE" dirty="0"/>
                    </a:p>
                  </a:txBody>
                  <a:tcPr/>
                </a:tc>
                <a:tc>
                  <a:txBody>
                    <a:bodyPr/>
                    <a:lstStyle/>
                    <a:p>
                      <a:pPr algn="ctr"/>
                      <a:r>
                        <a:rPr lang="es-ES" dirty="0"/>
                        <a:t>Máximo</a:t>
                      </a:r>
                      <a:endParaRPr lang="es-PE" dirty="0"/>
                    </a:p>
                  </a:txBody>
                  <a:tcPr/>
                </a:tc>
                <a:tc>
                  <a:txBody>
                    <a:bodyPr/>
                    <a:lstStyle/>
                    <a:p>
                      <a:pPr algn="ctr"/>
                      <a:r>
                        <a:rPr lang="es-ES" dirty="0"/>
                        <a:t>Coste</a:t>
                      </a:r>
                      <a:endParaRPr lang="es-PE" dirty="0"/>
                    </a:p>
                  </a:txBody>
                  <a:tcPr/>
                </a:tc>
                <a:extLst>
                  <a:ext uri="{0D108BD9-81ED-4DB2-BD59-A6C34878D82A}">
                    <a16:rowId xmlns:a16="http://schemas.microsoft.com/office/drawing/2014/main" val="1746209843"/>
                  </a:ext>
                </a:extLst>
              </a:tr>
              <a:tr h="492442">
                <a:tc>
                  <a:txBody>
                    <a:bodyPr/>
                    <a:lstStyle/>
                    <a:p>
                      <a:pPr algn="ctr"/>
                      <a:r>
                        <a:rPr lang="es-ES" dirty="0"/>
                        <a:t>A</a:t>
                      </a:r>
                      <a:endParaRPr lang="es-PE" dirty="0"/>
                    </a:p>
                  </a:txBody>
                  <a:tcPr/>
                </a:tc>
                <a:tc>
                  <a:txBody>
                    <a:bodyPr/>
                    <a:lstStyle/>
                    <a:p>
                      <a:pPr algn="ctr"/>
                      <a:r>
                        <a:rPr lang="es-ES" dirty="0"/>
                        <a:t>6</a:t>
                      </a:r>
                      <a:endParaRPr lang="es-PE" dirty="0"/>
                    </a:p>
                  </a:txBody>
                  <a:tcPr/>
                </a:tc>
                <a:tc>
                  <a:txBody>
                    <a:bodyPr/>
                    <a:lstStyle/>
                    <a:p>
                      <a:pPr algn="ctr"/>
                      <a:r>
                        <a:rPr lang="es-ES" dirty="0"/>
                        <a:t>1000</a:t>
                      </a:r>
                      <a:endParaRPr lang="es-PE" dirty="0"/>
                    </a:p>
                  </a:txBody>
                  <a:tcPr/>
                </a:tc>
                <a:extLst>
                  <a:ext uri="{0D108BD9-81ED-4DB2-BD59-A6C34878D82A}">
                    <a16:rowId xmlns:a16="http://schemas.microsoft.com/office/drawing/2014/main" val="656539111"/>
                  </a:ext>
                </a:extLst>
              </a:tr>
              <a:tr h="492442">
                <a:tc>
                  <a:txBody>
                    <a:bodyPr/>
                    <a:lstStyle/>
                    <a:p>
                      <a:pPr algn="ctr"/>
                      <a:r>
                        <a:rPr lang="es-ES" dirty="0"/>
                        <a:t>B</a:t>
                      </a:r>
                      <a:endParaRPr lang="es-PE" dirty="0"/>
                    </a:p>
                  </a:txBody>
                  <a:tcPr/>
                </a:tc>
                <a:tc>
                  <a:txBody>
                    <a:bodyPr/>
                    <a:lstStyle/>
                    <a:p>
                      <a:pPr algn="ctr"/>
                      <a:r>
                        <a:rPr lang="es-ES" dirty="0"/>
                        <a:t>4</a:t>
                      </a:r>
                      <a:endParaRPr lang="es-PE" dirty="0"/>
                    </a:p>
                  </a:txBody>
                  <a:tcPr/>
                </a:tc>
                <a:tc>
                  <a:txBody>
                    <a:bodyPr/>
                    <a:lstStyle/>
                    <a:p>
                      <a:pPr algn="ctr"/>
                      <a:r>
                        <a:rPr lang="es-ES" dirty="0"/>
                        <a:t>2000</a:t>
                      </a:r>
                      <a:endParaRPr lang="es-PE" dirty="0"/>
                    </a:p>
                  </a:txBody>
                  <a:tcPr/>
                </a:tc>
                <a:extLst>
                  <a:ext uri="{0D108BD9-81ED-4DB2-BD59-A6C34878D82A}">
                    <a16:rowId xmlns:a16="http://schemas.microsoft.com/office/drawing/2014/main" val="869371251"/>
                  </a:ext>
                </a:extLst>
              </a:tr>
            </a:tbl>
          </a:graphicData>
        </a:graphic>
      </p:graphicFrame>
      <p:sp>
        <p:nvSpPr>
          <p:cNvPr id="8" name="Rectángulo 7">
            <a:extLst>
              <a:ext uri="{FF2B5EF4-FFF2-40B4-BE49-F238E27FC236}">
                <a16:creationId xmlns:a16="http://schemas.microsoft.com/office/drawing/2014/main" id="{6ACAB321-469D-451E-8B4A-86B2B890C36C}"/>
              </a:ext>
            </a:extLst>
          </p:cNvPr>
          <p:cNvSpPr/>
          <p:nvPr/>
        </p:nvSpPr>
        <p:spPr>
          <a:xfrm>
            <a:off x="9490494" y="3669753"/>
            <a:ext cx="2222740" cy="1754326"/>
          </a:xfrm>
          <a:prstGeom prst="rect">
            <a:avLst/>
          </a:prstGeom>
          <a:solidFill>
            <a:srgbClr val="FFFF00"/>
          </a:solidFill>
        </p:spPr>
        <p:txBody>
          <a:bodyPr wrap="square">
            <a:spAutoFit/>
          </a:bodyPr>
          <a:lstStyle/>
          <a:p>
            <a:pPr algn="just" fontAlgn="base">
              <a:spcBef>
                <a:spcPct val="0"/>
              </a:spcBef>
              <a:spcAft>
                <a:spcPct val="0"/>
              </a:spcAft>
            </a:pPr>
            <a:r>
              <a:rPr lang="es-PE" dirty="0">
                <a:latin typeface="Arial Narrow" panose="020B0606020202030204" pitchFamily="34" charset="0"/>
                <a:cs typeface="Arial" pitchFamily="34" charset="0"/>
              </a:rPr>
              <a:t>MIN </a:t>
            </a:r>
            <a:r>
              <a:rPr lang="es-PE" dirty="0" err="1">
                <a:latin typeface="Arial Narrow" panose="020B0606020202030204" pitchFamily="34" charset="0"/>
                <a:cs typeface="Arial" pitchFamily="34" charset="0"/>
              </a:rPr>
              <a:t>1000A</a:t>
            </a:r>
            <a:r>
              <a:rPr lang="es-PE" dirty="0">
                <a:latin typeface="Arial Narrow" panose="020B0606020202030204" pitchFamily="34" charset="0"/>
                <a:cs typeface="Arial" pitchFamily="34" charset="0"/>
              </a:rPr>
              <a:t>+ </a:t>
            </a:r>
            <a:r>
              <a:rPr lang="es-PE" dirty="0" err="1">
                <a:latin typeface="Arial Narrow" panose="020B0606020202030204" pitchFamily="34" charset="0"/>
                <a:cs typeface="Arial" pitchFamily="34" charset="0"/>
              </a:rPr>
              <a:t>2000B</a:t>
            </a:r>
            <a:endParaRPr lang="es-PE" dirty="0">
              <a:latin typeface="Arial Narrow" panose="020B0606020202030204" pitchFamily="34" charset="0"/>
              <a:cs typeface="Arial" pitchFamily="34" charset="0"/>
            </a:endParaRPr>
          </a:p>
          <a:p>
            <a:pPr marL="449263" indent="-449263" algn="just" fontAlgn="base">
              <a:spcBef>
                <a:spcPct val="0"/>
              </a:spcBef>
              <a:spcAft>
                <a:spcPct val="0"/>
              </a:spcAft>
            </a:pPr>
            <a:r>
              <a:rPr lang="es-PE" b="1" dirty="0" err="1">
                <a:solidFill>
                  <a:srgbClr val="FF0000"/>
                </a:solidFill>
                <a:latin typeface="Arial Narrow" panose="020B0606020202030204" pitchFamily="34" charset="0"/>
                <a:ea typeface="Calibri" pitchFamily="34" charset="0"/>
                <a:cs typeface="Arial" pitchFamily="34" charset="0"/>
              </a:rPr>
              <a:t>ST</a:t>
            </a:r>
            <a:endParaRPr lang="es-PE" dirty="0">
              <a:solidFill>
                <a:srgbClr val="FF0000"/>
              </a:solidFill>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dirty="0">
                <a:latin typeface="Arial Narrow" panose="020B0606020202030204" pitchFamily="34" charset="0"/>
                <a:cs typeface="Arial" pitchFamily="34" charset="0"/>
              </a:rPr>
              <a:t>A&lt;=6</a:t>
            </a:r>
          </a:p>
          <a:p>
            <a:pPr indent="449263" algn="just" eaLnBrk="0" fontAlgn="base" hangingPunct="0">
              <a:spcBef>
                <a:spcPct val="0"/>
              </a:spcBef>
              <a:spcAft>
                <a:spcPct val="0"/>
              </a:spcAft>
            </a:pPr>
            <a:r>
              <a:rPr lang="es-ES" dirty="0">
                <a:latin typeface="Arial Narrow" panose="020B0606020202030204" pitchFamily="34" charset="0"/>
                <a:cs typeface="Arial" pitchFamily="34" charset="0"/>
              </a:rPr>
              <a:t>B&lt;=4</a:t>
            </a:r>
          </a:p>
          <a:p>
            <a:pPr indent="449263" algn="just" eaLnBrk="0" fontAlgn="base" hangingPunct="0">
              <a:spcBef>
                <a:spcPct val="0"/>
              </a:spcBef>
              <a:spcAft>
                <a:spcPct val="0"/>
              </a:spcAft>
            </a:pPr>
            <a:r>
              <a:rPr lang="es-ES" dirty="0">
                <a:latin typeface="Arial Narrow" panose="020B0606020202030204" pitchFamily="34" charset="0"/>
                <a:cs typeface="Arial" pitchFamily="34" charset="0"/>
              </a:rPr>
              <a:t>B&lt;=</a:t>
            </a:r>
            <a:r>
              <a:rPr lang="es-ES" dirty="0" err="1">
                <a:latin typeface="Arial Narrow" panose="020B0606020202030204" pitchFamily="34" charset="0"/>
                <a:cs typeface="Arial" pitchFamily="34" charset="0"/>
              </a:rPr>
              <a:t>2A</a:t>
            </a:r>
            <a:endParaRPr lang="es-ES" dirty="0">
              <a:latin typeface="Arial Narrow" panose="020B0606020202030204" pitchFamily="34" charset="0"/>
              <a:cs typeface="Arial" pitchFamily="34" charset="0"/>
            </a:endParaRPr>
          </a:p>
          <a:p>
            <a:pPr indent="449263" algn="just" eaLnBrk="0" fontAlgn="base" hangingPunct="0">
              <a:spcBef>
                <a:spcPct val="0"/>
              </a:spcBef>
              <a:spcAft>
                <a:spcPct val="0"/>
              </a:spcAft>
            </a:pPr>
            <a:r>
              <a:rPr lang="es-ES" dirty="0" err="1">
                <a:latin typeface="Arial Narrow" panose="020B0606020202030204" pitchFamily="34" charset="0"/>
                <a:cs typeface="Arial" pitchFamily="34" charset="0"/>
              </a:rPr>
              <a:t>2A+B</a:t>
            </a:r>
            <a:r>
              <a:rPr lang="es-ES" dirty="0">
                <a:latin typeface="Arial Narrow" panose="020B0606020202030204" pitchFamily="34" charset="0"/>
                <a:cs typeface="Arial" pitchFamily="34" charset="0"/>
              </a:rPr>
              <a:t>&gt;=4</a:t>
            </a:r>
          </a:p>
        </p:txBody>
      </p:sp>
      <p:sp>
        <p:nvSpPr>
          <p:cNvPr id="9" name="Rectángulo 8">
            <a:extLst>
              <a:ext uri="{FF2B5EF4-FFF2-40B4-BE49-F238E27FC236}">
                <a16:creationId xmlns:a16="http://schemas.microsoft.com/office/drawing/2014/main" id="{3BD95D95-7EE1-4BC0-A4F0-714DA335FECE}"/>
              </a:ext>
            </a:extLst>
          </p:cNvPr>
          <p:cNvSpPr/>
          <p:nvPr/>
        </p:nvSpPr>
        <p:spPr>
          <a:xfrm>
            <a:off x="7858664" y="5363119"/>
            <a:ext cx="4244196" cy="1477328"/>
          </a:xfrm>
          <a:prstGeom prst="rect">
            <a:avLst/>
          </a:prstGeom>
        </p:spPr>
        <p:txBody>
          <a:bodyPr wrap="square">
            <a:spAutoFit/>
          </a:bodyPr>
          <a:lstStyle/>
          <a:p>
            <a:r>
              <a:rPr lang="es-PE" dirty="0"/>
              <a:t> </a:t>
            </a:r>
            <a:r>
              <a:rPr lang="en-US" dirty="0"/>
              <a:t>  OBJECTIVE FUNCTION VALUE</a:t>
            </a:r>
          </a:p>
          <a:p>
            <a:r>
              <a:rPr lang="en-US" dirty="0"/>
              <a:t>        1)      2000.000</a:t>
            </a:r>
          </a:p>
          <a:p>
            <a:r>
              <a:rPr lang="en-US" dirty="0"/>
              <a:t>  VARIABLE        VALUE          REDUCED COST</a:t>
            </a:r>
          </a:p>
          <a:p>
            <a:r>
              <a:rPr lang="en-US" dirty="0"/>
              <a:t>         A         2.000000          0.000000</a:t>
            </a:r>
          </a:p>
          <a:p>
            <a:r>
              <a:rPr lang="en-US" dirty="0"/>
              <a:t>         B         0.000000       1500.000000</a:t>
            </a:r>
            <a:endParaRPr lang="es-PE" dirty="0"/>
          </a:p>
        </p:txBody>
      </p:sp>
      <p:pic>
        <p:nvPicPr>
          <p:cNvPr id="10" name="image15.jpeg">
            <a:extLst>
              <a:ext uri="{FF2B5EF4-FFF2-40B4-BE49-F238E27FC236}">
                <a16:creationId xmlns:a16="http://schemas.microsoft.com/office/drawing/2014/main" id="{A970384A-4AF8-4CB8-9101-3F8B330952D8}"/>
              </a:ext>
            </a:extLst>
          </p:cNvPr>
          <p:cNvPicPr/>
          <p:nvPr/>
        </p:nvPicPr>
        <p:blipFill>
          <a:blip r:embed="rId2" cstate="print"/>
          <a:stretch>
            <a:fillRect/>
          </a:stretch>
        </p:blipFill>
        <p:spPr>
          <a:xfrm>
            <a:off x="9141142" y="1314450"/>
            <a:ext cx="2870835" cy="2400300"/>
          </a:xfrm>
          <a:prstGeom prst="rect">
            <a:avLst/>
          </a:prstGeom>
        </p:spPr>
      </p:pic>
    </p:spTree>
    <p:extLst>
      <p:ext uri="{BB962C8B-B14F-4D97-AF65-F5344CB8AC3E}">
        <p14:creationId xmlns:p14="http://schemas.microsoft.com/office/powerpoint/2010/main" val="110111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redondeado"/>
          <p:cNvSpPr/>
          <p:nvPr/>
        </p:nvSpPr>
        <p:spPr>
          <a:xfrm>
            <a:off x="6096000" y="173428"/>
            <a:ext cx="6096000" cy="715773"/>
          </a:xfrm>
          <a:prstGeom prst="roundRect">
            <a:avLst/>
          </a:prstGeom>
          <a:noFill/>
          <a:ln w="9525">
            <a:noFill/>
            <a:miter lim="800000"/>
            <a:headEnd/>
            <a:tailEnd/>
          </a:ln>
          <a:effectLst/>
        </p:spPr>
        <p:txBody>
          <a:bodyPr vert="horz" wrap="square" lIns="68580" tIns="34290" rIns="68580" bIns="34290" numCol="1" rtlCol="0" anchor="ctr" anchorCtr="0" compatLnSpc="1">
            <a:prstTxWarp prst="textNoShape">
              <a:avLst/>
            </a:prstTxWarp>
            <a:noAutofit/>
          </a:bodyPr>
          <a:lstStyle/>
          <a:p>
            <a:pPr algn="ctr" fontAlgn="base">
              <a:lnSpc>
                <a:spcPts val="5800"/>
              </a:lnSpc>
              <a:spcBef>
                <a:spcPct val="0"/>
              </a:spcBef>
              <a:spcAft>
                <a:spcPct val="0"/>
              </a:spcAft>
            </a:pPr>
            <a:r>
              <a:rPr lang="es-MX"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rPr>
              <a:t>Propuestos 12</a:t>
            </a:r>
            <a:endParaRPr lang="es-PE" sz="3200" dirty="0">
              <a:solidFill>
                <a:schemeClr val="accent5">
                  <a:lumMod val="20000"/>
                  <a:lumOff val="80000"/>
                </a:schemeClr>
              </a:solidFill>
              <a:effectLst>
                <a:outerShdw blurRad="63500" dist="38100" dir="5400000" algn="t" rotWithShape="0">
                  <a:prstClr val="black">
                    <a:alpha val="25000"/>
                  </a:prstClr>
                </a:outerShdw>
              </a:effectLst>
              <a:latin typeface="Bauhaus 93" pitchFamily="82" charset="0"/>
            </a:endParaRPr>
          </a:p>
        </p:txBody>
      </p:sp>
      <p:sp>
        <p:nvSpPr>
          <p:cNvPr id="4" name="3 Rectángulo"/>
          <p:cNvSpPr/>
          <p:nvPr/>
        </p:nvSpPr>
        <p:spPr>
          <a:xfrm>
            <a:off x="1703512" y="1369800"/>
            <a:ext cx="8640960" cy="3139321"/>
          </a:xfrm>
          <a:prstGeom prst="rect">
            <a:avLst/>
          </a:prstGeom>
        </p:spPr>
        <p:txBody>
          <a:bodyPr wrap="square">
            <a:spAutoFit/>
          </a:bodyPr>
          <a:lstStyle/>
          <a:p>
            <a:pPr lvl="0"/>
            <a:r>
              <a:rPr lang="es-ES" dirty="0"/>
              <a:t>Determínense los valores de a y b para que la función objetivo F(</a:t>
            </a:r>
            <a:r>
              <a:rPr lang="es-ES" dirty="0" err="1"/>
              <a:t>x,y</a:t>
            </a:r>
            <a:r>
              <a:rPr lang="es-ES" dirty="0"/>
              <a:t>) = </a:t>
            </a:r>
            <a:r>
              <a:rPr lang="es-ES" dirty="0" err="1"/>
              <a:t>3x</a:t>
            </a:r>
            <a:r>
              <a:rPr lang="es-ES" dirty="0"/>
              <a:t> + y alcance su valor máximo en el punto (6, 3) de la región factible definida por:</a:t>
            </a:r>
            <a:endParaRPr lang="es-PE" dirty="0"/>
          </a:p>
          <a:p>
            <a:r>
              <a:rPr lang="es-ES" dirty="0"/>
              <a:t>	x ≥ 0</a:t>
            </a:r>
            <a:endParaRPr lang="es-PE" dirty="0"/>
          </a:p>
          <a:p>
            <a:r>
              <a:rPr lang="es-ES" dirty="0"/>
              <a:t>	y ≥ 0</a:t>
            </a:r>
          </a:p>
          <a:p>
            <a:r>
              <a:rPr lang="es-ES" dirty="0"/>
              <a:t>	x + ay ≤ 3</a:t>
            </a:r>
            <a:endParaRPr lang="es-PE" dirty="0"/>
          </a:p>
          <a:p>
            <a:r>
              <a:rPr lang="es-ES" dirty="0"/>
              <a:t>	</a:t>
            </a:r>
            <a:r>
              <a:rPr lang="es-ES" dirty="0" err="1"/>
              <a:t>2x</a:t>
            </a:r>
            <a:r>
              <a:rPr lang="es-ES" dirty="0"/>
              <a:t> + y ≤ b</a:t>
            </a:r>
            <a:endParaRPr lang="es-PE" dirty="0"/>
          </a:p>
          <a:p>
            <a:endParaRPr lang="es-PE" dirty="0"/>
          </a:p>
          <a:p>
            <a:r>
              <a:rPr lang="es-ES" dirty="0"/>
              <a:t>2. Represéntese la región factible para esos valores y calcúlense las coordenadas de todos sus vértices.</a:t>
            </a:r>
            <a:r>
              <a:rPr lang="es-PE" dirty="0"/>
              <a:t> </a:t>
            </a:r>
            <a:r>
              <a:rPr lang="es-ES" dirty="0"/>
              <a:t> </a:t>
            </a:r>
            <a:endParaRPr lang="es-PE" dirty="0"/>
          </a:p>
          <a:p>
            <a:br>
              <a:rPr lang="es-ES" dirty="0"/>
            </a:br>
            <a:r>
              <a:rPr lang="es-ES" dirty="0"/>
              <a:t>Solución: </a:t>
            </a:r>
            <a:endParaRPr lang="es-PE" dirty="0"/>
          </a:p>
        </p:txBody>
      </p:sp>
      <p:sp>
        <p:nvSpPr>
          <p:cNvPr id="3" name="2 Abrir llave"/>
          <p:cNvSpPr/>
          <p:nvPr/>
        </p:nvSpPr>
        <p:spPr>
          <a:xfrm>
            <a:off x="2381250" y="1988841"/>
            <a:ext cx="258366" cy="9506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pic>
        <p:nvPicPr>
          <p:cNvPr id="5" name="image14.jpeg"/>
          <p:cNvPicPr/>
          <p:nvPr/>
        </p:nvPicPr>
        <p:blipFill>
          <a:blip r:embed="rId2" cstate="print"/>
          <a:stretch>
            <a:fillRect/>
          </a:stretch>
        </p:blipFill>
        <p:spPr>
          <a:xfrm>
            <a:off x="7608168" y="3999448"/>
            <a:ext cx="2232248" cy="2381880"/>
          </a:xfrm>
          <a:prstGeom prst="rect">
            <a:avLst/>
          </a:prstGeom>
        </p:spPr>
      </p:pic>
      <p:sp>
        <p:nvSpPr>
          <p:cNvPr id="6" name="Rectángulo 5">
            <a:extLst>
              <a:ext uri="{FF2B5EF4-FFF2-40B4-BE49-F238E27FC236}">
                <a16:creationId xmlns:a16="http://schemas.microsoft.com/office/drawing/2014/main" id="{7B667311-BC52-483D-B2FF-345A499EAD77}"/>
              </a:ext>
            </a:extLst>
          </p:cNvPr>
          <p:cNvSpPr/>
          <p:nvPr/>
        </p:nvSpPr>
        <p:spPr>
          <a:xfrm>
            <a:off x="1518338" y="4640338"/>
            <a:ext cx="2034898" cy="1754326"/>
          </a:xfrm>
          <a:prstGeom prst="rect">
            <a:avLst/>
          </a:prstGeom>
        </p:spPr>
        <p:txBody>
          <a:bodyPr wrap="square">
            <a:spAutoFit/>
          </a:bodyPr>
          <a:lstStyle/>
          <a:p>
            <a:r>
              <a:rPr lang="es-ES" dirty="0"/>
              <a:t>x + ay ≤ 3</a:t>
            </a:r>
            <a:endParaRPr lang="es-PE" dirty="0"/>
          </a:p>
          <a:p>
            <a:r>
              <a:rPr lang="es-ES" u="sng" dirty="0" err="1"/>
              <a:t>2ax</a:t>
            </a:r>
            <a:r>
              <a:rPr lang="es-ES" u="sng" dirty="0"/>
              <a:t> + ay ≤ ab</a:t>
            </a:r>
          </a:p>
          <a:p>
            <a:r>
              <a:rPr lang="es-PE" dirty="0"/>
              <a:t>(</a:t>
            </a:r>
            <a:r>
              <a:rPr lang="es-PE" dirty="0" err="1"/>
              <a:t>2a</a:t>
            </a:r>
            <a:r>
              <a:rPr lang="es-PE" dirty="0"/>
              <a:t>-1)x=ab-3</a:t>
            </a:r>
          </a:p>
          <a:p>
            <a:r>
              <a:rPr lang="es-PE" dirty="0"/>
              <a:t> x=(ab-3)/(</a:t>
            </a:r>
            <a:r>
              <a:rPr lang="es-PE" dirty="0" err="1"/>
              <a:t>2a</a:t>
            </a:r>
            <a:r>
              <a:rPr lang="es-PE" dirty="0"/>
              <a:t>-1)=6</a:t>
            </a:r>
          </a:p>
          <a:p>
            <a:r>
              <a:rPr lang="es-PE" dirty="0"/>
              <a:t>       ab-3=</a:t>
            </a:r>
            <a:r>
              <a:rPr lang="es-PE" dirty="0" err="1"/>
              <a:t>12a</a:t>
            </a:r>
            <a:r>
              <a:rPr lang="es-PE" dirty="0"/>
              <a:t>-6</a:t>
            </a:r>
          </a:p>
          <a:p>
            <a:r>
              <a:rPr lang="es-PE" dirty="0" err="1"/>
              <a:t>12a</a:t>
            </a:r>
            <a:r>
              <a:rPr lang="es-PE" dirty="0"/>
              <a:t>-ab=3   (i)</a:t>
            </a:r>
          </a:p>
        </p:txBody>
      </p:sp>
      <p:sp>
        <p:nvSpPr>
          <p:cNvPr id="7" name="Rectángulo 6">
            <a:extLst>
              <a:ext uri="{FF2B5EF4-FFF2-40B4-BE49-F238E27FC236}">
                <a16:creationId xmlns:a16="http://schemas.microsoft.com/office/drawing/2014/main" id="{7C9C229D-4E90-4961-B1E2-D5619D8BF29B}"/>
              </a:ext>
            </a:extLst>
          </p:cNvPr>
          <p:cNvSpPr/>
          <p:nvPr/>
        </p:nvSpPr>
        <p:spPr>
          <a:xfrm>
            <a:off x="3663230" y="4640338"/>
            <a:ext cx="1800045" cy="1754326"/>
          </a:xfrm>
          <a:prstGeom prst="rect">
            <a:avLst/>
          </a:prstGeom>
        </p:spPr>
        <p:txBody>
          <a:bodyPr wrap="square">
            <a:spAutoFit/>
          </a:bodyPr>
          <a:lstStyle/>
          <a:p>
            <a:r>
              <a:rPr lang="es-ES" dirty="0" err="1"/>
              <a:t>2x</a:t>
            </a:r>
            <a:r>
              <a:rPr lang="es-ES" dirty="0"/>
              <a:t> + </a:t>
            </a:r>
            <a:r>
              <a:rPr lang="es-ES" dirty="0" err="1"/>
              <a:t>2ay</a:t>
            </a:r>
            <a:r>
              <a:rPr lang="es-ES" dirty="0"/>
              <a:t> ≤ 6</a:t>
            </a:r>
            <a:endParaRPr lang="es-PE" dirty="0"/>
          </a:p>
          <a:p>
            <a:r>
              <a:rPr lang="es-ES" u="sng" dirty="0" err="1"/>
              <a:t>2x</a:t>
            </a:r>
            <a:r>
              <a:rPr lang="es-ES" u="sng" dirty="0"/>
              <a:t> + y ≤ b</a:t>
            </a:r>
          </a:p>
          <a:p>
            <a:r>
              <a:rPr lang="es-ES" dirty="0"/>
              <a:t>(</a:t>
            </a:r>
            <a:r>
              <a:rPr lang="es-ES" dirty="0" err="1"/>
              <a:t>2a</a:t>
            </a:r>
            <a:r>
              <a:rPr lang="es-ES" dirty="0"/>
              <a:t>-1)y=6-b</a:t>
            </a:r>
          </a:p>
          <a:p>
            <a:r>
              <a:rPr lang="es-ES" dirty="0"/>
              <a:t>y=(6-b)/(</a:t>
            </a:r>
            <a:r>
              <a:rPr lang="es-ES" dirty="0" err="1"/>
              <a:t>2a</a:t>
            </a:r>
            <a:r>
              <a:rPr lang="es-ES" dirty="0"/>
              <a:t>-1)=3</a:t>
            </a:r>
          </a:p>
          <a:p>
            <a:r>
              <a:rPr lang="es-ES" dirty="0"/>
              <a:t>6-b=</a:t>
            </a:r>
            <a:r>
              <a:rPr lang="es-ES" dirty="0" err="1"/>
              <a:t>6a</a:t>
            </a:r>
            <a:r>
              <a:rPr lang="es-ES" dirty="0"/>
              <a:t>-3</a:t>
            </a:r>
          </a:p>
          <a:p>
            <a:r>
              <a:rPr lang="es-ES" dirty="0" err="1"/>
              <a:t>6a+b</a:t>
            </a:r>
            <a:r>
              <a:rPr lang="es-ES" dirty="0"/>
              <a:t>=9   (</a:t>
            </a:r>
            <a:r>
              <a:rPr lang="es-ES" dirty="0" err="1"/>
              <a:t>ii</a:t>
            </a:r>
            <a:r>
              <a:rPr lang="es-ES" dirty="0"/>
              <a:t>)</a:t>
            </a:r>
          </a:p>
        </p:txBody>
      </p:sp>
      <p:sp>
        <p:nvSpPr>
          <p:cNvPr id="8" name="Rectángulo 7">
            <a:extLst>
              <a:ext uri="{FF2B5EF4-FFF2-40B4-BE49-F238E27FC236}">
                <a16:creationId xmlns:a16="http://schemas.microsoft.com/office/drawing/2014/main" id="{A738596D-A37D-4227-8AC2-617583F46CF0}"/>
              </a:ext>
            </a:extLst>
          </p:cNvPr>
          <p:cNvSpPr/>
          <p:nvPr/>
        </p:nvSpPr>
        <p:spPr>
          <a:xfrm>
            <a:off x="5573270" y="4640338"/>
            <a:ext cx="1638590" cy="2031325"/>
          </a:xfrm>
          <a:prstGeom prst="rect">
            <a:avLst/>
          </a:prstGeom>
        </p:spPr>
        <p:txBody>
          <a:bodyPr wrap="none">
            <a:spAutoFit/>
          </a:bodyPr>
          <a:lstStyle/>
          <a:p>
            <a:r>
              <a:rPr lang="es-ES" dirty="0" err="1"/>
              <a:t>12a</a:t>
            </a:r>
            <a:r>
              <a:rPr lang="es-ES" dirty="0"/>
              <a:t>-ab=3   (i)</a:t>
            </a:r>
          </a:p>
          <a:p>
            <a:r>
              <a:rPr lang="es-PE" u="sng" dirty="0" err="1"/>
              <a:t>6a+b</a:t>
            </a:r>
            <a:r>
              <a:rPr lang="es-PE" u="sng" dirty="0"/>
              <a:t>=9      (</a:t>
            </a:r>
            <a:r>
              <a:rPr lang="es-PE" u="sng" dirty="0" err="1"/>
              <a:t>ii</a:t>
            </a:r>
            <a:r>
              <a:rPr lang="es-PE" u="sng" dirty="0"/>
              <a:t>)</a:t>
            </a:r>
          </a:p>
          <a:p>
            <a:r>
              <a:rPr lang="es-ES" dirty="0" err="1"/>
              <a:t>12a</a:t>
            </a:r>
            <a:r>
              <a:rPr lang="es-ES" dirty="0"/>
              <a:t>-ab=3   (i)</a:t>
            </a:r>
          </a:p>
          <a:p>
            <a:r>
              <a:rPr lang="es-PE" u="sng" dirty="0" err="1"/>
              <a:t>12a+2b</a:t>
            </a:r>
            <a:r>
              <a:rPr lang="es-PE" u="sng" dirty="0"/>
              <a:t>=18   (</a:t>
            </a:r>
            <a:r>
              <a:rPr lang="es-PE" u="sng" dirty="0" err="1"/>
              <a:t>ii</a:t>
            </a:r>
            <a:r>
              <a:rPr lang="es-PE" u="sng" dirty="0"/>
              <a:t>)</a:t>
            </a:r>
          </a:p>
          <a:p>
            <a:r>
              <a:rPr lang="es-ES" dirty="0" err="1"/>
              <a:t>2b+ab</a:t>
            </a:r>
            <a:r>
              <a:rPr lang="es-ES" dirty="0"/>
              <a:t>=15</a:t>
            </a:r>
          </a:p>
          <a:p>
            <a:r>
              <a:rPr lang="es-ES" dirty="0"/>
              <a:t>b(</a:t>
            </a:r>
            <a:r>
              <a:rPr lang="es-ES" dirty="0" err="1"/>
              <a:t>2+a</a:t>
            </a:r>
            <a:r>
              <a:rPr lang="es-ES" dirty="0"/>
              <a:t>)=15</a:t>
            </a:r>
          </a:p>
          <a:p>
            <a:r>
              <a:rPr lang="es-ES" dirty="0"/>
              <a:t>a=-1    b=15</a:t>
            </a:r>
          </a:p>
        </p:txBody>
      </p:sp>
      <p:sp>
        <p:nvSpPr>
          <p:cNvPr id="9" name="Rectángulo 8">
            <a:extLst>
              <a:ext uri="{FF2B5EF4-FFF2-40B4-BE49-F238E27FC236}">
                <a16:creationId xmlns:a16="http://schemas.microsoft.com/office/drawing/2014/main" id="{9554E623-33CC-4CC7-88CB-D62E70CCB011}"/>
              </a:ext>
            </a:extLst>
          </p:cNvPr>
          <p:cNvSpPr/>
          <p:nvPr/>
        </p:nvSpPr>
        <p:spPr>
          <a:xfrm>
            <a:off x="10082547" y="4317172"/>
            <a:ext cx="2018581" cy="923330"/>
          </a:xfrm>
          <a:prstGeom prst="rect">
            <a:avLst/>
          </a:prstGeom>
        </p:spPr>
        <p:txBody>
          <a:bodyPr wrap="square">
            <a:spAutoFit/>
          </a:bodyPr>
          <a:lstStyle/>
          <a:p>
            <a:r>
              <a:rPr lang="es-ES" dirty="0" err="1"/>
              <a:t>3x+y</a:t>
            </a:r>
            <a:r>
              <a:rPr lang="es-ES" dirty="0"/>
              <a:t>=15</a:t>
            </a:r>
          </a:p>
          <a:p>
            <a:r>
              <a:rPr lang="es-ES" dirty="0"/>
              <a:t>Si x=0 </a:t>
            </a:r>
            <a:r>
              <a:rPr lang="es-ES" dirty="0">
                <a:sym typeface="Wingdings" panose="05000000000000000000" pitchFamily="2" charset="2"/>
              </a:rPr>
              <a:t> y=15</a:t>
            </a:r>
          </a:p>
          <a:p>
            <a:r>
              <a:rPr lang="es-ES" dirty="0">
                <a:sym typeface="Wingdings" panose="05000000000000000000" pitchFamily="2" charset="2"/>
              </a:rPr>
              <a:t>Si y=0  x=5</a:t>
            </a:r>
            <a:endParaRPr lang="es-PE" dirty="0"/>
          </a:p>
        </p:txBody>
      </p:sp>
      <p:cxnSp>
        <p:nvCxnSpPr>
          <p:cNvPr id="11" name="Conector recto 10">
            <a:extLst>
              <a:ext uri="{FF2B5EF4-FFF2-40B4-BE49-F238E27FC236}">
                <a16:creationId xmlns:a16="http://schemas.microsoft.com/office/drawing/2014/main" id="{B2E8C49C-6277-45A9-809B-A8C64B6DFEBB}"/>
              </a:ext>
            </a:extLst>
          </p:cNvPr>
          <p:cNvCxnSpPr/>
          <p:nvPr/>
        </p:nvCxnSpPr>
        <p:spPr>
          <a:xfrm>
            <a:off x="8186475" y="4252823"/>
            <a:ext cx="767751" cy="2260120"/>
          </a:xfrm>
          <a:prstGeom prst="line">
            <a:avLst/>
          </a:prstGeom>
          <a:ln>
            <a:solidFill>
              <a:srgbClr val="FF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54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53D76EA-5050-47A9-A509-F4B347CA0338}"/>
              </a:ext>
            </a:extLst>
          </p:cNvPr>
          <p:cNvSpPr/>
          <p:nvPr/>
        </p:nvSpPr>
        <p:spPr>
          <a:xfrm>
            <a:off x="233713" y="1250158"/>
            <a:ext cx="5787518" cy="5324535"/>
          </a:xfrm>
          <a:prstGeom prst="rect">
            <a:avLst/>
          </a:prstGeom>
        </p:spPr>
        <p:txBody>
          <a:bodyPr wrap="square">
            <a:spAutoFit/>
          </a:bodyPr>
          <a:lstStyle/>
          <a:p>
            <a:pPr algn="just"/>
            <a:r>
              <a:rPr lang="es-ES" sz="2000" dirty="0">
                <a:latin typeface="Arial" panose="020B0604020202020204" pitchFamily="34" charset="0"/>
                <a:ea typeface="Calibri" panose="020F0502020204030204" pitchFamily="34" charset="0"/>
              </a:rPr>
              <a:t>UNIVERSAL TEXTIL fabrica tiendas de campaña grande y pequeña. Las tiendas grandes requieren 10 metros cuadrados de material, 15 minutos en la máquina de coser y aportar a la compañía una ganancia de $ 90. Las tiendas pequeñas utilizan 6 metros cuadrados de material, 7,5 minutos en la máquina de coser y producen una ganancia de $ 70. En el presente trimestre hay 15000 metros cuadrados de material y 25000 minutos de tiempo de máquina disponibles. Dado que el número de tiendas grandes debe ser de al menos la mitad de la cantidad de tiendas pequeñas. Se pide:</a:t>
            </a:r>
          </a:p>
          <a:p>
            <a:pPr algn="just"/>
            <a:r>
              <a:rPr lang="es-ES" sz="2000" dirty="0">
                <a:latin typeface="Arial" panose="020B0604020202020204" pitchFamily="34" charset="0"/>
                <a:ea typeface="Calibri" panose="020F0502020204030204" pitchFamily="34" charset="0"/>
              </a:rPr>
              <a:t>a) Desarrollar el modelo matemático para determinar cuántas tiendas grandes y cuántas pequeñas se deben fabricar.</a:t>
            </a:r>
          </a:p>
          <a:p>
            <a:pPr algn="just"/>
            <a:r>
              <a:rPr lang="es-ES" sz="2000" dirty="0">
                <a:effectLst/>
                <a:latin typeface="Arial" panose="020B0604020202020204" pitchFamily="34" charset="0"/>
                <a:ea typeface="Calibri" panose="020F0502020204030204" pitchFamily="34" charset="0"/>
              </a:rPr>
              <a:t>b) Resolver  el modelo usando el Método Gráfico.</a:t>
            </a:r>
            <a:endParaRPr lang="es-ES" sz="2000" dirty="0">
              <a:effectLst/>
              <a:latin typeface="Times New Roman" panose="02020603050405020304" pitchFamily="18" charset="0"/>
              <a:ea typeface="Calibri" panose="020F0502020204030204" pitchFamily="34" charset="0"/>
            </a:endParaRPr>
          </a:p>
        </p:txBody>
      </p:sp>
      <p:sp>
        <p:nvSpPr>
          <p:cNvPr id="4" name="CuadroTexto 3">
            <a:extLst>
              <a:ext uri="{FF2B5EF4-FFF2-40B4-BE49-F238E27FC236}">
                <a16:creationId xmlns:a16="http://schemas.microsoft.com/office/drawing/2014/main" id="{AFB2CDC6-2DE8-482C-8D95-143A0807611A}"/>
              </a:ext>
            </a:extLst>
          </p:cNvPr>
          <p:cNvSpPr txBox="1"/>
          <p:nvPr/>
        </p:nvSpPr>
        <p:spPr>
          <a:xfrm>
            <a:off x="6424071" y="2577493"/>
            <a:ext cx="5358809" cy="4196020"/>
          </a:xfrm>
          <a:prstGeom prst="rect">
            <a:avLst/>
          </a:prstGeom>
        </p:spPr>
        <p:txBody>
          <a:bodyPr wrap="square">
            <a:spAutoFit/>
          </a:bodyPr>
          <a:lstStyle>
            <a:defPPr>
              <a:defRPr lang="es-PE"/>
            </a:defPPr>
            <a:lvl1pPr algn="just">
              <a:lnSpc>
                <a:spcPct val="150000"/>
              </a:lnSpc>
              <a:defRPr b="1">
                <a:latin typeface="Arial" panose="020B0604020202020204" pitchFamily="34" charset="0"/>
                <a:ea typeface="Calibri" panose="020F0502020204030204" pitchFamily="34" charset="0"/>
              </a:defRPr>
            </a:lvl1pPr>
          </a:lstStyle>
          <a:p>
            <a:r>
              <a:rPr lang="es-ES" dirty="0">
                <a:solidFill>
                  <a:srgbClr val="FF0000"/>
                </a:solidFill>
              </a:rPr>
              <a:t>Identificación de las Variables</a:t>
            </a:r>
          </a:p>
          <a:p>
            <a:r>
              <a:rPr lang="es-ES" dirty="0"/>
              <a:t>L= Número de tiendas de campaña Grande</a:t>
            </a:r>
          </a:p>
          <a:p>
            <a:r>
              <a:rPr lang="es-ES" dirty="0"/>
              <a:t>S= Número de tiendas de campaña Pequeño</a:t>
            </a:r>
          </a:p>
          <a:p>
            <a:r>
              <a:rPr lang="es-ES" dirty="0">
                <a:solidFill>
                  <a:srgbClr val="FF0000"/>
                </a:solidFill>
              </a:rPr>
              <a:t>Identificación de la Función Objetivo:</a:t>
            </a:r>
          </a:p>
          <a:p>
            <a:r>
              <a:rPr lang="es-ES" dirty="0"/>
              <a:t>MAX </a:t>
            </a:r>
            <a:r>
              <a:rPr lang="es-ES" dirty="0" err="1"/>
              <a:t>90L+70S</a:t>
            </a:r>
            <a:endParaRPr lang="es-ES" dirty="0"/>
          </a:p>
          <a:p>
            <a:r>
              <a:rPr lang="es-ES" dirty="0">
                <a:solidFill>
                  <a:srgbClr val="FF0000"/>
                </a:solidFill>
              </a:rPr>
              <a:t>Identificación de las restricciones:</a:t>
            </a:r>
          </a:p>
          <a:p>
            <a:r>
              <a:rPr lang="es-ES" dirty="0" err="1"/>
              <a:t>10L</a:t>
            </a:r>
            <a:r>
              <a:rPr lang="es-ES" dirty="0"/>
              <a:t>  +	</a:t>
            </a:r>
            <a:r>
              <a:rPr lang="es-ES" dirty="0" err="1"/>
              <a:t>6S</a:t>
            </a:r>
            <a:r>
              <a:rPr lang="es-ES" dirty="0"/>
              <a:t>	≤15000			</a:t>
            </a:r>
          </a:p>
          <a:p>
            <a:r>
              <a:rPr lang="es-ES" dirty="0" err="1"/>
              <a:t>15L</a:t>
            </a:r>
            <a:r>
              <a:rPr lang="es-ES" dirty="0"/>
              <a:t>  + 	</a:t>
            </a:r>
            <a:r>
              <a:rPr lang="es-ES" dirty="0" err="1"/>
              <a:t>7,5S</a:t>
            </a:r>
            <a:r>
              <a:rPr lang="es-ES" dirty="0"/>
              <a:t>	≤25000			</a:t>
            </a:r>
          </a:p>
          <a:p>
            <a:r>
              <a:rPr lang="es-ES" dirty="0"/>
              <a:t>   </a:t>
            </a:r>
            <a:r>
              <a:rPr lang="es-ES" dirty="0" err="1"/>
              <a:t>2L</a:t>
            </a:r>
            <a:r>
              <a:rPr lang="es-ES" dirty="0"/>
              <a:t>  -	S	≥ 0			</a:t>
            </a:r>
          </a:p>
          <a:p>
            <a:r>
              <a:rPr lang="es-ES" dirty="0"/>
              <a:t>         L,  S	≥0 , </a:t>
            </a:r>
            <a:r>
              <a:rPr lang="es-ES" dirty="0">
                <a:solidFill>
                  <a:srgbClr val="FF0000"/>
                </a:solidFill>
              </a:rPr>
              <a:t>ENTERAS</a:t>
            </a:r>
            <a:endParaRPr lang="es-PE" dirty="0">
              <a:solidFill>
                <a:srgbClr val="FF0000"/>
              </a:solidFill>
            </a:endParaRPr>
          </a:p>
        </p:txBody>
      </p:sp>
      <p:graphicFrame>
        <p:nvGraphicFramePr>
          <p:cNvPr id="2" name="Tabla 4">
            <a:extLst>
              <a:ext uri="{FF2B5EF4-FFF2-40B4-BE49-F238E27FC236}">
                <a16:creationId xmlns:a16="http://schemas.microsoft.com/office/drawing/2014/main" id="{417ADBEF-7E45-44CD-AF9E-7226BAB246F0}"/>
              </a:ext>
            </a:extLst>
          </p:cNvPr>
          <p:cNvGraphicFramePr>
            <a:graphicFrameLocks noGrp="1"/>
          </p:cNvGraphicFramePr>
          <p:nvPr/>
        </p:nvGraphicFramePr>
        <p:xfrm>
          <a:off x="6228271" y="1194119"/>
          <a:ext cx="5607172" cy="1463040"/>
        </p:xfrm>
        <a:graphic>
          <a:graphicData uri="http://schemas.openxmlformats.org/drawingml/2006/table">
            <a:tbl>
              <a:tblPr firstRow="1" bandRow="1">
                <a:tableStyleId>{5C22544A-7EE6-4342-B048-85BDC9FD1C3A}</a:tableStyleId>
              </a:tblPr>
              <a:tblGrid>
                <a:gridCol w="1380227">
                  <a:extLst>
                    <a:ext uri="{9D8B030D-6E8A-4147-A177-3AD203B41FA5}">
                      <a16:colId xmlns:a16="http://schemas.microsoft.com/office/drawing/2014/main" val="1549561753"/>
                    </a:ext>
                  </a:extLst>
                </a:gridCol>
                <a:gridCol w="1362973">
                  <a:extLst>
                    <a:ext uri="{9D8B030D-6E8A-4147-A177-3AD203B41FA5}">
                      <a16:colId xmlns:a16="http://schemas.microsoft.com/office/drawing/2014/main" val="5493137"/>
                    </a:ext>
                  </a:extLst>
                </a:gridCol>
                <a:gridCol w="1785668">
                  <a:extLst>
                    <a:ext uri="{9D8B030D-6E8A-4147-A177-3AD203B41FA5}">
                      <a16:colId xmlns:a16="http://schemas.microsoft.com/office/drawing/2014/main" val="2318943843"/>
                    </a:ext>
                  </a:extLst>
                </a:gridCol>
                <a:gridCol w="1078304">
                  <a:extLst>
                    <a:ext uri="{9D8B030D-6E8A-4147-A177-3AD203B41FA5}">
                      <a16:colId xmlns:a16="http://schemas.microsoft.com/office/drawing/2014/main" val="1788353063"/>
                    </a:ext>
                  </a:extLst>
                </a:gridCol>
              </a:tblGrid>
              <a:tr h="350009">
                <a:tc>
                  <a:txBody>
                    <a:bodyPr/>
                    <a:lstStyle/>
                    <a:p>
                      <a:pPr algn="ctr"/>
                      <a:r>
                        <a:rPr lang="es-ES" b="1" dirty="0">
                          <a:latin typeface="Arial Narrow" panose="020B0606020202030204" pitchFamily="34" charset="0"/>
                        </a:rPr>
                        <a:t>TIPO</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Material (m)</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Producción(min)</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Ganancia</a:t>
                      </a:r>
                      <a:endParaRPr lang="es-PE" b="1" dirty="0">
                        <a:latin typeface="Arial Narrow" panose="020B0606020202030204" pitchFamily="34" charset="0"/>
                      </a:endParaRPr>
                    </a:p>
                  </a:txBody>
                  <a:tcPr/>
                </a:tc>
                <a:extLst>
                  <a:ext uri="{0D108BD9-81ED-4DB2-BD59-A6C34878D82A}">
                    <a16:rowId xmlns:a16="http://schemas.microsoft.com/office/drawing/2014/main" val="1615741315"/>
                  </a:ext>
                </a:extLst>
              </a:tr>
              <a:tr h="333387">
                <a:tc>
                  <a:txBody>
                    <a:bodyPr/>
                    <a:lstStyle/>
                    <a:p>
                      <a:pPr algn="ctr"/>
                      <a:r>
                        <a:rPr lang="es-ES" b="1" dirty="0">
                          <a:latin typeface="Arial Narrow" panose="020B0606020202030204" pitchFamily="34" charset="0"/>
                        </a:rPr>
                        <a:t>Grande</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10</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15</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90</a:t>
                      </a:r>
                      <a:endParaRPr lang="es-PE" b="1" dirty="0">
                        <a:latin typeface="Arial Narrow" panose="020B0606020202030204" pitchFamily="34" charset="0"/>
                      </a:endParaRPr>
                    </a:p>
                  </a:txBody>
                  <a:tcPr/>
                </a:tc>
                <a:extLst>
                  <a:ext uri="{0D108BD9-81ED-4DB2-BD59-A6C34878D82A}">
                    <a16:rowId xmlns:a16="http://schemas.microsoft.com/office/drawing/2014/main" val="2802745612"/>
                  </a:ext>
                </a:extLst>
              </a:tr>
              <a:tr h="333387">
                <a:tc>
                  <a:txBody>
                    <a:bodyPr/>
                    <a:lstStyle/>
                    <a:p>
                      <a:pPr algn="ctr"/>
                      <a:r>
                        <a:rPr lang="es-ES" b="1" dirty="0">
                          <a:latin typeface="Arial Narrow" panose="020B0606020202030204" pitchFamily="34" charset="0"/>
                        </a:rPr>
                        <a:t>Pequeña</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6</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7,5</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70</a:t>
                      </a:r>
                      <a:endParaRPr lang="es-PE" b="1" dirty="0">
                        <a:latin typeface="Arial Narrow" panose="020B0606020202030204" pitchFamily="34" charset="0"/>
                      </a:endParaRPr>
                    </a:p>
                  </a:txBody>
                  <a:tcPr/>
                </a:tc>
                <a:extLst>
                  <a:ext uri="{0D108BD9-81ED-4DB2-BD59-A6C34878D82A}">
                    <a16:rowId xmlns:a16="http://schemas.microsoft.com/office/drawing/2014/main" val="3554136796"/>
                  </a:ext>
                </a:extLst>
              </a:tr>
              <a:tr h="333387">
                <a:tc>
                  <a:txBody>
                    <a:bodyPr/>
                    <a:lstStyle/>
                    <a:p>
                      <a:pPr algn="ctr"/>
                      <a:r>
                        <a:rPr lang="es-ES" b="1" dirty="0" err="1">
                          <a:latin typeface="Arial Narrow" panose="020B0606020202030204" pitchFamily="34" charset="0"/>
                        </a:rPr>
                        <a:t>Disponibil</a:t>
                      </a:r>
                      <a:r>
                        <a:rPr lang="es-ES" b="1" dirty="0">
                          <a:latin typeface="Arial Narrow" panose="020B0606020202030204" pitchFamily="34" charset="0"/>
                        </a:rPr>
                        <a:t>.</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15000</a:t>
                      </a:r>
                      <a:endParaRPr lang="es-PE" b="1" dirty="0">
                        <a:latin typeface="Arial Narrow" panose="020B0606020202030204" pitchFamily="34" charset="0"/>
                      </a:endParaRPr>
                    </a:p>
                  </a:txBody>
                  <a:tcPr/>
                </a:tc>
                <a:tc>
                  <a:txBody>
                    <a:bodyPr/>
                    <a:lstStyle/>
                    <a:p>
                      <a:pPr algn="ctr"/>
                      <a:r>
                        <a:rPr lang="es-ES" b="1" dirty="0">
                          <a:latin typeface="Arial Narrow" panose="020B0606020202030204" pitchFamily="34" charset="0"/>
                        </a:rPr>
                        <a:t>25000</a:t>
                      </a:r>
                      <a:endParaRPr lang="es-PE" b="1" dirty="0">
                        <a:latin typeface="Arial Narrow" panose="020B0606020202030204" pitchFamily="34" charset="0"/>
                      </a:endParaRPr>
                    </a:p>
                  </a:txBody>
                  <a:tcPr/>
                </a:tc>
                <a:tc>
                  <a:txBody>
                    <a:bodyPr/>
                    <a:lstStyle/>
                    <a:p>
                      <a:pPr algn="ctr"/>
                      <a:endParaRPr lang="es-PE" b="1" dirty="0">
                        <a:latin typeface="Arial Narrow" panose="020B0606020202030204" pitchFamily="34" charset="0"/>
                      </a:endParaRPr>
                    </a:p>
                  </a:txBody>
                  <a:tcPr/>
                </a:tc>
                <a:extLst>
                  <a:ext uri="{0D108BD9-81ED-4DB2-BD59-A6C34878D82A}">
                    <a16:rowId xmlns:a16="http://schemas.microsoft.com/office/drawing/2014/main" val="295467224"/>
                  </a:ext>
                </a:extLst>
              </a:tr>
            </a:tbl>
          </a:graphicData>
        </a:graphic>
      </p:graphicFrame>
      <p:sp>
        <p:nvSpPr>
          <p:cNvPr id="5" name="Rectangle 2">
            <a:extLst>
              <a:ext uri="{FF2B5EF4-FFF2-40B4-BE49-F238E27FC236}">
                <a16:creationId xmlns:a16="http://schemas.microsoft.com/office/drawing/2014/main" id="{CE1AB78B-CB3D-4EBC-A16D-E02098B3AD53}"/>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a:t>
            </a:r>
          </a:p>
        </p:txBody>
      </p:sp>
    </p:spTree>
    <p:extLst>
      <p:ext uri="{BB962C8B-B14F-4D97-AF65-F5344CB8AC3E}">
        <p14:creationId xmlns:p14="http://schemas.microsoft.com/office/powerpoint/2010/main" val="2059987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Conector recto de flecha 56">
            <a:extLst>
              <a:ext uri="{FF2B5EF4-FFF2-40B4-BE49-F238E27FC236}">
                <a16:creationId xmlns:a16="http://schemas.microsoft.com/office/drawing/2014/main" id="{E25E4166-AD49-4B1A-B1C7-C59F6E1CE344}"/>
              </a:ext>
            </a:extLst>
          </p:cNvPr>
          <p:cNvCxnSpPr>
            <a:cxnSpLocks/>
          </p:cNvCxnSpPr>
          <p:nvPr/>
        </p:nvCxnSpPr>
        <p:spPr>
          <a:xfrm flipV="1">
            <a:off x="1166631" y="1935126"/>
            <a:ext cx="0" cy="371103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6 Tabla">
            <a:extLst>
              <a:ext uri="{FF2B5EF4-FFF2-40B4-BE49-F238E27FC236}">
                <a16:creationId xmlns:a16="http://schemas.microsoft.com/office/drawing/2014/main" id="{CE5B47C9-6E65-4A98-805D-A2C49D055E52}"/>
              </a:ext>
            </a:extLst>
          </p:cNvPr>
          <p:cNvGraphicFramePr>
            <a:graphicFrameLocks noGrp="1"/>
          </p:cNvGraphicFramePr>
          <p:nvPr/>
        </p:nvGraphicFramePr>
        <p:xfrm>
          <a:off x="1186817" y="2078355"/>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3" name="CuadroTexto 2">
            <a:extLst>
              <a:ext uri="{FF2B5EF4-FFF2-40B4-BE49-F238E27FC236}">
                <a16:creationId xmlns:a16="http://schemas.microsoft.com/office/drawing/2014/main" id="{F4EE32F4-50D8-4A01-9B7B-B1F97C91EC2D}"/>
              </a:ext>
            </a:extLst>
          </p:cNvPr>
          <p:cNvSpPr txBox="1"/>
          <p:nvPr/>
        </p:nvSpPr>
        <p:spPr>
          <a:xfrm>
            <a:off x="2833950" y="1315355"/>
            <a:ext cx="3173445" cy="1938992"/>
          </a:xfrm>
          <a:prstGeom prst="rect">
            <a:avLst/>
          </a:prstGeom>
          <a:solidFill>
            <a:schemeClr val="accent4">
              <a:lumMod val="40000"/>
              <a:lumOff val="60000"/>
            </a:schemeClr>
          </a:solidFill>
        </p:spPr>
        <p:txBody>
          <a:bodyPr wrap="square" rtlCol="0">
            <a:spAutoFit/>
          </a:bodyPr>
          <a:lstStyle/>
          <a:p>
            <a:pPr>
              <a:lnSpc>
                <a:spcPct val="100000"/>
              </a:lnSpc>
            </a:pPr>
            <a:r>
              <a:rPr lang="es-ES" sz="2000" dirty="0"/>
              <a:t>MAX </a:t>
            </a:r>
            <a:r>
              <a:rPr lang="es-ES" sz="2000" dirty="0" err="1"/>
              <a:t>90L+70S</a:t>
            </a:r>
            <a:endParaRPr lang="es-ES" sz="2000" dirty="0"/>
          </a:p>
          <a:p>
            <a:pPr>
              <a:lnSpc>
                <a:spcPct val="100000"/>
              </a:lnSpc>
            </a:pPr>
            <a:r>
              <a:rPr lang="es-ES" sz="2000" dirty="0" err="1">
                <a:solidFill>
                  <a:srgbClr val="FF0000"/>
                </a:solidFill>
              </a:rPr>
              <a:t>ST</a:t>
            </a:r>
            <a:endParaRPr lang="es-ES" sz="2000" dirty="0">
              <a:solidFill>
                <a:srgbClr val="FF0000"/>
              </a:solidFill>
            </a:endParaRPr>
          </a:p>
          <a:p>
            <a:pPr>
              <a:lnSpc>
                <a:spcPct val="100000"/>
              </a:lnSpc>
            </a:pPr>
            <a:r>
              <a:rPr lang="es-ES" sz="2000" dirty="0" err="1"/>
              <a:t>10L</a:t>
            </a:r>
            <a:r>
              <a:rPr lang="es-ES" sz="2000" dirty="0"/>
              <a:t>  +	</a:t>
            </a:r>
            <a:r>
              <a:rPr lang="es-ES" sz="2000" dirty="0" err="1"/>
              <a:t>6S</a:t>
            </a:r>
            <a:r>
              <a:rPr lang="es-ES" sz="2000" dirty="0"/>
              <a:t>	&lt;=15000	</a:t>
            </a:r>
          </a:p>
          <a:p>
            <a:pPr>
              <a:lnSpc>
                <a:spcPct val="100000"/>
              </a:lnSpc>
            </a:pPr>
            <a:r>
              <a:rPr lang="es-ES" sz="2000" dirty="0" err="1"/>
              <a:t>15L</a:t>
            </a:r>
            <a:r>
              <a:rPr lang="es-ES" sz="2000" dirty="0"/>
              <a:t>  + 	</a:t>
            </a:r>
            <a:r>
              <a:rPr lang="es-ES" sz="2000" dirty="0" err="1"/>
              <a:t>7,5S</a:t>
            </a:r>
            <a:r>
              <a:rPr lang="es-ES" sz="2000" dirty="0"/>
              <a:t>	&lt;=25000	</a:t>
            </a:r>
          </a:p>
          <a:p>
            <a:pPr>
              <a:lnSpc>
                <a:spcPct val="100000"/>
              </a:lnSpc>
            </a:pPr>
            <a:r>
              <a:rPr lang="es-ES" sz="2000" dirty="0"/>
              <a:t>   </a:t>
            </a:r>
            <a:r>
              <a:rPr lang="es-ES" sz="2000" dirty="0" err="1"/>
              <a:t>2L</a:t>
            </a:r>
            <a:r>
              <a:rPr lang="es-ES" sz="2000" dirty="0"/>
              <a:t>  -	S	&gt;= 0	</a:t>
            </a:r>
          </a:p>
          <a:p>
            <a:pPr>
              <a:lnSpc>
                <a:spcPct val="100000"/>
              </a:lnSpc>
            </a:pPr>
            <a:r>
              <a:rPr lang="es-ES" sz="2000" dirty="0"/>
              <a:t>         L,  S	≥0 , entera</a:t>
            </a:r>
            <a:endParaRPr lang="es-PE" sz="2000" dirty="0"/>
          </a:p>
        </p:txBody>
      </p:sp>
      <p:sp>
        <p:nvSpPr>
          <p:cNvPr id="5" name="CuadroTexto 4">
            <a:extLst>
              <a:ext uri="{FF2B5EF4-FFF2-40B4-BE49-F238E27FC236}">
                <a16:creationId xmlns:a16="http://schemas.microsoft.com/office/drawing/2014/main" id="{8FF44F74-C7B6-442A-9B4B-206C6C996F4F}"/>
              </a:ext>
            </a:extLst>
          </p:cNvPr>
          <p:cNvSpPr txBox="1"/>
          <p:nvPr/>
        </p:nvSpPr>
        <p:spPr>
          <a:xfrm>
            <a:off x="6198946" y="1310180"/>
            <a:ext cx="3191942" cy="1231106"/>
          </a:xfrm>
          <a:prstGeom prst="rect">
            <a:avLst/>
          </a:prstGeom>
          <a:noFill/>
        </p:spPr>
        <p:txBody>
          <a:bodyPr wrap="square" rtlCol="0">
            <a:spAutoFit/>
          </a:bodyPr>
          <a:lstStyle/>
          <a:p>
            <a:r>
              <a:rPr lang="es-ES" dirty="0"/>
              <a:t>Graficando las restricciones</a:t>
            </a:r>
          </a:p>
          <a:p>
            <a:r>
              <a:rPr lang="es-ES" dirty="0"/>
              <a:t> </a:t>
            </a:r>
            <a:r>
              <a:rPr lang="es-ES" dirty="0" err="1"/>
              <a:t>10L</a:t>
            </a:r>
            <a:r>
              <a:rPr lang="es-ES" dirty="0"/>
              <a:t>  +</a:t>
            </a:r>
            <a:r>
              <a:rPr lang="es-ES" dirty="0" err="1"/>
              <a:t>6S</a:t>
            </a:r>
            <a:r>
              <a:rPr lang="es-ES" dirty="0"/>
              <a:t>	=15000</a:t>
            </a:r>
            <a:endParaRPr lang="es-ES" dirty="0">
              <a:sym typeface="Wingdings" panose="05000000000000000000" pitchFamily="2" charset="2"/>
            </a:endParaRPr>
          </a:p>
          <a:p>
            <a:r>
              <a:rPr lang="es-ES" dirty="0">
                <a:sym typeface="Wingdings" panose="05000000000000000000" pitchFamily="2" charset="2"/>
              </a:rPr>
              <a:t>	Si L=</a:t>
            </a:r>
            <a:r>
              <a:rPr lang="es-ES" dirty="0" err="1">
                <a:sym typeface="Wingdings" panose="05000000000000000000" pitchFamily="2" charset="2"/>
              </a:rPr>
              <a:t>0S</a:t>
            </a:r>
            <a:r>
              <a:rPr lang="es-ES" dirty="0">
                <a:sym typeface="Wingdings" panose="05000000000000000000" pitchFamily="2" charset="2"/>
              </a:rPr>
              <a:t>=2500</a:t>
            </a:r>
          </a:p>
          <a:p>
            <a:r>
              <a:rPr lang="es-ES" dirty="0">
                <a:sym typeface="Wingdings" panose="05000000000000000000" pitchFamily="2" charset="2"/>
              </a:rPr>
              <a:t>	Si S=</a:t>
            </a:r>
            <a:r>
              <a:rPr lang="es-ES" dirty="0" err="1">
                <a:sym typeface="Wingdings" panose="05000000000000000000" pitchFamily="2" charset="2"/>
              </a:rPr>
              <a:t>0E</a:t>
            </a:r>
            <a:r>
              <a:rPr lang="es-ES" dirty="0">
                <a:sym typeface="Wingdings" panose="05000000000000000000" pitchFamily="2" charset="2"/>
              </a:rPr>
              <a:t>=1500</a:t>
            </a:r>
            <a:r>
              <a:rPr lang="es-ES" dirty="0"/>
              <a:t>          </a:t>
            </a:r>
            <a:endParaRPr lang="es-ES" dirty="0">
              <a:sym typeface="Wingdings" panose="05000000000000000000" pitchFamily="2" charset="2"/>
            </a:endParaRPr>
          </a:p>
        </p:txBody>
      </p:sp>
      <p:graphicFrame>
        <p:nvGraphicFramePr>
          <p:cNvPr id="6" name="6 Tabla">
            <a:extLst>
              <a:ext uri="{FF2B5EF4-FFF2-40B4-BE49-F238E27FC236}">
                <a16:creationId xmlns:a16="http://schemas.microsoft.com/office/drawing/2014/main" id="{CABA01C4-4ACF-4293-AB4B-650BB25F2799}"/>
              </a:ext>
            </a:extLst>
          </p:cNvPr>
          <p:cNvGraphicFramePr>
            <a:graphicFrameLocks noGrp="1"/>
          </p:cNvGraphicFramePr>
          <p:nvPr/>
        </p:nvGraphicFramePr>
        <p:xfrm>
          <a:off x="1184814" y="3793952"/>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9" name="7 CuadroTexto">
            <a:extLst>
              <a:ext uri="{FF2B5EF4-FFF2-40B4-BE49-F238E27FC236}">
                <a16:creationId xmlns:a16="http://schemas.microsoft.com/office/drawing/2014/main" id="{F4346BB2-45C8-437F-872B-282B14E3CF79}"/>
              </a:ext>
            </a:extLst>
          </p:cNvPr>
          <p:cNvSpPr txBox="1"/>
          <p:nvPr/>
        </p:nvSpPr>
        <p:spPr>
          <a:xfrm>
            <a:off x="455589" y="2396019"/>
            <a:ext cx="707154" cy="2723823"/>
          </a:xfrm>
          <a:prstGeom prst="rect">
            <a:avLst/>
          </a:prstGeom>
          <a:noFill/>
        </p:spPr>
        <p:txBody>
          <a:bodyPr wrap="square" rtlCol="0">
            <a:spAutoFit/>
          </a:bodyPr>
          <a:lstStyle/>
          <a:p>
            <a:r>
              <a:rPr lang="es-ES" sz="1900" dirty="0"/>
              <a:t>5000</a:t>
            </a:r>
          </a:p>
          <a:p>
            <a:endParaRPr lang="es-ES" sz="1900" dirty="0"/>
          </a:p>
          <a:p>
            <a:r>
              <a:rPr lang="es-ES" sz="1900" dirty="0"/>
              <a:t>4000</a:t>
            </a:r>
          </a:p>
          <a:p>
            <a:endParaRPr lang="es-ES" sz="1900" dirty="0"/>
          </a:p>
          <a:p>
            <a:r>
              <a:rPr lang="es-ES" sz="1900" dirty="0"/>
              <a:t>3000</a:t>
            </a:r>
          </a:p>
          <a:p>
            <a:endParaRPr lang="es-ES" sz="1900" dirty="0"/>
          </a:p>
          <a:p>
            <a:r>
              <a:rPr lang="es-ES" sz="1900" dirty="0"/>
              <a:t>2000</a:t>
            </a:r>
          </a:p>
          <a:p>
            <a:endParaRPr lang="es-ES" sz="1900" dirty="0"/>
          </a:p>
          <a:p>
            <a:r>
              <a:rPr lang="es-ES" sz="1900" dirty="0"/>
              <a:t>1000</a:t>
            </a:r>
            <a:endParaRPr lang="es-PE" sz="1900" dirty="0"/>
          </a:p>
        </p:txBody>
      </p:sp>
      <p:sp>
        <p:nvSpPr>
          <p:cNvPr id="10" name="8 CuadroTexto">
            <a:extLst>
              <a:ext uri="{FF2B5EF4-FFF2-40B4-BE49-F238E27FC236}">
                <a16:creationId xmlns:a16="http://schemas.microsoft.com/office/drawing/2014/main" id="{D82CE086-6A1C-4C39-8B75-0E2AAE0A6ECA}"/>
              </a:ext>
            </a:extLst>
          </p:cNvPr>
          <p:cNvSpPr txBox="1"/>
          <p:nvPr/>
        </p:nvSpPr>
        <p:spPr>
          <a:xfrm>
            <a:off x="1451526" y="5526559"/>
            <a:ext cx="2950353" cy="384721"/>
          </a:xfrm>
          <a:prstGeom prst="rect">
            <a:avLst/>
          </a:prstGeom>
          <a:noFill/>
        </p:spPr>
        <p:txBody>
          <a:bodyPr wrap="square" rtlCol="0">
            <a:spAutoFit/>
          </a:bodyPr>
          <a:lstStyle>
            <a:defPPr>
              <a:defRPr lang="es-PE"/>
            </a:defPPr>
          </a:lstStyle>
          <a:p>
            <a:r>
              <a:rPr lang="es-PE" sz="1900" dirty="0">
                <a:latin typeface="Arial Narrow" panose="020B0606020202030204" pitchFamily="34" charset="0"/>
              </a:rPr>
              <a:t>1000   2000  3000  4000   5000</a:t>
            </a:r>
          </a:p>
        </p:txBody>
      </p:sp>
      <p:cxnSp>
        <p:nvCxnSpPr>
          <p:cNvPr id="11" name="10 Conector recto de flecha">
            <a:extLst>
              <a:ext uri="{FF2B5EF4-FFF2-40B4-BE49-F238E27FC236}">
                <a16:creationId xmlns:a16="http://schemas.microsoft.com/office/drawing/2014/main" id="{E3649BF5-F65E-4613-A987-86880304DDE5}"/>
              </a:ext>
            </a:extLst>
          </p:cNvPr>
          <p:cNvCxnSpPr>
            <a:cxnSpLocks/>
          </p:cNvCxnSpPr>
          <p:nvPr/>
        </p:nvCxnSpPr>
        <p:spPr>
          <a:xfrm flipH="1">
            <a:off x="1018719" y="4050799"/>
            <a:ext cx="149758" cy="133816"/>
          </a:xfrm>
          <a:prstGeom prst="straightConnector1">
            <a:avLst/>
          </a:prstGeom>
          <a:ln w="19050">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E603247D-F85D-4C20-9F74-FC99D41414FE}"/>
              </a:ext>
            </a:extLst>
          </p:cNvPr>
          <p:cNvSpPr txBox="1"/>
          <p:nvPr/>
        </p:nvSpPr>
        <p:spPr>
          <a:xfrm>
            <a:off x="4846320" y="5501640"/>
            <a:ext cx="701040" cy="523220"/>
          </a:xfrm>
          <a:prstGeom prst="rect">
            <a:avLst/>
          </a:prstGeom>
          <a:noFill/>
        </p:spPr>
        <p:txBody>
          <a:bodyPr wrap="square" rtlCol="0">
            <a:spAutoFit/>
          </a:bodyPr>
          <a:lstStyle/>
          <a:p>
            <a:r>
              <a:rPr lang="es-ES" sz="2800" dirty="0">
                <a:solidFill>
                  <a:srgbClr val="FF0000"/>
                </a:solidFill>
              </a:rPr>
              <a:t>L</a:t>
            </a:r>
            <a:endParaRPr lang="es-PE" sz="2800" dirty="0">
              <a:solidFill>
                <a:srgbClr val="FF0000"/>
              </a:solidFill>
            </a:endParaRPr>
          </a:p>
        </p:txBody>
      </p:sp>
      <p:sp>
        <p:nvSpPr>
          <p:cNvPr id="17" name="CuadroTexto 16">
            <a:extLst>
              <a:ext uri="{FF2B5EF4-FFF2-40B4-BE49-F238E27FC236}">
                <a16:creationId xmlns:a16="http://schemas.microsoft.com/office/drawing/2014/main" id="{F768F3A9-4B7B-49E6-9046-1A1E1213A388}"/>
              </a:ext>
            </a:extLst>
          </p:cNvPr>
          <p:cNvSpPr txBox="1"/>
          <p:nvPr/>
        </p:nvSpPr>
        <p:spPr>
          <a:xfrm>
            <a:off x="737191" y="1788751"/>
            <a:ext cx="701040" cy="523220"/>
          </a:xfrm>
          <a:prstGeom prst="rect">
            <a:avLst/>
          </a:prstGeom>
          <a:noFill/>
        </p:spPr>
        <p:txBody>
          <a:bodyPr wrap="square" rtlCol="0">
            <a:spAutoFit/>
          </a:bodyPr>
          <a:lstStyle/>
          <a:p>
            <a:r>
              <a:rPr lang="es-ES" sz="2800" dirty="0">
                <a:solidFill>
                  <a:srgbClr val="FF0000"/>
                </a:solidFill>
              </a:rPr>
              <a:t>S</a:t>
            </a:r>
            <a:endParaRPr lang="es-PE" sz="2800" dirty="0">
              <a:solidFill>
                <a:srgbClr val="FF0000"/>
              </a:solidFill>
            </a:endParaRPr>
          </a:p>
        </p:txBody>
      </p:sp>
      <p:cxnSp>
        <p:nvCxnSpPr>
          <p:cNvPr id="18" name="Conector recto 17">
            <a:extLst>
              <a:ext uri="{FF2B5EF4-FFF2-40B4-BE49-F238E27FC236}">
                <a16:creationId xmlns:a16="http://schemas.microsoft.com/office/drawing/2014/main" id="{1F435FB1-EF78-47B1-ACFD-C18C9B2CCEC3}"/>
              </a:ext>
            </a:extLst>
          </p:cNvPr>
          <p:cNvCxnSpPr>
            <a:cxnSpLocks/>
          </p:cNvCxnSpPr>
          <p:nvPr/>
        </p:nvCxnSpPr>
        <p:spPr>
          <a:xfrm>
            <a:off x="1073888" y="3409638"/>
            <a:ext cx="1095154" cy="2232837"/>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10 Conector recto de flecha">
            <a:extLst>
              <a:ext uri="{FF2B5EF4-FFF2-40B4-BE49-F238E27FC236}">
                <a16:creationId xmlns:a16="http://schemas.microsoft.com/office/drawing/2014/main" id="{4BC0E063-7D8D-4433-8C70-15DBF71CDAE3}"/>
              </a:ext>
            </a:extLst>
          </p:cNvPr>
          <p:cNvCxnSpPr>
            <a:cxnSpLocks/>
          </p:cNvCxnSpPr>
          <p:nvPr/>
        </p:nvCxnSpPr>
        <p:spPr>
          <a:xfrm flipH="1">
            <a:off x="780190" y="3395091"/>
            <a:ext cx="287174" cy="165729"/>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3" name="10 Conector recto de flecha">
            <a:extLst>
              <a:ext uri="{FF2B5EF4-FFF2-40B4-BE49-F238E27FC236}">
                <a16:creationId xmlns:a16="http://schemas.microsoft.com/office/drawing/2014/main" id="{FAF74571-0BDE-44BB-BFBB-89A65A95C01C}"/>
              </a:ext>
            </a:extLst>
          </p:cNvPr>
          <p:cNvCxnSpPr>
            <a:cxnSpLocks/>
          </p:cNvCxnSpPr>
          <p:nvPr/>
        </p:nvCxnSpPr>
        <p:spPr>
          <a:xfrm>
            <a:off x="2149735" y="3509582"/>
            <a:ext cx="224600" cy="122656"/>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2" name="CuadroTexto 41">
            <a:extLst>
              <a:ext uri="{FF2B5EF4-FFF2-40B4-BE49-F238E27FC236}">
                <a16:creationId xmlns:a16="http://schemas.microsoft.com/office/drawing/2014/main" id="{9E81542A-3539-485C-A5EC-FDEA5486183F}"/>
              </a:ext>
            </a:extLst>
          </p:cNvPr>
          <p:cNvSpPr txBox="1"/>
          <p:nvPr/>
        </p:nvSpPr>
        <p:spPr>
          <a:xfrm>
            <a:off x="6305910" y="4408097"/>
            <a:ext cx="2147978" cy="1231106"/>
          </a:xfrm>
          <a:prstGeom prst="rect">
            <a:avLst/>
          </a:prstGeom>
          <a:noFill/>
        </p:spPr>
        <p:txBody>
          <a:bodyPr wrap="square" rtlCol="0">
            <a:spAutoFit/>
          </a:bodyPr>
          <a:lstStyle/>
          <a:p>
            <a:r>
              <a:rPr lang="es-ES" dirty="0"/>
              <a:t>Graficando la </a:t>
            </a:r>
            <a:r>
              <a:rPr lang="es-ES" dirty="0" err="1"/>
              <a:t>F.O</a:t>
            </a:r>
            <a:r>
              <a:rPr lang="es-ES" dirty="0"/>
              <a:t>.</a:t>
            </a:r>
          </a:p>
          <a:p>
            <a:pPr>
              <a:lnSpc>
                <a:spcPct val="100000"/>
              </a:lnSpc>
            </a:pPr>
            <a:r>
              <a:rPr lang="es-ES" dirty="0" err="1"/>
              <a:t>90L+70S</a:t>
            </a:r>
            <a:r>
              <a:rPr lang="es-ES" dirty="0"/>
              <a:t> = 6300</a:t>
            </a:r>
          </a:p>
          <a:p>
            <a:r>
              <a:rPr lang="es-ES" dirty="0">
                <a:sym typeface="Wingdings" panose="05000000000000000000" pitchFamily="2" charset="2"/>
              </a:rPr>
              <a:t>Si L=</a:t>
            </a:r>
            <a:r>
              <a:rPr lang="es-ES" dirty="0" err="1">
                <a:sym typeface="Wingdings" panose="05000000000000000000" pitchFamily="2" charset="2"/>
              </a:rPr>
              <a:t>0S</a:t>
            </a:r>
            <a:r>
              <a:rPr lang="es-ES" dirty="0">
                <a:sym typeface="Wingdings" panose="05000000000000000000" pitchFamily="2" charset="2"/>
              </a:rPr>
              <a:t>=900</a:t>
            </a:r>
          </a:p>
          <a:p>
            <a:r>
              <a:rPr lang="es-ES" dirty="0">
                <a:sym typeface="Wingdings" panose="05000000000000000000" pitchFamily="2" charset="2"/>
              </a:rPr>
              <a:t>Si S=</a:t>
            </a:r>
            <a:r>
              <a:rPr lang="es-ES" dirty="0" err="1">
                <a:sym typeface="Wingdings" panose="05000000000000000000" pitchFamily="2" charset="2"/>
              </a:rPr>
              <a:t>0L</a:t>
            </a:r>
            <a:r>
              <a:rPr lang="es-ES" dirty="0">
                <a:sym typeface="Wingdings" panose="05000000000000000000" pitchFamily="2" charset="2"/>
              </a:rPr>
              <a:t>=700</a:t>
            </a:r>
          </a:p>
        </p:txBody>
      </p:sp>
      <p:sp>
        <p:nvSpPr>
          <p:cNvPr id="51" name="CuadroTexto 50">
            <a:extLst>
              <a:ext uri="{FF2B5EF4-FFF2-40B4-BE49-F238E27FC236}">
                <a16:creationId xmlns:a16="http://schemas.microsoft.com/office/drawing/2014/main" id="{29FF2078-A613-49E0-9BBF-27B3C2119986}"/>
              </a:ext>
            </a:extLst>
          </p:cNvPr>
          <p:cNvSpPr txBox="1"/>
          <p:nvPr/>
        </p:nvSpPr>
        <p:spPr>
          <a:xfrm>
            <a:off x="9333438" y="1286047"/>
            <a:ext cx="2789553" cy="2862322"/>
          </a:xfrm>
          <a:prstGeom prst="rect">
            <a:avLst/>
          </a:prstGeom>
          <a:noFill/>
        </p:spPr>
        <p:txBody>
          <a:bodyPr wrap="square" rtlCol="0">
            <a:spAutoFit/>
          </a:bodyPr>
          <a:lstStyle/>
          <a:p>
            <a:r>
              <a:rPr lang="es-ES" dirty="0"/>
              <a:t>Hallando la Solución La </a:t>
            </a:r>
            <a:r>
              <a:rPr lang="es-ES" dirty="0" err="1"/>
              <a:t>S.O</a:t>
            </a:r>
            <a:r>
              <a:rPr lang="es-ES" dirty="0"/>
              <a:t> esta en la intersección de 1 y 3</a:t>
            </a:r>
          </a:p>
          <a:p>
            <a:r>
              <a:rPr lang="es-ES" dirty="0" err="1"/>
              <a:t>10L</a:t>
            </a:r>
            <a:r>
              <a:rPr lang="es-ES" dirty="0"/>
              <a:t>  + </a:t>
            </a:r>
            <a:r>
              <a:rPr lang="es-ES" dirty="0" err="1"/>
              <a:t>6S</a:t>
            </a:r>
            <a:r>
              <a:rPr lang="es-ES" dirty="0"/>
              <a:t>	=15000</a:t>
            </a:r>
          </a:p>
          <a:p>
            <a:r>
              <a:rPr lang="es-ES" u="sng" dirty="0" err="1"/>
              <a:t>2L</a:t>
            </a:r>
            <a:r>
              <a:rPr lang="es-ES" u="sng" dirty="0"/>
              <a:t>  -      S	= 0</a:t>
            </a:r>
            <a:endParaRPr lang="es-ES" u="sng" dirty="0">
              <a:sym typeface="Wingdings" panose="05000000000000000000" pitchFamily="2" charset="2"/>
            </a:endParaRPr>
          </a:p>
          <a:p>
            <a:r>
              <a:rPr lang="es-ES" dirty="0" err="1"/>
              <a:t>10L</a:t>
            </a:r>
            <a:r>
              <a:rPr lang="es-ES" dirty="0"/>
              <a:t>  + </a:t>
            </a:r>
            <a:r>
              <a:rPr lang="es-ES" dirty="0" err="1"/>
              <a:t>6S</a:t>
            </a:r>
            <a:r>
              <a:rPr lang="es-ES" dirty="0"/>
              <a:t>	=15000</a:t>
            </a:r>
          </a:p>
          <a:p>
            <a:pPr>
              <a:buAutoNum type="arabicPlain" startAt="12"/>
            </a:pPr>
            <a:r>
              <a:rPr lang="es-ES" u="sng" dirty="0">
                <a:sym typeface="Wingdings" panose="05000000000000000000" pitchFamily="2" charset="2"/>
              </a:rPr>
              <a:t>L  -  </a:t>
            </a:r>
            <a:r>
              <a:rPr lang="es-ES" u="sng" dirty="0" err="1">
                <a:sym typeface="Wingdings" panose="05000000000000000000" pitchFamily="2" charset="2"/>
              </a:rPr>
              <a:t>6S</a:t>
            </a:r>
            <a:r>
              <a:rPr lang="es-ES" u="sng" dirty="0">
                <a:sym typeface="Wingdings" panose="05000000000000000000" pitchFamily="2" charset="2"/>
              </a:rPr>
              <a:t> =0</a:t>
            </a:r>
          </a:p>
          <a:p>
            <a:r>
              <a:rPr lang="es-ES" dirty="0" err="1">
                <a:sym typeface="Wingdings" panose="05000000000000000000" pitchFamily="2" charset="2"/>
              </a:rPr>
              <a:t>22L</a:t>
            </a:r>
            <a:r>
              <a:rPr lang="es-ES" dirty="0">
                <a:sym typeface="Wingdings" panose="05000000000000000000" pitchFamily="2" charset="2"/>
              </a:rPr>
              <a:t> =15000</a:t>
            </a:r>
          </a:p>
          <a:p>
            <a:r>
              <a:rPr lang="es-ES" dirty="0">
                <a:sym typeface="Wingdings" panose="05000000000000000000" pitchFamily="2" charset="2"/>
              </a:rPr>
              <a:t>   L=682</a:t>
            </a:r>
          </a:p>
          <a:p>
            <a:r>
              <a:rPr lang="es-ES" dirty="0">
                <a:sym typeface="Wingdings" panose="05000000000000000000" pitchFamily="2" charset="2"/>
              </a:rPr>
              <a:t>   S=1364</a:t>
            </a:r>
          </a:p>
        </p:txBody>
      </p:sp>
      <p:sp>
        <p:nvSpPr>
          <p:cNvPr id="53" name="Rectángulo 52">
            <a:extLst>
              <a:ext uri="{FF2B5EF4-FFF2-40B4-BE49-F238E27FC236}">
                <a16:creationId xmlns:a16="http://schemas.microsoft.com/office/drawing/2014/main" id="{85F37E49-4FCC-40FE-A1C0-50082122858B}"/>
              </a:ext>
            </a:extLst>
          </p:cNvPr>
          <p:cNvSpPr/>
          <p:nvPr/>
        </p:nvSpPr>
        <p:spPr>
          <a:xfrm>
            <a:off x="6248400" y="3466809"/>
            <a:ext cx="3048000" cy="923330"/>
          </a:xfrm>
          <a:prstGeom prst="rect">
            <a:avLst/>
          </a:prstGeom>
        </p:spPr>
        <p:txBody>
          <a:bodyPr wrap="square">
            <a:spAutoFit/>
          </a:bodyPr>
          <a:lstStyle/>
          <a:p>
            <a:r>
              <a:rPr lang="es-ES" dirty="0"/>
              <a:t> </a:t>
            </a:r>
            <a:r>
              <a:rPr lang="es-ES" dirty="0" err="1"/>
              <a:t>2L</a:t>
            </a:r>
            <a:r>
              <a:rPr lang="es-ES" dirty="0"/>
              <a:t>  - S	&gt;= 0</a:t>
            </a:r>
            <a:endParaRPr lang="es-ES" dirty="0">
              <a:sym typeface="Wingdings" panose="05000000000000000000" pitchFamily="2" charset="2"/>
            </a:endParaRPr>
          </a:p>
          <a:p>
            <a:r>
              <a:rPr lang="es-ES" dirty="0">
                <a:sym typeface="Wingdings" panose="05000000000000000000" pitchFamily="2" charset="2"/>
              </a:rPr>
              <a:t>	Si L=</a:t>
            </a:r>
            <a:r>
              <a:rPr lang="es-ES" dirty="0" err="1">
                <a:sym typeface="Wingdings" panose="05000000000000000000" pitchFamily="2" charset="2"/>
              </a:rPr>
              <a:t>0S</a:t>
            </a:r>
            <a:r>
              <a:rPr lang="es-ES" dirty="0">
                <a:sym typeface="Wingdings" panose="05000000000000000000" pitchFamily="2" charset="2"/>
              </a:rPr>
              <a:t>=0</a:t>
            </a:r>
          </a:p>
          <a:p>
            <a:r>
              <a:rPr lang="es-ES" dirty="0">
                <a:sym typeface="Wingdings" panose="05000000000000000000" pitchFamily="2" charset="2"/>
              </a:rPr>
              <a:t>	Si S=</a:t>
            </a:r>
            <a:r>
              <a:rPr lang="es-ES" dirty="0" err="1">
                <a:sym typeface="Wingdings" panose="05000000000000000000" pitchFamily="2" charset="2"/>
              </a:rPr>
              <a:t>2000L</a:t>
            </a:r>
            <a:r>
              <a:rPr lang="es-ES" dirty="0">
                <a:sym typeface="Wingdings" panose="05000000000000000000" pitchFamily="2" charset="2"/>
              </a:rPr>
              <a:t>=1000</a:t>
            </a:r>
            <a:endParaRPr lang="es-PE" dirty="0"/>
          </a:p>
        </p:txBody>
      </p:sp>
      <p:sp>
        <p:nvSpPr>
          <p:cNvPr id="54" name="Rectángulo 53">
            <a:extLst>
              <a:ext uri="{FF2B5EF4-FFF2-40B4-BE49-F238E27FC236}">
                <a16:creationId xmlns:a16="http://schemas.microsoft.com/office/drawing/2014/main" id="{0B3D387C-A328-4740-944E-C6C3C734D810}"/>
              </a:ext>
            </a:extLst>
          </p:cNvPr>
          <p:cNvSpPr/>
          <p:nvPr/>
        </p:nvSpPr>
        <p:spPr>
          <a:xfrm>
            <a:off x="6239256" y="2514751"/>
            <a:ext cx="3297936" cy="954107"/>
          </a:xfrm>
          <a:prstGeom prst="rect">
            <a:avLst/>
          </a:prstGeom>
        </p:spPr>
        <p:txBody>
          <a:bodyPr wrap="square">
            <a:spAutoFit/>
          </a:bodyPr>
          <a:lstStyle/>
          <a:p>
            <a:r>
              <a:rPr lang="es-ES" dirty="0"/>
              <a:t> </a:t>
            </a:r>
            <a:r>
              <a:rPr lang="es-ES" dirty="0" err="1"/>
              <a:t>15L</a:t>
            </a:r>
            <a:r>
              <a:rPr lang="es-ES" dirty="0"/>
              <a:t>  + </a:t>
            </a:r>
            <a:r>
              <a:rPr lang="es-ES" dirty="0" err="1"/>
              <a:t>7,5S</a:t>
            </a:r>
            <a:r>
              <a:rPr lang="es-ES" dirty="0"/>
              <a:t>=25000</a:t>
            </a:r>
            <a:endParaRPr lang="es-ES" dirty="0">
              <a:sym typeface="Wingdings" panose="05000000000000000000" pitchFamily="2" charset="2"/>
            </a:endParaRPr>
          </a:p>
          <a:p>
            <a:r>
              <a:rPr lang="es-ES" dirty="0">
                <a:sym typeface="Wingdings" panose="05000000000000000000" pitchFamily="2" charset="2"/>
              </a:rPr>
              <a:t>	Si L=</a:t>
            </a:r>
            <a:r>
              <a:rPr lang="es-ES" dirty="0" err="1">
                <a:sym typeface="Wingdings" panose="05000000000000000000" pitchFamily="2" charset="2"/>
              </a:rPr>
              <a:t>0S</a:t>
            </a:r>
            <a:r>
              <a:rPr lang="es-ES" dirty="0">
                <a:sym typeface="Wingdings" panose="05000000000000000000" pitchFamily="2" charset="2"/>
              </a:rPr>
              <a:t>=3333,33		Si S=</a:t>
            </a:r>
            <a:r>
              <a:rPr lang="es-ES" dirty="0" err="1">
                <a:sym typeface="Wingdings" panose="05000000000000000000" pitchFamily="2" charset="2"/>
              </a:rPr>
              <a:t>0L</a:t>
            </a:r>
            <a:r>
              <a:rPr lang="es-ES" dirty="0">
                <a:sym typeface="Wingdings" panose="05000000000000000000" pitchFamily="2" charset="2"/>
              </a:rPr>
              <a:t>=1666,67</a:t>
            </a:r>
          </a:p>
        </p:txBody>
      </p:sp>
      <p:sp>
        <p:nvSpPr>
          <p:cNvPr id="55" name="Rectángulo 54">
            <a:extLst>
              <a:ext uri="{FF2B5EF4-FFF2-40B4-BE49-F238E27FC236}">
                <a16:creationId xmlns:a16="http://schemas.microsoft.com/office/drawing/2014/main" id="{A69833B0-D14D-4193-BB55-D8553213AF36}"/>
              </a:ext>
            </a:extLst>
          </p:cNvPr>
          <p:cNvSpPr/>
          <p:nvPr/>
        </p:nvSpPr>
        <p:spPr>
          <a:xfrm>
            <a:off x="9347474" y="4122189"/>
            <a:ext cx="2292096" cy="1200329"/>
          </a:xfrm>
          <a:prstGeom prst="rect">
            <a:avLst/>
          </a:prstGeom>
        </p:spPr>
        <p:txBody>
          <a:bodyPr wrap="square">
            <a:spAutoFit/>
          </a:bodyPr>
          <a:lstStyle/>
          <a:p>
            <a:r>
              <a:rPr lang="es-ES" dirty="0">
                <a:sym typeface="Wingdings" panose="05000000000000000000" pitchFamily="2" charset="2"/>
              </a:rPr>
              <a:t>La solución óptima es: L=682     S=1364</a:t>
            </a:r>
          </a:p>
          <a:p>
            <a:r>
              <a:rPr lang="es-ES" dirty="0">
                <a:sym typeface="Wingdings" panose="05000000000000000000" pitchFamily="2" charset="2"/>
              </a:rPr>
              <a:t>El valor de la </a:t>
            </a:r>
            <a:r>
              <a:rPr lang="es-ES" dirty="0" err="1">
                <a:sym typeface="Wingdings" panose="05000000000000000000" pitchFamily="2" charset="2"/>
              </a:rPr>
              <a:t>F.O</a:t>
            </a:r>
            <a:r>
              <a:rPr lang="es-ES" dirty="0">
                <a:sym typeface="Wingdings" panose="05000000000000000000" pitchFamily="2" charset="2"/>
              </a:rPr>
              <a:t>. es:</a:t>
            </a:r>
          </a:p>
          <a:p>
            <a:r>
              <a:rPr lang="es-ES" dirty="0">
                <a:sym typeface="Wingdings" panose="05000000000000000000" pitchFamily="2" charset="2"/>
              </a:rPr>
              <a:t>Z=156860</a:t>
            </a:r>
            <a:endParaRPr lang="es-PE" dirty="0"/>
          </a:p>
        </p:txBody>
      </p:sp>
      <p:sp>
        <p:nvSpPr>
          <p:cNvPr id="56" name="Rectangle 2">
            <a:extLst>
              <a:ext uri="{FF2B5EF4-FFF2-40B4-BE49-F238E27FC236}">
                <a16:creationId xmlns:a16="http://schemas.microsoft.com/office/drawing/2014/main" id="{714515CD-03DC-462D-8837-094925261DF6}"/>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a:t>
            </a:r>
          </a:p>
        </p:txBody>
      </p:sp>
      <p:sp>
        <p:nvSpPr>
          <p:cNvPr id="48" name="Rectángulo 47">
            <a:extLst>
              <a:ext uri="{FF2B5EF4-FFF2-40B4-BE49-F238E27FC236}">
                <a16:creationId xmlns:a16="http://schemas.microsoft.com/office/drawing/2014/main" id="{8787D567-F6DF-417A-B263-EC954A2BD9B1}"/>
              </a:ext>
            </a:extLst>
          </p:cNvPr>
          <p:cNvSpPr/>
          <p:nvPr/>
        </p:nvSpPr>
        <p:spPr>
          <a:xfrm>
            <a:off x="8609148" y="5439670"/>
            <a:ext cx="3456585" cy="1169551"/>
          </a:xfrm>
          <a:prstGeom prst="rect">
            <a:avLst/>
          </a:prstGeom>
          <a:solidFill>
            <a:schemeClr val="accent4">
              <a:lumMod val="40000"/>
              <a:lumOff val="60000"/>
            </a:schemeClr>
          </a:solidFill>
        </p:spPr>
        <p:txBody>
          <a:bodyPr wrap="square" rtlCol="0">
            <a:spAutoFit/>
          </a:bodyPr>
          <a:lstStyle/>
          <a:p>
            <a:r>
              <a:rPr lang="es-PE" sz="1400" b="1" dirty="0">
                <a:latin typeface="Arial Narrow" panose="020B0606020202030204" pitchFamily="34" charset="0"/>
              </a:rPr>
              <a:t> </a:t>
            </a:r>
            <a:r>
              <a:rPr lang="es-PE" sz="1400" b="1" dirty="0" err="1">
                <a:latin typeface="Arial Narrow" panose="020B0606020202030204" pitchFamily="34" charset="0"/>
              </a:rPr>
              <a:t>OBJECTIVE</a:t>
            </a:r>
            <a:r>
              <a:rPr lang="es-PE" sz="1400" b="1" dirty="0">
                <a:latin typeface="Arial Narrow" panose="020B0606020202030204" pitchFamily="34" charset="0"/>
              </a:rPr>
              <a:t> </a:t>
            </a:r>
            <a:r>
              <a:rPr lang="es-PE" sz="1400" b="1" dirty="0" err="1">
                <a:latin typeface="Arial Narrow" panose="020B0606020202030204" pitchFamily="34" charset="0"/>
              </a:rPr>
              <a:t>FUNCTION</a:t>
            </a:r>
            <a:r>
              <a:rPr lang="es-PE" sz="1400" b="1" dirty="0">
                <a:latin typeface="Arial Narrow" panose="020B0606020202030204" pitchFamily="34" charset="0"/>
              </a:rPr>
              <a:t> </a:t>
            </a:r>
            <a:r>
              <a:rPr lang="es-PE" sz="1400" b="1" dirty="0" err="1">
                <a:latin typeface="Arial Narrow" panose="020B0606020202030204" pitchFamily="34" charset="0"/>
              </a:rPr>
              <a:t>VALUE</a:t>
            </a:r>
            <a:endParaRPr lang="es-PE" sz="1400" b="1" dirty="0">
              <a:latin typeface="Arial Narrow" panose="020B0606020202030204" pitchFamily="34" charset="0"/>
            </a:endParaRPr>
          </a:p>
          <a:p>
            <a:r>
              <a:rPr lang="es-PE" sz="1400" b="1" dirty="0">
                <a:latin typeface="Arial Narrow" panose="020B0606020202030204" pitchFamily="34" charset="0"/>
              </a:rPr>
              <a:t>        1)      156790.0</a:t>
            </a:r>
          </a:p>
          <a:p>
            <a:r>
              <a:rPr lang="es-PE" sz="1400" b="1" dirty="0">
                <a:latin typeface="Arial Narrow" panose="020B0606020202030204" pitchFamily="34" charset="0"/>
              </a:rPr>
              <a:t>  VARIABLE        </a:t>
            </a:r>
            <a:r>
              <a:rPr lang="es-PE" sz="1400" b="1" dirty="0" err="1">
                <a:latin typeface="Arial Narrow" panose="020B0606020202030204" pitchFamily="34" charset="0"/>
              </a:rPr>
              <a:t>VALUE</a:t>
            </a:r>
            <a:r>
              <a:rPr lang="es-PE" sz="1400" b="1" dirty="0">
                <a:latin typeface="Arial Narrow" panose="020B0606020202030204" pitchFamily="34" charset="0"/>
              </a:rPr>
              <a:t>    </a:t>
            </a:r>
            <a:r>
              <a:rPr lang="es-PE" sz="1400" b="1" dirty="0" err="1">
                <a:latin typeface="Arial Narrow" panose="020B0606020202030204" pitchFamily="34" charset="0"/>
              </a:rPr>
              <a:t>REDUCED</a:t>
            </a:r>
            <a:r>
              <a:rPr lang="es-PE" sz="1400" b="1" dirty="0">
                <a:latin typeface="Arial Narrow" panose="020B0606020202030204" pitchFamily="34" charset="0"/>
              </a:rPr>
              <a:t> </a:t>
            </a:r>
            <a:r>
              <a:rPr lang="es-PE" sz="1400" b="1" dirty="0" err="1">
                <a:latin typeface="Arial Narrow" panose="020B0606020202030204" pitchFamily="34" charset="0"/>
              </a:rPr>
              <a:t>COST</a:t>
            </a:r>
            <a:endParaRPr lang="es-PE" sz="1400" b="1" dirty="0">
              <a:latin typeface="Arial Narrow" panose="020B0606020202030204" pitchFamily="34" charset="0"/>
            </a:endParaRPr>
          </a:p>
          <a:p>
            <a:r>
              <a:rPr lang="es-PE" sz="1400" b="1" dirty="0">
                <a:latin typeface="Arial Narrow" panose="020B0606020202030204" pitchFamily="34" charset="0"/>
              </a:rPr>
              <a:t>         L       682.000000        -90.000000</a:t>
            </a:r>
          </a:p>
          <a:p>
            <a:r>
              <a:rPr lang="es-PE" sz="1400" b="1" dirty="0">
                <a:latin typeface="Arial Narrow" panose="020B0606020202030204" pitchFamily="34" charset="0"/>
              </a:rPr>
              <a:t>         S      1363.000000        -70.000000</a:t>
            </a:r>
          </a:p>
        </p:txBody>
      </p:sp>
      <p:sp>
        <p:nvSpPr>
          <p:cNvPr id="59" name="Forma libre: forma 58">
            <a:extLst>
              <a:ext uri="{FF2B5EF4-FFF2-40B4-BE49-F238E27FC236}">
                <a16:creationId xmlns:a16="http://schemas.microsoft.com/office/drawing/2014/main" id="{F55E5E84-974C-45F1-B425-FF80151A76D7}"/>
              </a:ext>
            </a:extLst>
          </p:cNvPr>
          <p:cNvSpPr/>
          <p:nvPr/>
        </p:nvSpPr>
        <p:spPr>
          <a:xfrm>
            <a:off x="1161288" y="4708218"/>
            <a:ext cx="865920" cy="769556"/>
          </a:xfrm>
          <a:custGeom>
            <a:avLst/>
            <a:gdLst>
              <a:gd name="connsiteX0" fmla="*/ 0 w 882503"/>
              <a:gd name="connsiteY0" fmla="*/ 786809 h 786809"/>
              <a:gd name="connsiteX1" fmla="*/ 404038 w 882503"/>
              <a:gd name="connsiteY1" fmla="*/ 0 h 786809"/>
              <a:gd name="connsiteX2" fmla="*/ 882503 w 882503"/>
              <a:gd name="connsiteY2" fmla="*/ 786809 h 786809"/>
              <a:gd name="connsiteX3" fmla="*/ 0 w 882503"/>
              <a:gd name="connsiteY3" fmla="*/ 786809 h 786809"/>
            </a:gdLst>
            <a:ahLst/>
            <a:cxnLst>
              <a:cxn ang="0">
                <a:pos x="connsiteX0" y="connsiteY0"/>
              </a:cxn>
              <a:cxn ang="0">
                <a:pos x="connsiteX1" y="connsiteY1"/>
              </a:cxn>
              <a:cxn ang="0">
                <a:pos x="connsiteX2" y="connsiteY2"/>
              </a:cxn>
              <a:cxn ang="0">
                <a:pos x="connsiteX3" y="connsiteY3"/>
              </a:cxn>
            </a:cxnLst>
            <a:rect l="l" t="t" r="r" b="b"/>
            <a:pathLst>
              <a:path w="882503" h="786809">
                <a:moveTo>
                  <a:pt x="0" y="786809"/>
                </a:moveTo>
                <a:lnTo>
                  <a:pt x="404038" y="0"/>
                </a:lnTo>
                <a:lnTo>
                  <a:pt x="882503" y="786809"/>
                </a:lnTo>
                <a:lnTo>
                  <a:pt x="0" y="786809"/>
                </a:lnTo>
                <a:close/>
              </a:path>
            </a:pathLst>
          </a:cu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4" name="Conector recto 43">
            <a:extLst>
              <a:ext uri="{FF2B5EF4-FFF2-40B4-BE49-F238E27FC236}">
                <a16:creationId xmlns:a16="http://schemas.microsoft.com/office/drawing/2014/main" id="{13946283-53E3-4F32-974A-D0AA2700C709}"/>
              </a:ext>
            </a:extLst>
          </p:cNvPr>
          <p:cNvCxnSpPr>
            <a:cxnSpLocks/>
          </p:cNvCxnSpPr>
          <p:nvPr/>
        </p:nvCxnSpPr>
        <p:spPr>
          <a:xfrm flipH="1" flipV="1">
            <a:off x="1043676" y="4804992"/>
            <a:ext cx="774492" cy="936594"/>
          </a:xfrm>
          <a:prstGeom prst="line">
            <a:avLst/>
          </a:prstGeom>
          <a:ln w="190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96D7D22E-49D2-43D8-9156-674D8F3A5364}"/>
              </a:ext>
            </a:extLst>
          </p:cNvPr>
          <p:cNvCxnSpPr>
            <a:cxnSpLocks/>
          </p:cNvCxnSpPr>
          <p:nvPr/>
        </p:nvCxnSpPr>
        <p:spPr>
          <a:xfrm flipH="1" flipV="1">
            <a:off x="1302406" y="4377210"/>
            <a:ext cx="774492" cy="936594"/>
          </a:xfrm>
          <a:prstGeom prst="line">
            <a:avLst/>
          </a:prstGeom>
          <a:ln w="19050">
            <a:solidFill>
              <a:srgbClr val="FF0000"/>
            </a:solidFill>
            <a:prstDash val="lgDash"/>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61119B03-173E-49F5-BC94-DB31DCF85D2B}"/>
              </a:ext>
            </a:extLst>
          </p:cNvPr>
          <p:cNvCxnSpPr/>
          <p:nvPr/>
        </p:nvCxnSpPr>
        <p:spPr>
          <a:xfrm>
            <a:off x="308466" y="5493765"/>
            <a:ext cx="459500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82F4E26D-CB49-4260-8615-F07C7B9DC76F}"/>
              </a:ext>
            </a:extLst>
          </p:cNvPr>
          <p:cNvCxnSpPr>
            <a:cxnSpLocks/>
          </p:cNvCxnSpPr>
          <p:nvPr/>
        </p:nvCxnSpPr>
        <p:spPr>
          <a:xfrm flipV="1">
            <a:off x="1017917" y="3500438"/>
            <a:ext cx="1158355" cy="228788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3EFE15C4-DB42-4891-BCC0-339F54F89295}"/>
              </a:ext>
            </a:extLst>
          </p:cNvPr>
          <p:cNvCxnSpPr>
            <a:cxnSpLocks/>
          </p:cNvCxnSpPr>
          <p:nvPr/>
        </p:nvCxnSpPr>
        <p:spPr>
          <a:xfrm>
            <a:off x="1164969" y="4053011"/>
            <a:ext cx="967562" cy="1573619"/>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93FDC708-C973-4840-A38A-388E82062910}"/>
              </a:ext>
            </a:extLst>
          </p:cNvPr>
          <p:cNvSpPr/>
          <p:nvPr/>
        </p:nvSpPr>
        <p:spPr>
          <a:xfrm>
            <a:off x="4926677" y="5633041"/>
            <a:ext cx="6096000" cy="1477328"/>
          </a:xfrm>
          <a:prstGeom prst="rect">
            <a:avLst/>
          </a:prstGeom>
        </p:spPr>
        <p:txBody>
          <a:bodyPr>
            <a:spAutoFit/>
          </a:bodyPr>
          <a:lstStyle/>
          <a:p>
            <a:r>
              <a:rPr lang="es-PE" dirty="0"/>
              <a:t> 1)      945000.0</a:t>
            </a:r>
          </a:p>
          <a:p>
            <a:endParaRPr lang="es-PE" dirty="0"/>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L      1500.000000          0.000000</a:t>
            </a:r>
          </a:p>
          <a:p>
            <a:r>
              <a:rPr lang="es-PE" dirty="0"/>
              <a:t>         S         0.000000        308.000000</a:t>
            </a:r>
          </a:p>
        </p:txBody>
      </p:sp>
    </p:spTree>
    <p:extLst>
      <p:ext uri="{BB962C8B-B14F-4D97-AF65-F5344CB8AC3E}">
        <p14:creationId xmlns:p14="http://schemas.microsoft.com/office/powerpoint/2010/main" val="2844861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2" grpId="0"/>
      <p:bldP spid="51" grpId="0"/>
      <p:bldP spid="53" grpId="0"/>
      <p:bldP spid="54" grpId="0"/>
      <p:bldP spid="55" grpId="0"/>
      <p:bldP spid="48" grpId="0" animBg="1"/>
      <p:bldP spid="5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090248" y="1"/>
            <a:ext cx="6101751" cy="1199072"/>
          </a:xfrm>
        </p:spPr>
        <p:txBody>
          <a:bodyPr anchor="ctr"/>
          <a:lstStyle/>
          <a:p>
            <a:pPr eaLnBrk="1" hangingPunct="1"/>
            <a:r>
              <a:rPr lang="es-ES_tradnl" altLang="es-PE" dirty="0">
                <a:solidFill>
                  <a:schemeClr val="bg1"/>
                </a:solidFill>
              </a:rPr>
              <a:t>Método Punto De Esquina</a:t>
            </a:r>
            <a:endParaRPr lang="es-ES" altLang="es-PE" dirty="0">
              <a:solidFill>
                <a:schemeClr val="bg1"/>
              </a:solidFill>
            </a:endParaRPr>
          </a:p>
        </p:txBody>
      </p:sp>
      <p:sp>
        <p:nvSpPr>
          <p:cNvPr id="51203" name="Rectangle 3" descr="Rectangle: Click to edit Master text styles&#10;Second level&#10;Third level&#10;Fourth level&#10;Fifth level"/>
          <p:cNvSpPr>
            <a:spLocks noGrp="1" noChangeArrowheads="1"/>
          </p:cNvSpPr>
          <p:nvPr>
            <p:ph idx="1"/>
          </p:nvPr>
        </p:nvSpPr>
        <p:spPr>
          <a:xfrm>
            <a:off x="2986314" y="1614714"/>
            <a:ext cx="9047328" cy="4548188"/>
          </a:xfrm>
          <a:solidFill>
            <a:schemeClr val="accent4">
              <a:lumMod val="40000"/>
              <a:lumOff val="60000"/>
            </a:schemeClr>
          </a:solidFill>
        </p:spPr>
        <p:txBody>
          <a:bodyPr>
            <a:noAutofit/>
          </a:bodyPr>
          <a:lstStyle/>
          <a:p>
            <a:pPr algn="just" eaLnBrk="1" hangingPunct="1"/>
            <a:r>
              <a:rPr lang="es-ES_tradnl" altLang="es-PE" dirty="0"/>
              <a:t>Paso 1, Graficar las restricciones sobre el primer cuadrante.</a:t>
            </a:r>
          </a:p>
          <a:p>
            <a:pPr algn="just"/>
            <a:r>
              <a:rPr lang="es-ES_tradnl" altLang="es-PE" dirty="0"/>
              <a:t>Paso 2, Hallar la región de soluciones factibles y no factibles, región formada por la intersección de las restricciones (Región Factible).</a:t>
            </a:r>
          </a:p>
          <a:p>
            <a:pPr algn="just" eaLnBrk="1" hangingPunct="1"/>
            <a:r>
              <a:rPr lang="es-ES_tradnl" altLang="es-PE" dirty="0"/>
              <a:t>Paso 3, Analizar el valor de la función objetivo para cada uno de los vértices que forman la región factible (soluciones factibles).</a:t>
            </a:r>
          </a:p>
          <a:p>
            <a:pPr algn="just"/>
            <a:r>
              <a:rPr lang="es-ES_tradnl" altLang="es-PE" dirty="0"/>
              <a:t>Paso 4, Seleccionar el Punto De Esquina con el menor valor de la función objetivo en caso del minimizar y con el mayor valor de la función objetivo en caso del maximizar. Ésta es la solución Óptima.</a:t>
            </a:r>
            <a:endParaRPr lang="es-ES" altLang="es-PE"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p:cTn id="7" dur="500" fill="hold"/>
                                        <p:tgtEl>
                                          <p:spTgt spid="512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5120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5120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51203">
                                            <p:txEl>
                                              <p:pRg st="0" end="0"/>
                                            </p:txEl>
                                          </p:spTgt>
                                        </p:tgtEl>
                                        <p:attrNameLst>
                                          <p:attrName>ppt_c</p:attrName>
                                        </p:attrNameLst>
                                      </p:cBhvr>
                                      <p:to>
                                        <a:schemeClr val="folHlink"/>
                                      </p:to>
                                    </p:animClr>
                                  </p:subTnLst>
                                </p:cTn>
                              </p:par>
                            </p:childTnLst>
                          </p:cTn>
                        </p:par>
                      </p:childTnLst>
                    </p:cTn>
                  </p:par>
                  <p:par>
                    <p:cTn id="11" fill="hold">
                      <p:stCondLst>
                        <p:cond delay="indefinite"/>
                      </p:stCondLst>
                      <p:childTnLst>
                        <p:par>
                          <p:cTn id="12" fill="hold">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51203">
                                            <p:txEl>
                                              <p:pRg st="1" end="1"/>
                                            </p:txEl>
                                          </p:spTgt>
                                        </p:tgtEl>
                                        <p:attrNameLst>
                                          <p:attrName>style.visibility</p:attrName>
                                        </p:attrNameLst>
                                      </p:cBhvr>
                                      <p:to>
                                        <p:strVal val="visible"/>
                                      </p:to>
                                    </p:set>
                                    <p:anim calcmode="lin" valueType="num">
                                      <p:cBhvr>
                                        <p:cTn id="15" dur="500" fill="hold"/>
                                        <p:tgtEl>
                                          <p:spTgt spid="5120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5120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5120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5120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5120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51203">
                                            <p:txEl>
                                              <p:pRg st="2" end="2"/>
                                            </p:txEl>
                                          </p:spTgt>
                                        </p:tgtEl>
                                        <p:attrNameLst>
                                          <p:attrName>style.visibility</p:attrName>
                                        </p:attrNameLst>
                                      </p:cBhvr>
                                      <p:to>
                                        <p:strVal val="visible"/>
                                      </p:to>
                                    </p:set>
                                    <p:anim calcmode="lin" valueType="num">
                                      <p:cBhvr>
                                        <p:cTn id="23" dur="500" fill="hold"/>
                                        <p:tgtEl>
                                          <p:spTgt spid="5120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5120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5120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5120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5120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51203">
                                            <p:txEl>
                                              <p:pRg st="3" end="3"/>
                                            </p:txEl>
                                          </p:spTgt>
                                        </p:tgtEl>
                                        <p:attrNameLst>
                                          <p:attrName>style.visibility</p:attrName>
                                        </p:attrNameLst>
                                      </p:cBhvr>
                                      <p:to>
                                        <p:strVal val="visible"/>
                                      </p:to>
                                    </p:set>
                                    <p:anim calcmode="lin" valueType="num">
                                      <p:cBhvr>
                                        <p:cTn id="31" dur="500" fill="hold"/>
                                        <p:tgtEl>
                                          <p:spTgt spid="5120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5120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5120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5120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51203">
                                            <p:txEl>
                                              <p:pRg st="3" end="3"/>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bldLvl="5"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098874" y="1"/>
            <a:ext cx="6093126" cy="1207698"/>
          </a:xfrm>
        </p:spPr>
        <p:txBody>
          <a:bodyPr anchor="ctr"/>
          <a:lstStyle/>
          <a:p>
            <a:pPr algn="ctr" eaLnBrk="1" hangingPunct="1"/>
            <a:r>
              <a:rPr lang="es-ES_tradnl" altLang="es-PE" sz="4000" dirty="0">
                <a:solidFill>
                  <a:schemeClr val="bg1"/>
                </a:solidFill>
              </a:rPr>
              <a:t>Problema 20</a:t>
            </a:r>
            <a:endParaRPr lang="es-ES" altLang="es-PE" sz="4000" dirty="0">
              <a:solidFill>
                <a:schemeClr val="bg1"/>
              </a:solidFill>
            </a:endParaRPr>
          </a:p>
        </p:txBody>
      </p:sp>
      <p:sp>
        <p:nvSpPr>
          <p:cNvPr id="58371" name="Rectangle 3" descr="Rectangle: Click to edit Master text styles&#10;Second level&#10;Third level&#10;Fourth level&#10;Fifth level"/>
          <p:cNvSpPr>
            <a:spLocks noGrp="1" noChangeArrowheads="1"/>
          </p:cNvSpPr>
          <p:nvPr>
            <p:ph idx="1"/>
          </p:nvPr>
        </p:nvSpPr>
        <p:spPr>
          <a:xfrm>
            <a:off x="99255" y="1284780"/>
            <a:ext cx="6007632" cy="1964606"/>
          </a:xfrm>
          <a:solidFill>
            <a:schemeClr val="accent1">
              <a:lumMod val="60000"/>
              <a:lumOff val="40000"/>
            </a:schemeClr>
          </a:solidFill>
        </p:spPr>
        <p:txBody>
          <a:bodyPr>
            <a:noAutofit/>
          </a:bodyPr>
          <a:lstStyle/>
          <a:p>
            <a:pPr algn="just" eaLnBrk="1" hangingPunct="1">
              <a:lnSpc>
                <a:spcPct val="100000"/>
              </a:lnSpc>
            </a:pPr>
            <a:r>
              <a:rPr lang="es-ES_tradnl" altLang="es-PE" dirty="0"/>
              <a:t>La compañía XYZ produce dos juguetes, osos </a:t>
            </a:r>
            <a:r>
              <a:rPr lang="es-ES_tradnl" altLang="es-PE" dirty="0" err="1"/>
              <a:t>Boby</a:t>
            </a:r>
            <a:r>
              <a:rPr lang="es-ES_tradnl" altLang="es-PE" dirty="0"/>
              <a:t> y osos Teddy.</a:t>
            </a:r>
          </a:p>
          <a:p>
            <a:pPr algn="just" eaLnBrk="1" hangingPunct="1">
              <a:lnSpc>
                <a:spcPct val="100000"/>
              </a:lnSpc>
            </a:pPr>
            <a:r>
              <a:rPr lang="es-ES_tradnl" altLang="es-PE" dirty="0"/>
              <a:t>La gerencia desea programar la producción de estos dos productos.</a:t>
            </a:r>
          </a:p>
          <a:p>
            <a:pPr algn="just" eaLnBrk="1" hangingPunct="1">
              <a:lnSpc>
                <a:spcPct val="100000"/>
              </a:lnSpc>
            </a:pPr>
            <a:r>
              <a:rPr lang="es-ES_tradnl" altLang="es-PE" dirty="0"/>
              <a:t>Los datos son:</a:t>
            </a:r>
            <a:endParaRPr lang="es-ES" altLang="es-PE" dirty="0"/>
          </a:p>
        </p:txBody>
      </p:sp>
      <p:graphicFrame>
        <p:nvGraphicFramePr>
          <p:cNvPr id="4" name="Group 31">
            <a:extLst>
              <a:ext uri="{FF2B5EF4-FFF2-40B4-BE49-F238E27FC236}">
                <a16:creationId xmlns:a16="http://schemas.microsoft.com/office/drawing/2014/main" id="{910A1E86-AAB0-4E96-9123-80C85C539149}"/>
              </a:ext>
            </a:extLst>
          </p:cNvPr>
          <p:cNvGraphicFramePr>
            <a:graphicFrameLocks/>
          </p:cNvGraphicFramePr>
          <p:nvPr>
            <p:extLst>
              <p:ext uri="{D42A27DB-BD31-4B8C-83A1-F6EECF244321}">
                <p14:modId xmlns:p14="http://schemas.microsoft.com/office/powerpoint/2010/main" val="1701551230"/>
              </p:ext>
            </p:extLst>
          </p:nvPr>
        </p:nvGraphicFramePr>
        <p:xfrm>
          <a:off x="195943" y="3763736"/>
          <a:ext cx="5859800" cy="2818626"/>
        </p:xfrm>
        <a:graphic>
          <a:graphicData uri="http://schemas.openxmlformats.org/drawingml/2006/table">
            <a:tbl>
              <a:tblPr/>
              <a:tblGrid>
                <a:gridCol w="1358533">
                  <a:extLst>
                    <a:ext uri="{9D8B030D-6E8A-4147-A177-3AD203B41FA5}">
                      <a16:colId xmlns:a16="http://schemas.microsoft.com/office/drawing/2014/main" val="20000"/>
                    </a:ext>
                  </a:extLst>
                </a:gridCol>
                <a:gridCol w="1571367">
                  <a:extLst>
                    <a:ext uri="{9D8B030D-6E8A-4147-A177-3AD203B41FA5}">
                      <a16:colId xmlns:a16="http://schemas.microsoft.com/office/drawing/2014/main" val="20001"/>
                    </a:ext>
                  </a:extLst>
                </a:gridCol>
                <a:gridCol w="1535141">
                  <a:extLst>
                    <a:ext uri="{9D8B030D-6E8A-4147-A177-3AD203B41FA5}">
                      <a16:colId xmlns:a16="http://schemas.microsoft.com/office/drawing/2014/main" val="20002"/>
                    </a:ext>
                  </a:extLst>
                </a:gridCol>
                <a:gridCol w="1394759">
                  <a:extLst>
                    <a:ext uri="{9D8B030D-6E8A-4147-A177-3AD203B41FA5}">
                      <a16:colId xmlns:a16="http://schemas.microsoft.com/office/drawing/2014/main" val="20003"/>
                    </a:ext>
                  </a:extLst>
                </a:gridCol>
              </a:tblGrid>
              <a:tr h="90361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Producto</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Máquina 1</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a:t>
                      </a:r>
                      <a:r>
                        <a:rPr kumimoji="0" lang="es-ES_tradnl" sz="2000" b="0" i="0" u="none" strike="noStrike" cap="none" normalizeH="0" baseline="0" dirty="0" err="1">
                          <a:ln>
                            <a:noFill/>
                          </a:ln>
                          <a:solidFill>
                            <a:schemeClr val="tx1"/>
                          </a:solidFill>
                          <a:effectLst/>
                          <a:latin typeface="Tahoma" charset="0"/>
                        </a:rPr>
                        <a:t>hrs</a:t>
                      </a:r>
                      <a:r>
                        <a:rPr kumimoji="0" lang="es-ES_tradnl" sz="2000" b="0" i="0" u="none" strike="noStrike" cap="none" normalizeH="0" baseline="0" dirty="0">
                          <a:ln>
                            <a:noFill/>
                          </a:ln>
                          <a:solidFill>
                            <a:schemeClr val="tx1"/>
                          </a:solidFill>
                          <a:effectLst/>
                          <a:latin typeface="Tahoma" charset="0"/>
                        </a:rPr>
                        <a:t> /unid)</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Máquina 2</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a:t>
                      </a:r>
                      <a:r>
                        <a:rPr kumimoji="0" lang="es-ES_tradnl" sz="2000" b="0" i="0" u="none" strike="noStrike" cap="none" normalizeH="0" baseline="0" dirty="0" err="1">
                          <a:ln>
                            <a:noFill/>
                          </a:ln>
                          <a:solidFill>
                            <a:schemeClr val="tx1"/>
                          </a:solidFill>
                          <a:effectLst/>
                          <a:latin typeface="Tahoma" charset="0"/>
                        </a:rPr>
                        <a:t>hrs</a:t>
                      </a:r>
                      <a:r>
                        <a:rPr kumimoji="0" lang="es-ES_tradnl" sz="2000" b="0" i="0" u="none" strike="noStrike" cap="none" normalizeH="0" baseline="0" dirty="0">
                          <a:ln>
                            <a:noFill/>
                          </a:ln>
                          <a:solidFill>
                            <a:schemeClr val="tx1"/>
                          </a:solidFill>
                          <a:effectLst/>
                          <a:latin typeface="Tahoma" charset="0"/>
                        </a:rPr>
                        <a:t> /unid)</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Utilidad </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 / unid)</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extLst>
                  <a:ext uri="{0D108BD9-81ED-4DB2-BD59-A6C34878D82A}">
                    <a16:rowId xmlns:a16="http://schemas.microsoft.com/office/drawing/2014/main" val="10000"/>
                  </a:ext>
                </a:extLst>
              </a:tr>
              <a:tr h="63833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Bobby</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2</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2</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6</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833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Teddy</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3</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1</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7</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833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Disp.(hrs)</a:t>
                      </a:r>
                      <a:endParaRPr kumimoji="0" lang="es-ES" sz="20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12</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8</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a:t>
                      </a:r>
                      <a:endParaRPr kumimoji="0" lang="es-ES" sz="20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3" descr="Rectangle: Click to edit Master text styles&#10;Second level&#10;Third level&#10;Fourth level&#10;Fifth level">
            <a:extLst>
              <a:ext uri="{FF2B5EF4-FFF2-40B4-BE49-F238E27FC236}">
                <a16:creationId xmlns:a16="http://schemas.microsoft.com/office/drawing/2014/main" id="{486EF11E-239E-0210-8161-EDF0FFBB4A74}"/>
              </a:ext>
            </a:extLst>
          </p:cNvPr>
          <p:cNvSpPr txBox="1">
            <a:spLocks noChangeArrowheads="1"/>
          </p:cNvSpPr>
          <p:nvPr/>
        </p:nvSpPr>
        <p:spPr>
          <a:xfrm>
            <a:off x="6243983" y="1294397"/>
            <a:ext cx="5802908" cy="1455511"/>
          </a:xfrm>
          <a:prstGeom prst="rect">
            <a:avLst/>
          </a:prstGeom>
          <a:solidFill>
            <a:schemeClr val="accent1">
              <a:lumMod val="60000"/>
              <a:lumOff val="4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Arial" panose="020B0604020202020204" pitchFamily="34" charset="0"/>
              <a:buAutoNum type="romanUcPeriod"/>
              <a:defRPr/>
            </a:pPr>
            <a:r>
              <a:rPr lang="es-ES_tradnl" sz="2400" b="1" dirty="0"/>
              <a:t>Definición de variables de decisión</a:t>
            </a:r>
          </a:p>
          <a:p>
            <a:pPr marL="0" indent="0" algn="just">
              <a:buFont typeface="Arial" panose="020B0604020202020204" pitchFamily="34" charset="0"/>
              <a:buNone/>
              <a:defRPr/>
            </a:pPr>
            <a:r>
              <a:rPr lang="es-ES_tradnl" sz="2400" b="1" dirty="0"/>
              <a:t>  </a:t>
            </a:r>
            <a:r>
              <a:rPr lang="es-ES_tradnl" sz="2400" b="1" dirty="0" err="1"/>
              <a:t>X1</a:t>
            </a:r>
            <a:r>
              <a:rPr lang="es-ES_tradnl" sz="2400" b="1" dirty="0"/>
              <a:t>: unidades de juguetes Bobby a producir.</a:t>
            </a:r>
          </a:p>
          <a:p>
            <a:pPr marL="0" indent="0" algn="just">
              <a:buFont typeface="Arial" panose="020B0604020202020204" pitchFamily="34" charset="0"/>
              <a:buNone/>
              <a:defRPr/>
            </a:pPr>
            <a:r>
              <a:rPr lang="es-ES_tradnl" sz="2400" b="1" dirty="0"/>
              <a:t>  </a:t>
            </a:r>
            <a:r>
              <a:rPr lang="es-ES_tradnl" sz="2400" b="1" dirty="0" err="1"/>
              <a:t>X2</a:t>
            </a:r>
            <a:r>
              <a:rPr lang="es-ES_tradnl" sz="2400" b="1" dirty="0"/>
              <a:t>: unidades de juguetes Teddy a producir.</a:t>
            </a:r>
          </a:p>
          <a:p>
            <a:pPr lvl="2" algn="just">
              <a:buFont typeface="Wingdings" pitchFamily="2" charset="2"/>
              <a:buNone/>
              <a:defRPr/>
            </a:pPr>
            <a:endParaRPr lang="es-ES" sz="2400" b="1" dirty="0"/>
          </a:p>
        </p:txBody>
      </p:sp>
      <p:sp>
        <p:nvSpPr>
          <p:cNvPr id="3" name="Rectangle 3" descr="Rectangle: Click to edit Master text styles&#10;Second level&#10;Third level&#10;Fourth level&#10;Fifth level">
            <a:extLst>
              <a:ext uri="{FF2B5EF4-FFF2-40B4-BE49-F238E27FC236}">
                <a16:creationId xmlns:a16="http://schemas.microsoft.com/office/drawing/2014/main" id="{340358BA-DBA2-7F83-68C3-42DED61A5F54}"/>
              </a:ext>
            </a:extLst>
          </p:cNvPr>
          <p:cNvSpPr txBox="1">
            <a:spLocks noChangeArrowheads="1"/>
          </p:cNvSpPr>
          <p:nvPr/>
        </p:nvSpPr>
        <p:spPr>
          <a:xfrm>
            <a:off x="6243983" y="3763736"/>
            <a:ext cx="5802908" cy="1712138"/>
          </a:xfrm>
          <a:prstGeom prst="rect">
            <a:avLst/>
          </a:prstGeom>
          <a:solidFill>
            <a:schemeClr val="accent1">
              <a:lumMod val="60000"/>
              <a:lumOff val="4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defRPr/>
            </a:pPr>
            <a:r>
              <a:rPr lang="es-ES_tradnl" sz="2400" b="1" dirty="0"/>
              <a:t>III. Identificación de las restricciones</a:t>
            </a:r>
          </a:p>
          <a:p>
            <a:pPr marL="400050" lvl="1" indent="0" algn="just">
              <a:lnSpc>
                <a:spcPct val="100000"/>
              </a:lnSpc>
              <a:buNone/>
              <a:defRPr/>
            </a:pPr>
            <a:r>
              <a:rPr lang="es-ES_tradnl" b="1" dirty="0"/>
              <a:t>2 </a:t>
            </a:r>
            <a:r>
              <a:rPr lang="es-ES_tradnl" b="1" dirty="0" err="1"/>
              <a:t>X1</a:t>
            </a:r>
            <a:r>
              <a:rPr lang="es-ES_tradnl" b="1" dirty="0"/>
              <a:t>  +   </a:t>
            </a:r>
            <a:r>
              <a:rPr lang="es-ES_tradnl" b="1" dirty="0" err="1"/>
              <a:t>3X2</a:t>
            </a:r>
            <a:r>
              <a:rPr lang="es-ES_tradnl" b="1" dirty="0"/>
              <a:t> &lt;= 12   (máquina 1)</a:t>
            </a:r>
          </a:p>
          <a:p>
            <a:pPr marL="400050" lvl="1" indent="0" algn="just">
              <a:lnSpc>
                <a:spcPct val="100000"/>
              </a:lnSpc>
              <a:buNone/>
              <a:defRPr/>
            </a:pPr>
            <a:r>
              <a:rPr lang="es-ES_tradnl" b="1" dirty="0"/>
              <a:t>2 </a:t>
            </a:r>
            <a:r>
              <a:rPr lang="es-ES_tradnl" b="1" dirty="0" err="1"/>
              <a:t>X1</a:t>
            </a:r>
            <a:r>
              <a:rPr lang="es-ES_tradnl" b="1" dirty="0"/>
              <a:t>  +  1 X2 &lt;=  8    (máquina 2)</a:t>
            </a:r>
          </a:p>
          <a:p>
            <a:pPr marL="400050" lvl="1" indent="0" algn="just">
              <a:lnSpc>
                <a:spcPct val="100000"/>
              </a:lnSpc>
              <a:buFont typeface="Arial" panose="020B0604020202020204" pitchFamily="34" charset="0"/>
              <a:buNone/>
              <a:defRPr/>
            </a:pPr>
            <a:r>
              <a:rPr lang="es-ES_tradnl" altLang="es-PE" b="1" dirty="0"/>
              <a:t>           </a:t>
            </a:r>
            <a:r>
              <a:rPr lang="es-ES_tradnl" altLang="es-PE" b="1" dirty="0" err="1"/>
              <a:t>X1</a:t>
            </a:r>
            <a:r>
              <a:rPr lang="es-ES_tradnl" altLang="es-PE" b="1" dirty="0"/>
              <a:t>, X2 &gt;= 0, ENTERO</a:t>
            </a:r>
            <a:endParaRPr lang="es-ES" b="1" dirty="0"/>
          </a:p>
        </p:txBody>
      </p:sp>
      <p:sp>
        <p:nvSpPr>
          <p:cNvPr id="5" name="CuadroTexto 4">
            <a:extLst>
              <a:ext uri="{FF2B5EF4-FFF2-40B4-BE49-F238E27FC236}">
                <a16:creationId xmlns:a16="http://schemas.microsoft.com/office/drawing/2014/main" id="{A2167205-2760-C61D-1D43-CD1975359D2C}"/>
              </a:ext>
            </a:extLst>
          </p:cNvPr>
          <p:cNvSpPr txBox="1"/>
          <p:nvPr/>
        </p:nvSpPr>
        <p:spPr>
          <a:xfrm>
            <a:off x="6243983" y="2749908"/>
            <a:ext cx="5802908" cy="1013828"/>
          </a:xfrm>
          <a:prstGeom prst="rect">
            <a:avLst/>
          </a:prstGeom>
          <a:solidFill>
            <a:schemeClr val="accent1">
              <a:lumMod val="60000"/>
              <a:lumOff val="40000"/>
            </a:schemeClr>
          </a:solidFill>
        </p:spPr>
        <p:txBody>
          <a:bodyPr vert="horz" lIns="91440" tIns="45720" rIns="91440" bIns="45720" rtlCol="0">
            <a:noAutofit/>
          </a:bodyPr>
          <a:lstStyle>
            <a:defPPr>
              <a:defRPr lang="es-PE"/>
            </a:defPPr>
            <a:lvl1pPr indent="0" algn="just">
              <a:lnSpc>
                <a:spcPct val="100000"/>
              </a:lnSpc>
              <a:spcBef>
                <a:spcPts val="1000"/>
              </a:spcBef>
              <a:buFont typeface="Arial" panose="020B0604020202020204" pitchFamily="34" charset="0"/>
              <a:buNone/>
              <a:defRPr sz="2000" b="1"/>
            </a:lvl1pPr>
            <a:lvl2pPr marL="400050" lvl="1" indent="0" algn="just">
              <a:lnSpc>
                <a:spcPct val="100000"/>
              </a:lnSpc>
              <a:spcBef>
                <a:spcPts val="500"/>
              </a:spcBef>
              <a:buFont typeface="Arial" panose="020B0604020202020204" pitchFamily="34" charset="0"/>
              <a:buNone/>
              <a:defRPr sz="2000" b="1"/>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_tradnl" sz="2400" dirty="0"/>
              <a:t>II. Identificación de la función objetivo</a:t>
            </a:r>
          </a:p>
          <a:p>
            <a:pPr lvl="1"/>
            <a:r>
              <a:rPr lang="es-ES_tradnl" sz="2400" dirty="0"/>
              <a:t>  Max  6 </a:t>
            </a:r>
            <a:r>
              <a:rPr lang="es-ES_tradnl" sz="2400" dirty="0" err="1"/>
              <a:t>X1</a:t>
            </a:r>
            <a:r>
              <a:rPr lang="es-ES_tradnl" sz="2400" dirty="0"/>
              <a:t> + 7 </a:t>
            </a:r>
            <a:r>
              <a:rPr lang="es-ES_tradnl" sz="2400" dirty="0" err="1"/>
              <a:t>X2</a:t>
            </a:r>
            <a:endParaRPr lang="es-ES_trad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2">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
                                            <p:txEl>
                                              <p:pRg st="0" end="0"/>
                                            </p:txEl>
                                          </p:spTgt>
                                        </p:tgtEl>
                                        <p:attrNameLst>
                                          <p:attrName>ppt_c</p:attrName>
                                        </p:attrNameLst>
                                      </p:cBhvr>
                                      <p:to>
                                        <a:schemeClr val="folHlink"/>
                                      </p:to>
                                    </p:animClr>
                                  </p:subTnLst>
                                </p:cTn>
                              </p:par>
                            </p:childTnLst>
                          </p:cTn>
                        </p:par>
                      </p:childTnLst>
                    </p:cTn>
                  </p:par>
                  <p:par>
                    <p:cTn id="11" fill="hold">
                      <p:stCondLst>
                        <p:cond delay="indefinite"/>
                      </p:stCondLst>
                      <p:childTnLst>
                        <p:par>
                          <p:cTn id="12" fill="hold">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p:cTn id="15"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2">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2">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2">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
                                            <p:txEl>
                                              <p:pRg st="1" end="1"/>
                                            </p:txEl>
                                          </p:spTgt>
                                        </p:tgtEl>
                                        <p:attrNameLst>
                                          <p:attrName>ppt_c</p:attrName>
                                        </p:attrNameLst>
                                      </p:cBhvr>
                                      <p:to>
                                        <a:schemeClr val="folHlink"/>
                                      </p:to>
                                    </p:animClr>
                                  </p:subTnLst>
                                </p:cTn>
                              </p:par>
                            </p:childTnLst>
                          </p:cTn>
                        </p:par>
                      </p:childTnLst>
                    </p:cTn>
                  </p:par>
                  <p:par>
                    <p:cTn id="19" fill="hold">
                      <p:stCondLst>
                        <p:cond delay="indefinite"/>
                      </p:stCondLst>
                      <p:childTnLst>
                        <p:par>
                          <p:cTn id="20" fill="hold">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p:cTn id="23"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2">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2">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2">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
                                            <p:txEl>
                                              <p:pRg st="2" end="2"/>
                                            </p:txEl>
                                          </p:spTgt>
                                        </p:tgtEl>
                                        <p:attrNameLst>
                                          <p:attrName>ppt_c</p:attrName>
                                        </p:attrNameLst>
                                      </p:cBhvr>
                                      <p:to>
                                        <a:schemeClr val="folHlink"/>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5" autoUpdateAnimBg="0"/>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481426" y="1365856"/>
            <a:ext cx="3886200" cy="533400"/>
          </a:xfrm>
        </p:spPr>
        <p:txBody>
          <a:bodyPr>
            <a:normAutofit fontScale="90000"/>
          </a:bodyPr>
          <a:lstStyle/>
          <a:p>
            <a:pPr eaLnBrk="1" hangingPunct="1"/>
            <a:r>
              <a:rPr lang="es-ES_tradnl" altLang="es-PE" sz="4000"/>
              <a:t>Región Factible</a:t>
            </a:r>
            <a:endParaRPr lang="es-ES" altLang="es-PE" sz="4000"/>
          </a:p>
        </p:txBody>
      </p:sp>
      <p:sp>
        <p:nvSpPr>
          <p:cNvPr id="65539" name="Line 3"/>
          <p:cNvSpPr>
            <a:spLocks noChangeShapeType="1"/>
          </p:cNvSpPr>
          <p:nvPr/>
        </p:nvSpPr>
        <p:spPr bwMode="auto">
          <a:xfrm>
            <a:off x="1249404" y="6466954"/>
            <a:ext cx="5181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65540" name="Line 4"/>
          <p:cNvSpPr>
            <a:spLocks noChangeShapeType="1"/>
          </p:cNvSpPr>
          <p:nvPr/>
        </p:nvSpPr>
        <p:spPr bwMode="auto">
          <a:xfrm flipV="1">
            <a:off x="1249403" y="1475128"/>
            <a:ext cx="10061" cy="49918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65541" name="Line 5"/>
          <p:cNvSpPr>
            <a:spLocks noChangeShapeType="1"/>
          </p:cNvSpPr>
          <p:nvPr/>
        </p:nvSpPr>
        <p:spPr bwMode="auto">
          <a:xfrm>
            <a:off x="3687804" y="6390754"/>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2" name="Line 6"/>
          <p:cNvSpPr>
            <a:spLocks noChangeShapeType="1"/>
          </p:cNvSpPr>
          <p:nvPr/>
        </p:nvSpPr>
        <p:spPr bwMode="auto">
          <a:xfrm>
            <a:off x="4907004" y="6390754"/>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3" name="Line 7"/>
          <p:cNvSpPr>
            <a:spLocks noChangeShapeType="1"/>
          </p:cNvSpPr>
          <p:nvPr/>
        </p:nvSpPr>
        <p:spPr bwMode="auto">
          <a:xfrm>
            <a:off x="1173204" y="4028554"/>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4" name="Line 8"/>
          <p:cNvSpPr>
            <a:spLocks noChangeShapeType="1"/>
          </p:cNvSpPr>
          <p:nvPr/>
        </p:nvSpPr>
        <p:spPr bwMode="auto">
          <a:xfrm>
            <a:off x="1173204" y="1590154"/>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5" name="Text Box 9"/>
          <p:cNvSpPr txBox="1">
            <a:spLocks noChangeArrowheads="1"/>
          </p:cNvSpPr>
          <p:nvPr/>
        </p:nvSpPr>
        <p:spPr bwMode="auto">
          <a:xfrm>
            <a:off x="297623" y="145644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dirty="0" err="1">
                <a:latin typeface="Times New Roman" charset="0"/>
              </a:rPr>
              <a:t>X2</a:t>
            </a:r>
            <a:endParaRPr lang="es-ES" altLang="es-PE" dirty="0">
              <a:latin typeface="Times New Roman" charset="0"/>
            </a:endParaRPr>
          </a:p>
        </p:txBody>
      </p:sp>
      <p:sp>
        <p:nvSpPr>
          <p:cNvPr id="65546" name="Text Box 10"/>
          <p:cNvSpPr txBox="1">
            <a:spLocks noChangeArrowheads="1"/>
          </p:cNvSpPr>
          <p:nvPr/>
        </p:nvSpPr>
        <p:spPr bwMode="auto">
          <a:xfrm>
            <a:off x="868404" y="379995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4</a:t>
            </a:r>
            <a:endParaRPr lang="es-ES" altLang="es-PE">
              <a:latin typeface="Times New Roman" charset="0"/>
            </a:endParaRPr>
          </a:p>
        </p:txBody>
      </p:sp>
      <p:sp>
        <p:nvSpPr>
          <p:cNvPr id="65547" name="Text Box 11"/>
          <p:cNvSpPr txBox="1">
            <a:spLocks noChangeArrowheads="1"/>
          </p:cNvSpPr>
          <p:nvPr/>
        </p:nvSpPr>
        <p:spPr bwMode="auto">
          <a:xfrm>
            <a:off x="868404" y="136155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8</a:t>
            </a:r>
            <a:endParaRPr lang="es-ES" altLang="es-PE">
              <a:latin typeface="Times New Roman" charset="0"/>
            </a:endParaRPr>
          </a:p>
        </p:txBody>
      </p:sp>
      <p:sp>
        <p:nvSpPr>
          <p:cNvPr id="65548" name="Text Box 12"/>
          <p:cNvSpPr txBox="1">
            <a:spLocks noChangeArrowheads="1"/>
          </p:cNvSpPr>
          <p:nvPr/>
        </p:nvSpPr>
        <p:spPr bwMode="auto">
          <a:xfrm>
            <a:off x="3535404" y="639075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4</a:t>
            </a:r>
            <a:endParaRPr lang="es-ES" altLang="es-PE">
              <a:latin typeface="Times New Roman" charset="0"/>
            </a:endParaRPr>
          </a:p>
        </p:txBody>
      </p:sp>
      <p:sp>
        <p:nvSpPr>
          <p:cNvPr id="65549" name="Text Box 13"/>
          <p:cNvSpPr txBox="1">
            <a:spLocks noChangeArrowheads="1"/>
          </p:cNvSpPr>
          <p:nvPr/>
        </p:nvSpPr>
        <p:spPr bwMode="auto">
          <a:xfrm>
            <a:off x="4754604" y="639075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6</a:t>
            </a:r>
            <a:endParaRPr lang="es-ES" altLang="es-PE">
              <a:latin typeface="Times New Roman" charset="0"/>
            </a:endParaRPr>
          </a:p>
        </p:txBody>
      </p:sp>
      <p:sp>
        <p:nvSpPr>
          <p:cNvPr id="65550" name="Text Box 14"/>
          <p:cNvSpPr txBox="1">
            <a:spLocks noChangeArrowheads="1"/>
          </p:cNvSpPr>
          <p:nvPr/>
        </p:nvSpPr>
        <p:spPr bwMode="auto">
          <a:xfrm>
            <a:off x="6354804" y="6393622"/>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dirty="0" err="1">
                <a:latin typeface="Times New Roman" charset="0"/>
              </a:rPr>
              <a:t>X1</a:t>
            </a:r>
            <a:endParaRPr lang="es-ES" altLang="es-PE" dirty="0">
              <a:latin typeface="Times New Roman" charset="0"/>
            </a:endParaRPr>
          </a:p>
        </p:txBody>
      </p:sp>
      <p:sp>
        <p:nvSpPr>
          <p:cNvPr id="65551" name="Text Box 15"/>
          <p:cNvSpPr txBox="1">
            <a:spLocks noChangeArrowheads="1"/>
          </p:cNvSpPr>
          <p:nvPr/>
        </p:nvSpPr>
        <p:spPr bwMode="auto">
          <a:xfrm>
            <a:off x="1401804" y="5323955"/>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algn="ctr" eaLnBrk="1" hangingPunct="1">
              <a:spcBef>
                <a:spcPct val="50000"/>
              </a:spcBef>
            </a:pPr>
            <a:r>
              <a:rPr lang="es-ES_tradnl" altLang="es-PE" sz="4000">
                <a:latin typeface="Times New Roman" charset="0"/>
              </a:rPr>
              <a:t>RF</a:t>
            </a:r>
            <a:endParaRPr lang="es-ES" altLang="es-PE" sz="4000">
              <a:latin typeface="Times New Roman"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481426" y="1365856"/>
            <a:ext cx="3886200" cy="533400"/>
          </a:xfrm>
        </p:spPr>
        <p:txBody>
          <a:bodyPr>
            <a:normAutofit fontScale="90000"/>
          </a:bodyPr>
          <a:lstStyle/>
          <a:p>
            <a:pPr eaLnBrk="1" hangingPunct="1"/>
            <a:r>
              <a:rPr lang="es-ES_tradnl" altLang="es-PE" sz="4000"/>
              <a:t>Región Factible</a:t>
            </a:r>
            <a:endParaRPr lang="es-ES" altLang="es-PE" sz="4000"/>
          </a:p>
        </p:txBody>
      </p:sp>
      <p:sp>
        <p:nvSpPr>
          <p:cNvPr id="65539" name="Line 3"/>
          <p:cNvSpPr>
            <a:spLocks noChangeShapeType="1"/>
          </p:cNvSpPr>
          <p:nvPr/>
        </p:nvSpPr>
        <p:spPr bwMode="auto">
          <a:xfrm>
            <a:off x="1249404" y="6466954"/>
            <a:ext cx="5181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65540" name="Line 4"/>
          <p:cNvSpPr>
            <a:spLocks noChangeShapeType="1"/>
          </p:cNvSpPr>
          <p:nvPr/>
        </p:nvSpPr>
        <p:spPr bwMode="auto">
          <a:xfrm flipV="1">
            <a:off x="1249403" y="1475128"/>
            <a:ext cx="10061" cy="49918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65541" name="Line 5"/>
          <p:cNvSpPr>
            <a:spLocks noChangeShapeType="1"/>
          </p:cNvSpPr>
          <p:nvPr/>
        </p:nvSpPr>
        <p:spPr bwMode="auto">
          <a:xfrm>
            <a:off x="3687804" y="6390754"/>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2" name="Line 6"/>
          <p:cNvSpPr>
            <a:spLocks noChangeShapeType="1"/>
          </p:cNvSpPr>
          <p:nvPr/>
        </p:nvSpPr>
        <p:spPr bwMode="auto">
          <a:xfrm>
            <a:off x="4907004" y="6390754"/>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3" name="Line 7"/>
          <p:cNvSpPr>
            <a:spLocks noChangeShapeType="1"/>
          </p:cNvSpPr>
          <p:nvPr/>
        </p:nvSpPr>
        <p:spPr bwMode="auto">
          <a:xfrm>
            <a:off x="1173204" y="4028554"/>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4" name="Line 8"/>
          <p:cNvSpPr>
            <a:spLocks noChangeShapeType="1"/>
          </p:cNvSpPr>
          <p:nvPr/>
        </p:nvSpPr>
        <p:spPr bwMode="auto">
          <a:xfrm>
            <a:off x="1173204" y="1590154"/>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5" name="Text Box 9"/>
          <p:cNvSpPr txBox="1">
            <a:spLocks noChangeArrowheads="1"/>
          </p:cNvSpPr>
          <p:nvPr/>
        </p:nvSpPr>
        <p:spPr bwMode="auto">
          <a:xfrm>
            <a:off x="297623" y="145644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dirty="0" err="1">
                <a:latin typeface="Times New Roman" charset="0"/>
              </a:rPr>
              <a:t>X2</a:t>
            </a:r>
            <a:endParaRPr lang="es-ES" altLang="es-PE" dirty="0">
              <a:latin typeface="Times New Roman" charset="0"/>
            </a:endParaRPr>
          </a:p>
        </p:txBody>
      </p:sp>
      <p:sp>
        <p:nvSpPr>
          <p:cNvPr id="65546" name="Text Box 10"/>
          <p:cNvSpPr txBox="1">
            <a:spLocks noChangeArrowheads="1"/>
          </p:cNvSpPr>
          <p:nvPr/>
        </p:nvSpPr>
        <p:spPr bwMode="auto">
          <a:xfrm>
            <a:off x="868404" y="379995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4</a:t>
            </a:r>
            <a:endParaRPr lang="es-ES" altLang="es-PE">
              <a:latin typeface="Times New Roman" charset="0"/>
            </a:endParaRPr>
          </a:p>
        </p:txBody>
      </p:sp>
      <p:sp>
        <p:nvSpPr>
          <p:cNvPr id="65547" name="Text Box 11"/>
          <p:cNvSpPr txBox="1">
            <a:spLocks noChangeArrowheads="1"/>
          </p:cNvSpPr>
          <p:nvPr/>
        </p:nvSpPr>
        <p:spPr bwMode="auto">
          <a:xfrm>
            <a:off x="868404" y="136155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8</a:t>
            </a:r>
            <a:endParaRPr lang="es-ES" altLang="es-PE">
              <a:latin typeface="Times New Roman" charset="0"/>
            </a:endParaRPr>
          </a:p>
        </p:txBody>
      </p:sp>
      <p:sp>
        <p:nvSpPr>
          <p:cNvPr id="65548" name="Text Box 12"/>
          <p:cNvSpPr txBox="1">
            <a:spLocks noChangeArrowheads="1"/>
          </p:cNvSpPr>
          <p:nvPr/>
        </p:nvSpPr>
        <p:spPr bwMode="auto">
          <a:xfrm>
            <a:off x="3535404" y="639075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4</a:t>
            </a:r>
            <a:endParaRPr lang="es-ES" altLang="es-PE">
              <a:latin typeface="Times New Roman" charset="0"/>
            </a:endParaRPr>
          </a:p>
        </p:txBody>
      </p:sp>
      <p:sp>
        <p:nvSpPr>
          <p:cNvPr id="65549" name="Text Box 13"/>
          <p:cNvSpPr txBox="1">
            <a:spLocks noChangeArrowheads="1"/>
          </p:cNvSpPr>
          <p:nvPr/>
        </p:nvSpPr>
        <p:spPr bwMode="auto">
          <a:xfrm>
            <a:off x="4754604" y="639075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6</a:t>
            </a:r>
            <a:endParaRPr lang="es-ES" altLang="es-PE">
              <a:latin typeface="Times New Roman" charset="0"/>
            </a:endParaRPr>
          </a:p>
        </p:txBody>
      </p:sp>
      <p:sp>
        <p:nvSpPr>
          <p:cNvPr id="65550" name="Text Box 14"/>
          <p:cNvSpPr txBox="1">
            <a:spLocks noChangeArrowheads="1"/>
          </p:cNvSpPr>
          <p:nvPr/>
        </p:nvSpPr>
        <p:spPr bwMode="auto">
          <a:xfrm>
            <a:off x="6354804" y="6393622"/>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dirty="0" err="1">
                <a:latin typeface="Times New Roman" charset="0"/>
              </a:rPr>
              <a:t>X1</a:t>
            </a:r>
            <a:endParaRPr lang="es-ES" altLang="es-PE" dirty="0">
              <a:latin typeface="Times New Roman" charset="0"/>
            </a:endParaRPr>
          </a:p>
        </p:txBody>
      </p:sp>
      <p:sp>
        <p:nvSpPr>
          <p:cNvPr id="65551" name="Text Box 15"/>
          <p:cNvSpPr txBox="1">
            <a:spLocks noChangeArrowheads="1"/>
          </p:cNvSpPr>
          <p:nvPr/>
        </p:nvSpPr>
        <p:spPr bwMode="auto">
          <a:xfrm>
            <a:off x="1401804" y="5323955"/>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algn="ctr" eaLnBrk="1" hangingPunct="1">
              <a:spcBef>
                <a:spcPct val="50000"/>
              </a:spcBef>
            </a:pPr>
            <a:r>
              <a:rPr lang="es-ES_tradnl" altLang="es-PE" sz="4000">
                <a:latin typeface="Times New Roman" charset="0"/>
              </a:rPr>
              <a:t>RF</a:t>
            </a:r>
            <a:endParaRPr lang="es-ES" altLang="es-PE" sz="4000">
              <a:latin typeface="Times New Roman" charset="0"/>
            </a:endParaRPr>
          </a:p>
        </p:txBody>
      </p:sp>
      <p:sp>
        <p:nvSpPr>
          <p:cNvPr id="16" name="Line 15">
            <a:extLst>
              <a:ext uri="{FF2B5EF4-FFF2-40B4-BE49-F238E27FC236}">
                <a16:creationId xmlns:a16="http://schemas.microsoft.com/office/drawing/2014/main" id="{A1FE43B7-A334-4219-AC20-BCB0CC3AAD68}"/>
              </a:ext>
            </a:extLst>
          </p:cNvPr>
          <p:cNvSpPr>
            <a:spLocks noChangeShapeType="1"/>
          </p:cNvSpPr>
          <p:nvPr/>
        </p:nvSpPr>
        <p:spPr bwMode="auto">
          <a:xfrm>
            <a:off x="1266654" y="4028535"/>
            <a:ext cx="4191000" cy="281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Tree>
    <p:extLst>
      <p:ext uri="{BB962C8B-B14F-4D97-AF65-F5344CB8AC3E}">
        <p14:creationId xmlns:p14="http://schemas.microsoft.com/office/powerpoint/2010/main" val="1658176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rma libre: forma 1">
            <a:extLst>
              <a:ext uri="{FF2B5EF4-FFF2-40B4-BE49-F238E27FC236}">
                <a16:creationId xmlns:a16="http://schemas.microsoft.com/office/drawing/2014/main" id="{1DA164EC-1ADE-4AAC-881A-23737A6E46EA}"/>
              </a:ext>
            </a:extLst>
          </p:cNvPr>
          <p:cNvSpPr/>
          <p:nvPr/>
        </p:nvSpPr>
        <p:spPr>
          <a:xfrm>
            <a:off x="1250830" y="4028536"/>
            <a:ext cx="2458528" cy="2449902"/>
          </a:xfrm>
          <a:custGeom>
            <a:avLst/>
            <a:gdLst>
              <a:gd name="connsiteX0" fmla="*/ 0 w 2458528"/>
              <a:gd name="connsiteY0" fmla="*/ 0 h 2449902"/>
              <a:gd name="connsiteX1" fmla="*/ 8627 w 2458528"/>
              <a:gd name="connsiteY1" fmla="*/ 2449902 h 2449902"/>
              <a:gd name="connsiteX2" fmla="*/ 2458528 w 2458528"/>
              <a:gd name="connsiteY2" fmla="*/ 2441275 h 2449902"/>
              <a:gd name="connsiteX3" fmla="*/ 1837427 w 2458528"/>
              <a:gd name="connsiteY3" fmla="*/ 1216324 h 2449902"/>
              <a:gd name="connsiteX4" fmla="*/ 0 w 2458528"/>
              <a:gd name="connsiteY4" fmla="*/ 0 h 2449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8528" h="2449902">
                <a:moveTo>
                  <a:pt x="0" y="0"/>
                </a:moveTo>
                <a:cubicBezTo>
                  <a:pt x="2876" y="816634"/>
                  <a:pt x="5751" y="1633268"/>
                  <a:pt x="8627" y="2449902"/>
                </a:cubicBezTo>
                <a:lnTo>
                  <a:pt x="2458528" y="2441275"/>
                </a:lnTo>
                <a:lnTo>
                  <a:pt x="1837427" y="1216324"/>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5538" name="Rectangle 2"/>
          <p:cNvSpPr>
            <a:spLocks noGrp="1" noChangeArrowheads="1"/>
          </p:cNvSpPr>
          <p:nvPr>
            <p:ph type="title"/>
          </p:nvPr>
        </p:nvSpPr>
        <p:spPr>
          <a:xfrm>
            <a:off x="4481426" y="1365856"/>
            <a:ext cx="3886200" cy="533400"/>
          </a:xfrm>
        </p:spPr>
        <p:txBody>
          <a:bodyPr>
            <a:normAutofit fontScale="90000"/>
          </a:bodyPr>
          <a:lstStyle/>
          <a:p>
            <a:pPr eaLnBrk="1" hangingPunct="1"/>
            <a:r>
              <a:rPr lang="es-ES_tradnl" altLang="es-PE" sz="4000"/>
              <a:t>Región Factible</a:t>
            </a:r>
            <a:endParaRPr lang="es-ES" altLang="es-PE" sz="4000"/>
          </a:p>
        </p:txBody>
      </p:sp>
      <p:sp>
        <p:nvSpPr>
          <p:cNvPr id="65539" name="Line 3"/>
          <p:cNvSpPr>
            <a:spLocks noChangeShapeType="1"/>
          </p:cNvSpPr>
          <p:nvPr/>
        </p:nvSpPr>
        <p:spPr bwMode="auto">
          <a:xfrm>
            <a:off x="1249404" y="6466954"/>
            <a:ext cx="5181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65540" name="Line 4"/>
          <p:cNvSpPr>
            <a:spLocks noChangeShapeType="1"/>
          </p:cNvSpPr>
          <p:nvPr/>
        </p:nvSpPr>
        <p:spPr bwMode="auto">
          <a:xfrm flipV="1">
            <a:off x="1249403" y="1475128"/>
            <a:ext cx="10061" cy="49918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65541" name="Line 5"/>
          <p:cNvSpPr>
            <a:spLocks noChangeShapeType="1"/>
          </p:cNvSpPr>
          <p:nvPr/>
        </p:nvSpPr>
        <p:spPr bwMode="auto">
          <a:xfrm>
            <a:off x="3687804" y="6390754"/>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2" name="Line 6"/>
          <p:cNvSpPr>
            <a:spLocks noChangeShapeType="1"/>
          </p:cNvSpPr>
          <p:nvPr/>
        </p:nvSpPr>
        <p:spPr bwMode="auto">
          <a:xfrm>
            <a:off x="4907004" y="6390754"/>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3" name="Line 7"/>
          <p:cNvSpPr>
            <a:spLocks noChangeShapeType="1"/>
          </p:cNvSpPr>
          <p:nvPr/>
        </p:nvSpPr>
        <p:spPr bwMode="auto">
          <a:xfrm>
            <a:off x="1173204" y="4028554"/>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4" name="Line 8"/>
          <p:cNvSpPr>
            <a:spLocks noChangeShapeType="1"/>
          </p:cNvSpPr>
          <p:nvPr/>
        </p:nvSpPr>
        <p:spPr bwMode="auto">
          <a:xfrm>
            <a:off x="1173204" y="1590154"/>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65545" name="Text Box 9"/>
          <p:cNvSpPr txBox="1">
            <a:spLocks noChangeArrowheads="1"/>
          </p:cNvSpPr>
          <p:nvPr/>
        </p:nvSpPr>
        <p:spPr bwMode="auto">
          <a:xfrm>
            <a:off x="297623" y="145644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dirty="0" err="1">
                <a:latin typeface="Times New Roman" charset="0"/>
              </a:rPr>
              <a:t>X2</a:t>
            </a:r>
            <a:endParaRPr lang="es-ES" altLang="es-PE" dirty="0">
              <a:latin typeface="Times New Roman" charset="0"/>
            </a:endParaRPr>
          </a:p>
        </p:txBody>
      </p:sp>
      <p:sp>
        <p:nvSpPr>
          <p:cNvPr id="65546" name="Text Box 10"/>
          <p:cNvSpPr txBox="1">
            <a:spLocks noChangeArrowheads="1"/>
          </p:cNvSpPr>
          <p:nvPr/>
        </p:nvSpPr>
        <p:spPr bwMode="auto">
          <a:xfrm>
            <a:off x="868404" y="379995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4</a:t>
            </a:r>
            <a:endParaRPr lang="es-ES" altLang="es-PE">
              <a:latin typeface="Times New Roman" charset="0"/>
            </a:endParaRPr>
          </a:p>
        </p:txBody>
      </p:sp>
      <p:sp>
        <p:nvSpPr>
          <p:cNvPr id="65547" name="Text Box 11"/>
          <p:cNvSpPr txBox="1">
            <a:spLocks noChangeArrowheads="1"/>
          </p:cNvSpPr>
          <p:nvPr/>
        </p:nvSpPr>
        <p:spPr bwMode="auto">
          <a:xfrm>
            <a:off x="868404" y="1361554"/>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8</a:t>
            </a:r>
            <a:endParaRPr lang="es-ES" altLang="es-PE">
              <a:latin typeface="Times New Roman" charset="0"/>
            </a:endParaRPr>
          </a:p>
        </p:txBody>
      </p:sp>
      <p:sp>
        <p:nvSpPr>
          <p:cNvPr id="65548" name="Text Box 12"/>
          <p:cNvSpPr txBox="1">
            <a:spLocks noChangeArrowheads="1"/>
          </p:cNvSpPr>
          <p:nvPr/>
        </p:nvSpPr>
        <p:spPr bwMode="auto">
          <a:xfrm>
            <a:off x="3535404" y="639075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4</a:t>
            </a:r>
            <a:endParaRPr lang="es-ES" altLang="es-PE">
              <a:latin typeface="Times New Roman" charset="0"/>
            </a:endParaRPr>
          </a:p>
        </p:txBody>
      </p:sp>
      <p:sp>
        <p:nvSpPr>
          <p:cNvPr id="65549" name="Text Box 13"/>
          <p:cNvSpPr txBox="1">
            <a:spLocks noChangeArrowheads="1"/>
          </p:cNvSpPr>
          <p:nvPr/>
        </p:nvSpPr>
        <p:spPr bwMode="auto">
          <a:xfrm>
            <a:off x="4754604" y="6390754"/>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a:latin typeface="Times New Roman" charset="0"/>
              </a:rPr>
              <a:t>6</a:t>
            </a:r>
            <a:endParaRPr lang="es-ES" altLang="es-PE">
              <a:latin typeface="Times New Roman" charset="0"/>
            </a:endParaRPr>
          </a:p>
        </p:txBody>
      </p:sp>
      <p:sp>
        <p:nvSpPr>
          <p:cNvPr id="65550" name="Text Box 14"/>
          <p:cNvSpPr txBox="1">
            <a:spLocks noChangeArrowheads="1"/>
          </p:cNvSpPr>
          <p:nvPr/>
        </p:nvSpPr>
        <p:spPr bwMode="auto">
          <a:xfrm>
            <a:off x="6354804" y="6393622"/>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eaLnBrk="1" hangingPunct="1">
              <a:spcBef>
                <a:spcPct val="50000"/>
              </a:spcBef>
            </a:pPr>
            <a:r>
              <a:rPr lang="es-ES_tradnl" altLang="es-PE" dirty="0" err="1">
                <a:latin typeface="Times New Roman" charset="0"/>
              </a:rPr>
              <a:t>X1</a:t>
            </a:r>
            <a:endParaRPr lang="es-ES" altLang="es-PE" dirty="0">
              <a:latin typeface="Times New Roman" charset="0"/>
            </a:endParaRPr>
          </a:p>
        </p:txBody>
      </p:sp>
      <p:sp>
        <p:nvSpPr>
          <p:cNvPr id="65551" name="Text Box 15"/>
          <p:cNvSpPr txBox="1">
            <a:spLocks noChangeArrowheads="1"/>
          </p:cNvSpPr>
          <p:nvPr/>
        </p:nvSpPr>
        <p:spPr bwMode="auto">
          <a:xfrm>
            <a:off x="1401804" y="5323955"/>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algn="ctr" eaLnBrk="1" hangingPunct="1">
              <a:spcBef>
                <a:spcPct val="50000"/>
              </a:spcBef>
            </a:pPr>
            <a:r>
              <a:rPr lang="es-ES_tradnl" altLang="es-PE" sz="4000">
                <a:latin typeface="Times New Roman" charset="0"/>
              </a:rPr>
              <a:t>RF</a:t>
            </a:r>
            <a:endParaRPr lang="es-ES" altLang="es-PE" sz="4000">
              <a:latin typeface="Times New Roman" charset="0"/>
            </a:endParaRPr>
          </a:p>
        </p:txBody>
      </p:sp>
      <p:sp>
        <p:nvSpPr>
          <p:cNvPr id="16" name="Line 15">
            <a:extLst>
              <a:ext uri="{FF2B5EF4-FFF2-40B4-BE49-F238E27FC236}">
                <a16:creationId xmlns:a16="http://schemas.microsoft.com/office/drawing/2014/main" id="{A1FE43B7-A334-4219-AC20-BCB0CC3AAD68}"/>
              </a:ext>
            </a:extLst>
          </p:cNvPr>
          <p:cNvSpPr>
            <a:spLocks noChangeShapeType="1"/>
          </p:cNvSpPr>
          <p:nvPr/>
        </p:nvSpPr>
        <p:spPr bwMode="auto">
          <a:xfrm>
            <a:off x="1266654" y="4028535"/>
            <a:ext cx="3857437" cy="25792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 name="Line 17">
            <a:extLst>
              <a:ext uri="{FF2B5EF4-FFF2-40B4-BE49-F238E27FC236}">
                <a16:creationId xmlns:a16="http://schemas.microsoft.com/office/drawing/2014/main" id="{EF046BDD-4E79-470D-894A-231E9D57635B}"/>
              </a:ext>
            </a:extLst>
          </p:cNvPr>
          <p:cNvSpPr>
            <a:spLocks noChangeShapeType="1"/>
          </p:cNvSpPr>
          <p:nvPr/>
        </p:nvSpPr>
        <p:spPr bwMode="auto">
          <a:xfrm>
            <a:off x="1266658" y="1590132"/>
            <a:ext cx="2459953" cy="49486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Tree>
    <p:extLst>
      <p:ext uri="{BB962C8B-B14F-4D97-AF65-F5344CB8AC3E}">
        <p14:creationId xmlns:p14="http://schemas.microsoft.com/office/powerpoint/2010/main" val="1080251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2209800" y="228600"/>
            <a:ext cx="3518140" cy="304800"/>
          </a:xfrm>
        </p:spPr>
        <p:txBody>
          <a:bodyPr>
            <a:normAutofit fontScale="90000"/>
          </a:bodyPr>
          <a:lstStyle/>
          <a:p>
            <a:pPr eaLnBrk="1" hangingPunct="1"/>
            <a:r>
              <a:rPr lang="es-ES_tradnl" altLang="es-PE" sz="2800" dirty="0"/>
              <a:t>Numeración de las SB</a:t>
            </a:r>
            <a:endParaRPr lang="es-ES" altLang="es-PE" sz="2800" dirty="0"/>
          </a:p>
        </p:txBody>
      </p:sp>
      <p:graphicFrame>
        <p:nvGraphicFramePr>
          <p:cNvPr id="70731" name="Group 75"/>
          <p:cNvGraphicFramePr>
            <a:graphicFrameLocks noGrp="1"/>
          </p:cNvGraphicFramePr>
          <p:nvPr>
            <p:ph type="tbl" idx="1"/>
          </p:nvPr>
        </p:nvGraphicFramePr>
        <p:xfrm>
          <a:off x="2180772" y="1436910"/>
          <a:ext cx="7924800" cy="5210176"/>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317625">
                  <a:extLst>
                    <a:ext uri="{9D8B030D-6E8A-4147-A177-3AD203B41FA5}">
                      <a16:colId xmlns:a16="http://schemas.microsoft.com/office/drawing/2014/main" val="20003"/>
                    </a:ext>
                  </a:extLst>
                </a:gridCol>
                <a:gridCol w="2111375">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tblGrid>
              <a:tr h="44608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Num</a:t>
                      </a:r>
                      <a:endParaRPr kumimoji="0" lang="es-ES" sz="2000" b="0" i="0" u="none" strike="noStrike" cap="none" normalizeH="0" baseline="0" dirty="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SB</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VB</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VNB</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Solución</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Tipo</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FO</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37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1</a:t>
                      </a:r>
                      <a:endParaRPr kumimoji="0" lang="es-ES" sz="2000" b="0" i="0" u="none" strike="noStrike" cap="none" normalizeH="0" baseline="0" dirty="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(0,0)</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H1,H2</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X1,X2</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H1=12, </a:t>
                      </a:r>
                      <a:r>
                        <a:rPr kumimoji="0" lang="es-ES_tradnl" sz="2000" b="0" i="0" u="none" strike="noStrike" cap="none" normalizeH="0" baseline="0" dirty="0" err="1">
                          <a:ln>
                            <a:noFill/>
                          </a:ln>
                          <a:solidFill>
                            <a:schemeClr val="tx1"/>
                          </a:solidFill>
                          <a:effectLst/>
                          <a:latin typeface="Tahoma" charset="0"/>
                        </a:rPr>
                        <a:t>H2</a:t>
                      </a:r>
                      <a:r>
                        <a:rPr kumimoji="0" lang="es-ES_tradnl" sz="2000" b="0" i="0" u="none" strike="noStrike" cap="none" normalizeH="0" baseline="0" dirty="0">
                          <a:ln>
                            <a:noFill/>
                          </a:ln>
                          <a:solidFill>
                            <a:schemeClr val="tx1"/>
                          </a:solidFill>
                          <a:effectLst/>
                          <a:latin typeface="Tahoma" charset="0"/>
                        </a:rPr>
                        <a:t>=8</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F</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0</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37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2</a:t>
                      </a:r>
                      <a:endParaRPr kumimoji="0" lang="es-ES" sz="2000" b="0" i="0" u="none" strike="noStrike" cap="none" normalizeH="0" baseline="0" dirty="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(0,4)</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X2,H2</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X1,H1</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X2</a:t>
                      </a:r>
                      <a:r>
                        <a:rPr kumimoji="0" lang="es-ES_tradnl" sz="2000" b="0" i="0" u="none" strike="noStrike" cap="none" normalizeH="0" baseline="0" dirty="0">
                          <a:ln>
                            <a:noFill/>
                          </a:ln>
                          <a:solidFill>
                            <a:schemeClr val="tx1"/>
                          </a:solidFill>
                          <a:effectLst/>
                          <a:latin typeface="Tahoma" charset="0"/>
                        </a:rPr>
                        <a:t>=4, </a:t>
                      </a:r>
                      <a:r>
                        <a:rPr kumimoji="0" lang="es-ES_tradnl" sz="2000" b="0" i="0" u="none" strike="noStrike" cap="none" normalizeH="0" baseline="0" dirty="0" err="1">
                          <a:ln>
                            <a:noFill/>
                          </a:ln>
                          <a:solidFill>
                            <a:schemeClr val="tx1"/>
                          </a:solidFill>
                          <a:effectLst/>
                          <a:latin typeface="Tahoma" charset="0"/>
                        </a:rPr>
                        <a:t>H2</a:t>
                      </a:r>
                      <a:r>
                        <a:rPr kumimoji="0" lang="es-ES_tradnl" sz="2000" b="0" i="0" u="none" strike="noStrike" cap="none" normalizeH="0" baseline="0" dirty="0">
                          <a:ln>
                            <a:noFill/>
                          </a:ln>
                          <a:solidFill>
                            <a:schemeClr val="tx1"/>
                          </a:solidFill>
                          <a:effectLst/>
                          <a:latin typeface="Tahoma" charset="0"/>
                        </a:rPr>
                        <a:t>=4</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F</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28</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53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3</a:t>
                      </a:r>
                      <a:endParaRPr kumimoji="0" lang="es-ES" sz="2000" b="0" i="0" u="none" strike="noStrike" cap="none" normalizeH="0" baseline="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(0,8)</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X2,H1</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X1,H2</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X2</a:t>
                      </a:r>
                      <a:r>
                        <a:rPr kumimoji="0" lang="es-ES_tradnl" sz="2000" b="0" i="0" u="none" strike="noStrike" cap="none" normalizeH="0" baseline="0" dirty="0">
                          <a:ln>
                            <a:noFill/>
                          </a:ln>
                          <a:solidFill>
                            <a:schemeClr val="tx1"/>
                          </a:solidFill>
                          <a:effectLst/>
                          <a:latin typeface="Tahoma" charset="0"/>
                        </a:rPr>
                        <a:t>=8, </a:t>
                      </a:r>
                      <a:r>
                        <a:rPr kumimoji="0" lang="es-ES_tradnl" sz="2000" b="0" i="0" u="none" strike="noStrike" cap="none" normalizeH="0" baseline="0" dirty="0" err="1">
                          <a:ln>
                            <a:noFill/>
                          </a:ln>
                          <a:solidFill>
                            <a:schemeClr val="tx1"/>
                          </a:solidFill>
                          <a:effectLst/>
                          <a:latin typeface="Tahoma" charset="0"/>
                        </a:rPr>
                        <a:t>X2</a:t>
                      </a:r>
                      <a:r>
                        <a:rPr kumimoji="0" lang="es-ES_tradnl" sz="2000" b="0" i="0" u="none" strike="noStrike" cap="none" normalizeH="0" baseline="0" dirty="0">
                          <a:ln>
                            <a:noFill/>
                          </a:ln>
                          <a:solidFill>
                            <a:schemeClr val="tx1"/>
                          </a:solidFill>
                          <a:effectLst/>
                          <a:latin typeface="Tahoma" charset="0"/>
                        </a:rPr>
                        <a:t>=-6</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NF</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37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4</a:t>
                      </a:r>
                      <a:endParaRPr kumimoji="0" lang="es-ES" sz="2000" b="0" i="0" u="none" strike="noStrike" cap="none" normalizeH="0" baseline="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(4,0)</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X1,H1</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X2,H2</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X1</a:t>
                      </a:r>
                      <a:r>
                        <a:rPr kumimoji="0" lang="es-ES_tradnl" sz="2000" b="0" i="0" u="none" strike="noStrike" cap="none" normalizeH="0" baseline="0" dirty="0">
                          <a:ln>
                            <a:noFill/>
                          </a:ln>
                          <a:solidFill>
                            <a:schemeClr val="tx1"/>
                          </a:solidFill>
                          <a:effectLst/>
                          <a:latin typeface="Tahoma" charset="0"/>
                        </a:rPr>
                        <a:t>=4, H1=4</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F</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24</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937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5</a:t>
                      </a:r>
                      <a:endParaRPr kumimoji="0" lang="es-ES" sz="2000" b="0" i="0" u="none" strike="noStrike" cap="none" normalizeH="0" baseline="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(6,0)</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X1,H2</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X2,H1</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X1</a:t>
                      </a:r>
                      <a:r>
                        <a:rPr kumimoji="0" lang="es-ES_tradnl" sz="2000" b="0" i="0" u="none" strike="noStrike" cap="none" normalizeH="0" baseline="0" dirty="0">
                          <a:ln>
                            <a:noFill/>
                          </a:ln>
                          <a:solidFill>
                            <a:schemeClr val="tx1"/>
                          </a:solidFill>
                          <a:effectLst/>
                          <a:latin typeface="Tahoma" charset="0"/>
                        </a:rPr>
                        <a:t>=6, </a:t>
                      </a:r>
                      <a:r>
                        <a:rPr kumimoji="0" lang="es-ES_tradnl" sz="2000" b="0" i="0" u="none" strike="noStrike" cap="none" normalizeH="0" baseline="0" dirty="0" err="1">
                          <a:ln>
                            <a:noFill/>
                          </a:ln>
                          <a:solidFill>
                            <a:schemeClr val="tx1"/>
                          </a:solidFill>
                          <a:effectLst/>
                          <a:latin typeface="Tahoma" charset="0"/>
                        </a:rPr>
                        <a:t>H2</a:t>
                      </a:r>
                      <a:r>
                        <a:rPr kumimoji="0" lang="es-ES_tradnl" sz="2000" b="0" i="0" u="none" strike="noStrike" cap="none" normalizeH="0" baseline="0" dirty="0">
                          <a:ln>
                            <a:noFill/>
                          </a:ln>
                          <a:solidFill>
                            <a:schemeClr val="tx1"/>
                          </a:solidFill>
                          <a:effectLst/>
                          <a:latin typeface="Tahoma" charset="0"/>
                        </a:rPr>
                        <a:t>=-4</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NF</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a:t>
                      </a:r>
                      <a:endParaRPr kumimoji="0" lang="es-E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937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6</a:t>
                      </a:r>
                      <a:endParaRPr kumimoji="0" lang="es-ES" sz="2000" b="0" i="0" u="none" strike="noStrike" cap="none" normalizeH="0" baseline="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(3,2)</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X1,X2</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H1,H2</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err="1">
                          <a:ln>
                            <a:noFill/>
                          </a:ln>
                          <a:solidFill>
                            <a:schemeClr val="tx1"/>
                          </a:solidFill>
                          <a:effectLst/>
                          <a:latin typeface="Tahoma" charset="0"/>
                        </a:rPr>
                        <a:t>X1</a:t>
                      </a:r>
                      <a:r>
                        <a:rPr kumimoji="0" lang="es-ES_tradnl" sz="2000" b="0" i="0" u="none" strike="noStrike" cap="none" normalizeH="0" baseline="0" dirty="0">
                          <a:ln>
                            <a:noFill/>
                          </a:ln>
                          <a:solidFill>
                            <a:schemeClr val="tx1"/>
                          </a:solidFill>
                          <a:effectLst/>
                          <a:latin typeface="Tahoma" charset="0"/>
                        </a:rPr>
                        <a:t>=3, </a:t>
                      </a:r>
                      <a:r>
                        <a:rPr kumimoji="0" lang="es-ES_tradnl" sz="2000" b="0" i="0" u="none" strike="noStrike" cap="none" normalizeH="0" baseline="0" dirty="0" err="1">
                          <a:ln>
                            <a:noFill/>
                          </a:ln>
                          <a:solidFill>
                            <a:schemeClr val="tx1"/>
                          </a:solidFill>
                          <a:effectLst/>
                          <a:latin typeface="Tahoma" charset="0"/>
                        </a:rPr>
                        <a:t>X2</a:t>
                      </a:r>
                      <a:r>
                        <a:rPr kumimoji="0" lang="es-ES_tradnl" sz="2000" b="0" i="0" u="none" strike="noStrike" cap="none" normalizeH="0" baseline="0" dirty="0">
                          <a:ln>
                            <a:noFill/>
                          </a:ln>
                          <a:solidFill>
                            <a:schemeClr val="tx1"/>
                          </a:solidFill>
                          <a:effectLst/>
                          <a:latin typeface="Tahoma" charset="0"/>
                        </a:rPr>
                        <a:t>=2</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F</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dirty="0">
                          <a:ln>
                            <a:noFill/>
                          </a:ln>
                          <a:solidFill>
                            <a:schemeClr val="tx1"/>
                          </a:solidFill>
                          <a:effectLst/>
                          <a:latin typeface="Tahoma" charset="0"/>
                        </a:rPr>
                        <a:t>32</a:t>
                      </a:r>
                      <a:endParaRPr kumimoji="0" lang="es-E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1749" name="Text Box 69"/>
          <p:cNvSpPr txBox="1">
            <a:spLocks noChangeArrowheads="1"/>
          </p:cNvSpPr>
          <p:nvPr/>
        </p:nvSpPr>
        <p:spPr bwMode="auto">
          <a:xfrm>
            <a:off x="7240437" y="363748"/>
            <a:ext cx="4038600" cy="4667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eaLnBrk="0" fontAlgn="base" hangingPunct="0">
              <a:spcBef>
                <a:spcPct val="0"/>
              </a:spcBef>
              <a:spcAft>
                <a:spcPct val="0"/>
              </a:spcAft>
              <a:defRPr sz="2400">
                <a:solidFill>
                  <a:schemeClr val="tx1"/>
                </a:solidFill>
                <a:latin typeface="Tahoma" charset="0"/>
              </a:defRPr>
            </a:lvl6pPr>
            <a:lvl7pPr marL="2971800" indent="-228600" eaLnBrk="0" fontAlgn="base" hangingPunct="0">
              <a:spcBef>
                <a:spcPct val="0"/>
              </a:spcBef>
              <a:spcAft>
                <a:spcPct val="0"/>
              </a:spcAft>
              <a:defRPr sz="2400">
                <a:solidFill>
                  <a:schemeClr val="tx1"/>
                </a:solidFill>
                <a:latin typeface="Tahoma" charset="0"/>
              </a:defRPr>
            </a:lvl7pPr>
            <a:lvl8pPr marL="3429000" indent="-228600" eaLnBrk="0" fontAlgn="base" hangingPunct="0">
              <a:spcBef>
                <a:spcPct val="0"/>
              </a:spcBef>
              <a:spcAft>
                <a:spcPct val="0"/>
              </a:spcAft>
              <a:defRPr sz="2400">
                <a:solidFill>
                  <a:schemeClr val="tx1"/>
                </a:solidFill>
                <a:latin typeface="Tahoma" charset="0"/>
              </a:defRPr>
            </a:lvl8pPr>
            <a:lvl9pPr marL="3886200" indent="-228600" eaLnBrk="0" fontAlgn="base" hangingPunct="0">
              <a:spcBef>
                <a:spcPct val="0"/>
              </a:spcBef>
              <a:spcAft>
                <a:spcPct val="0"/>
              </a:spcAft>
              <a:defRPr sz="2400">
                <a:solidFill>
                  <a:schemeClr val="tx1"/>
                </a:solidFill>
                <a:latin typeface="Tahoma" charset="0"/>
              </a:defRPr>
            </a:lvl9pPr>
          </a:lstStyle>
          <a:p>
            <a:pPr algn="ctr" eaLnBrk="1" hangingPunct="1">
              <a:spcBef>
                <a:spcPct val="50000"/>
              </a:spcBef>
            </a:pPr>
            <a:r>
              <a:rPr lang="es-ES_tradnl" altLang="es-PE">
                <a:solidFill>
                  <a:schemeClr val="bg1"/>
                </a:solidFill>
                <a:latin typeface="Times New Roman" charset="0"/>
              </a:rPr>
              <a:t>NSBP &lt;= </a:t>
            </a:r>
            <a:r>
              <a:rPr lang="es-ES_tradnl" altLang="es-PE" baseline="-25000">
                <a:solidFill>
                  <a:schemeClr val="bg1"/>
                </a:solidFill>
                <a:latin typeface="Times New Roman" charset="0"/>
              </a:rPr>
              <a:t>4</a:t>
            </a:r>
            <a:r>
              <a:rPr lang="es-ES_tradnl" altLang="es-PE">
                <a:solidFill>
                  <a:schemeClr val="bg1"/>
                </a:solidFill>
                <a:latin typeface="Times New Roman" charset="0"/>
              </a:rPr>
              <a:t>C</a:t>
            </a:r>
            <a:r>
              <a:rPr lang="es-ES_tradnl" altLang="es-PE" baseline="-25000">
                <a:solidFill>
                  <a:schemeClr val="bg1"/>
                </a:solidFill>
                <a:latin typeface="Times New Roman" charset="0"/>
              </a:rPr>
              <a:t>2</a:t>
            </a:r>
            <a:r>
              <a:rPr lang="es-ES_tradnl" altLang="es-PE">
                <a:solidFill>
                  <a:schemeClr val="bg1"/>
                </a:solidFill>
                <a:latin typeface="Times New Roman" charset="0"/>
              </a:rPr>
              <a:t> &lt;= 6</a:t>
            </a:r>
            <a:endParaRPr lang="es-ES" altLang="es-PE">
              <a:solidFill>
                <a:schemeClr val="bg1"/>
              </a:solidFill>
              <a:latin typeface="Times New Roman"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s-ES_tradnl" altLang="es-PE"/>
              <a:t>Solución Optima</a:t>
            </a:r>
            <a:endParaRPr lang="es-ES" altLang="es-PE"/>
          </a:p>
        </p:txBody>
      </p:sp>
      <p:sp>
        <p:nvSpPr>
          <p:cNvPr id="71683" name="Rectangle 3" descr="Rectangle: Click to edit Master text styles&#10;Second level&#10;Third level&#10;Fourth level&#10;Fifth level"/>
          <p:cNvSpPr>
            <a:spLocks noGrp="1" noChangeArrowheads="1"/>
          </p:cNvSpPr>
          <p:nvPr>
            <p:ph idx="1"/>
          </p:nvPr>
        </p:nvSpPr>
        <p:spPr/>
        <p:txBody>
          <a:bodyPr/>
          <a:lstStyle/>
          <a:p>
            <a:pPr algn="just" eaLnBrk="1" hangingPunct="1">
              <a:lnSpc>
                <a:spcPct val="90000"/>
              </a:lnSpc>
            </a:pPr>
            <a:r>
              <a:rPr lang="es-ES_tradnl" altLang="es-PE"/>
              <a:t>Si la FO está Max, la solución óptima es generada por el máximo valor de las soluciones básicas factibles.</a:t>
            </a:r>
          </a:p>
          <a:p>
            <a:pPr algn="just" eaLnBrk="1" hangingPunct="1">
              <a:lnSpc>
                <a:spcPct val="90000"/>
              </a:lnSpc>
            </a:pPr>
            <a:r>
              <a:rPr lang="es-ES_tradnl" altLang="es-PE"/>
              <a:t>Si la FO está Min, la solución óptima es generada por el mìnimo valor de las soluciones básicas factibles.</a:t>
            </a:r>
          </a:p>
          <a:p>
            <a:pPr algn="just" eaLnBrk="1" hangingPunct="1">
              <a:lnSpc>
                <a:spcPct val="90000"/>
              </a:lnSpc>
            </a:pPr>
            <a:r>
              <a:rPr lang="es-ES_tradnl" altLang="es-PE"/>
              <a:t>Solución óptima es: FO = 32</a:t>
            </a:r>
          </a:p>
          <a:p>
            <a:pPr lvl="1" algn="just" eaLnBrk="1" hangingPunct="1">
              <a:lnSpc>
                <a:spcPct val="90000"/>
              </a:lnSpc>
            </a:pPr>
            <a:r>
              <a:rPr lang="es-ES_tradnl" altLang="es-PE"/>
              <a:t>X(1) = 3  y X(2) = 2</a:t>
            </a:r>
            <a:endParaRPr lang="es-ES" altLang="es-P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p:cTn id="7" dur="500" fill="hold"/>
                                        <p:tgtEl>
                                          <p:spTgt spid="7168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168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7168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7168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7168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71683">
                                            <p:txEl>
                                              <p:pRg st="1" end="1"/>
                                            </p:txEl>
                                          </p:spTgt>
                                        </p:tgtEl>
                                        <p:attrNameLst>
                                          <p:attrName>style.visibility</p:attrName>
                                        </p:attrNameLst>
                                      </p:cBhvr>
                                      <p:to>
                                        <p:strVal val="visible"/>
                                      </p:to>
                                    </p:set>
                                    <p:anim calcmode="lin" valueType="num">
                                      <p:cBhvr>
                                        <p:cTn id="15" dur="500" fill="hold"/>
                                        <p:tgtEl>
                                          <p:spTgt spid="7168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7168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7168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7168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7168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71683">
                                            <p:txEl>
                                              <p:pRg st="2" end="2"/>
                                            </p:txEl>
                                          </p:spTgt>
                                        </p:tgtEl>
                                        <p:attrNameLst>
                                          <p:attrName>style.visibility</p:attrName>
                                        </p:attrNameLst>
                                      </p:cBhvr>
                                      <p:to>
                                        <p:strVal val="visible"/>
                                      </p:to>
                                    </p:set>
                                    <p:anim calcmode="lin" valueType="num">
                                      <p:cBhvr>
                                        <p:cTn id="23" dur="500" fill="hold"/>
                                        <p:tgtEl>
                                          <p:spTgt spid="7168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7168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7168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7168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7168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71683">
                                            <p:txEl>
                                              <p:pRg st="3" end="3"/>
                                            </p:txEl>
                                          </p:spTgt>
                                        </p:tgtEl>
                                        <p:attrNameLst>
                                          <p:attrName>style.visibility</p:attrName>
                                        </p:attrNameLst>
                                      </p:cBhvr>
                                      <p:to>
                                        <p:strVal val="visible"/>
                                      </p:to>
                                    </p:set>
                                    <p:anim calcmode="lin" valueType="num">
                                      <p:cBhvr>
                                        <p:cTn id="31" dur="500" fill="hold"/>
                                        <p:tgtEl>
                                          <p:spTgt spid="7168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7168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7168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7168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71683">
                                            <p:txEl>
                                              <p:pRg st="3" end="3"/>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5"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133600" y="533400"/>
            <a:ext cx="7772400" cy="762000"/>
          </a:xfrm>
        </p:spPr>
        <p:txBody>
          <a:bodyPr/>
          <a:lstStyle/>
          <a:p>
            <a:pPr eaLnBrk="1" hangingPunct="1"/>
            <a:r>
              <a:rPr lang="es-ES_tradnl" altLang="es-PE" sz="4000"/>
              <a:t>Interpretación Administrativa</a:t>
            </a:r>
            <a:endParaRPr lang="es-ES" altLang="es-PE" sz="4000"/>
          </a:p>
        </p:txBody>
      </p:sp>
      <p:graphicFrame>
        <p:nvGraphicFramePr>
          <p:cNvPr id="72707" name="Group 3"/>
          <p:cNvGraphicFramePr>
            <a:graphicFrameLocks noGrp="1"/>
          </p:cNvGraphicFramePr>
          <p:nvPr>
            <p:ph type="tbl" idx="1"/>
          </p:nvPr>
        </p:nvGraphicFramePr>
        <p:xfrm>
          <a:off x="2362200" y="1905000"/>
          <a:ext cx="7772400" cy="4116388"/>
        </p:xfrm>
        <a:graphic>
          <a:graphicData uri="http://schemas.openxmlformats.org/drawingml/2006/table">
            <a:tbl>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10302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Producto</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Producción</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Utilidad</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 $ * unid)</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Utilidad total ($)</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1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Bobby</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3</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6</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18</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71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Teddy</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7</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14</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871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Total</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5</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32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3758" name="Line 30"/>
          <p:cNvSpPr>
            <a:spLocks noChangeShapeType="1"/>
          </p:cNvSpPr>
          <p:nvPr/>
        </p:nvSpPr>
        <p:spPr bwMode="auto">
          <a:xfrm>
            <a:off x="2209800" y="5105400"/>
            <a:ext cx="777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P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6107502" y="133710"/>
            <a:ext cx="6084498" cy="914400"/>
          </a:xfrm>
        </p:spPr>
        <p:txBody>
          <a:bodyPr/>
          <a:lstStyle/>
          <a:p>
            <a:pPr algn="ctr" eaLnBrk="1" hangingPunct="1"/>
            <a:r>
              <a:rPr lang="es-ES_tradnl" altLang="es-PE" dirty="0">
                <a:solidFill>
                  <a:schemeClr val="bg1"/>
                </a:solidFill>
              </a:rPr>
              <a:t>Utilización de recursos</a:t>
            </a:r>
            <a:endParaRPr lang="es-ES" altLang="es-PE" dirty="0">
              <a:solidFill>
                <a:schemeClr val="bg1"/>
              </a:solidFill>
            </a:endParaRPr>
          </a:p>
        </p:txBody>
      </p:sp>
      <p:graphicFrame>
        <p:nvGraphicFramePr>
          <p:cNvPr id="73731" name="Group 3"/>
          <p:cNvGraphicFramePr>
            <a:graphicFrameLocks noGrp="1"/>
          </p:cNvGraphicFramePr>
          <p:nvPr>
            <p:ph type="tbl" idx="1"/>
            <p:extLst>
              <p:ext uri="{D42A27DB-BD31-4B8C-83A1-F6EECF244321}">
                <p14:modId xmlns:p14="http://schemas.microsoft.com/office/powerpoint/2010/main" val="1370121654"/>
              </p:ext>
            </p:extLst>
          </p:nvPr>
        </p:nvGraphicFramePr>
        <p:xfrm>
          <a:off x="616892" y="1844824"/>
          <a:ext cx="10981220" cy="4176464"/>
        </p:xfrm>
        <a:graphic>
          <a:graphicData uri="http://schemas.openxmlformats.org/drawingml/2006/table">
            <a:tbl>
              <a:tblPr/>
              <a:tblGrid>
                <a:gridCol w="1830203">
                  <a:extLst>
                    <a:ext uri="{9D8B030D-6E8A-4147-A177-3AD203B41FA5}">
                      <a16:colId xmlns:a16="http://schemas.microsoft.com/office/drawing/2014/main" val="20000"/>
                    </a:ext>
                  </a:extLst>
                </a:gridCol>
                <a:gridCol w="1842205">
                  <a:extLst>
                    <a:ext uri="{9D8B030D-6E8A-4147-A177-3AD203B41FA5}">
                      <a16:colId xmlns:a16="http://schemas.microsoft.com/office/drawing/2014/main" val="20001"/>
                    </a:ext>
                  </a:extLst>
                </a:gridCol>
                <a:gridCol w="1818203">
                  <a:extLst>
                    <a:ext uri="{9D8B030D-6E8A-4147-A177-3AD203B41FA5}">
                      <a16:colId xmlns:a16="http://schemas.microsoft.com/office/drawing/2014/main" val="20002"/>
                    </a:ext>
                  </a:extLst>
                </a:gridCol>
                <a:gridCol w="1830203">
                  <a:extLst>
                    <a:ext uri="{9D8B030D-6E8A-4147-A177-3AD203B41FA5}">
                      <a16:colId xmlns:a16="http://schemas.microsoft.com/office/drawing/2014/main" val="20003"/>
                    </a:ext>
                  </a:extLst>
                </a:gridCol>
                <a:gridCol w="1830203">
                  <a:extLst>
                    <a:ext uri="{9D8B030D-6E8A-4147-A177-3AD203B41FA5}">
                      <a16:colId xmlns:a16="http://schemas.microsoft.com/office/drawing/2014/main" val="20004"/>
                    </a:ext>
                  </a:extLst>
                </a:gridCol>
                <a:gridCol w="1830203">
                  <a:extLst>
                    <a:ext uri="{9D8B030D-6E8A-4147-A177-3AD203B41FA5}">
                      <a16:colId xmlns:a16="http://schemas.microsoft.com/office/drawing/2014/main" val="20005"/>
                    </a:ext>
                  </a:extLst>
                </a:gridCol>
              </a:tblGrid>
              <a:tr h="533412">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s-ES_tradnl" sz="2400" b="0" i="0" u="none" strike="noStrike" cap="none" normalizeH="0" baseline="0">
                        <a:ln>
                          <a:noFill/>
                        </a:ln>
                        <a:solidFill>
                          <a:schemeClr val="tx1"/>
                        </a:solidFill>
                        <a:effectLst/>
                        <a:latin typeface="Tahoma"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400" b="0" i="0" u="none" strike="noStrike" cap="none" normalizeH="0" baseline="0">
                          <a:ln>
                            <a:noFill/>
                          </a:ln>
                          <a:solidFill>
                            <a:schemeClr val="tx1"/>
                          </a:solidFill>
                          <a:effectLst/>
                          <a:latin typeface="Tahoma" charset="0"/>
                        </a:rPr>
                        <a:t>Producto</a:t>
                      </a:r>
                      <a:endParaRPr kumimoji="0" lang="es-ES" sz="24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s-ES_tradnl" sz="2400" b="0" i="0" u="none" strike="noStrike" cap="none" normalizeH="0" baseline="0">
                        <a:ln>
                          <a:noFill/>
                        </a:ln>
                        <a:solidFill>
                          <a:schemeClr val="tx1"/>
                        </a:solidFill>
                        <a:effectLst/>
                        <a:latin typeface="Tahoma"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400" b="0" i="0" u="none" strike="noStrike" cap="none" normalizeH="0" baseline="0">
                          <a:ln>
                            <a:noFill/>
                          </a:ln>
                          <a:solidFill>
                            <a:schemeClr val="tx1"/>
                          </a:solidFill>
                          <a:effectLst/>
                          <a:latin typeface="Tahoma" charset="0"/>
                        </a:rPr>
                        <a:t>Producción</a:t>
                      </a:r>
                      <a:endParaRPr kumimoji="0" lang="es-ES" sz="24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400" b="0" i="0" u="none" strike="noStrike" cap="none" normalizeH="0" baseline="0">
                          <a:ln>
                            <a:noFill/>
                          </a:ln>
                          <a:solidFill>
                            <a:schemeClr val="tx1"/>
                          </a:solidFill>
                          <a:effectLst/>
                          <a:latin typeface="Tahoma" charset="0"/>
                        </a:rPr>
                        <a:t>Máquina 1</a:t>
                      </a:r>
                      <a:endParaRPr kumimoji="0" lang="es-ES" sz="24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400" b="0" i="0" u="none" strike="noStrike" cap="none" normalizeH="0" baseline="0">
                          <a:ln>
                            <a:noFill/>
                          </a:ln>
                          <a:solidFill>
                            <a:schemeClr val="tx1"/>
                          </a:solidFill>
                          <a:effectLst/>
                          <a:latin typeface="Tahoma" charset="0"/>
                        </a:rPr>
                        <a:t>Máquina 2</a:t>
                      </a:r>
                      <a:endParaRPr kumimoji="0" lang="es-ES" sz="24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extLst>
                  <a:ext uri="{0D108BD9-81ED-4DB2-BD59-A6C34878D82A}">
                    <a16:rowId xmlns:a16="http://schemas.microsoft.com/office/drawing/2014/main" val="10000"/>
                  </a:ext>
                </a:extLst>
              </a:tr>
              <a:tr h="736092">
                <a:tc vMerge="1">
                  <a:txBody>
                    <a:bodyPr/>
                    <a:lstStyle/>
                    <a:p>
                      <a:endParaRPr lang="es-ES"/>
                    </a:p>
                  </a:txBody>
                  <a:tcPr/>
                </a:tc>
                <a:tc vMerge="1">
                  <a:txBody>
                    <a:bodyPr/>
                    <a:lstStyle/>
                    <a:p>
                      <a:endParaRPr lang="es-E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Req</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(hrs*unid)</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ReqTot</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(hrs)</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Req</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(hrs*unid)</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ReqTot</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000" b="0" i="0" u="none" strike="noStrike" cap="none" normalizeH="0" baseline="0">
                          <a:ln>
                            <a:noFill/>
                          </a:ln>
                          <a:solidFill>
                            <a:schemeClr val="tx1"/>
                          </a:solidFill>
                          <a:effectLst/>
                          <a:latin typeface="Tahoma" charset="0"/>
                        </a:rPr>
                        <a:t>(hrs)</a:t>
                      </a:r>
                      <a:endParaRPr kumimoji="0" lang="es-ES" sz="20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7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Bobby</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3</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6</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6</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5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Teddy</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3</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6</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1</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3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Total</a:t>
                      </a:r>
                      <a:endParaRPr kumimoji="0" lang="es-ES" sz="2800" b="0" i="0" u="none" strike="noStrike" cap="none" normalizeH="0" baseline="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5</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12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8</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758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dirty="0" err="1">
                          <a:ln>
                            <a:noFill/>
                          </a:ln>
                          <a:solidFill>
                            <a:schemeClr val="tx1"/>
                          </a:solidFill>
                          <a:effectLst/>
                          <a:latin typeface="Tahoma" charset="0"/>
                        </a:rPr>
                        <a:t>Disp</a:t>
                      </a:r>
                      <a:r>
                        <a:rPr kumimoji="0" lang="es-ES_tradnl" sz="2800" b="0" i="0" u="none" strike="noStrike" cap="none" normalizeH="0" baseline="0" dirty="0">
                          <a:ln>
                            <a:noFill/>
                          </a:ln>
                          <a:solidFill>
                            <a:schemeClr val="tx1"/>
                          </a:solidFill>
                          <a:effectLst/>
                          <a:latin typeface="Tahoma" charset="0"/>
                        </a:rPr>
                        <a:t>(</a:t>
                      </a:r>
                      <a:r>
                        <a:rPr kumimoji="0" lang="es-ES_tradnl" sz="2800" b="0" i="0" u="none" strike="noStrike" cap="none" normalizeH="0" baseline="0" dirty="0" err="1">
                          <a:ln>
                            <a:noFill/>
                          </a:ln>
                          <a:solidFill>
                            <a:schemeClr val="tx1"/>
                          </a:solidFill>
                          <a:effectLst/>
                          <a:latin typeface="Tahoma" charset="0"/>
                        </a:rPr>
                        <a:t>hrs</a:t>
                      </a:r>
                      <a:r>
                        <a:rPr kumimoji="0" lang="es-ES_tradnl" sz="2800" b="0" i="0" u="none" strike="noStrike" cap="none" normalizeH="0" baseline="0" dirty="0">
                          <a:ln>
                            <a:noFill/>
                          </a:ln>
                          <a:solidFill>
                            <a:schemeClr val="tx1"/>
                          </a:solidFill>
                          <a:effectLst/>
                          <a:latin typeface="Tahoma" charset="0"/>
                        </a:rPr>
                        <a:t>)</a:t>
                      </a:r>
                      <a:endParaRPr kumimoji="0" lang="es-ES" sz="2800" b="0" i="0" u="none" strike="noStrike" cap="none" normalizeH="0" baseline="0" dirty="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12</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dirty="0">
                          <a:ln>
                            <a:noFill/>
                          </a:ln>
                          <a:solidFill>
                            <a:schemeClr val="tx1"/>
                          </a:solidFill>
                          <a:effectLst/>
                          <a:latin typeface="Tahoma" charset="0"/>
                        </a:rPr>
                        <a:t>8</a:t>
                      </a:r>
                      <a:endParaRPr kumimoji="0" lang="es-ES" sz="28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dirty="0" err="1">
                          <a:ln>
                            <a:noFill/>
                          </a:ln>
                          <a:solidFill>
                            <a:schemeClr val="tx1"/>
                          </a:solidFill>
                          <a:effectLst/>
                          <a:latin typeface="Tahoma" charset="0"/>
                        </a:rPr>
                        <a:t>Utiliz</a:t>
                      </a:r>
                      <a:r>
                        <a:rPr kumimoji="0" lang="es-ES_tradnl" sz="2800" b="0" i="0" u="none" strike="noStrike" cap="none" normalizeH="0" baseline="0" dirty="0">
                          <a:ln>
                            <a:noFill/>
                          </a:ln>
                          <a:solidFill>
                            <a:schemeClr val="tx1"/>
                          </a:solidFill>
                          <a:effectLst/>
                          <a:latin typeface="Tahoma" charset="0"/>
                        </a:rPr>
                        <a:t>(%)</a:t>
                      </a:r>
                      <a:endParaRPr kumimoji="0" lang="es-ES" sz="2800" b="0" i="0" u="none" strike="noStrike" cap="none" normalizeH="0" baseline="0" dirty="0">
                        <a:ln>
                          <a:noFill/>
                        </a:ln>
                        <a:solidFill>
                          <a:schemeClr val="tx1"/>
                        </a:solidFill>
                        <a:effectLst/>
                        <a:latin typeface="Tahoma"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100%</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a:ln>
                            <a:noFill/>
                          </a:ln>
                          <a:solidFill>
                            <a:schemeClr val="tx1"/>
                          </a:solidFill>
                          <a:effectLst/>
                          <a:latin typeface="Tahoma" charset="0"/>
                        </a:rPr>
                        <a:t>*</a:t>
                      </a:r>
                      <a:endParaRPr kumimoji="0" lang="es-ES" sz="2800" b="0" i="0" u="none" strike="noStrike" cap="none" normalizeH="0" baseline="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s-ES_tradnl" sz="2800" b="0" i="0" u="none" strike="noStrike" cap="none" normalizeH="0" baseline="0" dirty="0">
                          <a:ln>
                            <a:noFill/>
                          </a:ln>
                          <a:solidFill>
                            <a:schemeClr val="tx1"/>
                          </a:solidFill>
                          <a:effectLst/>
                          <a:latin typeface="Tahoma" charset="0"/>
                        </a:rPr>
                        <a:t>100%</a:t>
                      </a:r>
                      <a:endParaRPr kumimoji="0" lang="es-ES" sz="2800" b="0" i="0" u="none" strike="noStrike" cap="none" normalizeH="0" baseline="0" dirty="0">
                        <a:ln>
                          <a:noFill/>
                        </a:ln>
                        <a:solidFill>
                          <a:schemeClr val="tx1"/>
                        </a:solidFill>
                        <a:effectLst/>
                        <a:latin typeface="Tahoma" charset="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096000" y="116632"/>
            <a:ext cx="6096000" cy="838200"/>
          </a:xfrm>
        </p:spPr>
        <p:txBody>
          <a:bodyPr/>
          <a:lstStyle/>
          <a:p>
            <a:pPr algn="ctr" eaLnBrk="1" hangingPunct="1"/>
            <a:r>
              <a:rPr lang="es-ES_tradnl" altLang="es-PE" sz="3600" dirty="0">
                <a:solidFill>
                  <a:schemeClr val="bg1"/>
                </a:solidFill>
              </a:rPr>
              <a:t>Número de Soluciones Básicas</a:t>
            </a:r>
            <a:endParaRPr lang="es-ES" altLang="es-PE" sz="3600" dirty="0">
              <a:solidFill>
                <a:schemeClr val="bg1"/>
              </a:solidFill>
            </a:endParaRPr>
          </a:p>
        </p:txBody>
      </p:sp>
      <p:sp>
        <p:nvSpPr>
          <p:cNvPr id="61443" name="Rectangle 3" descr="Rectangle: Click to edit Master text styles&#10;Second level&#10;Third level&#10;Fourth level&#10;Fifth level"/>
          <p:cNvSpPr>
            <a:spLocks noGrp="1" noChangeArrowheads="1"/>
          </p:cNvSpPr>
          <p:nvPr>
            <p:ph idx="1"/>
          </p:nvPr>
        </p:nvSpPr>
        <p:spPr>
          <a:xfrm>
            <a:off x="2208212" y="1484314"/>
            <a:ext cx="9360395" cy="4916487"/>
          </a:xfrm>
        </p:spPr>
        <p:txBody>
          <a:bodyPr>
            <a:noAutofit/>
          </a:bodyPr>
          <a:lstStyle/>
          <a:p>
            <a:pPr marL="0" indent="0" algn="just">
              <a:buNone/>
            </a:pPr>
            <a:r>
              <a:rPr lang="es-ES_tradnl" altLang="es-PE" dirty="0"/>
              <a:t>Modelo Lineal Estándar</a:t>
            </a:r>
          </a:p>
          <a:p>
            <a:pPr marL="400050" lvl="1" indent="0" algn="just">
              <a:buNone/>
            </a:pPr>
            <a:r>
              <a:rPr lang="es-ES_tradnl" altLang="es-PE" sz="2800" dirty="0"/>
              <a:t> Max  Z =  6 * </a:t>
            </a:r>
            <a:r>
              <a:rPr lang="es-ES_tradnl" altLang="es-PE" sz="2800" dirty="0" err="1"/>
              <a:t>X1</a:t>
            </a:r>
            <a:r>
              <a:rPr lang="es-ES_tradnl" altLang="es-PE" sz="2800" dirty="0"/>
              <a:t> + 7 * </a:t>
            </a:r>
            <a:r>
              <a:rPr lang="es-ES_tradnl" altLang="es-PE" sz="2800" dirty="0" err="1"/>
              <a:t>X2</a:t>
            </a:r>
            <a:endParaRPr lang="es-ES_tradnl" altLang="es-PE" sz="2800" dirty="0"/>
          </a:p>
          <a:p>
            <a:pPr marL="400050" lvl="1" indent="0" algn="just">
              <a:buNone/>
            </a:pPr>
            <a:r>
              <a:rPr lang="es-ES_tradnl" altLang="es-PE" sz="2800" dirty="0"/>
              <a:t>Sujeto a:</a:t>
            </a:r>
          </a:p>
          <a:p>
            <a:pPr marL="400050" lvl="1" indent="0" algn="just">
              <a:buNone/>
            </a:pPr>
            <a:r>
              <a:rPr lang="es-ES_tradnl" altLang="es-PE" sz="2800" dirty="0"/>
              <a:t> 2 * </a:t>
            </a:r>
            <a:r>
              <a:rPr lang="es-ES_tradnl" altLang="es-PE" sz="2800" dirty="0" err="1"/>
              <a:t>X1</a:t>
            </a:r>
            <a:r>
              <a:rPr lang="es-ES_tradnl" altLang="es-PE" sz="2800" dirty="0"/>
              <a:t> + 3 * </a:t>
            </a:r>
            <a:r>
              <a:rPr lang="es-ES_tradnl" altLang="es-PE" sz="2800" dirty="0" err="1"/>
              <a:t>X2</a:t>
            </a:r>
            <a:r>
              <a:rPr lang="es-ES_tradnl" altLang="es-PE" sz="2800" dirty="0"/>
              <a:t>  + </a:t>
            </a:r>
            <a:r>
              <a:rPr lang="es-ES_tradnl" altLang="es-PE" sz="2800" dirty="0" err="1"/>
              <a:t>S1</a:t>
            </a:r>
            <a:r>
              <a:rPr lang="es-ES_tradnl" altLang="es-PE" sz="2800" dirty="0"/>
              <a:t>      = 12</a:t>
            </a:r>
          </a:p>
          <a:p>
            <a:pPr marL="400050" lvl="1" indent="0" algn="just">
              <a:buNone/>
            </a:pPr>
            <a:r>
              <a:rPr lang="es-ES_tradnl" altLang="es-PE" sz="2800" dirty="0"/>
              <a:t> 2 * </a:t>
            </a:r>
            <a:r>
              <a:rPr lang="es-ES_tradnl" altLang="es-PE" sz="2800" dirty="0" err="1"/>
              <a:t>X1</a:t>
            </a:r>
            <a:r>
              <a:rPr lang="es-ES_tradnl" altLang="es-PE" sz="2800" dirty="0"/>
              <a:t> + 1 * </a:t>
            </a:r>
            <a:r>
              <a:rPr lang="es-ES_tradnl" altLang="es-PE" sz="2800" dirty="0" err="1"/>
              <a:t>X2</a:t>
            </a:r>
            <a:r>
              <a:rPr lang="es-ES_tradnl" altLang="es-PE" sz="2800" dirty="0"/>
              <a:t>  +      </a:t>
            </a:r>
            <a:r>
              <a:rPr lang="es-ES_tradnl" altLang="es-PE" sz="2800" dirty="0" err="1"/>
              <a:t>S2</a:t>
            </a:r>
            <a:r>
              <a:rPr lang="es-ES_tradnl" altLang="es-PE" sz="2800" dirty="0"/>
              <a:t> =  8</a:t>
            </a:r>
          </a:p>
          <a:p>
            <a:pPr marL="400050" lvl="1" indent="0" algn="just">
              <a:buNone/>
            </a:pPr>
            <a:r>
              <a:rPr lang="es-ES_tradnl" altLang="es-PE" sz="2800" dirty="0"/>
              <a:t> No Negatividad:</a:t>
            </a:r>
          </a:p>
          <a:p>
            <a:pPr marL="400050" lvl="1" indent="0" algn="just">
              <a:buNone/>
            </a:pPr>
            <a:r>
              <a:rPr lang="es-ES_tradnl" altLang="es-PE" sz="2800" dirty="0"/>
              <a:t>      </a:t>
            </a:r>
            <a:r>
              <a:rPr lang="es-ES_tradnl" altLang="es-PE" sz="2800" dirty="0" err="1"/>
              <a:t>X1</a:t>
            </a:r>
            <a:r>
              <a:rPr lang="es-ES_tradnl" altLang="es-PE" sz="2800" dirty="0"/>
              <a:t>, </a:t>
            </a:r>
            <a:r>
              <a:rPr lang="es-ES_tradnl" altLang="es-PE" sz="2800" dirty="0" err="1"/>
              <a:t>X2</a:t>
            </a:r>
            <a:r>
              <a:rPr lang="es-ES_tradnl" altLang="es-PE" sz="2800" dirty="0"/>
              <a:t>, </a:t>
            </a:r>
            <a:r>
              <a:rPr lang="es-ES_tradnl" altLang="es-PE" sz="2800" dirty="0" err="1"/>
              <a:t>S1</a:t>
            </a:r>
            <a:r>
              <a:rPr lang="es-ES_tradnl" altLang="es-PE" sz="2800" dirty="0"/>
              <a:t>, </a:t>
            </a:r>
            <a:r>
              <a:rPr lang="es-ES_tradnl" altLang="es-PE" sz="2800" dirty="0" err="1"/>
              <a:t>S2</a:t>
            </a:r>
            <a:r>
              <a:rPr lang="es-ES_tradnl" altLang="es-PE" sz="2800" dirty="0"/>
              <a:t> &gt;= 0</a:t>
            </a:r>
          </a:p>
          <a:p>
            <a:pPr marL="400050" lvl="1" indent="0" algn="just">
              <a:buNone/>
            </a:pPr>
            <a:r>
              <a:rPr lang="es-ES_tradnl" altLang="es-PE" sz="2800" dirty="0"/>
              <a:t>Número de Soluciones Básicas: </a:t>
            </a:r>
            <a:r>
              <a:rPr lang="es-ES_tradnl" altLang="es-PE" sz="2800" dirty="0" err="1"/>
              <a:t>mCn</a:t>
            </a:r>
            <a:endParaRPr lang="es-ES_tradnl" altLang="es-PE" sz="2800" dirty="0"/>
          </a:p>
          <a:p>
            <a:pPr marL="400050" lvl="1" indent="0" algn="just">
              <a:buNone/>
            </a:pPr>
            <a:r>
              <a:rPr lang="es-ES_tradnl" altLang="es-PE" sz="2800" dirty="0"/>
              <a:t>m: número total de variables en el modelo estándar</a:t>
            </a:r>
          </a:p>
          <a:p>
            <a:pPr marL="400050" lvl="1" indent="0" algn="just">
              <a:buNone/>
            </a:pPr>
            <a:r>
              <a:rPr lang="es-ES_tradnl" altLang="es-PE" sz="2800" dirty="0"/>
              <a:t>n: número de restricciones</a:t>
            </a:r>
          </a:p>
          <a:p>
            <a:pPr marL="400050" lvl="1" indent="0" algn="just">
              <a:buNone/>
            </a:pPr>
            <a:r>
              <a:rPr lang="es-ES_tradnl" altLang="es-PE" sz="2800" dirty="0" err="1"/>
              <a:t>NSB</a:t>
            </a:r>
            <a:r>
              <a:rPr lang="es-ES_tradnl" altLang="es-PE" sz="2800" dirty="0"/>
              <a:t> &lt;= </a:t>
            </a:r>
            <a:r>
              <a:rPr lang="es-ES_tradnl" altLang="es-PE" sz="2800" dirty="0" err="1"/>
              <a:t>4C2</a:t>
            </a:r>
            <a:r>
              <a:rPr lang="es-ES_tradnl" altLang="es-PE" sz="2800" dirty="0"/>
              <a:t> &lt;= 4! / 2!*(4-2)! &lt;= 6 SB</a:t>
            </a:r>
          </a:p>
          <a:p>
            <a:pPr marL="400050" lvl="1" indent="0" algn="just">
              <a:buNone/>
            </a:pPr>
            <a:endParaRPr lang="es-ES_tradnl" altLang="es-PE" sz="2800" dirty="0"/>
          </a:p>
          <a:p>
            <a:pPr marL="400050" lvl="1" indent="0" algn="just">
              <a:buNone/>
            </a:pPr>
            <a:endParaRPr lang="es-ES_tradnl" altLang="es-PE" sz="2800" dirty="0"/>
          </a:p>
          <a:p>
            <a:pPr marL="400050" lvl="1" indent="0" algn="just">
              <a:buNone/>
            </a:pPr>
            <a:r>
              <a:rPr lang="es-ES_tradnl" altLang="es-PE" sz="2800" dirty="0"/>
              <a:t>  </a:t>
            </a:r>
            <a:endParaRPr lang="es-ES" altLang="es-PE"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528" fill="hold" grpId="0" nodeType="clickEffect">
                                  <p:stCondLst>
                                    <p:cond delay="0"/>
                                  </p:stCondLst>
                                  <p:childTnLst>
                                    <p:set>
                                      <p:cBhvr>
                                        <p:cTn id="70" dur="1" fill="hold">
                                          <p:stCondLst>
                                            <p:cond delay="0"/>
                                          </p:stCondLst>
                                        </p:cTn>
                                        <p:tgtEl>
                                          <p:spTgt spid="61443">
                                            <p:txEl>
                                              <p:pRg st="8" end="8"/>
                                            </p:txEl>
                                          </p:spTgt>
                                        </p:tgtEl>
                                        <p:attrNameLst>
                                          <p:attrName>style.visibility</p:attrName>
                                        </p:attrNameLst>
                                      </p:cBhvr>
                                      <p:to>
                                        <p:strVal val="visible"/>
                                      </p:to>
                                    </p:set>
                                    <p:anim calcmode="lin" valueType="num">
                                      <p:cBhvr>
                                        <p:cTn id="71" dur="500" fill="hold"/>
                                        <p:tgtEl>
                                          <p:spTgt spid="61443">
                                            <p:txEl>
                                              <p:pRg st="8" end="8"/>
                                            </p:txEl>
                                          </p:spTgt>
                                        </p:tgtEl>
                                        <p:attrNameLst>
                                          <p:attrName>ppt_w</p:attrName>
                                        </p:attrNameLst>
                                      </p:cBhvr>
                                      <p:tavLst>
                                        <p:tav tm="0">
                                          <p:val>
                                            <p:fltVal val="0"/>
                                          </p:val>
                                        </p:tav>
                                        <p:tav tm="100000">
                                          <p:val>
                                            <p:strVal val="#ppt_w"/>
                                          </p:val>
                                        </p:tav>
                                      </p:tavLst>
                                    </p:anim>
                                    <p:anim calcmode="lin" valueType="num">
                                      <p:cBhvr>
                                        <p:cTn id="72" dur="500" fill="hold"/>
                                        <p:tgtEl>
                                          <p:spTgt spid="61443">
                                            <p:txEl>
                                              <p:pRg st="8" end="8"/>
                                            </p:txEl>
                                          </p:spTgt>
                                        </p:tgtEl>
                                        <p:attrNameLst>
                                          <p:attrName>ppt_h</p:attrName>
                                        </p:attrNameLst>
                                      </p:cBhvr>
                                      <p:tavLst>
                                        <p:tav tm="0">
                                          <p:val>
                                            <p:fltVal val="0"/>
                                          </p:val>
                                        </p:tav>
                                        <p:tav tm="100000">
                                          <p:val>
                                            <p:strVal val="#ppt_h"/>
                                          </p:val>
                                        </p:tav>
                                      </p:tavLst>
                                    </p:anim>
                                    <p:anim calcmode="lin" valueType="num">
                                      <p:cBhvr>
                                        <p:cTn id="73" dur="500" fill="hold"/>
                                        <p:tgtEl>
                                          <p:spTgt spid="61443">
                                            <p:txEl>
                                              <p:pRg st="8" end="8"/>
                                            </p:txEl>
                                          </p:spTgt>
                                        </p:tgtEl>
                                        <p:attrNameLst>
                                          <p:attrName>ppt_x</p:attrName>
                                        </p:attrNameLst>
                                      </p:cBhvr>
                                      <p:tavLst>
                                        <p:tav tm="0">
                                          <p:val>
                                            <p:fltVal val="0.5"/>
                                          </p:val>
                                        </p:tav>
                                        <p:tav tm="100000">
                                          <p:val>
                                            <p:strVal val="#ppt_x"/>
                                          </p:val>
                                        </p:tav>
                                      </p:tavLst>
                                    </p:anim>
                                    <p:anim calcmode="lin" valueType="num">
                                      <p:cBhvr>
                                        <p:cTn id="74" dur="500" fill="hold"/>
                                        <p:tgtEl>
                                          <p:spTgt spid="61443">
                                            <p:txEl>
                                              <p:pRg st="8" end="8"/>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8" end="8"/>
                                            </p:txEl>
                                          </p:spTgt>
                                        </p:tgtEl>
                                        <p:attrNameLst>
                                          <p:attrName>ppt_c</p:attrName>
                                        </p:attrNameLst>
                                      </p:cBhvr>
                                      <p:to>
                                        <a:schemeClr val="folHlink"/>
                                      </p:to>
                                    </p:animClr>
                                  </p:subTnLst>
                                </p:cTn>
                              </p:par>
                            </p:childTnLst>
                          </p:cTn>
                        </p:par>
                      </p:childTnLst>
                    </p:cTn>
                  </p:par>
                  <p:par>
                    <p:cTn id="75" fill="hold" nodeType="clickPar">
                      <p:stCondLst>
                        <p:cond delay="indefinite"/>
                      </p:stCondLst>
                      <p:childTnLst>
                        <p:par>
                          <p:cTn id="76" fill="hold" nodeType="withGroup">
                            <p:stCondLst>
                              <p:cond delay="0"/>
                            </p:stCondLst>
                            <p:childTnLst>
                              <p:par>
                                <p:cTn id="77" presetID="23" presetClass="entr" presetSubtype="528" fill="hold" grpId="0" nodeType="clickEffect">
                                  <p:stCondLst>
                                    <p:cond delay="0"/>
                                  </p:stCondLst>
                                  <p:childTnLst>
                                    <p:set>
                                      <p:cBhvr>
                                        <p:cTn id="78" dur="1" fill="hold">
                                          <p:stCondLst>
                                            <p:cond delay="0"/>
                                          </p:stCondLst>
                                        </p:cTn>
                                        <p:tgtEl>
                                          <p:spTgt spid="61443">
                                            <p:txEl>
                                              <p:pRg st="9" end="9"/>
                                            </p:txEl>
                                          </p:spTgt>
                                        </p:tgtEl>
                                        <p:attrNameLst>
                                          <p:attrName>style.visibility</p:attrName>
                                        </p:attrNameLst>
                                      </p:cBhvr>
                                      <p:to>
                                        <p:strVal val="visible"/>
                                      </p:to>
                                    </p:set>
                                    <p:anim calcmode="lin" valueType="num">
                                      <p:cBhvr>
                                        <p:cTn id="79" dur="500" fill="hold"/>
                                        <p:tgtEl>
                                          <p:spTgt spid="61443">
                                            <p:txEl>
                                              <p:pRg st="9" end="9"/>
                                            </p:txEl>
                                          </p:spTgt>
                                        </p:tgtEl>
                                        <p:attrNameLst>
                                          <p:attrName>ppt_w</p:attrName>
                                        </p:attrNameLst>
                                      </p:cBhvr>
                                      <p:tavLst>
                                        <p:tav tm="0">
                                          <p:val>
                                            <p:fltVal val="0"/>
                                          </p:val>
                                        </p:tav>
                                        <p:tav tm="100000">
                                          <p:val>
                                            <p:strVal val="#ppt_w"/>
                                          </p:val>
                                        </p:tav>
                                      </p:tavLst>
                                    </p:anim>
                                    <p:anim calcmode="lin" valueType="num">
                                      <p:cBhvr>
                                        <p:cTn id="80" dur="500" fill="hold"/>
                                        <p:tgtEl>
                                          <p:spTgt spid="61443">
                                            <p:txEl>
                                              <p:pRg st="9" end="9"/>
                                            </p:txEl>
                                          </p:spTgt>
                                        </p:tgtEl>
                                        <p:attrNameLst>
                                          <p:attrName>ppt_h</p:attrName>
                                        </p:attrNameLst>
                                      </p:cBhvr>
                                      <p:tavLst>
                                        <p:tav tm="0">
                                          <p:val>
                                            <p:fltVal val="0"/>
                                          </p:val>
                                        </p:tav>
                                        <p:tav tm="100000">
                                          <p:val>
                                            <p:strVal val="#ppt_h"/>
                                          </p:val>
                                        </p:tav>
                                      </p:tavLst>
                                    </p:anim>
                                    <p:anim calcmode="lin" valueType="num">
                                      <p:cBhvr>
                                        <p:cTn id="81" dur="500" fill="hold"/>
                                        <p:tgtEl>
                                          <p:spTgt spid="61443">
                                            <p:txEl>
                                              <p:pRg st="9" end="9"/>
                                            </p:txEl>
                                          </p:spTgt>
                                        </p:tgtEl>
                                        <p:attrNameLst>
                                          <p:attrName>ppt_x</p:attrName>
                                        </p:attrNameLst>
                                      </p:cBhvr>
                                      <p:tavLst>
                                        <p:tav tm="0">
                                          <p:val>
                                            <p:fltVal val="0.5"/>
                                          </p:val>
                                        </p:tav>
                                        <p:tav tm="100000">
                                          <p:val>
                                            <p:strVal val="#ppt_x"/>
                                          </p:val>
                                        </p:tav>
                                      </p:tavLst>
                                    </p:anim>
                                    <p:anim calcmode="lin" valueType="num">
                                      <p:cBhvr>
                                        <p:cTn id="82" dur="500" fill="hold"/>
                                        <p:tgtEl>
                                          <p:spTgt spid="61443">
                                            <p:txEl>
                                              <p:pRg st="9" end="9"/>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9" end="9"/>
                                            </p:txEl>
                                          </p:spTgt>
                                        </p:tgtEl>
                                        <p:attrNameLst>
                                          <p:attrName>ppt_c</p:attrName>
                                        </p:attrNameLst>
                                      </p:cBhvr>
                                      <p:to>
                                        <a:schemeClr val="folHlink"/>
                                      </p:to>
                                    </p:animClr>
                                  </p:subTnLst>
                                </p:cTn>
                              </p:par>
                            </p:childTnLst>
                          </p:cTn>
                        </p:par>
                      </p:childTnLst>
                    </p:cTn>
                  </p:par>
                  <p:par>
                    <p:cTn id="83" fill="hold" nodeType="clickPar">
                      <p:stCondLst>
                        <p:cond delay="indefinite"/>
                      </p:stCondLst>
                      <p:childTnLst>
                        <p:par>
                          <p:cTn id="84" fill="hold" nodeType="withGroup">
                            <p:stCondLst>
                              <p:cond delay="0"/>
                            </p:stCondLst>
                            <p:childTnLst>
                              <p:par>
                                <p:cTn id="85" presetID="23" presetClass="entr" presetSubtype="528" fill="hold" grpId="0" nodeType="clickEffect">
                                  <p:stCondLst>
                                    <p:cond delay="0"/>
                                  </p:stCondLst>
                                  <p:childTnLst>
                                    <p:set>
                                      <p:cBhvr>
                                        <p:cTn id="86" dur="1" fill="hold">
                                          <p:stCondLst>
                                            <p:cond delay="0"/>
                                          </p:stCondLst>
                                        </p:cTn>
                                        <p:tgtEl>
                                          <p:spTgt spid="61443">
                                            <p:txEl>
                                              <p:pRg st="10" end="10"/>
                                            </p:txEl>
                                          </p:spTgt>
                                        </p:tgtEl>
                                        <p:attrNameLst>
                                          <p:attrName>style.visibility</p:attrName>
                                        </p:attrNameLst>
                                      </p:cBhvr>
                                      <p:to>
                                        <p:strVal val="visible"/>
                                      </p:to>
                                    </p:set>
                                    <p:anim calcmode="lin" valueType="num">
                                      <p:cBhvr>
                                        <p:cTn id="87" dur="500" fill="hold"/>
                                        <p:tgtEl>
                                          <p:spTgt spid="61443">
                                            <p:txEl>
                                              <p:pRg st="10" end="10"/>
                                            </p:txEl>
                                          </p:spTgt>
                                        </p:tgtEl>
                                        <p:attrNameLst>
                                          <p:attrName>ppt_w</p:attrName>
                                        </p:attrNameLst>
                                      </p:cBhvr>
                                      <p:tavLst>
                                        <p:tav tm="0">
                                          <p:val>
                                            <p:fltVal val="0"/>
                                          </p:val>
                                        </p:tav>
                                        <p:tav tm="100000">
                                          <p:val>
                                            <p:strVal val="#ppt_w"/>
                                          </p:val>
                                        </p:tav>
                                      </p:tavLst>
                                    </p:anim>
                                    <p:anim calcmode="lin" valueType="num">
                                      <p:cBhvr>
                                        <p:cTn id="88" dur="500" fill="hold"/>
                                        <p:tgtEl>
                                          <p:spTgt spid="61443">
                                            <p:txEl>
                                              <p:pRg st="10" end="10"/>
                                            </p:txEl>
                                          </p:spTgt>
                                        </p:tgtEl>
                                        <p:attrNameLst>
                                          <p:attrName>ppt_h</p:attrName>
                                        </p:attrNameLst>
                                      </p:cBhvr>
                                      <p:tavLst>
                                        <p:tav tm="0">
                                          <p:val>
                                            <p:fltVal val="0"/>
                                          </p:val>
                                        </p:tav>
                                        <p:tav tm="100000">
                                          <p:val>
                                            <p:strVal val="#ppt_h"/>
                                          </p:val>
                                        </p:tav>
                                      </p:tavLst>
                                    </p:anim>
                                    <p:anim calcmode="lin" valueType="num">
                                      <p:cBhvr>
                                        <p:cTn id="89" dur="500" fill="hold"/>
                                        <p:tgtEl>
                                          <p:spTgt spid="61443">
                                            <p:txEl>
                                              <p:pRg st="10" end="10"/>
                                            </p:txEl>
                                          </p:spTgt>
                                        </p:tgtEl>
                                        <p:attrNameLst>
                                          <p:attrName>ppt_x</p:attrName>
                                        </p:attrNameLst>
                                      </p:cBhvr>
                                      <p:tavLst>
                                        <p:tav tm="0">
                                          <p:val>
                                            <p:fltVal val="0.5"/>
                                          </p:val>
                                        </p:tav>
                                        <p:tav tm="100000">
                                          <p:val>
                                            <p:strVal val="#ppt_x"/>
                                          </p:val>
                                        </p:tav>
                                      </p:tavLst>
                                    </p:anim>
                                    <p:anim calcmode="lin" valueType="num">
                                      <p:cBhvr>
                                        <p:cTn id="90" dur="500" fill="hold"/>
                                        <p:tgtEl>
                                          <p:spTgt spid="61443">
                                            <p:txEl>
                                              <p:pRg st="10" end="1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0" end="10"/>
                                            </p:txEl>
                                          </p:spTgt>
                                        </p:tgtEl>
                                        <p:attrNameLst>
                                          <p:attrName>ppt_c</p:attrName>
                                        </p:attrNameLst>
                                      </p:cBhvr>
                                      <p:to>
                                        <a:schemeClr val="folHlink"/>
                                      </p:to>
                                    </p:animClr>
                                  </p:sub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528" fill="hold" grpId="0" nodeType="clickEffect">
                                  <p:stCondLst>
                                    <p:cond delay="0"/>
                                  </p:stCondLst>
                                  <p:childTnLst>
                                    <p:set>
                                      <p:cBhvr>
                                        <p:cTn id="94" dur="1" fill="hold">
                                          <p:stCondLst>
                                            <p:cond delay="0"/>
                                          </p:stCondLst>
                                        </p:cTn>
                                        <p:tgtEl>
                                          <p:spTgt spid="61443">
                                            <p:txEl>
                                              <p:pRg st="13" end="13"/>
                                            </p:txEl>
                                          </p:spTgt>
                                        </p:tgtEl>
                                        <p:attrNameLst>
                                          <p:attrName>style.visibility</p:attrName>
                                        </p:attrNameLst>
                                      </p:cBhvr>
                                      <p:to>
                                        <p:strVal val="visible"/>
                                      </p:to>
                                    </p:set>
                                    <p:anim calcmode="lin" valueType="num">
                                      <p:cBhvr>
                                        <p:cTn id="95" dur="500" fill="hold"/>
                                        <p:tgtEl>
                                          <p:spTgt spid="61443">
                                            <p:txEl>
                                              <p:pRg st="13" end="13"/>
                                            </p:txEl>
                                          </p:spTgt>
                                        </p:tgtEl>
                                        <p:attrNameLst>
                                          <p:attrName>ppt_w</p:attrName>
                                        </p:attrNameLst>
                                      </p:cBhvr>
                                      <p:tavLst>
                                        <p:tav tm="0">
                                          <p:val>
                                            <p:fltVal val="0"/>
                                          </p:val>
                                        </p:tav>
                                        <p:tav tm="100000">
                                          <p:val>
                                            <p:strVal val="#ppt_w"/>
                                          </p:val>
                                        </p:tav>
                                      </p:tavLst>
                                    </p:anim>
                                    <p:anim calcmode="lin" valueType="num">
                                      <p:cBhvr>
                                        <p:cTn id="96" dur="500" fill="hold"/>
                                        <p:tgtEl>
                                          <p:spTgt spid="61443">
                                            <p:txEl>
                                              <p:pRg st="13" end="13"/>
                                            </p:txEl>
                                          </p:spTgt>
                                        </p:tgtEl>
                                        <p:attrNameLst>
                                          <p:attrName>ppt_h</p:attrName>
                                        </p:attrNameLst>
                                      </p:cBhvr>
                                      <p:tavLst>
                                        <p:tav tm="0">
                                          <p:val>
                                            <p:fltVal val="0"/>
                                          </p:val>
                                        </p:tav>
                                        <p:tav tm="100000">
                                          <p:val>
                                            <p:strVal val="#ppt_h"/>
                                          </p:val>
                                        </p:tav>
                                      </p:tavLst>
                                    </p:anim>
                                    <p:anim calcmode="lin" valueType="num">
                                      <p:cBhvr>
                                        <p:cTn id="97" dur="500" fill="hold"/>
                                        <p:tgtEl>
                                          <p:spTgt spid="61443">
                                            <p:txEl>
                                              <p:pRg st="13" end="13"/>
                                            </p:txEl>
                                          </p:spTgt>
                                        </p:tgtEl>
                                        <p:attrNameLst>
                                          <p:attrName>ppt_x</p:attrName>
                                        </p:attrNameLst>
                                      </p:cBhvr>
                                      <p:tavLst>
                                        <p:tav tm="0">
                                          <p:val>
                                            <p:fltVal val="0.5"/>
                                          </p:val>
                                        </p:tav>
                                        <p:tav tm="100000">
                                          <p:val>
                                            <p:strVal val="#ppt_x"/>
                                          </p:val>
                                        </p:tav>
                                      </p:tavLst>
                                    </p:anim>
                                    <p:anim calcmode="lin" valueType="num">
                                      <p:cBhvr>
                                        <p:cTn id="98" dur="500" fill="hold"/>
                                        <p:tgtEl>
                                          <p:spTgt spid="61443">
                                            <p:txEl>
                                              <p:pRg st="13" end="1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3" end="13"/>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6098874" y="185468"/>
            <a:ext cx="6093125"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
        <p:nvSpPr>
          <p:cNvPr id="61443" name="Rectangle 3" descr="Rectangle: Click to edit Master text styles&#10;Second level&#10;Third level&#10;Fourth level&#10;Fifth level"/>
          <p:cNvSpPr>
            <a:spLocks noGrp="1" noChangeArrowheads="1"/>
          </p:cNvSpPr>
          <p:nvPr>
            <p:ph idx="1"/>
          </p:nvPr>
        </p:nvSpPr>
        <p:spPr>
          <a:xfrm>
            <a:off x="1631504" y="1484314"/>
            <a:ext cx="10225135" cy="5184775"/>
          </a:xfrm>
        </p:spPr>
        <p:txBody>
          <a:bodyPr>
            <a:noAutofit/>
          </a:bodyPr>
          <a:lstStyle/>
          <a:p>
            <a:pPr marL="0" indent="0" algn="just">
              <a:buNone/>
              <a:defRPr/>
            </a:pPr>
            <a:r>
              <a:rPr lang="es-ES_tradnl" dirty="0"/>
              <a:t>Ninguna Solución Factible</a:t>
            </a:r>
          </a:p>
          <a:p>
            <a:pPr algn="just" eaLnBrk="1" hangingPunct="1">
              <a:buFont typeface="Arial" pitchFamily="34" charset="0"/>
              <a:buChar char="•"/>
              <a:defRPr/>
            </a:pPr>
            <a:r>
              <a:rPr lang="es-ES_tradnl" dirty="0"/>
              <a:t>Puede ocurrir que no hay una región de solución factible, esto sucede cuando hay conflictos entre las restricciones o limitaciones.</a:t>
            </a:r>
          </a:p>
          <a:p>
            <a:pPr algn="just" eaLnBrk="1" hangingPunct="1">
              <a:buFont typeface="Arial" pitchFamily="34" charset="0"/>
              <a:buChar char="•"/>
              <a:defRPr/>
            </a:pPr>
            <a:r>
              <a:rPr lang="es-ES_tradnl" dirty="0"/>
              <a:t>Esto sucede con modelos de gran escala de la vida real, cuando el modelo tiene decena de miles de restricciones.</a:t>
            </a:r>
          </a:p>
          <a:p>
            <a:pPr algn="just" eaLnBrk="1" hangingPunct="1">
              <a:buFont typeface="Arial" pitchFamily="34" charset="0"/>
              <a:buChar char="•"/>
              <a:defRPr/>
            </a:pPr>
            <a:r>
              <a:rPr lang="es-ES_tradnl" dirty="0"/>
              <a:t>Por ejemplo:</a:t>
            </a:r>
          </a:p>
          <a:p>
            <a:pPr lvl="1" algn="just" eaLnBrk="1" hangingPunct="1">
              <a:buFont typeface="Arial" pitchFamily="34" charset="0"/>
              <a:buChar char="•"/>
              <a:defRPr/>
            </a:pPr>
            <a:r>
              <a:rPr lang="es-ES_tradnl" sz="2800" dirty="0"/>
              <a:t>El gerente desea una producción mínima de 8 unidades de juguetes, para cubrir el mercado: X1 + X2 &gt;= 8</a:t>
            </a:r>
          </a:p>
          <a:p>
            <a:pPr lvl="1" algn="just" eaLnBrk="1" hangingPunct="1">
              <a:buFont typeface="Arial" pitchFamily="34" charset="0"/>
              <a:buChar char="•"/>
              <a:defRPr/>
            </a:pPr>
            <a:r>
              <a:rPr lang="es-ES_tradnl" sz="2800" dirty="0"/>
              <a:t>El jefe de planta ha estimado una capacidad máxima para 5 juguetes: X1 + X2 &lt;= 5</a:t>
            </a:r>
          </a:p>
          <a:p>
            <a:pPr lvl="1" algn="just" eaLnBrk="1" hangingPunct="1">
              <a:buFont typeface="Arial" pitchFamily="34" charset="0"/>
              <a:buChar char="•"/>
              <a:defRPr/>
            </a:pPr>
            <a:r>
              <a:rPr lang="es-ES_tradnl" sz="2800" dirty="0"/>
              <a:t>Si modelamos estas dos restricciones, vemos que están en conflicto.  </a:t>
            </a:r>
          </a:p>
          <a:p>
            <a:pPr marL="400050" lvl="1" indent="0" algn="just">
              <a:buNone/>
              <a:defRPr/>
            </a:pPr>
            <a:endParaRPr lang="es-ES_tradnl" sz="2800" dirty="0"/>
          </a:p>
          <a:p>
            <a:pPr marL="400050" lvl="1" indent="0" algn="just">
              <a:buNone/>
              <a:defRPr/>
            </a:pPr>
            <a:endParaRPr lang="es-ES_tradnl" sz="2800" dirty="0"/>
          </a:p>
          <a:p>
            <a:pPr marL="400050" lvl="1" indent="0" algn="just">
              <a:buNone/>
              <a:defRPr/>
            </a:pPr>
            <a:r>
              <a:rPr lang="es-ES_tradnl" sz="2800" dirty="0"/>
              <a:t>  </a:t>
            </a:r>
            <a:endParaRPr lang="es-E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9" end="9"/>
                                            </p:txEl>
                                          </p:spTgt>
                                        </p:tgtEl>
                                        <p:attrNameLst>
                                          <p:attrName>style.visibility</p:attrName>
                                        </p:attrNameLst>
                                      </p:cBhvr>
                                      <p:to>
                                        <p:strVal val="visible"/>
                                      </p:to>
                                    </p:set>
                                    <p:anim calcmode="lin" valueType="num">
                                      <p:cBhvr>
                                        <p:cTn id="63" dur="500" fill="hold"/>
                                        <p:tgtEl>
                                          <p:spTgt spid="61443">
                                            <p:txEl>
                                              <p:pRg st="9" end="9"/>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9" end="9"/>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9" end="9"/>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9" end="9"/>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9" end="9"/>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
        <p:nvSpPr>
          <p:cNvPr id="61443" name="Rectangle 3" descr="Rectangle: Click to edit Master text styles&#10;Second level&#10;Third level&#10;Fourth level&#10;Fifth level"/>
          <p:cNvSpPr>
            <a:spLocks noGrp="1" noChangeArrowheads="1"/>
          </p:cNvSpPr>
          <p:nvPr>
            <p:ph idx="1"/>
          </p:nvPr>
        </p:nvSpPr>
        <p:spPr>
          <a:xfrm>
            <a:off x="2209800" y="1479550"/>
            <a:ext cx="8818748" cy="5184775"/>
          </a:xfrm>
        </p:spPr>
        <p:txBody>
          <a:bodyPr>
            <a:normAutofit/>
          </a:bodyPr>
          <a:lstStyle/>
          <a:p>
            <a:pPr marL="0" indent="0" algn="just">
              <a:buNone/>
              <a:defRPr/>
            </a:pPr>
            <a:r>
              <a:rPr lang="es-ES_tradnl" dirty="0"/>
              <a:t>Ninguna Solución Factible</a:t>
            </a:r>
          </a:p>
          <a:p>
            <a:pPr marL="0" indent="0" algn="just" eaLnBrk="1" hangingPunct="1">
              <a:buNone/>
              <a:defRPr/>
            </a:pPr>
            <a:r>
              <a:rPr lang="es-ES_tradnl" dirty="0"/>
              <a:t>Por ejemplo:   Max Z = 3X1 + 5X2</a:t>
            </a:r>
          </a:p>
          <a:p>
            <a:pPr marL="0" indent="0" algn="just" eaLnBrk="1" hangingPunct="1">
              <a:buNone/>
              <a:defRPr/>
            </a:pPr>
            <a:r>
              <a:rPr lang="es-ES_tradnl" dirty="0"/>
              <a:t>                     S. a:</a:t>
            </a:r>
          </a:p>
          <a:p>
            <a:pPr marL="0" indent="0" algn="just" eaLnBrk="1" hangingPunct="1">
              <a:buNone/>
              <a:defRPr/>
            </a:pPr>
            <a:r>
              <a:rPr lang="es-ES_tradnl" dirty="0"/>
              <a:t>                                    X1 + X2    &gt;=   8</a:t>
            </a:r>
          </a:p>
          <a:p>
            <a:pPr marL="0" indent="0" algn="just" eaLnBrk="1" hangingPunct="1">
              <a:buNone/>
              <a:defRPr/>
            </a:pPr>
            <a:r>
              <a:rPr lang="es-ES_tradnl" dirty="0"/>
              <a:t>                                    X1 + X2    &lt;=   5</a:t>
            </a:r>
          </a:p>
          <a:p>
            <a:pPr marL="0" indent="0" algn="just" eaLnBrk="1" hangingPunct="1">
              <a:buNone/>
              <a:defRPr/>
            </a:pPr>
            <a:r>
              <a:rPr lang="es-ES_tradnl" dirty="0"/>
              <a:t>                                    X1 , X2      &gt;=  0</a:t>
            </a:r>
          </a:p>
          <a:p>
            <a:pPr marL="0" indent="0" algn="just" eaLnBrk="1" hangingPunct="1">
              <a:buNone/>
              <a:defRPr/>
            </a:pPr>
            <a:r>
              <a:rPr lang="es-ES_tradnl" dirty="0"/>
              <a:t>                               </a:t>
            </a:r>
          </a:p>
        </p:txBody>
      </p:sp>
      <p:pic>
        <p:nvPicPr>
          <p:cNvPr id="778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676" y="4473268"/>
            <a:ext cx="6159500"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2" y="1484314"/>
            <a:ext cx="9360395" cy="5184775"/>
          </a:xfrm>
        </p:spPr>
        <p:txBody>
          <a:bodyPr>
            <a:noAutofit/>
          </a:bodyPr>
          <a:lstStyle/>
          <a:p>
            <a:pPr marL="0" indent="0" algn="just">
              <a:buNone/>
              <a:defRPr/>
            </a:pPr>
            <a:r>
              <a:rPr lang="es-ES_tradnl" dirty="0"/>
              <a:t>No Acotación</a:t>
            </a:r>
          </a:p>
          <a:p>
            <a:pPr marL="0" indent="0" algn="just" eaLnBrk="1" hangingPunct="1">
              <a:buNone/>
              <a:defRPr/>
            </a:pPr>
            <a:r>
              <a:rPr lang="es-ES_tradnl" dirty="0"/>
              <a:t>Cuando la utilidad de un problema que está maximizando puede crecer infinitamente, el problema es ilimitado. </a:t>
            </a:r>
          </a:p>
          <a:p>
            <a:pPr marL="0" indent="0" algn="just" eaLnBrk="1" hangingPunct="1">
              <a:buNone/>
              <a:defRPr/>
            </a:pPr>
            <a:r>
              <a:rPr lang="es-ES_tradnl" dirty="0"/>
              <a:t>Un problema no acotado nos está indicando que falta por lo menos una restricción que limite el valor de la función objetivo</a:t>
            </a:r>
          </a:p>
          <a:p>
            <a:pPr marL="0" indent="0" algn="just" eaLnBrk="1" hangingPunct="1">
              <a:buNone/>
              <a:defRPr/>
            </a:pPr>
            <a:r>
              <a:rPr lang="es-ES_tradnl" dirty="0"/>
              <a:t>Por ejemplo:   Max Z = 3X1 + 5X2</a:t>
            </a:r>
          </a:p>
          <a:p>
            <a:pPr marL="0" indent="0" algn="just" eaLnBrk="1" hangingPunct="1">
              <a:buNone/>
              <a:defRPr/>
            </a:pPr>
            <a:r>
              <a:rPr lang="es-ES_tradnl" dirty="0"/>
              <a:t>                     S. a:</a:t>
            </a:r>
          </a:p>
          <a:p>
            <a:pPr marL="0" indent="0" algn="just" eaLnBrk="1" hangingPunct="1">
              <a:buNone/>
              <a:defRPr/>
            </a:pPr>
            <a:r>
              <a:rPr lang="es-ES_tradnl" dirty="0"/>
              <a:t>                                    X1            &gt;=   5</a:t>
            </a:r>
          </a:p>
          <a:p>
            <a:pPr marL="0" indent="0" algn="just" eaLnBrk="1" hangingPunct="1">
              <a:buNone/>
              <a:defRPr/>
            </a:pPr>
            <a:r>
              <a:rPr lang="es-ES_tradnl" dirty="0"/>
              <a:t>                                               X2 &lt;= 10</a:t>
            </a:r>
          </a:p>
          <a:p>
            <a:pPr marL="0" indent="0" algn="just" eaLnBrk="1" hangingPunct="1">
              <a:buNone/>
              <a:defRPr/>
            </a:pPr>
            <a:r>
              <a:rPr lang="es-ES_tradnl" dirty="0"/>
              <a:t>                                    X1 , X2      &gt;=  0</a:t>
            </a:r>
          </a:p>
          <a:p>
            <a:pPr marL="0" indent="0" algn="just" eaLnBrk="1" hangingPunct="1">
              <a:buNone/>
              <a:defRPr/>
            </a:pPr>
            <a:r>
              <a:rPr lang="es-ES_tradnl" dirty="0"/>
              <a:t>                               </a:t>
            </a:r>
          </a:p>
        </p:txBody>
      </p:sp>
      <p:sp>
        <p:nvSpPr>
          <p:cNvPr id="6" name="Rectangle 2">
            <a:extLst>
              <a:ext uri="{FF2B5EF4-FFF2-40B4-BE49-F238E27FC236}">
                <a16:creationId xmlns:a16="http://schemas.microsoft.com/office/drawing/2014/main" id="{27B7124D-27D4-465E-BCBF-C3B93BFB54F0}"/>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528" fill="hold" grpId="0" nodeType="clickEffect">
                                  <p:stCondLst>
                                    <p:cond delay="0"/>
                                  </p:stCondLst>
                                  <p:childTnLst>
                                    <p:set>
                                      <p:cBhvr>
                                        <p:cTn id="70" dur="1" fill="hold">
                                          <p:stCondLst>
                                            <p:cond delay="0"/>
                                          </p:stCondLst>
                                        </p:cTn>
                                        <p:tgtEl>
                                          <p:spTgt spid="61443">
                                            <p:txEl>
                                              <p:pRg st="8" end="8"/>
                                            </p:txEl>
                                          </p:spTgt>
                                        </p:tgtEl>
                                        <p:attrNameLst>
                                          <p:attrName>style.visibility</p:attrName>
                                        </p:attrNameLst>
                                      </p:cBhvr>
                                      <p:to>
                                        <p:strVal val="visible"/>
                                      </p:to>
                                    </p:set>
                                    <p:anim calcmode="lin" valueType="num">
                                      <p:cBhvr>
                                        <p:cTn id="71" dur="500" fill="hold"/>
                                        <p:tgtEl>
                                          <p:spTgt spid="61443">
                                            <p:txEl>
                                              <p:pRg st="8" end="8"/>
                                            </p:txEl>
                                          </p:spTgt>
                                        </p:tgtEl>
                                        <p:attrNameLst>
                                          <p:attrName>ppt_w</p:attrName>
                                        </p:attrNameLst>
                                      </p:cBhvr>
                                      <p:tavLst>
                                        <p:tav tm="0">
                                          <p:val>
                                            <p:fltVal val="0"/>
                                          </p:val>
                                        </p:tav>
                                        <p:tav tm="100000">
                                          <p:val>
                                            <p:strVal val="#ppt_w"/>
                                          </p:val>
                                        </p:tav>
                                      </p:tavLst>
                                    </p:anim>
                                    <p:anim calcmode="lin" valueType="num">
                                      <p:cBhvr>
                                        <p:cTn id="72" dur="500" fill="hold"/>
                                        <p:tgtEl>
                                          <p:spTgt spid="61443">
                                            <p:txEl>
                                              <p:pRg st="8" end="8"/>
                                            </p:txEl>
                                          </p:spTgt>
                                        </p:tgtEl>
                                        <p:attrNameLst>
                                          <p:attrName>ppt_h</p:attrName>
                                        </p:attrNameLst>
                                      </p:cBhvr>
                                      <p:tavLst>
                                        <p:tav tm="0">
                                          <p:val>
                                            <p:fltVal val="0"/>
                                          </p:val>
                                        </p:tav>
                                        <p:tav tm="100000">
                                          <p:val>
                                            <p:strVal val="#ppt_h"/>
                                          </p:val>
                                        </p:tav>
                                      </p:tavLst>
                                    </p:anim>
                                    <p:anim calcmode="lin" valueType="num">
                                      <p:cBhvr>
                                        <p:cTn id="73" dur="500" fill="hold"/>
                                        <p:tgtEl>
                                          <p:spTgt spid="61443">
                                            <p:txEl>
                                              <p:pRg st="8" end="8"/>
                                            </p:txEl>
                                          </p:spTgt>
                                        </p:tgtEl>
                                        <p:attrNameLst>
                                          <p:attrName>ppt_x</p:attrName>
                                        </p:attrNameLst>
                                      </p:cBhvr>
                                      <p:tavLst>
                                        <p:tav tm="0">
                                          <p:val>
                                            <p:fltVal val="0.5"/>
                                          </p:val>
                                        </p:tav>
                                        <p:tav tm="100000">
                                          <p:val>
                                            <p:strVal val="#ppt_x"/>
                                          </p:val>
                                        </p:tav>
                                      </p:tavLst>
                                    </p:anim>
                                    <p:anim calcmode="lin" valueType="num">
                                      <p:cBhvr>
                                        <p:cTn id="74" dur="500" fill="hold"/>
                                        <p:tgtEl>
                                          <p:spTgt spid="61443">
                                            <p:txEl>
                                              <p:pRg st="8" end="8"/>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8" end="8"/>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3" y="1484314"/>
            <a:ext cx="7772400" cy="5184775"/>
          </a:xfrm>
        </p:spPr>
        <p:txBody>
          <a:bodyPr/>
          <a:lstStyle/>
          <a:p>
            <a:pPr marL="0" indent="0" algn="just">
              <a:buNone/>
              <a:defRPr/>
            </a:pPr>
            <a:r>
              <a:rPr lang="es-ES_tradnl" sz="2400" dirty="0"/>
              <a:t>No Acotación</a:t>
            </a:r>
          </a:p>
          <a:p>
            <a:pPr algn="just" eaLnBrk="1" hangingPunct="1">
              <a:buFont typeface="Arial" pitchFamily="34" charset="0"/>
              <a:buChar char="•"/>
              <a:defRPr/>
            </a:pPr>
            <a:r>
              <a:rPr lang="es-ES_tradnl" sz="2400" dirty="0"/>
              <a:t>                               </a:t>
            </a:r>
          </a:p>
        </p:txBody>
      </p:sp>
      <p:pic>
        <p:nvPicPr>
          <p:cNvPr id="7987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7548" y="2092071"/>
            <a:ext cx="8892413" cy="453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a:extLst>
              <a:ext uri="{FF2B5EF4-FFF2-40B4-BE49-F238E27FC236}">
                <a16:creationId xmlns:a16="http://schemas.microsoft.com/office/drawing/2014/main" id="{D9424194-B2CB-4662-A724-F23F06A576CB}"/>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1127448" y="1445793"/>
            <a:ext cx="9684431" cy="5184775"/>
          </a:xfrm>
        </p:spPr>
        <p:txBody>
          <a:bodyPr>
            <a:noAutofit/>
          </a:bodyPr>
          <a:lstStyle/>
          <a:p>
            <a:pPr marL="0" indent="0" algn="just">
              <a:buNone/>
              <a:defRPr/>
            </a:pPr>
            <a:r>
              <a:rPr lang="es-ES_tradnl" dirty="0"/>
              <a:t>Redundancia</a:t>
            </a:r>
          </a:p>
          <a:p>
            <a:pPr marL="0" indent="0" algn="just" eaLnBrk="1" hangingPunct="1">
              <a:buNone/>
              <a:defRPr/>
            </a:pPr>
            <a:r>
              <a:rPr lang="es-ES_tradnl" dirty="0"/>
              <a:t>Una restricción redundante es aquella que no afecta a la región de solución factible. </a:t>
            </a:r>
          </a:p>
          <a:p>
            <a:pPr marL="0" indent="0" algn="just" eaLnBrk="1" hangingPunct="1">
              <a:buNone/>
              <a:defRPr/>
            </a:pPr>
            <a:r>
              <a:rPr lang="es-ES_tradnl" dirty="0"/>
              <a:t>La presencia de una restricción redundante no provoca dificulta para hallar una SO al problema.</a:t>
            </a:r>
          </a:p>
          <a:p>
            <a:pPr marL="0" indent="0" algn="just" eaLnBrk="1" hangingPunct="1">
              <a:buNone/>
              <a:defRPr/>
            </a:pPr>
            <a:r>
              <a:rPr lang="es-ES_tradnl" dirty="0"/>
              <a:t>Una restricción puede ser más limitante o restrictiva que otra, lo cual niega la necesidad de ser considerada.</a:t>
            </a:r>
          </a:p>
          <a:p>
            <a:pPr marL="0" indent="0" algn="just" eaLnBrk="1" hangingPunct="1">
              <a:buNone/>
              <a:defRPr/>
            </a:pPr>
            <a:r>
              <a:rPr lang="es-ES_tradnl" dirty="0"/>
              <a:t>Por ejemplo:   Max Z = 3X1 + 5X2</a:t>
            </a:r>
          </a:p>
          <a:p>
            <a:pPr marL="0" indent="0" algn="just" eaLnBrk="1" hangingPunct="1">
              <a:buNone/>
              <a:defRPr/>
            </a:pPr>
            <a:r>
              <a:rPr lang="es-ES_tradnl" dirty="0"/>
              <a:t>     S. a:        X1  + x2 &lt;=  20</a:t>
            </a:r>
          </a:p>
          <a:p>
            <a:pPr marL="0" indent="0" algn="just" eaLnBrk="1" hangingPunct="1">
              <a:buNone/>
              <a:defRPr/>
            </a:pPr>
            <a:r>
              <a:rPr lang="es-ES_tradnl" dirty="0"/>
              <a:t>                              X2 &lt;=  25</a:t>
            </a:r>
          </a:p>
          <a:p>
            <a:pPr marL="0" indent="0" algn="just" eaLnBrk="1" hangingPunct="1">
              <a:buNone/>
              <a:defRPr/>
            </a:pPr>
            <a:r>
              <a:rPr lang="es-ES_tradnl" dirty="0"/>
              <a:t>                      X1 , </a:t>
            </a:r>
            <a:r>
              <a:rPr lang="es-ES_tradnl" dirty="0" err="1"/>
              <a:t>X2</a:t>
            </a:r>
            <a:r>
              <a:rPr lang="es-ES_tradnl" dirty="0"/>
              <a:t> &gt;=  0                               </a:t>
            </a:r>
          </a:p>
        </p:txBody>
      </p:sp>
      <p:sp>
        <p:nvSpPr>
          <p:cNvPr id="6" name="Rectangle 2">
            <a:extLst>
              <a:ext uri="{FF2B5EF4-FFF2-40B4-BE49-F238E27FC236}">
                <a16:creationId xmlns:a16="http://schemas.microsoft.com/office/drawing/2014/main" id="{6A9EF708-13F7-4A48-9CF0-0FC3D7ABD6FC}"/>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3" y="1484314"/>
            <a:ext cx="7772400" cy="5184775"/>
          </a:xfrm>
        </p:spPr>
        <p:txBody>
          <a:bodyPr/>
          <a:lstStyle/>
          <a:p>
            <a:pPr marL="0" indent="0" algn="just">
              <a:buNone/>
              <a:defRPr/>
            </a:pPr>
            <a:r>
              <a:rPr lang="es-ES_tradnl" sz="2400" dirty="0"/>
              <a:t>Redundancia</a:t>
            </a:r>
          </a:p>
          <a:p>
            <a:pPr algn="just" eaLnBrk="1" hangingPunct="1">
              <a:buFont typeface="Arial" pitchFamily="34" charset="0"/>
              <a:buChar char="•"/>
              <a:defRPr/>
            </a:pPr>
            <a:endParaRPr lang="es-ES_tradnl" sz="2400" dirty="0"/>
          </a:p>
          <a:p>
            <a:pPr algn="just" eaLnBrk="1" hangingPunct="1">
              <a:buFont typeface="Arial" pitchFamily="34" charset="0"/>
              <a:buChar char="•"/>
              <a:defRPr/>
            </a:pPr>
            <a:r>
              <a:rPr lang="es-ES_tradnl" sz="2400" dirty="0"/>
              <a:t>                               </a:t>
            </a:r>
          </a:p>
        </p:txBody>
      </p:sp>
      <p:pic>
        <p:nvPicPr>
          <p:cNvPr id="819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13" y="2071688"/>
            <a:ext cx="5772150" cy="409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a:extLst>
              <a:ext uri="{FF2B5EF4-FFF2-40B4-BE49-F238E27FC236}">
                <a16:creationId xmlns:a16="http://schemas.microsoft.com/office/drawing/2014/main" id="{60CF3F21-C3CC-4917-9D3F-79B3559D0B56}"/>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anim calcmode="lin" valueType="num">
                                      <p:cBhvr>
                                        <p:cTn id="15"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2" y="1484314"/>
            <a:ext cx="9468407" cy="5184775"/>
          </a:xfrm>
        </p:spPr>
        <p:txBody>
          <a:bodyPr>
            <a:noAutofit/>
          </a:bodyPr>
          <a:lstStyle/>
          <a:p>
            <a:pPr marL="0" indent="0" algn="just">
              <a:buNone/>
              <a:defRPr/>
            </a:pPr>
            <a:r>
              <a:rPr lang="es-ES_tradnl" dirty="0"/>
              <a:t>Soluciones Óptimas Alternativas</a:t>
            </a:r>
          </a:p>
          <a:p>
            <a:pPr marL="0" indent="0" algn="just" eaLnBrk="1" hangingPunct="1">
              <a:buNone/>
              <a:defRPr/>
            </a:pPr>
            <a:r>
              <a:rPr lang="es-ES_tradnl" dirty="0"/>
              <a:t>Cuando la línea </a:t>
            </a:r>
            <a:r>
              <a:rPr lang="es-ES_tradnl" dirty="0" err="1"/>
              <a:t>IsoObjetivo</a:t>
            </a:r>
            <a:r>
              <a:rPr lang="es-ES_tradnl" dirty="0"/>
              <a:t> (</a:t>
            </a:r>
            <a:r>
              <a:rPr lang="es-ES_tradnl" dirty="0" err="1"/>
              <a:t>IsoUtilidad</a:t>
            </a:r>
            <a:r>
              <a:rPr lang="es-ES_tradnl" dirty="0"/>
              <a:t> o </a:t>
            </a:r>
            <a:r>
              <a:rPr lang="es-ES_tradnl" dirty="0" err="1"/>
              <a:t>IsoCosto</a:t>
            </a:r>
            <a:r>
              <a:rPr lang="es-ES_tradnl" dirty="0"/>
              <a:t>) se encuentra perfectamente paralela (igual pendiente) a una de las restricciones del problema, la solución óptima genera un conjunto de soluciones alternativas.</a:t>
            </a:r>
          </a:p>
          <a:p>
            <a:pPr marL="0" indent="0" algn="just" eaLnBrk="1" hangingPunct="1">
              <a:buNone/>
              <a:defRPr/>
            </a:pPr>
            <a:r>
              <a:rPr lang="es-ES_tradnl" dirty="0"/>
              <a:t>Todos los puntos comprendidos en los dos vértices, definen una solución óptima.</a:t>
            </a:r>
          </a:p>
          <a:p>
            <a:pPr marL="0" indent="0" algn="just" eaLnBrk="1" hangingPunct="1">
              <a:buNone/>
              <a:defRPr/>
            </a:pPr>
            <a:r>
              <a:rPr lang="es-ES_tradnl" dirty="0"/>
              <a:t>Por ejemplo:   Max Z = 3X1 + 2X2</a:t>
            </a:r>
          </a:p>
          <a:p>
            <a:pPr marL="0" indent="0" algn="just" eaLnBrk="1" hangingPunct="1">
              <a:buNone/>
              <a:defRPr/>
            </a:pPr>
            <a:r>
              <a:rPr lang="es-ES_tradnl" dirty="0"/>
              <a:t>                     S. a:        6X1  + 4x2 &lt;=  24</a:t>
            </a:r>
          </a:p>
          <a:p>
            <a:pPr marL="0" indent="0" algn="just" eaLnBrk="1" hangingPunct="1">
              <a:buNone/>
              <a:defRPr/>
            </a:pPr>
            <a:r>
              <a:rPr lang="es-ES_tradnl" dirty="0"/>
              <a:t>                                     X1           &lt;=    3</a:t>
            </a:r>
          </a:p>
          <a:p>
            <a:pPr marL="0" indent="0" algn="just" eaLnBrk="1" hangingPunct="1">
              <a:buNone/>
              <a:defRPr/>
            </a:pPr>
            <a:r>
              <a:rPr lang="es-ES_tradnl" dirty="0"/>
              <a:t>                                   X1 , X2      &gt;=  0                               </a:t>
            </a:r>
          </a:p>
        </p:txBody>
      </p:sp>
      <p:sp>
        <p:nvSpPr>
          <p:cNvPr id="6" name="Rectangle 2">
            <a:extLst>
              <a:ext uri="{FF2B5EF4-FFF2-40B4-BE49-F238E27FC236}">
                <a16:creationId xmlns:a16="http://schemas.microsoft.com/office/drawing/2014/main" id="{42324FBF-16C4-4E9E-903E-0F3343E1946A}"/>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3" y="1484314"/>
            <a:ext cx="7772400" cy="5184775"/>
          </a:xfrm>
        </p:spPr>
        <p:txBody>
          <a:bodyPr/>
          <a:lstStyle/>
          <a:p>
            <a:pPr marL="0" indent="0" algn="just">
              <a:buNone/>
              <a:defRPr/>
            </a:pPr>
            <a:r>
              <a:rPr lang="es-ES_tradnl" sz="2400" dirty="0"/>
              <a:t>Soluciones Óptimas Alternativas</a:t>
            </a:r>
          </a:p>
          <a:p>
            <a:pPr algn="just" eaLnBrk="1" hangingPunct="1">
              <a:buFont typeface="Arial" pitchFamily="34" charset="0"/>
              <a:buChar char="•"/>
              <a:defRPr/>
            </a:pPr>
            <a:endParaRPr lang="es-ES_tradnl" sz="2400" dirty="0"/>
          </a:p>
          <a:p>
            <a:pPr algn="just" eaLnBrk="1" hangingPunct="1">
              <a:buFont typeface="Arial" pitchFamily="34" charset="0"/>
              <a:buChar char="•"/>
              <a:defRPr/>
            </a:pPr>
            <a:r>
              <a:rPr lang="es-ES_tradnl" sz="2400" dirty="0"/>
              <a:t>                               </a:t>
            </a:r>
          </a:p>
        </p:txBody>
      </p:sp>
      <p:pic>
        <p:nvPicPr>
          <p:cNvPr id="839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9989" y="1916113"/>
            <a:ext cx="6535737"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97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464" y="2133601"/>
            <a:ext cx="3495675"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a:extLst>
              <a:ext uri="{FF2B5EF4-FFF2-40B4-BE49-F238E27FC236}">
                <a16:creationId xmlns:a16="http://schemas.microsoft.com/office/drawing/2014/main" id="{44C0AE69-D94E-40F3-8C97-6130BD95E532}"/>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anim calcmode="lin" valueType="num">
                                      <p:cBhvr>
                                        <p:cTn id="15"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2" y="1484314"/>
            <a:ext cx="9108367" cy="5184775"/>
          </a:xfrm>
        </p:spPr>
        <p:txBody>
          <a:bodyPr>
            <a:noAutofit/>
          </a:bodyPr>
          <a:lstStyle/>
          <a:p>
            <a:pPr marL="0" indent="0" algn="just">
              <a:buNone/>
              <a:defRPr/>
            </a:pPr>
            <a:r>
              <a:rPr lang="es-ES_tradnl" dirty="0"/>
              <a:t>Solución Cero</a:t>
            </a:r>
          </a:p>
          <a:p>
            <a:pPr marL="0" indent="0" algn="just" eaLnBrk="1" hangingPunct="1">
              <a:buNone/>
              <a:defRPr/>
            </a:pPr>
            <a:r>
              <a:rPr lang="es-ES_tradnl" dirty="0"/>
              <a:t>Una solución óptima cero, se da cuando el modelo está minimizando y todas las restricciones son menores o iguales.</a:t>
            </a:r>
          </a:p>
          <a:p>
            <a:pPr marL="0" indent="0" algn="just" eaLnBrk="1" hangingPunct="1">
              <a:buNone/>
              <a:defRPr/>
            </a:pPr>
            <a:r>
              <a:rPr lang="es-ES_tradnl" dirty="0"/>
              <a:t>Para evitar este tipo de solución, debemos tener por lo menos una restricción que limite o restringa que el valor de la FO tome un valor cero, es decir, debe haber por lo menos una restricción mayor o igual.</a:t>
            </a:r>
          </a:p>
          <a:p>
            <a:pPr marL="0" indent="0" algn="just" eaLnBrk="1" hangingPunct="1">
              <a:buNone/>
              <a:defRPr/>
            </a:pPr>
            <a:r>
              <a:rPr lang="es-ES_tradnl" dirty="0"/>
              <a:t>Por ejemplo:   Min Z = 3X1 + 2X2</a:t>
            </a:r>
          </a:p>
          <a:p>
            <a:pPr marL="0" indent="0" algn="just" eaLnBrk="1" hangingPunct="1">
              <a:buNone/>
              <a:defRPr/>
            </a:pPr>
            <a:r>
              <a:rPr lang="es-ES_tradnl" dirty="0"/>
              <a:t>                     S. a:    </a:t>
            </a:r>
            <a:r>
              <a:rPr lang="es-ES_tradnl" dirty="0" err="1"/>
              <a:t>6X1</a:t>
            </a:r>
            <a:r>
              <a:rPr lang="es-ES_tradnl" dirty="0"/>
              <a:t>  + 4x2 &lt;=  24</a:t>
            </a:r>
          </a:p>
          <a:p>
            <a:pPr marL="0" indent="0" algn="just" eaLnBrk="1" hangingPunct="1">
              <a:buNone/>
              <a:defRPr/>
            </a:pPr>
            <a:r>
              <a:rPr lang="es-ES_tradnl" dirty="0"/>
              <a:t>                                     X1           &lt;=    3</a:t>
            </a:r>
          </a:p>
          <a:p>
            <a:pPr marL="0" indent="0" algn="just" eaLnBrk="1" hangingPunct="1">
              <a:buNone/>
              <a:defRPr/>
            </a:pPr>
            <a:r>
              <a:rPr lang="es-ES_tradnl" dirty="0"/>
              <a:t>                                   X1 , X2      &gt;=  0</a:t>
            </a:r>
          </a:p>
          <a:p>
            <a:pPr marL="0" indent="0" algn="just" eaLnBrk="1" hangingPunct="1">
              <a:buNone/>
              <a:defRPr/>
            </a:pPr>
            <a:r>
              <a:rPr lang="es-ES_tradnl" dirty="0"/>
              <a:t>                               </a:t>
            </a:r>
          </a:p>
        </p:txBody>
      </p:sp>
      <p:sp>
        <p:nvSpPr>
          <p:cNvPr id="6" name="Rectangle 2">
            <a:extLst>
              <a:ext uri="{FF2B5EF4-FFF2-40B4-BE49-F238E27FC236}">
                <a16:creationId xmlns:a16="http://schemas.microsoft.com/office/drawing/2014/main" id="{003FEDAE-7037-4A74-B8CD-7E6CDC49DD15}"/>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3" y="1484314"/>
            <a:ext cx="7772400" cy="5184775"/>
          </a:xfrm>
        </p:spPr>
        <p:txBody>
          <a:bodyPr/>
          <a:lstStyle/>
          <a:p>
            <a:pPr marL="0" indent="0" algn="just">
              <a:buNone/>
            </a:pPr>
            <a:r>
              <a:rPr lang="es-ES_tradnl" altLang="es-PE" sz="2400"/>
              <a:t>Soluciones Cero</a:t>
            </a:r>
          </a:p>
          <a:p>
            <a:pPr marL="0" indent="0" algn="just">
              <a:buNone/>
            </a:pPr>
            <a:endParaRPr lang="es-ES_tradnl" altLang="es-PE" sz="2400"/>
          </a:p>
        </p:txBody>
      </p:sp>
      <p:pic>
        <p:nvPicPr>
          <p:cNvPr id="860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1916114"/>
            <a:ext cx="6851650" cy="414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602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6013" y="1989139"/>
            <a:ext cx="3429000"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a:extLst>
              <a:ext uri="{FF2B5EF4-FFF2-40B4-BE49-F238E27FC236}">
                <a16:creationId xmlns:a16="http://schemas.microsoft.com/office/drawing/2014/main" id="{427AC244-4172-4070-9FAB-445D53BF4C5E}"/>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2" y="1484314"/>
            <a:ext cx="8964351" cy="5184775"/>
          </a:xfrm>
        </p:spPr>
        <p:txBody>
          <a:bodyPr>
            <a:noAutofit/>
          </a:bodyPr>
          <a:lstStyle/>
          <a:p>
            <a:pPr marL="0" indent="0" algn="just">
              <a:buNone/>
              <a:defRPr/>
            </a:pPr>
            <a:r>
              <a:rPr lang="es-ES_tradnl" dirty="0"/>
              <a:t>Solución Degenerada</a:t>
            </a:r>
          </a:p>
          <a:p>
            <a:pPr marL="0" indent="0" algn="just" eaLnBrk="1" hangingPunct="1">
              <a:buNone/>
              <a:defRPr/>
            </a:pPr>
            <a:r>
              <a:rPr lang="es-ES_tradnl" dirty="0"/>
              <a:t>Solución Degenerada se presenta cuando una variable que forma parte de la solución óptima, toma un valor cero.</a:t>
            </a:r>
          </a:p>
          <a:p>
            <a:pPr marL="0" indent="0" algn="just" eaLnBrk="1" hangingPunct="1">
              <a:buNone/>
              <a:defRPr/>
            </a:pPr>
            <a:r>
              <a:rPr lang="es-ES_tradnl" dirty="0"/>
              <a:t>En una solución degenerada, el vértice óptima está sobre dimensionado, es decir, está formado por más de 2 </a:t>
            </a:r>
            <a:r>
              <a:rPr lang="es-ES_tradnl" dirty="0" err="1"/>
              <a:t>lineas</a:t>
            </a:r>
            <a:r>
              <a:rPr lang="es-ES_tradnl" dirty="0"/>
              <a:t>.</a:t>
            </a:r>
          </a:p>
          <a:p>
            <a:pPr marL="0" indent="0" algn="just" eaLnBrk="1" hangingPunct="1">
              <a:buNone/>
              <a:defRPr/>
            </a:pPr>
            <a:r>
              <a:rPr lang="es-ES_tradnl" dirty="0"/>
              <a:t>Por ejemplo:   Min Z = 8X1 + 5X2</a:t>
            </a:r>
          </a:p>
          <a:p>
            <a:pPr marL="0" indent="0" algn="just" eaLnBrk="1" hangingPunct="1">
              <a:buNone/>
              <a:defRPr/>
            </a:pPr>
            <a:r>
              <a:rPr lang="es-ES_tradnl" dirty="0"/>
              <a:t>                     S. a:        8X1  + 4x2 &lt;=  200</a:t>
            </a:r>
          </a:p>
          <a:p>
            <a:pPr marL="0" indent="0" algn="just" eaLnBrk="1" hangingPunct="1">
              <a:buNone/>
              <a:defRPr/>
            </a:pPr>
            <a:r>
              <a:rPr lang="es-ES_tradnl" dirty="0"/>
              <a:t>                                    4X1  + 3X2 &gt;= 100</a:t>
            </a:r>
          </a:p>
          <a:p>
            <a:pPr marL="0" indent="0" algn="just" eaLnBrk="1" hangingPunct="1">
              <a:buNone/>
              <a:defRPr/>
            </a:pPr>
            <a:r>
              <a:rPr lang="es-ES_tradnl" dirty="0"/>
              <a:t>                                                X2 &lt;= 10</a:t>
            </a:r>
          </a:p>
          <a:p>
            <a:pPr marL="0" indent="0" algn="just" eaLnBrk="1" hangingPunct="1">
              <a:buNone/>
              <a:defRPr/>
            </a:pPr>
            <a:r>
              <a:rPr lang="es-ES_tradnl" dirty="0"/>
              <a:t>                                    X1 , X2      &gt;=  0                               </a:t>
            </a:r>
          </a:p>
        </p:txBody>
      </p:sp>
      <p:sp>
        <p:nvSpPr>
          <p:cNvPr id="6" name="Rectangle 2">
            <a:extLst>
              <a:ext uri="{FF2B5EF4-FFF2-40B4-BE49-F238E27FC236}">
                <a16:creationId xmlns:a16="http://schemas.microsoft.com/office/drawing/2014/main" id="{07465C3B-26D1-4CAC-B6BC-A4FEEA46C689}"/>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3" y="1484314"/>
            <a:ext cx="7772400" cy="5184775"/>
          </a:xfrm>
        </p:spPr>
        <p:txBody>
          <a:bodyPr>
            <a:normAutofit/>
          </a:bodyPr>
          <a:lstStyle/>
          <a:p>
            <a:pPr marL="0" indent="0" algn="just">
              <a:buNone/>
              <a:defRPr/>
            </a:pPr>
            <a:r>
              <a:rPr lang="es-ES_tradnl" dirty="0"/>
              <a:t>Solución Degenerada</a:t>
            </a:r>
          </a:p>
          <a:p>
            <a:pPr marL="0" indent="0" algn="just" eaLnBrk="1" hangingPunct="1">
              <a:buNone/>
              <a:defRPr/>
            </a:pPr>
            <a:r>
              <a:rPr lang="es-ES_tradnl" dirty="0"/>
              <a:t>                               </a:t>
            </a:r>
          </a:p>
        </p:txBody>
      </p:sp>
      <p:pic>
        <p:nvPicPr>
          <p:cNvPr id="880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2048670"/>
            <a:ext cx="6265862" cy="410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0" y="1557339"/>
            <a:ext cx="3467100"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a:extLst>
              <a:ext uri="{FF2B5EF4-FFF2-40B4-BE49-F238E27FC236}">
                <a16:creationId xmlns:a16="http://schemas.microsoft.com/office/drawing/2014/main" id="{83099362-1BFC-4A85-A703-9FB8B8C3DA02}"/>
              </a:ext>
            </a:extLst>
          </p:cNvPr>
          <p:cNvSpPr>
            <a:spLocks noGrp="1" noChangeArrowheads="1"/>
          </p:cNvSpPr>
          <p:nvPr>
            <p:ph type="title"/>
          </p:nvPr>
        </p:nvSpPr>
        <p:spPr>
          <a:xfrm>
            <a:off x="6116128" y="211347"/>
            <a:ext cx="6075872" cy="838200"/>
          </a:xfrm>
        </p:spPr>
        <p:txBody>
          <a:bodyPr/>
          <a:lstStyle/>
          <a:p>
            <a:pPr algn="ctr" eaLnBrk="1" hangingPunct="1"/>
            <a:r>
              <a:rPr lang="es-ES_tradnl" altLang="es-PE" sz="4000" dirty="0">
                <a:solidFill>
                  <a:schemeClr val="bg1"/>
                </a:solidFill>
              </a:rPr>
              <a:t>Caso Especiales de PL</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090248" y="194094"/>
            <a:ext cx="6101751" cy="838200"/>
          </a:xfrm>
        </p:spPr>
        <p:txBody>
          <a:bodyPr/>
          <a:lstStyle/>
          <a:p>
            <a:pPr algn="ctr" eaLnBrk="1" hangingPunct="1"/>
            <a:r>
              <a:rPr lang="es-ES_tradnl" altLang="es-PE" sz="4000" dirty="0">
                <a:solidFill>
                  <a:schemeClr val="bg1"/>
                </a:solidFill>
              </a:rPr>
              <a:t>Caso De Maximización</a:t>
            </a:r>
            <a:endParaRPr lang="es-ES" altLang="es-PE" sz="4000" dirty="0">
              <a:solidFill>
                <a:schemeClr val="bg1"/>
              </a:solidFill>
            </a:endParaRPr>
          </a:p>
        </p:txBody>
      </p:sp>
      <p:sp>
        <p:nvSpPr>
          <p:cNvPr id="61443" name="Rectangle 3" descr="Rectangle: Click to edit Master text styles&#10;Second level&#10;Third level&#10;Fourth level&#10;Fifth level"/>
          <p:cNvSpPr>
            <a:spLocks noGrp="1" noChangeArrowheads="1"/>
          </p:cNvSpPr>
          <p:nvPr>
            <p:ph idx="1"/>
          </p:nvPr>
        </p:nvSpPr>
        <p:spPr>
          <a:xfrm>
            <a:off x="2208212" y="1341438"/>
            <a:ext cx="8892343" cy="5327650"/>
          </a:xfrm>
        </p:spPr>
        <p:txBody>
          <a:bodyPr>
            <a:noAutofit/>
          </a:bodyPr>
          <a:lstStyle/>
          <a:p>
            <a:pPr marL="0" indent="0" algn="just">
              <a:buNone/>
            </a:pPr>
            <a:r>
              <a:rPr lang="es-ES_tradnl" altLang="es-PE" dirty="0" err="1"/>
              <a:t>Crepier</a:t>
            </a:r>
            <a:r>
              <a:rPr lang="es-ES_tradnl" altLang="es-PE" dirty="0"/>
              <a:t> tiene como productos principales la fabricación de bolsos y mochilas para escolares, cuyos precios de venta por unidad son de $40 y $25 respectivamente. El proceso de fabricación consta de dos etapas: corte y costura.</a:t>
            </a:r>
          </a:p>
          <a:p>
            <a:pPr marL="0" indent="0" algn="just">
              <a:buNone/>
            </a:pPr>
            <a:r>
              <a:rPr lang="es-ES_tradnl" altLang="es-PE" dirty="0"/>
              <a:t>En la etapa corte, se pueden cortar 10 bolsos /hora o 20 mochilas/hora y se dispone diariamente de 8 horas. En la etapa de costura, un bolso requiere de 4 horas máquina, una mochila requiere de 3 horas máquinas y se dispone diariamente de 420 horas máquina.</a:t>
            </a:r>
          </a:p>
          <a:p>
            <a:pPr marL="0" indent="0" algn="just">
              <a:buNone/>
            </a:pPr>
            <a:r>
              <a:rPr lang="es-ES_tradnl" altLang="es-PE" dirty="0"/>
              <a:t>Se estima que diariamente se debe fabricar por lo menos 50 unidades en total (bolsos más mochilas). Finalmente la fabricación de bolsos al día debe ser menor o igual a la fabricación de mochilas al día.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7568" y="1232756"/>
            <a:ext cx="8928347" cy="5625244"/>
          </a:xfrm>
        </p:spPr>
        <p:txBody>
          <a:bodyPr>
            <a:noAutofit/>
          </a:bodyPr>
          <a:lstStyle/>
          <a:p>
            <a:pPr marL="457200" indent="-457200" algn="just">
              <a:buFont typeface="Wingdings" pitchFamily="2" charset="2"/>
              <a:buAutoNum type="alphaLcParenR"/>
            </a:pPr>
            <a:r>
              <a:rPr lang="es-ES_tradnl" altLang="es-PE" dirty="0"/>
              <a:t>Elabore un análisis del problema propuesto.</a:t>
            </a:r>
          </a:p>
          <a:p>
            <a:pPr marL="457200" indent="-457200" algn="just">
              <a:buFont typeface="Wingdings" pitchFamily="2" charset="2"/>
              <a:buAutoNum type="alphaLcParenR"/>
            </a:pPr>
            <a:r>
              <a:rPr lang="es-ES_tradnl" altLang="es-PE" dirty="0"/>
              <a:t>Defina las variables de decisión.</a:t>
            </a:r>
          </a:p>
          <a:p>
            <a:pPr marL="457200" indent="-457200" algn="just">
              <a:buFont typeface="Wingdings" pitchFamily="2" charset="2"/>
              <a:buAutoNum type="alphaLcParenR"/>
            </a:pPr>
            <a:r>
              <a:rPr lang="es-ES_tradnl" altLang="es-PE" dirty="0"/>
              <a:t>Construya la función objetivo.</a:t>
            </a:r>
          </a:p>
          <a:p>
            <a:pPr marL="457200" indent="-457200" algn="just">
              <a:buFont typeface="Wingdings" pitchFamily="2" charset="2"/>
              <a:buAutoNum type="alphaLcParenR"/>
            </a:pPr>
            <a:r>
              <a:rPr lang="es-ES_tradnl" altLang="es-PE" dirty="0"/>
              <a:t>Construya la función de cada una de las restricciones o limitaciones.</a:t>
            </a:r>
          </a:p>
          <a:p>
            <a:pPr marL="457200" indent="-457200" algn="just">
              <a:buFont typeface="Wingdings" pitchFamily="2" charset="2"/>
              <a:buAutoNum type="alphaLcParenR"/>
            </a:pPr>
            <a:r>
              <a:rPr lang="es-ES_tradnl" altLang="es-PE" dirty="0"/>
              <a:t>Escriba el modelo lineal.</a:t>
            </a:r>
          </a:p>
          <a:p>
            <a:pPr marL="457200" indent="-457200" algn="just">
              <a:buFont typeface="Wingdings" pitchFamily="2" charset="2"/>
              <a:buAutoNum type="alphaLcParenR"/>
            </a:pPr>
            <a:r>
              <a:rPr lang="es-ES_tradnl" altLang="es-PE" dirty="0"/>
              <a:t>Grafique la Región Factible.</a:t>
            </a:r>
          </a:p>
          <a:p>
            <a:pPr marL="457200" indent="-457200" algn="just">
              <a:buFont typeface="Wingdings" pitchFamily="2" charset="2"/>
              <a:buAutoNum type="alphaLcParenR"/>
            </a:pPr>
            <a:r>
              <a:rPr lang="es-ES_tradnl" altLang="es-PE" dirty="0"/>
              <a:t>Encuentre la solución óptima, evaluando las soluciones básicas factibles (vértices de la RF).</a:t>
            </a:r>
          </a:p>
          <a:p>
            <a:pPr marL="457200" indent="-457200" algn="just">
              <a:buFont typeface="Wingdings" pitchFamily="2" charset="2"/>
              <a:buAutoNum type="alphaLcParenR"/>
            </a:pPr>
            <a:r>
              <a:rPr lang="es-ES_tradnl" altLang="es-PE" dirty="0"/>
              <a:t>Encuentre la solución óptima, evaluando la línea </a:t>
            </a:r>
            <a:r>
              <a:rPr lang="es-ES_tradnl" altLang="es-PE" dirty="0" err="1"/>
              <a:t>IsoObjetivo</a:t>
            </a:r>
            <a:r>
              <a:rPr lang="es-ES_tradnl" altLang="es-PE" dirty="0"/>
              <a:t>.</a:t>
            </a:r>
          </a:p>
          <a:p>
            <a:pPr marL="457200" indent="-457200" algn="just">
              <a:buFont typeface="Wingdings" pitchFamily="2" charset="2"/>
              <a:buAutoNum type="alphaLcParenR"/>
            </a:pPr>
            <a:r>
              <a:rPr lang="es-ES_tradnl" altLang="es-PE" dirty="0"/>
              <a:t>Presente los informes administrativos.</a:t>
            </a:r>
          </a:p>
        </p:txBody>
      </p:sp>
      <p:sp>
        <p:nvSpPr>
          <p:cNvPr id="6" name="Rectangle 2">
            <a:extLst>
              <a:ext uri="{FF2B5EF4-FFF2-40B4-BE49-F238E27FC236}">
                <a16:creationId xmlns:a16="http://schemas.microsoft.com/office/drawing/2014/main" id="{D8EC01EA-7D9F-44A8-91C3-E30EDD0A2059}"/>
              </a:ext>
            </a:extLst>
          </p:cNvPr>
          <p:cNvSpPr>
            <a:spLocks noGrp="1" noChangeArrowheads="1"/>
          </p:cNvSpPr>
          <p:nvPr>
            <p:ph type="title"/>
          </p:nvPr>
        </p:nvSpPr>
        <p:spPr>
          <a:xfrm>
            <a:off x="6090248" y="194094"/>
            <a:ext cx="6101751" cy="838200"/>
          </a:xfrm>
        </p:spPr>
        <p:txBody>
          <a:bodyPr/>
          <a:lstStyle/>
          <a:p>
            <a:pPr algn="ctr" eaLnBrk="1" hangingPunct="1"/>
            <a:r>
              <a:rPr lang="es-ES_tradnl" altLang="es-PE" sz="4000" dirty="0">
                <a:solidFill>
                  <a:schemeClr val="bg1"/>
                </a:solidFill>
              </a:rPr>
              <a:t>Caso De Maximización</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528" fill="hold" grpId="0" nodeType="clickEffect">
                                  <p:stCondLst>
                                    <p:cond delay="0"/>
                                  </p:stCondLst>
                                  <p:childTnLst>
                                    <p:set>
                                      <p:cBhvr>
                                        <p:cTn id="70" dur="1" fill="hold">
                                          <p:stCondLst>
                                            <p:cond delay="0"/>
                                          </p:stCondLst>
                                        </p:cTn>
                                        <p:tgtEl>
                                          <p:spTgt spid="61443">
                                            <p:txEl>
                                              <p:pRg st="8" end="8"/>
                                            </p:txEl>
                                          </p:spTgt>
                                        </p:tgtEl>
                                        <p:attrNameLst>
                                          <p:attrName>style.visibility</p:attrName>
                                        </p:attrNameLst>
                                      </p:cBhvr>
                                      <p:to>
                                        <p:strVal val="visible"/>
                                      </p:to>
                                    </p:set>
                                    <p:anim calcmode="lin" valueType="num">
                                      <p:cBhvr>
                                        <p:cTn id="71" dur="500" fill="hold"/>
                                        <p:tgtEl>
                                          <p:spTgt spid="61443">
                                            <p:txEl>
                                              <p:pRg st="8" end="8"/>
                                            </p:txEl>
                                          </p:spTgt>
                                        </p:tgtEl>
                                        <p:attrNameLst>
                                          <p:attrName>ppt_w</p:attrName>
                                        </p:attrNameLst>
                                      </p:cBhvr>
                                      <p:tavLst>
                                        <p:tav tm="0">
                                          <p:val>
                                            <p:fltVal val="0"/>
                                          </p:val>
                                        </p:tav>
                                        <p:tav tm="100000">
                                          <p:val>
                                            <p:strVal val="#ppt_w"/>
                                          </p:val>
                                        </p:tav>
                                      </p:tavLst>
                                    </p:anim>
                                    <p:anim calcmode="lin" valueType="num">
                                      <p:cBhvr>
                                        <p:cTn id="72" dur="500" fill="hold"/>
                                        <p:tgtEl>
                                          <p:spTgt spid="61443">
                                            <p:txEl>
                                              <p:pRg st="8" end="8"/>
                                            </p:txEl>
                                          </p:spTgt>
                                        </p:tgtEl>
                                        <p:attrNameLst>
                                          <p:attrName>ppt_h</p:attrName>
                                        </p:attrNameLst>
                                      </p:cBhvr>
                                      <p:tavLst>
                                        <p:tav tm="0">
                                          <p:val>
                                            <p:fltVal val="0"/>
                                          </p:val>
                                        </p:tav>
                                        <p:tav tm="100000">
                                          <p:val>
                                            <p:strVal val="#ppt_h"/>
                                          </p:val>
                                        </p:tav>
                                      </p:tavLst>
                                    </p:anim>
                                    <p:anim calcmode="lin" valueType="num">
                                      <p:cBhvr>
                                        <p:cTn id="73" dur="500" fill="hold"/>
                                        <p:tgtEl>
                                          <p:spTgt spid="61443">
                                            <p:txEl>
                                              <p:pRg st="8" end="8"/>
                                            </p:txEl>
                                          </p:spTgt>
                                        </p:tgtEl>
                                        <p:attrNameLst>
                                          <p:attrName>ppt_x</p:attrName>
                                        </p:attrNameLst>
                                      </p:cBhvr>
                                      <p:tavLst>
                                        <p:tav tm="0">
                                          <p:val>
                                            <p:fltVal val="0.5"/>
                                          </p:val>
                                        </p:tav>
                                        <p:tav tm="100000">
                                          <p:val>
                                            <p:strVal val="#ppt_x"/>
                                          </p:val>
                                        </p:tav>
                                      </p:tavLst>
                                    </p:anim>
                                    <p:anim calcmode="lin" valueType="num">
                                      <p:cBhvr>
                                        <p:cTn id="74" dur="500" fill="hold"/>
                                        <p:tgtEl>
                                          <p:spTgt spid="61443">
                                            <p:txEl>
                                              <p:pRg st="8" end="8"/>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8" end="8"/>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2" y="1484314"/>
            <a:ext cx="8928347" cy="5184775"/>
          </a:xfrm>
        </p:spPr>
        <p:txBody>
          <a:bodyPr>
            <a:normAutofit/>
          </a:bodyPr>
          <a:lstStyle/>
          <a:p>
            <a:pPr marL="0" indent="0" algn="just">
              <a:buNone/>
            </a:pPr>
            <a:r>
              <a:rPr lang="es-ES_tradnl" altLang="es-PE" dirty="0"/>
              <a:t>Análisis Post Óptimo</a:t>
            </a:r>
          </a:p>
          <a:p>
            <a:pPr marL="0" indent="0" algn="just">
              <a:buNone/>
            </a:pPr>
            <a:r>
              <a:rPr lang="es-ES_tradnl" altLang="es-PE" dirty="0"/>
              <a:t>j) Si el precio de venta de una mochila es de $30. Corresponde a algún caso especial de solución? Justifique su respuesta.</a:t>
            </a:r>
          </a:p>
          <a:p>
            <a:pPr marL="0" indent="0" algn="just">
              <a:buNone/>
            </a:pPr>
            <a:r>
              <a:rPr lang="es-ES_tradnl" altLang="es-PE" dirty="0"/>
              <a:t>k) A partir de la solución gráfica obtenida en J), si el jefe de operaciones indica que se debe utilizar todas las horas de costura. Cambiaría la RF, la solución óptima o ambos?. Justifique su respuesta.</a:t>
            </a:r>
          </a:p>
        </p:txBody>
      </p:sp>
      <p:sp>
        <p:nvSpPr>
          <p:cNvPr id="6" name="Rectangle 2">
            <a:extLst>
              <a:ext uri="{FF2B5EF4-FFF2-40B4-BE49-F238E27FC236}">
                <a16:creationId xmlns:a16="http://schemas.microsoft.com/office/drawing/2014/main" id="{5CDEBE06-CF6C-471E-9CF9-B17D94D75BBB}"/>
              </a:ext>
            </a:extLst>
          </p:cNvPr>
          <p:cNvSpPr>
            <a:spLocks noGrp="1" noChangeArrowheads="1"/>
          </p:cNvSpPr>
          <p:nvPr>
            <p:ph type="title"/>
          </p:nvPr>
        </p:nvSpPr>
        <p:spPr>
          <a:xfrm>
            <a:off x="6090248" y="194094"/>
            <a:ext cx="6101751" cy="838200"/>
          </a:xfrm>
        </p:spPr>
        <p:txBody>
          <a:bodyPr/>
          <a:lstStyle/>
          <a:p>
            <a:pPr algn="ctr" eaLnBrk="1" hangingPunct="1"/>
            <a:r>
              <a:rPr lang="es-ES_tradnl" altLang="es-PE" sz="4000" dirty="0">
                <a:solidFill>
                  <a:schemeClr val="bg1"/>
                </a:solidFill>
              </a:rPr>
              <a:t>Caso De Maximización</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6098874" y="125083"/>
            <a:ext cx="6093125" cy="838200"/>
          </a:xfrm>
        </p:spPr>
        <p:txBody>
          <a:bodyPr/>
          <a:lstStyle/>
          <a:p>
            <a:pPr algn="ctr" eaLnBrk="1" hangingPunct="1"/>
            <a:r>
              <a:rPr lang="es-ES_tradnl" altLang="es-PE" sz="4000" dirty="0">
                <a:solidFill>
                  <a:schemeClr val="bg1"/>
                </a:solidFill>
              </a:rPr>
              <a:t>Caso De Minimización</a:t>
            </a:r>
            <a:endParaRPr lang="es-ES" altLang="es-PE" sz="4000" dirty="0">
              <a:solidFill>
                <a:schemeClr val="bg1"/>
              </a:solidFill>
            </a:endParaRPr>
          </a:p>
        </p:txBody>
      </p:sp>
      <p:sp>
        <p:nvSpPr>
          <p:cNvPr id="61443" name="Rectangle 3" descr="Rectangle: Click to edit Master text styles&#10;Second level&#10;Third level&#10;Fourth level&#10;Fifth level"/>
          <p:cNvSpPr>
            <a:spLocks noGrp="1" noChangeArrowheads="1"/>
          </p:cNvSpPr>
          <p:nvPr>
            <p:ph idx="1"/>
          </p:nvPr>
        </p:nvSpPr>
        <p:spPr>
          <a:xfrm>
            <a:off x="2208212" y="1557338"/>
            <a:ext cx="8892343" cy="5111750"/>
          </a:xfrm>
        </p:spPr>
        <p:txBody>
          <a:bodyPr>
            <a:noAutofit/>
          </a:bodyPr>
          <a:lstStyle/>
          <a:p>
            <a:pPr marL="0" indent="0" algn="just">
              <a:buNone/>
              <a:defRPr/>
            </a:pPr>
            <a:r>
              <a:rPr lang="es-ES_tradnl" dirty="0"/>
              <a:t>Una fábrica textil ha recibido una orden de compra por un lote de tela que contenga al menos 45 </a:t>
            </a:r>
            <a:r>
              <a:rPr lang="es-ES_tradnl" dirty="0" err="1"/>
              <a:t>kgs</a:t>
            </a:r>
            <a:r>
              <a:rPr lang="es-ES_tradnl" dirty="0"/>
              <a:t> de lana, 25 </a:t>
            </a:r>
            <a:r>
              <a:rPr lang="es-ES_tradnl" dirty="0" err="1"/>
              <a:t>kgs</a:t>
            </a:r>
            <a:r>
              <a:rPr lang="es-ES_tradnl" dirty="0"/>
              <a:t> de nylon y 30 </a:t>
            </a:r>
            <a:r>
              <a:rPr lang="es-ES_tradnl" dirty="0" err="1"/>
              <a:t>kgs</a:t>
            </a:r>
            <a:r>
              <a:rPr lang="es-ES_tradnl" dirty="0"/>
              <a:t> de algodón. El lote puede ser fabricado mediante cualquier mezcla de dos materiales textiles A y B. Cada kilogramo de material A cuesta $2 y cada kilogramo de material B cuesta $3. Se dispone de $600 para la compra de los materiales.</a:t>
            </a:r>
          </a:p>
          <a:p>
            <a:pPr marL="0" indent="0" algn="just">
              <a:buNone/>
              <a:defRPr/>
            </a:pPr>
            <a:r>
              <a:rPr lang="es-ES_tradnl" dirty="0"/>
              <a:t>Un kg de material A contiene:</a:t>
            </a:r>
          </a:p>
          <a:p>
            <a:pPr algn="just" eaLnBrk="1" hangingPunct="1">
              <a:buFontTx/>
              <a:buChar char="-"/>
              <a:defRPr/>
            </a:pPr>
            <a:r>
              <a:rPr lang="es-ES_tradnl" dirty="0"/>
              <a:t>60% de lana, 10% de nylon y 30% de algodón</a:t>
            </a:r>
          </a:p>
          <a:p>
            <a:pPr marL="0" indent="0" algn="just">
              <a:buNone/>
              <a:defRPr/>
            </a:pPr>
            <a:r>
              <a:rPr lang="es-ES_tradnl" dirty="0"/>
              <a:t>Un kg de material B contiene:</a:t>
            </a:r>
          </a:p>
          <a:p>
            <a:pPr marL="0" indent="0" algn="just">
              <a:buNone/>
              <a:defRPr/>
            </a:pPr>
            <a:r>
              <a:rPr lang="es-ES_tradnl" dirty="0"/>
              <a:t>- 30% de lana, 50% de nylon y 20% de algodón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7568" y="1232756"/>
            <a:ext cx="8928347" cy="5327650"/>
          </a:xfrm>
        </p:spPr>
        <p:txBody>
          <a:bodyPr>
            <a:noAutofit/>
          </a:bodyPr>
          <a:lstStyle/>
          <a:p>
            <a:pPr marL="457200" indent="-457200" algn="just">
              <a:buFont typeface="Wingdings" pitchFamily="2" charset="2"/>
              <a:buAutoNum type="alphaLcParenR"/>
            </a:pPr>
            <a:r>
              <a:rPr lang="es-ES_tradnl" altLang="es-PE" dirty="0"/>
              <a:t>Elabore un análisis del problema propuesto.</a:t>
            </a:r>
          </a:p>
          <a:p>
            <a:pPr marL="457200" indent="-457200" algn="just">
              <a:buFont typeface="Wingdings" pitchFamily="2" charset="2"/>
              <a:buAutoNum type="alphaLcParenR"/>
            </a:pPr>
            <a:r>
              <a:rPr lang="es-ES_tradnl" altLang="es-PE" dirty="0"/>
              <a:t>Defina las variables de decisión.</a:t>
            </a:r>
          </a:p>
          <a:p>
            <a:pPr marL="457200" indent="-457200" algn="just">
              <a:buFont typeface="Wingdings" pitchFamily="2" charset="2"/>
              <a:buAutoNum type="alphaLcParenR"/>
            </a:pPr>
            <a:r>
              <a:rPr lang="es-ES_tradnl" altLang="es-PE" dirty="0"/>
              <a:t>Construya la función objetivo.</a:t>
            </a:r>
          </a:p>
          <a:p>
            <a:pPr marL="457200" indent="-457200" algn="just">
              <a:buFont typeface="Wingdings" pitchFamily="2" charset="2"/>
              <a:buAutoNum type="alphaLcParenR"/>
            </a:pPr>
            <a:r>
              <a:rPr lang="es-ES_tradnl" altLang="es-PE" dirty="0"/>
              <a:t>Construya la función de cada una de las restricciones o limitaciones.</a:t>
            </a:r>
          </a:p>
          <a:p>
            <a:pPr marL="457200" indent="-457200" algn="just">
              <a:buFont typeface="Wingdings" pitchFamily="2" charset="2"/>
              <a:buAutoNum type="alphaLcParenR"/>
            </a:pPr>
            <a:r>
              <a:rPr lang="es-ES_tradnl" altLang="es-PE" dirty="0"/>
              <a:t>Escriba el modelo lineal.</a:t>
            </a:r>
          </a:p>
          <a:p>
            <a:pPr marL="457200" indent="-457200" algn="just">
              <a:buFont typeface="Wingdings" pitchFamily="2" charset="2"/>
              <a:buAutoNum type="alphaLcParenR"/>
            </a:pPr>
            <a:r>
              <a:rPr lang="es-ES_tradnl" altLang="es-PE" dirty="0"/>
              <a:t>Grafique la Región Factible.</a:t>
            </a:r>
          </a:p>
          <a:p>
            <a:pPr marL="457200" indent="-457200" algn="just">
              <a:buFont typeface="Wingdings" pitchFamily="2" charset="2"/>
              <a:buAutoNum type="alphaLcParenR"/>
            </a:pPr>
            <a:r>
              <a:rPr lang="es-ES_tradnl" altLang="es-PE" dirty="0"/>
              <a:t>Encuentre la solución óptima, evaluando las soluciones básicas (vértices de la RF).</a:t>
            </a:r>
          </a:p>
          <a:p>
            <a:pPr marL="457200" indent="-457200" algn="just">
              <a:buFont typeface="Wingdings" pitchFamily="2" charset="2"/>
              <a:buAutoNum type="alphaLcParenR"/>
            </a:pPr>
            <a:r>
              <a:rPr lang="es-ES_tradnl" altLang="es-PE" dirty="0"/>
              <a:t>Encuentre la solución óptima, evaluando la línea </a:t>
            </a:r>
            <a:r>
              <a:rPr lang="es-ES_tradnl" altLang="es-PE" dirty="0" err="1"/>
              <a:t>IsoObjetivo</a:t>
            </a:r>
            <a:r>
              <a:rPr lang="es-ES_tradnl" altLang="es-PE" dirty="0"/>
              <a:t>.</a:t>
            </a:r>
          </a:p>
          <a:p>
            <a:pPr marL="457200" indent="-457200" algn="just">
              <a:buFont typeface="Wingdings" pitchFamily="2" charset="2"/>
              <a:buAutoNum type="alphaLcParenR"/>
            </a:pPr>
            <a:r>
              <a:rPr lang="es-ES_tradnl" altLang="es-PE" dirty="0"/>
              <a:t>Presente los informes administrativos.</a:t>
            </a:r>
          </a:p>
        </p:txBody>
      </p:sp>
      <p:sp>
        <p:nvSpPr>
          <p:cNvPr id="6" name="Rectangle 2">
            <a:extLst>
              <a:ext uri="{FF2B5EF4-FFF2-40B4-BE49-F238E27FC236}">
                <a16:creationId xmlns:a16="http://schemas.microsoft.com/office/drawing/2014/main" id="{6ABD8889-C46A-48C4-ADB0-9ECFA22A9EE9}"/>
              </a:ext>
            </a:extLst>
          </p:cNvPr>
          <p:cNvSpPr>
            <a:spLocks noGrp="1" noChangeArrowheads="1"/>
          </p:cNvSpPr>
          <p:nvPr>
            <p:ph type="title"/>
          </p:nvPr>
        </p:nvSpPr>
        <p:spPr>
          <a:xfrm>
            <a:off x="6098874" y="125083"/>
            <a:ext cx="6093125" cy="838200"/>
          </a:xfrm>
        </p:spPr>
        <p:txBody>
          <a:bodyPr/>
          <a:lstStyle/>
          <a:p>
            <a:pPr algn="ctr" eaLnBrk="1" hangingPunct="1"/>
            <a:r>
              <a:rPr lang="es-ES_tradnl" altLang="es-PE" sz="4000" dirty="0">
                <a:solidFill>
                  <a:schemeClr val="bg1"/>
                </a:solidFill>
              </a:rPr>
              <a:t>Caso De Minimización</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61443">
                                            <p:txEl>
                                              <p:pRg st="2" end="2"/>
                                            </p:txEl>
                                          </p:spTgt>
                                        </p:tgtEl>
                                        <p:attrNameLst>
                                          <p:attrName>style.visibility</p:attrName>
                                        </p:attrNameLst>
                                      </p:cBhvr>
                                      <p:to>
                                        <p:strVal val="visible"/>
                                      </p:to>
                                    </p:set>
                                    <p:anim calcmode="lin" valueType="num">
                                      <p:cBhvr>
                                        <p:cTn id="23" dur="500" fill="hold"/>
                                        <p:tgtEl>
                                          <p:spTgt spid="6144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6144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61443">
                                            <p:txEl>
                                              <p:pRg st="2" end="2"/>
                                            </p:txEl>
                                          </p:spTgt>
                                        </p:tgtEl>
                                        <p:attrNameLst>
                                          <p:attrName>ppt_x</p:attrName>
                                        </p:attrNameLst>
                                      </p:cBhvr>
                                      <p:tavLst>
                                        <p:tav tm="0">
                                          <p:val>
                                            <p:fltVal val="0.5"/>
                                          </p:val>
                                        </p:tav>
                                        <p:tav tm="100000">
                                          <p:val>
                                            <p:strVal val="#ppt_x"/>
                                          </p:val>
                                        </p:tav>
                                      </p:tavLst>
                                    </p:anim>
                                    <p:anim calcmode="lin" valueType="num">
                                      <p:cBhvr>
                                        <p:cTn id="26" dur="500" fill="hold"/>
                                        <p:tgtEl>
                                          <p:spTgt spid="6144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2" end="2"/>
                                            </p:txEl>
                                          </p:spTgt>
                                        </p:tgtEl>
                                        <p:attrNameLst>
                                          <p:attrName>ppt_c</p:attrName>
                                        </p:attrNameLst>
                                      </p:cBhvr>
                                      <p:to>
                                        <a:schemeClr val="folHlink"/>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61443">
                                            <p:txEl>
                                              <p:pRg st="3" end="3"/>
                                            </p:txEl>
                                          </p:spTgt>
                                        </p:tgtEl>
                                        <p:attrNameLst>
                                          <p:attrName>style.visibility</p:attrName>
                                        </p:attrNameLst>
                                      </p:cBhvr>
                                      <p:to>
                                        <p:strVal val="visible"/>
                                      </p:to>
                                    </p:set>
                                    <p:anim calcmode="lin" valueType="num">
                                      <p:cBhvr>
                                        <p:cTn id="31" dur="500" fill="hold"/>
                                        <p:tgtEl>
                                          <p:spTgt spid="6144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6144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61443">
                                            <p:txEl>
                                              <p:pRg st="3" end="3"/>
                                            </p:txEl>
                                          </p:spTgt>
                                        </p:tgtEl>
                                        <p:attrNameLst>
                                          <p:attrName>ppt_x</p:attrName>
                                        </p:attrNameLst>
                                      </p:cBhvr>
                                      <p:tavLst>
                                        <p:tav tm="0">
                                          <p:val>
                                            <p:fltVal val="0.5"/>
                                          </p:val>
                                        </p:tav>
                                        <p:tav tm="100000">
                                          <p:val>
                                            <p:strVal val="#ppt_x"/>
                                          </p:val>
                                        </p:tav>
                                      </p:tavLst>
                                    </p:anim>
                                    <p:anim calcmode="lin" valueType="num">
                                      <p:cBhvr>
                                        <p:cTn id="34" dur="500" fill="hold"/>
                                        <p:tgtEl>
                                          <p:spTgt spid="6144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3" end="3"/>
                                            </p:txEl>
                                          </p:spTgt>
                                        </p:tgtEl>
                                        <p:attrNameLst>
                                          <p:attrName>ppt_c</p:attrName>
                                        </p:attrNameLst>
                                      </p:cBhvr>
                                      <p:to>
                                        <a:schemeClr val="folHlink"/>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528" fill="hold" grpId="0" nodeType="clickEffect">
                                  <p:stCondLst>
                                    <p:cond delay="0"/>
                                  </p:stCondLst>
                                  <p:childTnLst>
                                    <p:set>
                                      <p:cBhvr>
                                        <p:cTn id="38" dur="1" fill="hold">
                                          <p:stCondLst>
                                            <p:cond delay="0"/>
                                          </p:stCondLst>
                                        </p:cTn>
                                        <p:tgtEl>
                                          <p:spTgt spid="61443">
                                            <p:txEl>
                                              <p:pRg st="4" end="4"/>
                                            </p:txEl>
                                          </p:spTgt>
                                        </p:tgtEl>
                                        <p:attrNameLst>
                                          <p:attrName>style.visibility</p:attrName>
                                        </p:attrNameLst>
                                      </p:cBhvr>
                                      <p:to>
                                        <p:strVal val="visible"/>
                                      </p:to>
                                    </p:set>
                                    <p:anim calcmode="lin" valueType="num">
                                      <p:cBhvr>
                                        <p:cTn id="39" dur="500" fill="hold"/>
                                        <p:tgtEl>
                                          <p:spTgt spid="6144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6144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61443">
                                            <p:txEl>
                                              <p:pRg st="4" end="4"/>
                                            </p:txEl>
                                          </p:spTgt>
                                        </p:tgtEl>
                                        <p:attrNameLst>
                                          <p:attrName>ppt_x</p:attrName>
                                        </p:attrNameLst>
                                      </p:cBhvr>
                                      <p:tavLst>
                                        <p:tav tm="0">
                                          <p:val>
                                            <p:fltVal val="0.5"/>
                                          </p:val>
                                        </p:tav>
                                        <p:tav tm="100000">
                                          <p:val>
                                            <p:strVal val="#ppt_x"/>
                                          </p:val>
                                        </p:tav>
                                      </p:tavLst>
                                    </p:anim>
                                    <p:anim calcmode="lin" valueType="num">
                                      <p:cBhvr>
                                        <p:cTn id="42" dur="500" fill="hold"/>
                                        <p:tgtEl>
                                          <p:spTgt spid="61443">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4" end="4"/>
                                            </p:txEl>
                                          </p:spTgt>
                                        </p:tgtEl>
                                        <p:attrNameLst>
                                          <p:attrName>ppt_c</p:attrName>
                                        </p:attrNameLst>
                                      </p:cBhvr>
                                      <p:to>
                                        <a:schemeClr val="folHlink"/>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528" fill="hold" grpId="0" nodeType="clickEffect">
                                  <p:stCondLst>
                                    <p:cond delay="0"/>
                                  </p:stCondLst>
                                  <p:childTnLst>
                                    <p:set>
                                      <p:cBhvr>
                                        <p:cTn id="46" dur="1" fill="hold">
                                          <p:stCondLst>
                                            <p:cond delay="0"/>
                                          </p:stCondLst>
                                        </p:cTn>
                                        <p:tgtEl>
                                          <p:spTgt spid="61443">
                                            <p:txEl>
                                              <p:pRg st="5" end="5"/>
                                            </p:txEl>
                                          </p:spTgt>
                                        </p:tgtEl>
                                        <p:attrNameLst>
                                          <p:attrName>style.visibility</p:attrName>
                                        </p:attrNameLst>
                                      </p:cBhvr>
                                      <p:to>
                                        <p:strVal val="visible"/>
                                      </p:to>
                                    </p:set>
                                    <p:anim calcmode="lin" valueType="num">
                                      <p:cBhvr>
                                        <p:cTn id="47" dur="500" fill="hold"/>
                                        <p:tgtEl>
                                          <p:spTgt spid="6144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6144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61443">
                                            <p:txEl>
                                              <p:pRg st="5" end="5"/>
                                            </p:txEl>
                                          </p:spTgt>
                                        </p:tgtEl>
                                        <p:attrNameLst>
                                          <p:attrName>ppt_x</p:attrName>
                                        </p:attrNameLst>
                                      </p:cBhvr>
                                      <p:tavLst>
                                        <p:tav tm="0">
                                          <p:val>
                                            <p:fltVal val="0.5"/>
                                          </p:val>
                                        </p:tav>
                                        <p:tav tm="100000">
                                          <p:val>
                                            <p:strVal val="#ppt_x"/>
                                          </p:val>
                                        </p:tav>
                                      </p:tavLst>
                                    </p:anim>
                                    <p:anim calcmode="lin" valueType="num">
                                      <p:cBhvr>
                                        <p:cTn id="50" dur="500" fill="hold"/>
                                        <p:tgtEl>
                                          <p:spTgt spid="61443">
                                            <p:txEl>
                                              <p:pRg st="5" end="5"/>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5" end="5"/>
                                            </p:txEl>
                                          </p:spTgt>
                                        </p:tgtEl>
                                        <p:attrNameLst>
                                          <p:attrName>ppt_c</p:attrName>
                                        </p:attrNameLst>
                                      </p:cBhvr>
                                      <p:to>
                                        <a:schemeClr val="folHlink"/>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528" fill="hold" grpId="0" nodeType="clickEffect">
                                  <p:stCondLst>
                                    <p:cond delay="0"/>
                                  </p:stCondLst>
                                  <p:childTnLst>
                                    <p:set>
                                      <p:cBhvr>
                                        <p:cTn id="54" dur="1" fill="hold">
                                          <p:stCondLst>
                                            <p:cond delay="0"/>
                                          </p:stCondLst>
                                        </p:cTn>
                                        <p:tgtEl>
                                          <p:spTgt spid="61443">
                                            <p:txEl>
                                              <p:pRg st="6" end="6"/>
                                            </p:txEl>
                                          </p:spTgt>
                                        </p:tgtEl>
                                        <p:attrNameLst>
                                          <p:attrName>style.visibility</p:attrName>
                                        </p:attrNameLst>
                                      </p:cBhvr>
                                      <p:to>
                                        <p:strVal val="visible"/>
                                      </p:to>
                                    </p:set>
                                    <p:anim calcmode="lin" valueType="num">
                                      <p:cBhvr>
                                        <p:cTn id="55" dur="500" fill="hold"/>
                                        <p:tgtEl>
                                          <p:spTgt spid="6144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6144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61443">
                                            <p:txEl>
                                              <p:pRg st="6" end="6"/>
                                            </p:txEl>
                                          </p:spTgt>
                                        </p:tgtEl>
                                        <p:attrNameLst>
                                          <p:attrName>ppt_x</p:attrName>
                                        </p:attrNameLst>
                                      </p:cBhvr>
                                      <p:tavLst>
                                        <p:tav tm="0">
                                          <p:val>
                                            <p:fltVal val="0.5"/>
                                          </p:val>
                                        </p:tav>
                                        <p:tav tm="100000">
                                          <p:val>
                                            <p:strVal val="#ppt_x"/>
                                          </p:val>
                                        </p:tav>
                                      </p:tavLst>
                                    </p:anim>
                                    <p:anim calcmode="lin" valueType="num">
                                      <p:cBhvr>
                                        <p:cTn id="58" dur="500" fill="hold"/>
                                        <p:tgtEl>
                                          <p:spTgt spid="61443">
                                            <p:txEl>
                                              <p:pRg st="6" end="6"/>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6" end="6"/>
                                            </p:txEl>
                                          </p:spTgt>
                                        </p:tgtEl>
                                        <p:attrNameLst>
                                          <p:attrName>ppt_c</p:attrName>
                                        </p:attrNameLst>
                                      </p:cBhvr>
                                      <p:to>
                                        <a:schemeClr val="folHlink"/>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61443">
                                            <p:txEl>
                                              <p:pRg st="7" end="7"/>
                                            </p:txEl>
                                          </p:spTgt>
                                        </p:tgtEl>
                                        <p:attrNameLst>
                                          <p:attrName>style.visibility</p:attrName>
                                        </p:attrNameLst>
                                      </p:cBhvr>
                                      <p:to>
                                        <p:strVal val="visible"/>
                                      </p:to>
                                    </p:set>
                                    <p:anim calcmode="lin" valueType="num">
                                      <p:cBhvr>
                                        <p:cTn id="63" dur="500" fill="hold"/>
                                        <p:tgtEl>
                                          <p:spTgt spid="61443">
                                            <p:txEl>
                                              <p:pRg st="7" end="7"/>
                                            </p:txEl>
                                          </p:spTgt>
                                        </p:tgtEl>
                                        <p:attrNameLst>
                                          <p:attrName>ppt_w</p:attrName>
                                        </p:attrNameLst>
                                      </p:cBhvr>
                                      <p:tavLst>
                                        <p:tav tm="0">
                                          <p:val>
                                            <p:fltVal val="0"/>
                                          </p:val>
                                        </p:tav>
                                        <p:tav tm="100000">
                                          <p:val>
                                            <p:strVal val="#ppt_w"/>
                                          </p:val>
                                        </p:tav>
                                      </p:tavLst>
                                    </p:anim>
                                    <p:anim calcmode="lin" valueType="num">
                                      <p:cBhvr>
                                        <p:cTn id="64" dur="500" fill="hold"/>
                                        <p:tgtEl>
                                          <p:spTgt spid="61443">
                                            <p:txEl>
                                              <p:pRg st="7" end="7"/>
                                            </p:txEl>
                                          </p:spTgt>
                                        </p:tgtEl>
                                        <p:attrNameLst>
                                          <p:attrName>ppt_h</p:attrName>
                                        </p:attrNameLst>
                                      </p:cBhvr>
                                      <p:tavLst>
                                        <p:tav tm="0">
                                          <p:val>
                                            <p:fltVal val="0"/>
                                          </p:val>
                                        </p:tav>
                                        <p:tav tm="100000">
                                          <p:val>
                                            <p:strVal val="#ppt_h"/>
                                          </p:val>
                                        </p:tav>
                                      </p:tavLst>
                                    </p:anim>
                                    <p:anim calcmode="lin" valueType="num">
                                      <p:cBhvr>
                                        <p:cTn id="65" dur="500" fill="hold"/>
                                        <p:tgtEl>
                                          <p:spTgt spid="61443">
                                            <p:txEl>
                                              <p:pRg st="7" end="7"/>
                                            </p:txEl>
                                          </p:spTgt>
                                        </p:tgtEl>
                                        <p:attrNameLst>
                                          <p:attrName>ppt_x</p:attrName>
                                        </p:attrNameLst>
                                      </p:cBhvr>
                                      <p:tavLst>
                                        <p:tav tm="0">
                                          <p:val>
                                            <p:fltVal val="0.5"/>
                                          </p:val>
                                        </p:tav>
                                        <p:tav tm="100000">
                                          <p:val>
                                            <p:strVal val="#ppt_x"/>
                                          </p:val>
                                        </p:tav>
                                      </p:tavLst>
                                    </p:anim>
                                    <p:anim calcmode="lin" valueType="num">
                                      <p:cBhvr>
                                        <p:cTn id="66" dur="500" fill="hold"/>
                                        <p:tgtEl>
                                          <p:spTgt spid="61443">
                                            <p:txEl>
                                              <p:pRg st="7" end="7"/>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7" end="7"/>
                                            </p:txEl>
                                          </p:spTgt>
                                        </p:tgtEl>
                                        <p:attrNameLst>
                                          <p:attrName>ppt_c</p:attrName>
                                        </p:attrNameLst>
                                      </p:cBhvr>
                                      <p:to>
                                        <a:schemeClr val="folHlink"/>
                                      </p:to>
                                    </p:animClr>
                                  </p:sub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528" fill="hold" grpId="0" nodeType="clickEffect">
                                  <p:stCondLst>
                                    <p:cond delay="0"/>
                                  </p:stCondLst>
                                  <p:childTnLst>
                                    <p:set>
                                      <p:cBhvr>
                                        <p:cTn id="70" dur="1" fill="hold">
                                          <p:stCondLst>
                                            <p:cond delay="0"/>
                                          </p:stCondLst>
                                        </p:cTn>
                                        <p:tgtEl>
                                          <p:spTgt spid="61443">
                                            <p:txEl>
                                              <p:pRg st="8" end="8"/>
                                            </p:txEl>
                                          </p:spTgt>
                                        </p:tgtEl>
                                        <p:attrNameLst>
                                          <p:attrName>style.visibility</p:attrName>
                                        </p:attrNameLst>
                                      </p:cBhvr>
                                      <p:to>
                                        <p:strVal val="visible"/>
                                      </p:to>
                                    </p:set>
                                    <p:anim calcmode="lin" valueType="num">
                                      <p:cBhvr>
                                        <p:cTn id="71" dur="500" fill="hold"/>
                                        <p:tgtEl>
                                          <p:spTgt spid="61443">
                                            <p:txEl>
                                              <p:pRg st="8" end="8"/>
                                            </p:txEl>
                                          </p:spTgt>
                                        </p:tgtEl>
                                        <p:attrNameLst>
                                          <p:attrName>ppt_w</p:attrName>
                                        </p:attrNameLst>
                                      </p:cBhvr>
                                      <p:tavLst>
                                        <p:tav tm="0">
                                          <p:val>
                                            <p:fltVal val="0"/>
                                          </p:val>
                                        </p:tav>
                                        <p:tav tm="100000">
                                          <p:val>
                                            <p:strVal val="#ppt_w"/>
                                          </p:val>
                                        </p:tav>
                                      </p:tavLst>
                                    </p:anim>
                                    <p:anim calcmode="lin" valueType="num">
                                      <p:cBhvr>
                                        <p:cTn id="72" dur="500" fill="hold"/>
                                        <p:tgtEl>
                                          <p:spTgt spid="61443">
                                            <p:txEl>
                                              <p:pRg st="8" end="8"/>
                                            </p:txEl>
                                          </p:spTgt>
                                        </p:tgtEl>
                                        <p:attrNameLst>
                                          <p:attrName>ppt_h</p:attrName>
                                        </p:attrNameLst>
                                      </p:cBhvr>
                                      <p:tavLst>
                                        <p:tav tm="0">
                                          <p:val>
                                            <p:fltVal val="0"/>
                                          </p:val>
                                        </p:tav>
                                        <p:tav tm="100000">
                                          <p:val>
                                            <p:strVal val="#ppt_h"/>
                                          </p:val>
                                        </p:tav>
                                      </p:tavLst>
                                    </p:anim>
                                    <p:anim calcmode="lin" valueType="num">
                                      <p:cBhvr>
                                        <p:cTn id="73" dur="500" fill="hold"/>
                                        <p:tgtEl>
                                          <p:spTgt spid="61443">
                                            <p:txEl>
                                              <p:pRg st="8" end="8"/>
                                            </p:txEl>
                                          </p:spTgt>
                                        </p:tgtEl>
                                        <p:attrNameLst>
                                          <p:attrName>ppt_x</p:attrName>
                                        </p:attrNameLst>
                                      </p:cBhvr>
                                      <p:tavLst>
                                        <p:tav tm="0">
                                          <p:val>
                                            <p:fltVal val="0.5"/>
                                          </p:val>
                                        </p:tav>
                                        <p:tav tm="100000">
                                          <p:val>
                                            <p:strVal val="#ppt_x"/>
                                          </p:val>
                                        </p:tav>
                                      </p:tavLst>
                                    </p:anim>
                                    <p:anim calcmode="lin" valueType="num">
                                      <p:cBhvr>
                                        <p:cTn id="74" dur="500" fill="hold"/>
                                        <p:tgtEl>
                                          <p:spTgt spid="61443">
                                            <p:txEl>
                                              <p:pRg st="8" end="8"/>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8" end="8"/>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idx="1"/>
          </p:nvPr>
        </p:nvSpPr>
        <p:spPr>
          <a:xfrm>
            <a:off x="2208212" y="1484314"/>
            <a:ext cx="8892343" cy="5184775"/>
          </a:xfrm>
        </p:spPr>
        <p:txBody>
          <a:bodyPr>
            <a:normAutofit/>
          </a:bodyPr>
          <a:lstStyle/>
          <a:p>
            <a:pPr marL="0" indent="0" algn="just">
              <a:buNone/>
            </a:pPr>
            <a:r>
              <a:rPr lang="es-ES_tradnl" altLang="es-PE" dirty="0"/>
              <a:t>Análisis Post Óptimo</a:t>
            </a:r>
          </a:p>
          <a:p>
            <a:pPr marL="0" indent="0" algn="just">
              <a:buNone/>
            </a:pPr>
            <a:r>
              <a:rPr lang="es-ES_tradnl" altLang="es-PE" dirty="0"/>
              <a:t>j) Le hubiese convenido a la fábrica textil que la orden de compra no exigiera contenido mínimo de algodón? Justifique su respuesta.</a:t>
            </a:r>
          </a:p>
        </p:txBody>
      </p:sp>
      <p:sp>
        <p:nvSpPr>
          <p:cNvPr id="6" name="Rectangle 2">
            <a:extLst>
              <a:ext uri="{FF2B5EF4-FFF2-40B4-BE49-F238E27FC236}">
                <a16:creationId xmlns:a16="http://schemas.microsoft.com/office/drawing/2014/main" id="{092349F4-DD3B-424F-AB67-ED4549DDCFA7}"/>
              </a:ext>
            </a:extLst>
          </p:cNvPr>
          <p:cNvSpPr>
            <a:spLocks noGrp="1" noChangeArrowheads="1"/>
          </p:cNvSpPr>
          <p:nvPr>
            <p:ph type="title"/>
          </p:nvPr>
        </p:nvSpPr>
        <p:spPr>
          <a:xfrm>
            <a:off x="6098874" y="125083"/>
            <a:ext cx="6093125" cy="838200"/>
          </a:xfrm>
        </p:spPr>
        <p:txBody>
          <a:bodyPr/>
          <a:lstStyle/>
          <a:p>
            <a:pPr algn="ctr" eaLnBrk="1" hangingPunct="1"/>
            <a:r>
              <a:rPr lang="es-ES_tradnl" altLang="es-PE" sz="4000" dirty="0">
                <a:solidFill>
                  <a:schemeClr val="bg1"/>
                </a:solidFill>
              </a:rPr>
              <a:t>Caso De Minimización</a:t>
            </a:r>
            <a:endParaRPr lang="es-ES" altLang="es-PE" sz="40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p:cTn id="7" dur="500" fill="hold"/>
                                        <p:tgtEl>
                                          <p:spTgt spid="614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144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6144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6144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0" end="0"/>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61443">
                                            <p:txEl>
                                              <p:pRg st="1" end="1"/>
                                            </p:txEl>
                                          </p:spTgt>
                                        </p:tgtEl>
                                        <p:attrNameLst>
                                          <p:attrName>style.visibility</p:attrName>
                                        </p:attrNameLst>
                                      </p:cBhvr>
                                      <p:to>
                                        <p:strVal val="visible"/>
                                      </p:to>
                                    </p:set>
                                    <p:anim calcmode="lin" valueType="num">
                                      <p:cBhvr>
                                        <p:cTn id="15" dur="500" fill="hold"/>
                                        <p:tgtEl>
                                          <p:spTgt spid="6144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6144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61443">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61443">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61443">
                                            <p:txEl>
                                              <p:pRg st="1" end="1"/>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bldLvl="5"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67</a:t>
            </a:fld>
            <a:endParaRPr dirty="0"/>
          </a:p>
        </p:txBody>
      </p:sp>
      <p:sp>
        <p:nvSpPr>
          <p:cNvPr id="4" name="Rectangle 2"/>
          <p:cNvSpPr txBox="1">
            <a:spLocks noChangeArrowheads="1"/>
          </p:cNvSpPr>
          <p:nvPr/>
        </p:nvSpPr>
        <p:spPr bwMode="auto">
          <a:xfrm>
            <a:off x="2117812" y="1772816"/>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chemeClr val="accent1"/>
                </a:solidFill>
                <a:latin typeface="+mn-lt"/>
                <a:ea typeface="+mn-ea"/>
                <a:cs typeface="+mn-cs"/>
              </a:rPr>
              <a:t>Donde quiera que usted vea un negocio exitoso, alguien ha tomado una decisión valiente</a:t>
            </a:r>
            <a:r>
              <a:rPr lang="es-ES" sz="2400" b="0" dirty="0">
                <a:solidFill>
                  <a:schemeClr val="accent1"/>
                </a:solidFill>
                <a:latin typeface="+mn-lt"/>
                <a:ea typeface="+mn-ea"/>
                <a:cs typeface="+mn-cs"/>
              </a:rPr>
              <a:t>.</a:t>
            </a:r>
            <a:br>
              <a:rPr lang="es-ES" sz="2400" b="0" dirty="0">
                <a:solidFill>
                  <a:schemeClr val="accent1"/>
                </a:solidFill>
                <a:latin typeface="+mn-lt"/>
                <a:ea typeface="+mn-ea"/>
                <a:cs typeface="+mn-cs"/>
              </a:rPr>
            </a:br>
            <a:endParaRPr lang="es-PE" sz="2400" b="0" dirty="0">
              <a:solidFill>
                <a:schemeClr val="accent1"/>
              </a:solidFill>
              <a:latin typeface="+mn-lt"/>
              <a:ea typeface="+mn-ea"/>
              <a:cs typeface="+mn-cs"/>
            </a:endParaRPr>
          </a:p>
        </p:txBody>
      </p:sp>
      <p:sp>
        <p:nvSpPr>
          <p:cNvPr id="5" name="Rectangle 2"/>
          <p:cNvSpPr txBox="1">
            <a:spLocks noChangeArrowheads="1"/>
          </p:cNvSpPr>
          <p:nvPr/>
        </p:nvSpPr>
        <p:spPr>
          <a:xfrm>
            <a:off x="6096000" y="236537"/>
            <a:ext cx="60960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pic>
        <p:nvPicPr>
          <p:cNvPr id="6" name="Picture 5" descr="0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176" y="3286087"/>
            <a:ext cx="2430612" cy="3240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ángulo 1">
            <a:extLst>
              <a:ext uri="{FF2B5EF4-FFF2-40B4-BE49-F238E27FC236}">
                <a16:creationId xmlns:a16="http://schemas.microsoft.com/office/drawing/2014/main" id="{32D6E346-6176-40AB-9185-2709EBC6A134}"/>
              </a:ext>
            </a:extLst>
          </p:cNvPr>
          <p:cNvSpPr/>
          <p:nvPr/>
        </p:nvSpPr>
        <p:spPr>
          <a:xfrm>
            <a:off x="4958093" y="4150184"/>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spTree>
    <p:extLst>
      <p:ext uri="{BB962C8B-B14F-4D97-AF65-F5344CB8AC3E}">
        <p14:creationId xmlns:p14="http://schemas.microsoft.com/office/powerpoint/2010/main" val="39248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6273</TotalTime>
  <Words>8109</Words>
  <Application>Microsoft Office PowerPoint</Application>
  <PresentationFormat>Panorámica</PresentationFormat>
  <Paragraphs>1421</Paragraphs>
  <Slides>67</Slides>
  <Notes>3</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67</vt:i4>
      </vt:variant>
    </vt:vector>
  </HeadingPairs>
  <TitlesOfParts>
    <vt:vector size="80" baseType="lpstr">
      <vt:lpstr>Arial</vt:lpstr>
      <vt:lpstr>Arial Narrow</vt:lpstr>
      <vt:lpstr>Bauhaus 93</vt:lpstr>
      <vt:lpstr>Bodoni MT Black</vt:lpstr>
      <vt:lpstr>Calibri</vt:lpstr>
      <vt:lpstr>Calibri Light</vt:lpstr>
      <vt:lpstr>Lexend Deca</vt:lpstr>
      <vt:lpstr>Signika</vt:lpstr>
      <vt:lpstr>Symbol</vt:lpstr>
      <vt:lpstr>Tahoma</vt:lpstr>
      <vt:lpstr>Times New Roman</vt:lpstr>
      <vt:lpstr>Wingdings</vt:lpstr>
      <vt:lpstr>Tema de Office</vt:lpstr>
      <vt:lpstr>Presentación de PowerPoint</vt:lpstr>
      <vt:lpstr>Contenido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Solución</vt:lpstr>
      <vt:lpstr>Presentación de PowerPoint</vt:lpstr>
      <vt:lpstr>Presentación de PowerPoint</vt:lpstr>
      <vt:lpstr>Solución</vt:lpstr>
      <vt:lpstr>Presentación de PowerPoint</vt:lpstr>
      <vt:lpstr>Solución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Método Punto De Esquina</vt:lpstr>
      <vt:lpstr>Problema 20</vt:lpstr>
      <vt:lpstr>Región Factible</vt:lpstr>
      <vt:lpstr>Región Factible</vt:lpstr>
      <vt:lpstr>Región Factible</vt:lpstr>
      <vt:lpstr>Numeración de las SB</vt:lpstr>
      <vt:lpstr>Solución Optima</vt:lpstr>
      <vt:lpstr>Interpretación Administrativa</vt:lpstr>
      <vt:lpstr>Utilización de recursos</vt:lpstr>
      <vt:lpstr>Número de Soluciones Básicas</vt:lpstr>
      <vt:lpstr>Caso Especiales de PL</vt:lpstr>
      <vt:lpstr>Caso Especiales de PL</vt:lpstr>
      <vt:lpstr>Caso Especiales de PL</vt:lpstr>
      <vt:lpstr>Caso Especiales de PL</vt:lpstr>
      <vt:lpstr>Caso Especiales de PL</vt:lpstr>
      <vt:lpstr>Caso Especiales de PL</vt:lpstr>
      <vt:lpstr>Caso Especiales de PL</vt:lpstr>
      <vt:lpstr>Caso Especiales de PL</vt:lpstr>
      <vt:lpstr>Caso Especiales de PL</vt:lpstr>
      <vt:lpstr>Caso Especiales de PL</vt:lpstr>
      <vt:lpstr>Caso Especiales de PL</vt:lpstr>
      <vt:lpstr>Caso Especiales de PL</vt:lpstr>
      <vt:lpstr>Caso De Maximización</vt:lpstr>
      <vt:lpstr>Caso De Maximización</vt:lpstr>
      <vt:lpstr>Caso De Maximización</vt:lpstr>
      <vt:lpstr>Caso De Minimización</vt:lpstr>
      <vt:lpstr>Caso De Minimización</vt:lpstr>
      <vt:lpstr>Caso De Minimización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336</cp:revision>
  <dcterms:created xsi:type="dcterms:W3CDTF">2021-09-08T13:14:39Z</dcterms:created>
  <dcterms:modified xsi:type="dcterms:W3CDTF">2026-08-16T17:18:19Z</dcterms:modified>
</cp:coreProperties>
</file>
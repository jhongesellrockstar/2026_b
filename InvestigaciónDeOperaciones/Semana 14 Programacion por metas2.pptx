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81" r:id="rId2"/>
    <p:sldId id="416" r:id="rId3"/>
    <p:sldId id="304" r:id="rId4"/>
    <p:sldId id="296" r:id="rId5"/>
    <p:sldId id="407" r:id="rId6"/>
    <p:sldId id="410" r:id="rId7"/>
    <p:sldId id="412" r:id="rId8"/>
    <p:sldId id="418" r:id="rId9"/>
    <p:sldId id="419" r:id="rId10"/>
    <p:sldId id="420" r:id="rId11"/>
    <p:sldId id="422" r:id="rId12"/>
    <p:sldId id="423" r:id="rId13"/>
    <p:sldId id="446" r:id="rId14"/>
    <p:sldId id="425" r:id="rId15"/>
    <p:sldId id="447" r:id="rId16"/>
    <p:sldId id="427" r:id="rId17"/>
    <p:sldId id="428" r:id="rId18"/>
    <p:sldId id="429" r:id="rId19"/>
    <p:sldId id="430" r:id="rId20"/>
    <p:sldId id="431" r:id="rId21"/>
    <p:sldId id="432" r:id="rId22"/>
    <p:sldId id="434" r:id="rId23"/>
    <p:sldId id="436" r:id="rId24"/>
    <p:sldId id="437" r:id="rId25"/>
    <p:sldId id="438" r:id="rId26"/>
    <p:sldId id="280" r:id="rId2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6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772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21CB9B-663B-4969-8C86-E35C972F168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8DEAA3CE-64CB-4937-91F5-EA9C43CEEF7A}">
      <dgm:prSet custT="1"/>
      <dgm:spPr/>
      <dgm:t>
        <a:bodyPr/>
        <a:lstStyle/>
        <a:p>
          <a:r>
            <a:rPr lang="es-ES" sz="1600" b="1">
              <a:latin typeface="Arial Narrow" panose="020B0606020202030204" pitchFamily="34" charset="0"/>
            </a:rPr>
            <a:t>Meta 1: </a:t>
          </a:r>
          <a:endParaRPr lang="es-PE" sz="1600">
            <a:latin typeface="Arial Narrow" panose="020B0606020202030204" pitchFamily="34" charset="0"/>
          </a:endParaRPr>
        </a:p>
      </dgm:t>
    </dgm:pt>
    <dgm:pt modelId="{86387914-F8B2-4D31-952D-7CC3F0EDB7AC}" type="parTrans" cxnId="{AFBA2DDF-494E-45EC-A7EC-0F9053EE22A8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04E65719-01BC-4490-BABE-9462D9669412}" type="sibTrans" cxnId="{AFBA2DDF-494E-45EC-A7EC-0F9053EE22A8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5C78DB7F-8E9F-4167-933E-4CB53F5A0001}">
      <dgm:prSet custT="1"/>
      <dgm:spPr/>
      <dgm:t>
        <a:bodyPr/>
        <a:lstStyle/>
        <a:p>
          <a:r>
            <a:rPr lang="es-ES" sz="1600" b="1" dirty="0">
              <a:latin typeface="Arial Narrow" panose="020B0606020202030204" pitchFamily="34" charset="0"/>
            </a:rPr>
            <a:t>Para la demanda biológica de oxígeno: un nivel de aspiración de 300 unidades, pues desea que sea lo más pequeña posible. </a:t>
          </a:r>
          <a:endParaRPr lang="es-PE" sz="1600" dirty="0">
            <a:latin typeface="Arial Narrow" panose="020B0606020202030204" pitchFamily="34" charset="0"/>
          </a:endParaRPr>
        </a:p>
      </dgm:t>
    </dgm:pt>
    <dgm:pt modelId="{EFAE2117-D51B-4BF9-A6E8-96C0F9A34FB9}" type="parTrans" cxnId="{86F8D77A-5AB0-491D-8D44-82F43099F102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90EA5BDA-8206-47D9-AF63-C3AE2EC0862C}" type="sibTrans" cxnId="{86F8D77A-5AB0-491D-8D44-82F43099F102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4AB59A0F-F097-450A-85F8-2004C913B71A}">
      <dgm:prSet custT="1"/>
      <dgm:spPr/>
      <dgm:t>
        <a:bodyPr/>
        <a:lstStyle/>
        <a:p>
          <a:r>
            <a:rPr lang="es-ES" sz="1600" b="1">
              <a:latin typeface="Arial Narrow" panose="020B0606020202030204" pitchFamily="34" charset="0"/>
            </a:rPr>
            <a:t>Meta 2: </a:t>
          </a:r>
          <a:endParaRPr lang="es-PE" sz="1600">
            <a:latin typeface="Arial Narrow" panose="020B0606020202030204" pitchFamily="34" charset="0"/>
          </a:endParaRPr>
        </a:p>
      </dgm:t>
    </dgm:pt>
    <dgm:pt modelId="{C3DA9395-3540-4246-9FF2-5B6CB020DD65}" type="parTrans" cxnId="{D4C3DF3A-9A35-4AD6-B171-07040BC7D225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46119655-535D-4B37-91A7-1670023AAEDF}" type="sibTrans" cxnId="{D4C3DF3A-9A35-4AD6-B171-07040BC7D225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CF9C5B38-DAC8-44ED-9A67-B83F4EDDED15}">
      <dgm:prSet custT="1"/>
      <dgm:spPr/>
      <dgm:t>
        <a:bodyPr/>
        <a:lstStyle/>
        <a:p>
          <a:r>
            <a:rPr lang="es-ES" sz="1600" b="1" dirty="0">
              <a:latin typeface="Arial Narrow" panose="020B0606020202030204" pitchFamily="34" charset="0"/>
            </a:rPr>
            <a:t>Para el margen bruto: alcanzar un valor lo más grande posible, ojalá mayor de 400000 </a:t>
          </a:r>
          <a:r>
            <a:rPr lang="es-ES" sz="1600" b="1" dirty="0" err="1">
              <a:latin typeface="Arial Narrow" panose="020B0606020202030204" pitchFamily="34" charset="0"/>
            </a:rPr>
            <a:t>u.m</a:t>
          </a:r>
          <a:r>
            <a:rPr lang="es-ES" sz="1600" b="1" dirty="0">
              <a:latin typeface="Arial Narrow" panose="020B0606020202030204" pitchFamily="34" charset="0"/>
            </a:rPr>
            <a:t>. </a:t>
          </a:r>
          <a:endParaRPr lang="es-PE" sz="1600" dirty="0">
            <a:latin typeface="Arial Narrow" panose="020B0606020202030204" pitchFamily="34" charset="0"/>
          </a:endParaRPr>
        </a:p>
      </dgm:t>
    </dgm:pt>
    <dgm:pt modelId="{52DFC804-6C37-405D-A914-F69F971750ED}" type="parTrans" cxnId="{6146CCC0-E9EB-41F3-8001-FD97818F06BB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CC6D6A2A-31E5-48DD-A955-8B3153F60CA0}" type="sibTrans" cxnId="{6146CCC0-E9EB-41F3-8001-FD97818F06BB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537C5C8A-39A1-4356-B0F7-1C4AFBCA6CB4}">
      <dgm:prSet custT="1"/>
      <dgm:spPr/>
      <dgm:t>
        <a:bodyPr/>
        <a:lstStyle/>
        <a:p>
          <a:r>
            <a:rPr lang="es-ES" sz="1600" b="1">
              <a:latin typeface="Arial Narrow" panose="020B0606020202030204" pitchFamily="34" charset="0"/>
            </a:rPr>
            <a:t>Meta 3: </a:t>
          </a:r>
          <a:endParaRPr lang="es-PE" sz="1600">
            <a:latin typeface="Arial Narrow" panose="020B0606020202030204" pitchFamily="34" charset="0"/>
          </a:endParaRPr>
        </a:p>
      </dgm:t>
    </dgm:pt>
    <dgm:pt modelId="{9A91671E-B98F-4DD2-B9DB-467435B385DF}" type="parTrans" cxnId="{B8AF2D03-ACDF-42DF-91CB-C1ABC4A92B5E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ADC622D5-F842-4095-814D-ECD6C792C0C1}" type="sibTrans" cxnId="{B8AF2D03-ACDF-42DF-91CB-C1ABC4A92B5E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68733D2E-DF48-43E7-81A0-86C97B336A1A}">
      <dgm:prSet custT="1"/>
      <dgm:spPr/>
      <dgm:t>
        <a:bodyPr/>
        <a:lstStyle/>
        <a:p>
          <a:r>
            <a:rPr lang="es-ES" sz="1600" b="1" dirty="0">
              <a:latin typeface="Arial Narrow" panose="020B0606020202030204" pitchFamily="34" charset="0"/>
            </a:rPr>
            <a:t>Para el empleo: no desea ni quedarse corto ni contratar mano de obra adicional. </a:t>
          </a:r>
          <a:endParaRPr lang="es-PE" sz="1600" dirty="0">
            <a:latin typeface="Arial Narrow" panose="020B0606020202030204" pitchFamily="34" charset="0"/>
          </a:endParaRPr>
        </a:p>
      </dgm:t>
    </dgm:pt>
    <dgm:pt modelId="{748F86EF-27E6-41DA-9B96-1A4734AA9AA0}" type="parTrans" cxnId="{F3ADA84A-8653-4F0F-9F22-BF0B97724715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F6292124-1ABC-4C60-AFA0-6384E20E71AC}" type="sibTrans" cxnId="{F3ADA84A-8653-4F0F-9F22-BF0B97724715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64920BF3-B686-41FC-AAE7-CE96C6C6D41B}">
      <dgm:prSet custT="1"/>
      <dgm:spPr/>
      <dgm:t>
        <a:bodyPr/>
        <a:lstStyle/>
        <a:p>
          <a:r>
            <a:rPr lang="es-ES" sz="1600" b="1" dirty="0">
              <a:latin typeface="Arial Narrow" panose="020B0606020202030204" pitchFamily="34" charset="0"/>
            </a:rPr>
            <a:t>Meta 4: </a:t>
          </a:r>
          <a:endParaRPr lang="es-PE" sz="1600" dirty="0">
            <a:latin typeface="Arial Narrow" panose="020B0606020202030204" pitchFamily="34" charset="0"/>
          </a:endParaRPr>
        </a:p>
      </dgm:t>
    </dgm:pt>
    <dgm:pt modelId="{4D262508-481A-45E5-8642-83CAD89B1B54}" type="parTrans" cxnId="{68EA3549-1927-46D5-BCEA-A82EF27D5329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6AAF67E3-AF1D-4B50-9B4C-20AF4E31F9BF}" type="sibTrans" cxnId="{68EA3549-1927-46D5-BCEA-A82EF27D5329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7876DC86-38ED-47C6-9E4E-B97727E91F43}">
      <dgm:prSet custT="1"/>
      <dgm:spPr/>
      <dgm:t>
        <a:bodyPr/>
        <a:lstStyle/>
        <a:p>
          <a:r>
            <a:rPr lang="es-ES" sz="1600" b="1" dirty="0">
              <a:latin typeface="Arial Narrow" panose="020B0606020202030204" pitchFamily="34" charset="0"/>
            </a:rPr>
            <a:t>El decisor no desea superar sus capacidades de producción proceso 1, lo que implicaría recurrir a turnos extras. </a:t>
          </a:r>
          <a:endParaRPr lang="es-PE" sz="1600" dirty="0">
            <a:latin typeface="Arial Narrow" panose="020B0606020202030204" pitchFamily="34" charset="0"/>
          </a:endParaRPr>
        </a:p>
      </dgm:t>
    </dgm:pt>
    <dgm:pt modelId="{2ABBBF32-4E47-4054-A47C-2DB464438B9C}" type="parTrans" cxnId="{3A036C5A-6221-48A2-8FC4-5EA7FF0530B5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2924B6C5-317C-4275-A5FB-F6ACBFCD8A07}" type="sibTrans" cxnId="{3A036C5A-6221-48A2-8FC4-5EA7FF0530B5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B25A0287-78DC-44A5-924F-56BDA5FD887C}">
      <dgm:prSet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0960" tIns="30480" rIns="60960" bIns="3048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prstClr val="white"/>
              </a:solidFill>
              <a:latin typeface="Arial Narrow" panose="020B0606020202030204" pitchFamily="34" charset="0"/>
              <a:ea typeface="+mn-ea"/>
              <a:cs typeface="+mn-cs"/>
            </a:rPr>
            <a:t>Meta 5: </a:t>
          </a:r>
          <a:endParaRPr lang="es-PE" sz="1600" b="1" kern="1200" dirty="0">
            <a:solidFill>
              <a:prstClr val="white"/>
            </a:solidFill>
            <a:latin typeface="Arial Narrow" panose="020B0606020202030204" pitchFamily="34" charset="0"/>
            <a:ea typeface="+mn-ea"/>
            <a:cs typeface="+mn-cs"/>
          </a:endParaRPr>
        </a:p>
      </dgm:t>
    </dgm:pt>
    <dgm:pt modelId="{BB167511-0183-47B9-A207-D6A46D3C3D77}" type="parTrans" cxnId="{9C1ED743-2004-4003-996D-26F1E3C1E6D6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7BE87454-F55D-4A7B-B214-23622B1B9176}" type="sibTrans" cxnId="{9C1ED743-2004-4003-996D-26F1E3C1E6D6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4E69B256-AF26-4E78-840C-C6D62F5F1183}">
      <dgm:prSet custT="1"/>
      <dgm:spPr>
        <a:solidFill>
          <a:srgbClr val="4472C4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4472C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7650" tIns="123825" rIns="247650" bIns="123825" numCol="1" spcCol="1270" anchor="ctr" anchorCtr="0"/>
        <a:lstStyle/>
        <a:p>
          <a:r>
            <a:rPr lang="es-E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 Narrow" panose="020B0606020202030204" pitchFamily="34" charset="0"/>
              <a:ea typeface="+mn-ea"/>
              <a:cs typeface="+mn-cs"/>
            </a:rPr>
            <a:t>El decisor no desea superar sus capacidades de producción proceso 2, lo que implicaría recurrir a turnos extras. </a:t>
          </a:r>
          <a:endParaRPr lang="es-PE" sz="16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 Narrow" panose="020B0606020202030204" pitchFamily="34" charset="0"/>
            <a:ea typeface="+mn-ea"/>
            <a:cs typeface="+mn-cs"/>
          </a:endParaRPr>
        </a:p>
      </dgm:t>
    </dgm:pt>
    <dgm:pt modelId="{91AF749B-003B-4972-B706-F195E8828FF3}" type="parTrans" cxnId="{391F61C9-31B7-45EE-91B2-84A0DA834C7C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1D45F17B-FECB-4576-8AC5-FBCC46239C2A}" type="sibTrans" cxnId="{391F61C9-31B7-45EE-91B2-84A0DA834C7C}">
      <dgm:prSet/>
      <dgm:spPr/>
      <dgm:t>
        <a:bodyPr/>
        <a:lstStyle/>
        <a:p>
          <a:endParaRPr lang="es-PE" sz="1600">
            <a:latin typeface="Arial Narrow" panose="020B0606020202030204" pitchFamily="34" charset="0"/>
          </a:endParaRPr>
        </a:p>
      </dgm:t>
    </dgm:pt>
    <dgm:pt modelId="{1F83268E-88DD-492D-83F4-27E9ADD517F0}" type="pres">
      <dgm:prSet presAssocID="{2321CB9B-663B-4969-8C86-E35C972F1687}" presName="Name0" presStyleCnt="0">
        <dgm:presLayoutVars>
          <dgm:dir/>
          <dgm:animLvl val="lvl"/>
          <dgm:resizeHandles val="exact"/>
        </dgm:presLayoutVars>
      </dgm:prSet>
      <dgm:spPr/>
    </dgm:pt>
    <dgm:pt modelId="{C92B9A91-C0F2-49D6-861B-D79973C00F45}" type="pres">
      <dgm:prSet presAssocID="{8DEAA3CE-64CB-4937-91F5-EA9C43CEEF7A}" presName="linNode" presStyleCnt="0"/>
      <dgm:spPr/>
    </dgm:pt>
    <dgm:pt modelId="{9DF32C51-ECB5-4D95-83B4-84223D3B26F8}" type="pres">
      <dgm:prSet presAssocID="{8DEAA3CE-64CB-4937-91F5-EA9C43CEEF7A}" presName="parentText" presStyleLbl="node1" presStyleIdx="0" presStyleCnt="6" custScaleX="71557" custScaleY="267940" custLinFactNeighborY="44442">
        <dgm:presLayoutVars>
          <dgm:chMax val="1"/>
          <dgm:bulletEnabled val="1"/>
        </dgm:presLayoutVars>
      </dgm:prSet>
      <dgm:spPr/>
    </dgm:pt>
    <dgm:pt modelId="{D88DACF4-290E-4429-ABA1-538100743345}" type="pres">
      <dgm:prSet presAssocID="{8DEAA3CE-64CB-4937-91F5-EA9C43CEEF7A}" presName="descendantText" presStyleLbl="alignAccFollowNode1" presStyleIdx="0" presStyleCnt="4" custScaleX="115478" custScaleY="326333" custLinFactNeighborY="55548">
        <dgm:presLayoutVars>
          <dgm:bulletEnabled val="1"/>
        </dgm:presLayoutVars>
      </dgm:prSet>
      <dgm:spPr/>
    </dgm:pt>
    <dgm:pt modelId="{C0E56C97-704B-465D-B94A-B8674AA7C9D8}" type="pres">
      <dgm:prSet presAssocID="{04E65719-01BC-4490-BABE-9462D9669412}" presName="sp" presStyleCnt="0"/>
      <dgm:spPr/>
    </dgm:pt>
    <dgm:pt modelId="{87C94A08-FD4C-4995-BA4D-22665290EB96}" type="pres">
      <dgm:prSet presAssocID="{4AB59A0F-F097-450A-85F8-2004C913B71A}" presName="linNode" presStyleCnt="0"/>
      <dgm:spPr/>
    </dgm:pt>
    <dgm:pt modelId="{F14BE77B-816D-4248-A7EC-505294A64660}" type="pres">
      <dgm:prSet presAssocID="{4AB59A0F-F097-450A-85F8-2004C913B71A}" presName="parentText" presStyleLbl="node1" presStyleIdx="1" presStyleCnt="6" custScaleX="72022" custScaleY="220602" custLinFactNeighborX="256" custLinFactNeighborY="73458">
        <dgm:presLayoutVars>
          <dgm:chMax val="1"/>
          <dgm:bulletEnabled val="1"/>
        </dgm:presLayoutVars>
      </dgm:prSet>
      <dgm:spPr/>
    </dgm:pt>
    <dgm:pt modelId="{7AE815B1-C101-4469-BFB0-465A5EE74F5B}" type="pres">
      <dgm:prSet presAssocID="{4AB59A0F-F097-450A-85F8-2004C913B71A}" presName="descendantText" presStyleLbl="alignAccFollowNode1" presStyleIdx="1" presStyleCnt="4" custScaleX="115514" custScaleY="267835" custLinFactNeighborX="-62" custLinFactNeighborY="91836">
        <dgm:presLayoutVars>
          <dgm:bulletEnabled val="1"/>
        </dgm:presLayoutVars>
      </dgm:prSet>
      <dgm:spPr/>
    </dgm:pt>
    <dgm:pt modelId="{BD258384-C4EE-4CD9-83C4-7200D1905135}" type="pres">
      <dgm:prSet presAssocID="{46119655-535D-4B37-91A7-1670023AAEDF}" presName="sp" presStyleCnt="0"/>
      <dgm:spPr/>
    </dgm:pt>
    <dgm:pt modelId="{77CDC10E-F641-48A9-BDEE-E2F0D2B28FF5}" type="pres">
      <dgm:prSet presAssocID="{537C5C8A-39A1-4356-B0F7-1C4AFBCA6CB4}" presName="linNode" presStyleCnt="0"/>
      <dgm:spPr/>
    </dgm:pt>
    <dgm:pt modelId="{3A2F6804-E712-4BFC-85F5-647D3AAFB3A4}" type="pres">
      <dgm:prSet presAssocID="{537C5C8A-39A1-4356-B0F7-1C4AFBCA6CB4}" presName="parentText" presStyleLbl="node1" presStyleIdx="2" presStyleCnt="6" custScaleX="73202" custScaleY="204281" custLinFactNeighborY="92912">
        <dgm:presLayoutVars>
          <dgm:chMax val="1"/>
          <dgm:bulletEnabled val="1"/>
        </dgm:presLayoutVars>
      </dgm:prSet>
      <dgm:spPr/>
    </dgm:pt>
    <dgm:pt modelId="{0DBF8F4B-5120-4A22-ADCA-1D8D9863E94C}" type="pres">
      <dgm:prSet presAssocID="{537C5C8A-39A1-4356-B0F7-1C4AFBCA6CB4}" presName="descendantText" presStyleLbl="alignAccFollowNode1" presStyleIdx="2" presStyleCnt="4" custScaleX="114518" custScaleY="242648" custLinFactY="16180" custLinFactNeighborY="100000">
        <dgm:presLayoutVars>
          <dgm:bulletEnabled val="1"/>
        </dgm:presLayoutVars>
      </dgm:prSet>
      <dgm:spPr/>
    </dgm:pt>
    <dgm:pt modelId="{C10EF99A-0E05-4F25-B7F3-C63A84D575BB}" type="pres">
      <dgm:prSet presAssocID="{ADC622D5-F842-4095-814D-ECD6C792C0C1}" presName="sp" presStyleCnt="0"/>
      <dgm:spPr/>
    </dgm:pt>
    <dgm:pt modelId="{86665AEC-8C84-4D4B-866C-F57EFD74F636}" type="pres">
      <dgm:prSet presAssocID="{64920BF3-B686-41FC-AAE7-CE96C6C6D41B}" presName="linNode" presStyleCnt="0"/>
      <dgm:spPr/>
    </dgm:pt>
    <dgm:pt modelId="{8099A1AF-3ADD-416B-AF5B-5289A2C6298E}" type="pres">
      <dgm:prSet presAssocID="{64920BF3-B686-41FC-AAE7-CE96C6C6D41B}" presName="parentText" presStyleLbl="node1" presStyleIdx="3" presStyleCnt="6" custScaleX="74137" custScaleY="261929" custLinFactY="16002" custLinFactNeighborX="-188" custLinFactNeighborY="100000">
        <dgm:presLayoutVars>
          <dgm:chMax val="1"/>
          <dgm:bulletEnabled val="1"/>
        </dgm:presLayoutVars>
      </dgm:prSet>
      <dgm:spPr/>
    </dgm:pt>
    <dgm:pt modelId="{36392E0E-AE2D-446C-8D7F-0126D4EEFC6D}" type="pres">
      <dgm:prSet presAssocID="{64920BF3-B686-41FC-AAE7-CE96C6C6D41B}" presName="descendantText" presStyleLbl="alignAccFollowNode1" presStyleIdx="3" presStyleCnt="4" custScaleX="114552" custScaleY="338347" custLinFactY="36510" custLinFactNeighborX="2023" custLinFactNeighborY="100000">
        <dgm:presLayoutVars>
          <dgm:bulletEnabled val="1"/>
        </dgm:presLayoutVars>
      </dgm:prSet>
      <dgm:spPr/>
    </dgm:pt>
    <dgm:pt modelId="{340522A4-A7E1-4200-AB96-F130E575D737}" type="pres">
      <dgm:prSet presAssocID="{6AAF67E3-AF1D-4B50-9B4C-20AF4E31F9BF}" presName="sp" presStyleCnt="0"/>
      <dgm:spPr/>
    </dgm:pt>
    <dgm:pt modelId="{3D42F0C8-D9F6-492D-92E1-4AA079828679}" type="pres">
      <dgm:prSet presAssocID="{B25A0287-78DC-44A5-924F-56BDA5FD887C}" presName="linNode" presStyleCnt="0"/>
      <dgm:spPr/>
    </dgm:pt>
    <dgm:pt modelId="{E3297F24-25F3-4EA6-A3EC-6BE814C8F138}" type="pres">
      <dgm:prSet presAssocID="{B25A0287-78DC-44A5-924F-56BDA5FD887C}" presName="parentText" presStyleLbl="node1" presStyleIdx="4" presStyleCnt="6" custScaleX="71556" custScaleY="217258" custLinFactY="43755" custLinFactNeighborX="1351" custLinFactNeighborY="100000">
        <dgm:presLayoutVars>
          <dgm:chMax val="1"/>
          <dgm:bulletEnabled val="1"/>
        </dgm:presLayoutVars>
      </dgm:prSet>
      <dgm:spPr>
        <a:xfrm>
          <a:off x="3808" y="3063027"/>
          <a:ext cx="1370905" cy="728994"/>
        </a:xfrm>
        <a:prstGeom prst="roundRect">
          <a:avLst/>
        </a:prstGeom>
      </dgm:spPr>
    </dgm:pt>
    <dgm:pt modelId="{112226B9-55E7-4042-94DB-6BE0C9D29938}" type="pres">
      <dgm:prSet presAssocID="{7BE87454-F55D-4A7B-B214-23622B1B9176}" presName="sp" presStyleCnt="0"/>
      <dgm:spPr/>
    </dgm:pt>
    <dgm:pt modelId="{8946B399-F03F-4962-AA80-742214C23660}" type="pres">
      <dgm:prSet presAssocID="{4E69B256-AF26-4E78-840C-C6D62F5F1183}" presName="linNode" presStyleCnt="0"/>
      <dgm:spPr/>
    </dgm:pt>
    <dgm:pt modelId="{4C5590F5-4F45-4472-AC1B-5374C0966A01}" type="pres">
      <dgm:prSet presAssocID="{4E69B256-AF26-4E78-840C-C6D62F5F1183}" presName="parentText" presStyleLbl="node1" presStyleIdx="5" presStyleCnt="6" custScaleX="206627" custScaleY="215806" custLinFactNeighborX="72773" custLinFactNeighborY="-80773">
        <dgm:presLayoutVars>
          <dgm:chMax val="1"/>
          <dgm:bulletEnabled val="1"/>
        </dgm:presLayoutVars>
      </dgm:prSet>
      <dgm:spPr>
        <a:xfrm>
          <a:off x="1392665" y="2723861"/>
          <a:ext cx="2194644" cy="643498"/>
        </a:xfrm>
        <a:prstGeom prst="roundRect">
          <a:avLst/>
        </a:prstGeom>
      </dgm:spPr>
    </dgm:pt>
  </dgm:ptLst>
  <dgm:cxnLst>
    <dgm:cxn modelId="{A478CD02-8563-499B-8A93-FC29F3229805}" type="presOf" srcId="{2321CB9B-663B-4969-8C86-E35C972F1687}" destId="{1F83268E-88DD-492D-83F4-27E9ADD517F0}" srcOrd="0" destOrd="0" presId="urn:microsoft.com/office/officeart/2005/8/layout/vList5"/>
    <dgm:cxn modelId="{B8AF2D03-ACDF-42DF-91CB-C1ABC4A92B5E}" srcId="{2321CB9B-663B-4969-8C86-E35C972F1687}" destId="{537C5C8A-39A1-4356-B0F7-1C4AFBCA6CB4}" srcOrd="2" destOrd="0" parTransId="{9A91671E-B98F-4DD2-B9DB-467435B385DF}" sibTransId="{ADC622D5-F842-4095-814D-ECD6C792C0C1}"/>
    <dgm:cxn modelId="{5E6A7819-F4E6-43E4-9A0B-4B378F65090B}" type="presOf" srcId="{CF9C5B38-DAC8-44ED-9A67-B83F4EDDED15}" destId="{7AE815B1-C101-4469-BFB0-465A5EE74F5B}" srcOrd="0" destOrd="0" presId="urn:microsoft.com/office/officeart/2005/8/layout/vList5"/>
    <dgm:cxn modelId="{EB55C73A-7ED1-4840-9D61-01898751F275}" type="presOf" srcId="{68733D2E-DF48-43E7-81A0-86C97B336A1A}" destId="{0DBF8F4B-5120-4A22-ADCA-1D8D9863E94C}" srcOrd="0" destOrd="0" presId="urn:microsoft.com/office/officeart/2005/8/layout/vList5"/>
    <dgm:cxn modelId="{D4C3DF3A-9A35-4AD6-B171-07040BC7D225}" srcId="{2321CB9B-663B-4969-8C86-E35C972F1687}" destId="{4AB59A0F-F097-450A-85F8-2004C913B71A}" srcOrd="1" destOrd="0" parTransId="{C3DA9395-3540-4246-9FF2-5B6CB020DD65}" sibTransId="{46119655-535D-4B37-91A7-1670023AAEDF}"/>
    <dgm:cxn modelId="{568FFC3D-AF3D-488F-82CE-81A41C058BCF}" type="presOf" srcId="{B25A0287-78DC-44A5-924F-56BDA5FD887C}" destId="{E3297F24-25F3-4EA6-A3EC-6BE814C8F138}" srcOrd="0" destOrd="0" presId="urn:microsoft.com/office/officeart/2005/8/layout/vList5"/>
    <dgm:cxn modelId="{9C1ED743-2004-4003-996D-26F1E3C1E6D6}" srcId="{2321CB9B-663B-4969-8C86-E35C972F1687}" destId="{B25A0287-78DC-44A5-924F-56BDA5FD887C}" srcOrd="4" destOrd="0" parTransId="{BB167511-0183-47B9-A207-D6A46D3C3D77}" sibTransId="{7BE87454-F55D-4A7B-B214-23622B1B9176}"/>
    <dgm:cxn modelId="{68EA3549-1927-46D5-BCEA-A82EF27D5329}" srcId="{2321CB9B-663B-4969-8C86-E35C972F1687}" destId="{64920BF3-B686-41FC-AAE7-CE96C6C6D41B}" srcOrd="3" destOrd="0" parTransId="{4D262508-481A-45E5-8642-83CAD89B1B54}" sibTransId="{6AAF67E3-AF1D-4B50-9B4C-20AF4E31F9BF}"/>
    <dgm:cxn modelId="{F3ADA84A-8653-4F0F-9F22-BF0B97724715}" srcId="{537C5C8A-39A1-4356-B0F7-1C4AFBCA6CB4}" destId="{68733D2E-DF48-43E7-81A0-86C97B336A1A}" srcOrd="0" destOrd="0" parTransId="{748F86EF-27E6-41DA-9B96-1A4734AA9AA0}" sibTransId="{F6292124-1ABC-4C60-AFA0-6384E20E71AC}"/>
    <dgm:cxn modelId="{8D56B951-0D51-4443-9B15-12E1FE6DED6A}" type="presOf" srcId="{4AB59A0F-F097-450A-85F8-2004C913B71A}" destId="{F14BE77B-816D-4248-A7EC-505294A64660}" srcOrd="0" destOrd="0" presId="urn:microsoft.com/office/officeart/2005/8/layout/vList5"/>
    <dgm:cxn modelId="{3A036C5A-6221-48A2-8FC4-5EA7FF0530B5}" srcId="{64920BF3-B686-41FC-AAE7-CE96C6C6D41B}" destId="{7876DC86-38ED-47C6-9E4E-B97727E91F43}" srcOrd="0" destOrd="0" parTransId="{2ABBBF32-4E47-4054-A47C-2DB464438B9C}" sibTransId="{2924B6C5-317C-4275-A5FB-F6ACBFCD8A07}"/>
    <dgm:cxn modelId="{86F8D77A-5AB0-491D-8D44-82F43099F102}" srcId="{8DEAA3CE-64CB-4937-91F5-EA9C43CEEF7A}" destId="{5C78DB7F-8E9F-4167-933E-4CB53F5A0001}" srcOrd="0" destOrd="0" parTransId="{EFAE2117-D51B-4BF9-A6E8-96C0F9A34FB9}" sibTransId="{90EA5BDA-8206-47D9-AF63-C3AE2EC0862C}"/>
    <dgm:cxn modelId="{F1498F8C-561B-4A08-BA00-5B5E089FC98F}" type="presOf" srcId="{5C78DB7F-8E9F-4167-933E-4CB53F5A0001}" destId="{D88DACF4-290E-4429-ABA1-538100743345}" srcOrd="0" destOrd="0" presId="urn:microsoft.com/office/officeart/2005/8/layout/vList5"/>
    <dgm:cxn modelId="{7EFD21AC-24C6-440C-9485-4CD0A98CA10C}" type="presOf" srcId="{4E69B256-AF26-4E78-840C-C6D62F5F1183}" destId="{4C5590F5-4F45-4472-AC1B-5374C0966A01}" srcOrd="0" destOrd="0" presId="urn:microsoft.com/office/officeart/2005/8/layout/vList5"/>
    <dgm:cxn modelId="{62BF2EBB-D3B5-422D-99A5-0F6B2EEBA6BC}" type="presOf" srcId="{537C5C8A-39A1-4356-B0F7-1C4AFBCA6CB4}" destId="{3A2F6804-E712-4BFC-85F5-647D3AAFB3A4}" srcOrd="0" destOrd="0" presId="urn:microsoft.com/office/officeart/2005/8/layout/vList5"/>
    <dgm:cxn modelId="{F2435CBF-53FC-4109-B71D-C3390A5271AC}" type="presOf" srcId="{64920BF3-B686-41FC-AAE7-CE96C6C6D41B}" destId="{8099A1AF-3ADD-416B-AF5B-5289A2C6298E}" srcOrd="0" destOrd="0" presId="urn:microsoft.com/office/officeart/2005/8/layout/vList5"/>
    <dgm:cxn modelId="{6146CCC0-E9EB-41F3-8001-FD97818F06BB}" srcId="{4AB59A0F-F097-450A-85F8-2004C913B71A}" destId="{CF9C5B38-DAC8-44ED-9A67-B83F4EDDED15}" srcOrd="0" destOrd="0" parTransId="{52DFC804-6C37-405D-A914-F69F971750ED}" sibTransId="{CC6D6A2A-31E5-48DD-A955-8B3153F60CA0}"/>
    <dgm:cxn modelId="{391F61C9-31B7-45EE-91B2-84A0DA834C7C}" srcId="{2321CB9B-663B-4969-8C86-E35C972F1687}" destId="{4E69B256-AF26-4E78-840C-C6D62F5F1183}" srcOrd="5" destOrd="0" parTransId="{91AF749B-003B-4972-B706-F195E8828FF3}" sibTransId="{1D45F17B-FECB-4576-8AC5-FBCC46239C2A}"/>
    <dgm:cxn modelId="{BB9330D8-F9CB-4B4A-A583-E6538D16C4B1}" type="presOf" srcId="{8DEAA3CE-64CB-4937-91F5-EA9C43CEEF7A}" destId="{9DF32C51-ECB5-4D95-83B4-84223D3B26F8}" srcOrd="0" destOrd="0" presId="urn:microsoft.com/office/officeart/2005/8/layout/vList5"/>
    <dgm:cxn modelId="{66E9A5DE-B6D8-4EC4-9762-718E456F3A7A}" type="presOf" srcId="{7876DC86-38ED-47C6-9E4E-B97727E91F43}" destId="{36392E0E-AE2D-446C-8D7F-0126D4EEFC6D}" srcOrd="0" destOrd="0" presId="urn:microsoft.com/office/officeart/2005/8/layout/vList5"/>
    <dgm:cxn modelId="{AFBA2DDF-494E-45EC-A7EC-0F9053EE22A8}" srcId="{2321CB9B-663B-4969-8C86-E35C972F1687}" destId="{8DEAA3CE-64CB-4937-91F5-EA9C43CEEF7A}" srcOrd="0" destOrd="0" parTransId="{86387914-F8B2-4D31-952D-7CC3F0EDB7AC}" sibTransId="{04E65719-01BC-4490-BABE-9462D9669412}"/>
    <dgm:cxn modelId="{2E892720-9C60-44F9-ACE4-875F85BC9C0A}" type="presParOf" srcId="{1F83268E-88DD-492D-83F4-27E9ADD517F0}" destId="{C92B9A91-C0F2-49D6-861B-D79973C00F45}" srcOrd="0" destOrd="0" presId="urn:microsoft.com/office/officeart/2005/8/layout/vList5"/>
    <dgm:cxn modelId="{028A6BE1-B678-450F-928C-20097370FB76}" type="presParOf" srcId="{C92B9A91-C0F2-49D6-861B-D79973C00F45}" destId="{9DF32C51-ECB5-4D95-83B4-84223D3B26F8}" srcOrd="0" destOrd="0" presId="urn:microsoft.com/office/officeart/2005/8/layout/vList5"/>
    <dgm:cxn modelId="{20698BE2-6ECC-47AB-834B-4E4FF4B8BDC9}" type="presParOf" srcId="{C92B9A91-C0F2-49D6-861B-D79973C00F45}" destId="{D88DACF4-290E-4429-ABA1-538100743345}" srcOrd="1" destOrd="0" presId="urn:microsoft.com/office/officeart/2005/8/layout/vList5"/>
    <dgm:cxn modelId="{EBE3AEAD-BE9F-4594-A6B3-1EB41866EC4F}" type="presParOf" srcId="{1F83268E-88DD-492D-83F4-27E9ADD517F0}" destId="{C0E56C97-704B-465D-B94A-B8674AA7C9D8}" srcOrd="1" destOrd="0" presId="urn:microsoft.com/office/officeart/2005/8/layout/vList5"/>
    <dgm:cxn modelId="{1B18C0F8-5550-4F30-960C-2A0AF66A034D}" type="presParOf" srcId="{1F83268E-88DD-492D-83F4-27E9ADD517F0}" destId="{87C94A08-FD4C-4995-BA4D-22665290EB96}" srcOrd="2" destOrd="0" presId="urn:microsoft.com/office/officeart/2005/8/layout/vList5"/>
    <dgm:cxn modelId="{06FCB814-50AB-4809-8909-550BB8E18847}" type="presParOf" srcId="{87C94A08-FD4C-4995-BA4D-22665290EB96}" destId="{F14BE77B-816D-4248-A7EC-505294A64660}" srcOrd="0" destOrd="0" presId="urn:microsoft.com/office/officeart/2005/8/layout/vList5"/>
    <dgm:cxn modelId="{4F047F1E-AC8A-41A1-BDCB-FFAD583422B9}" type="presParOf" srcId="{87C94A08-FD4C-4995-BA4D-22665290EB96}" destId="{7AE815B1-C101-4469-BFB0-465A5EE74F5B}" srcOrd="1" destOrd="0" presId="urn:microsoft.com/office/officeart/2005/8/layout/vList5"/>
    <dgm:cxn modelId="{DAD653E9-1AA3-4EAC-AFDF-4E27AD43FA97}" type="presParOf" srcId="{1F83268E-88DD-492D-83F4-27E9ADD517F0}" destId="{BD258384-C4EE-4CD9-83C4-7200D1905135}" srcOrd="3" destOrd="0" presId="urn:microsoft.com/office/officeart/2005/8/layout/vList5"/>
    <dgm:cxn modelId="{7F1E6693-AAEC-473E-822B-63A2DD199770}" type="presParOf" srcId="{1F83268E-88DD-492D-83F4-27E9ADD517F0}" destId="{77CDC10E-F641-48A9-BDEE-E2F0D2B28FF5}" srcOrd="4" destOrd="0" presId="urn:microsoft.com/office/officeart/2005/8/layout/vList5"/>
    <dgm:cxn modelId="{F689FC3B-B8BB-4C96-B438-D2E50FC6FC7C}" type="presParOf" srcId="{77CDC10E-F641-48A9-BDEE-E2F0D2B28FF5}" destId="{3A2F6804-E712-4BFC-85F5-647D3AAFB3A4}" srcOrd="0" destOrd="0" presId="urn:microsoft.com/office/officeart/2005/8/layout/vList5"/>
    <dgm:cxn modelId="{7C7DF39F-A810-473B-8BD8-3DDDAF16B0C3}" type="presParOf" srcId="{77CDC10E-F641-48A9-BDEE-E2F0D2B28FF5}" destId="{0DBF8F4B-5120-4A22-ADCA-1D8D9863E94C}" srcOrd="1" destOrd="0" presId="urn:microsoft.com/office/officeart/2005/8/layout/vList5"/>
    <dgm:cxn modelId="{A2566ED8-70A0-4DC2-932C-763350ACB3DA}" type="presParOf" srcId="{1F83268E-88DD-492D-83F4-27E9ADD517F0}" destId="{C10EF99A-0E05-4F25-B7F3-C63A84D575BB}" srcOrd="5" destOrd="0" presId="urn:microsoft.com/office/officeart/2005/8/layout/vList5"/>
    <dgm:cxn modelId="{7515C9ED-A093-47B2-ABFB-1AB50D42D25E}" type="presParOf" srcId="{1F83268E-88DD-492D-83F4-27E9ADD517F0}" destId="{86665AEC-8C84-4D4B-866C-F57EFD74F636}" srcOrd="6" destOrd="0" presId="urn:microsoft.com/office/officeart/2005/8/layout/vList5"/>
    <dgm:cxn modelId="{BA208B7B-C081-45EB-826A-DEC2C4A5C4D6}" type="presParOf" srcId="{86665AEC-8C84-4D4B-866C-F57EFD74F636}" destId="{8099A1AF-3ADD-416B-AF5B-5289A2C6298E}" srcOrd="0" destOrd="0" presId="urn:microsoft.com/office/officeart/2005/8/layout/vList5"/>
    <dgm:cxn modelId="{6D32AB52-EBEF-486A-A7AF-9C6E7E8D9BF3}" type="presParOf" srcId="{86665AEC-8C84-4D4B-866C-F57EFD74F636}" destId="{36392E0E-AE2D-446C-8D7F-0126D4EEFC6D}" srcOrd="1" destOrd="0" presId="urn:microsoft.com/office/officeart/2005/8/layout/vList5"/>
    <dgm:cxn modelId="{5437FDD9-87F7-4E34-ABC3-669B4E00FC72}" type="presParOf" srcId="{1F83268E-88DD-492D-83F4-27E9ADD517F0}" destId="{340522A4-A7E1-4200-AB96-F130E575D737}" srcOrd="7" destOrd="0" presId="urn:microsoft.com/office/officeart/2005/8/layout/vList5"/>
    <dgm:cxn modelId="{14BA0DD1-5BFD-4934-82B8-6B1A1E47A373}" type="presParOf" srcId="{1F83268E-88DD-492D-83F4-27E9ADD517F0}" destId="{3D42F0C8-D9F6-492D-92E1-4AA079828679}" srcOrd="8" destOrd="0" presId="urn:microsoft.com/office/officeart/2005/8/layout/vList5"/>
    <dgm:cxn modelId="{00ED6053-6F2D-41DF-B5BE-3895243927F7}" type="presParOf" srcId="{3D42F0C8-D9F6-492D-92E1-4AA079828679}" destId="{E3297F24-25F3-4EA6-A3EC-6BE814C8F138}" srcOrd="0" destOrd="0" presId="urn:microsoft.com/office/officeart/2005/8/layout/vList5"/>
    <dgm:cxn modelId="{96615EEB-A8E9-4769-A50B-A362012ED257}" type="presParOf" srcId="{1F83268E-88DD-492D-83F4-27E9ADD517F0}" destId="{112226B9-55E7-4042-94DB-6BE0C9D29938}" srcOrd="9" destOrd="0" presId="urn:microsoft.com/office/officeart/2005/8/layout/vList5"/>
    <dgm:cxn modelId="{FE372209-79F4-464C-8335-5CF25D700355}" type="presParOf" srcId="{1F83268E-88DD-492D-83F4-27E9ADD517F0}" destId="{8946B399-F03F-4962-AA80-742214C23660}" srcOrd="10" destOrd="0" presId="urn:microsoft.com/office/officeart/2005/8/layout/vList5"/>
    <dgm:cxn modelId="{5ED09594-D521-48A1-93EF-4E951C8E2D8A}" type="presParOf" srcId="{8946B399-F03F-4962-AA80-742214C23660}" destId="{4C5590F5-4F45-4472-AC1B-5374C0966A0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80D667-F63C-425C-A4DB-6A3D176A93E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6063CB4B-0B24-4002-838C-50F5A323E403}">
      <dgm:prSet custT="1"/>
      <dgm:spPr/>
      <dgm:t>
        <a:bodyPr/>
        <a:lstStyle/>
        <a:p>
          <a:r>
            <a:rPr lang="es-ES" sz="2800" b="1" dirty="0"/>
            <a:t>Meta 1: </a:t>
          </a:r>
          <a:endParaRPr lang="es-PE" sz="2800" b="1" dirty="0"/>
        </a:p>
      </dgm:t>
    </dgm:pt>
    <dgm:pt modelId="{4853A2EE-B406-410C-8EBA-97B682656244}" type="parTrans" cxnId="{36BCD011-14E4-4645-AF42-488B7499261F}">
      <dgm:prSet/>
      <dgm:spPr/>
      <dgm:t>
        <a:bodyPr/>
        <a:lstStyle/>
        <a:p>
          <a:endParaRPr lang="es-PE" sz="1600" b="1"/>
        </a:p>
      </dgm:t>
    </dgm:pt>
    <dgm:pt modelId="{C4B29D12-9A5D-44C9-A8CF-1136F57EF434}" type="sibTrans" cxnId="{36BCD011-14E4-4645-AF42-488B7499261F}">
      <dgm:prSet/>
      <dgm:spPr/>
      <dgm:t>
        <a:bodyPr/>
        <a:lstStyle/>
        <a:p>
          <a:endParaRPr lang="es-PE" sz="1600" b="1"/>
        </a:p>
      </dgm:t>
    </dgm:pt>
    <dgm:pt modelId="{FEB7D8F3-A7BE-46AC-9F76-A4806F589B15}">
      <dgm:prSet custT="1"/>
      <dgm:spPr/>
      <dgm:t>
        <a:bodyPr/>
        <a:lstStyle/>
        <a:p>
          <a:r>
            <a:rPr lang="es-ES" sz="1600" b="1" dirty="0"/>
            <a:t>No utilizar más de 120 horas de trabajo en la fabricación de los productos A y B.</a:t>
          </a:r>
          <a:endParaRPr lang="es-PE" sz="1600" b="1" dirty="0"/>
        </a:p>
      </dgm:t>
    </dgm:pt>
    <dgm:pt modelId="{0BEB1B82-7BDD-4F96-B539-C4E2342D3BED}" type="parTrans" cxnId="{AEFABF75-C145-4511-A40D-5F95AFA3BC21}">
      <dgm:prSet/>
      <dgm:spPr/>
      <dgm:t>
        <a:bodyPr/>
        <a:lstStyle/>
        <a:p>
          <a:endParaRPr lang="es-PE" sz="1600" b="1"/>
        </a:p>
      </dgm:t>
    </dgm:pt>
    <dgm:pt modelId="{1F74A6F0-2BC8-4CD3-9336-7BBD34E14B28}" type="sibTrans" cxnId="{AEFABF75-C145-4511-A40D-5F95AFA3BC21}">
      <dgm:prSet/>
      <dgm:spPr/>
      <dgm:t>
        <a:bodyPr/>
        <a:lstStyle/>
        <a:p>
          <a:endParaRPr lang="es-PE" sz="1600" b="1"/>
        </a:p>
      </dgm:t>
    </dgm:pt>
    <dgm:pt modelId="{DFBFFB73-0E34-428E-9DF8-86EE61BD130F}">
      <dgm:prSet custT="1"/>
      <dgm:spPr/>
      <dgm:t>
        <a:bodyPr/>
        <a:lstStyle/>
        <a:p>
          <a:r>
            <a:rPr lang="es-ES" sz="2800" b="1" dirty="0"/>
            <a:t>Meta 2: </a:t>
          </a:r>
          <a:endParaRPr lang="es-PE" sz="2800" b="1" dirty="0"/>
        </a:p>
      </dgm:t>
    </dgm:pt>
    <dgm:pt modelId="{95432BEF-8929-4C82-A598-97CAC83E4025}" type="parTrans" cxnId="{18AC9003-9F95-457D-8AFE-D99B051DA1B3}">
      <dgm:prSet/>
      <dgm:spPr/>
      <dgm:t>
        <a:bodyPr/>
        <a:lstStyle/>
        <a:p>
          <a:endParaRPr lang="es-PE" sz="1600" b="1"/>
        </a:p>
      </dgm:t>
    </dgm:pt>
    <dgm:pt modelId="{8D3A54E2-6A3A-4E51-A0B3-11A63C96F720}" type="sibTrans" cxnId="{18AC9003-9F95-457D-8AFE-D99B051DA1B3}">
      <dgm:prSet/>
      <dgm:spPr/>
      <dgm:t>
        <a:bodyPr/>
        <a:lstStyle/>
        <a:p>
          <a:endParaRPr lang="es-PE" sz="1600" b="1"/>
        </a:p>
      </dgm:t>
    </dgm:pt>
    <dgm:pt modelId="{B7E9A1AA-31A5-412D-8F1B-7AD7770BC579}">
      <dgm:prSet custT="1"/>
      <dgm:spPr/>
      <dgm:t>
        <a:bodyPr/>
        <a:lstStyle/>
        <a:p>
          <a:r>
            <a:rPr lang="es-ES" sz="1600" b="1"/>
            <a:t>La empresa quiere obtener un beneficio de al menos 7000 euros.</a:t>
          </a:r>
          <a:endParaRPr lang="es-PE" sz="1600" b="1"/>
        </a:p>
      </dgm:t>
    </dgm:pt>
    <dgm:pt modelId="{5E3B34A9-DEA8-48EA-81E7-3CED833BE205}" type="parTrans" cxnId="{28A0B82E-EC91-4C80-A219-BA0F471C2AA2}">
      <dgm:prSet/>
      <dgm:spPr/>
      <dgm:t>
        <a:bodyPr/>
        <a:lstStyle/>
        <a:p>
          <a:endParaRPr lang="es-PE" sz="1600" b="1"/>
        </a:p>
      </dgm:t>
    </dgm:pt>
    <dgm:pt modelId="{A6D3AD97-1569-4BB9-9043-AA31DB43633A}" type="sibTrans" cxnId="{28A0B82E-EC91-4C80-A219-BA0F471C2AA2}">
      <dgm:prSet/>
      <dgm:spPr/>
      <dgm:t>
        <a:bodyPr/>
        <a:lstStyle/>
        <a:p>
          <a:endParaRPr lang="es-PE" sz="1600" b="1"/>
        </a:p>
      </dgm:t>
    </dgm:pt>
    <dgm:pt modelId="{3CC5F4E4-5A1B-4E88-BEC3-D9E762DE6427}">
      <dgm:prSet custT="1"/>
      <dgm:spPr/>
      <dgm:t>
        <a:bodyPr/>
        <a:lstStyle/>
        <a:p>
          <a:r>
            <a:rPr lang="es-ES" sz="2800" b="1" dirty="0"/>
            <a:t>Meta 3: </a:t>
          </a:r>
          <a:endParaRPr lang="es-PE" sz="2800" b="1" dirty="0"/>
        </a:p>
      </dgm:t>
    </dgm:pt>
    <dgm:pt modelId="{31F29580-D9D5-4DB3-B825-CEAF956DD7D3}" type="parTrans" cxnId="{36AD8E52-7578-4A65-A2AC-232A332ED53E}">
      <dgm:prSet/>
      <dgm:spPr/>
      <dgm:t>
        <a:bodyPr/>
        <a:lstStyle/>
        <a:p>
          <a:endParaRPr lang="es-PE" sz="1600" b="1"/>
        </a:p>
      </dgm:t>
    </dgm:pt>
    <dgm:pt modelId="{CFCC313A-DAF5-402C-A55C-900907744BA6}" type="sibTrans" cxnId="{36AD8E52-7578-4A65-A2AC-232A332ED53E}">
      <dgm:prSet/>
      <dgm:spPr/>
      <dgm:t>
        <a:bodyPr/>
        <a:lstStyle/>
        <a:p>
          <a:endParaRPr lang="es-PE" sz="1600" b="1"/>
        </a:p>
      </dgm:t>
    </dgm:pt>
    <dgm:pt modelId="{A00840C1-C1A6-4DCB-B798-42624310D555}">
      <dgm:prSet custT="1"/>
      <dgm:spPr/>
      <dgm:t>
        <a:bodyPr/>
        <a:lstStyle/>
        <a:p>
          <a:r>
            <a:rPr lang="es-ES" sz="1600" b="1"/>
            <a:t>Fabricar al  menos  40 productos del tipo A. </a:t>
          </a:r>
          <a:endParaRPr lang="es-PE" sz="1600" b="1"/>
        </a:p>
      </dgm:t>
    </dgm:pt>
    <dgm:pt modelId="{9DA24115-6657-41B6-ADCA-5BD22FB18D62}" type="parTrans" cxnId="{2483704A-2B80-4F13-8C37-7C4D104EC413}">
      <dgm:prSet/>
      <dgm:spPr/>
      <dgm:t>
        <a:bodyPr/>
        <a:lstStyle/>
        <a:p>
          <a:endParaRPr lang="es-PE" sz="1600" b="1"/>
        </a:p>
      </dgm:t>
    </dgm:pt>
    <dgm:pt modelId="{93BF2E21-55B8-4B66-A90F-A89632BEA459}" type="sibTrans" cxnId="{2483704A-2B80-4F13-8C37-7C4D104EC413}">
      <dgm:prSet/>
      <dgm:spPr/>
      <dgm:t>
        <a:bodyPr/>
        <a:lstStyle/>
        <a:p>
          <a:endParaRPr lang="es-PE" sz="1600" b="1"/>
        </a:p>
      </dgm:t>
    </dgm:pt>
    <dgm:pt modelId="{840C8785-BD07-4426-9568-961FE27C5DBE}">
      <dgm:prSet custT="1"/>
      <dgm:spPr/>
      <dgm:t>
        <a:bodyPr/>
        <a:lstStyle/>
        <a:p>
          <a:r>
            <a:rPr lang="es-ES" sz="2800" b="1" dirty="0"/>
            <a:t>Meta 4: </a:t>
          </a:r>
          <a:endParaRPr lang="es-PE" sz="2800" b="1" dirty="0"/>
        </a:p>
      </dgm:t>
    </dgm:pt>
    <dgm:pt modelId="{84387FC0-EC31-424E-9BEE-DC439927846C}" type="parTrans" cxnId="{FAE5BE07-FF22-4693-9B4D-6E797EB18773}">
      <dgm:prSet/>
      <dgm:spPr/>
      <dgm:t>
        <a:bodyPr/>
        <a:lstStyle/>
        <a:p>
          <a:endParaRPr lang="es-PE" sz="1600" b="1"/>
        </a:p>
      </dgm:t>
    </dgm:pt>
    <dgm:pt modelId="{8ACDCB73-D98B-46BC-999C-5A61A3BED79A}" type="sibTrans" cxnId="{FAE5BE07-FF22-4693-9B4D-6E797EB18773}">
      <dgm:prSet/>
      <dgm:spPr/>
      <dgm:t>
        <a:bodyPr/>
        <a:lstStyle/>
        <a:p>
          <a:endParaRPr lang="es-PE" sz="1600" b="1"/>
        </a:p>
      </dgm:t>
    </dgm:pt>
    <dgm:pt modelId="{3B084F28-87F6-49C3-B3B5-6D2B1FB26D32}">
      <dgm:prSet custT="1"/>
      <dgm:spPr/>
      <dgm:t>
        <a:bodyPr/>
        <a:lstStyle/>
        <a:p>
          <a:r>
            <a:rPr lang="es-ES" sz="1600" b="1" dirty="0"/>
            <a:t>Fabricar al  menos  40 productos del tipo B. </a:t>
          </a:r>
          <a:endParaRPr lang="es-PE" sz="1600" b="1" dirty="0"/>
        </a:p>
      </dgm:t>
    </dgm:pt>
    <dgm:pt modelId="{90878034-6E5C-4B80-9066-8AEE141C0C47}" type="parTrans" cxnId="{A52B3ABF-D64E-47BC-9A07-C55EFFB9BEDA}">
      <dgm:prSet/>
      <dgm:spPr/>
      <dgm:t>
        <a:bodyPr/>
        <a:lstStyle/>
        <a:p>
          <a:endParaRPr lang="es-PE" sz="1600" b="1"/>
        </a:p>
      </dgm:t>
    </dgm:pt>
    <dgm:pt modelId="{B63DA930-BB55-4D2B-9B7A-E93F357639C3}" type="sibTrans" cxnId="{A52B3ABF-D64E-47BC-9A07-C55EFFB9BEDA}">
      <dgm:prSet/>
      <dgm:spPr/>
      <dgm:t>
        <a:bodyPr/>
        <a:lstStyle/>
        <a:p>
          <a:endParaRPr lang="es-PE" sz="1600" b="1"/>
        </a:p>
      </dgm:t>
    </dgm:pt>
    <dgm:pt modelId="{9D9FA8B0-18AF-46E5-A43C-DABDEA88ED8E}" type="pres">
      <dgm:prSet presAssocID="{3280D667-F63C-425C-A4DB-6A3D176A93E4}" presName="Name0" presStyleCnt="0">
        <dgm:presLayoutVars>
          <dgm:dir/>
          <dgm:animLvl val="lvl"/>
          <dgm:resizeHandles val="exact"/>
        </dgm:presLayoutVars>
      </dgm:prSet>
      <dgm:spPr/>
    </dgm:pt>
    <dgm:pt modelId="{59CCAF5C-FF9E-4052-8C0C-F6B9B69E6370}" type="pres">
      <dgm:prSet presAssocID="{6063CB4B-0B24-4002-838C-50F5A323E403}" presName="linNode" presStyleCnt="0"/>
      <dgm:spPr/>
    </dgm:pt>
    <dgm:pt modelId="{A9D2D8A4-AEAB-4327-A7FA-F80140D512CF}" type="pres">
      <dgm:prSet presAssocID="{6063CB4B-0B24-4002-838C-50F5A323E403}" presName="parentText" presStyleLbl="node1" presStyleIdx="0" presStyleCnt="4" custScaleY="115878">
        <dgm:presLayoutVars>
          <dgm:chMax val="1"/>
          <dgm:bulletEnabled val="1"/>
        </dgm:presLayoutVars>
      </dgm:prSet>
      <dgm:spPr/>
    </dgm:pt>
    <dgm:pt modelId="{48F77A6D-8A07-440A-9CA3-8684F78364DC}" type="pres">
      <dgm:prSet presAssocID="{6063CB4B-0B24-4002-838C-50F5A323E403}" presName="descendantText" presStyleLbl="alignAccFollowNode1" presStyleIdx="0" presStyleCnt="4" custScaleY="152022">
        <dgm:presLayoutVars>
          <dgm:bulletEnabled val="1"/>
        </dgm:presLayoutVars>
      </dgm:prSet>
      <dgm:spPr/>
    </dgm:pt>
    <dgm:pt modelId="{6B32AF89-1AFF-4CC7-81F5-835CFAFACE6B}" type="pres">
      <dgm:prSet presAssocID="{C4B29D12-9A5D-44C9-A8CF-1136F57EF434}" presName="sp" presStyleCnt="0"/>
      <dgm:spPr/>
    </dgm:pt>
    <dgm:pt modelId="{4B6A50F0-1AB5-411F-89ED-69789186AE17}" type="pres">
      <dgm:prSet presAssocID="{DFBFFB73-0E34-428E-9DF8-86EE61BD130F}" presName="linNode" presStyleCnt="0"/>
      <dgm:spPr/>
    </dgm:pt>
    <dgm:pt modelId="{DEDFB885-6471-4D7E-8571-2216A354097A}" type="pres">
      <dgm:prSet presAssocID="{DFBFFB73-0E34-428E-9DF8-86EE61BD130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3B42331-2D4D-4A68-AF25-150384083F26}" type="pres">
      <dgm:prSet presAssocID="{DFBFFB73-0E34-428E-9DF8-86EE61BD130F}" presName="descendantText" presStyleLbl="alignAccFollowNode1" presStyleIdx="1" presStyleCnt="4">
        <dgm:presLayoutVars>
          <dgm:bulletEnabled val="1"/>
        </dgm:presLayoutVars>
      </dgm:prSet>
      <dgm:spPr/>
    </dgm:pt>
    <dgm:pt modelId="{0A053FF2-1F8E-4E41-82FA-5D758EF07778}" type="pres">
      <dgm:prSet presAssocID="{8D3A54E2-6A3A-4E51-A0B3-11A63C96F720}" presName="sp" presStyleCnt="0"/>
      <dgm:spPr/>
    </dgm:pt>
    <dgm:pt modelId="{81DCD006-ED38-4E83-9FEA-DA1D37AC124E}" type="pres">
      <dgm:prSet presAssocID="{3CC5F4E4-5A1B-4E88-BEC3-D9E762DE6427}" presName="linNode" presStyleCnt="0"/>
      <dgm:spPr/>
    </dgm:pt>
    <dgm:pt modelId="{BEE811AB-CA95-403B-A053-BF8CA7464499}" type="pres">
      <dgm:prSet presAssocID="{3CC5F4E4-5A1B-4E88-BEC3-D9E762DE642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22D2321-3D0E-4E5E-8882-00BEF198E833}" type="pres">
      <dgm:prSet presAssocID="{3CC5F4E4-5A1B-4E88-BEC3-D9E762DE6427}" presName="descendantText" presStyleLbl="alignAccFollowNode1" presStyleIdx="2" presStyleCnt="4">
        <dgm:presLayoutVars>
          <dgm:bulletEnabled val="1"/>
        </dgm:presLayoutVars>
      </dgm:prSet>
      <dgm:spPr/>
    </dgm:pt>
    <dgm:pt modelId="{89A48E2B-1EC2-4C27-A2B1-3B1BF343E69F}" type="pres">
      <dgm:prSet presAssocID="{CFCC313A-DAF5-402C-A55C-900907744BA6}" presName="sp" presStyleCnt="0"/>
      <dgm:spPr/>
    </dgm:pt>
    <dgm:pt modelId="{6FED6997-55AF-410D-85E5-92134AA0F12C}" type="pres">
      <dgm:prSet presAssocID="{840C8785-BD07-4426-9568-961FE27C5DBE}" presName="linNode" presStyleCnt="0"/>
      <dgm:spPr/>
    </dgm:pt>
    <dgm:pt modelId="{E2E98846-DD09-48C5-941F-1341904ECEBC}" type="pres">
      <dgm:prSet presAssocID="{840C8785-BD07-4426-9568-961FE27C5DB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7F1D89C4-DC65-4048-A2F2-A6D438D4C78C}" type="pres">
      <dgm:prSet presAssocID="{840C8785-BD07-4426-9568-961FE27C5DB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8AC9003-9F95-457D-8AFE-D99B051DA1B3}" srcId="{3280D667-F63C-425C-A4DB-6A3D176A93E4}" destId="{DFBFFB73-0E34-428E-9DF8-86EE61BD130F}" srcOrd="1" destOrd="0" parTransId="{95432BEF-8929-4C82-A598-97CAC83E4025}" sibTransId="{8D3A54E2-6A3A-4E51-A0B3-11A63C96F720}"/>
    <dgm:cxn modelId="{FAE5BE07-FF22-4693-9B4D-6E797EB18773}" srcId="{3280D667-F63C-425C-A4DB-6A3D176A93E4}" destId="{840C8785-BD07-4426-9568-961FE27C5DBE}" srcOrd="3" destOrd="0" parTransId="{84387FC0-EC31-424E-9BEE-DC439927846C}" sibTransId="{8ACDCB73-D98B-46BC-999C-5A61A3BED79A}"/>
    <dgm:cxn modelId="{4CB7E60F-A57C-4353-B93E-180885287785}" type="presOf" srcId="{B7E9A1AA-31A5-412D-8F1B-7AD7770BC579}" destId="{23B42331-2D4D-4A68-AF25-150384083F26}" srcOrd="0" destOrd="0" presId="urn:microsoft.com/office/officeart/2005/8/layout/vList5"/>
    <dgm:cxn modelId="{36BCD011-14E4-4645-AF42-488B7499261F}" srcId="{3280D667-F63C-425C-A4DB-6A3D176A93E4}" destId="{6063CB4B-0B24-4002-838C-50F5A323E403}" srcOrd="0" destOrd="0" parTransId="{4853A2EE-B406-410C-8EBA-97B682656244}" sibTransId="{C4B29D12-9A5D-44C9-A8CF-1136F57EF434}"/>
    <dgm:cxn modelId="{28A0B82E-EC91-4C80-A219-BA0F471C2AA2}" srcId="{DFBFFB73-0E34-428E-9DF8-86EE61BD130F}" destId="{B7E9A1AA-31A5-412D-8F1B-7AD7770BC579}" srcOrd="0" destOrd="0" parTransId="{5E3B34A9-DEA8-48EA-81E7-3CED833BE205}" sibTransId="{A6D3AD97-1569-4BB9-9043-AA31DB43633A}"/>
    <dgm:cxn modelId="{98502A3E-C9B6-484D-8C4B-B70D1F0D52FE}" type="presOf" srcId="{6063CB4B-0B24-4002-838C-50F5A323E403}" destId="{A9D2D8A4-AEAB-4327-A7FA-F80140D512CF}" srcOrd="0" destOrd="0" presId="urn:microsoft.com/office/officeart/2005/8/layout/vList5"/>
    <dgm:cxn modelId="{2483704A-2B80-4F13-8C37-7C4D104EC413}" srcId="{3CC5F4E4-5A1B-4E88-BEC3-D9E762DE6427}" destId="{A00840C1-C1A6-4DCB-B798-42624310D555}" srcOrd="0" destOrd="0" parTransId="{9DA24115-6657-41B6-ADCA-5BD22FB18D62}" sibTransId="{93BF2E21-55B8-4B66-A90F-A89632BEA459}"/>
    <dgm:cxn modelId="{36AD8E52-7578-4A65-A2AC-232A332ED53E}" srcId="{3280D667-F63C-425C-A4DB-6A3D176A93E4}" destId="{3CC5F4E4-5A1B-4E88-BEC3-D9E762DE6427}" srcOrd="2" destOrd="0" parTransId="{31F29580-D9D5-4DB3-B825-CEAF956DD7D3}" sibTransId="{CFCC313A-DAF5-402C-A55C-900907744BA6}"/>
    <dgm:cxn modelId="{7CDF6174-87F6-470A-9C99-28E582C02D97}" type="presOf" srcId="{A00840C1-C1A6-4DCB-B798-42624310D555}" destId="{A22D2321-3D0E-4E5E-8882-00BEF198E833}" srcOrd="0" destOrd="0" presId="urn:microsoft.com/office/officeart/2005/8/layout/vList5"/>
    <dgm:cxn modelId="{AEFABF75-C145-4511-A40D-5F95AFA3BC21}" srcId="{6063CB4B-0B24-4002-838C-50F5A323E403}" destId="{FEB7D8F3-A7BE-46AC-9F76-A4806F589B15}" srcOrd="0" destOrd="0" parTransId="{0BEB1B82-7BDD-4F96-B539-C4E2342D3BED}" sibTransId="{1F74A6F0-2BC8-4CD3-9336-7BBD34E14B28}"/>
    <dgm:cxn modelId="{44494957-F57C-485E-AD09-1647A98ECFD4}" type="presOf" srcId="{3CC5F4E4-5A1B-4E88-BEC3-D9E762DE6427}" destId="{BEE811AB-CA95-403B-A053-BF8CA7464499}" srcOrd="0" destOrd="0" presId="urn:microsoft.com/office/officeart/2005/8/layout/vList5"/>
    <dgm:cxn modelId="{C1F12A89-998A-49A2-B81B-2F379633D617}" type="presOf" srcId="{FEB7D8F3-A7BE-46AC-9F76-A4806F589B15}" destId="{48F77A6D-8A07-440A-9CA3-8684F78364DC}" srcOrd="0" destOrd="0" presId="urn:microsoft.com/office/officeart/2005/8/layout/vList5"/>
    <dgm:cxn modelId="{DF714797-E741-4467-B523-92837178CE53}" type="presOf" srcId="{840C8785-BD07-4426-9568-961FE27C5DBE}" destId="{E2E98846-DD09-48C5-941F-1341904ECEBC}" srcOrd="0" destOrd="0" presId="urn:microsoft.com/office/officeart/2005/8/layout/vList5"/>
    <dgm:cxn modelId="{A52B3ABF-D64E-47BC-9A07-C55EFFB9BEDA}" srcId="{840C8785-BD07-4426-9568-961FE27C5DBE}" destId="{3B084F28-87F6-49C3-B3B5-6D2B1FB26D32}" srcOrd="0" destOrd="0" parTransId="{90878034-6E5C-4B80-9066-8AEE141C0C47}" sibTransId="{B63DA930-BB55-4D2B-9B7A-E93F357639C3}"/>
    <dgm:cxn modelId="{678F86F2-FC10-411C-90B7-456F7821ED7B}" type="presOf" srcId="{DFBFFB73-0E34-428E-9DF8-86EE61BD130F}" destId="{DEDFB885-6471-4D7E-8571-2216A354097A}" srcOrd="0" destOrd="0" presId="urn:microsoft.com/office/officeart/2005/8/layout/vList5"/>
    <dgm:cxn modelId="{26D35FF6-F40D-4058-AF71-538AE41D05A6}" type="presOf" srcId="{3B084F28-87F6-49C3-B3B5-6D2B1FB26D32}" destId="{7F1D89C4-DC65-4048-A2F2-A6D438D4C78C}" srcOrd="0" destOrd="0" presId="urn:microsoft.com/office/officeart/2005/8/layout/vList5"/>
    <dgm:cxn modelId="{40F6CDF8-CE4B-473C-BB7E-71494459B5E3}" type="presOf" srcId="{3280D667-F63C-425C-A4DB-6A3D176A93E4}" destId="{9D9FA8B0-18AF-46E5-A43C-DABDEA88ED8E}" srcOrd="0" destOrd="0" presId="urn:microsoft.com/office/officeart/2005/8/layout/vList5"/>
    <dgm:cxn modelId="{2901B2A9-101B-4902-9E69-72084CC24FEA}" type="presParOf" srcId="{9D9FA8B0-18AF-46E5-A43C-DABDEA88ED8E}" destId="{59CCAF5C-FF9E-4052-8C0C-F6B9B69E6370}" srcOrd="0" destOrd="0" presId="urn:microsoft.com/office/officeart/2005/8/layout/vList5"/>
    <dgm:cxn modelId="{4A1422EF-BE04-4B94-8FF1-48C89D11F1F9}" type="presParOf" srcId="{59CCAF5C-FF9E-4052-8C0C-F6B9B69E6370}" destId="{A9D2D8A4-AEAB-4327-A7FA-F80140D512CF}" srcOrd="0" destOrd="0" presId="urn:microsoft.com/office/officeart/2005/8/layout/vList5"/>
    <dgm:cxn modelId="{0FCC3E03-3F1D-480C-9670-B9D5050538E8}" type="presParOf" srcId="{59CCAF5C-FF9E-4052-8C0C-F6B9B69E6370}" destId="{48F77A6D-8A07-440A-9CA3-8684F78364DC}" srcOrd="1" destOrd="0" presId="urn:microsoft.com/office/officeart/2005/8/layout/vList5"/>
    <dgm:cxn modelId="{D56F41E1-2726-4A11-B904-0F61A02C719F}" type="presParOf" srcId="{9D9FA8B0-18AF-46E5-A43C-DABDEA88ED8E}" destId="{6B32AF89-1AFF-4CC7-81F5-835CFAFACE6B}" srcOrd="1" destOrd="0" presId="urn:microsoft.com/office/officeart/2005/8/layout/vList5"/>
    <dgm:cxn modelId="{BB772D7E-DB58-4E5F-A5C3-C2D7486DCE8A}" type="presParOf" srcId="{9D9FA8B0-18AF-46E5-A43C-DABDEA88ED8E}" destId="{4B6A50F0-1AB5-411F-89ED-69789186AE17}" srcOrd="2" destOrd="0" presId="urn:microsoft.com/office/officeart/2005/8/layout/vList5"/>
    <dgm:cxn modelId="{83495BF7-C4CD-491E-97F3-60646E96BA42}" type="presParOf" srcId="{4B6A50F0-1AB5-411F-89ED-69789186AE17}" destId="{DEDFB885-6471-4D7E-8571-2216A354097A}" srcOrd="0" destOrd="0" presId="urn:microsoft.com/office/officeart/2005/8/layout/vList5"/>
    <dgm:cxn modelId="{86BF5D8F-31CC-4C56-9F8A-DA3B1ADFF51C}" type="presParOf" srcId="{4B6A50F0-1AB5-411F-89ED-69789186AE17}" destId="{23B42331-2D4D-4A68-AF25-150384083F26}" srcOrd="1" destOrd="0" presId="urn:microsoft.com/office/officeart/2005/8/layout/vList5"/>
    <dgm:cxn modelId="{BA5761E6-769E-4ADC-A423-0C75A83C375E}" type="presParOf" srcId="{9D9FA8B0-18AF-46E5-A43C-DABDEA88ED8E}" destId="{0A053FF2-1F8E-4E41-82FA-5D758EF07778}" srcOrd="3" destOrd="0" presId="urn:microsoft.com/office/officeart/2005/8/layout/vList5"/>
    <dgm:cxn modelId="{821B2778-1BDE-4B16-946D-4455B104A5F0}" type="presParOf" srcId="{9D9FA8B0-18AF-46E5-A43C-DABDEA88ED8E}" destId="{81DCD006-ED38-4E83-9FEA-DA1D37AC124E}" srcOrd="4" destOrd="0" presId="urn:microsoft.com/office/officeart/2005/8/layout/vList5"/>
    <dgm:cxn modelId="{4B96632D-69E5-42AB-B789-768259D363BD}" type="presParOf" srcId="{81DCD006-ED38-4E83-9FEA-DA1D37AC124E}" destId="{BEE811AB-CA95-403B-A053-BF8CA7464499}" srcOrd="0" destOrd="0" presId="urn:microsoft.com/office/officeart/2005/8/layout/vList5"/>
    <dgm:cxn modelId="{7E894854-F81E-471D-9400-42CD6A34CE48}" type="presParOf" srcId="{81DCD006-ED38-4E83-9FEA-DA1D37AC124E}" destId="{A22D2321-3D0E-4E5E-8882-00BEF198E833}" srcOrd="1" destOrd="0" presId="urn:microsoft.com/office/officeart/2005/8/layout/vList5"/>
    <dgm:cxn modelId="{1A562235-4860-442C-A2D7-58D72C614E21}" type="presParOf" srcId="{9D9FA8B0-18AF-46E5-A43C-DABDEA88ED8E}" destId="{89A48E2B-1EC2-4C27-A2B1-3B1BF343E69F}" srcOrd="5" destOrd="0" presId="urn:microsoft.com/office/officeart/2005/8/layout/vList5"/>
    <dgm:cxn modelId="{1CC734CD-E70C-425A-A1B3-5D940C4518FE}" type="presParOf" srcId="{9D9FA8B0-18AF-46E5-A43C-DABDEA88ED8E}" destId="{6FED6997-55AF-410D-85E5-92134AA0F12C}" srcOrd="6" destOrd="0" presId="urn:microsoft.com/office/officeart/2005/8/layout/vList5"/>
    <dgm:cxn modelId="{4D2F9EBF-5B19-4F8D-B075-82CB5EA14A92}" type="presParOf" srcId="{6FED6997-55AF-410D-85E5-92134AA0F12C}" destId="{E2E98846-DD09-48C5-941F-1341904ECEBC}" srcOrd="0" destOrd="0" presId="urn:microsoft.com/office/officeart/2005/8/layout/vList5"/>
    <dgm:cxn modelId="{4F8D2FD0-8A5D-43EF-A107-6D1F2D120D17}" type="presParOf" srcId="{6FED6997-55AF-410D-85E5-92134AA0F12C}" destId="{7F1D89C4-DC65-4048-A2F2-A6D438D4C7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DACF4-290E-4429-ABA1-538100743345}">
      <dsp:nvSpPr>
        <dsp:cNvPr id="0" name=""/>
        <dsp:cNvSpPr/>
      </dsp:nvSpPr>
      <dsp:spPr>
        <a:xfrm rot="5400000">
          <a:off x="3168955" y="-1553492"/>
          <a:ext cx="800388" cy="420294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 dirty="0">
              <a:latin typeface="Arial Narrow" panose="020B0606020202030204" pitchFamily="34" charset="0"/>
            </a:rPr>
            <a:t>Para la demanda biológica de oxígeno: un nivel de aspiración de 300 unidades, pues desea que sea lo más pequeña posible. </a:t>
          </a:r>
          <a:endParaRPr lang="es-PE" sz="1600" kern="1200" dirty="0">
            <a:latin typeface="Arial Narrow" panose="020B0606020202030204" pitchFamily="34" charset="0"/>
          </a:endParaRPr>
        </a:p>
      </dsp:txBody>
      <dsp:txXfrm rot="-5400000">
        <a:off x="1467677" y="186858"/>
        <a:ext cx="4163873" cy="722244"/>
      </dsp:txXfrm>
    </dsp:sp>
    <dsp:sp modelId="{9DF32C51-ECB5-4D95-83B4-84223D3B26F8}">
      <dsp:nvSpPr>
        <dsp:cNvPr id="0" name=""/>
        <dsp:cNvSpPr/>
      </dsp:nvSpPr>
      <dsp:spPr>
        <a:xfrm>
          <a:off x="2705" y="137260"/>
          <a:ext cx="1464971" cy="8214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>
              <a:latin typeface="Arial Narrow" panose="020B0606020202030204" pitchFamily="34" charset="0"/>
            </a:rPr>
            <a:t>Meta 1: </a:t>
          </a:r>
          <a:endParaRPr lang="es-PE" sz="1600" kern="1200">
            <a:latin typeface="Arial Narrow" panose="020B0606020202030204" pitchFamily="34" charset="0"/>
          </a:endParaRPr>
        </a:p>
      </dsp:txBody>
      <dsp:txXfrm>
        <a:off x="42805" y="177360"/>
        <a:ext cx="1384771" cy="741261"/>
      </dsp:txXfrm>
    </dsp:sp>
    <dsp:sp modelId="{7AE815B1-C101-4469-BFB0-465A5EE74F5B}">
      <dsp:nvSpPr>
        <dsp:cNvPr id="0" name=""/>
        <dsp:cNvSpPr/>
      </dsp:nvSpPr>
      <dsp:spPr>
        <a:xfrm rot="5400000">
          <a:off x="3249599" y="-700919"/>
          <a:ext cx="656911" cy="420425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 dirty="0">
              <a:latin typeface="Arial Narrow" panose="020B0606020202030204" pitchFamily="34" charset="0"/>
            </a:rPr>
            <a:t>Para el margen bruto: alcanzar un valor lo más grande posible, ojalá mayor de 400000 </a:t>
          </a:r>
          <a:r>
            <a:rPr lang="es-ES" sz="1600" b="1" kern="1200" dirty="0" err="1">
              <a:latin typeface="Arial Narrow" panose="020B0606020202030204" pitchFamily="34" charset="0"/>
            </a:rPr>
            <a:t>u.m</a:t>
          </a:r>
          <a:r>
            <a:rPr lang="es-ES" sz="1600" b="1" kern="1200" dirty="0">
              <a:latin typeface="Arial Narrow" panose="020B0606020202030204" pitchFamily="34" charset="0"/>
            </a:rPr>
            <a:t>. </a:t>
          </a:r>
          <a:endParaRPr lang="es-PE" sz="1600" kern="1200" dirty="0">
            <a:latin typeface="Arial Narrow" panose="020B0606020202030204" pitchFamily="34" charset="0"/>
          </a:endParaRPr>
        </a:p>
      </dsp:txBody>
      <dsp:txXfrm rot="-5400000">
        <a:off x="1475927" y="1104821"/>
        <a:ext cx="4172187" cy="592775"/>
      </dsp:txXfrm>
    </dsp:sp>
    <dsp:sp modelId="{F14BE77B-816D-4248-A7EC-505294A64660}">
      <dsp:nvSpPr>
        <dsp:cNvPr id="0" name=""/>
        <dsp:cNvSpPr/>
      </dsp:nvSpPr>
      <dsp:spPr>
        <a:xfrm>
          <a:off x="12022" y="1063009"/>
          <a:ext cx="1474491" cy="6763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>
              <a:latin typeface="Arial Narrow" panose="020B0606020202030204" pitchFamily="34" charset="0"/>
            </a:rPr>
            <a:t>Meta 2: </a:t>
          </a:r>
          <a:endParaRPr lang="es-PE" sz="1600" kern="1200">
            <a:latin typeface="Arial Narrow" panose="020B0606020202030204" pitchFamily="34" charset="0"/>
          </a:endParaRPr>
        </a:p>
      </dsp:txBody>
      <dsp:txXfrm>
        <a:off x="45038" y="1096025"/>
        <a:ext cx="1408459" cy="610298"/>
      </dsp:txXfrm>
    </dsp:sp>
    <dsp:sp modelId="{0DBF8F4B-5120-4A22-ADCA-1D8D9863E94C}">
      <dsp:nvSpPr>
        <dsp:cNvPr id="0" name=""/>
        <dsp:cNvSpPr/>
      </dsp:nvSpPr>
      <dsp:spPr>
        <a:xfrm rot="5400000">
          <a:off x="3287789" y="43554"/>
          <a:ext cx="595136" cy="416800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 dirty="0">
              <a:latin typeface="Arial Narrow" panose="020B0606020202030204" pitchFamily="34" charset="0"/>
            </a:rPr>
            <a:t>Para el empleo: no desea ni quedarse corto ni contratar mano de obra adicional. </a:t>
          </a:r>
          <a:endParaRPr lang="es-PE" sz="1600" kern="1200" dirty="0">
            <a:latin typeface="Arial Narrow" panose="020B0606020202030204" pitchFamily="34" charset="0"/>
          </a:endParaRPr>
        </a:p>
      </dsp:txBody>
      <dsp:txXfrm rot="-5400000">
        <a:off x="1501355" y="1859040"/>
        <a:ext cx="4138953" cy="537032"/>
      </dsp:txXfrm>
    </dsp:sp>
    <dsp:sp modelId="{3A2F6804-E712-4BFC-85F5-647D3AAFB3A4}">
      <dsp:nvSpPr>
        <dsp:cNvPr id="0" name=""/>
        <dsp:cNvSpPr/>
      </dsp:nvSpPr>
      <dsp:spPr>
        <a:xfrm>
          <a:off x="2705" y="1814312"/>
          <a:ext cx="1498649" cy="626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>
              <a:latin typeface="Arial Narrow" panose="020B0606020202030204" pitchFamily="34" charset="0"/>
            </a:rPr>
            <a:t>Meta 3: </a:t>
          </a:r>
          <a:endParaRPr lang="es-PE" sz="1600" kern="1200">
            <a:latin typeface="Arial Narrow" panose="020B0606020202030204" pitchFamily="34" charset="0"/>
          </a:endParaRPr>
        </a:p>
      </dsp:txBody>
      <dsp:txXfrm>
        <a:off x="33278" y="1844885"/>
        <a:ext cx="1437503" cy="565147"/>
      </dsp:txXfrm>
    </dsp:sp>
    <dsp:sp modelId="{36392E0E-AE2D-446C-8D7F-0126D4EEFC6D}">
      <dsp:nvSpPr>
        <dsp:cNvPr id="0" name=""/>
        <dsp:cNvSpPr/>
      </dsp:nvSpPr>
      <dsp:spPr>
        <a:xfrm rot="5400000">
          <a:off x="3192896" y="836202"/>
          <a:ext cx="829854" cy="416924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 dirty="0">
              <a:latin typeface="Arial Narrow" panose="020B0606020202030204" pitchFamily="34" charset="0"/>
            </a:rPr>
            <a:t>El decisor no desea superar sus capacidades de producción proceso 1, lo que implicaría recurrir a turnos extras. </a:t>
          </a:r>
          <a:endParaRPr lang="es-PE" sz="1600" kern="1200" dirty="0">
            <a:latin typeface="Arial Narrow" panose="020B0606020202030204" pitchFamily="34" charset="0"/>
          </a:endParaRPr>
        </a:p>
      </dsp:txBody>
      <dsp:txXfrm rot="-5400000">
        <a:off x="1523202" y="2546406"/>
        <a:ext cx="4128732" cy="748834"/>
      </dsp:txXfrm>
    </dsp:sp>
    <dsp:sp modelId="{8099A1AF-3ADD-416B-AF5B-5289A2C6298E}">
      <dsp:nvSpPr>
        <dsp:cNvPr id="0" name=""/>
        <dsp:cNvSpPr/>
      </dsp:nvSpPr>
      <dsp:spPr>
        <a:xfrm>
          <a:off x="0" y="2540136"/>
          <a:ext cx="1517791" cy="8030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Arial Narrow" panose="020B0606020202030204" pitchFamily="34" charset="0"/>
            </a:rPr>
            <a:t>Meta 4: </a:t>
          </a:r>
          <a:endParaRPr lang="es-PE" sz="1600" kern="1200" dirty="0">
            <a:latin typeface="Arial Narrow" panose="020B0606020202030204" pitchFamily="34" charset="0"/>
          </a:endParaRPr>
        </a:p>
      </dsp:txBody>
      <dsp:txXfrm>
        <a:off x="39201" y="2579337"/>
        <a:ext cx="1439389" cy="724630"/>
      </dsp:txXfrm>
    </dsp:sp>
    <dsp:sp modelId="{E3297F24-25F3-4EA6-A3EC-6BE814C8F138}">
      <dsp:nvSpPr>
        <dsp:cNvPr id="0" name=""/>
        <dsp:cNvSpPr/>
      </dsp:nvSpPr>
      <dsp:spPr>
        <a:xfrm>
          <a:off x="30364" y="3456995"/>
          <a:ext cx="1464950" cy="666078"/>
        </a:xfrm>
        <a:prstGeom prst="round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prstClr val="white"/>
              </a:solidFill>
              <a:latin typeface="Arial Narrow" panose="020B0606020202030204" pitchFamily="34" charset="0"/>
              <a:ea typeface="+mn-ea"/>
              <a:cs typeface="+mn-cs"/>
            </a:rPr>
            <a:t>Meta 5: </a:t>
          </a:r>
          <a:endParaRPr lang="es-PE" sz="1600" b="1" kern="1200" dirty="0">
            <a:solidFill>
              <a:prstClr val="white"/>
            </a:solidFill>
            <a:latin typeface="Arial Narrow" panose="020B0606020202030204" pitchFamily="34" charset="0"/>
            <a:ea typeface="+mn-ea"/>
            <a:cs typeface="+mn-cs"/>
          </a:endParaRPr>
        </a:p>
      </dsp:txBody>
      <dsp:txXfrm>
        <a:off x="62879" y="3489510"/>
        <a:ext cx="1399920" cy="601048"/>
      </dsp:txXfrm>
    </dsp:sp>
    <dsp:sp modelId="{4C5590F5-4F45-4472-AC1B-5374C0966A01}">
      <dsp:nvSpPr>
        <dsp:cNvPr id="0" name=""/>
        <dsp:cNvSpPr/>
      </dsp:nvSpPr>
      <dsp:spPr>
        <a:xfrm>
          <a:off x="1462213" y="3450036"/>
          <a:ext cx="4230231" cy="661627"/>
        </a:xfrm>
        <a:prstGeom prst="roundRect">
          <a:avLst/>
        </a:prstGeom>
        <a:solidFill>
          <a:srgbClr val="4472C4">
            <a:alpha val="90000"/>
            <a:tint val="4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4472C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 Narrow" panose="020B0606020202030204" pitchFamily="34" charset="0"/>
              <a:ea typeface="+mn-ea"/>
              <a:cs typeface="+mn-cs"/>
            </a:rPr>
            <a:t>El decisor no desea superar sus capacidades de producción proceso 2, lo que implicaría recurrir a turnos extras. </a:t>
          </a:r>
          <a:endParaRPr lang="es-PE" sz="16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rial Narrow" panose="020B0606020202030204" pitchFamily="34" charset="0"/>
            <a:ea typeface="+mn-ea"/>
            <a:cs typeface="+mn-cs"/>
          </a:endParaRPr>
        </a:p>
      </dsp:txBody>
      <dsp:txXfrm>
        <a:off x="1494511" y="3482334"/>
        <a:ext cx="4165635" cy="597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77A6D-8A07-440A-9CA3-8684F78364DC}">
      <dsp:nvSpPr>
        <dsp:cNvPr id="0" name=""/>
        <dsp:cNvSpPr/>
      </dsp:nvSpPr>
      <dsp:spPr>
        <a:xfrm rot="5400000">
          <a:off x="3625259" y="-1502397"/>
          <a:ext cx="768512" cy="37736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 dirty="0"/>
            <a:t>No utilizar más de 120 horas de trabajo en la fabricación de los productos A y B.</a:t>
          </a:r>
          <a:endParaRPr lang="es-PE" sz="1600" b="1" kern="1200" dirty="0"/>
        </a:p>
      </dsp:txBody>
      <dsp:txXfrm rot="-5400000">
        <a:off x="2122685" y="37693"/>
        <a:ext cx="3736145" cy="693480"/>
      </dsp:txXfrm>
    </dsp:sp>
    <dsp:sp modelId="{A9D2D8A4-AEAB-4327-A7FA-F80140D512CF}">
      <dsp:nvSpPr>
        <dsp:cNvPr id="0" name=""/>
        <dsp:cNvSpPr/>
      </dsp:nvSpPr>
      <dsp:spPr>
        <a:xfrm>
          <a:off x="0" y="18312"/>
          <a:ext cx="2122684" cy="7322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Meta 1: </a:t>
          </a:r>
          <a:endParaRPr lang="es-PE" sz="2800" b="1" kern="1200" dirty="0"/>
        </a:p>
      </dsp:txBody>
      <dsp:txXfrm>
        <a:off x="35745" y="54057"/>
        <a:ext cx="2051194" cy="660753"/>
      </dsp:txXfrm>
    </dsp:sp>
    <dsp:sp modelId="{23B42331-2D4D-4A68-AF25-150384083F26}">
      <dsp:nvSpPr>
        <dsp:cNvPr id="0" name=""/>
        <dsp:cNvSpPr/>
      </dsp:nvSpPr>
      <dsp:spPr>
        <a:xfrm rot="5400000">
          <a:off x="3760671" y="-772435"/>
          <a:ext cx="505527" cy="377735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/>
            <a:t>La empresa quiere obtener un beneficio de al menos 7000 euros.</a:t>
          </a:r>
          <a:endParaRPr lang="es-PE" sz="1600" b="1" kern="1200"/>
        </a:p>
      </dsp:txBody>
      <dsp:txXfrm rot="-5400000">
        <a:off x="2124760" y="888154"/>
        <a:ext cx="3752672" cy="456171"/>
      </dsp:txXfrm>
    </dsp:sp>
    <dsp:sp modelId="{DEDFB885-6471-4D7E-8571-2216A354097A}">
      <dsp:nvSpPr>
        <dsp:cNvPr id="0" name=""/>
        <dsp:cNvSpPr/>
      </dsp:nvSpPr>
      <dsp:spPr>
        <a:xfrm>
          <a:off x="0" y="800285"/>
          <a:ext cx="2124759" cy="631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Meta 2: </a:t>
          </a:r>
          <a:endParaRPr lang="es-PE" sz="2800" b="1" kern="1200" dirty="0"/>
        </a:p>
      </dsp:txBody>
      <dsp:txXfrm>
        <a:off x="30847" y="831132"/>
        <a:ext cx="2063065" cy="570215"/>
      </dsp:txXfrm>
    </dsp:sp>
    <dsp:sp modelId="{A22D2321-3D0E-4E5E-8882-00BEF198E833}">
      <dsp:nvSpPr>
        <dsp:cNvPr id="0" name=""/>
        <dsp:cNvSpPr/>
      </dsp:nvSpPr>
      <dsp:spPr>
        <a:xfrm rot="5400000">
          <a:off x="3760671" y="-108930"/>
          <a:ext cx="505527" cy="377735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/>
            <a:t>Fabricar al  menos  40 productos del tipo A. </a:t>
          </a:r>
          <a:endParaRPr lang="es-PE" sz="1600" b="1" kern="1200"/>
        </a:p>
      </dsp:txBody>
      <dsp:txXfrm rot="-5400000">
        <a:off x="2124760" y="1551659"/>
        <a:ext cx="3752672" cy="456171"/>
      </dsp:txXfrm>
    </dsp:sp>
    <dsp:sp modelId="{BEE811AB-CA95-403B-A053-BF8CA7464499}">
      <dsp:nvSpPr>
        <dsp:cNvPr id="0" name=""/>
        <dsp:cNvSpPr/>
      </dsp:nvSpPr>
      <dsp:spPr>
        <a:xfrm>
          <a:off x="0" y="1463790"/>
          <a:ext cx="2124759" cy="631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Meta 3: </a:t>
          </a:r>
          <a:endParaRPr lang="es-PE" sz="2800" b="1" kern="1200" dirty="0"/>
        </a:p>
      </dsp:txBody>
      <dsp:txXfrm>
        <a:off x="30847" y="1494637"/>
        <a:ext cx="2063065" cy="570215"/>
      </dsp:txXfrm>
    </dsp:sp>
    <dsp:sp modelId="{7F1D89C4-DC65-4048-A2F2-A6D438D4C78C}">
      <dsp:nvSpPr>
        <dsp:cNvPr id="0" name=""/>
        <dsp:cNvSpPr/>
      </dsp:nvSpPr>
      <dsp:spPr>
        <a:xfrm rot="5400000">
          <a:off x="3760671" y="554573"/>
          <a:ext cx="505527" cy="377735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 dirty="0"/>
            <a:t>Fabricar al  menos  40 productos del tipo B. </a:t>
          </a:r>
          <a:endParaRPr lang="es-PE" sz="1600" b="1" kern="1200" dirty="0"/>
        </a:p>
      </dsp:txBody>
      <dsp:txXfrm rot="-5400000">
        <a:off x="2124760" y="2215162"/>
        <a:ext cx="3752672" cy="456171"/>
      </dsp:txXfrm>
    </dsp:sp>
    <dsp:sp modelId="{E2E98846-DD09-48C5-941F-1341904ECEBC}">
      <dsp:nvSpPr>
        <dsp:cNvPr id="0" name=""/>
        <dsp:cNvSpPr/>
      </dsp:nvSpPr>
      <dsp:spPr>
        <a:xfrm>
          <a:off x="0" y="2127294"/>
          <a:ext cx="2124759" cy="631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Meta 4: </a:t>
          </a:r>
          <a:endParaRPr lang="es-PE" sz="2800" b="1" kern="1200" dirty="0"/>
        </a:p>
      </dsp:txBody>
      <dsp:txXfrm>
        <a:off x="30847" y="2158141"/>
        <a:ext cx="2063065" cy="5702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78B7CE-16B1-4D5A-BEDA-E05D7C0F0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CE36C0-2D64-40DB-852E-EFE530BD79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D107-6AA0-4BB9-B3AF-2511759F0087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B9BBA3-CB3B-42EF-AC1C-A77E63AFD7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9A3671-5C2E-4C01-9181-86F707851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CDB2B-DC05-4B7E-84A4-8E8FE9CBF7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7450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54B5-B035-46F5-86D2-1F43704B1BDB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36FA3-1F11-49F4-B68F-8771EDD4DFA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99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804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937FDB4C-8DB5-4895-9E8B-EB4F1648811C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2980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VE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VE"/>
              <a:t>Investigacion de Operaciones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VE"/>
              <a:t>Ing. Rosa Amaya</a:t>
            </a:r>
          </a:p>
        </p:txBody>
      </p:sp>
    </p:spTree>
    <p:extLst>
      <p:ext uri="{BB962C8B-B14F-4D97-AF65-F5344CB8AC3E}">
        <p14:creationId xmlns:p14="http://schemas.microsoft.com/office/powerpoint/2010/main" val="3779360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097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13C-61E5-46CC-960D-63C41DAD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68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267FC4-894E-4993-BA18-2C880EE5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A1ECE-8248-44B1-88C7-8265017B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FFCCB-2285-4BA7-B745-4CE0B16C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64D61-7B3F-4D44-B814-04BD0FE4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F9EE1-AB02-439C-A953-D0BD302C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91F11-EC76-4F7E-AC56-EAD0CEBC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78AEF-A6A9-47DF-9C5C-6B500700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63CA0-8BC2-4AA4-81B5-97227686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60248-016B-4028-85F2-75F83EB9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EA209-C4D8-4196-890A-95A7CD4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6A4D1-0438-48FA-ADCC-AC432CD7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42E60-612D-41CC-9EE5-C343BC6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65A3-6AD0-4723-847E-57B36A32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C95E3-1973-401E-B849-5F2F2C4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26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DB3A3-9D86-449F-A088-128C6B5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EF8CB9-38CA-4EBF-8F62-EE68B4D6F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C23C3-AE0F-4F5F-B104-BC7EA7551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BCC75-FAFB-4988-ADC8-1E30F0A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7CF524-1AD2-4D6E-AF46-445C350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33D9-E06A-43BB-8FFF-B7E7E56A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71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725AD-02A9-499A-B864-01AF086F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53734-FC45-4B55-9A29-B26B4CA1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98FBB3-E4E6-411C-A6B3-B26D0633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BACB3A-C4CB-4902-9988-B007A97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E2010D-8FDA-4E19-9A31-23C0FE9DC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1D191B-5CF0-419F-BF5B-EA606AC8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8A4629-604A-46AD-BB45-292C54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A188A-724B-44E9-BEF7-9E257530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92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FFE6-E44F-47FD-8C64-C1FC42A7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68DDD2-028A-4549-9EB3-E8431887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50669B-5EDE-4060-A1CA-FE7DBD9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29BDB-A623-46DB-A3B7-8B68CD9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78ADCC-78DF-44C4-A2C7-A7CF242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7367FB-6CD9-4469-A229-B61F0DC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1C5A5-C7FD-466A-934B-6024933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219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FB1A-74AA-4E0D-83B3-1170F8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0C1AE-BAE4-48E0-88AC-F6958D0E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3CCC19-652F-4628-8819-4FD180AB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BD21F-BC06-43CD-9F66-5FD87304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2DF95C-F515-4AB8-9206-5F559DA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0F4A3-A4A8-4405-B84F-C1D44A1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75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3BB7-CA9F-4940-8C7F-2CBF43BB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45E52B-AEB7-42F1-BC8E-CA7E0DDCD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A4FC1-5C27-4983-99E0-60D4F82D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805C-3A94-453E-BC4E-88A5F9C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EB1F-6B71-43D0-B4BB-2F47A94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0476AE-7DAC-4DCA-A6E4-E2E505CB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97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5B00E-0B7A-4AA1-B637-DC7127C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2176F4-1231-4795-897F-95458CBC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A9332-3346-4724-9DEE-503B007F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3589D-3073-43DA-AEA2-6F6C05DA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E47B5-2AEE-4851-B029-9988B8B5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58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E1D6-7CA5-4A02-A9CE-8A394A8F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F9D7-F895-4417-B97E-7076B318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AE240-89B5-46F0-94D1-CF5205BC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EB6FE0-843B-48B7-80F0-575414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E9982-F23C-426D-A95A-1B50FAD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27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74400" y="3986567"/>
            <a:ext cx="5629600" cy="122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400"/>
              <a:buNone/>
              <a:defRPr sz="12535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10" name="Google Shape;10;p2"/>
          <p:cNvGrpSpPr/>
          <p:nvPr/>
        </p:nvGrpSpPr>
        <p:grpSpPr>
          <a:xfrm>
            <a:off x="4658468" y="-60667"/>
            <a:ext cx="7533533" cy="6979333"/>
            <a:chOff x="970375" y="238125"/>
            <a:chExt cx="5650150" cy="5234500"/>
          </a:xfrm>
        </p:grpSpPr>
        <p:sp>
          <p:nvSpPr>
            <p:cNvPr id="11" name="Google Shape;11;p2"/>
            <p:cNvSpPr/>
            <p:nvPr/>
          </p:nvSpPr>
          <p:spPr>
            <a:xfrm>
              <a:off x="970375" y="238125"/>
              <a:ext cx="1456750" cy="5234500"/>
            </a:xfrm>
            <a:custGeom>
              <a:avLst/>
              <a:gdLst/>
              <a:ahLst/>
              <a:cxnLst/>
              <a:rect l="l" t="t" r="r" b="b"/>
              <a:pathLst>
                <a:path w="58270" h="209380" extrusionOk="0">
                  <a:moveTo>
                    <a:pt x="55587" y="0"/>
                  </a:moveTo>
                  <a:lnTo>
                    <a:pt x="7833" y="82697"/>
                  </a:lnTo>
                  <a:cubicBezTo>
                    <a:pt x="0" y="96268"/>
                    <a:pt x="16" y="113111"/>
                    <a:pt x="7833" y="126682"/>
                  </a:cubicBezTo>
                  <a:lnTo>
                    <a:pt x="55587" y="209379"/>
                  </a:lnTo>
                  <a:lnTo>
                    <a:pt x="58270" y="209379"/>
                  </a:lnTo>
                  <a:lnTo>
                    <a:pt x="9849" y="125519"/>
                  </a:lnTo>
                  <a:cubicBezTo>
                    <a:pt x="2435" y="112677"/>
                    <a:pt x="2435" y="96718"/>
                    <a:pt x="9849" y="83860"/>
                  </a:cubicBezTo>
                  <a:lnTo>
                    <a:pt x="58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07825" y="238125"/>
              <a:ext cx="5012700" cy="5234500"/>
            </a:xfrm>
            <a:custGeom>
              <a:avLst/>
              <a:gdLst/>
              <a:ahLst/>
              <a:cxnLst/>
              <a:rect l="l" t="t" r="r" b="b"/>
              <a:pathLst>
                <a:path w="200508" h="209380" extrusionOk="0">
                  <a:moveTo>
                    <a:pt x="58300" y="0"/>
                  </a:moveTo>
                  <a:lnTo>
                    <a:pt x="3490" y="94919"/>
                  </a:lnTo>
                  <a:cubicBezTo>
                    <a:pt x="0" y="100967"/>
                    <a:pt x="0" y="108412"/>
                    <a:pt x="3490" y="114461"/>
                  </a:cubicBezTo>
                  <a:lnTo>
                    <a:pt x="58300" y="209379"/>
                  </a:lnTo>
                  <a:lnTo>
                    <a:pt x="200507" y="209379"/>
                  </a:lnTo>
                  <a:lnTo>
                    <a:pt x="200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3;p2"/>
          <p:cNvSpPr/>
          <p:nvPr/>
        </p:nvSpPr>
        <p:spPr>
          <a:xfrm rot="1799984">
            <a:off x="7317323" y="61421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799984">
            <a:off x="8289458" y="-929179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5;p2"/>
          <p:cNvGrpSpPr/>
          <p:nvPr/>
        </p:nvGrpSpPr>
        <p:grpSpPr>
          <a:xfrm>
            <a:off x="1016002" y="1081899"/>
            <a:ext cx="620999" cy="573676"/>
            <a:chOff x="1877325" y="757774"/>
            <a:chExt cx="581969" cy="537619"/>
          </a:xfrm>
        </p:grpSpPr>
        <p:sp>
          <p:nvSpPr>
            <p:cNvPr id="16" name="Google Shape;16;p2"/>
            <p:cNvSpPr/>
            <p:nvPr/>
          </p:nvSpPr>
          <p:spPr>
            <a:xfrm>
              <a:off x="187732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50274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23224" y="757774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569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7732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50274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23224" y="915780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9569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732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1" y="102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274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287"/>
                    <a:pt x="3026" y="13312"/>
                    <a:pt x="6656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223224" y="1073785"/>
              <a:ext cx="63603" cy="63603"/>
            </a:xfrm>
            <a:custGeom>
              <a:avLst/>
              <a:gdLst/>
              <a:ahLst/>
              <a:cxnLst/>
              <a:rect l="l" t="t" r="r" b="b"/>
              <a:pathLst>
                <a:path w="13313" h="13313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287"/>
                    <a:pt x="2925" y="13312"/>
                    <a:pt x="6657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9569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2" y="102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7732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1" y="10286"/>
                    <a:pt x="13311" y="6656"/>
                  </a:cubicBezTo>
                  <a:cubicBezTo>
                    <a:pt x="13311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50274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2925"/>
                    <a:pt x="1" y="6656"/>
                  </a:cubicBezTo>
                  <a:cubicBezTo>
                    <a:pt x="1" y="10286"/>
                    <a:pt x="3026" y="13311"/>
                    <a:pt x="6656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223224" y="1231796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2925"/>
                    <a:pt x="1" y="6656"/>
                  </a:cubicBezTo>
                  <a:cubicBezTo>
                    <a:pt x="1" y="10286"/>
                    <a:pt x="2925" y="13311"/>
                    <a:pt x="6657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569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2" y="10286"/>
                    <a:pt x="13312" y="6656"/>
                  </a:cubicBezTo>
                  <a:cubicBezTo>
                    <a:pt x="13312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/>
          <p:nvPr/>
        </p:nvSpPr>
        <p:spPr>
          <a:xfrm>
            <a:off x="7726169" y="5880102"/>
            <a:ext cx="947851" cy="117881"/>
          </a:xfrm>
          <a:custGeom>
            <a:avLst/>
            <a:gdLst/>
            <a:ahLst/>
            <a:cxnLst/>
            <a:rect l="l" t="t" r="r" b="b"/>
            <a:pathLst>
              <a:path w="178391" h="22186" extrusionOk="0">
                <a:moveTo>
                  <a:pt x="173752" y="13009"/>
                </a:moveTo>
                <a:cubicBezTo>
                  <a:pt x="172743" y="13009"/>
                  <a:pt x="171836" y="12807"/>
                  <a:pt x="171130" y="12202"/>
                </a:cubicBezTo>
                <a:cubicBezTo>
                  <a:pt x="170525" y="11698"/>
                  <a:pt x="170020" y="10992"/>
                  <a:pt x="169718" y="9883"/>
                </a:cubicBezTo>
                <a:cubicBezTo>
                  <a:pt x="168911" y="6958"/>
                  <a:pt x="167298" y="4437"/>
                  <a:pt x="165079" y="2723"/>
                </a:cubicBezTo>
                <a:cubicBezTo>
                  <a:pt x="162760" y="1009"/>
                  <a:pt x="159936" y="0"/>
                  <a:pt x="156911" y="0"/>
                </a:cubicBezTo>
                <a:cubicBezTo>
                  <a:pt x="153785" y="0"/>
                  <a:pt x="150961" y="1009"/>
                  <a:pt x="148642" y="2723"/>
                </a:cubicBezTo>
                <a:cubicBezTo>
                  <a:pt x="146423" y="4437"/>
                  <a:pt x="144810" y="6958"/>
                  <a:pt x="144003" y="9883"/>
                </a:cubicBezTo>
                <a:cubicBezTo>
                  <a:pt x="143701" y="10992"/>
                  <a:pt x="143196" y="11698"/>
                  <a:pt x="142591" y="12202"/>
                </a:cubicBezTo>
                <a:cubicBezTo>
                  <a:pt x="141885" y="12807"/>
                  <a:pt x="140978" y="13009"/>
                  <a:pt x="139969" y="13009"/>
                </a:cubicBezTo>
                <a:cubicBezTo>
                  <a:pt x="138961" y="13009"/>
                  <a:pt x="138053" y="12807"/>
                  <a:pt x="137348" y="12202"/>
                </a:cubicBezTo>
                <a:cubicBezTo>
                  <a:pt x="136642" y="11698"/>
                  <a:pt x="136137" y="10891"/>
                  <a:pt x="135936" y="9883"/>
                </a:cubicBezTo>
                <a:cubicBezTo>
                  <a:pt x="135129" y="6958"/>
                  <a:pt x="133516" y="4437"/>
                  <a:pt x="131196" y="2723"/>
                </a:cubicBezTo>
                <a:cubicBezTo>
                  <a:pt x="128877" y="1009"/>
                  <a:pt x="126053" y="0"/>
                  <a:pt x="123028" y="0"/>
                </a:cubicBezTo>
                <a:cubicBezTo>
                  <a:pt x="120003" y="0"/>
                  <a:pt x="117179" y="1009"/>
                  <a:pt x="114860" y="2723"/>
                </a:cubicBezTo>
                <a:cubicBezTo>
                  <a:pt x="112540" y="4437"/>
                  <a:pt x="110927" y="6958"/>
                  <a:pt x="110120" y="9883"/>
                </a:cubicBezTo>
                <a:cubicBezTo>
                  <a:pt x="109918" y="10992"/>
                  <a:pt x="109414" y="11698"/>
                  <a:pt x="108708" y="12202"/>
                </a:cubicBezTo>
                <a:cubicBezTo>
                  <a:pt x="108002" y="12807"/>
                  <a:pt x="107095" y="13009"/>
                  <a:pt x="106086" y="13009"/>
                </a:cubicBezTo>
                <a:cubicBezTo>
                  <a:pt x="105078" y="13009"/>
                  <a:pt x="104170" y="12807"/>
                  <a:pt x="103465" y="12202"/>
                </a:cubicBezTo>
                <a:cubicBezTo>
                  <a:pt x="102859" y="11698"/>
                  <a:pt x="102355" y="10992"/>
                  <a:pt x="102053" y="9883"/>
                </a:cubicBezTo>
                <a:cubicBezTo>
                  <a:pt x="101246" y="6958"/>
                  <a:pt x="99633" y="4437"/>
                  <a:pt x="97313" y="2723"/>
                </a:cubicBezTo>
                <a:cubicBezTo>
                  <a:pt x="95095" y="1009"/>
                  <a:pt x="92271" y="0"/>
                  <a:pt x="89145" y="0"/>
                </a:cubicBezTo>
                <a:cubicBezTo>
                  <a:pt x="86120" y="0"/>
                  <a:pt x="83296" y="1009"/>
                  <a:pt x="80977" y="2723"/>
                </a:cubicBezTo>
                <a:cubicBezTo>
                  <a:pt x="78758" y="4437"/>
                  <a:pt x="77044" y="6958"/>
                  <a:pt x="76338" y="9883"/>
                </a:cubicBezTo>
                <a:cubicBezTo>
                  <a:pt x="76035" y="10891"/>
                  <a:pt x="75531" y="11698"/>
                  <a:pt x="74926" y="12202"/>
                </a:cubicBezTo>
                <a:cubicBezTo>
                  <a:pt x="74220" y="12807"/>
                  <a:pt x="73313" y="13009"/>
                  <a:pt x="72304" y="13009"/>
                </a:cubicBezTo>
                <a:cubicBezTo>
                  <a:pt x="71195" y="13009"/>
                  <a:pt x="70287" y="12807"/>
                  <a:pt x="69682" y="12202"/>
                </a:cubicBezTo>
                <a:cubicBezTo>
                  <a:pt x="68977" y="11698"/>
                  <a:pt x="68472" y="10891"/>
                  <a:pt x="68170" y="9883"/>
                </a:cubicBezTo>
                <a:cubicBezTo>
                  <a:pt x="67464" y="6958"/>
                  <a:pt x="65750" y="4437"/>
                  <a:pt x="63531" y="2723"/>
                </a:cubicBezTo>
                <a:cubicBezTo>
                  <a:pt x="61212" y="1009"/>
                  <a:pt x="58388" y="0"/>
                  <a:pt x="55363" y="0"/>
                </a:cubicBezTo>
                <a:cubicBezTo>
                  <a:pt x="52237" y="0"/>
                  <a:pt x="49413" y="1009"/>
                  <a:pt x="47195" y="2723"/>
                </a:cubicBezTo>
                <a:cubicBezTo>
                  <a:pt x="44875" y="4437"/>
                  <a:pt x="43262" y="6958"/>
                  <a:pt x="42455" y="9883"/>
                </a:cubicBezTo>
                <a:cubicBezTo>
                  <a:pt x="42153" y="10992"/>
                  <a:pt x="41749" y="11698"/>
                  <a:pt x="41043" y="12202"/>
                </a:cubicBezTo>
                <a:cubicBezTo>
                  <a:pt x="40337" y="12807"/>
                  <a:pt x="39430" y="13009"/>
                  <a:pt x="38421" y="13009"/>
                </a:cubicBezTo>
                <a:cubicBezTo>
                  <a:pt x="37413" y="13009"/>
                  <a:pt x="36505" y="12807"/>
                  <a:pt x="35799" y="12202"/>
                </a:cubicBezTo>
                <a:cubicBezTo>
                  <a:pt x="35094" y="11698"/>
                  <a:pt x="34589" y="10992"/>
                  <a:pt x="34388" y="9883"/>
                </a:cubicBezTo>
                <a:cubicBezTo>
                  <a:pt x="33581" y="6958"/>
                  <a:pt x="31967" y="4437"/>
                  <a:pt x="29648" y="2723"/>
                </a:cubicBezTo>
                <a:cubicBezTo>
                  <a:pt x="27329" y="1009"/>
                  <a:pt x="24505" y="0"/>
                  <a:pt x="21480" y="0"/>
                </a:cubicBezTo>
                <a:cubicBezTo>
                  <a:pt x="18455" y="0"/>
                  <a:pt x="15631" y="1009"/>
                  <a:pt x="13312" y="2723"/>
                </a:cubicBezTo>
                <a:cubicBezTo>
                  <a:pt x="10992" y="4437"/>
                  <a:pt x="9379" y="6958"/>
                  <a:pt x="8572" y="9883"/>
                </a:cubicBezTo>
                <a:cubicBezTo>
                  <a:pt x="8370" y="10891"/>
                  <a:pt x="7866" y="11698"/>
                  <a:pt x="7160" y="12202"/>
                </a:cubicBezTo>
                <a:cubicBezTo>
                  <a:pt x="6555" y="12807"/>
                  <a:pt x="5648" y="13009"/>
                  <a:pt x="4538" y="13009"/>
                </a:cubicBezTo>
                <a:cubicBezTo>
                  <a:pt x="2017" y="13009"/>
                  <a:pt x="0" y="15127"/>
                  <a:pt x="0" y="17648"/>
                </a:cubicBezTo>
                <a:cubicBezTo>
                  <a:pt x="0" y="20169"/>
                  <a:pt x="2017" y="22186"/>
                  <a:pt x="4538" y="22186"/>
                </a:cubicBezTo>
                <a:cubicBezTo>
                  <a:pt x="7664" y="22186"/>
                  <a:pt x="10488" y="21278"/>
                  <a:pt x="12707" y="19463"/>
                </a:cubicBezTo>
                <a:cubicBezTo>
                  <a:pt x="15026" y="17748"/>
                  <a:pt x="16639" y="15227"/>
                  <a:pt x="17446" y="12303"/>
                </a:cubicBezTo>
                <a:cubicBezTo>
                  <a:pt x="17749" y="11295"/>
                  <a:pt x="18152" y="10488"/>
                  <a:pt x="18858" y="9984"/>
                </a:cubicBezTo>
                <a:cubicBezTo>
                  <a:pt x="19564" y="9479"/>
                  <a:pt x="20471" y="9177"/>
                  <a:pt x="21480" y="9177"/>
                </a:cubicBezTo>
                <a:cubicBezTo>
                  <a:pt x="22488" y="9177"/>
                  <a:pt x="23396" y="9479"/>
                  <a:pt x="24102" y="9984"/>
                </a:cubicBezTo>
                <a:cubicBezTo>
                  <a:pt x="24808" y="10488"/>
                  <a:pt x="25211" y="11295"/>
                  <a:pt x="25514" y="12303"/>
                </a:cubicBezTo>
                <a:cubicBezTo>
                  <a:pt x="26320" y="15227"/>
                  <a:pt x="27934" y="17748"/>
                  <a:pt x="30253" y="19463"/>
                </a:cubicBezTo>
                <a:cubicBezTo>
                  <a:pt x="32472" y="21278"/>
                  <a:pt x="35396" y="22186"/>
                  <a:pt x="38421" y="22186"/>
                </a:cubicBezTo>
                <a:cubicBezTo>
                  <a:pt x="41447" y="22186"/>
                  <a:pt x="44270" y="21278"/>
                  <a:pt x="46590" y="19463"/>
                </a:cubicBezTo>
                <a:cubicBezTo>
                  <a:pt x="48909" y="17748"/>
                  <a:pt x="50522" y="15227"/>
                  <a:pt x="51329" y="12303"/>
                </a:cubicBezTo>
                <a:cubicBezTo>
                  <a:pt x="51531" y="11295"/>
                  <a:pt x="52035" y="10488"/>
                  <a:pt x="52741" y="9984"/>
                </a:cubicBezTo>
                <a:cubicBezTo>
                  <a:pt x="53346" y="9479"/>
                  <a:pt x="54254" y="9177"/>
                  <a:pt x="55363" y="9177"/>
                </a:cubicBezTo>
                <a:cubicBezTo>
                  <a:pt x="56371" y="9177"/>
                  <a:pt x="57279" y="9479"/>
                  <a:pt x="57985" y="9984"/>
                </a:cubicBezTo>
                <a:cubicBezTo>
                  <a:pt x="58590" y="10488"/>
                  <a:pt x="59094" y="11295"/>
                  <a:pt x="59397" y="12303"/>
                </a:cubicBezTo>
                <a:cubicBezTo>
                  <a:pt x="60203" y="15227"/>
                  <a:pt x="61817" y="17748"/>
                  <a:pt x="64035" y="19463"/>
                </a:cubicBezTo>
                <a:cubicBezTo>
                  <a:pt x="66355" y="21278"/>
                  <a:pt x="69178" y="22186"/>
                  <a:pt x="72203" y="22186"/>
                </a:cubicBezTo>
                <a:cubicBezTo>
                  <a:pt x="75330" y="22186"/>
                  <a:pt x="78153" y="21278"/>
                  <a:pt x="80473" y="19463"/>
                </a:cubicBezTo>
                <a:cubicBezTo>
                  <a:pt x="82691" y="17748"/>
                  <a:pt x="84305" y="15227"/>
                  <a:pt x="85111" y="12303"/>
                </a:cubicBezTo>
                <a:cubicBezTo>
                  <a:pt x="85414" y="11295"/>
                  <a:pt x="85918" y="10488"/>
                  <a:pt x="86523" y="9984"/>
                </a:cubicBezTo>
                <a:cubicBezTo>
                  <a:pt x="87229" y="9479"/>
                  <a:pt x="88137" y="9177"/>
                  <a:pt x="89145" y="9177"/>
                </a:cubicBezTo>
                <a:cubicBezTo>
                  <a:pt x="90254" y="9177"/>
                  <a:pt x="91162" y="9479"/>
                  <a:pt x="91767" y="9984"/>
                </a:cubicBezTo>
                <a:cubicBezTo>
                  <a:pt x="92473" y="10488"/>
                  <a:pt x="92977" y="11295"/>
                  <a:pt x="93179" y="12303"/>
                </a:cubicBezTo>
                <a:cubicBezTo>
                  <a:pt x="93985" y="15227"/>
                  <a:pt x="95599" y="17748"/>
                  <a:pt x="97918" y="19463"/>
                </a:cubicBezTo>
                <a:cubicBezTo>
                  <a:pt x="100238" y="21278"/>
                  <a:pt x="103061" y="22186"/>
                  <a:pt x="106086" y="22186"/>
                </a:cubicBezTo>
                <a:cubicBezTo>
                  <a:pt x="109112" y="22186"/>
                  <a:pt x="112036" y="21278"/>
                  <a:pt x="114255" y="19463"/>
                </a:cubicBezTo>
                <a:cubicBezTo>
                  <a:pt x="116574" y="17748"/>
                  <a:pt x="118187" y="15227"/>
                  <a:pt x="118994" y="12303"/>
                </a:cubicBezTo>
                <a:cubicBezTo>
                  <a:pt x="119297" y="11295"/>
                  <a:pt x="119700" y="10488"/>
                  <a:pt x="120406" y="9984"/>
                </a:cubicBezTo>
                <a:cubicBezTo>
                  <a:pt x="121112" y="9479"/>
                  <a:pt x="122019" y="9177"/>
                  <a:pt x="123028" y="9177"/>
                </a:cubicBezTo>
                <a:cubicBezTo>
                  <a:pt x="124036" y="9177"/>
                  <a:pt x="124944" y="9479"/>
                  <a:pt x="125650" y="9984"/>
                </a:cubicBezTo>
                <a:cubicBezTo>
                  <a:pt x="126356" y="10488"/>
                  <a:pt x="126759" y="11295"/>
                  <a:pt x="127062" y="12303"/>
                </a:cubicBezTo>
                <a:cubicBezTo>
                  <a:pt x="127868" y="15227"/>
                  <a:pt x="129482" y="17748"/>
                  <a:pt x="131801" y="19463"/>
                </a:cubicBezTo>
                <a:cubicBezTo>
                  <a:pt x="134020" y="21278"/>
                  <a:pt x="136843" y="22186"/>
                  <a:pt x="139969" y="22186"/>
                </a:cubicBezTo>
                <a:cubicBezTo>
                  <a:pt x="142995" y="22186"/>
                  <a:pt x="145818" y="21278"/>
                  <a:pt x="148138" y="19463"/>
                </a:cubicBezTo>
                <a:cubicBezTo>
                  <a:pt x="150356" y="17748"/>
                  <a:pt x="152070" y="15227"/>
                  <a:pt x="152776" y="12303"/>
                </a:cubicBezTo>
                <a:cubicBezTo>
                  <a:pt x="153079" y="11295"/>
                  <a:pt x="153583" y="10488"/>
                  <a:pt x="154289" y="9984"/>
                </a:cubicBezTo>
                <a:cubicBezTo>
                  <a:pt x="154894" y="9479"/>
                  <a:pt x="155802" y="9177"/>
                  <a:pt x="156911" y="9177"/>
                </a:cubicBezTo>
                <a:cubicBezTo>
                  <a:pt x="157919" y="9177"/>
                  <a:pt x="158827" y="9479"/>
                  <a:pt x="159533" y="9984"/>
                </a:cubicBezTo>
                <a:cubicBezTo>
                  <a:pt x="160138" y="10488"/>
                  <a:pt x="160642" y="11295"/>
                  <a:pt x="160945" y="12303"/>
                </a:cubicBezTo>
                <a:cubicBezTo>
                  <a:pt x="161751" y="15227"/>
                  <a:pt x="163365" y="17748"/>
                  <a:pt x="165583" y="19463"/>
                </a:cubicBezTo>
                <a:cubicBezTo>
                  <a:pt x="167903" y="21278"/>
                  <a:pt x="170726" y="22186"/>
                  <a:pt x="173752" y="22186"/>
                </a:cubicBezTo>
                <a:cubicBezTo>
                  <a:pt x="176273" y="22186"/>
                  <a:pt x="178390" y="20169"/>
                  <a:pt x="178390" y="17648"/>
                </a:cubicBezTo>
                <a:cubicBezTo>
                  <a:pt x="178390" y="15127"/>
                  <a:pt x="176273" y="13009"/>
                  <a:pt x="173752" y="130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2"/>
          <p:cNvSpPr/>
          <p:nvPr/>
        </p:nvSpPr>
        <p:spPr>
          <a:xfrm>
            <a:off x="1016000" y="5406567"/>
            <a:ext cx="838000" cy="1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2"/>
          <p:cNvSpPr txBox="1">
            <a:spLocks noGrp="1"/>
          </p:cNvSpPr>
          <p:nvPr>
            <p:ph type="subTitle" idx="1"/>
          </p:nvPr>
        </p:nvSpPr>
        <p:spPr>
          <a:xfrm>
            <a:off x="974400" y="2720472"/>
            <a:ext cx="5706000" cy="116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5465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2"/>
          </p:nvPr>
        </p:nvSpPr>
        <p:spPr>
          <a:xfrm>
            <a:off x="974400" y="5716467"/>
            <a:ext cx="4996800" cy="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5"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22341512"/>
      </p:ext>
    </p:extLst>
  </p:cSld>
  <p:clrMapOvr>
    <a:masterClrMapping/>
  </p:clrMapOvr>
  <p:transition>
    <p:fade thruBlk="1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2212733"/>
            <a:ext cx="5685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3888339"/>
            <a:ext cx="56852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3976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8724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AAE89-7064-421D-9916-420AA2E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A12CE-274A-4C60-9546-77A9682A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3BBF9-6C16-49C0-B59C-BBB728D49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E9423-4AA5-436D-A3A1-72E3B0769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A87426-75BB-4DA5-A531-460DD7508A1B}"/>
              </a:ext>
            </a:extLst>
          </p:cNvPr>
          <p:cNvSpPr/>
          <p:nvPr userDrawn="1"/>
        </p:nvSpPr>
        <p:spPr>
          <a:xfrm>
            <a:off x="6096000" y="-9331"/>
            <a:ext cx="6096000" cy="1073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0ED3DD-A7C3-4095-9269-329F194BB6AC}"/>
              </a:ext>
            </a:extLst>
          </p:cNvPr>
          <p:cNvSpPr/>
          <p:nvPr userDrawn="1"/>
        </p:nvSpPr>
        <p:spPr>
          <a:xfrm>
            <a:off x="0" y="1073257"/>
            <a:ext cx="12192000" cy="151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 descr="Resultado de imagen para LOGO UNAC">
            <a:extLst>
              <a:ext uri="{FF2B5EF4-FFF2-40B4-BE49-F238E27FC236}">
                <a16:creationId xmlns:a16="http://schemas.microsoft.com/office/drawing/2014/main" id="{C8363EE3-3A68-4118-94B3-883E5C704F10}"/>
              </a:ext>
            </a:extLst>
          </p:cNvPr>
          <p:cNvPicPr/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2" y="188233"/>
            <a:ext cx="537224" cy="684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2518396"/>
            <a:ext cx="4913785" cy="2916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2" descr="UN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" y="190477"/>
            <a:ext cx="2855333" cy="6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/>
          <p:cNvSpPr/>
          <p:nvPr/>
        </p:nvSpPr>
        <p:spPr>
          <a:xfrm>
            <a:off x="7261461" y="5795306"/>
            <a:ext cx="467139" cy="450222"/>
          </a:xfrm>
          <a:prstGeom prst="rect">
            <a:avLst/>
          </a:prstGeom>
          <a:solidFill>
            <a:srgbClr val="D7E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Título 2"/>
          <p:cNvSpPr txBox="1"/>
          <p:nvPr/>
        </p:nvSpPr>
        <p:spPr>
          <a:xfrm>
            <a:off x="8321150" y="5795306"/>
            <a:ext cx="2803628" cy="697178"/>
          </a:xfrm>
          <a:prstGeom prst="roundRect">
            <a:avLst/>
          </a:prstGeom>
          <a:solidFill>
            <a:schemeClr val="bg1"/>
          </a:solidFill>
          <a:ln w="28575">
            <a:noFill/>
            <a:prstDash val="lg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800" dirty="0">
                <a:solidFill>
                  <a:srgbClr val="002060"/>
                </a:solidFill>
                <a:latin typeface="Bodoni MT Black" panose="02070A03080606020203" pitchFamily="18" charset="0"/>
                <a:cs typeface="Leelawadee UI" panose="020B0502040204020203" pitchFamily="34" charset="-34"/>
              </a:rPr>
              <a:t>SEMESTRE ACADÉMICO 2026 B</a:t>
            </a:r>
            <a:endParaRPr lang="es-ES" sz="1800" dirty="0">
              <a:solidFill>
                <a:srgbClr val="002060"/>
              </a:solidFill>
              <a:latin typeface="Bodoni MT Black" panose="02070A03080606020203" pitchFamily="18" charset="0"/>
              <a:cs typeface="Leelawadee UI" panose="020B0502040204020203" pitchFamily="34" charset="-34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61" y="0"/>
            <a:ext cx="4923006" cy="1400220"/>
          </a:xfrm>
          <a:prstGeom prst="rect">
            <a:avLst/>
          </a:prstGeom>
        </p:spPr>
      </p:pic>
      <p:sp>
        <p:nvSpPr>
          <p:cNvPr id="15" name="4 CuadroTexto">
            <a:extLst>
              <a:ext uri="{FF2B5EF4-FFF2-40B4-BE49-F238E27FC236}">
                <a16:creationId xmlns:a16="http://schemas.microsoft.com/office/drawing/2014/main" id="{4365F436-E173-4817-8107-4110CE39FADE}"/>
              </a:ext>
            </a:extLst>
          </p:cNvPr>
          <p:cNvSpPr txBox="1"/>
          <p:nvPr/>
        </p:nvSpPr>
        <p:spPr>
          <a:xfrm>
            <a:off x="0" y="413451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0000"/>
                </a:solidFill>
              </a:rPr>
              <a:t>Docente:</a:t>
            </a:r>
          </a:p>
          <a:p>
            <a:pPr algn="ctr"/>
            <a:r>
              <a:rPr lang="es-ES" sz="2400" b="1" dirty="0" err="1">
                <a:solidFill>
                  <a:srgbClr val="700000"/>
                </a:solidFill>
              </a:rPr>
              <a:t>ANIVAL</a:t>
            </a:r>
            <a:r>
              <a:rPr lang="es-ES" sz="2400" b="1" dirty="0">
                <a:solidFill>
                  <a:srgbClr val="700000"/>
                </a:solidFill>
              </a:rPr>
              <a:t> TORRE CAMONES</a:t>
            </a:r>
            <a:endParaRPr lang="es-PE" sz="2400" b="1" dirty="0">
              <a:solidFill>
                <a:srgbClr val="700000"/>
              </a:solidFill>
            </a:endParaRPr>
          </a:p>
        </p:txBody>
      </p:sp>
      <p:sp>
        <p:nvSpPr>
          <p:cNvPr id="2" name="5 Rectángulo">
            <a:extLst>
              <a:ext uri="{FF2B5EF4-FFF2-40B4-BE49-F238E27FC236}">
                <a16:creationId xmlns:a16="http://schemas.microsoft.com/office/drawing/2014/main" id="{3267FC93-B427-4E7C-B243-BE63C44CB29D}"/>
              </a:ext>
            </a:extLst>
          </p:cNvPr>
          <p:cNvSpPr/>
          <p:nvPr/>
        </p:nvSpPr>
        <p:spPr>
          <a:xfrm>
            <a:off x="390" y="2394096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b="1" dirty="0">
                <a:solidFill>
                  <a:srgbClr val="700000"/>
                </a:solidFill>
              </a:rPr>
              <a:t>INVESTIGACION DE OPERACIONES</a:t>
            </a:r>
            <a:endParaRPr lang="es-PE" sz="4000" b="1" dirty="0">
              <a:solidFill>
                <a:srgbClr val="7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91808-C582-26D7-9A61-E42C7376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36" y="3366595"/>
            <a:ext cx="1097308" cy="109730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834501" y="3194028"/>
            <a:ext cx="5181600" cy="1546400"/>
          </a:xfrm>
        </p:spPr>
        <p:txBody>
          <a:bodyPr/>
          <a:lstStyle/>
          <a:p>
            <a:pPr algn="ctr"/>
            <a:r>
              <a:rPr lang="es-PE" sz="4400" dirty="0">
                <a:solidFill>
                  <a:srgbClr val="FF0000"/>
                </a:solidFill>
                <a:latin typeface="Bauhaus 93" pitchFamily="82" charset="0"/>
              </a:rPr>
              <a:t>PROGRAMACIÓN POR METAS</a:t>
            </a:r>
            <a:endParaRPr lang="es-ES" sz="4400" dirty="0">
              <a:solidFill>
                <a:srgbClr val="0064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4294967295"/>
          </p:nvPr>
        </p:nvSpPr>
        <p:spPr>
          <a:xfrm>
            <a:off x="10118726" y="6332538"/>
            <a:ext cx="549275" cy="525462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Semana 14</a:t>
            </a:r>
          </a:p>
        </p:txBody>
      </p:sp>
      <p:pic>
        <p:nvPicPr>
          <p:cNvPr id="8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592" y="1978308"/>
            <a:ext cx="1782850" cy="198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229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7" name="Group 3"/>
          <p:cNvGrpSpPr>
            <a:grpSpLocks/>
          </p:cNvGrpSpPr>
          <p:nvPr/>
        </p:nvGrpSpPr>
        <p:grpSpPr bwMode="auto">
          <a:xfrm>
            <a:off x="2635074" y="2037150"/>
            <a:ext cx="762000" cy="665163"/>
            <a:chOff x="1110" y="2656"/>
            <a:chExt cx="1549" cy="1351"/>
          </a:xfrm>
          <a:solidFill>
            <a:schemeClr val="accent6">
              <a:lumMod val="75000"/>
            </a:schemeClr>
          </a:solidFill>
        </p:grpSpPr>
        <p:sp>
          <p:nvSpPr>
            <p:cNvPr id="6758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8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0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2627879" y="2945666"/>
            <a:ext cx="762000" cy="665163"/>
            <a:chOff x="3174" y="2656"/>
            <a:chExt cx="1549" cy="1351"/>
          </a:xfrm>
        </p:grpSpPr>
        <p:sp>
          <p:nvSpPr>
            <p:cNvPr id="6759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594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595" name="Line 11"/>
          <p:cNvSpPr>
            <a:spLocks noChangeShapeType="1"/>
          </p:cNvSpPr>
          <p:nvPr/>
        </p:nvSpPr>
        <p:spPr bwMode="auto">
          <a:xfrm flipV="1">
            <a:off x="3791744" y="2631057"/>
            <a:ext cx="6309788" cy="1271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6" name="Text Box 12"/>
          <p:cNvSpPr txBox="1">
            <a:spLocks noChangeArrowheads="1"/>
          </p:cNvSpPr>
          <p:nvPr/>
        </p:nvSpPr>
        <p:spPr bwMode="auto">
          <a:xfrm>
            <a:off x="3647728" y="2091036"/>
            <a:ext cx="663181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PE"/>
            </a:defPPr>
            <a:lvl1pPr eaLnBrk="0" hangingPunct="0">
              <a:defRPr sz="2800">
                <a:solidFill>
                  <a:schemeClr val="bg2">
                    <a:lumMod val="25000"/>
                  </a:schemeClr>
                </a:solidFill>
              </a:defRPr>
            </a:lvl1pPr>
            <a:lvl2pPr marL="0" lvl="1">
              <a:defRPr sz="2800"/>
            </a:lvl2pPr>
          </a:lstStyle>
          <a:p>
            <a:r>
              <a:rPr lang="es-ES_tradnl" dirty="0">
                <a:solidFill>
                  <a:schemeClr val="tx1"/>
                </a:solidFill>
              </a:rPr>
              <a:t>Definición de Programación lineal por metas</a:t>
            </a:r>
          </a:p>
        </p:txBody>
      </p:sp>
      <p:sp>
        <p:nvSpPr>
          <p:cNvPr id="67597" name="Text Box 13"/>
          <p:cNvSpPr txBox="1">
            <a:spLocks noChangeArrowheads="1"/>
          </p:cNvSpPr>
          <p:nvPr/>
        </p:nvSpPr>
        <p:spPr bwMode="gray">
          <a:xfrm>
            <a:off x="2849193" y="2122490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598" name="Line 14"/>
          <p:cNvSpPr>
            <a:spLocks noChangeShapeType="1"/>
          </p:cNvSpPr>
          <p:nvPr/>
        </p:nvSpPr>
        <p:spPr bwMode="auto">
          <a:xfrm flipV="1">
            <a:off x="3821502" y="3562708"/>
            <a:ext cx="6271404" cy="17253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3666522" y="3058303"/>
            <a:ext cx="661181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PE"/>
            </a:defPPr>
            <a:lvl1pPr eaLnBrk="0" hangingPunct="0"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/>
            <a:r>
              <a:rPr lang="es-ES" sz="2800" dirty="0"/>
              <a:t>Programación por metas con ponderaciones</a:t>
            </a:r>
            <a:endParaRPr lang="es-PE" sz="2800" dirty="0"/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gray">
          <a:xfrm>
            <a:off x="2893467" y="3036890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67601" name="Group 17"/>
          <p:cNvGrpSpPr>
            <a:grpSpLocks/>
          </p:cNvGrpSpPr>
          <p:nvPr/>
        </p:nvGrpSpPr>
        <p:grpSpPr bwMode="auto">
          <a:xfrm>
            <a:off x="2641469" y="3841962"/>
            <a:ext cx="762000" cy="665163"/>
            <a:chOff x="1110" y="2656"/>
            <a:chExt cx="1549" cy="1351"/>
          </a:xfrm>
          <a:solidFill>
            <a:schemeClr val="accent6">
              <a:lumMod val="75000"/>
            </a:schemeClr>
          </a:solidFill>
        </p:grpSpPr>
        <p:sp>
          <p:nvSpPr>
            <p:cNvPr id="676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grpSp>
        <p:nvGrpSpPr>
          <p:cNvPr id="67605" name="Group 21"/>
          <p:cNvGrpSpPr>
            <a:grpSpLocks/>
          </p:cNvGrpSpPr>
          <p:nvPr/>
        </p:nvGrpSpPr>
        <p:grpSpPr bwMode="auto">
          <a:xfrm>
            <a:off x="2635074" y="4719490"/>
            <a:ext cx="762000" cy="665163"/>
            <a:chOff x="3174" y="2656"/>
            <a:chExt cx="1549" cy="1351"/>
          </a:xfrm>
        </p:grpSpPr>
        <p:sp>
          <p:nvSpPr>
            <p:cNvPr id="67606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7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  <p:sp>
          <p:nvSpPr>
            <p:cNvPr id="67608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dirty="0"/>
            </a:p>
          </p:txBody>
        </p:sp>
      </p:grpSp>
      <p:sp>
        <p:nvSpPr>
          <p:cNvPr id="67610" name="Text Box 26"/>
          <p:cNvSpPr txBox="1">
            <a:spLocks noChangeArrowheads="1"/>
          </p:cNvSpPr>
          <p:nvPr/>
        </p:nvSpPr>
        <p:spPr bwMode="auto">
          <a:xfrm>
            <a:off x="3691480" y="3938049"/>
            <a:ext cx="611744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8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/>
            <a:r>
              <a:rPr lang="es-ES" sz="2800" dirty="0"/>
              <a:t>Programación por metas con prioridades</a:t>
            </a:r>
            <a:endParaRPr lang="es-PE" sz="2800" dirty="0"/>
          </a:p>
        </p:txBody>
      </p:sp>
      <p:sp>
        <p:nvSpPr>
          <p:cNvPr id="67611" name="Text Box 27"/>
          <p:cNvSpPr txBox="1">
            <a:spLocks noChangeArrowheads="1"/>
          </p:cNvSpPr>
          <p:nvPr/>
        </p:nvSpPr>
        <p:spPr bwMode="gray">
          <a:xfrm>
            <a:off x="2855588" y="3951607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3691478" y="4837457"/>
            <a:ext cx="1997919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8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marL="0" lvl="1"/>
            <a:r>
              <a:rPr lang="es-ES" sz="2800" dirty="0"/>
              <a:t>Aplicaciones</a:t>
            </a:r>
            <a:endParaRPr lang="es-PE" sz="2800" dirty="0"/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gray">
          <a:xfrm>
            <a:off x="2847718" y="4832917"/>
            <a:ext cx="3401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615" name="Text Box 31"/>
          <p:cNvSpPr txBox="1">
            <a:spLocks noChangeArrowheads="1"/>
          </p:cNvSpPr>
          <p:nvPr/>
        </p:nvSpPr>
        <p:spPr bwMode="auto">
          <a:xfrm>
            <a:off x="3184527" y="72231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 dirty="0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483A48B0-615B-48A5-A61A-36298DBB8E44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  <a:endParaRPr lang="es-ES" sz="3200" dirty="0">
              <a:solidFill>
                <a:schemeClr val="bg1"/>
              </a:solidFill>
              <a:latin typeface="Bauhaus 93" pitchFamily="82" charset="0"/>
              <a:ea typeface="+mn-ea"/>
              <a:cs typeface="+mn-cs"/>
            </a:endParaRPr>
          </a:p>
        </p:txBody>
      </p:sp>
      <p:sp>
        <p:nvSpPr>
          <p:cNvPr id="33" name="Line 14">
            <a:extLst>
              <a:ext uri="{FF2B5EF4-FFF2-40B4-BE49-F238E27FC236}">
                <a16:creationId xmlns:a16="http://schemas.microsoft.com/office/drawing/2014/main" id="{65F44E7A-596E-4287-AA04-50CD15F512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7260" y="4448348"/>
            <a:ext cx="6271404" cy="17253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7F533541-929E-4B6C-80C1-57E712465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3010" y="5325372"/>
            <a:ext cx="6271404" cy="17253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283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6096000" y="116632"/>
            <a:ext cx="6096000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PROBLEMA 3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276553"/>
            <a:ext cx="6075680" cy="550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Un fabricante está tratando de decidir sobre la cantidad a producir de mesas y sillas. Para ello cuenta con 96 unidades de material y 72 horas de mano de obra semanal. Cada mesa requiere 12 unidades de material y 6 horas de mano de obra, por su parte, la fabricación de cada silla requiere 8 unidades de material y 12 horas de mano de obra. El margen de contribución a la ganancia es el mismo para ambos productos y es de 5 dólares por unidad. Además, el fabricante se comprometió a construir al menos 2 mesas semanales. S</a:t>
            </a:r>
            <a:r>
              <a:rPr lang="es-ES" sz="2200" b="1" dirty="0">
                <a:latin typeface="Arial Narrow" panose="020B0606020202030204" pitchFamily="34" charset="0"/>
              </a:rPr>
              <a:t>uponga las siguientes </a:t>
            </a:r>
            <a:r>
              <a:rPr lang="es-ES" sz="2200" b="1" dirty="0">
                <a:solidFill>
                  <a:srgbClr val="FF0000"/>
                </a:solidFill>
                <a:latin typeface="Arial Narrow" panose="020B0606020202030204" pitchFamily="34" charset="0"/>
              </a:rPr>
              <a:t>metas</a:t>
            </a:r>
            <a:r>
              <a:rPr lang="es-ES" sz="2200" b="1" dirty="0">
                <a:latin typeface="Arial Narrow" panose="020B0606020202030204" pitchFamily="34" charset="0"/>
              </a:rPr>
              <a:t> por orden de importancia: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b="1" dirty="0">
                <a:latin typeface="Arial Narrow" panose="020B0606020202030204" pitchFamily="34" charset="0"/>
              </a:rPr>
              <a:t>Meta </a:t>
            </a:r>
            <a:r>
              <a:rPr lang="es-ES" sz="2200" b="1" dirty="0" err="1">
                <a:latin typeface="Arial Narrow" panose="020B0606020202030204" pitchFamily="34" charset="0"/>
              </a:rPr>
              <a:t>1:Lograr</a:t>
            </a:r>
            <a:r>
              <a:rPr lang="es-ES" sz="2200" b="1" dirty="0">
                <a:latin typeface="Arial Narrow" panose="020B0606020202030204" pitchFamily="34" charset="0"/>
              </a:rPr>
              <a:t> más de 50 dólares de ganancia.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b="1" dirty="0">
                <a:latin typeface="Arial Narrow" panose="020B0606020202030204" pitchFamily="34" charset="0"/>
              </a:rPr>
              <a:t>Meta 2: Utilizar completamente las horas de mano de obra. Formule y resuelva el modelo de programación por metas.</a:t>
            </a:r>
          </a:p>
        </p:txBody>
      </p:sp>
      <p:graphicFrame>
        <p:nvGraphicFramePr>
          <p:cNvPr id="4" name="4 Tabla">
            <a:extLst>
              <a:ext uri="{FF2B5EF4-FFF2-40B4-BE49-F238E27FC236}">
                <a16:creationId xmlns:a16="http://schemas.microsoft.com/office/drawing/2014/main" id="{3683457A-E96F-49A9-8BA5-0541C99A7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115336"/>
              </p:ext>
            </p:extLst>
          </p:nvPr>
        </p:nvGraphicFramePr>
        <p:xfrm>
          <a:off x="6254150" y="2278008"/>
          <a:ext cx="5753819" cy="334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2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1400" b="1" dirty="0">
                          <a:solidFill>
                            <a:schemeClr val="bg1"/>
                          </a:solidFill>
                        </a:rPr>
                        <a:t>PRODUCTO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1400" b="1" dirty="0">
                          <a:solidFill>
                            <a:schemeClr val="bg1"/>
                          </a:solidFill>
                        </a:rPr>
                        <a:t>MATERIAL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1400" b="1" dirty="0">
                          <a:solidFill>
                            <a:schemeClr val="bg1"/>
                          </a:solidFill>
                        </a:rPr>
                        <a:t>(u/U)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1400" b="1" dirty="0">
                          <a:solidFill>
                            <a:schemeClr val="bg1"/>
                          </a:solidFill>
                        </a:rPr>
                        <a:t>PRODUCCION (U)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1400" b="1" dirty="0">
                          <a:solidFill>
                            <a:schemeClr val="bg1"/>
                          </a:solidFill>
                        </a:rPr>
                        <a:t>MANO DE OBRA (h/U)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1400" b="1" dirty="0">
                          <a:solidFill>
                            <a:schemeClr val="bg1"/>
                          </a:solidFill>
                        </a:rPr>
                        <a:t>GANANCIA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1400" b="1" dirty="0">
                          <a:solidFill>
                            <a:schemeClr val="bg1"/>
                          </a:solidFill>
                        </a:rPr>
                        <a:t>($/U)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Mesas </a:t>
                      </a:r>
                      <a:r>
                        <a:rPr lang="es-VE" sz="2000" b="1" dirty="0">
                          <a:solidFill>
                            <a:srgbClr val="FF0000"/>
                          </a:solidFill>
                        </a:rPr>
                        <a:t>(X₁)</a:t>
                      </a:r>
                      <a:endParaRPr lang="es-VE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2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Sillas   </a:t>
                      </a:r>
                      <a:r>
                        <a:rPr lang="es-VE" sz="2000" b="1" dirty="0">
                          <a:solidFill>
                            <a:srgbClr val="FF0000"/>
                          </a:solidFill>
                        </a:rPr>
                        <a:t>(X₂)</a:t>
                      </a:r>
                      <a:endParaRPr lang="es-VE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1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DISPONIB.</a:t>
                      </a: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96 u/</a:t>
                      </a:r>
                      <a:r>
                        <a:rPr lang="es-VE" sz="2000" b="1" dirty="0" err="1">
                          <a:solidFill>
                            <a:schemeClr val="bg1"/>
                          </a:solidFill>
                        </a:rPr>
                        <a:t>sem</a:t>
                      </a:r>
                      <a:endParaRPr lang="es-VE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s-VE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VE" sz="2000" b="1" dirty="0">
                          <a:solidFill>
                            <a:schemeClr val="bg1"/>
                          </a:solidFill>
                        </a:rPr>
                        <a:t>72 h/</a:t>
                      </a:r>
                      <a:r>
                        <a:rPr lang="es-VE" sz="2000" b="1" dirty="0" err="1">
                          <a:solidFill>
                            <a:schemeClr val="bg1"/>
                          </a:solidFill>
                        </a:rPr>
                        <a:t>sem</a:t>
                      </a:r>
                      <a:endParaRPr lang="es-VE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s-VE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cell3D prstMaterial="dkEdge">
                      <a:bevel prst="artDeco"/>
                      <a:lightRig rig="flood" dir="t"/>
                    </a:cell3D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11 Rectángulo">
            <a:extLst>
              <a:ext uri="{FF2B5EF4-FFF2-40B4-BE49-F238E27FC236}">
                <a16:creationId xmlns:a16="http://schemas.microsoft.com/office/drawing/2014/main" id="{3C3449EA-8258-4C76-8161-72DCA24CDAC1}"/>
              </a:ext>
            </a:extLst>
          </p:cNvPr>
          <p:cNvSpPr/>
          <p:nvPr/>
        </p:nvSpPr>
        <p:spPr>
          <a:xfrm>
            <a:off x="6238072" y="1328476"/>
            <a:ext cx="44101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SOLUCIÓN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Identificación de los parámetros (datos)</a:t>
            </a:r>
          </a:p>
        </p:txBody>
      </p:sp>
      <p:sp>
        <p:nvSpPr>
          <p:cNvPr id="6" name="34 Rectángulo redondeado">
            <a:extLst>
              <a:ext uri="{FF2B5EF4-FFF2-40B4-BE49-F238E27FC236}">
                <a16:creationId xmlns:a16="http://schemas.microsoft.com/office/drawing/2014/main" id="{7A420854-7C36-44D6-AFB8-3AFAE8D218FB}"/>
              </a:ext>
            </a:extLst>
          </p:cNvPr>
          <p:cNvSpPr/>
          <p:nvPr/>
        </p:nvSpPr>
        <p:spPr>
          <a:xfrm>
            <a:off x="6319322" y="3326796"/>
            <a:ext cx="1168405" cy="1210700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7" name="35 Rectángulo redondeado">
            <a:extLst>
              <a:ext uri="{FF2B5EF4-FFF2-40B4-BE49-F238E27FC236}">
                <a16:creationId xmlns:a16="http://schemas.microsoft.com/office/drawing/2014/main" id="{0E68C4CC-2A56-4C8C-85F6-DE420E5C4AE6}"/>
              </a:ext>
            </a:extLst>
          </p:cNvPr>
          <p:cNvSpPr/>
          <p:nvPr/>
        </p:nvSpPr>
        <p:spPr>
          <a:xfrm>
            <a:off x="7575274" y="3338924"/>
            <a:ext cx="951615" cy="1210700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8" name="36 Rectángulo redondeado">
            <a:extLst>
              <a:ext uri="{FF2B5EF4-FFF2-40B4-BE49-F238E27FC236}">
                <a16:creationId xmlns:a16="http://schemas.microsoft.com/office/drawing/2014/main" id="{807A3C04-7F19-4228-8FE6-A854A66427D0}"/>
              </a:ext>
            </a:extLst>
          </p:cNvPr>
          <p:cNvSpPr/>
          <p:nvPr/>
        </p:nvSpPr>
        <p:spPr>
          <a:xfrm>
            <a:off x="8751335" y="3338923"/>
            <a:ext cx="930529" cy="1198571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9" name="37 Rectángulo redondeado">
            <a:extLst>
              <a:ext uri="{FF2B5EF4-FFF2-40B4-BE49-F238E27FC236}">
                <a16:creationId xmlns:a16="http://schemas.microsoft.com/office/drawing/2014/main" id="{ED14DE48-5E4F-4959-88AD-CC1C2318E418}"/>
              </a:ext>
            </a:extLst>
          </p:cNvPr>
          <p:cNvSpPr/>
          <p:nvPr/>
        </p:nvSpPr>
        <p:spPr>
          <a:xfrm>
            <a:off x="9789486" y="3338922"/>
            <a:ext cx="1010790" cy="1210701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3" name="34 Rectángulo redondeado">
            <a:extLst>
              <a:ext uri="{FF2B5EF4-FFF2-40B4-BE49-F238E27FC236}">
                <a16:creationId xmlns:a16="http://schemas.microsoft.com/office/drawing/2014/main" id="{B9D11C24-D59D-3B8F-8729-3C380A8E921D}"/>
              </a:ext>
            </a:extLst>
          </p:cNvPr>
          <p:cNvSpPr/>
          <p:nvPr/>
        </p:nvSpPr>
        <p:spPr>
          <a:xfrm>
            <a:off x="6309298" y="4949951"/>
            <a:ext cx="4490978" cy="599019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14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5E82B-D273-4F04-8727-2FEA5B775D96}"/>
              </a:ext>
            </a:extLst>
          </p:cNvPr>
          <p:cNvSpPr txBox="1"/>
          <p:nvPr/>
        </p:nvSpPr>
        <p:spPr>
          <a:xfrm>
            <a:off x="-5747" y="1289492"/>
            <a:ext cx="6096000" cy="19389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1. VARIABLES: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400" b="1" baseline="-30000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</a:t>
            </a: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Unidades de mesas a producir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400" b="1" baseline="-30000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2</a:t>
            </a: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Unidades de sillas a producir.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Di = Desviaciones por debajo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Ei = Desviaciones por encima</a:t>
            </a:r>
            <a:endParaRPr lang="es-PE" sz="2400" b="1" dirty="0">
              <a:latin typeface="Arial Narrow" panose="020B0606020202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3232A-F6A9-4ECC-9B41-F0D6F63250B8}"/>
              </a:ext>
            </a:extLst>
          </p:cNvPr>
          <p:cNvSpPr txBox="1"/>
          <p:nvPr/>
        </p:nvSpPr>
        <p:spPr>
          <a:xfrm>
            <a:off x="-5747" y="4428255"/>
            <a:ext cx="6090253" cy="19389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3. RESTRICCIONES META:</a:t>
            </a:r>
          </a:p>
          <a:p>
            <a:r>
              <a:rPr lang="es-E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sz="2400" b="1" dirty="0">
                <a:latin typeface="Arial Narrow" panose="020B0606020202030204" pitchFamily="34" charset="0"/>
              </a:rPr>
              <a:t>: Min  </a:t>
            </a:r>
            <a:r>
              <a:rPr lang="es-ES" sz="2400" b="1" dirty="0" err="1">
                <a:latin typeface="Arial Narrow" panose="020B0606020202030204" pitchFamily="34" charset="0"/>
              </a:rPr>
              <a:t>D1</a:t>
            </a:r>
            <a:r>
              <a:rPr lang="es-ES" sz="2400" b="1" dirty="0">
                <a:latin typeface="Arial Narrow" panose="020B0606020202030204" pitchFamily="34" charset="0"/>
              </a:rPr>
              <a:t>	</a:t>
            </a:r>
            <a:r>
              <a:rPr lang="es-E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Lograr más de $50 de ganancia.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D₁ = cantidad de $ por debajo de la ganancia.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E₁ = cantidad de $ por encima de la ganancia.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 err="1">
                <a:latin typeface="Arial Narrow" panose="020B0606020202030204" pitchFamily="34" charset="0"/>
                <a:cs typeface="Arial" pitchFamily="34" charset="0"/>
              </a:rPr>
              <a:t>5X</a:t>
            </a: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₁ + </a:t>
            </a:r>
            <a:r>
              <a:rPr lang="es-ES" sz="2400" b="1" dirty="0" err="1">
                <a:latin typeface="Arial Narrow" panose="020B0606020202030204" pitchFamily="34" charset="0"/>
                <a:cs typeface="Arial" pitchFamily="34" charset="0"/>
              </a:rPr>
              <a:t>5X</a:t>
            </a: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₂ + D₁ - E₁ = 50     	</a:t>
            </a:r>
            <a:r>
              <a:rPr lang="es-ES" sz="24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Ganancia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77B2CC-2BF7-42F7-BD38-3221E885D76F}"/>
              </a:ext>
            </a:extLst>
          </p:cNvPr>
          <p:cNvSpPr txBox="1"/>
          <p:nvPr/>
        </p:nvSpPr>
        <p:spPr>
          <a:xfrm>
            <a:off x="6247262" y="1289492"/>
            <a:ext cx="5944738" cy="26776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4. RESTRICCIONES DURAS:</a:t>
            </a:r>
          </a:p>
          <a:p>
            <a:r>
              <a:rPr lang="es-E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    Material disponible para utilizar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12X</a:t>
            </a:r>
            <a:r>
              <a:rPr lang="es-ES" sz="2400" b="1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</a:t>
            </a:r>
            <a:r>
              <a:rPr lang="es-ES" sz="2400" b="1" baseline="-30000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+ </a:t>
            </a:r>
            <a:r>
              <a:rPr lang="es-ES" sz="2400" b="1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8X</a:t>
            </a:r>
            <a:r>
              <a:rPr lang="es-ES" sz="2400" b="1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2</a:t>
            </a: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≤ 96 </a:t>
            </a: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Unidades disponibles de material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     </a:t>
            </a:r>
            <a:r>
              <a:rPr lang="es-ES" sz="2400" b="1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400" b="1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</a:t>
            </a:r>
            <a:r>
              <a:rPr lang="es-ES" sz="2400" b="1" baseline="-30000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       </a:t>
            </a: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   ≥ 2  Producción semanal de las mesas</a:t>
            </a:r>
          </a:p>
          <a:p>
            <a:r>
              <a:rPr lang="es-ES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        Xi, </a:t>
            </a:r>
            <a:r>
              <a:rPr lang="es-ES" sz="2400" b="1" dirty="0" err="1">
                <a:solidFill>
                  <a:srgbClr val="7030A0"/>
                </a:solidFill>
                <a:latin typeface="Arial Narrow" panose="020B0606020202030204" pitchFamily="34" charset="0"/>
              </a:rPr>
              <a:t>Dj,Ej</a:t>
            </a:r>
            <a:r>
              <a:rPr lang="es-ES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 &gt;=0</a:t>
            </a:r>
            <a:endParaRPr lang="es-PE" sz="2400" b="1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81AC0E-CCE6-413F-A53E-6B8145B5E6DD}"/>
              </a:ext>
            </a:extLst>
          </p:cNvPr>
          <p:cNvSpPr txBox="1"/>
          <p:nvPr/>
        </p:nvSpPr>
        <p:spPr>
          <a:xfrm>
            <a:off x="6247262" y="3967148"/>
            <a:ext cx="5944738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5. FUNCIÓN OBJETIVO:</a:t>
            </a:r>
          </a:p>
          <a:p>
            <a:r>
              <a:rPr lang="es-ES" sz="2400" b="1" dirty="0">
                <a:solidFill>
                  <a:srgbClr val="7030A0"/>
                </a:solidFill>
              </a:rPr>
              <a:t>        MIN </a:t>
            </a:r>
            <a:r>
              <a:rPr lang="es-ES" sz="24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r>
              <a:rPr lang="es-ES" sz="2400" b="1" dirty="0" err="1">
                <a:latin typeface="Calibri" pitchFamily="34" charset="0"/>
                <a:ea typeface="Calibri" pitchFamily="34" charset="0"/>
                <a:cs typeface="Arial" pitchFamily="34" charset="0"/>
              </a:rPr>
              <a:t>P1</a:t>
            </a:r>
            <a:r>
              <a:rPr lang="es-ES" sz="24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 (D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₁)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P2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(D₂ + E₂)</a:t>
            </a:r>
            <a:endParaRPr lang="es-PE" sz="2400" b="1" dirty="0">
              <a:solidFill>
                <a:srgbClr val="7030A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1396B7-0A2E-4E8C-99F0-913A9C720FC4}"/>
              </a:ext>
            </a:extLst>
          </p:cNvPr>
          <p:cNvSpPr txBox="1"/>
          <p:nvPr/>
        </p:nvSpPr>
        <p:spPr>
          <a:xfrm>
            <a:off x="0" y="3228484"/>
            <a:ext cx="608450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2. METAS:</a:t>
            </a:r>
          </a:p>
          <a:p>
            <a:r>
              <a:rPr lang="es-E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</a:t>
            </a:r>
            <a:r>
              <a:rPr lang="es-ES" sz="2400" b="1" dirty="0" err="1">
                <a:solidFill>
                  <a:srgbClr val="0070C0"/>
                </a:solidFill>
                <a:latin typeface="Arial Narrow" panose="020B0606020202030204" pitchFamily="34" charset="0"/>
              </a:rPr>
              <a:t>1</a:t>
            </a:r>
            <a:r>
              <a:rPr lang="es-ES" sz="2400" b="1" dirty="0" err="1">
                <a:latin typeface="Arial Narrow" panose="020B0606020202030204" pitchFamily="34" charset="0"/>
              </a:rPr>
              <a:t>:Lograr</a:t>
            </a:r>
            <a:r>
              <a:rPr lang="es-ES" sz="2400" b="1" dirty="0">
                <a:latin typeface="Arial Narrow" panose="020B0606020202030204" pitchFamily="34" charset="0"/>
              </a:rPr>
              <a:t> más de $50 de ganancia.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2: </a:t>
            </a:r>
            <a:r>
              <a:rPr lang="es-ES" sz="2400" b="1" dirty="0">
                <a:latin typeface="Arial Narrow" panose="020B0606020202030204" pitchFamily="34" charset="0"/>
              </a:rPr>
              <a:t>Utilizar completamente las h. de m. obra</a:t>
            </a:r>
            <a:endParaRPr lang="es-PE" sz="2400" b="1" dirty="0">
              <a:latin typeface="Arial Narrow" panose="020B0606020202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0B21B8-F83B-43D3-A6F8-15E06D46ECF2}"/>
              </a:ext>
            </a:extLst>
          </p:cNvPr>
          <p:cNvSpPr/>
          <p:nvPr/>
        </p:nvSpPr>
        <p:spPr>
          <a:xfrm>
            <a:off x="6247262" y="4798145"/>
            <a:ext cx="5944738" cy="19389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sz="2400" b="1" dirty="0">
                <a:latin typeface="Arial Narrow" panose="020B0606020202030204" pitchFamily="34" charset="0"/>
              </a:rPr>
              <a:t>: Min  </a:t>
            </a:r>
            <a:r>
              <a:rPr lang="es-ES" sz="2400" b="1" dirty="0" err="1">
                <a:latin typeface="Arial Narrow" panose="020B0606020202030204" pitchFamily="34" charset="0"/>
              </a:rPr>
              <a:t>D2+E2</a:t>
            </a:r>
            <a:r>
              <a:rPr lang="es-ES" sz="2400" b="1" dirty="0">
                <a:latin typeface="Arial Narrow" panose="020B0606020202030204" pitchFamily="34" charset="0"/>
              </a:rPr>
              <a:t> </a:t>
            </a:r>
            <a:r>
              <a:rPr lang="es-E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Utilizar completamente la M. O.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D₂ = número de horas ociosas de </a:t>
            </a:r>
            <a:r>
              <a:rPr lang="es-ES" sz="2400" b="1" dirty="0" err="1">
                <a:latin typeface="Arial Narrow" panose="020B0606020202030204" pitchFamily="34" charset="0"/>
                <a:cs typeface="Arial" pitchFamily="34" charset="0"/>
              </a:rPr>
              <a:t>M.O</a:t>
            </a: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E₂ </a:t>
            </a:r>
            <a:r>
              <a:rPr lang="es-ES" sz="24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= número de horas extras de mano de obra </a:t>
            </a:r>
            <a:endParaRPr lang="es-ES" sz="24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6 X₁ + </a:t>
            </a:r>
            <a:r>
              <a:rPr lang="es-ES" sz="2400" b="1" dirty="0" err="1">
                <a:latin typeface="Arial Narrow" panose="020B0606020202030204" pitchFamily="34" charset="0"/>
                <a:cs typeface="Arial" pitchFamily="34" charset="0"/>
              </a:rPr>
              <a:t>12X</a:t>
            </a:r>
            <a:r>
              <a:rPr lang="es-ES" sz="2400" b="1" dirty="0">
                <a:latin typeface="Arial Narrow" panose="020B0606020202030204" pitchFamily="34" charset="0"/>
                <a:cs typeface="Arial" pitchFamily="34" charset="0"/>
              </a:rPr>
              <a:t>₂ + D₂ - E₂ = 72 	</a:t>
            </a:r>
            <a:r>
              <a:rPr lang="es-ES" sz="24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Horas de </a:t>
            </a:r>
            <a:r>
              <a:rPr lang="es-ES" sz="2400" b="1" dirty="0" err="1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M.O</a:t>
            </a:r>
            <a:r>
              <a:rPr lang="es-ES" sz="2400" b="1" dirty="0">
                <a:solidFill>
                  <a:srgbClr val="7030A0"/>
                </a:solidFill>
                <a:latin typeface="Arial Narrow" panose="020B0606020202030204" pitchFamily="34" charset="0"/>
                <a:cs typeface="Arial" pitchFamily="34" charset="0"/>
              </a:rPr>
              <a:t>.</a:t>
            </a:r>
            <a:endParaRPr lang="es-PE" sz="24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69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LINDO Parte 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531959" y="3938353"/>
            <a:ext cx="4290208" cy="22467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PE" sz="2000" b="1" dirty="0"/>
              <a:t>        </a:t>
            </a:r>
            <a:r>
              <a:rPr lang="en-US" sz="2000" b="1" dirty="0"/>
              <a:t> OBJECTIVE FUNCTION VALUE</a:t>
            </a:r>
          </a:p>
          <a:p>
            <a:r>
              <a:rPr lang="en-US" sz="2000" b="1" dirty="0"/>
              <a:t>        1)     </a:t>
            </a:r>
            <a:r>
              <a:rPr lang="en-US" sz="2000" b="1" dirty="0" err="1"/>
              <a:t>0.0000000E+00</a:t>
            </a:r>
            <a:endParaRPr lang="en-US" sz="2000" b="1" dirty="0"/>
          </a:p>
          <a:p>
            <a:r>
              <a:rPr lang="en-US" sz="2000" b="1" dirty="0"/>
              <a:t>  VARIABLE        VALUE   REDUCED COST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D1</a:t>
            </a:r>
            <a:r>
              <a:rPr lang="en-US" sz="2000" b="1" dirty="0"/>
              <a:t>         0.000000          1.000000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X1</a:t>
            </a:r>
            <a:r>
              <a:rPr lang="en-US" sz="2000" b="1" dirty="0"/>
              <a:t>         2.000000          0.000000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X2</a:t>
            </a:r>
            <a:r>
              <a:rPr lang="en-US" sz="2000" b="1" dirty="0"/>
              <a:t>         8.000000          0.000000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E1</a:t>
            </a:r>
            <a:r>
              <a:rPr lang="en-US" sz="2000" b="1" dirty="0"/>
              <a:t>         0.000000          0.000000</a:t>
            </a:r>
            <a:endParaRPr lang="es-PE" sz="20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0DE8D4-E61C-48EC-9DDD-91F22C6E0F20}"/>
              </a:ext>
            </a:extLst>
          </p:cNvPr>
          <p:cNvSpPr/>
          <p:nvPr/>
        </p:nvSpPr>
        <p:spPr>
          <a:xfrm>
            <a:off x="526026" y="1278804"/>
            <a:ext cx="4291720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1</a:t>
            </a:r>
          </a:p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5X1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5X2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= 50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22BD0A-B7BE-468D-9E5C-47F36878570A}"/>
              </a:ext>
            </a:extLst>
          </p:cNvPr>
          <p:cNvSpPr/>
          <p:nvPr/>
        </p:nvSpPr>
        <p:spPr>
          <a:xfrm>
            <a:off x="529086" y="2613197"/>
            <a:ext cx="4293080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12X1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8X2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&lt;= 96</a:t>
            </a:r>
          </a:p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&gt;= 2 </a:t>
            </a: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1CA8D2-412B-49A5-9AA2-99851C355051}"/>
              </a:ext>
            </a:extLst>
          </p:cNvPr>
          <p:cNvSpPr txBox="1"/>
          <p:nvPr/>
        </p:nvSpPr>
        <p:spPr>
          <a:xfrm>
            <a:off x="6474585" y="1257654"/>
            <a:ext cx="3606351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D2+E2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1</a:t>
            </a:r>
          </a:p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5X1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5X2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= 50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91A2E8F-CDFF-4242-B716-2B61CB2EDF28}"/>
              </a:ext>
            </a:extLst>
          </p:cNvPr>
          <p:cNvSpPr/>
          <p:nvPr/>
        </p:nvSpPr>
        <p:spPr>
          <a:xfrm>
            <a:off x="6481294" y="2568814"/>
            <a:ext cx="3600354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C7ED34-1453-478A-97AD-005BFFC530C2}"/>
              </a:ext>
            </a:extLst>
          </p:cNvPr>
          <p:cNvSpPr/>
          <p:nvPr/>
        </p:nvSpPr>
        <p:spPr>
          <a:xfrm>
            <a:off x="6481293" y="2931422"/>
            <a:ext cx="3594360" cy="70788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2</a:t>
            </a:r>
          </a:p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12X2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E2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= 72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4C8EF1E-C4C0-486C-BF7B-30BCC6C7E6E2}"/>
              </a:ext>
            </a:extLst>
          </p:cNvPr>
          <p:cNvSpPr/>
          <p:nvPr/>
        </p:nvSpPr>
        <p:spPr>
          <a:xfrm>
            <a:off x="6481297" y="3596608"/>
            <a:ext cx="3588364" cy="132343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             </a:t>
            </a:r>
            <a:r>
              <a:rPr lang="es-E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   </a:t>
            </a:r>
            <a:r>
              <a:rPr lang="es-ES" sz="2000" b="1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12X1</a:t>
            </a:r>
            <a:r>
              <a:rPr lang="es-ES" sz="2000" b="1" baseline="-30000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+ </a:t>
            </a:r>
            <a:r>
              <a:rPr lang="es-ES" sz="2000" b="1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8X2</a:t>
            </a:r>
            <a:r>
              <a:rPr lang="es-E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&lt;= 96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		</a:t>
            </a:r>
            <a:r>
              <a:rPr lang="es-ES" sz="2000" b="1" dirty="0" err="1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X1</a:t>
            </a:r>
            <a:r>
              <a:rPr lang="es-ES" sz="2000" b="1" baseline="-30000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       </a:t>
            </a:r>
            <a:r>
              <a:rPr lang="es-E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 &gt;= 2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0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2588528-A88A-4758-BD59-D775942B47F4}"/>
              </a:ext>
            </a:extLst>
          </p:cNvPr>
          <p:cNvSpPr/>
          <p:nvPr/>
        </p:nvSpPr>
        <p:spPr>
          <a:xfrm>
            <a:off x="8609163" y="4549676"/>
            <a:ext cx="3582837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 OBJECTIVE FUNCTION VALUE</a:t>
            </a:r>
          </a:p>
          <a:p>
            <a:r>
              <a:rPr lang="en-US" sz="1600" b="1" dirty="0"/>
              <a:t>        1)      24.00000</a:t>
            </a:r>
          </a:p>
          <a:p>
            <a:r>
              <a:rPr lang="en-US" sz="1600" b="1" dirty="0"/>
              <a:t>  VARIABLE        VALUE    REDUCED COST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D2</a:t>
            </a:r>
            <a:r>
              <a:rPr lang="en-US" sz="1600" b="1" dirty="0"/>
              <a:t>         0.000000          2.000000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E2</a:t>
            </a:r>
            <a:r>
              <a:rPr lang="en-US" sz="1600" b="1" dirty="0"/>
              <a:t>        24.000000         0.000000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X1</a:t>
            </a:r>
            <a:r>
              <a:rPr lang="en-US" sz="1600" b="1" dirty="0"/>
              <a:t>         4.000000          0.000000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X2</a:t>
            </a:r>
            <a:r>
              <a:rPr lang="en-US" sz="1600" b="1" dirty="0"/>
              <a:t>         6.000000          0.000000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D1</a:t>
            </a:r>
            <a:r>
              <a:rPr lang="en-US" sz="1600" b="1" dirty="0"/>
              <a:t>         0.000000          0.000000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E1</a:t>
            </a:r>
            <a:r>
              <a:rPr lang="en-US" sz="1600" b="1" dirty="0"/>
              <a:t>          0.000000          4.800000</a:t>
            </a:r>
            <a:endParaRPr lang="es-PE" sz="1600" b="1" dirty="0"/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9DC2844C-E464-4942-800B-7CE70BEBC66F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4822167" y="2768869"/>
            <a:ext cx="1659127" cy="2292869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34 Rectángulo redondeado">
            <a:extLst>
              <a:ext uri="{FF2B5EF4-FFF2-40B4-BE49-F238E27FC236}">
                <a16:creationId xmlns:a16="http://schemas.microsoft.com/office/drawing/2014/main" id="{3970222C-13D7-9BF6-A091-ADA7C253F9B0}"/>
              </a:ext>
            </a:extLst>
          </p:cNvPr>
          <p:cNvSpPr/>
          <p:nvPr/>
        </p:nvSpPr>
        <p:spPr>
          <a:xfrm>
            <a:off x="938463" y="4917901"/>
            <a:ext cx="3877712" cy="299510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5" name="34 Rectángulo redondeado">
            <a:extLst>
              <a:ext uri="{FF2B5EF4-FFF2-40B4-BE49-F238E27FC236}">
                <a16:creationId xmlns:a16="http://schemas.microsoft.com/office/drawing/2014/main" id="{36E26E7D-3858-E7CC-C8E0-E191AF82EF83}"/>
              </a:ext>
            </a:extLst>
          </p:cNvPr>
          <p:cNvSpPr/>
          <p:nvPr/>
        </p:nvSpPr>
        <p:spPr>
          <a:xfrm>
            <a:off x="8915399" y="5338135"/>
            <a:ext cx="3237791" cy="492280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98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2082853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producción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/>
        </p:nvGraphicFramePr>
        <p:xfrm>
          <a:off x="793345" y="2786265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Acciones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Mesas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Sillas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6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/>
        </p:nvGraphicFramePr>
        <p:xfrm>
          <a:off x="759838" y="4296867"/>
          <a:ext cx="1067232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3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984442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408578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logra exactamente $50 de ganancia.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=24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excedió en 24 horas de mano de hora.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B5BE69-D10E-49BD-B930-6CD85794D2A5}"/>
              </a:ext>
            </a:extLst>
          </p:cNvPr>
          <p:cNvSpPr/>
          <p:nvPr/>
        </p:nvSpPr>
        <p:spPr>
          <a:xfrm>
            <a:off x="6096000" y="1235261"/>
            <a:ext cx="60960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Meta 1</a:t>
            </a:r>
            <a:r>
              <a:rPr lang="es-ES" b="1" dirty="0"/>
              <a:t>: Min  </a:t>
            </a:r>
            <a:r>
              <a:rPr lang="es-ES" b="1" dirty="0" err="1"/>
              <a:t>D1</a:t>
            </a:r>
            <a:r>
              <a:rPr lang="es-ES" b="1" dirty="0"/>
              <a:t>	</a:t>
            </a:r>
            <a:r>
              <a:rPr lang="es-ES" b="1" dirty="0">
                <a:solidFill>
                  <a:srgbClr val="0070C0"/>
                </a:solidFill>
              </a:rPr>
              <a:t>Lograr más de $50 de ganancia.</a:t>
            </a:r>
          </a:p>
          <a:p>
            <a:r>
              <a:rPr lang="es-ES" b="1" dirty="0">
                <a:solidFill>
                  <a:srgbClr val="0070C0"/>
                </a:solidFill>
              </a:rPr>
              <a:t>Meta 2</a:t>
            </a:r>
            <a:r>
              <a:rPr lang="es-ES" b="1" dirty="0"/>
              <a:t>: Min  </a:t>
            </a:r>
            <a:r>
              <a:rPr lang="es-ES" b="1" dirty="0" err="1"/>
              <a:t>D2+E2</a:t>
            </a:r>
            <a:r>
              <a:rPr lang="es-ES" b="1" dirty="0"/>
              <a:t> </a:t>
            </a:r>
            <a:r>
              <a:rPr lang="es-ES" b="1" dirty="0">
                <a:solidFill>
                  <a:srgbClr val="0070C0"/>
                </a:solidFill>
              </a:rPr>
              <a:t>Utilizar completamente las horas de </a:t>
            </a:r>
            <a:r>
              <a:rPr lang="es-ES" b="1" dirty="0" err="1">
                <a:solidFill>
                  <a:srgbClr val="0070C0"/>
                </a:solidFill>
              </a:rPr>
              <a:t>M.O</a:t>
            </a:r>
            <a:r>
              <a:rPr lang="es-ES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812C9FB-7539-434D-B656-07552328E7AD}"/>
              </a:ext>
            </a:extLst>
          </p:cNvPr>
          <p:cNvSpPr/>
          <p:nvPr/>
        </p:nvSpPr>
        <p:spPr>
          <a:xfrm>
            <a:off x="7832767" y="1944508"/>
            <a:ext cx="3582837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 OBJECTIVE FUNCTION VALUE</a:t>
            </a:r>
          </a:p>
          <a:p>
            <a:r>
              <a:rPr lang="en-US" sz="1600" b="1" dirty="0"/>
              <a:t>        1)      24.00000</a:t>
            </a:r>
          </a:p>
          <a:p>
            <a:r>
              <a:rPr lang="en-US" sz="1600" b="1" dirty="0"/>
              <a:t>  VARIABLE        VALUE    REDUCED COST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D2</a:t>
            </a:r>
            <a:r>
              <a:rPr lang="en-US" sz="1600" b="1" dirty="0"/>
              <a:t>         0.000000          2.000000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E2</a:t>
            </a:r>
            <a:r>
              <a:rPr lang="en-US" sz="1600" b="1" dirty="0"/>
              <a:t>        24.000000         0.000000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X1</a:t>
            </a:r>
            <a:r>
              <a:rPr lang="en-US" sz="1600" b="1" dirty="0"/>
              <a:t>         4.000000          0.000000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X2</a:t>
            </a:r>
            <a:r>
              <a:rPr lang="en-US" sz="1600" b="1" dirty="0"/>
              <a:t>         6.000000          0.000000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D1</a:t>
            </a:r>
            <a:r>
              <a:rPr lang="en-US" sz="1600" b="1" dirty="0"/>
              <a:t>         0.000000          0.000000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E1</a:t>
            </a:r>
            <a:r>
              <a:rPr lang="en-US" sz="1600" b="1" dirty="0"/>
              <a:t>          0.000000          4.800000</a:t>
            </a:r>
            <a:endParaRPr lang="es-PE" sz="1600" b="1" dirty="0"/>
          </a:p>
        </p:txBody>
      </p:sp>
      <p:sp>
        <p:nvSpPr>
          <p:cNvPr id="8" name="34 Rectángulo redondeado">
            <a:extLst>
              <a:ext uri="{FF2B5EF4-FFF2-40B4-BE49-F238E27FC236}">
                <a16:creationId xmlns:a16="http://schemas.microsoft.com/office/drawing/2014/main" id="{C063F075-3E14-D4A5-1D39-A256751F3567}"/>
              </a:ext>
            </a:extLst>
          </p:cNvPr>
          <p:cNvSpPr/>
          <p:nvPr/>
        </p:nvSpPr>
        <p:spPr>
          <a:xfrm>
            <a:off x="7946857" y="3219909"/>
            <a:ext cx="3237791" cy="492280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869162E8-4CC2-4E73-7727-55268C46ED73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6126035" y="3466049"/>
            <a:ext cx="1820822" cy="246140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6141A760-0121-EC79-6FDE-FD3591D12621}"/>
              </a:ext>
            </a:extLst>
          </p:cNvPr>
          <p:cNvSpPr/>
          <p:nvPr/>
        </p:nvSpPr>
        <p:spPr>
          <a:xfrm>
            <a:off x="5836595" y="3320716"/>
            <a:ext cx="179194" cy="764005"/>
          </a:xfrm>
          <a:prstGeom prst="rightBrac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318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 animBg="1"/>
      <p:bldP spid="8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03C2E39-7052-4674-BA96-421D59A03E20}"/>
              </a:ext>
            </a:extLst>
          </p:cNvPr>
          <p:cNvSpPr/>
          <p:nvPr/>
        </p:nvSpPr>
        <p:spPr>
          <a:xfrm>
            <a:off x="133563" y="1234888"/>
            <a:ext cx="596243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Formular el problema de la Planificación de la producción de una fábrica de papel como un problema de programación por metas. Supóngase la existencia de dos procesos, uno mecánico y otro químico, por los que se puede obtener la pulpa de celulosa para la producción del papel. </a:t>
            </a:r>
          </a:p>
          <a:p>
            <a:pPr algn="just"/>
            <a:r>
              <a:rPr lang="es-ES" sz="2000" b="1" dirty="0"/>
              <a:t>El modelo multiobjetivo es el siguiente: </a:t>
            </a:r>
          </a:p>
          <a:p>
            <a:pPr algn="just"/>
            <a:r>
              <a:rPr lang="es-ES" sz="2000" b="1" dirty="0" err="1"/>
              <a:t>F.O</a:t>
            </a:r>
            <a:r>
              <a:rPr lang="es-ES" sz="2000" b="1" dirty="0"/>
              <a:t>.  Min </a:t>
            </a:r>
            <a:r>
              <a:rPr lang="es-ES" sz="2000" b="1" dirty="0" err="1"/>
              <a:t>X1</a:t>
            </a:r>
            <a:r>
              <a:rPr lang="es-ES" sz="2000" b="1" dirty="0"/>
              <a:t> + </a:t>
            </a:r>
            <a:r>
              <a:rPr lang="es-ES" sz="2000" b="1" dirty="0" err="1"/>
              <a:t>2X2</a:t>
            </a:r>
            <a:r>
              <a:rPr lang="es-ES" sz="2000" b="1" dirty="0"/>
              <a:t> (Min. la demanda biológica de </a:t>
            </a:r>
            <a:r>
              <a:rPr lang="es-ES" sz="2000" b="1" dirty="0" err="1"/>
              <a:t>O2</a:t>
            </a:r>
            <a:r>
              <a:rPr lang="es-ES" sz="2000" b="1" dirty="0"/>
              <a:t>) Restricciones rígidas iniciales: </a:t>
            </a:r>
          </a:p>
          <a:p>
            <a:pPr algn="just"/>
            <a:r>
              <a:rPr lang="es-ES" sz="2000" b="1" dirty="0" err="1"/>
              <a:t>1000X1</a:t>
            </a:r>
            <a:r>
              <a:rPr lang="es-ES" sz="2000" b="1" dirty="0"/>
              <a:t> + </a:t>
            </a:r>
            <a:r>
              <a:rPr lang="es-ES" sz="2000" b="1" dirty="0" err="1"/>
              <a:t>3000X2</a:t>
            </a:r>
            <a:r>
              <a:rPr lang="es-ES" sz="2000" b="1" dirty="0"/>
              <a:t> ≥ 300000 (Margen Bruto) </a:t>
            </a:r>
          </a:p>
          <a:p>
            <a:pPr algn="just"/>
            <a:r>
              <a:rPr lang="es-ES" sz="2000" b="1" dirty="0"/>
              <a:t>	 </a:t>
            </a:r>
            <a:r>
              <a:rPr lang="es-ES" sz="2000" b="1" dirty="0" err="1"/>
              <a:t>X1</a:t>
            </a:r>
            <a:r>
              <a:rPr lang="es-ES" sz="2000" b="1" dirty="0"/>
              <a:t> + </a:t>
            </a:r>
            <a:r>
              <a:rPr lang="es-ES" sz="2000" b="1" dirty="0" err="1"/>
              <a:t>X2</a:t>
            </a:r>
            <a:r>
              <a:rPr lang="es-ES" sz="2000" b="1" dirty="0"/>
              <a:t> ≤ 400         (Empleo) </a:t>
            </a:r>
          </a:p>
          <a:p>
            <a:pPr algn="just"/>
            <a:r>
              <a:rPr lang="es-ES" sz="2000" b="1" dirty="0"/>
              <a:t>	          </a:t>
            </a:r>
            <a:r>
              <a:rPr lang="es-ES" sz="2000" b="1" dirty="0" err="1"/>
              <a:t>X1</a:t>
            </a:r>
            <a:r>
              <a:rPr lang="es-ES" sz="2000" b="1" dirty="0"/>
              <a:t> ≤ 300 (Capacidades de producción) </a:t>
            </a:r>
          </a:p>
          <a:p>
            <a:pPr algn="just"/>
            <a:r>
              <a:rPr lang="es-ES" sz="2000" b="1" dirty="0"/>
              <a:t>	          </a:t>
            </a:r>
            <a:r>
              <a:rPr lang="es-ES" sz="2000" b="1" dirty="0" err="1"/>
              <a:t>X2</a:t>
            </a:r>
            <a:r>
              <a:rPr lang="es-ES" sz="2000" b="1" dirty="0"/>
              <a:t> ≤ 200 (Capacidades de producción) </a:t>
            </a:r>
          </a:p>
          <a:p>
            <a:pPr algn="just"/>
            <a:r>
              <a:rPr lang="es-ES" sz="2000" b="1" dirty="0"/>
              <a:t>	    </a:t>
            </a:r>
            <a:r>
              <a:rPr lang="es-ES" sz="2000" b="1" dirty="0" err="1"/>
              <a:t>X1</a:t>
            </a:r>
            <a:r>
              <a:rPr lang="es-ES" sz="2000" b="1" dirty="0"/>
              <a:t>, </a:t>
            </a:r>
            <a:r>
              <a:rPr lang="es-ES" sz="2000" b="1" dirty="0" err="1"/>
              <a:t>X2</a:t>
            </a:r>
            <a:r>
              <a:rPr lang="es-ES" sz="2000" b="1" dirty="0"/>
              <a:t> ≥ 0 </a:t>
            </a:r>
          </a:p>
          <a:p>
            <a:pPr algn="just"/>
            <a:r>
              <a:rPr lang="es-ES" sz="2000" b="1" dirty="0"/>
              <a:t>Definidas las variables de decisión y los atributos/ objetivos relevantes del problema que nos ocupa, el decisor define las siguientes METAS según prioridad: 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7E200626-1473-441D-9486-76075DC86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5096373"/>
              </p:ext>
            </p:extLst>
          </p:nvPr>
        </p:nvGraphicFramePr>
        <p:xfrm>
          <a:off x="6255140" y="1235735"/>
          <a:ext cx="5692445" cy="4360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76F938D-1500-48F1-9F63-6437166944C0}"/>
              </a:ext>
            </a:extLst>
          </p:cNvPr>
          <p:cNvSpPr txBox="1"/>
          <p:nvPr/>
        </p:nvSpPr>
        <p:spPr>
          <a:xfrm>
            <a:off x="6096000" y="275896"/>
            <a:ext cx="6095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</a:rPr>
              <a:t>PROBLEMA 4</a:t>
            </a:r>
            <a:endParaRPr lang="es-PE" sz="3200" b="1" dirty="0">
              <a:solidFill>
                <a:schemeClr val="bg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D54090-042A-4D8E-AC81-5F862C5F2581}"/>
              </a:ext>
            </a:extLst>
          </p:cNvPr>
          <p:cNvSpPr/>
          <p:nvPr/>
        </p:nvSpPr>
        <p:spPr>
          <a:xfrm>
            <a:off x="6311461" y="5375647"/>
            <a:ext cx="569244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 dirty="0"/>
              <a:t>Se pide:</a:t>
            </a:r>
          </a:p>
          <a:p>
            <a:pPr marL="342900" indent="-342900" algn="just">
              <a:buAutoNum type="alphaLcParenR"/>
            </a:pPr>
            <a:r>
              <a:rPr lang="es-ES" sz="2000" b="1" dirty="0"/>
              <a:t>Elabore y resuelva el modelo, si las metas se deben lograr en ese orden de </a:t>
            </a:r>
            <a:r>
              <a:rPr lang="es-ES" sz="2000" b="1" dirty="0">
                <a:solidFill>
                  <a:srgbClr val="FF0000"/>
                </a:solidFill>
              </a:rPr>
              <a:t>prioridades</a:t>
            </a:r>
            <a:r>
              <a:rPr lang="es-ES" sz="2000" b="1" dirty="0"/>
              <a:t>.</a:t>
            </a:r>
          </a:p>
          <a:p>
            <a:pPr marL="342900" indent="-342900" algn="just">
              <a:buAutoNum type="alphaLcParenR"/>
            </a:pPr>
            <a:r>
              <a:rPr lang="es-ES" sz="2000" b="1" dirty="0"/>
              <a:t>Presente el informe administrativo.</a:t>
            </a:r>
          </a:p>
        </p:txBody>
      </p:sp>
    </p:spTree>
    <p:extLst>
      <p:ext uri="{BB962C8B-B14F-4D97-AF65-F5344CB8AC3E}">
        <p14:creationId xmlns:p14="http://schemas.microsoft.com/office/powerpoint/2010/main" val="22877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5E82B-D273-4F04-8727-2FEA5B775D96}"/>
              </a:ext>
            </a:extLst>
          </p:cNvPr>
          <p:cNvSpPr txBox="1"/>
          <p:nvPr/>
        </p:nvSpPr>
        <p:spPr>
          <a:xfrm>
            <a:off x="236866" y="1155306"/>
            <a:ext cx="58591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1. VARIABLES: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000" b="1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</a:t>
            </a:r>
            <a:r>
              <a:rPr lang="es-ES" sz="20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Unidades de pulpa por el sistema mecánico.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000" b="1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2</a:t>
            </a:r>
            <a:r>
              <a:rPr lang="es-ES" sz="20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Unidades de pulpa por el sistema químico.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Di = Desviaciones por debajo.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Ei = Desviaciones por encima</a:t>
            </a:r>
            <a:endParaRPr lang="es-PE" sz="2000" b="1" dirty="0">
              <a:latin typeface="Arial Narrow" panose="020B0606020202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3232A-F6A9-4ECC-9B41-F0D6F63250B8}"/>
              </a:ext>
            </a:extLst>
          </p:cNvPr>
          <p:cNvSpPr txBox="1"/>
          <p:nvPr/>
        </p:nvSpPr>
        <p:spPr>
          <a:xfrm>
            <a:off x="6092662" y="1413927"/>
            <a:ext cx="5862472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3. RESTRICCIONES META: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solidFill>
                  <a:srgbClr val="0070C0"/>
                </a:solidFill>
              </a:rPr>
              <a:t>Lograr a lo más 300 unidades.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latin typeface="Calibri" pitchFamily="34" charset="0"/>
                <a:cs typeface="Arial" pitchFamily="34" charset="0"/>
              </a:rPr>
              <a:t>X1+2X2 + D1 – E1 = 300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    	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Oxigeno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77B2CC-2BF7-42F7-BD38-3221E885D76F}"/>
              </a:ext>
            </a:extLst>
          </p:cNvPr>
          <p:cNvSpPr txBox="1"/>
          <p:nvPr/>
        </p:nvSpPr>
        <p:spPr>
          <a:xfrm>
            <a:off x="6096000" y="5168019"/>
            <a:ext cx="5868837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4. RESTRICCIONES DURAS:</a:t>
            </a:r>
          </a:p>
          <a:p>
            <a:r>
              <a:rPr lang="es-ES" sz="2000" b="1" dirty="0"/>
              <a:t>			</a:t>
            </a:r>
            <a:r>
              <a:rPr lang="es-ES" sz="2000" b="1" dirty="0">
                <a:solidFill>
                  <a:srgbClr val="7030A0"/>
                </a:solidFill>
              </a:rPr>
              <a:t>Xi, </a:t>
            </a:r>
            <a:r>
              <a:rPr lang="es-ES" sz="2000" b="1" dirty="0" err="1">
                <a:solidFill>
                  <a:srgbClr val="7030A0"/>
                </a:solidFill>
              </a:rPr>
              <a:t>Dj,Ej</a:t>
            </a:r>
            <a:r>
              <a:rPr lang="es-ES" sz="2000" b="1" dirty="0">
                <a:solidFill>
                  <a:srgbClr val="7030A0"/>
                </a:solidFill>
              </a:rPr>
              <a:t> &gt;=0</a:t>
            </a:r>
            <a:endParaRPr lang="es-PE" sz="2000" b="1" dirty="0">
              <a:solidFill>
                <a:srgbClr val="7030A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81AC0E-CCE6-413F-A53E-6B8145B5E6DD}"/>
              </a:ext>
            </a:extLst>
          </p:cNvPr>
          <p:cNvSpPr txBox="1"/>
          <p:nvPr/>
        </p:nvSpPr>
        <p:spPr>
          <a:xfrm>
            <a:off x="6096000" y="5875905"/>
            <a:ext cx="5868837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5. FUNCIÓN OBJETIVO:</a:t>
            </a:r>
          </a:p>
          <a:p>
            <a:r>
              <a:rPr lang="es-ES" sz="2000" b="1" dirty="0">
                <a:solidFill>
                  <a:srgbClr val="7030A0"/>
                </a:solidFill>
              </a:rPr>
              <a:t>     MIN = </a:t>
            </a:r>
            <a:r>
              <a:rPr lang="es-ES" sz="20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  P1 (E1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) + P2 (D2)+P3(D3+E3)+P4(E4)+P5(E5)</a:t>
            </a:r>
            <a:endParaRPr lang="es-ES" sz="20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1396B7-0A2E-4E8C-99F0-913A9C720FC4}"/>
              </a:ext>
            </a:extLst>
          </p:cNvPr>
          <p:cNvSpPr txBox="1"/>
          <p:nvPr/>
        </p:nvSpPr>
        <p:spPr>
          <a:xfrm>
            <a:off x="236866" y="2740055"/>
            <a:ext cx="58591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latin typeface="Arial Narrow" panose="020B0606020202030204" pitchFamily="34" charset="0"/>
              </a:rPr>
              <a:t>2. METAS:</a:t>
            </a: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b="1" dirty="0">
                <a:latin typeface="Arial Narrow" panose="020B0606020202030204" pitchFamily="34" charset="0"/>
              </a:rPr>
              <a:t>: : Para la demanda biológica de oxígeno: un nivel de aspiración de 300 unidades, pues desea que sea lo más pequeña posible. </a:t>
            </a:r>
            <a:endParaRPr lang="es-PE" b="1" dirty="0">
              <a:latin typeface="Arial Narrow" panose="020B0606020202030204" pitchFamily="34" charset="0"/>
            </a:endParaRP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 </a:t>
            </a:r>
            <a:r>
              <a:rPr lang="es-ES" b="1" dirty="0">
                <a:latin typeface="Arial Narrow" panose="020B0606020202030204" pitchFamily="34" charset="0"/>
              </a:rPr>
              <a:t>: Para el margen bruto: alcanzar un valor lo más grande posible, ojalá mayor de 400000 </a:t>
            </a:r>
            <a:r>
              <a:rPr lang="es-ES" b="1" dirty="0" err="1">
                <a:latin typeface="Arial Narrow" panose="020B0606020202030204" pitchFamily="34" charset="0"/>
              </a:rPr>
              <a:t>u.m</a:t>
            </a:r>
            <a:r>
              <a:rPr lang="es-ES" b="1" dirty="0">
                <a:latin typeface="Arial Narrow" panose="020B0606020202030204" pitchFamily="34" charset="0"/>
              </a:rPr>
              <a:t>. </a:t>
            </a: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 </a:t>
            </a:r>
            <a:r>
              <a:rPr lang="es-ES" b="1" dirty="0">
                <a:latin typeface="Arial Narrow" panose="020B0606020202030204" pitchFamily="34" charset="0"/>
              </a:rPr>
              <a:t>: Para el empleo: no desea ni quedarse corto ni contratar mano de obra adicional. </a:t>
            </a: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 </a:t>
            </a:r>
            <a:r>
              <a:rPr lang="es-ES" b="1" dirty="0">
                <a:latin typeface="Arial Narrow" panose="020B0606020202030204" pitchFamily="34" charset="0"/>
              </a:rPr>
              <a:t>: El decisor no desea superar sus capacidades de producción proceso 1, lo que implicaría recurrir a turnos extras. </a:t>
            </a:r>
          </a:p>
          <a:p>
            <a:r>
              <a:rPr lang="es-ES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5 </a:t>
            </a:r>
            <a:r>
              <a:rPr lang="es-ES" b="1" dirty="0">
                <a:latin typeface="Arial Narrow" panose="020B0606020202030204" pitchFamily="34" charset="0"/>
              </a:rPr>
              <a:t>: El decisor no desea superar sus capacidades de producción proceso 2, lo que implicaría recurrir a turnos extras. </a:t>
            </a:r>
            <a:endParaRPr lang="es-PE" b="1" dirty="0">
              <a:latin typeface="Arial Narrow" panose="020B0606020202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18B9FA-0122-4722-BE6F-63E85F8087E8}"/>
              </a:ext>
            </a:extLst>
          </p:cNvPr>
          <p:cNvSpPr txBox="1"/>
          <p:nvPr/>
        </p:nvSpPr>
        <p:spPr>
          <a:xfrm>
            <a:off x="6096000" y="275896"/>
            <a:ext cx="6095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</a:rPr>
              <a:t>PROBLEMA 4</a:t>
            </a:r>
            <a:endParaRPr lang="es-PE" sz="3200" b="1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533D96F-DAAF-9F58-6C0A-22E22362738C}"/>
              </a:ext>
            </a:extLst>
          </p:cNvPr>
          <p:cNvSpPr txBox="1"/>
          <p:nvPr/>
        </p:nvSpPr>
        <p:spPr>
          <a:xfrm>
            <a:off x="6096000" y="4446077"/>
            <a:ext cx="5868837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</a:rPr>
              <a:t>Meta 5</a:t>
            </a:r>
            <a:r>
              <a:rPr lang="es-ES" sz="2000" b="1" dirty="0"/>
              <a:t>: Min  E5 </a:t>
            </a:r>
            <a:r>
              <a:rPr lang="es-ES" sz="2000" b="1" dirty="0">
                <a:solidFill>
                  <a:srgbClr val="0070C0"/>
                </a:solidFill>
              </a:rPr>
              <a:t>No superar la capacidad de 200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latin typeface="Calibri" pitchFamily="34" charset="0"/>
                <a:cs typeface="Arial" pitchFamily="34" charset="0"/>
              </a:rPr>
              <a:t>X2  + D5 – E5 = 200 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Capacidad proceso 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EC29E6-AA77-178F-C0D4-1ED4C4846E3A}"/>
              </a:ext>
            </a:extLst>
          </p:cNvPr>
          <p:cNvSpPr txBox="1"/>
          <p:nvPr/>
        </p:nvSpPr>
        <p:spPr>
          <a:xfrm>
            <a:off x="6096000" y="3783916"/>
            <a:ext cx="586883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70C0"/>
                </a:solidFill>
              </a:rPr>
              <a:t>Meta 4</a:t>
            </a:r>
            <a:r>
              <a:rPr lang="es-ES" sz="1800" b="1" dirty="0"/>
              <a:t>: Min  E4 </a:t>
            </a:r>
            <a:r>
              <a:rPr lang="es-ES" sz="1800" b="1" dirty="0">
                <a:solidFill>
                  <a:srgbClr val="0070C0"/>
                </a:solidFill>
              </a:rPr>
              <a:t>No superar la capacidad de 300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800" b="1" dirty="0">
                <a:latin typeface="Calibri" pitchFamily="34" charset="0"/>
                <a:cs typeface="Arial" pitchFamily="34" charset="0"/>
              </a:rPr>
              <a:t>X1  + D4 – E4 = 300   </a:t>
            </a:r>
            <a:r>
              <a:rPr lang="es-ES" sz="18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Capacidad proceso 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210F5C-D424-18E8-433E-90011A8F4F6B}"/>
              </a:ext>
            </a:extLst>
          </p:cNvPr>
          <p:cNvSpPr txBox="1"/>
          <p:nvPr/>
        </p:nvSpPr>
        <p:spPr>
          <a:xfrm>
            <a:off x="6079726" y="3094270"/>
            <a:ext cx="5885111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D3+E3   </a:t>
            </a:r>
            <a:r>
              <a:rPr lang="es-ES" sz="2000" b="1" dirty="0">
                <a:solidFill>
                  <a:srgbClr val="0070C0"/>
                </a:solidFill>
              </a:rPr>
              <a:t>Utilizar 400 </a:t>
            </a:r>
            <a:r>
              <a:rPr lang="es-ES" sz="2000" b="1" dirty="0" err="1">
                <a:solidFill>
                  <a:srgbClr val="0070C0"/>
                </a:solidFill>
              </a:rPr>
              <a:t>hs</a:t>
            </a:r>
            <a:r>
              <a:rPr lang="es-ES" sz="2000" b="1" dirty="0">
                <a:solidFill>
                  <a:srgbClr val="0070C0"/>
                </a:solidFill>
              </a:rPr>
              <a:t> de mano de obra.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latin typeface="Calibri" pitchFamily="34" charset="0"/>
                <a:cs typeface="Arial" pitchFamily="34" charset="0"/>
              </a:rPr>
              <a:t>X1 +X2 + D3 – E3 = 400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    	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Empleo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F9FA154-64E0-D1EE-DEFE-AA40D1C398A5}"/>
              </a:ext>
            </a:extLst>
          </p:cNvPr>
          <p:cNvSpPr txBox="1"/>
          <p:nvPr/>
        </p:nvSpPr>
        <p:spPr>
          <a:xfrm>
            <a:off x="6079726" y="2445420"/>
            <a:ext cx="5868837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D2 </a:t>
            </a:r>
            <a:r>
              <a:rPr lang="es-ES" sz="2000" b="1" dirty="0">
                <a:solidFill>
                  <a:srgbClr val="0070C0"/>
                </a:solidFill>
              </a:rPr>
              <a:t>Alcanzar el margen mayor de 400000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>
                <a:latin typeface="Calibri" pitchFamily="34" charset="0"/>
                <a:cs typeface="Arial" pitchFamily="34" charset="0"/>
              </a:rPr>
              <a:t>1000X1 + 3000X2 + D2 – E2 = 400000 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Margen Bruto</a:t>
            </a:r>
          </a:p>
        </p:txBody>
      </p:sp>
    </p:spTree>
    <p:extLst>
      <p:ext uri="{BB962C8B-B14F-4D97-AF65-F5344CB8AC3E}">
        <p14:creationId xmlns:p14="http://schemas.microsoft.com/office/powerpoint/2010/main" val="8572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9" grpId="0" animBg="1"/>
      <p:bldP spid="11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LINDO Parte 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430344" y="3935167"/>
            <a:ext cx="511730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 OBJECTIVE FUNCTION VALUE</a:t>
            </a:r>
          </a:p>
          <a:p>
            <a:r>
              <a:rPr lang="en-US" sz="2000" b="1" dirty="0"/>
              <a:t>        1)     </a:t>
            </a:r>
            <a:r>
              <a:rPr lang="en-US" sz="2000" b="1" dirty="0" err="1"/>
              <a:t>0.0000000E+00</a:t>
            </a:r>
            <a:endParaRPr lang="en-US" sz="2000" b="1" dirty="0"/>
          </a:p>
          <a:p>
            <a:r>
              <a:rPr lang="en-US" sz="2000" b="1" dirty="0"/>
              <a:t>  VARIABLE        VALUE          REDUCED COST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E1</a:t>
            </a:r>
            <a:r>
              <a:rPr lang="en-US" sz="2000" b="1" dirty="0"/>
              <a:t>            0.000000          1.000000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X1</a:t>
            </a:r>
            <a:r>
              <a:rPr lang="en-US" sz="2000" b="1" dirty="0"/>
              <a:t>       300.000000          0.000000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X2</a:t>
            </a:r>
            <a:r>
              <a:rPr lang="en-US" sz="2000" b="1" dirty="0"/>
              <a:t> 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D1</a:t>
            </a:r>
            <a:r>
              <a:rPr lang="en-US" sz="2000" b="1" dirty="0"/>
              <a:t>           0.000000          0.000000</a:t>
            </a:r>
            <a:endParaRPr lang="es-PE" sz="20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0DE8D4-E61C-48EC-9DDD-91F22C6E0F20}"/>
              </a:ext>
            </a:extLst>
          </p:cNvPr>
          <p:cNvSpPr/>
          <p:nvPr/>
        </p:nvSpPr>
        <p:spPr>
          <a:xfrm>
            <a:off x="430344" y="1230603"/>
            <a:ext cx="5173952" cy="230832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1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X1+2X2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</a:t>
            </a: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81C786-6885-428E-8B77-9CAE40F982A4}"/>
              </a:ext>
            </a:extLst>
          </p:cNvPr>
          <p:cNvSpPr txBox="1"/>
          <p:nvPr/>
        </p:nvSpPr>
        <p:spPr>
          <a:xfrm>
            <a:off x="4249949" y="1577510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91B41E7-892D-D9C6-BCE3-EDCFFA671B7D}"/>
              </a:ext>
            </a:extLst>
          </p:cNvPr>
          <p:cNvSpPr/>
          <p:nvPr/>
        </p:nvSpPr>
        <p:spPr>
          <a:xfrm>
            <a:off x="6697460" y="3441680"/>
            <a:ext cx="511730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  OBJECTIVE FUNCTION VALUE</a:t>
            </a:r>
          </a:p>
          <a:p>
            <a:endParaRPr lang="en-US" sz="2000" b="1" dirty="0"/>
          </a:p>
          <a:p>
            <a:r>
              <a:rPr lang="en-US" sz="2000" b="1" dirty="0"/>
              <a:t>        1)     </a:t>
            </a:r>
            <a:r>
              <a:rPr lang="en-US" sz="2000" b="1" dirty="0" err="1"/>
              <a:t>0.0000000E+00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  VARIABLE        VALUE          REDUCED COST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D2</a:t>
            </a:r>
            <a:r>
              <a:rPr lang="en-US" sz="2000" b="1" dirty="0"/>
              <a:t>          0.000000          1.000000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X1</a:t>
            </a:r>
            <a:r>
              <a:rPr lang="en-US" sz="2000" b="1" dirty="0"/>
              <a:t>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X2</a:t>
            </a:r>
            <a:r>
              <a:rPr lang="en-US" sz="2000" b="1" dirty="0"/>
              <a:t>       133.333328          0.000000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D1</a:t>
            </a:r>
            <a:r>
              <a:rPr lang="en-US" sz="2000" b="1" dirty="0"/>
              <a:t>         33.333332          0.000000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E1</a:t>
            </a:r>
            <a:r>
              <a:rPr lang="en-US" sz="2000" b="1" dirty="0"/>
              <a:t> 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E2</a:t>
            </a:r>
            <a:r>
              <a:rPr lang="en-US" sz="2000" b="1" dirty="0"/>
              <a:t>           0.000000          0.000000</a:t>
            </a:r>
            <a:endParaRPr lang="es-PE" sz="20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D0674CE-CBC4-F708-A737-694484353AC5}"/>
              </a:ext>
            </a:extLst>
          </p:cNvPr>
          <p:cNvSpPr/>
          <p:nvPr/>
        </p:nvSpPr>
        <p:spPr>
          <a:xfrm>
            <a:off x="6096000" y="1230603"/>
            <a:ext cx="5173952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1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X1+2X2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2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1000X1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3000X2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400000</a:t>
            </a: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ADEE6A4A-0E51-EB76-DDE3-4511F884A3B0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 flipH="1" flipV="1">
            <a:off x="4600333" y="3547496"/>
            <a:ext cx="2104400" cy="886934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34 Rectángulo redondeado">
            <a:extLst>
              <a:ext uri="{FF2B5EF4-FFF2-40B4-BE49-F238E27FC236}">
                <a16:creationId xmlns:a16="http://schemas.microsoft.com/office/drawing/2014/main" id="{80F8A4BE-6910-8AC9-5E4C-363D97C665E0}"/>
              </a:ext>
            </a:extLst>
          </p:cNvPr>
          <p:cNvSpPr/>
          <p:nvPr/>
        </p:nvSpPr>
        <p:spPr>
          <a:xfrm>
            <a:off x="821468" y="4856204"/>
            <a:ext cx="4322032" cy="353470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23" name="34 Rectángulo redondeado">
            <a:extLst>
              <a:ext uri="{FF2B5EF4-FFF2-40B4-BE49-F238E27FC236}">
                <a16:creationId xmlns:a16="http://schemas.microsoft.com/office/drawing/2014/main" id="{C58B9A06-7242-8823-8976-F55FB0C7FEC5}"/>
              </a:ext>
            </a:extLst>
          </p:cNvPr>
          <p:cNvSpPr/>
          <p:nvPr/>
        </p:nvSpPr>
        <p:spPr>
          <a:xfrm>
            <a:off x="7073894" y="4990556"/>
            <a:ext cx="3892890" cy="353470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61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LINDO Parte 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6751603" y="1721356"/>
            <a:ext cx="511730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   OBJECTIVE FUNCTION VALUE</a:t>
            </a:r>
          </a:p>
          <a:p>
            <a:endParaRPr lang="en-US" sz="2000" b="1" dirty="0"/>
          </a:p>
          <a:p>
            <a:r>
              <a:rPr lang="en-US" sz="2000" b="1" dirty="0"/>
              <a:t>        1)      200.0000</a:t>
            </a:r>
          </a:p>
          <a:p>
            <a:endParaRPr lang="en-US" sz="2000" b="1" dirty="0"/>
          </a:p>
          <a:p>
            <a:r>
              <a:rPr lang="en-US" sz="2000" b="1" dirty="0"/>
              <a:t>  VARIABLE        VALUE          REDUCED COST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D3</a:t>
            </a:r>
            <a:r>
              <a:rPr lang="en-US" sz="2000" b="1" dirty="0"/>
              <a:t>       200.000000          0.000000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E3</a:t>
            </a:r>
            <a:r>
              <a:rPr lang="en-US" sz="2000" b="1" dirty="0"/>
              <a:t>         0.000000          2.000000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X1</a:t>
            </a:r>
            <a:r>
              <a:rPr lang="en-US" sz="2000" b="1" dirty="0"/>
              <a:t>       100.000000          0.000000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X2</a:t>
            </a:r>
            <a:r>
              <a:rPr lang="en-US" sz="2000" b="1" dirty="0"/>
              <a:t>       100.000000          0.000000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D1</a:t>
            </a:r>
            <a:r>
              <a:rPr lang="en-US" sz="2000" b="1" dirty="0"/>
              <a:t>         0.000000          2.000000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E1</a:t>
            </a:r>
            <a:r>
              <a:rPr lang="en-US" sz="2000" b="1" dirty="0"/>
              <a:t>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D2</a:t>
            </a:r>
            <a:r>
              <a:rPr lang="en-US" sz="2000" b="1" dirty="0"/>
              <a:t>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E2</a:t>
            </a:r>
            <a:r>
              <a:rPr lang="en-US" sz="2000" b="1" dirty="0"/>
              <a:t>         0.000000          0.001000</a:t>
            </a:r>
            <a:endParaRPr lang="es-PE" sz="20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0DE8D4-E61C-48EC-9DDD-91F22C6E0F20}"/>
              </a:ext>
            </a:extLst>
          </p:cNvPr>
          <p:cNvSpPr/>
          <p:nvPr/>
        </p:nvSpPr>
        <p:spPr>
          <a:xfrm>
            <a:off x="517400" y="1254666"/>
            <a:ext cx="5173952" cy="45243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D3+E3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1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X1+2X2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2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1000X1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3000X2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400000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meta 3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</a:t>
            </a: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81C786-6885-428E-8B77-9CAE40F982A4}"/>
              </a:ext>
            </a:extLst>
          </p:cNvPr>
          <p:cNvSpPr txBox="1"/>
          <p:nvPr/>
        </p:nvSpPr>
        <p:spPr>
          <a:xfrm>
            <a:off x="4249949" y="1577510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" name="34 Rectángulo redondeado">
            <a:extLst>
              <a:ext uri="{FF2B5EF4-FFF2-40B4-BE49-F238E27FC236}">
                <a16:creationId xmlns:a16="http://schemas.microsoft.com/office/drawing/2014/main" id="{47C5611E-0E9A-655D-8D6A-894E178F03DE}"/>
              </a:ext>
            </a:extLst>
          </p:cNvPr>
          <p:cNvSpPr/>
          <p:nvPr/>
        </p:nvSpPr>
        <p:spPr>
          <a:xfrm>
            <a:off x="6982984" y="3340088"/>
            <a:ext cx="4322032" cy="546112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48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LINDO Parte 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6751603" y="1721356"/>
            <a:ext cx="511730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  OBJECTIVE FUNCTION VALUE</a:t>
            </a:r>
          </a:p>
          <a:p>
            <a:r>
              <a:rPr lang="en-US" sz="2000" b="1" dirty="0"/>
              <a:t>        1)     </a:t>
            </a:r>
            <a:r>
              <a:rPr lang="en-US" sz="2000" b="1" dirty="0" err="1"/>
              <a:t>0.0000000E+00</a:t>
            </a:r>
            <a:endParaRPr lang="en-US" sz="2000" b="1" dirty="0"/>
          </a:p>
          <a:p>
            <a:r>
              <a:rPr lang="en-US" sz="2000" b="1" dirty="0"/>
              <a:t>  VARIABLE        VALUE          REDUCED COST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E4</a:t>
            </a:r>
            <a:r>
              <a:rPr lang="en-US" sz="2000" b="1" dirty="0"/>
              <a:t>            0.000000          1.000000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X1</a:t>
            </a:r>
            <a:r>
              <a:rPr lang="en-US" sz="2000" b="1" dirty="0"/>
              <a:t>       100.000000          0.000000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X2</a:t>
            </a:r>
            <a:r>
              <a:rPr lang="en-US" sz="2000" b="1" dirty="0"/>
              <a:t>       100.000000          0.000000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D1</a:t>
            </a:r>
            <a:r>
              <a:rPr lang="en-US" sz="2000" b="1" dirty="0"/>
              <a:t>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E1</a:t>
            </a:r>
            <a:r>
              <a:rPr lang="en-US" sz="2000" b="1" dirty="0"/>
              <a:t> 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D2</a:t>
            </a:r>
            <a:r>
              <a:rPr lang="en-US" sz="2000" b="1" dirty="0"/>
              <a:t>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E2</a:t>
            </a:r>
            <a:r>
              <a:rPr lang="en-US" sz="2000" b="1" dirty="0"/>
              <a:t> 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D3</a:t>
            </a:r>
            <a:r>
              <a:rPr lang="en-US" sz="2000" b="1" dirty="0"/>
              <a:t>       200.000000          0.000000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E3</a:t>
            </a:r>
            <a:r>
              <a:rPr lang="en-US" sz="2000" b="1" dirty="0"/>
              <a:t>            0.000000          0.000000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D4</a:t>
            </a:r>
            <a:r>
              <a:rPr lang="en-US" sz="2000" b="1" dirty="0"/>
              <a:t>       200.000000          0.000000</a:t>
            </a:r>
            <a:endParaRPr lang="es-PE" sz="20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419DB7-7BB6-42DF-AF8A-B7D31C4FC5A3}"/>
              </a:ext>
            </a:extLst>
          </p:cNvPr>
          <p:cNvSpPr/>
          <p:nvPr/>
        </p:nvSpPr>
        <p:spPr>
          <a:xfrm>
            <a:off x="0" y="1254652"/>
            <a:ext cx="6095999" cy="45243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E4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X1+2X2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1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1000X1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3000X2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400000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2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3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=200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4</a:t>
            </a: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81C786-6885-428E-8B77-9CAE40F982A4}"/>
              </a:ext>
            </a:extLst>
          </p:cNvPr>
          <p:cNvSpPr txBox="1"/>
          <p:nvPr/>
        </p:nvSpPr>
        <p:spPr>
          <a:xfrm>
            <a:off x="4249949" y="1577510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3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LINDO Parte 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6641244" y="1279922"/>
            <a:ext cx="511730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Narrow" panose="020B0606020202030204" pitchFamily="34" charset="0"/>
              </a:rPr>
              <a:t>  OBJECTIVE FUNCTION VALUE</a:t>
            </a:r>
          </a:p>
          <a:p>
            <a:endParaRPr lang="en-US" sz="2000" b="1" dirty="0">
              <a:latin typeface="Arial Narrow" panose="020B0606020202030204" pitchFamily="34" charset="0"/>
            </a:endParaRPr>
          </a:p>
          <a:p>
            <a:r>
              <a:rPr lang="en-US" sz="2000" b="1" dirty="0">
                <a:latin typeface="Arial Narrow" panose="020B0606020202030204" pitchFamily="34" charset="0"/>
              </a:rPr>
              <a:t>        1)     </a:t>
            </a:r>
            <a:r>
              <a:rPr lang="en-US" sz="2000" b="1" dirty="0" err="1">
                <a:latin typeface="Arial Narrow" panose="020B0606020202030204" pitchFamily="34" charset="0"/>
              </a:rPr>
              <a:t>0.0000000E+00</a:t>
            </a:r>
            <a:endParaRPr lang="en-US" sz="2000" b="1" dirty="0">
              <a:latin typeface="Arial Narrow" panose="020B0606020202030204" pitchFamily="34" charset="0"/>
            </a:endParaRPr>
          </a:p>
          <a:p>
            <a:endParaRPr lang="en-US" sz="2000" b="1" dirty="0">
              <a:latin typeface="Arial Narrow" panose="020B0606020202030204" pitchFamily="34" charset="0"/>
            </a:endParaRPr>
          </a:p>
          <a:p>
            <a:r>
              <a:rPr lang="en-US" sz="2000" b="1" dirty="0">
                <a:latin typeface="Arial Narrow" panose="020B0606020202030204" pitchFamily="34" charset="0"/>
              </a:rPr>
              <a:t>  VARIABLE        VALUE    REDUCED COST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E5</a:t>
            </a:r>
            <a:r>
              <a:rPr lang="en-US" sz="2000" b="1" dirty="0">
                <a:latin typeface="Arial Narrow" panose="020B0606020202030204" pitchFamily="34" charset="0"/>
              </a:rPr>
              <a:t>           0.000000          1.000000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X1</a:t>
            </a:r>
            <a:r>
              <a:rPr lang="en-US" sz="2000" b="1" dirty="0">
                <a:latin typeface="Arial Narrow" panose="020B0606020202030204" pitchFamily="34" charset="0"/>
              </a:rPr>
              <a:t>       100.000000          0.000000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X2</a:t>
            </a:r>
            <a:r>
              <a:rPr lang="en-US" sz="2000" b="1" dirty="0">
                <a:latin typeface="Arial Narrow" panose="020B0606020202030204" pitchFamily="34" charset="0"/>
              </a:rPr>
              <a:t>       100.000000          0.000000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D1</a:t>
            </a:r>
            <a:r>
              <a:rPr lang="en-US" sz="2000" b="1" dirty="0">
                <a:latin typeface="Arial Narrow" panose="020B0606020202030204" pitchFamily="34" charset="0"/>
              </a:rPr>
              <a:t>           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E1</a:t>
            </a:r>
            <a:r>
              <a:rPr lang="en-US" sz="2000" b="1" dirty="0">
                <a:latin typeface="Arial Narrow" panose="020B0606020202030204" pitchFamily="34" charset="0"/>
              </a:rPr>
              <a:t>           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D2</a:t>
            </a:r>
            <a:r>
              <a:rPr lang="en-US" sz="2000" b="1" dirty="0">
                <a:latin typeface="Arial Narrow" panose="020B0606020202030204" pitchFamily="34" charset="0"/>
              </a:rPr>
              <a:t>           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E2</a:t>
            </a:r>
            <a:r>
              <a:rPr lang="en-US" sz="2000" b="1" dirty="0">
                <a:latin typeface="Arial Narrow" panose="020B0606020202030204" pitchFamily="34" charset="0"/>
              </a:rPr>
              <a:t>           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D3</a:t>
            </a:r>
            <a:r>
              <a:rPr lang="en-US" sz="2000" b="1" dirty="0">
                <a:latin typeface="Arial Narrow" panose="020B0606020202030204" pitchFamily="34" charset="0"/>
              </a:rPr>
              <a:t>       200.000000          0.000000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E3</a:t>
            </a:r>
            <a:r>
              <a:rPr lang="en-US" sz="2000" b="1" dirty="0">
                <a:latin typeface="Arial Narrow" panose="020B0606020202030204" pitchFamily="34" charset="0"/>
              </a:rPr>
              <a:t>           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D4</a:t>
            </a:r>
            <a:r>
              <a:rPr lang="en-US" sz="2000" b="1" dirty="0">
                <a:latin typeface="Arial Narrow" panose="020B0606020202030204" pitchFamily="34" charset="0"/>
              </a:rPr>
              <a:t>       200.000000          0.000000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E4</a:t>
            </a:r>
            <a:r>
              <a:rPr lang="en-US" sz="2000" b="1" dirty="0">
                <a:latin typeface="Arial Narrow" panose="020B0606020202030204" pitchFamily="34" charset="0"/>
              </a:rPr>
              <a:t>           0.000000          0.000000</a:t>
            </a:r>
          </a:p>
          <a:p>
            <a:r>
              <a:rPr lang="en-US" sz="2000" b="1" dirty="0">
                <a:latin typeface="Arial Narrow" panose="020B0606020202030204" pitchFamily="34" charset="0"/>
              </a:rPr>
              <a:t>        </a:t>
            </a:r>
            <a:r>
              <a:rPr lang="en-US" sz="2000" b="1" dirty="0" err="1">
                <a:latin typeface="Arial Narrow" panose="020B0606020202030204" pitchFamily="34" charset="0"/>
              </a:rPr>
              <a:t>D5</a:t>
            </a:r>
            <a:r>
              <a:rPr lang="en-US" sz="2000" b="1" dirty="0">
                <a:latin typeface="Arial Narrow" panose="020B0606020202030204" pitchFamily="34" charset="0"/>
              </a:rPr>
              <a:t>       100.000000          0.000000</a:t>
            </a:r>
            <a:endParaRPr lang="es-PE" sz="2000" b="1" dirty="0">
              <a:latin typeface="Arial Narrow" panose="020B0606020202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0DE8D4-E61C-48EC-9DDD-91F22C6E0F20}"/>
              </a:ext>
            </a:extLst>
          </p:cNvPr>
          <p:cNvSpPr/>
          <p:nvPr/>
        </p:nvSpPr>
        <p:spPr>
          <a:xfrm>
            <a:off x="1" y="1254666"/>
            <a:ext cx="6095999" cy="526297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E5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X1+2X2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1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1000X1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3000X2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400000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2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3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=200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4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D5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E5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200		 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5</a:t>
            </a:r>
            <a:endParaRPr lang="es-ES" sz="2400" b="1" dirty="0">
              <a:latin typeface="Calibri" pitchFamily="34" charset="0"/>
              <a:cs typeface="Arial" pitchFamily="34" charset="0"/>
            </a:endParaRP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81C786-6885-428E-8B77-9CAE40F982A4}"/>
              </a:ext>
            </a:extLst>
          </p:cNvPr>
          <p:cNvSpPr txBox="1"/>
          <p:nvPr/>
        </p:nvSpPr>
        <p:spPr>
          <a:xfrm>
            <a:off x="4249949" y="1577510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" name="34 Rectángulo redondeado">
            <a:extLst>
              <a:ext uri="{FF2B5EF4-FFF2-40B4-BE49-F238E27FC236}">
                <a16:creationId xmlns:a16="http://schemas.microsoft.com/office/drawing/2014/main" id="{959D7906-8F8B-0E31-9C38-66035B11943F}"/>
              </a:ext>
            </a:extLst>
          </p:cNvPr>
          <p:cNvSpPr/>
          <p:nvPr/>
        </p:nvSpPr>
        <p:spPr>
          <a:xfrm>
            <a:off x="6861321" y="2828883"/>
            <a:ext cx="4123511" cy="353470"/>
          </a:xfrm>
          <a:prstGeom prst="round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2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12892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producción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79212"/>
              </p:ext>
            </p:extLst>
          </p:nvPr>
        </p:nvGraphicFramePr>
        <p:xfrm>
          <a:off x="793345" y="1992651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SISTEMAS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Sistema mecánico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Sistema químico 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/>
        </p:nvGraphicFramePr>
        <p:xfrm>
          <a:off x="759838" y="3493707"/>
          <a:ext cx="1067232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3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984442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408578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logra exactamente 300 unidades.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alcanza exactamente 400000.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=200: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utiliza menos 200 horas de </a:t>
                      </a:r>
                      <a:r>
                        <a:rPr lang="es-ES" sz="24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M.O</a:t>
                      </a:r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5143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=200: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No se supera la capacidad de 300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95000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5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D5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=100: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E5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No se supera la capacidad de 200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575383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A8F4C2-6B83-4C39-B145-371E987132FF}"/>
              </a:ext>
            </a:extLst>
          </p:cNvPr>
          <p:cNvSpPr txBox="1"/>
          <p:nvPr/>
        </p:nvSpPr>
        <p:spPr>
          <a:xfrm>
            <a:off x="6096000" y="1253669"/>
            <a:ext cx="6095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METAS: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solidFill>
                  <a:srgbClr val="0070C0"/>
                </a:solidFill>
              </a:rPr>
              <a:t>Lograr a lo más 300 unidades. (</a:t>
            </a:r>
            <a:r>
              <a:rPr lang="es-ES" sz="2000" b="1" dirty="0" err="1">
                <a:solidFill>
                  <a:srgbClr val="0070C0"/>
                </a:solidFill>
              </a:rPr>
              <a:t>O2</a:t>
            </a:r>
            <a:r>
              <a:rPr lang="es-ES" sz="2000" b="1" dirty="0">
                <a:solidFill>
                  <a:srgbClr val="0070C0"/>
                </a:solidFill>
              </a:rPr>
              <a:t>)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</a:t>
            </a:r>
            <a:r>
              <a:rPr lang="es-ES" sz="2000" b="1" dirty="0" err="1"/>
              <a:t>D2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Alcanzar mayor de 400000.  (</a:t>
            </a:r>
            <a:r>
              <a:rPr lang="es-ES" sz="2000" b="1" dirty="0" err="1">
                <a:solidFill>
                  <a:srgbClr val="0070C0"/>
                </a:solidFill>
              </a:rPr>
              <a:t>M.B</a:t>
            </a:r>
            <a:r>
              <a:rPr lang="es-ES" sz="2000" b="1" dirty="0">
                <a:solidFill>
                  <a:srgbClr val="0070C0"/>
                </a:solidFill>
              </a:rPr>
              <a:t>.)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</a:t>
            </a:r>
            <a:r>
              <a:rPr lang="es-ES" sz="2000" b="1" dirty="0" err="1"/>
              <a:t>D3+E3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Utilizar 400 </a:t>
            </a:r>
            <a:r>
              <a:rPr lang="es-ES" sz="2000" b="1" dirty="0" err="1">
                <a:solidFill>
                  <a:srgbClr val="0070C0"/>
                </a:solidFill>
              </a:rPr>
              <a:t>hs</a:t>
            </a:r>
            <a:r>
              <a:rPr lang="es-ES" sz="2000" b="1" dirty="0">
                <a:solidFill>
                  <a:srgbClr val="0070C0"/>
                </a:solidFill>
              </a:rPr>
              <a:t> de mano de obra.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4</a:t>
            </a:r>
            <a:r>
              <a:rPr lang="es-ES" sz="2000" b="1" dirty="0"/>
              <a:t>: Min  </a:t>
            </a:r>
            <a:r>
              <a:rPr lang="es-ES" sz="2000" b="1" dirty="0" err="1"/>
              <a:t>E4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No superar la capacidad de 300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5</a:t>
            </a:r>
            <a:r>
              <a:rPr lang="es-ES" sz="2000" b="1" dirty="0"/>
              <a:t>: Min  </a:t>
            </a:r>
            <a:r>
              <a:rPr lang="es-ES" sz="2000" b="1" dirty="0" err="1"/>
              <a:t>E5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No superar la capacidad de 200</a:t>
            </a:r>
            <a:endParaRPr lang="es-ES" sz="2000" b="1" dirty="0">
              <a:solidFill>
                <a:srgbClr val="7030A0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4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/>
              <a:t>P.L.M PENALIDAD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6641244" y="1754372"/>
            <a:ext cx="511730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 </a:t>
            </a:r>
            <a:r>
              <a:rPr lang="es-PE" sz="2000" dirty="0" err="1"/>
              <a:t>OBJECTIVE</a:t>
            </a:r>
            <a:r>
              <a:rPr lang="es-PE" sz="2000" dirty="0"/>
              <a:t> </a:t>
            </a:r>
            <a:r>
              <a:rPr lang="es-PE" sz="2000" dirty="0" err="1"/>
              <a:t>FUNCTION</a:t>
            </a:r>
            <a:r>
              <a:rPr lang="es-PE" sz="2000" dirty="0"/>
              <a:t> </a:t>
            </a:r>
            <a:r>
              <a:rPr lang="es-PE" sz="2000" dirty="0" err="1"/>
              <a:t>VALUE</a:t>
            </a:r>
            <a:endParaRPr lang="es-PE" sz="2000" dirty="0"/>
          </a:p>
          <a:p>
            <a:r>
              <a:rPr lang="es-PE" sz="2000" dirty="0"/>
              <a:t>        1)      133.3333</a:t>
            </a:r>
          </a:p>
          <a:p>
            <a:r>
              <a:rPr lang="es-PE" sz="2000" dirty="0"/>
              <a:t>  VARIABLE        </a:t>
            </a:r>
            <a:r>
              <a:rPr lang="es-PE" sz="2000" dirty="0" err="1"/>
              <a:t>VALUE</a:t>
            </a:r>
            <a:r>
              <a:rPr lang="es-PE" sz="2000" dirty="0"/>
              <a:t>          </a:t>
            </a:r>
            <a:r>
              <a:rPr lang="es-PE" sz="2000" dirty="0" err="1"/>
              <a:t>REDUCED</a:t>
            </a:r>
            <a:r>
              <a:rPr lang="es-PE" sz="2000" dirty="0"/>
              <a:t> </a:t>
            </a:r>
            <a:r>
              <a:rPr lang="es-PE" sz="2000" dirty="0" err="1"/>
              <a:t>COST</a:t>
            </a:r>
            <a:endParaRPr lang="es-PE" sz="2000" dirty="0"/>
          </a:p>
          <a:p>
            <a:r>
              <a:rPr lang="es-PE" sz="2000" dirty="0"/>
              <a:t>        </a:t>
            </a:r>
            <a:r>
              <a:rPr lang="es-PE" sz="2000" dirty="0" err="1"/>
              <a:t>E1</a:t>
            </a:r>
            <a:r>
              <a:rPr lang="es-PE" sz="2000" dirty="0"/>
              <a:t>        66.666664          0.000000</a:t>
            </a:r>
          </a:p>
          <a:p>
            <a:r>
              <a:rPr lang="es-PE" sz="2000" dirty="0"/>
              <a:t>        D2          0.000000          0.999667</a:t>
            </a:r>
          </a:p>
          <a:p>
            <a:r>
              <a:rPr lang="es-PE" sz="2000" dirty="0"/>
              <a:t>        </a:t>
            </a:r>
            <a:r>
              <a:rPr lang="es-PE" sz="2000" dirty="0" err="1"/>
              <a:t>D3</a:t>
            </a:r>
            <a:r>
              <a:rPr lang="es-PE" sz="2000" dirty="0"/>
              <a:t>        66.666664          0.000000</a:t>
            </a:r>
          </a:p>
          <a:p>
            <a:r>
              <a:rPr lang="es-PE" sz="2000" dirty="0"/>
              <a:t>        E3           0.000000          2.000000</a:t>
            </a:r>
          </a:p>
          <a:p>
            <a:r>
              <a:rPr lang="es-PE" sz="2000" dirty="0"/>
              <a:t>        E4           0.000000          0.666667</a:t>
            </a:r>
          </a:p>
          <a:p>
            <a:r>
              <a:rPr lang="es-PE" sz="2000" dirty="0"/>
              <a:t>        E5           0.000000          1.000000</a:t>
            </a:r>
          </a:p>
          <a:p>
            <a:r>
              <a:rPr lang="es-PE" sz="2000" dirty="0"/>
              <a:t>        </a:t>
            </a:r>
            <a:r>
              <a:rPr lang="es-PE" sz="2000" dirty="0" err="1"/>
              <a:t>X1</a:t>
            </a:r>
            <a:r>
              <a:rPr lang="es-PE" sz="2000" dirty="0"/>
              <a:t>       300.000000          0.000000</a:t>
            </a:r>
          </a:p>
          <a:p>
            <a:r>
              <a:rPr lang="es-PE" sz="2000" dirty="0"/>
              <a:t>        X2         33.333332          0.000000</a:t>
            </a:r>
          </a:p>
          <a:p>
            <a:r>
              <a:rPr lang="es-PE" sz="2000" dirty="0"/>
              <a:t>        D1           0.000000          1.000000</a:t>
            </a:r>
          </a:p>
          <a:p>
            <a:r>
              <a:rPr lang="es-PE" sz="2000" dirty="0"/>
              <a:t>        E2            0.000000          0.000333</a:t>
            </a:r>
          </a:p>
          <a:p>
            <a:r>
              <a:rPr lang="es-PE" sz="2000" dirty="0"/>
              <a:t>        D4           0.000000          0.333333</a:t>
            </a:r>
          </a:p>
          <a:p>
            <a:r>
              <a:rPr lang="es-PE" sz="2000" dirty="0"/>
              <a:t>        </a:t>
            </a:r>
            <a:r>
              <a:rPr lang="es-PE" sz="2000" dirty="0" err="1"/>
              <a:t>D5</a:t>
            </a:r>
            <a:r>
              <a:rPr lang="es-PE" sz="2000" dirty="0"/>
              <a:t>       166.666672          0.000000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0DE8D4-E61C-48EC-9DDD-91F22C6E0F20}"/>
              </a:ext>
            </a:extLst>
          </p:cNvPr>
          <p:cNvSpPr/>
          <p:nvPr/>
        </p:nvSpPr>
        <p:spPr>
          <a:xfrm>
            <a:off x="1" y="1254666"/>
            <a:ext cx="6095999" cy="34163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E1+D2+D3+E3+E4+E5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X1+2X2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1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1000X1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3000X2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400000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2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3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4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D5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E5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200		 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5</a:t>
            </a:r>
            <a:endParaRPr lang="es-ES" sz="2400" b="1" dirty="0">
              <a:latin typeface="Calibri" pitchFamily="34" charset="0"/>
              <a:cs typeface="Arial" pitchFamily="34" charset="0"/>
            </a:endParaRP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81C786-6885-428E-8B77-9CAE40F982A4}"/>
              </a:ext>
            </a:extLst>
          </p:cNvPr>
          <p:cNvSpPr txBox="1"/>
          <p:nvPr/>
        </p:nvSpPr>
        <p:spPr>
          <a:xfrm>
            <a:off x="4249949" y="1577510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0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12892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producción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/>
        </p:nvGraphicFramePr>
        <p:xfrm>
          <a:off x="793345" y="1992651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Acciones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Sistema mecánico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Sistema químico 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33.33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17661"/>
              </p:ext>
            </p:extLst>
          </p:nvPr>
        </p:nvGraphicFramePr>
        <p:xfrm>
          <a:off x="759836" y="3493707"/>
          <a:ext cx="1112736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07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872343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23157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987144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=66,67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excedió 66,67 unidades.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alcanza exactamente 400000.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=66,67: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utiliza menos 66,67 horas de </a:t>
                      </a:r>
                      <a:r>
                        <a:rPr lang="es-ES" sz="24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M.O</a:t>
                      </a:r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5143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utiliza la máxima capacidad de 300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95000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5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D5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=166,7: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E5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utiliza menos 167,7 de la capacidad de 200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575383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A8F4C2-6B83-4C39-B145-371E987132FF}"/>
              </a:ext>
            </a:extLst>
          </p:cNvPr>
          <p:cNvSpPr txBox="1"/>
          <p:nvPr/>
        </p:nvSpPr>
        <p:spPr>
          <a:xfrm>
            <a:off x="6096000" y="1253669"/>
            <a:ext cx="6095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METAS: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solidFill>
                  <a:srgbClr val="0070C0"/>
                </a:solidFill>
              </a:rPr>
              <a:t>Lograr a lo más 300 unidades. (</a:t>
            </a:r>
            <a:r>
              <a:rPr lang="es-ES" sz="2000" b="1" dirty="0" err="1">
                <a:solidFill>
                  <a:srgbClr val="0070C0"/>
                </a:solidFill>
              </a:rPr>
              <a:t>O2</a:t>
            </a:r>
            <a:r>
              <a:rPr lang="es-ES" sz="2000" b="1" dirty="0">
                <a:solidFill>
                  <a:srgbClr val="0070C0"/>
                </a:solidFill>
              </a:rPr>
              <a:t>)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</a:t>
            </a:r>
            <a:r>
              <a:rPr lang="es-ES" sz="2000" b="1" dirty="0" err="1"/>
              <a:t>D2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Alcanzar mayor de 400000.  (</a:t>
            </a:r>
            <a:r>
              <a:rPr lang="es-ES" sz="2000" b="1" dirty="0" err="1">
                <a:solidFill>
                  <a:srgbClr val="0070C0"/>
                </a:solidFill>
              </a:rPr>
              <a:t>M.B</a:t>
            </a:r>
            <a:r>
              <a:rPr lang="es-ES" sz="2000" b="1" dirty="0">
                <a:solidFill>
                  <a:srgbClr val="0070C0"/>
                </a:solidFill>
              </a:rPr>
              <a:t>.)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</a:t>
            </a:r>
            <a:r>
              <a:rPr lang="es-ES" sz="2000" b="1" dirty="0" err="1"/>
              <a:t>D3+E3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Utilizar 400 </a:t>
            </a:r>
            <a:r>
              <a:rPr lang="es-ES" sz="2000" b="1" dirty="0" err="1">
                <a:solidFill>
                  <a:srgbClr val="0070C0"/>
                </a:solidFill>
              </a:rPr>
              <a:t>hs</a:t>
            </a:r>
            <a:r>
              <a:rPr lang="es-ES" sz="2000" b="1" dirty="0">
                <a:solidFill>
                  <a:srgbClr val="0070C0"/>
                </a:solidFill>
              </a:rPr>
              <a:t> de mano de obra.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4</a:t>
            </a:r>
            <a:r>
              <a:rPr lang="es-ES" sz="2000" b="1" dirty="0"/>
              <a:t>: Min  </a:t>
            </a:r>
            <a:r>
              <a:rPr lang="es-ES" sz="2000" b="1" dirty="0" err="1"/>
              <a:t>E4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No superar la capacidad de 300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5</a:t>
            </a:r>
            <a:r>
              <a:rPr lang="es-ES" sz="2000" b="1" dirty="0"/>
              <a:t>: Min  </a:t>
            </a:r>
            <a:r>
              <a:rPr lang="es-ES" sz="2000" b="1" dirty="0" err="1"/>
              <a:t>E5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No superar la capacidad de 200</a:t>
            </a:r>
            <a:endParaRPr lang="es-ES" sz="2000" b="1" dirty="0">
              <a:solidFill>
                <a:srgbClr val="7030A0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52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61B88B80-ABF4-41E0-B73F-FFCCA4B0C79B}"/>
              </a:ext>
            </a:extLst>
          </p:cNvPr>
          <p:cNvSpPr txBox="1">
            <a:spLocks/>
          </p:cNvSpPr>
          <p:nvPr/>
        </p:nvSpPr>
        <p:spPr>
          <a:xfrm>
            <a:off x="6096000" y="274638"/>
            <a:ext cx="6096000" cy="634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VE" dirty="0" err="1"/>
              <a:t>P.L.M</a:t>
            </a:r>
            <a:r>
              <a:rPr lang="es-VE" dirty="0"/>
              <a:t> </a:t>
            </a:r>
            <a:r>
              <a:rPr lang="es-VE" dirty="0" err="1"/>
              <a:t>PONDERACION</a:t>
            </a:r>
            <a:endParaRPr lang="es-V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DCA552-8402-4DA5-9BC8-297941FBBE6B}"/>
              </a:ext>
            </a:extLst>
          </p:cNvPr>
          <p:cNvSpPr/>
          <p:nvPr/>
        </p:nvSpPr>
        <p:spPr>
          <a:xfrm>
            <a:off x="6632617" y="1495580"/>
            <a:ext cx="511730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 </a:t>
            </a:r>
            <a:r>
              <a:rPr lang="en-US" sz="2000" dirty="0"/>
              <a:t> OBJECTIVE FUNCTION VALUE</a:t>
            </a:r>
          </a:p>
          <a:p>
            <a:r>
              <a:rPr lang="en-US" sz="2000" dirty="0"/>
              <a:t>        1)      533.3333</a:t>
            </a:r>
          </a:p>
          <a:p>
            <a:r>
              <a:rPr lang="en-US" sz="2000" dirty="0"/>
              <a:t>  VARIABLE        VALUE          REDUCED COST</a:t>
            </a:r>
          </a:p>
          <a:p>
            <a:r>
              <a:rPr lang="en-US" sz="2000" dirty="0"/>
              <a:t>        E1         66.666664          0.000000</a:t>
            </a:r>
          </a:p>
          <a:p>
            <a:r>
              <a:rPr lang="en-US" sz="2000" dirty="0"/>
              <a:t>        D2           0.000000          3.997667</a:t>
            </a:r>
          </a:p>
          <a:p>
            <a:r>
              <a:rPr lang="en-US" sz="2000" dirty="0"/>
              <a:t>        D3         66.666664          0.000000</a:t>
            </a:r>
          </a:p>
          <a:p>
            <a:r>
              <a:rPr lang="en-US" sz="2000" dirty="0"/>
              <a:t>        E3           0.000000           6.000000</a:t>
            </a:r>
          </a:p>
          <a:p>
            <a:r>
              <a:rPr lang="en-US" sz="2000" dirty="0"/>
              <a:t>        E4           0.000000           1.666667</a:t>
            </a:r>
          </a:p>
          <a:p>
            <a:r>
              <a:rPr lang="en-US" sz="2000" dirty="0"/>
              <a:t>        E5           0.000000           2.000000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X1</a:t>
            </a:r>
            <a:r>
              <a:rPr lang="en-US" sz="2000" dirty="0"/>
              <a:t>       300.000000          0.000000</a:t>
            </a:r>
          </a:p>
          <a:p>
            <a:r>
              <a:rPr lang="en-US" sz="2000" dirty="0"/>
              <a:t>        X2          33.333332          0.000000</a:t>
            </a:r>
          </a:p>
          <a:p>
            <a:r>
              <a:rPr lang="en-US" sz="2000" dirty="0"/>
              <a:t>        D1            0.000000          5.000000</a:t>
            </a:r>
          </a:p>
          <a:p>
            <a:r>
              <a:rPr lang="en-US" sz="2000" dirty="0"/>
              <a:t>        E2             0.000000          0.002333</a:t>
            </a:r>
          </a:p>
          <a:p>
            <a:r>
              <a:rPr lang="en-US" sz="2000" dirty="0"/>
              <a:t>        D4            0.000000          0.333333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D5</a:t>
            </a:r>
            <a:r>
              <a:rPr lang="en-US" sz="2000" dirty="0"/>
              <a:t>       166.666672          0.000000</a:t>
            </a:r>
          </a:p>
          <a:p>
            <a:endParaRPr lang="es-PE" sz="20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0DE8D4-E61C-48EC-9DDD-91F22C6E0F20}"/>
              </a:ext>
            </a:extLst>
          </p:cNvPr>
          <p:cNvSpPr/>
          <p:nvPr/>
        </p:nvSpPr>
        <p:spPr>
          <a:xfrm>
            <a:off x="1" y="1254666"/>
            <a:ext cx="6095999" cy="34163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5E1+4D2+3D3+3E3+2E4+2E5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X1+2X2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1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1000X1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3000X2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400000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2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400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3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300		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4</a:t>
            </a:r>
          </a:p>
          <a:p>
            <a:r>
              <a:rPr lang="es-ES" sz="24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D5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400" b="1" dirty="0" err="1">
                <a:latin typeface="Calibri" pitchFamily="34" charset="0"/>
                <a:cs typeface="Arial" pitchFamily="34" charset="0"/>
              </a:rPr>
              <a:t>E5</a:t>
            </a:r>
            <a:r>
              <a:rPr lang="es-ES" sz="2400" b="1" dirty="0">
                <a:latin typeface="Calibri" pitchFamily="34" charset="0"/>
                <a:cs typeface="Arial" pitchFamily="34" charset="0"/>
              </a:rPr>
              <a:t> = 200		 	  </a:t>
            </a:r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!Meta 5</a:t>
            </a:r>
            <a:endParaRPr lang="es-ES" sz="2400" b="1" dirty="0">
              <a:latin typeface="Calibri" pitchFamily="34" charset="0"/>
              <a:cs typeface="Arial" pitchFamily="34" charset="0"/>
            </a:endParaRPr>
          </a:p>
          <a:p>
            <a:r>
              <a:rPr lang="es-PE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!Restricciones dura</a:t>
            </a:r>
          </a:p>
          <a:p>
            <a:r>
              <a:rPr lang="es-P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81C786-6885-428E-8B77-9CAE40F982A4}"/>
              </a:ext>
            </a:extLst>
          </p:cNvPr>
          <p:cNvSpPr txBox="1"/>
          <p:nvPr/>
        </p:nvSpPr>
        <p:spPr>
          <a:xfrm>
            <a:off x="4249949" y="1577510"/>
            <a:ext cx="135434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s-PE"/>
            </a:defPPr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>
                <a:solidFill>
                  <a:schemeClr val="bg1"/>
                </a:solidFill>
                <a:latin typeface="Bauhaus 93" pitchFamily="82" charset="0"/>
              </a:defRPr>
            </a:lvl1pPr>
          </a:lstStyle>
          <a:p>
            <a:r>
              <a:rPr lang="es-ES" dirty="0">
                <a:solidFill>
                  <a:srgbClr val="FF0000"/>
                </a:solidFill>
              </a:rPr>
              <a:t>LINDO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12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12892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producción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/>
        </p:nvGraphicFramePr>
        <p:xfrm>
          <a:off x="793345" y="1992651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Acciones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Sistema mecánico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300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Sistema químico 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33.33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/>
        </p:nvGraphicFramePr>
        <p:xfrm>
          <a:off x="759838" y="3493707"/>
          <a:ext cx="1067232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3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984442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408578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=66,67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excedió 66,67 unidades.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alcanza exactamente 400000.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=66,67: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utiliza menos 66,67 horas de </a:t>
                      </a:r>
                      <a:r>
                        <a:rPr lang="es-ES" sz="24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M.O</a:t>
                      </a:r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5143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utiliza la máxima capacidad de 300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95000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5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D5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=166,7: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E5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utiliza menos 167,7 de la capacidad de 200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575383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A8F4C2-6B83-4C39-B145-371E987132FF}"/>
              </a:ext>
            </a:extLst>
          </p:cNvPr>
          <p:cNvSpPr txBox="1"/>
          <p:nvPr/>
        </p:nvSpPr>
        <p:spPr>
          <a:xfrm>
            <a:off x="6096000" y="1253669"/>
            <a:ext cx="6095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METAS: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solidFill>
                  <a:srgbClr val="0070C0"/>
                </a:solidFill>
              </a:rPr>
              <a:t>Lograr a lo más 300 unidades. (</a:t>
            </a:r>
            <a:r>
              <a:rPr lang="es-ES" sz="2000" b="1" dirty="0" err="1">
                <a:solidFill>
                  <a:srgbClr val="0070C0"/>
                </a:solidFill>
              </a:rPr>
              <a:t>O2</a:t>
            </a:r>
            <a:r>
              <a:rPr lang="es-ES" sz="2000" b="1" dirty="0">
                <a:solidFill>
                  <a:srgbClr val="0070C0"/>
                </a:solidFill>
              </a:rPr>
              <a:t>)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</a:t>
            </a:r>
            <a:r>
              <a:rPr lang="es-ES" sz="2000" b="1" dirty="0" err="1"/>
              <a:t>D2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Alcanzar mayor de 400000.  (</a:t>
            </a:r>
            <a:r>
              <a:rPr lang="es-ES" sz="2000" b="1" dirty="0" err="1">
                <a:solidFill>
                  <a:srgbClr val="0070C0"/>
                </a:solidFill>
              </a:rPr>
              <a:t>M.B</a:t>
            </a:r>
            <a:r>
              <a:rPr lang="es-ES" sz="2000" b="1" dirty="0">
                <a:solidFill>
                  <a:srgbClr val="0070C0"/>
                </a:solidFill>
              </a:rPr>
              <a:t>.)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</a:t>
            </a:r>
            <a:r>
              <a:rPr lang="es-ES" sz="2000" b="1" dirty="0" err="1"/>
              <a:t>D3+E3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Utilizar 400 </a:t>
            </a:r>
            <a:r>
              <a:rPr lang="es-ES" sz="2000" b="1" dirty="0" err="1">
                <a:solidFill>
                  <a:srgbClr val="0070C0"/>
                </a:solidFill>
              </a:rPr>
              <a:t>hs</a:t>
            </a:r>
            <a:r>
              <a:rPr lang="es-ES" sz="2000" b="1" dirty="0">
                <a:solidFill>
                  <a:srgbClr val="0070C0"/>
                </a:solidFill>
              </a:rPr>
              <a:t> de mano de obra.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4</a:t>
            </a:r>
            <a:r>
              <a:rPr lang="es-ES" sz="2000" b="1" dirty="0"/>
              <a:t>: Min  </a:t>
            </a:r>
            <a:r>
              <a:rPr lang="es-ES" sz="2000" b="1" dirty="0" err="1"/>
              <a:t>E4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No superar la capacidad de 300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5</a:t>
            </a:r>
            <a:r>
              <a:rPr lang="es-ES" sz="2000" b="1" dirty="0"/>
              <a:t>: Min  </a:t>
            </a:r>
            <a:r>
              <a:rPr lang="es-ES" sz="2000" b="1" dirty="0" err="1"/>
              <a:t>E5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No superar la capacidad de 200</a:t>
            </a:r>
            <a:endParaRPr lang="es-ES" sz="2000" b="1" dirty="0">
              <a:solidFill>
                <a:srgbClr val="7030A0"/>
              </a:solidFill>
              <a:latin typeface="Calibri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5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E4D068E-F45B-447E-B1EE-6884B06D4E56}"/>
              </a:ext>
            </a:extLst>
          </p:cNvPr>
          <p:cNvSpPr/>
          <p:nvPr/>
        </p:nvSpPr>
        <p:spPr>
          <a:xfrm>
            <a:off x="174527" y="1352789"/>
            <a:ext cx="580060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100" b="1" dirty="0">
                <a:latin typeface="Arial Narrow" panose="020B0606020202030204" pitchFamily="34" charset="0"/>
                <a:ea typeface="Calibri" panose="020F0502020204030204" pitchFamily="34" charset="0"/>
              </a:rPr>
              <a:t>Una empresa produce semanalmente dos tipos de productos A y B. sabemos que para fabricar el producto A se necesitan 4 horas y para el producto B, 3 horas.  Además sabemos que se obtiene 100 euros y 150 euros respectivamente como beneficio del producto A y B.</a:t>
            </a:r>
          </a:p>
          <a:p>
            <a:pPr algn="just"/>
            <a:r>
              <a:rPr lang="es-ES" sz="2100" b="1" dirty="0">
                <a:effectLst/>
                <a:latin typeface="Arial Narrow" panose="020B0606020202030204" pitchFamily="34" charset="0"/>
                <a:ea typeface="Calibri" panose="020F0502020204030204" pitchFamily="34" charset="0"/>
              </a:rPr>
              <a:t>Para la producci</a:t>
            </a:r>
            <a:r>
              <a:rPr lang="es-ES" sz="2100" b="1" dirty="0">
                <a:latin typeface="Arial Narrow" panose="020B0606020202030204" pitchFamily="34" charset="0"/>
                <a:ea typeface="Calibri" panose="020F0502020204030204" pitchFamily="34" charset="0"/>
              </a:rPr>
              <a:t>ón de estos productos se necesita de cierto material, el cual se debe comprar como mínimo 50 litros por semana. En concreto, para producir  A se necesita 2 litros y para producir B 1 litro del material anteriormente mencionado.  Además la empresa tiene problemas con los tiempos disponibles para el uso de la maquinaria y por ello en una semana solo se pueden fabricar 75 productos.</a:t>
            </a:r>
          </a:p>
          <a:p>
            <a:pPr algn="just"/>
            <a:r>
              <a:rPr lang="es-ES" sz="2100" b="1" dirty="0">
                <a:effectLst/>
                <a:latin typeface="Arial Narrow" panose="020B0606020202030204" pitchFamily="34" charset="0"/>
                <a:ea typeface="Calibri" panose="020F0502020204030204" pitchFamily="34" charset="0"/>
              </a:rPr>
              <a:t>Además dicha empresa desea satisfacer las siguientes metas: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CEA83D38-08D9-4B2C-BE7D-2C6210877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96044"/>
              </p:ext>
            </p:extLst>
          </p:nvPr>
        </p:nvGraphicFramePr>
        <p:xfrm>
          <a:off x="6159260" y="4512280"/>
          <a:ext cx="591299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49">
                  <a:extLst>
                    <a:ext uri="{9D8B030D-6E8A-4147-A177-3AD203B41FA5}">
                      <a16:colId xmlns:a16="http://schemas.microsoft.com/office/drawing/2014/main" val="3158478366"/>
                    </a:ext>
                  </a:extLst>
                </a:gridCol>
                <a:gridCol w="1478249">
                  <a:extLst>
                    <a:ext uri="{9D8B030D-6E8A-4147-A177-3AD203B41FA5}">
                      <a16:colId xmlns:a16="http://schemas.microsoft.com/office/drawing/2014/main" val="185299498"/>
                    </a:ext>
                  </a:extLst>
                </a:gridCol>
                <a:gridCol w="1478249">
                  <a:extLst>
                    <a:ext uri="{9D8B030D-6E8A-4147-A177-3AD203B41FA5}">
                      <a16:colId xmlns:a16="http://schemas.microsoft.com/office/drawing/2014/main" val="1054436317"/>
                    </a:ext>
                  </a:extLst>
                </a:gridCol>
                <a:gridCol w="1478249">
                  <a:extLst>
                    <a:ext uri="{9D8B030D-6E8A-4147-A177-3AD203B41FA5}">
                      <a16:colId xmlns:a16="http://schemas.microsoft.com/office/drawing/2014/main" val="2911286333"/>
                    </a:ext>
                  </a:extLst>
                </a:gridCol>
              </a:tblGrid>
              <a:tr h="343435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Tipo de producto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Tiempo (</a:t>
                      </a:r>
                      <a:r>
                        <a:rPr lang="es-ES" sz="2400" dirty="0" err="1"/>
                        <a:t>Hr</a:t>
                      </a:r>
                      <a:r>
                        <a:rPr lang="es-ES" sz="2400" dirty="0"/>
                        <a:t>.)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Beneficio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Material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60540"/>
                  </a:ext>
                </a:extLst>
              </a:tr>
              <a:tr h="343435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100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517517"/>
                  </a:ext>
                </a:extLst>
              </a:tr>
              <a:tr h="343435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150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658693"/>
                  </a:ext>
                </a:extLst>
              </a:tr>
              <a:tr h="343435">
                <a:tc>
                  <a:txBody>
                    <a:bodyPr/>
                    <a:lstStyle/>
                    <a:p>
                      <a:pPr algn="ctr"/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&gt;=50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09400"/>
                  </a:ext>
                </a:extLst>
              </a:tr>
            </a:tbl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8DFD5CD-32FC-46C4-90A9-940731FC20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1386065"/>
              </p:ext>
            </p:extLst>
          </p:nvPr>
        </p:nvGraphicFramePr>
        <p:xfrm>
          <a:off x="6159261" y="1352788"/>
          <a:ext cx="5902110" cy="2759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EA328720-302B-4EC3-A362-EE582E90DBBD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D816F3C-A725-40A8-9563-5FB0277CC08D}"/>
              </a:ext>
            </a:extLst>
          </p:cNvPr>
          <p:cNvSpPr txBox="1"/>
          <p:nvPr/>
        </p:nvSpPr>
        <p:spPr>
          <a:xfrm>
            <a:off x="6159260" y="4112170"/>
            <a:ext cx="1457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SOLUCIÓN</a:t>
            </a:r>
            <a:endParaRPr lang="es-PE" sz="2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75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95E82B-D273-4F04-8727-2FEA5B775D96}"/>
              </a:ext>
            </a:extLst>
          </p:cNvPr>
          <p:cNvSpPr txBox="1"/>
          <p:nvPr/>
        </p:nvSpPr>
        <p:spPr>
          <a:xfrm>
            <a:off x="0" y="1296824"/>
            <a:ext cx="6172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1. VARIABLES: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000" b="1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</a:t>
            </a:r>
            <a:r>
              <a:rPr lang="es-ES" sz="20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Cantidad de Producto A que se produce semanalmente.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000" b="1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2</a:t>
            </a:r>
            <a:r>
              <a:rPr lang="es-ES" sz="2000" b="1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Cantidad de Producto B que se produce semanalmente </a:t>
            </a:r>
            <a:r>
              <a:rPr lang="es-ES" sz="2000" b="1" dirty="0">
                <a:latin typeface="Arial Narrow" panose="020B0606020202030204" pitchFamily="34" charset="0"/>
                <a:cs typeface="Arial" pitchFamily="34" charset="0"/>
              </a:rPr>
              <a:t>Di = Desviaciones por debajo. Ei = Desviaciones por encima</a:t>
            </a:r>
            <a:endParaRPr lang="es-PE" sz="2000" b="1" dirty="0">
              <a:latin typeface="Arial Narrow" panose="020B0606020202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3232A-F6A9-4ECC-9B41-F0D6F63250B8}"/>
              </a:ext>
            </a:extLst>
          </p:cNvPr>
          <p:cNvSpPr txBox="1"/>
          <p:nvPr/>
        </p:nvSpPr>
        <p:spPr>
          <a:xfrm>
            <a:off x="6096000" y="1308099"/>
            <a:ext cx="6095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3. RESTRICCIONES META: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 No utilizar más de 120 horas</a:t>
            </a:r>
            <a:r>
              <a:rPr lang="es-ES" sz="2000" b="1" dirty="0">
                <a:solidFill>
                  <a:srgbClr val="0070C0"/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120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Horas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</a:t>
            </a:r>
            <a:r>
              <a:rPr lang="es-ES" sz="2000" b="1" dirty="0" err="1"/>
              <a:t>D2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Obtener al menos 7000.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100X1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150X2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7000    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Beneficio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</a:t>
            </a:r>
            <a:r>
              <a:rPr lang="es-ES" sz="2000" b="1" dirty="0" err="1"/>
              <a:t>D3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    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Producción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4</a:t>
            </a:r>
            <a:r>
              <a:rPr lang="es-ES" sz="2000" b="1" dirty="0"/>
              <a:t>: Min  </a:t>
            </a:r>
            <a:r>
              <a:rPr lang="es-ES" sz="2000" b="1" dirty="0" err="1"/>
              <a:t>D4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B.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	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Capacidad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77B2CC-2BF7-42F7-BD38-3221E885D76F}"/>
              </a:ext>
            </a:extLst>
          </p:cNvPr>
          <p:cNvSpPr txBox="1"/>
          <p:nvPr/>
        </p:nvSpPr>
        <p:spPr>
          <a:xfrm>
            <a:off x="126125" y="5184248"/>
            <a:ext cx="57690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    4. RESTRICCIONES DURAS:</a:t>
            </a:r>
          </a:p>
          <a:p>
            <a:r>
              <a:rPr lang="es-ES" sz="2000" b="1" dirty="0" err="1"/>
              <a:t>2X1+X2</a:t>
            </a:r>
            <a:r>
              <a:rPr lang="es-ES" sz="2000" b="1" dirty="0"/>
              <a:t>&gt;=50</a:t>
            </a:r>
          </a:p>
          <a:p>
            <a:r>
              <a:rPr lang="es-ES" sz="2000" b="1" dirty="0" err="1"/>
              <a:t>X1+X2</a:t>
            </a:r>
            <a:r>
              <a:rPr lang="es-ES" sz="2000" b="1" dirty="0"/>
              <a:t>&lt;=75</a:t>
            </a:r>
          </a:p>
          <a:p>
            <a:r>
              <a:rPr lang="es-ES" sz="2000" b="1" dirty="0"/>
              <a:t>			</a:t>
            </a:r>
            <a:r>
              <a:rPr lang="es-ES" sz="2000" b="1" dirty="0">
                <a:solidFill>
                  <a:srgbClr val="7030A0"/>
                </a:solidFill>
              </a:rPr>
              <a:t>Xi, </a:t>
            </a:r>
            <a:r>
              <a:rPr lang="es-ES" sz="2000" b="1" dirty="0" err="1">
                <a:solidFill>
                  <a:srgbClr val="7030A0"/>
                </a:solidFill>
              </a:rPr>
              <a:t>Dj,Ej</a:t>
            </a:r>
            <a:r>
              <a:rPr lang="es-ES" sz="2000" b="1" dirty="0">
                <a:solidFill>
                  <a:srgbClr val="7030A0"/>
                </a:solidFill>
              </a:rPr>
              <a:t> &gt;=0</a:t>
            </a:r>
            <a:endParaRPr lang="es-PE" sz="2000" b="1" dirty="0">
              <a:solidFill>
                <a:srgbClr val="7030A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81AC0E-CCE6-413F-A53E-6B8145B5E6DD}"/>
              </a:ext>
            </a:extLst>
          </p:cNvPr>
          <p:cNvSpPr txBox="1"/>
          <p:nvPr/>
        </p:nvSpPr>
        <p:spPr>
          <a:xfrm>
            <a:off x="6096000" y="4512481"/>
            <a:ext cx="6026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5. FUNCIÓN OBJETIVO:</a:t>
            </a:r>
          </a:p>
          <a:p>
            <a:r>
              <a:rPr lang="es-ES" sz="2000" b="1" dirty="0">
                <a:solidFill>
                  <a:srgbClr val="7030A0"/>
                </a:solidFill>
              </a:rPr>
              <a:t>MIN = </a:t>
            </a:r>
            <a:r>
              <a:rPr lang="es-ES" sz="20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r>
              <a:rPr lang="es-ES" sz="2000" b="1" dirty="0" err="1">
                <a:latin typeface="Calibri" pitchFamily="34" charset="0"/>
                <a:ea typeface="Calibri" pitchFamily="34" charset="0"/>
                <a:cs typeface="Arial" pitchFamily="34" charset="0"/>
              </a:rPr>
              <a:t>P1</a:t>
            </a:r>
            <a:r>
              <a:rPr lang="es-ES" sz="20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es-ES" sz="2000" b="1" dirty="0" err="1">
                <a:latin typeface="Calibri" pitchFamily="34" charset="0"/>
                <a:ea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)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P2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(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)+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P3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(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)+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P4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(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)</a:t>
            </a:r>
            <a:endParaRPr lang="es-PE" sz="2000" b="1" dirty="0">
              <a:solidFill>
                <a:srgbClr val="7030A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1396B7-0A2E-4E8C-99F0-913A9C720FC4}"/>
              </a:ext>
            </a:extLst>
          </p:cNvPr>
          <p:cNvSpPr txBox="1"/>
          <p:nvPr/>
        </p:nvSpPr>
        <p:spPr>
          <a:xfrm>
            <a:off x="236866" y="2700427"/>
            <a:ext cx="58591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2. METAS: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sz="2000" b="1" dirty="0">
                <a:latin typeface="Arial Narrow" panose="020B0606020202030204" pitchFamily="34" charset="0"/>
              </a:rPr>
              <a:t>: 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No utilizar más de 120 horas de trabajo en la fabricación de los productos A y B.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: La empresa quiere obtener un beneficio de al menos 7000 euros.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: Fabricar al  menos  40 productos del tipo A. 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: Fabricar al  menos  40 productos del tipo B. </a:t>
            </a:r>
            <a:endParaRPr lang="es-PE" sz="2000" dirty="0">
              <a:latin typeface="Arial Narrow" panose="020B0606020202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142F94-4DE8-4CC5-B59E-41CA29A5017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5</a:t>
            </a:r>
          </a:p>
        </p:txBody>
      </p:sp>
    </p:spTree>
    <p:extLst>
      <p:ext uri="{BB962C8B-B14F-4D97-AF65-F5344CB8AC3E}">
        <p14:creationId xmlns:p14="http://schemas.microsoft.com/office/powerpoint/2010/main" val="262664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2B2C94C-C342-4831-BEF5-E52E25881258}"/>
              </a:ext>
            </a:extLst>
          </p:cNvPr>
          <p:cNvSpPr/>
          <p:nvPr/>
        </p:nvSpPr>
        <p:spPr>
          <a:xfrm>
            <a:off x="899700" y="406541"/>
            <a:ext cx="5000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https://</a:t>
            </a:r>
            <a:r>
              <a:rPr lang="es-PE" dirty="0" err="1"/>
              <a:t>www.youtube.com</a:t>
            </a:r>
            <a:r>
              <a:rPr lang="es-PE" dirty="0"/>
              <a:t>/</a:t>
            </a:r>
            <a:r>
              <a:rPr lang="es-PE" dirty="0" err="1"/>
              <a:t>watch?v</a:t>
            </a:r>
            <a:r>
              <a:rPr lang="es-PE" dirty="0"/>
              <a:t>=</a:t>
            </a:r>
            <a:r>
              <a:rPr lang="es-PE" dirty="0" err="1"/>
              <a:t>0jXUyYamkHQ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532AD40-2694-4235-A5EB-A9E91154E018}"/>
              </a:ext>
            </a:extLst>
          </p:cNvPr>
          <p:cNvSpPr/>
          <p:nvPr/>
        </p:nvSpPr>
        <p:spPr>
          <a:xfrm>
            <a:off x="1431984" y="1254666"/>
            <a:ext cx="4259367" cy="193899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120</a:t>
            </a:r>
          </a:p>
          <a:p>
            <a:r>
              <a:rPr lang="es-ES" sz="2000" b="1" dirty="0" err="1"/>
              <a:t>2X1+X2</a:t>
            </a:r>
            <a:r>
              <a:rPr lang="es-ES" sz="2000" b="1" dirty="0"/>
              <a:t>&gt;=50</a:t>
            </a:r>
          </a:p>
          <a:p>
            <a:r>
              <a:rPr lang="es-ES" sz="2000" b="1" dirty="0" err="1"/>
              <a:t>X1+X2</a:t>
            </a:r>
            <a:r>
              <a:rPr lang="es-ES" sz="2000" b="1" dirty="0"/>
              <a:t>&lt;=75</a:t>
            </a: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D415A5-5055-43ED-90DA-A4DDD25E5CA5}"/>
              </a:ext>
            </a:extLst>
          </p:cNvPr>
          <p:cNvSpPr/>
          <p:nvPr/>
        </p:nvSpPr>
        <p:spPr>
          <a:xfrm>
            <a:off x="899700" y="3935817"/>
            <a:ext cx="50007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OBJECTIVE</a:t>
            </a:r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FUNCTION</a:t>
            </a:r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VALUE</a:t>
            </a:r>
            <a:endParaRPr lang="es-PE" sz="2000" dirty="0">
              <a:latin typeface="Arial Narrow" panose="020B0606020202030204" pitchFamily="34" charset="0"/>
            </a:endParaRPr>
          </a:p>
          <a:p>
            <a:r>
              <a:rPr lang="es-PE" sz="2000" dirty="0">
                <a:latin typeface="Arial Narrow" panose="020B0606020202030204" pitchFamily="34" charset="0"/>
              </a:rPr>
              <a:t>        1)     </a:t>
            </a:r>
            <a:r>
              <a:rPr lang="es-PE" sz="2000" dirty="0" err="1">
                <a:latin typeface="Arial Narrow" panose="020B0606020202030204" pitchFamily="34" charset="0"/>
              </a:rPr>
              <a:t>0.0000000E+00</a:t>
            </a:r>
            <a:endParaRPr lang="es-PE" sz="2000" dirty="0">
              <a:latin typeface="Arial Narrow" panose="020B0606020202030204" pitchFamily="34" charset="0"/>
            </a:endParaRPr>
          </a:p>
          <a:p>
            <a:r>
              <a:rPr lang="es-PE" sz="2000" dirty="0">
                <a:latin typeface="Arial Narrow" panose="020B0606020202030204" pitchFamily="34" charset="0"/>
              </a:rPr>
              <a:t>  VARIABLE        </a:t>
            </a:r>
            <a:r>
              <a:rPr lang="es-PE" sz="2000" dirty="0" err="1">
                <a:latin typeface="Arial Narrow" panose="020B0606020202030204" pitchFamily="34" charset="0"/>
              </a:rPr>
              <a:t>VALUE</a:t>
            </a:r>
            <a:r>
              <a:rPr lang="es-PE" sz="2000" dirty="0">
                <a:latin typeface="Arial Narrow" panose="020B0606020202030204" pitchFamily="34" charset="0"/>
              </a:rPr>
              <a:t>    </a:t>
            </a:r>
            <a:r>
              <a:rPr lang="es-PE" sz="2000" dirty="0" err="1">
                <a:latin typeface="Arial Narrow" panose="020B0606020202030204" pitchFamily="34" charset="0"/>
              </a:rPr>
              <a:t>EDUCED</a:t>
            </a:r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COST</a:t>
            </a:r>
            <a:endParaRPr lang="es-PE" sz="2000" dirty="0">
              <a:latin typeface="Arial Narrow" panose="020B0606020202030204" pitchFamily="34" charset="0"/>
            </a:endParaRP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E1</a:t>
            </a:r>
            <a:r>
              <a:rPr lang="es-PE" sz="2000" dirty="0">
                <a:latin typeface="Arial Narrow" panose="020B0606020202030204" pitchFamily="34" charset="0"/>
              </a:rPr>
              <a:t>         0.000000          1.000000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X1</a:t>
            </a:r>
            <a:r>
              <a:rPr lang="es-PE" sz="2000" dirty="0">
                <a:latin typeface="Arial Narrow" panose="020B0606020202030204" pitchFamily="34" charset="0"/>
              </a:rPr>
              <a:t>        25.000000          0.000000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X2</a:t>
            </a:r>
            <a:r>
              <a:rPr lang="es-PE" sz="2000" dirty="0">
                <a:latin typeface="Arial Narrow" panose="020B0606020202030204" pitchFamily="34" charset="0"/>
              </a:rPr>
              <a:t>         0.000000          0.000000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D1</a:t>
            </a:r>
            <a:r>
              <a:rPr lang="es-PE" sz="2000" dirty="0">
                <a:latin typeface="Arial Narrow" panose="020B0606020202030204" pitchFamily="34" charset="0"/>
              </a:rPr>
              <a:t>        20.000000          0.000000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90D40E-D66B-487F-8524-D7C7BE99A9B3}"/>
              </a:ext>
            </a:extLst>
          </p:cNvPr>
          <p:cNvSpPr/>
          <p:nvPr/>
        </p:nvSpPr>
        <p:spPr>
          <a:xfrm>
            <a:off x="7511572" y="1254666"/>
            <a:ext cx="4222581" cy="25545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000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120</a:t>
            </a:r>
          </a:p>
          <a:p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2000" b="1" dirty="0" err="1">
                <a:latin typeface="Calibri" pitchFamily="34" charset="0"/>
                <a:cs typeface="Arial" pitchFamily="34" charset="0"/>
              </a:rPr>
              <a:t>100X1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150X2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7000</a:t>
            </a:r>
          </a:p>
          <a:p>
            <a:r>
              <a:rPr lang="es-ES" sz="2000" b="1" dirty="0" err="1"/>
              <a:t>2X1+X2</a:t>
            </a:r>
            <a:r>
              <a:rPr lang="es-ES" sz="2000" b="1" dirty="0"/>
              <a:t>&gt;=50</a:t>
            </a:r>
          </a:p>
          <a:p>
            <a:r>
              <a:rPr lang="es-ES" sz="2000" b="1" dirty="0" err="1"/>
              <a:t>X1+X2</a:t>
            </a:r>
            <a:r>
              <a:rPr lang="es-ES" sz="2000" b="1" dirty="0"/>
              <a:t>&lt;=75</a:t>
            </a:r>
          </a:p>
          <a:p>
            <a:r>
              <a:rPr lang="es-PE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F7B1E3-606D-460D-A3F9-41696BA4DB6E}"/>
              </a:ext>
            </a:extLst>
          </p:cNvPr>
          <p:cNvSpPr/>
          <p:nvPr/>
        </p:nvSpPr>
        <p:spPr>
          <a:xfrm>
            <a:off x="6943918" y="3935817"/>
            <a:ext cx="52480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OBJECTIVE</a:t>
            </a:r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FUNCTION</a:t>
            </a:r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VALUE</a:t>
            </a:r>
            <a:endParaRPr lang="es-PE" sz="2000" dirty="0">
              <a:latin typeface="Arial Narrow" panose="020B0606020202030204" pitchFamily="34" charset="0"/>
            </a:endParaRPr>
          </a:p>
          <a:p>
            <a:r>
              <a:rPr lang="es-PE" sz="2000" dirty="0">
                <a:latin typeface="Arial Narrow" panose="020B0606020202030204" pitchFamily="34" charset="0"/>
              </a:rPr>
              <a:t>        1)      2500.000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VARIABLE        </a:t>
            </a:r>
            <a:r>
              <a:rPr lang="es-PE" sz="2000" dirty="0" err="1">
                <a:latin typeface="Arial Narrow" panose="020B0606020202030204" pitchFamily="34" charset="0"/>
              </a:rPr>
              <a:t>VALUE</a:t>
            </a:r>
            <a:r>
              <a:rPr lang="es-PE" sz="2000" dirty="0">
                <a:latin typeface="Arial Narrow" panose="020B0606020202030204" pitchFamily="34" charset="0"/>
              </a:rPr>
              <a:t>      </a:t>
            </a:r>
            <a:r>
              <a:rPr lang="es-PE" sz="2000" dirty="0" err="1">
                <a:latin typeface="Arial Narrow" panose="020B0606020202030204" pitchFamily="34" charset="0"/>
              </a:rPr>
              <a:t>REDUCED</a:t>
            </a:r>
            <a:r>
              <a:rPr lang="es-PE" sz="2000" dirty="0">
                <a:latin typeface="Arial Narrow" panose="020B0606020202030204" pitchFamily="34" charset="0"/>
              </a:rPr>
              <a:t> </a:t>
            </a:r>
            <a:r>
              <a:rPr lang="es-PE" sz="2000" dirty="0" err="1">
                <a:latin typeface="Arial Narrow" panose="020B0606020202030204" pitchFamily="34" charset="0"/>
              </a:rPr>
              <a:t>COST</a:t>
            </a:r>
            <a:endParaRPr lang="es-PE" sz="2000" dirty="0">
              <a:latin typeface="Arial Narrow" panose="020B0606020202030204" pitchFamily="34" charset="0"/>
            </a:endParaRP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D2</a:t>
            </a:r>
            <a:r>
              <a:rPr lang="es-PE" sz="2000" dirty="0">
                <a:latin typeface="Arial Narrow" panose="020B0606020202030204" pitchFamily="34" charset="0"/>
              </a:rPr>
              <a:t>      2500.000000          0.000000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X1</a:t>
            </a:r>
            <a:r>
              <a:rPr lang="es-PE" sz="2000" dirty="0">
                <a:latin typeface="Arial Narrow" panose="020B0606020202030204" pitchFamily="34" charset="0"/>
              </a:rPr>
              <a:t>        15.000000          0.000000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X2</a:t>
            </a:r>
            <a:r>
              <a:rPr lang="es-PE" sz="2000" dirty="0">
                <a:latin typeface="Arial Narrow" panose="020B0606020202030204" pitchFamily="34" charset="0"/>
              </a:rPr>
              <a:t>        20.000000          0.000000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D1</a:t>
            </a:r>
            <a:r>
              <a:rPr lang="es-PE" sz="2000" dirty="0">
                <a:latin typeface="Arial Narrow" panose="020B0606020202030204" pitchFamily="34" charset="0"/>
              </a:rPr>
              <a:t>         0.000000        100.000000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E1</a:t>
            </a:r>
            <a:r>
              <a:rPr lang="es-PE" sz="2000" dirty="0">
                <a:latin typeface="Arial Narrow" panose="020B0606020202030204" pitchFamily="34" charset="0"/>
              </a:rPr>
              <a:t>         0.000000          0.000000</a:t>
            </a:r>
          </a:p>
          <a:p>
            <a:r>
              <a:rPr lang="es-PE" sz="2000" dirty="0">
                <a:latin typeface="Arial Narrow" panose="020B0606020202030204" pitchFamily="34" charset="0"/>
              </a:rPr>
              <a:t>        </a:t>
            </a:r>
            <a:r>
              <a:rPr lang="es-PE" sz="2000" dirty="0" err="1">
                <a:latin typeface="Arial Narrow" panose="020B0606020202030204" pitchFamily="34" charset="0"/>
              </a:rPr>
              <a:t>E2</a:t>
            </a:r>
            <a:r>
              <a:rPr lang="es-PE" sz="2000" dirty="0">
                <a:latin typeface="Arial Narrow" panose="020B0606020202030204" pitchFamily="34" charset="0"/>
              </a:rPr>
              <a:t>         0.000000          1.000000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1724EA-598A-4D54-B9FF-2DE6FF44DB05}"/>
              </a:ext>
            </a:extLst>
          </p:cNvPr>
          <p:cNvSpPr txBox="1"/>
          <p:nvPr/>
        </p:nvSpPr>
        <p:spPr>
          <a:xfrm>
            <a:off x="248082" y="1943860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1753EF-18F3-499A-927B-8D101CC8EADD}"/>
              </a:ext>
            </a:extLst>
          </p:cNvPr>
          <p:cNvSpPr txBox="1"/>
          <p:nvPr/>
        </p:nvSpPr>
        <p:spPr>
          <a:xfrm>
            <a:off x="6369170" y="1812796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2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B05A6A5-429B-4640-8437-77FAA1B0AC2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5</a:t>
            </a:r>
          </a:p>
        </p:txBody>
      </p:sp>
      <p:cxnSp>
        <p:nvCxnSpPr>
          <p:cNvPr id="2" name="Conector: angular 1">
            <a:extLst>
              <a:ext uri="{FF2B5EF4-FFF2-40B4-BE49-F238E27FC236}">
                <a16:creationId xmlns:a16="http://schemas.microsoft.com/office/drawing/2014/main" id="{0A0F7358-C4CE-AEF6-7F0E-112FE237CC78}"/>
              </a:ext>
            </a:extLst>
          </p:cNvPr>
          <p:cNvCxnSpPr>
            <a:cxnSpLocks/>
          </p:cNvCxnSpPr>
          <p:nvPr/>
        </p:nvCxnSpPr>
        <p:spPr>
          <a:xfrm flipV="1">
            <a:off x="4698332" y="2367720"/>
            <a:ext cx="2803357" cy="269148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2B2C94C-C342-4831-BEF5-E52E25881258}"/>
              </a:ext>
            </a:extLst>
          </p:cNvPr>
          <p:cNvSpPr/>
          <p:nvPr/>
        </p:nvSpPr>
        <p:spPr>
          <a:xfrm>
            <a:off x="899700" y="406541"/>
            <a:ext cx="5000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https://</a:t>
            </a:r>
            <a:r>
              <a:rPr lang="es-PE" dirty="0" err="1"/>
              <a:t>www.youtube.com</a:t>
            </a:r>
            <a:r>
              <a:rPr lang="es-PE" dirty="0"/>
              <a:t>/</a:t>
            </a:r>
            <a:r>
              <a:rPr lang="es-PE" dirty="0" err="1"/>
              <a:t>watch?v</a:t>
            </a:r>
            <a:r>
              <a:rPr lang="es-PE" dirty="0"/>
              <a:t>=</a:t>
            </a:r>
            <a:r>
              <a:rPr lang="es-PE" dirty="0" err="1"/>
              <a:t>0jXUyYamkHQ</a:t>
            </a:r>
            <a:endParaRPr lang="es-PE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02D13F1-0663-4C8F-82ED-FF472C617C08}"/>
              </a:ext>
            </a:extLst>
          </p:cNvPr>
          <p:cNvSpPr/>
          <p:nvPr/>
        </p:nvSpPr>
        <p:spPr>
          <a:xfrm>
            <a:off x="1352502" y="1226978"/>
            <a:ext cx="4115589" cy="289310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D3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= 120</a:t>
            </a:r>
          </a:p>
          <a:p>
            <a:r>
              <a:rPr lang="es-ES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b="1" dirty="0" err="1">
                <a:latin typeface="Calibri" pitchFamily="34" charset="0"/>
                <a:cs typeface="Arial" pitchFamily="34" charset="0"/>
              </a:rPr>
              <a:t>100X1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Calibri" pitchFamily="34" charset="0"/>
                <a:cs typeface="Arial" pitchFamily="34" charset="0"/>
              </a:rPr>
              <a:t>150X2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= 7000</a:t>
            </a:r>
          </a:p>
          <a:p>
            <a:r>
              <a:rPr lang="es-ES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=2500</a:t>
            </a:r>
          </a:p>
          <a:p>
            <a:r>
              <a:rPr lang="es-ES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b="1" dirty="0">
                <a:latin typeface="Calibri" pitchFamily="34" charset="0"/>
                <a:cs typeface="Arial" pitchFamily="34" charset="0"/>
              </a:rPr>
              <a:t> = 40</a:t>
            </a:r>
          </a:p>
          <a:p>
            <a:r>
              <a:rPr lang="es-ES" b="1" dirty="0" err="1"/>
              <a:t>2X1+X2</a:t>
            </a:r>
            <a:r>
              <a:rPr lang="es-ES" b="1" dirty="0"/>
              <a:t>&gt;=50</a:t>
            </a:r>
          </a:p>
          <a:p>
            <a:r>
              <a:rPr lang="es-ES" b="1" dirty="0" err="1"/>
              <a:t>X1+X2</a:t>
            </a:r>
            <a:r>
              <a:rPr lang="es-ES" b="1" dirty="0"/>
              <a:t>&lt;=75</a:t>
            </a:r>
          </a:p>
          <a:p>
            <a:r>
              <a:rPr lang="es-PE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BA2CAD-AFD0-42C2-8A98-291EE5E1FCBF}"/>
              </a:ext>
            </a:extLst>
          </p:cNvPr>
          <p:cNvSpPr/>
          <p:nvPr/>
        </p:nvSpPr>
        <p:spPr>
          <a:xfrm>
            <a:off x="1342301" y="4096518"/>
            <a:ext cx="429074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600" b="1" dirty="0"/>
              <a:t> </a:t>
            </a:r>
            <a:r>
              <a:rPr lang="es-PE" sz="1600" b="1" dirty="0" err="1"/>
              <a:t>OBJECTIVE</a:t>
            </a:r>
            <a:r>
              <a:rPr lang="es-PE" sz="1600" b="1" dirty="0"/>
              <a:t> </a:t>
            </a:r>
            <a:r>
              <a:rPr lang="es-PE" sz="1600" b="1" dirty="0" err="1"/>
              <a:t>FUNCTION</a:t>
            </a:r>
            <a:r>
              <a:rPr lang="es-PE" sz="1600" b="1" dirty="0"/>
              <a:t> </a:t>
            </a:r>
            <a:r>
              <a:rPr lang="es-PE" sz="1600" b="1" dirty="0" err="1"/>
              <a:t>VALUE</a:t>
            </a:r>
            <a:endParaRPr lang="es-PE" sz="1600" b="1" dirty="0"/>
          </a:p>
          <a:p>
            <a:r>
              <a:rPr lang="es-PE" sz="1600" b="1" dirty="0"/>
              <a:t>        1)      25.00000</a:t>
            </a:r>
          </a:p>
          <a:p>
            <a:r>
              <a:rPr lang="es-PE" sz="1600" b="1" dirty="0"/>
              <a:t>  VARIABLE        </a:t>
            </a:r>
            <a:r>
              <a:rPr lang="es-PE" sz="1600" b="1" dirty="0" err="1"/>
              <a:t>VALUE</a:t>
            </a:r>
            <a:r>
              <a:rPr lang="es-PE" sz="1600" b="1" dirty="0"/>
              <a:t>        </a:t>
            </a:r>
            <a:r>
              <a:rPr lang="es-PE" sz="1600" b="1" dirty="0" err="1"/>
              <a:t>REDUCED</a:t>
            </a:r>
            <a:r>
              <a:rPr lang="es-PE" sz="1600" b="1" dirty="0"/>
              <a:t> </a:t>
            </a:r>
            <a:r>
              <a:rPr lang="es-PE" sz="1600" b="1" dirty="0" err="1"/>
              <a:t>COST</a:t>
            </a:r>
            <a:endParaRPr lang="es-PE" sz="1600" b="1" dirty="0"/>
          </a:p>
          <a:p>
            <a:r>
              <a:rPr lang="es-PE" sz="1600" b="1" dirty="0"/>
              <a:t>        </a:t>
            </a:r>
            <a:r>
              <a:rPr lang="es-PE" sz="1600" b="1" dirty="0" err="1"/>
              <a:t>D3</a:t>
            </a:r>
            <a:r>
              <a:rPr lang="es-PE" sz="1600" b="1" dirty="0"/>
              <a:t>        25.000000          0.000000</a:t>
            </a:r>
          </a:p>
          <a:p>
            <a:r>
              <a:rPr lang="es-PE" sz="1600" b="1" dirty="0"/>
              <a:t>        </a:t>
            </a:r>
            <a:r>
              <a:rPr lang="es-PE" sz="1600" b="1" dirty="0" err="1"/>
              <a:t>X1</a:t>
            </a:r>
            <a:r>
              <a:rPr lang="es-PE" sz="1600" b="1" dirty="0"/>
              <a:t>        15.000000          0.000000</a:t>
            </a:r>
          </a:p>
          <a:p>
            <a:r>
              <a:rPr lang="es-PE" sz="1600" b="1" dirty="0"/>
              <a:t>        </a:t>
            </a:r>
            <a:r>
              <a:rPr lang="es-PE" sz="1600" b="1" dirty="0" err="1"/>
              <a:t>X2</a:t>
            </a:r>
            <a:r>
              <a:rPr lang="es-PE" sz="1600" b="1" dirty="0"/>
              <a:t>        20.000000          0.000000</a:t>
            </a:r>
          </a:p>
          <a:p>
            <a:r>
              <a:rPr lang="es-PE" sz="1600" b="1" dirty="0"/>
              <a:t>        </a:t>
            </a:r>
            <a:r>
              <a:rPr lang="es-PE" sz="1600" b="1" dirty="0" err="1"/>
              <a:t>D1</a:t>
            </a:r>
            <a:r>
              <a:rPr lang="es-PE" sz="1600" b="1" dirty="0"/>
              <a:t>         0.000000          0.500000</a:t>
            </a:r>
          </a:p>
          <a:p>
            <a:r>
              <a:rPr lang="es-PE" sz="1600" b="1" dirty="0"/>
              <a:t>        </a:t>
            </a:r>
            <a:r>
              <a:rPr lang="es-PE" sz="1600" b="1" dirty="0" err="1"/>
              <a:t>E1</a:t>
            </a:r>
            <a:r>
              <a:rPr lang="es-PE" sz="1600" b="1" dirty="0"/>
              <a:t>         0.000000          0.000000</a:t>
            </a:r>
          </a:p>
          <a:p>
            <a:r>
              <a:rPr lang="es-PE" sz="1600" b="1" dirty="0"/>
              <a:t>        </a:t>
            </a:r>
            <a:r>
              <a:rPr lang="es-PE" sz="1600" b="1" dirty="0" err="1"/>
              <a:t>D2</a:t>
            </a:r>
            <a:r>
              <a:rPr lang="es-PE" sz="1600" b="1" dirty="0"/>
              <a:t>      2500.000000          0.000000</a:t>
            </a:r>
          </a:p>
          <a:p>
            <a:r>
              <a:rPr lang="es-PE" sz="1600" b="1" dirty="0"/>
              <a:t>        </a:t>
            </a:r>
            <a:r>
              <a:rPr lang="es-PE" sz="1600" b="1" dirty="0" err="1"/>
              <a:t>E2</a:t>
            </a:r>
            <a:r>
              <a:rPr lang="es-PE" sz="1600" b="1" dirty="0"/>
              <a:t>         0.000000          0.010000</a:t>
            </a:r>
          </a:p>
          <a:p>
            <a:r>
              <a:rPr lang="es-PE" sz="1600" b="1" dirty="0"/>
              <a:t>        </a:t>
            </a:r>
            <a:r>
              <a:rPr lang="es-PE" sz="1600" b="1" dirty="0" err="1"/>
              <a:t>E3</a:t>
            </a:r>
            <a:r>
              <a:rPr lang="es-PE" sz="1600" b="1" dirty="0"/>
              <a:t>         0.000000          1.000000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96ECA1-7B6F-4F24-BCC6-34D176C10C37}"/>
              </a:ext>
            </a:extLst>
          </p:cNvPr>
          <p:cNvSpPr txBox="1"/>
          <p:nvPr/>
        </p:nvSpPr>
        <p:spPr>
          <a:xfrm>
            <a:off x="244416" y="2125233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3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D2A7AC4-C27F-4F81-951B-5CE7B878D591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FAA4B9-5BA0-440F-A5F6-8024BB2B35D0}"/>
              </a:ext>
            </a:extLst>
          </p:cNvPr>
          <p:cNvSpPr/>
          <p:nvPr/>
        </p:nvSpPr>
        <p:spPr>
          <a:xfrm>
            <a:off x="7392825" y="1226978"/>
            <a:ext cx="4064524" cy="304698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D4</a:t>
            </a:r>
            <a:endParaRPr lang="es-P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P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s-P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= 120</a:t>
            </a:r>
          </a:p>
          <a:p>
            <a:r>
              <a:rPr lang="es-ES" sz="16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=0</a:t>
            </a:r>
          </a:p>
          <a:p>
            <a:r>
              <a:rPr lang="es-ES" sz="1600" b="1" dirty="0" err="1">
                <a:latin typeface="Calibri" pitchFamily="34" charset="0"/>
                <a:cs typeface="Arial" pitchFamily="34" charset="0"/>
              </a:rPr>
              <a:t>100X1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150X2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= 7000</a:t>
            </a:r>
          </a:p>
          <a:p>
            <a:r>
              <a:rPr lang="es-ES" sz="16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=2500</a:t>
            </a:r>
          </a:p>
          <a:p>
            <a:r>
              <a:rPr lang="es-ES" sz="16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= 40</a:t>
            </a:r>
          </a:p>
          <a:p>
            <a:r>
              <a:rPr lang="es-ES" sz="16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=25</a:t>
            </a:r>
          </a:p>
          <a:p>
            <a:r>
              <a:rPr lang="es-ES" sz="16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16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1600" b="1" dirty="0">
                <a:latin typeface="Calibri" pitchFamily="34" charset="0"/>
                <a:cs typeface="Arial" pitchFamily="34" charset="0"/>
              </a:rPr>
              <a:t> = 40</a:t>
            </a:r>
          </a:p>
          <a:p>
            <a:r>
              <a:rPr lang="es-ES" sz="1600" b="1" dirty="0" err="1"/>
              <a:t>2X1+X2</a:t>
            </a:r>
            <a:r>
              <a:rPr lang="es-ES" sz="1600" b="1" dirty="0"/>
              <a:t>&gt;=50</a:t>
            </a:r>
          </a:p>
          <a:p>
            <a:r>
              <a:rPr lang="es-ES" sz="1600" b="1" dirty="0" err="1"/>
              <a:t>X1+X2</a:t>
            </a:r>
            <a:r>
              <a:rPr lang="es-ES" sz="1600" b="1" dirty="0"/>
              <a:t>&lt;=75</a:t>
            </a:r>
          </a:p>
          <a:p>
            <a:r>
              <a:rPr lang="es-P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s-P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5C45F1-37F9-4B48-B799-137A32910B2B}"/>
              </a:ext>
            </a:extLst>
          </p:cNvPr>
          <p:cNvSpPr/>
          <p:nvPr/>
        </p:nvSpPr>
        <p:spPr>
          <a:xfrm>
            <a:off x="7392825" y="4215998"/>
            <a:ext cx="394228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400" b="1" dirty="0"/>
              <a:t> 1)      20.00000</a:t>
            </a:r>
          </a:p>
          <a:p>
            <a:r>
              <a:rPr lang="es-PE" sz="1400" b="1" dirty="0"/>
              <a:t>  VARIABLE        </a:t>
            </a:r>
            <a:r>
              <a:rPr lang="es-PE" sz="1400" b="1" dirty="0" err="1"/>
              <a:t>VALUE</a:t>
            </a:r>
            <a:r>
              <a:rPr lang="es-PE" sz="1400" b="1" dirty="0"/>
              <a:t>    </a:t>
            </a:r>
            <a:r>
              <a:rPr lang="es-PE" sz="1400" b="1" dirty="0" err="1"/>
              <a:t>REDUCED</a:t>
            </a:r>
            <a:r>
              <a:rPr lang="es-PE" sz="1400" b="1" dirty="0"/>
              <a:t> </a:t>
            </a:r>
            <a:r>
              <a:rPr lang="es-PE" sz="1400" b="1" dirty="0" err="1"/>
              <a:t>COST</a:t>
            </a:r>
            <a:endParaRPr lang="es-PE" sz="1400" b="1" dirty="0"/>
          </a:p>
          <a:p>
            <a:r>
              <a:rPr lang="es-PE" sz="1400" b="1" dirty="0"/>
              <a:t>        </a:t>
            </a:r>
            <a:r>
              <a:rPr lang="es-PE" sz="1400" b="1" dirty="0" err="1"/>
              <a:t>D4</a:t>
            </a:r>
            <a:r>
              <a:rPr lang="es-PE" sz="1400" b="1" dirty="0"/>
              <a:t>        20.000000          0.000000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X1</a:t>
            </a:r>
            <a:r>
              <a:rPr lang="es-PE" sz="1400" b="1" dirty="0"/>
              <a:t>        15.000000          0.000000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X2</a:t>
            </a:r>
            <a:r>
              <a:rPr lang="es-PE" sz="1400" b="1" dirty="0"/>
              <a:t>        20.000000          0.000000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D1</a:t>
            </a:r>
            <a:r>
              <a:rPr lang="es-PE" sz="1400" b="1" dirty="0"/>
              <a:t>         0.000000          1.000000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E1</a:t>
            </a:r>
            <a:r>
              <a:rPr lang="es-PE" sz="1400" b="1" dirty="0"/>
              <a:t>         0.000000          0.000000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D2</a:t>
            </a:r>
            <a:r>
              <a:rPr lang="es-PE" sz="1400" b="1" dirty="0"/>
              <a:t>      2500.000000     0.000000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E2</a:t>
            </a:r>
            <a:r>
              <a:rPr lang="es-PE" sz="1400" b="1" dirty="0"/>
              <a:t>         0.000000          0.000000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D3</a:t>
            </a:r>
            <a:r>
              <a:rPr lang="es-PE" sz="1400" b="1" dirty="0"/>
              <a:t>        25.000000          0.000000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E3</a:t>
            </a:r>
            <a:r>
              <a:rPr lang="es-PE" sz="1400" b="1" dirty="0"/>
              <a:t>         0.000000          0.000000</a:t>
            </a:r>
          </a:p>
          <a:p>
            <a:r>
              <a:rPr lang="es-PE" sz="1400" b="1" dirty="0"/>
              <a:t>        </a:t>
            </a:r>
            <a:r>
              <a:rPr lang="es-PE" sz="1400" b="1" dirty="0" err="1"/>
              <a:t>E4</a:t>
            </a:r>
            <a:r>
              <a:rPr lang="es-PE" sz="1400" b="1" dirty="0"/>
              <a:t>         0.000000          1.000000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8D1F74-671A-4E8C-9937-EA74D7C0829E}"/>
              </a:ext>
            </a:extLst>
          </p:cNvPr>
          <p:cNvSpPr txBox="1"/>
          <p:nvPr/>
        </p:nvSpPr>
        <p:spPr>
          <a:xfrm>
            <a:off x="6231136" y="2013081"/>
            <a:ext cx="1012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META 4</a:t>
            </a: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D78E748D-3A17-C66C-ABEE-702CCC7B0722}"/>
              </a:ext>
            </a:extLst>
          </p:cNvPr>
          <p:cNvCxnSpPr>
            <a:cxnSpLocks/>
          </p:cNvCxnSpPr>
          <p:nvPr/>
        </p:nvCxnSpPr>
        <p:spPr>
          <a:xfrm flipV="1">
            <a:off x="4650205" y="3122762"/>
            <a:ext cx="2742620" cy="1876359"/>
          </a:xfrm>
          <a:prstGeom prst="bentConnector3">
            <a:avLst>
              <a:gd name="adj1" fmla="val 5263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22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5" grpId="0" animBg="1"/>
      <p:bldP spid="6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12892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producción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995873"/>
              </p:ext>
            </p:extLst>
          </p:nvPr>
        </p:nvGraphicFramePr>
        <p:xfrm>
          <a:off x="793345" y="1992651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Producto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15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B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20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24191"/>
              </p:ext>
            </p:extLst>
          </p:nvPr>
        </p:nvGraphicFramePr>
        <p:xfrm>
          <a:off x="759838" y="4108581"/>
          <a:ext cx="1067232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3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984442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408578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chemeClr val="tx1"/>
                          </a:solidFill>
                        </a:rPr>
                        <a:t>Se logró utilizar exactamente 120 horas.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=2500: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chemeClr val="tx1"/>
                          </a:solidFill>
                        </a:rPr>
                        <a:t>Se obtuvo 2500 menos de 7000.</a:t>
                      </a:r>
                      <a:endParaRPr lang="es-P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=25: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obtuvo 25 menos de 40 productos A.</a:t>
                      </a:r>
                      <a:endParaRPr lang="es-PE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5143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=20: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 obtuvo 20 menos de 40 productos B.</a:t>
                      </a:r>
                      <a:endParaRPr lang="es-PE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9500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F254EB-E647-4615-9DB6-5AC7F54F8A92}"/>
              </a:ext>
            </a:extLst>
          </p:cNvPr>
          <p:cNvSpPr txBox="1"/>
          <p:nvPr/>
        </p:nvSpPr>
        <p:spPr>
          <a:xfrm>
            <a:off x="6096000" y="1253669"/>
            <a:ext cx="6095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3. RESTRICCIONES META: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 No utilizar más de 120 horas</a:t>
            </a:r>
            <a:r>
              <a:rPr lang="es-ES" sz="2000" b="1" dirty="0">
                <a:solidFill>
                  <a:srgbClr val="0070C0"/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120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Horas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</a:t>
            </a:r>
            <a:r>
              <a:rPr lang="es-ES" sz="2000" b="1" dirty="0" err="1"/>
              <a:t>D2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Obtener al menos 7000.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100X1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150X2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7000    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Beneficio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</a:t>
            </a:r>
            <a:r>
              <a:rPr lang="es-ES" sz="2000" b="1" dirty="0" err="1"/>
              <a:t>D3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    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Producción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4</a:t>
            </a:r>
            <a:r>
              <a:rPr lang="es-ES" sz="2000" b="1" dirty="0"/>
              <a:t>: Min  </a:t>
            </a:r>
            <a:r>
              <a:rPr lang="es-ES" sz="2000" b="1" dirty="0" err="1"/>
              <a:t>D4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B.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	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Capacidad</a:t>
            </a:r>
          </a:p>
        </p:txBody>
      </p:sp>
    </p:spTree>
    <p:extLst>
      <p:ext uri="{BB962C8B-B14F-4D97-AF65-F5344CB8AC3E}">
        <p14:creationId xmlns:p14="http://schemas.microsoft.com/office/powerpoint/2010/main" val="82171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6D3232A-F6A9-4ECC-9B41-F0D6F63250B8}"/>
              </a:ext>
            </a:extLst>
          </p:cNvPr>
          <p:cNvSpPr txBox="1"/>
          <p:nvPr/>
        </p:nvSpPr>
        <p:spPr>
          <a:xfrm>
            <a:off x="6096000" y="1253669"/>
            <a:ext cx="6095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3. RESTRICCIONES META: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 No utilizar más de 120 horas</a:t>
            </a:r>
            <a:r>
              <a:rPr lang="es-ES" sz="2000" b="1" dirty="0">
                <a:solidFill>
                  <a:srgbClr val="0070C0"/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120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Horas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</a:t>
            </a:r>
            <a:r>
              <a:rPr lang="es-ES" sz="2000" b="1" dirty="0" err="1"/>
              <a:t>D2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Obtener al menos 7000.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100X1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150X2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7000    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Beneficio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</a:t>
            </a:r>
            <a:r>
              <a:rPr lang="es-ES" sz="2000" b="1" dirty="0" err="1"/>
              <a:t>D3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    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Producción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4</a:t>
            </a:r>
            <a:r>
              <a:rPr lang="es-ES" sz="2000" b="1" dirty="0"/>
              <a:t>: Min  </a:t>
            </a:r>
            <a:r>
              <a:rPr lang="es-ES" sz="2000" b="1" dirty="0" err="1"/>
              <a:t>D4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B.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	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Capacidad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AA4B9-5BA0-440F-A5F6-8024BB2B35D0}"/>
              </a:ext>
            </a:extLst>
          </p:cNvPr>
          <p:cNvSpPr/>
          <p:nvPr/>
        </p:nvSpPr>
        <p:spPr>
          <a:xfrm>
            <a:off x="6096000" y="4268194"/>
            <a:ext cx="3295291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b="1" dirty="0">
                <a:solidFill>
                  <a:srgbClr val="7030A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MIN</a:t>
            </a:r>
            <a:r>
              <a:rPr lang="es-PE" b="1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s-PE" b="1" dirty="0" err="1">
                <a:latin typeface="Arial Narrow" panose="020B0606020202030204" pitchFamily="34" charset="0"/>
                <a:cs typeface="Arial" panose="020B0604020202020204" pitchFamily="34" charset="0"/>
              </a:rPr>
              <a:t>E1+D2+D3+D4</a:t>
            </a:r>
            <a:endParaRPr lang="es-PE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es-PE" b="1" dirty="0" err="1">
                <a:latin typeface="Arial Narrow" panose="020B0606020202030204" pitchFamily="34" charset="0"/>
                <a:cs typeface="Arial" panose="020B0604020202020204" pitchFamily="34" charset="0"/>
              </a:rPr>
              <a:t>ST</a:t>
            </a:r>
            <a:endParaRPr lang="es-PE" b="1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4X1+3X2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120</a:t>
            </a:r>
          </a:p>
          <a:p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100X1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150X2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7000</a:t>
            </a:r>
          </a:p>
          <a:p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X1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E3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40</a:t>
            </a:r>
          </a:p>
          <a:p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X2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 +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D4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– </a:t>
            </a:r>
            <a:r>
              <a:rPr lang="es-ES" b="1" dirty="0" err="1">
                <a:latin typeface="Arial Narrow" panose="020B0606020202030204" pitchFamily="34" charset="0"/>
                <a:cs typeface="Arial" pitchFamily="34" charset="0"/>
              </a:rPr>
              <a:t>E4</a:t>
            </a:r>
            <a:r>
              <a:rPr lang="es-ES" b="1" dirty="0">
                <a:latin typeface="Arial Narrow" panose="020B0606020202030204" pitchFamily="34" charset="0"/>
                <a:cs typeface="Arial" pitchFamily="34" charset="0"/>
              </a:rPr>
              <a:t> = 40</a:t>
            </a:r>
          </a:p>
          <a:p>
            <a:r>
              <a:rPr lang="es-ES" b="1" dirty="0" err="1">
                <a:latin typeface="Arial Narrow" panose="020B0606020202030204" pitchFamily="34" charset="0"/>
              </a:rPr>
              <a:t>2X1+X2</a:t>
            </a:r>
            <a:r>
              <a:rPr lang="es-ES" b="1" dirty="0">
                <a:latin typeface="Arial Narrow" panose="020B0606020202030204" pitchFamily="34" charset="0"/>
              </a:rPr>
              <a:t>&gt;=50</a:t>
            </a:r>
          </a:p>
          <a:p>
            <a:r>
              <a:rPr lang="es-ES" b="1" dirty="0" err="1">
                <a:latin typeface="Arial Narrow" panose="020B0606020202030204" pitchFamily="34" charset="0"/>
              </a:rPr>
              <a:t>X1+X2</a:t>
            </a:r>
            <a:r>
              <a:rPr lang="es-ES" b="1" dirty="0">
                <a:latin typeface="Arial Narrow" panose="020B0606020202030204" pitchFamily="34" charset="0"/>
              </a:rPr>
              <a:t>&lt;=75</a:t>
            </a:r>
          </a:p>
          <a:p>
            <a:r>
              <a:rPr lang="es-PE" b="1" dirty="0" err="1">
                <a:latin typeface="Arial Narrow" panose="020B0606020202030204" pitchFamily="34" charset="0"/>
                <a:cs typeface="Arial" panose="020B0604020202020204" pitchFamily="34" charset="0"/>
              </a:rPr>
              <a:t>END</a:t>
            </a:r>
            <a:endParaRPr lang="es-PE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27533F6-AD17-4777-BA4E-D8142ACEBEC2}"/>
              </a:ext>
            </a:extLst>
          </p:cNvPr>
          <p:cNvSpPr/>
          <p:nvPr/>
        </p:nvSpPr>
        <p:spPr>
          <a:xfrm>
            <a:off x="9259911" y="4180344"/>
            <a:ext cx="2932089" cy="267765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s-PE" sz="1400" dirty="0"/>
              <a:t>1)      64.00000</a:t>
            </a:r>
          </a:p>
          <a:p>
            <a:r>
              <a:rPr lang="es-PE" sz="1400" dirty="0"/>
              <a:t>VARIABLE   </a:t>
            </a:r>
            <a:r>
              <a:rPr lang="es-PE" sz="1400" dirty="0" err="1"/>
              <a:t>VALUE</a:t>
            </a:r>
            <a:r>
              <a:rPr lang="es-PE" sz="1400" dirty="0"/>
              <a:t>     </a:t>
            </a:r>
            <a:r>
              <a:rPr lang="es-PE" sz="1400" dirty="0" err="1"/>
              <a:t>REDUCED</a:t>
            </a:r>
            <a:r>
              <a:rPr lang="es-PE" sz="1400" dirty="0"/>
              <a:t> </a:t>
            </a:r>
            <a:r>
              <a:rPr lang="es-PE" sz="1400" dirty="0" err="1"/>
              <a:t>COST</a:t>
            </a:r>
            <a:endParaRPr lang="es-PE" sz="1400" dirty="0"/>
          </a:p>
          <a:p>
            <a:r>
              <a:rPr lang="es-PE" sz="1400" dirty="0"/>
              <a:t>        </a:t>
            </a:r>
            <a:r>
              <a:rPr lang="es-PE" sz="1400" dirty="0" err="1"/>
              <a:t>X1</a:t>
            </a:r>
            <a:r>
              <a:rPr lang="es-PE" sz="1400" dirty="0"/>
              <a:t>          2.000000          1.000000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X2</a:t>
            </a:r>
            <a:r>
              <a:rPr lang="es-PE" sz="1400" dirty="0"/>
              <a:t>        46.000000          2.000000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E1</a:t>
            </a:r>
            <a:r>
              <a:rPr lang="es-PE" sz="1400" dirty="0"/>
              <a:t>        26.000000          0.000000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D2</a:t>
            </a:r>
            <a:r>
              <a:rPr lang="es-PE" sz="1400" dirty="0"/>
              <a:t>         0.000000          1.000000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D3</a:t>
            </a:r>
            <a:r>
              <a:rPr lang="es-PE" sz="1400" dirty="0"/>
              <a:t>        38.000000          0.000000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D4</a:t>
            </a:r>
            <a:r>
              <a:rPr lang="es-PE" sz="1400" dirty="0"/>
              <a:t>          0.000000          1.000000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D1</a:t>
            </a:r>
            <a:r>
              <a:rPr lang="es-PE" sz="1400" dirty="0"/>
              <a:t>          0.000000          1.000000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E2</a:t>
            </a:r>
            <a:r>
              <a:rPr lang="es-PE" sz="1400" dirty="0"/>
              <a:t>       100.000000          0.000000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E3</a:t>
            </a:r>
            <a:r>
              <a:rPr lang="es-PE" sz="1400" dirty="0"/>
              <a:t>           0.000000          1.000000</a:t>
            </a:r>
          </a:p>
          <a:p>
            <a:r>
              <a:rPr lang="es-PE" sz="1400" dirty="0"/>
              <a:t>        </a:t>
            </a:r>
            <a:r>
              <a:rPr lang="es-PE" sz="1400" dirty="0" err="1"/>
              <a:t>E4</a:t>
            </a:r>
            <a:r>
              <a:rPr lang="es-PE" sz="1400" dirty="0"/>
              <a:t>           6.000000          0.000000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3195132-CFEC-4DB9-9CE8-BC499465533C}"/>
              </a:ext>
            </a:extLst>
          </p:cNvPr>
          <p:cNvSpPr txBox="1"/>
          <p:nvPr/>
        </p:nvSpPr>
        <p:spPr>
          <a:xfrm>
            <a:off x="236866" y="1181185"/>
            <a:ext cx="58591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1. VARIABLES: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000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1</a:t>
            </a:r>
            <a:r>
              <a:rPr lang="es-ES" sz="2000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Cantidad de Producto A que se produce semanalmente.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X</a:t>
            </a:r>
            <a:r>
              <a:rPr lang="es-ES" sz="2000" baseline="-30000" dirty="0" err="1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2</a:t>
            </a:r>
            <a:r>
              <a:rPr lang="es-ES" sz="2000" dirty="0">
                <a:latin typeface="Arial Narrow" panose="020B0606020202030204" pitchFamily="34" charset="0"/>
                <a:ea typeface="Calibri" pitchFamily="34" charset="0"/>
                <a:cs typeface="Arial" pitchFamily="34" charset="0"/>
              </a:rPr>
              <a:t> = Cantidad de Producto B que se produce semanalmente </a:t>
            </a:r>
            <a:r>
              <a:rPr lang="es-ES" sz="2000" dirty="0">
                <a:latin typeface="Arial Narrow" panose="020B0606020202030204" pitchFamily="34" charset="0"/>
                <a:cs typeface="Arial" pitchFamily="34" charset="0"/>
              </a:rPr>
              <a:t>Di = Desviaciones por debajo. Ei = Desviaciones por encima</a:t>
            </a:r>
            <a:endParaRPr lang="es-PE" sz="2000" dirty="0">
              <a:latin typeface="Arial Narrow" panose="020B0606020202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B279C3-2FEA-44FE-B093-B3AA81D949B6}"/>
              </a:ext>
            </a:extLst>
          </p:cNvPr>
          <p:cNvSpPr txBox="1"/>
          <p:nvPr/>
        </p:nvSpPr>
        <p:spPr>
          <a:xfrm>
            <a:off x="126125" y="5210127"/>
            <a:ext cx="57690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    4. RESTRICCIONES DURAS:</a:t>
            </a:r>
          </a:p>
          <a:p>
            <a:r>
              <a:rPr lang="es-ES" sz="2000" b="1" dirty="0" err="1"/>
              <a:t>2X1+X2</a:t>
            </a:r>
            <a:r>
              <a:rPr lang="es-ES" sz="2000" b="1" dirty="0"/>
              <a:t>&gt;=50</a:t>
            </a:r>
          </a:p>
          <a:p>
            <a:r>
              <a:rPr lang="es-ES" sz="2000" b="1" dirty="0" err="1"/>
              <a:t>X1+X2</a:t>
            </a:r>
            <a:r>
              <a:rPr lang="es-ES" sz="2000" b="1" dirty="0"/>
              <a:t>&lt;=75</a:t>
            </a:r>
          </a:p>
          <a:p>
            <a:r>
              <a:rPr lang="es-ES" sz="2000" b="1" dirty="0"/>
              <a:t>			</a:t>
            </a:r>
            <a:r>
              <a:rPr lang="es-ES" sz="2000" b="1" dirty="0">
                <a:solidFill>
                  <a:srgbClr val="7030A0"/>
                </a:solidFill>
              </a:rPr>
              <a:t>Xi, </a:t>
            </a:r>
            <a:r>
              <a:rPr lang="es-ES" sz="2000" b="1" dirty="0" err="1">
                <a:solidFill>
                  <a:srgbClr val="7030A0"/>
                </a:solidFill>
              </a:rPr>
              <a:t>Dj,Ej</a:t>
            </a:r>
            <a:r>
              <a:rPr lang="es-ES" sz="2000" b="1" dirty="0">
                <a:solidFill>
                  <a:srgbClr val="7030A0"/>
                </a:solidFill>
              </a:rPr>
              <a:t> &gt;=0</a:t>
            </a:r>
            <a:endParaRPr lang="es-PE" sz="2000" b="1" dirty="0">
              <a:solidFill>
                <a:srgbClr val="7030A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AC1A6A-9C15-45DF-A314-D2C54576C2B1}"/>
              </a:ext>
            </a:extLst>
          </p:cNvPr>
          <p:cNvSpPr txBox="1"/>
          <p:nvPr/>
        </p:nvSpPr>
        <p:spPr>
          <a:xfrm>
            <a:off x="236866" y="2584788"/>
            <a:ext cx="58591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2. METAS: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1</a:t>
            </a:r>
            <a:r>
              <a:rPr lang="es-ES" sz="2000" b="1" dirty="0">
                <a:latin typeface="Arial Narrow" panose="020B0606020202030204" pitchFamily="34" charset="0"/>
              </a:rPr>
              <a:t>: 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No utilizar más de 120 horas de trabajo en la fabricación de los productos A y B.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2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: La empresa quiere obtener un beneficio de al menos 7000 euros.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3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: Fabricar al  menos  40 productos del tipo A. </a:t>
            </a:r>
          </a:p>
          <a:p>
            <a:pPr algn="just"/>
            <a:r>
              <a:rPr lang="es-ES" sz="2000" b="1" dirty="0">
                <a:solidFill>
                  <a:srgbClr val="0070C0"/>
                </a:solidFill>
                <a:latin typeface="Arial Narrow" panose="020B0606020202030204" pitchFamily="34" charset="0"/>
              </a:rPr>
              <a:t>Meta 4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: Fabricar al  menos  40 productos del tipo B. </a:t>
            </a:r>
            <a:endParaRPr lang="es-PE" sz="2000" dirty="0">
              <a:latin typeface="Arial Narrow" panose="020B060602020203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5E3E808-13B2-4E2A-9EEC-86BD3123620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5</a:t>
            </a:r>
          </a:p>
        </p:txBody>
      </p:sp>
    </p:spTree>
    <p:extLst>
      <p:ext uri="{BB962C8B-B14F-4D97-AF65-F5344CB8AC3E}">
        <p14:creationId xmlns:p14="http://schemas.microsoft.com/office/powerpoint/2010/main" val="15509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6" grpId="0" animBg="1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D6797C-9094-4471-BD21-D37739A097E4}"/>
              </a:ext>
            </a:extLst>
          </p:cNvPr>
          <p:cNvSpPr txBox="1"/>
          <p:nvPr/>
        </p:nvSpPr>
        <p:spPr>
          <a:xfrm>
            <a:off x="758757" y="1289239"/>
            <a:ext cx="5077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Plan de producción</a:t>
            </a:r>
            <a:endParaRPr lang="es-PE" sz="2400"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10A7FDE-A6E0-4089-B254-98E8CF204902}"/>
              </a:ext>
            </a:extLst>
          </p:cNvPr>
          <p:cNvGraphicFramePr>
            <a:graphicFrameLocks noGrp="1"/>
          </p:cNvGraphicFramePr>
          <p:nvPr/>
        </p:nvGraphicFramePr>
        <p:xfrm>
          <a:off x="793345" y="1992651"/>
          <a:ext cx="49330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502">
                  <a:extLst>
                    <a:ext uri="{9D8B030D-6E8A-4147-A177-3AD203B41FA5}">
                      <a16:colId xmlns:a16="http://schemas.microsoft.com/office/drawing/2014/main" val="3634477077"/>
                    </a:ext>
                  </a:extLst>
                </a:gridCol>
                <a:gridCol w="2466502">
                  <a:extLst>
                    <a:ext uri="{9D8B030D-6E8A-4147-A177-3AD203B41FA5}">
                      <a16:colId xmlns:a16="http://schemas.microsoft.com/office/drawing/2014/main" val="3249260829"/>
                    </a:ext>
                  </a:extLst>
                </a:gridCol>
              </a:tblGrid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Acciones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589736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 de 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34738"/>
                  </a:ext>
                </a:extLst>
              </a:tr>
              <a:tr h="337286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Cantidad de B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46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70891"/>
                  </a:ext>
                </a:extLst>
              </a:tr>
            </a:tbl>
          </a:graphicData>
        </a:graphic>
      </p:graphicFrame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21201559-EED4-45FC-AB14-802BCCEA8E15}"/>
              </a:ext>
            </a:extLst>
          </p:cNvPr>
          <p:cNvGraphicFramePr>
            <a:graphicFrameLocks noGrp="1"/>
          </p:cNvGraphicFramePr>
          <p:nvPr/>
        </p:nvGraphicFramePr>
        <p:xfrm>
          <a:off x="759838" y="4108581"/>
          <a:ext cx="1067232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763">
                  <a:extLst>
                    <a:ext uri="{9D8B030D-6E8A-4147-A177-3AD203B41FA5}">
                      <a16:colId xmlns:a16="http://schemas.microsoft.com/office/drawing/2014/main" val="1918889544"/>
                    </a:ext>
                  </a:extLst>
                </a:gridCol>
                <a:gridCol w="1984442">
                  <a:extLst>
                    <a:ext uri="{9D8B030D-6E8A-4147-A177-3AD203B41FA5}">
                      <a16:colId xmlns:a16="http://schemas.microsoft.com/office/drawing/2014/main" val="185774863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3142263125"/>
                    </a:ext>
                  </a:extLst>
                </a:gridCol>
                <a:gridCol w="5408578">
                  <a:extLst>
                    <a:ext uri="{9D8B030D-6E8A-4147-A177-3AD203B41FA5}">
                      <a16:colId xmlns:a16="http://schemas.microsoft.com/office/drawing/2014/main" val="459202778"/>
                    </a:ext>
                  </a:extLst>
                </a:gridCol>
              </a:tblGrid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Meta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¿Se cumplió?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Variable de desviación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80141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D1</a:t>
                      </a:r>
                      <a:r>
                        <a:rPr lang="es-ES" sz="2400" dirty="0"/>
                        <a:t>=0: </a:t>
                      </a:r>
                      <a:r>
                        <a:rPr lang="es-ES" sz="2400" dirty="0" err="1"/>
                        <a:t>E1</a:t>
                      </a:r>
                      <a:r>
                        <a:rPr lang="es-ES" sz="2400" dirty="0"/>
                        <a:t>=26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utilizó 26 horas más.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026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D2</a:t>
                      </a:r>
                      <a:r>
                        <a:rPr lang="es-ES" sz="2400" dirty="0"/>
                        <a:t>=0:  </a:t>
                      </a:r>
                      <a:r>
                        <a:rPr lang="es-ES" sz="2400" dirty="0" err="1"/>
                        <a:t>E2</a:t>
                      </a:r>
                      <a:r>
                        <a:rPr lang="es-ES" sz="2400" dirty="0"/>
                        <a:t>=100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Se obtuvo 100 </a:t>
                      </a:r>
                      <a:r>
                        <a:rPr lang="es-ES" sz="2400" b="1" dirty="0" err="1">
                          <a:solidFill>
                            <a:srgbClr val="0070C0"/>
                          </a:solidFill>
                        </a:rPr>
                        <a:t>u.m</a:t>
                      </a:r>
                      <a:r>
                        <a:rPr lang="es-ES" sz="2400" b="1" dirty="0">
                          <a:solidFill>
                            <a:srgbClr val="0070C0"/>
                          </a:solidFill>
                        </a:rPr>
                        <a:t>. más de 7000.</a:t>
                      </a:r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35707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=38: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E3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obtuvo 38 menos de 40 productos A.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251432"/>
                  </a:ext>
                </a:extLst>
              </a:tr>
              <a:tr h="421592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4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Si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=0: </a:t>
                      </a:r>
                      <a:r>
                        <a:rPr kumimoji="0" lang="es-ES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E4</a:t>
                      </a:r>
                      <a:r>
                        <a:rPr kumimoji="0" lang="es-E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=6</a:t>
                      </a:r>
                      <a:endParaRPr kumimoji="0" lang="es-P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Se obtuvo 6 mas de 40 productos B.</a:t>
                      </a:r>
                      <a:endParaRPr lang="es-PE" sz="24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89500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D8D653DB-97BC-41DB-B9C4-296D38E8383F}"/>
              </a:ext>
            </a:extLst>
          </p:cNvPr>
          <p:cNvSpPr/>
          <p:nvPr/>
        </p:nvSpPr>
        <p:spPr>
          <a:xfrm>
            <a:off x="6096000" y="277614"/>
            <a:ext cx="6096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Informe administrativo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F254EB-E647-4615-9DB6-5AC7F54F8A92}"/>
              </a:ext>
            </a:extLst>
          </p:cNvPr>
          <p:cNvSpPr txBox="1"/>
          <p:nvPr/>
        </p:nvSpPr>
        <p:spPr>
          <a:xfrm>
            <a:off x="6096000" y="1253669"/>
            <a:ext cx="6095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3. RESTRICCIONES META: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1</a:t>
            </a:r>
            <a:r>
              <a:rPr lang="es-ES" sz="2000" b="1" dirty="0"/>
              <a:t>: Min  </a:t>
            </a:r>
            <a:r>
              <a:rPr lang="es-ES" sz="2000" b="1" dirty="0" err="1"/>
              <a:t>E1</a:t>
            </a:r>
            <a:r>
              <a:rPr lang="es-ES" sz="2000" b="1" dirty="0"/>
              <a:t>	</a:t>
            </a:r>
            <a:r>
              <a:rPr lang="es-ES" sz="2000" b="1" dirty="0">
                <a:latin typeface="Arial Narrow" panose="020B0606020202030204" pitchFamily="34" charset="0"/>
                <a:ea typeface="Calibri" panose="020F0502020204030204" pitchFamily="34" charset="0"/>
              </a:rPr>
              <a:t> No utilizar más de 120 horas</a:t>
            </a:r>
            <a:r>
              <a:rPr lang="es-ES" sz="2000" b="1" dirty="0">
                <a:solidFill>
                  <a:srgbClr val="0070C0"/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4X1+3X2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120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Horas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2</a:t>
            </a:r>
            <a:r>
              <a:rPr lang="es-ES" sz="2000" b="1" dirty="0"/>
              <a:t>: Min  </a:t>
            </a:r>
            <a:r>
              <a:rPr lang="es-ES" sz="2000" b="1" dirty="0" err="1"/>
              <a:t>D2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rgbClr val="0070C0"/>
                </a:solidFill>
              </a:rPr>
              <a:t>Obtener al menos 7000.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100X1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150X2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7000      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Beneficio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3</a:t>
            </a:r>
            <a:r>
              <a:rPr lang="es-ES" sz="2000" b="1" dirty="0"/>
              <a:t>: Min  </a:t>
            </a:r>
            <a:r>
              <a:rPr lang="es-ES" sz="2000" b="1" dirty="0" err="1"/>
              <a:t>D3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X1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E3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  </a:t>
            </a:r>
            <a:r>
              <a:rPr lang="es-ES" sz="2000" dirty="0">
                <a:latin typeface="Calibri" pitchFamily="34" charset="0"/>
                <a:cs typeface="Arial" pitchFamily="34" charset="0"/>
              </a:rPr>
              <a:t>	    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Producción</a:t>
            </a:r>
          </a:p>
          <a:p>
            <a:r>
              <a:rPr lang="es-ES" sz="2000" b="1" dirty="0">
                <a:solidFill>
                  <a:srgbClr val="0070C0"/>
                </a:solidFill>
              </a:rPr>
              <a:t>Meta 4</a:t>
            </a:r>
            <a:r>
              <a:rPr lang="es-ES" sz="2000" b="1" dirty="0"/>
              <a:t>: Min  </a:t>
            </a:r>
            <a:r>
              <a:rPr lang="es-ES" sz="2000" b="1" dirty="0" err="1"/>
              <a:t>D4</a:t>
            </a:r>
            <a:r>
              <a:rPr lang="es-ES" sz="2000" b="1" dirty="0"/>
              <a:t>   </a:t>
            </a:r>
            <a:r>
              <a:rPr lang="es-ES" sz="2000" b="1" dirty="0">
                <a:solidFill>
                  <a:srgbClr val="0070C0"/>
                </a:solidFill>
              </a:rPr>
              <a:t>Al menos  40 productos del tipo B.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b="1" dirty="0" err="1">
                <a:latin typeface="Calibri" pitchFamily="34" charset="0"/>
                <a:cs typeface="Arial" pitchFamily="34" charset="0"/>
              </a:rPr>
              <a:t>X2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 +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D4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– </a:t>
            </a:r>
            <a:r>
              <a:rPr lang="es-ES" sz="2000" b="1" dirty="0" err="1">
                <a:latin typeface="Calibri" pitchFamily="34" charset="0"/>
                <a:cs typeface="Arial" pitchFamily="34" charset="0"/>
              </a:rPr>
              <a:t>E4</a:t>
            </a:r>
            <a:r>
              <a:rPr lang="es-ES" sz="2000" b="1" dirty="0">
                <a:latin typeface="Calibri" pitchFamily="34" charset="0"/>
                <a:cs typeface="Arial" pitchFamily="34" charset="0"/>
              </a:rPr>
              <a:t> = 40   		</a:t>
            </a:r>
            <a:r>
              <a:rPr lang="es-ES" sz="2000" b="1" dirty="0">
                <a:solidFill>
                  <a:srgbClr val="7030A0"/>
                </a:solidFill>
                <a:latin typeface="Calibri" pitchFamily="34" charset="0"/>
                <a:cs typeface="Arial" pitchFamily="34" charset="0"/>
              </a:rPr>
              <a:t>Capacidad</a:t>
            </a:r>
          </a:p>
        </p:txBody>
      </p:sp>
    </p:spTree>
    <p:extLst>
      <p:ext uri="{BB962C8B-B14F-4D97-AF65-F5344CB8AC3E}">
        <p14:creationId xmlns:p14="http://schemas.microsoft.com/office/powerpoint/2010/main" val="119173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49501" y="2276872"/>
            <a:ext cx="7920880" cy="1220754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87313" indent="-87313" algn="ctr"/>
            <a: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Donde quiera que usted vea un negocio exitoso, alguien ha tomado una decisión valiente.</a:t>
            </a:r>
            <a:b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</a:br>
            <a:endParaRPr lang="es-PE" sz="2800" b="0" dirty="0">
              <a:solidFill>
                <a:srgbClr val="7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0" y="92279"/>
            <a:ext cx="6096000" cy="87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200" i="1">
                <a:solidFill>
                  <a:schemeClr val="accent5">
                    <a:lumMod val="20000"/>
                    <a:lumOff val="80000"/>
                  </a:schemeClr>
                </a:solidFill>
                <a:latin typeface="Bauhaus 93" pitchFamily="82" charset="0"/>
              </a:defRPr>
            </a:lvl1pPr>
            <a:lvl2pPr algn="r" eaLnBrk="1" hangingPunct="1">
              <a:defRPr sz="2800" i="1">
                <a:latin typeface="Verdana" pitchFamily="34" charset="0"/>
              </a:defRPr>
            </a:lvl2pPr>
            <a:lvl3pPr algn="r" eaLnBrk="1" hangingPunct="1">
              <a:defRPr sz="2800" i="1">
                <a:latin typeface="Verdana" pitchFamily="34" charset="0"/>
              </a:defRPr>
            </a:lvl3pPr>
            <a:lvl4pPr algn="r" eaLnBrk="1" hangingPunct="1">
              <a:defRPr sz="2800" i="1">
                <a:latin typeface="Verdana" pitchFamily="34" charset="0"/>
              </a:defRPr>
            </a:lvl4pPr>
            <a:lvl5pPr algn="r" eaLnBrk="1" hangingPunct="1">
              <a:defRPr sz="2800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9pPr>
          </a:lstStyle>
          <a:p>
            <a:r>
              <a:rPr lang="es-MX" dirty="0">
                <a:solidFill>
                  <a:srgbClr val="FFFF00"/>
                </a:solidFill>
              </a:rPr>
              <a:t>Seamos dueños de nuestro propio destino</a:t>
            </a:r>
            <a:endParaRPr lang="es-ES" i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45A401-5395-4861-90CC-1389B0CFAC65}"/>
              </a:ext>
            </a:extLst>
          </p:cNvPr>
          <p:cNvSpPr/>
          <p:nvPr/>
        </p:nvSpPr>
        <p:spPr>
          <a:xfrm>
            <a:off x="4958093" y="4125017"/>
            <a:ext cx="2275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Gracias</a:t>
            </a:r>
          </a:p>
        </p:txBody>
      </p:sp>
      <p:pic>
        <p:nvPicPr>
          <p:cNvPr id="6" name="Picture 5" descr="004">
            <a:extLst>
              <a:ext uri="{FF2B5EF4-FFF2-40B4-BE49-F238E27FC236}">
                <a16:creationId xmlns:a16="http://schemas.microsoft.com/office/drawing/2014/main" id="{10E9D79D-8D69-43FB-8635-4B0D7576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06" y="3733101"/>
            <a:ext cx="2095281" cy="279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2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5154</TotalTime>
  <Words>4105</Words>
  <Application>Microsoft Office PowerPoint</Application>
  <PresentationFormat>Panorámica</PresentationFormat>
  <Paragraphs>728</Paragraphs>
  <Slides>26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6" baseType="lpstr">
      <vt:lpstr>Arial</vt:lpstr>
      <vt:lpstr>Arial Black</vt:lpstr>
      <vt:lpstr>Arial Narrow</vt:lpstr>
      <vt:lpstr>Bauhaus 93</vt:lpstr>
      <vt:lpstr>Bodoni MT Black</vt:lpstr>
      <vt:lpstr>Calibri</vt:lpstr>
      <vt:lpstr>Calibri Light</vt:lpstr>
      <vt:lpstr>Lexend Deca</vt:lpstr>
      <vt:lpstr>Signika</vt:lpstr>
      <vt:lpstr>Tema de Office</vt:lpstr>
      <vt:lpstr>Presentación de PowerPoint</vt:lpstr>
      <vt:lpstr>PROGRAMACIÓN POR METAS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ANIVAL ALFREDO TORRE CAMONES</dc:creator>
  <cp:lastModifiedBy>ANIVAL ALFREDO TORRE CAMONES</cp:lastModifiedBy>
  <cp:revision>306</cp:revision>
  <dcterms:created xsi:type="dcterms:W3CDTF">2021-09-08T13:14:39Z</dcterms:created>
  <dcterms:modified xsi:type="dcterms:W3CDTF">2026-08-16T17:30:58Z</dcterms:modified>
</cp:coreProperties>
</file>
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handoutMasterIdLst>
    <p:handoutMasterId r:id="rId92"/>
  </p:handoutMasterIdLst>
  <p:sldIdLst>
    <p:sldId id="481" r:id="rId2"/>
    <p:sldId id="384" r:id="rId3"/>
    <p:sldId id="284" r:id="rId4"/>
    <p:sldId id="403" r:id="rId5"/>
    <p:sldId id="304" r:id="rId6"/>
    <p:sldId id="419" r:id="rId7"/>
    <p:sldId id="473" r:id="rId8"/>
    <p:sldId id="474" r:id="rId9"/>
    <p:sldId id="325" r:id="rId10"/>
    <p:sldId id="327" r:id="rId11"/>
    <p:sldId id="328" r:id="rId12"/>
    <p:sldId id="329" r:id="rId13"/>
    <p:sldId id="387" r:id="rId14"/>
    <p:sldId id="388" r:id="rId15"/>
    <p:sldId id="299" r:id="rId16"/>
    <p:sldId id="367" r:id="rId17"/>
    <p:sldId id="368" r:id="rId18"/>
    <p:sldId id="310" r:id="rId19"/>
    <p:sldId id="362" r:id="rId20"/>
    <p:sldId id="397" r:id="rId21"/>
    <p:sldId id="315" r:id="rId22"/>
    <p:sldId id="316" r:id="rId23"/>
    <p:sldId id="380" r:id="rId24"/>
    <p:sldId id="344" r:id="rId25"/>
    <p:sldId id="346" r:id="rId26"/>
    <p:sldId id="347" r:id="rId27"/>
    <p:sldId id="393" r:id="rId28"/>
    <p:sldId id="363" r:id="rId29"/>
    <p:sldId id="364" r:id="rId30"/>
    <p:sldId id="318" r:id="rId31"/>
    <p:sldId id="319" r:id="rId32"/>
    <p:sldId id="381" r:id="rId33"/>
    <p:sldId id="389" r:id="rId34"/>
    <p:sldId id="391" r:id="rId35"/>
    <p:sldId id="342" r:id="rId36"/>
    <p:sldId id="468" r:id="rId37"/>
    <p:sldId id="308" r:id="rId38"/>
    <p:sldId id="260" r:id="rId39"/>
    <p:sldId id="469" r:id="rId40"/>
    <p:sldId id="470" r:id="rId41"/>
    <p:sldId id="265" r:id="rId42"/>
    <p:sldId id="471" r:id="rId43"/>
    <p:sldId id="273" r:id="rId44"/>
    <p:sldId id="275" r:id="rId45"/>
    <p:sldId id="472" r:id="rId46"/>
    <p:sldId id="352" r:id="rId47"/>
    <p:sldId id="266" r:id="rId48"/>
    <p:sldId id="268" r:id="rId49"/>
    <p:sldId id="336" r:id="rId50"/>
    <p:sldId id="337" r:id="rId51"/>
    <p:sldId id="338" r:id="rId52"/>
    <p:sldId id="370" r:id="rId53"/>
    <p:sldId id="339" r:id="rId54"/>
    <p:sldId id="270" r:id="rId55"/>
    <p:sldId id="276" r:id="rId56"/>
    <p:sldId id="341" r:id="rId57"/>
    <p:sldId id="340" r:id="rId58"/>
    <p:sldId id="462" r:id="rId59"/>
    <p:sldId id="278" r:id="rId60"/>
    <p:sldId id="394" r:id="rId61"/>
    <p:sldId id="395" r:id="rId62"/>
    <p:sldId id="287" r:id="rId63"/>
    <p:sldId id="290" r:id="rId64"/>
    <p:sldId id="349" r:id="rId65"/>
    <p:sldId id="463" r:id="rId66"/>
    <p:sldId id="343" r:id="rId67"/>
    <p:sldId id="483" r:id="rId68"/>
    <p:sldId id="314" r:id="rId69"/>
    <p:sldId id="484" r:id="rId70"/>
    <p:sldId id="312" r:id="rId71"/>
    <p:sldId id="485" r:id="rId72"/>
    <p:sldId id="486" r:id="rId73"/>
    <p:sldId id="487" r:id="rId74"/>
    <p:sldId id="488" r:id="rId75"/>
    <p:sldId id="401" r:id="rId76"/>
    <p:sldId id="396" r:id="rId77"/>
    <p:sldId id="489" r:id="rId78"/>
    <p:sldId id="386" r:id="rId79"/>
    <p:sldId id="390" r:id="rId80"/>
    <p:sldId id="392" r:id="rId81"/>
    <p:sldId id="490" r:id="rId82"/>
    <p:sldId id="324" r:id="rId83"/>
    <p:sldId id="418" r:id="rId84"/>
    <p:sldId id="491" r:id="rId85"/>
    <p:sldId id="493" r:id="rId86"/>
    <p:sldId id="494" r:id="rId87"/>
    <p:sldId id="331" r:id="rId88"/>
    <p:sldId id="496" r:id="rId89"/>
    <p:sldId id="465" r:id="rId90"/>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15" autoAdjust="0"/>
    <p:restoredTop sz="94660"/>
  </p:normalViewPr>
  <p:slideViewPr>
    <p:cSldViewPr snapToGrid="0">
      <p:cViewPr varScale="1">
        <p:scale>
          <a:sx n="159" d="100"/>
          <a:sy n="159" d="100"/>
        </p:scale>
        <p:origin x="888" y="150"/>
      </p:cViewPr>
      <p:guideLst>
        <p:guide orient="horz" pos="2160"/>
        <p:guide pos="3840"/>
      </p:guideLst>
    </p:cSldViewPr>
  </p:slideViewPr>
  <p:notesTextViewPr>
    <p:cViewPr>
      <p:scale>
        <a:sx n="1" d="1"/>
        <a:sy n="1" d="1"/>
      </p:scale>
      <p:origin x="0" y="0"/>
    </p:cViewPr>
  </p:notesTextViewPr>
  <p:sorterViewPr>
    <p:cViewPr varScale="1">
      <p:scale>
        <a:sx n="1" d="1"/>
        <a:sy n="1" d="1"/>
      </p:scale>
      <p:origin x="0" y="-11772"/>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952B50-1F36-4ABF-9081-13D8102D854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B882AB34-5B3C-47D3-84B3-64D781796E47}">
      <dgm:prSet custT="1"/>
      <dgm:spPr/>
      <dgm:t>
        <a:bodyPr/>
        <a:lstStyle/>
        <a:p>
          <a:pPr rtl="0"/>
          <a:r>
            <a:rPr lang="en-US" sz="2400" b="0"/>
            <a:t>1) 8500 </a:t>
          </a:r>
          <a:endParaRPr lang="es-PE" sz="2400"/>
        </a:p>
      </dgm:t>
    </dgm:pt>
    <dgm:pt modelId="{43584BBE-52D4-44A5-AB28-AAD107A60042}" type="parTrans" cxnId="{8FF9929B-18D3-4F72-9A4C-1981BD600275}">
      <dgm:prSet/>
      <dgm:spPr/>
      <dgm:t>
        <a:bodyPr/>
        <a:lstStyle/>
        <a:p>
          <a:endParaRPr lang="es-PE" sz="2400"/>
        </a:p>
      </dgm:t>
    </dgm:pt>
    <dgm:pt modelId="{5E96215D-02AD-4D6B-9731-A9568087BC53}" type="sibTrans" cxnId="{8FF9929B-18D3-4F72-9A4C-1981BD600275}">
      <dgm:prSet/>
      <dgm:spPr/>
      <dgm:t>
        <a:bodyPr/>
        <a:lstStyle/>
        <a:p>
          <a:endParaRPr lang="es-PE" sz="2400"/>
        </a:p>
      </dgm:t>
    </dgm:pt>
    <dgm:pt modelId="{F1B5412A-5C36-4ADA-9368-DE4EC0CE4AFB}">
      <dgm:prSet custT="1"/>
      <dgm:spPr/>
      <dgm:t>
        <a:bodyPr/>
        <a:lstStyle/>
        <a:p>
          <a:pPr rtl="0"/>
          <a:r>
            <a:rPr lang="en-US" sz="2400" b="0"/>
            <a:t>Variable           Value       Reduced Cost</a:t>
          </a:r>
          <a:endParaRPr lang="es-PE" sz="2400" dirty="0"/>
        </a:p>
      </dgm:t>
    </dgm:pt>
    <dgm:pt modelId="{E39113E3-C81F-4ECF-A376-3316ABC53630}" type="parTrans" cxnId="{863AB9D8-6363-419F-87E9-BA495771ED31}">
      <dgm:prSet/>
      <dgm:spPr/>
      <dgm:t>
        <a:bodyPr/>
        <a:lstStyle/>
        <a:p>
          <a:endParaRPr lang="es-PE" sz="2400"/>
        </a:p>
      </dgm:t>
    </dgm:pt>
    <dgm:pt modelId="{D4197240-D74A-4E9E-8BFC-7AED62DAA4CA}" type="sibTrans" cxnId="{863AB9D8-6363-419F-87E9-BA495771ED31}">
      <dgm:prSet/>
      <dgm:spPr/>
      <dgm:t>
        <a:bodyPr/>
        <a:lstStyle/>
        <a:p>
          <a:endParaRPr lang="es-PE" sz="2400"/>
        </a:p>
      </dgm:t>
    </dgm:pt>
    <dgm:pt modelId="{6AB63343-944E-44C9-904B-99D78512AE88}">
      <dgm:prSet custT="1"/>
      <dgm:spPr/>
      <dgm:t>
        <a:bodyPr/>
        <a:lstStyle/>
        <a:p>
          <a:pPr rtl="0"/>
          <a:r>
            <a:rPr lang="en-US" sz="2400" b="0" dirty="0"/>
            <a:t>X11        	3.000000            1600.000</a:t>
          </a:r>
          <a:endParaRPr lang="es-PE" sz="2400" dirty="0"/>
        </a:p>
      </dgm:t>
    </dgm:pt>
    <dgm:pt modelId="{64AD118E-B161-4A66-909C-D9226410F13F}" type="parTrans" cxnId="{0731F3E0-5A13-4EA1-BE6C-F74474240A3F}">
      <dgm:prSet/>
      <dgm:spPr/>
      <dgm:t>
        <a:bodyPr/>
        <a:lstStyle/>
        <a:p>
          <a:endParaRPr lang="es-PE" sz="2400"/>
        </a:p>
      </dgm:t>
    </dgm:pt>
    <dgm:pt modelId="{C4C9067B-FE80-4E95-AE03-521E974A9ED1}" type="sibTrans" cxnId="{0731F3E0-5A13-4EA1-BE6C-F74474240A3F}">
      <dgm:prSet/>
      <dgm:spPr/>
      <dgm:t>
        <a:bodyPr/>
        <a:lstStyle/>
        <a:p>
          <a:endParaRPr lang="es-PE" sz="2400"/>
        </a:p>
      </dgm:t>
    </dgm:pt>
    <dgm:pt modelId="{5875E99B-D45D-45E0-A236-655F8217DAFE}">
      <dgm:prSet custT="1"/>
      <dgm:spPr/>
      <dgm:t>
        <a:bodyPr/>
        <a:lstStyle/>
        <a:p>
          <a:pPr rtl="0"/>
          <a:r>
            <a:rPr lang="en-US" sz="2400" b="0" dirty="0"/>
            <a:t>X12        	0.000000            1800.000</a:t>
          </a:r>
          <a:endParaRPr lang="es-PE" sz="2400" dirty="0"/>
        </a:p>
      </dgm:t>
    </dgm:pt>
    <dgm:pt modelId="{563F8364-0071-46BA-AFAC-3562ABB40B02}" type="parTrans" cxnId="{6308806C-22DD-4643-9C4B-991BDA7F8C36}">
      <dgm:prSet/>
      <dgm:spPr/>
      <dgm:t>
        <a:bodyPr/>
        <a:lstStyle/>
        <a:p>
          <a:endParaRPr lang="es-PE" sz="2400"/>
        </a:p>
      </dgm:t>
    </dgm:pt>
    <dgm:pt modelId="{82DD7F7C-96E6-4A34-9F9B-7B4874468922}" type="sibTrans" cxnId="{6308806C-22DD-4643-9C4B-991BDA7F8C36}">
      <dgm:prSet/>
      <dgm:spPr/>
      <dgm:t>
        <a:bodyPr/>
        <a:lstStyle/>
        <a:p>
          <a:endParaRPr lang="es-PE" sz="2400"/>
        </a:p>
      </dgm:t>
    </dgm:pt>
    <dgm:pt modelId="{59B7154D-47F5-4918-BDC9-5C93EC12DA93}">
      <dgm:prSet custT="1"/>
      <dgm:spPr/>
      <dgm:t>
        <a:bodyPr/>
        <a:lstStyle/>
        <a:p>
          <a:pPr rtl="0"/>
          <a:r>
            <a:rPr lang="en-US" sz="2400" b="0" dirty="0"/>
            <a:t>X13        	0.000000            2500.000</a:t>
          </a:r>
          <a:endParaRPr lang="es-PE" sz="2400" dirty="0"/>
        </a:p>
      </dgm:t>
    </dgm:pt>
    <dgm:pt modelId="{EB99C359-121E-48FE-90D2-D2B27D6D92B2}" type="parTrans" cxnId="{0CAEF79B-3A8F-40F4-B3AF-4F565DBD2194}">
      <dgm:prSet/>
      <dgm:spPr/>
      <dgm:t>
        <a:bodyPr/>
        <a:lstStyle/>
        <a:p>
          <a:endParaRPr lang="es-PE" sz="2400"/>
        </a:p>
      </dgm:t>
    </dgm:pt>
    <dgm:pt modelId="{F5D1ABE2-DDF4-46D7-A435-18E087962DE8}" type="sibTrans" cxnId="{0CAEF79B-3A8F-40F4-B3AF-4F565DBD2194}">
      <dgm:prSet/>
      <dgm:spPr/>
      <dgm:t>
        <a:bodyPr/>
        <a:lstStyle/>
        <a:p>
          <a:endParaRPr lang="es-PE" sz="2400"/>
        </a:p>
      </dgm:t>
    </dgm:pt>
    <dgm:pt modelId="{F147FE38-EE58-48E0-88AF-062BCC8A634B}">
      <dgm:prSet custT="1"/>
      <dgm:spPr/>
      <dgm:t>
        <a:bodyPr/>
        <a:lstStyle/>
        <a:p>
          <a:pPr rtl="0"/>
          <a:r>
            <a:rPr lang="en-US" sz="2400" b="0" dirty="0"/>
            <a:t>X21       	1.000000            900.0000</a:t>
          </a:r>
          <a:endParaRPr lang="es-PE" sz="2400" dirty="0"/>
        </a:p>
      </dgm:t>
    </dgm:pt>
    <dgm:pt modelId="{DA43411E-F92D-48AB-AA42-206A23615371}" type="parTrans" cxnId="{7944F88E-CEEC-4508-889C-B15975FBF05A}">
      <dgm:prSet/>
      <dgm:spPr/>
      <dgm:t>
        <a:bodyPr/>
        <a:lstStyle/>
        <a:p>
          <a:endParaRPr lang="es-PE" sz="2400"/>
        </a:p>
      </dgm:t>
    </dgm:pt>
    <dgm:pt modelId="{4E099E92-3643-43EC-8E52-6BDD1466CC4A}" type="sibTrans" cxnId="{7944F88E-CEEC-4508-889C-B15975FBF05A}">
      <dgm:prSet/>
      <dgm:spPr/>
      <dgm:t>
        <a:bodyPr/>
        <a:lstStyle/>
        <a:p>
          <a:endParaRPr lang="es-PE" sz="2400"/>
        </a:p>
      </dgm:t>
    </dgm:pt>
    <dgm:pt modelId="{87D80069-C698-4C40-977B-E61FF718598F}">
      <dgm:prSet custT="1"/>
      <dgm:spPr/>
      <dgm:t>
        <a:bodyPr/>
        <a:lstStyle/>
        <a:p>
          <a:pPr rtl="0"/>
          <a:r>
            <a:rPr lang="en-US" sz="2400" b="0" dirty="0"/>
            <a:t>X22        	1.000000            1000.000</a:t>
          </a:r>
          <a:endParaRPr lang="es-PE" sz="2400" dirty="0"/>
        </a:p>
      </dgm:t>
    </dgm:pt>
    <dgm:pt modelId="{85AB99C3-4B31-4A50-8937-B840CF5F057E}" type="parTrans" cxnId="{F3F84728-7641-458F-BEC8-6EA9F4A5E6C1}">
      <dgm:prSet/>
      <dgm:spPr/>
      <dgm:t>
        <a:bodyPr/>
        <a:lstStyle/>
        <a:p>
          <a:endParaRPr lang="es-PE" sz="2400"/>
        </a:p>
      </dgm:t>
    </dgm:pt>
    <dgm:pt modelId="{010F6EA6-9A37-483D-A455-6F88382CC25B}" type="sibTrans" cxnId="{F3F84728-7641-458F-BEC8-6EA9F4A5E6C1}">
      <dgm:prSet/>
      <dgm:spPr/>
      <dgm:t>
        <a:bodyPr/>
        <a:lstStyle/>
        <a:p>
          <a:endParaRPr lang="es-PE" sz="2400"/>
        </a:p>
      </dgm:t>
    </dgm:pt>
    <dgm:pt modelId="{9087BEB2-6475-49F9-BC04-A7F4D8C0BA5B}">
      <dgm:prSet custT="1"/>
      <dgm:spPr/>
      <dgm:t>
        <a:bodyPr/>
        <a:lstStyle/>
        <a:p>
          <a:pPr rtl="0"/>
          <a:r>
            <a:rPr lang="en-US" sz="2400" b="0" dirty="0"/>
            <a:t>X23        	0.000000            1800.000</a:t>
          </a:r>
          <a:endParaRPr lang="es-PE" sz="2400" dirty="0"/>
        </a:p>
      </dgm:t>
    </dgm:pt>
    <dgm:pt modelId="{97F2CB38-72E5-41AC-A604-8F0038B6B361}" type="parTrans" cxnId="{F9C2547D-9551-45CE-81FA-27E2DBCDB32F}">
      <dgm:prSet/>
      <dgm:spPr/>
      <dgm:t>
        <a:bodyPr/>
        <a:lstStyle/>
        <a:p>
          <a:endParaRPr lang="es-PE" sz="2400"/>
        </a:p>
      </dgm:t>
    </dgm:pt>
    <dgm:pt modelId="{5D8A2B57-1F77-45DC-A83F-A294BFEA2D59}" type="sibTrans" cxnId="{F9C2547D-9551-45CE-81FA-27E2DBCDB32F}">
      <dgm:prSet/>
      <dgm:spPr/>
      <dgm:t>
        <a:bodyPr/>
        <a:lstStyle/>
        <a:p>
          <a:endParaRPr lang="es-PE" sz="2400"/>
        </a:p>
      </dgm:t>
    </dgm:pt>
    <dgm:pt modelId="{9E3F01E3-CB98-41DC-A72C-A701A8C113C7}">
      <dgm:prSet custT="1"/>
      <dgm:spPr/>
      <dgm:t>
        <a:bodyPr/>
        <a:lstStyle/>
        <a:p>
          <a:pPr rtl="0"/>
          <a:r>
            <a:rPr lang="en-US" sz="2400" b="0" dirty="0"/>
            <a:t>X31        	0.000000            1400.000</a:t>
          </a:r>
          <a:endParaRPr lang="es-PE" sz="2400" dirty="0"/>
        </a:p>
      </dgm:t>
    </dgm:pt>
    <dgm:pt modelId="{F65E4CFC-0F38-4BFF-B135-1B78874E10AE}" type="parTrans" cxnId="{3CFB1902-9248-452E-A54B-37FDFDF625C9}">
      <dgm:prSet/>
      <dgm:spPr/>
      <dgm:t>
        <a:bodyPr/>
        <a:lstStyle/>
        <a:p>
          <a:endParaRPr lang="es-PE" sz="2400"/>
        </a:p>
      </dgm:t>
    </dgm:pt>
    <dgm:pt modelId="{C84E9F1D-FEC5-4593-8E5E-40E7DFAC74AD}" type="sibTrans" cxnId="{3CFB1902-9248-452E-A54B-37FDFDF625C9}">
      <dgm:prSet/>
      <dgm:spPr/>
      <dgm:t>
        <a:bodyPr/>
        <a:lstStyle/>
        <a:p>
          <a:endParaRPr lang="es-PE" sz="2400"/>
        </a:p>
      </dgm:t>
    </dgm:pt>
    <dgm:pt modelId="{A8DFA06B-CF1A-4DE2-ADF5-01410BE224A6}">
      <dgm:prSet custT="1"/>
      <dgm:spPr/>
      <dgm:t>
        <a:bodyPr/>
        <a:lstStyle/>
        <a:p>
          <a:pPr rtl="0"/>
          <a:r>
            <a:rPr lang="en-US" sz="2400" b="0" dirty="0"/>
            <a:t>X32        	1.000000            1000.000         </a:t>
          </a:r>
          <a:endParaRPr lang="es-PE" sz="2400" dirty="0"/>
        </a:p>
      </dgm:t>
    </dgm:pt>
    <dgm:pt modelId="{0AFE7416-E980-4821-8733-2FC12E677053}" type="parTrans" cxnId="{328FB2A1-399A-4A9E-94BC-DD9D563BD736}">
      <dgm:prSet/>
      <dgm:spPr/>
      <dgm:t>
        <a:bodyPr/>
        <a:lstStyle/>
        <a:p>
          <a:endParaRPr lang="es-PE" sz="2400"/>
        </a:p>
      </dgm:t>
    </dgm:pt>
    <dgm:pt modelId="{31590C81-AD05-4A5A-9A2C-20B4FC1642FC}" type="sibTrans" cxnId="{328FB2A1-399A-4A9E-94BC-DD9D563BD736}">
      <dgm:prSet/>
      <dgm:spPr/>
      <dgm:t>
        <a:bodyPr/>
        <a:lstStyle/>
        <a:p>
          <a:endParaRPr lang="es-PE" sz="2400"/>
        </a:p>
      </dgm:t>
    </dgm:pt>
    <dgm:pt modelId="{82FEDF63-7743-43FC-872D-371224031ECE}">
      <dgm:prSet custT="1"/>
      <dgm:spPr/>
      <dgm:t>
        <a:bodyPr/>
        <a:lstStyle/>
        <a:p>
          <a:pPr rtl="0"/>
          <a:r>
            <a:rPr lang="en-US" sz="2400" b="0" dirty="0"/>
            <a:t>X33        	2.000000            400.0000</a:t>
          </a:r>
          <a:endParaRPr lang="es-PE" sz="2400" dirty="0"/>
        </a:p>
      </dgm:t>
    </dgm:pt>
    <dgm:pt modelId="{FC0B49C2-A577-4FA9-A2D7-FF22E1D32285}" type="parTrans" cxnId="{CADE7E29-2226-4D9E-AB2A-DED1B77F3F33}">
      <dgm:prSet/>
      <dgm:spPr/>
      <dgm:t>
        <a:bodyPr/>
        <a:lstStyle/>
        <a:p>
          <a:endParaRPr lang="es-PE" sz="2400"/>
        </a:p>
      </dgm:t>
    </dgm:pt>
    <dgm:pt modelId="{5CF501DD-CC3B-4555-A571-192A34391D32}" type="sibTrans" cxnId="{CADE7E29-2226-4D9E-AB2A-DED1B77F3F33}">
      <dgm:prSet/>
      <dgm:spPr/>
      <dgm:t>
        <a:bodyPr/>
        <a:lstStyle/>
        <a:p>
          <a:endParaRPr lang="es-PE" sz="2400"/>
        </a:p>
      </dgm:t>
    </dgm:pt>
    <dgm:pt modelId="{D387DA23-06FA-46F3-AC82-F83D0A379BBC}" type="pres">
      <dgm:prSet presAssocID="{27952B50-1F36-4ABF-9081-13D8102D8547}" presName="linear" presStyleCnt="0">
        <dgm:presLayoutVars>
          <dgm:animLvl val="lvl"/>
          <dgm:resizeHandles val="exact"/>
        </dgm:presLayoutVars>
      </dgm:prSet>
      <dgm:spPr/>
    </dgm:pt>
    <dgm:pt modelId="{3934D2E2-3D4E-4B07-8370-E930EB3BEF81}" type="pres">
      <dgm:prSet presAssocID="{B882AB34-5B3C-47D3-84B3-64D781796E47}" presName="parentText" presStyleLbl="node1" presStyleIdx="0" presStyleCnt="11">
        <dgm:presLayoutVars>
          <dgm:chMax val="0"/>
          <dgm:bulletEnabled val="1"/>
        </dgm:presLayoutVars>
      </dgm:prSet>
      <dgm:spPr/>
    </dgm:pt>
    <dgm:pt modelId="{BC8C66AF-5D94-4394-AC99-E911F55C725F}" type="pres">
      <dgm:prSet presAssocID="{5E96215D-02AD-4D6B-9731-A9568087BC53}" presName="spacer" presStyleCnt="0"/>
      <dgm:spPr/>
    </dgm:pt>
    <dgm:pt modelId="{AE55C952-C6B4-4FD2-BDD6-8A715D02C911}" type="pres">
      <dgm:prSet presAssocID="{F1B5412A-5C36-4ADA-9368-DE4EC0CE4AFB}" presName="parentText" presStyleLbl="node1" presStyleIdx="1" presStyleCnt="11">
        <dgm:presLayoutVars>
          <dgm:chMax val="0"/>
          <dgm:bulletEnabled val="1"/>
        </dgm:presLayoutVars>
      </dgm:prSet>
      <dgm:spPr/>
    </dgm:pt>
    <dgm:pt modelId="{5AC39177-514A-407B-AEFA-490FD19E89C0}" type="pres">
      <dgm:prSet presAssocID="{D4197240-D74A-4E9E-8BFC-7AED62DAA4CA}" presName="spacer" presStyleCnt="0"/>
      <dgm:spPr/>
    </dgm:pt>
    <dgm:pt modelId="{2FCF7A06-F1D1-4411-AC0A-7F922DDA4428}" type="pres">
      <dgm:prSet presAssocID="{6AB63343-944E-44C9-904B-99D78512AE88}" presName="parentText" presStyleLbl="node1" presStyleIdx="2" presStyleCnt="11">
        <dgm:presLayoutVars>
          <dgm:chMax val="0"/>
          <dgm:bulletEnabled val="1"/>
        </dgm:presLayoutVars>
      </dgm:prSet>
      <dgm:spPr/>
    </dgm:pt>
    <dgm:pt modelId="{A474B190-C535-4AF0-B022-B167BA06E464}" type="pres">
      <dgm:prSet presAssocID="{C4C9067B-FE80-4E95-AE03-521E974A9ED1}" presName="spacer" presStyleCnt="0"/>
      <dgm:spPr/>
    </dgm:pt>
    <dgm:pt modelId="{4684D61A-E68F-4059-95C2-451FB0A613F8}" type="pres">
      <dgm:prSet presAssocID="{5875E99B-D45D-45E0-A236-655F8217DAFE}" presName="parentText" presStyleLbl="node1" presStyleIdx="3" presStyleCnt="11">
        <dgm:presLayoutVars>
          <dgm:chMax val="0"/>
          <dgm:bulletEnabled val="1"/>
        </dgm:presLayoutVars>
      </dgm:prSet>
      <dgm:spPr/>
    </dgm:pt>
    <dgm:pt modelId="{291FE123-9B2D-4475-B1E4-33F5EA79BAE0}" type="pres">
      <dgm:prSet presAssocID="{82DD7F7C-96E6-4A34-9F9B-7B4874468922}" presName="spacer" presStyleCnt="0"/>
      <dgm:spPr/>
    </dgm:pt>
    <dgm:pt modelId="{7FFD15D0-BD50-4AE9-8B7C-FA59F71ED75C}" type="pres">
      <dgm:prSet presAssocID="{59B7154D-47F5-4918-BDC9-5C93EC12DA93}" presName="parentText" presStyleLbl="node1" presStyleIdx="4" presStyleCnt="11">
        <dgm:presLayoutVars>
          <dgm:chMax val="0"/>
          <dgm:bulletEnabled val="1"/>
        </dgm:presLayoutVars>
      </dgm:prSet>
      <dgm:spPr/>
    </dgm:pt>
    <dgm:pt modelId="{B435978A-F190-40C0-930D-6A35A561A435}" type="pres">
      <dgm:prSet presAssocID="{F5D1ABE2-DDF4-46D7-A435-18E087962DE8}" presName="spacer" presStyleCnt="0"/>
      <dgm:spPr/>
    </dgm:pt>
    <dgm:pt modelId="{F774D521-380E-4CDC-B852-E0987B15A54C}" type="pres">
      <dgm:prSet presAssocID="{F147FE38-EE58-48E0-88AF-062BCC8A634B}" presName="parentText" presStyleLbl="node1" presStyleIdx="5" presStyleCnt="11">
        <dgm:presLayoutVars>
          <dgm:chMax val="0"/>
          <dgm:bulletEnabled val="1"/>
        </dgm:presLayoutVars>
      </dgm:prSet>
      <dgm:spPr/>
    </dgm:pt>
    <dgm:pt modelId="{CAC9D3DB-07C9-403A-BE57-D5459448ECA3}" type="pres">
      <dgm:prSet presAssocID="{4E099E92-3643-43EC-8E52-6BDD1466CC4A}" presName="spacer" presStyleCnt="0"/>
      <dgm:spPr/>
    </dgm:pt>
    <dgm:pt modelId="{78F347EE-D946-44CB-B38B-E33386EDC953}" type="pres">
      <dgm:prSet presAssocID="{87D80069-C698-4C40-977B-E61FF718598F}" presName="parentText" presStyleLbl="node1" presStyleIdx="6" presStyleCnt="11">
        <dgm:presLayoutVars>
          <dgm:chMax val="0"/>
          <dgm:bulletEnabled val="1"/>
        </dgm:presLayoutVars>
      </dgm:prSet>
      <dgm:spPr/>
    </dgm:pt>
    <dgm:pt modelId="{DC74CE29-F2F1-437E-841B-79F32825B73D}" type="pres">
      <dgm:prSet presAssocID="{010F6EA6-9A37-483D-A455-6F88382CC25B}" presName="spacer" presStyleCnt="0"/>
      <dgm:spPr/>
    </dgm:pt>
    <dgm:pt modelId="{349154A5-E334-41B6-AC51-1301DEC898BE}" type="pres">
      <dgm:prSet presAssocID="{9087BEB2-6475-49F9-BC04-A7F4D8C0BA5B}" presName="parentText" presStyleLbl="node1" presStyleIdx="7" presStyleCnt="11">
        <dgm:presLayoutVars>
          <dgm:chMax val="0"/>
          <dgm:bulletEnabled val="1"/>
        </dgm:presLayoutVars>
      </dgm:prSet>
      <dgm:spPr/>
    </dgm:pt>
    <dgm:pt modelId="{8CF91D78-FDF4-466E-8C7D-C153675E0395}" type="pres">
      <dgm:prSet presAssocID="{5D8A2B57-1F77-45DC-A83F-A294BFEA2D59}" presName="spacer" presStyleCnt="0"/>
      <dgm:spPr/>
    </dgm:pt>
    <dgm:pt modelId="{5BC5FE9D-8FF2-40DC-80E8-E3D848155DD9}" type="pres">
      <dgm:prSet presAssocID="{9E3F01E3-CB98-41DC-A72C-A701A8C113C7}" presName="parentText" presStyleLbl="node1" presStyleIdx="8" presStyleCnt="11">
        <dgm:presLayoutVars>
          <dgm:chMax val="0"/>
          <dgm:bulletEnabled val="1"/>
        </dgm:presLayoutVars>
      </dgm:prSet>
      <dgm:spPr/>
    </dgm:pt>
    <dgm:pt modelId="{30F84C6B-A4D1-4C46-9F79-5017D9E88C17}" type="pres">
      <dgm:prSet presAssocID="{C84E9F1D-FEC5-4593-8E5E-40E7DFAC74AD}" presName="spacer" presStyleCnt="0"/>
      <dgm:spPr/>
    </dgm:pt>
    <dgm:pt modelId="{D0DB1485-9223-46E9-9C7C-6ED3A8D7CE86}" type="pres">
      <dgm:prSet presAssocID="{A8DFA06B-CF1A-4DE2-ADF5-01410BE224A6}" presName="parentText" presStyleLbl="node1" presStyleIdx="9" presStyleCnt="11">
        <dgm:presLayoutVars>
          <dgm:chMax val="0"/>
          <dgm:bulletEnabled val="1"/>
        </dgm:presLayoutVars>
      </dgm:prSet>
      <dgm:spPr/>
    </dgm:pt>
    <dgm:pt modelId="{9579BAA2-253E-4579-B8D0-6C916238F799}" type="pres">
      <dgm:prSet presAssocID="{31590C81-AD05-4A5A-9A2C-20B4FC1642FC}" presName="spacer" presStyleCnt="0"/>
      <dgm:spPr/>
    </dgm:pt>
    <dgm:pt modelId="{DE4724B9-6CC7-4CE4-9284-20DEBF986E37}" type="pres">
      <dgm:prSet presAssocID="{82FEDF63-7743-43FC-872D-371224031ECE}" presName="parentText" presStyleLbl="node1" presStyleIdx="10" presStyleCnt="11">
        <dgm:presLayoutVars>
          <dgm:chMax val="0"/>
          <dgm:bulletEnabled val="1"/>
        </dgm:presLayoutVars>
      </dgm:prSet>
      <dgm:spPr/>
    </dgm:pt>
  </dgm:ptLst>
  <dgm:cxnLst>
    <dgm:cxn modelId="{3CFB1902-9248-452E-A54B-37FDFDF625C9}" srcId="{27952B50-1F36-4ABF-9081-13D8102D8547}" destId="{9E3F01E3-CB98-41DC-A72C-A701A8C113C7}" srcOrd="8" destOrd="0" parTransId="{F65E4CFC-0F38-4BFF-B135-1B78874E10AE}" sibTransId="{C84E9F1D-FEC5-4593-8E5E-40E7DFAC74AD}"/>
    <dgm:cxn modelId="{64377B09-F72A-411B-AC1D-607B33282C12}" type="presOf" srcId="{6AB63343-944E-44C9-904B-99D78512AE88}" destId="{2FCF7A06-F1D1-4411-AC0A-7F922DDA4428}" srcOrd="0" destOrd="0" presId="urn:microsoft.com/office/officeart/2005/8/layout/vList2"/>
    <dgm:cxn modelId="{897FA30F-CD99-441E-9D60-25795391D1CC}" type="presOf" srcId="{F1B5412A-5C36-4ADA-9368-DE4EC0CE4AFB}" destId="{AE55C952-C6B4-4FD2-BDD6-8A715D02C911}" srcOrd="0" destOrd="0" presId="urn:microsoft.com/office/officeart/2005/8/layout/vList2"/>
    <dgm:cxn modelId="{55B73214-1DBC-410F-8296-81C4E8644826}" type="presOf" srcId="{9E3F01E3-CB98-41DC-A72C-A701A8C113C7}" destId="{5BC5FE9D-8FF2-40DC-80E8-E3D848155DD9}" srcOrd="0" destOrd="0" presId="urn:microsoft.com/office/officeart/2005/8/layout/vList2"/>
    <dgm:cxn modelId="{F3F84728-7641-458F-BEC8-6EA9F4A5E6C1}" srcId="{27952B50-1F36-4ABF-9081-13D8102D8547}" destId="{87D80069-C698-4C40-977B-E61FF718598F}" srcOrd="6" destOrd="0" parTransId="{85AB99C3-4B31-4A50-8937-B840CF5F057E}" sibTransId="{010F6EA6-9A37-483D-A455-6F88382CC25B}"/>
    <dgm:cxn modelId="{CADE7E29-2226-4D9E-AB2A-DED1B77F3F33}" srcId="{27952B50-1F36-4ABF-9081-13D8102D8547}" destId="{82FEDF63-7743-43FC-872D-371224031ECE}" srcOrd="10" destOrd="0" parTransId="{FC0B49C2-A577-4FA9-A2D7-FF22E1D32285}" sibTransId="{5CF501DD-CC3B-4555-A571-192A34391D32}"/>
    <dgm:cxn modelId="{FA6F9137-CFF0-4E7D-A302-5D58ECC4A83F}" type="presOf" srcId="{A8DFA06B-CF1A-4DE2-ADF5-01410BE224A6}" destId="{D0DB1485-9223-46E9-9C7C-6ED3A8D7CE86}" srcOrd="0" destOrd="0" presId="urn:microsoft.com/office/officeart/2005/8/layout/vList2"/>
    <dgm:cxn modelId="{BF0E9C38-37AF-4C16-828D-5D758140885E}" type="presOf" srcId="{5875E99B-D45D-45E0-A236-655F8217DAFE}" destId="{4684D61A-E68F-4059-95C2-451FB0A613F8}" srcOrd="0" destOrd="0" presId="urn:microsoft.com/office/officeart/2005/8/layout/vList2"/>
    <dgm:cxn modelId="{6308806C-22DD-4643-9C4B-991BDA7F8C36}" srcId="{27952B50-1F36-4ABF-9081-13D8102D8547}" destId="{5875E99B-D45D-45E0-A236-655F8217DAFE}" srcOrd="3" destOrd="0" parTransId="{563F8364-0071-46BA-AFAC-3562ABB40B02}" sibTransId="{82DD7F7C-96E6-4A34-9F9B-7B4874468922}"/>
    <dgm:cxn modelId="{87D2E358-009A-41AF-A6F8-E150E9EF7A05}" type="presOf" srcId="{B882AB34-5B3C-47D3-84B3-64D781796E47}" destId="{3934D2E2-3D4E-4B07-8370-E930EB3BEF81}" srcOrd="0" destOrd="0" presId="urn:microsoft.com/office/officeart/2005/8/layout/vList2"/>
    <dgm:cxn modelId="{F9C2547D-9551-45CE-81FA-27E2DBCDB32F}" srcId="{27952B50-1F36-4ABF-9081-13D8102D8547}" destId="{9087BEB2-6475-49F9-BC04-A7F4D8C0BA5B}" srcOrd="7" destOrd="0" parTransId="{97F2CB38-72E5-41AC-A604-8F0038B6B361}" sibTransId="{5D8A2B57-1F77-45DC-A83F-A294BFEA2D59}"/>
    <dgm:cxn modelId="{7944F88E-CEEC-4508-889C-B15975FBF05A}" srcId="{27952B50-1F36-4ABF-9081-13D8102D8547}" destId="{F147FE38-EE58-48E0-88AF-062BCC8A634B}" srcOrd="5" destOrd="0" parTransId="{DA43411E-F92D-48AB-AA42-206A23615371}" sibTransId="{4E099E92-3643-43EC-8E52-6BDD1466CC4A}"/>
    <dgm:cxn modelId="{8FF9929B-18D3-4F72-9A4C-1981BD600275}" srcId="{27952B50-1F36-4ABF-9081-13D8102D8547}" destId="{B882AB34-5B3C-47D3-84B3-64D781796E47}" srcOrd="0" destOrd="0" parTransId="{43584BBE-52D4-44A5-AB28-AAD107A60042}" sibTransId="{5E96215D-02AD-4D6B-9731-A9568087BC53}"/>
    <dgm:cxn modelId="{0CAEF79B-3A8F-40F4-B3AF-4F565DBD2194}" srcId="{27952B50-1F36-4ABF-9081-13D8102D8547}" destId="{59B7154D-47F5-4918-BDC9-5C93EC12DA93}" srcOrd="4" destOrd="0" parTransId="{EB99C359-121E-48FE-90D2-D2B27D6D92B2}" sibTransId="{F5D1ABE2-DDF4-46D7-A435-18E087962DE8}"/>
    <dgm:cxn modelId="{328FB2A1-399A-4A9E-94BC-DD9D563BD736}" srcId="{27952B50-1F36-4ABF-9081-13D8102D8547}" destId="{A8DFA06B-CF1A-4DE2-ADF5-01410BE224A6}" srcOrd="9" destOrd="0" parTransId="{0AFE7416-E980-4821-8733-2FC12E677053}" sibTransId="{31590C81-AD05-4A5A-9A2C-20B4FC1642FC}"/>
    <dgm:cxn modelId="{61379AAA-ADD9-45A6-9421-835E82636653}" type="presOf" srcId="{27952B50-1F36-4ABF-9081-13D8102D8547}" destId="{D387DA23-06FA-46F3-AC82-F83D0A379BBC}" srcOrd="0" destOrd="0" presId="urn:microsoft.com/office/officeart/2005/8/layout/vList2"/>
    <dgm:cxn modelId="{29BC29AC-8061-47DC-A7CA-A09550438C83}" type="presOf" srcId="{87D80069-C698-4C40-977B-E61FF718598F}" destId="{78F347EE-D946-44CB-B38B-E33386EDC953}" srcOrd="0" destOrd="0" presId="urn:microsoft.com/office/officeart/2005/8/layout/vList2"/>
    <dgm:cxn modelId="{CEB035C6-2B11-4E1F-8D3D-2E9101CFDB10}" type="presOf" srcId="{9087BEB2-6475-49F9-BC04-A7F4D8C0BA5B}" destId="{349154A5-E334-41B6-AC51-1301DEC898BE}" srcOrd="0" destOrd="0" presId="urn:microsoft.com/office/officeart/2005/8/layout/vList2"/>
    <dgm:cxn modelId="{863AB9D8-6363-419F-87E9-BA495771ED31}" srcId="{27952B50-1F36-4ABF-9081-13D8102D8547}" destId="{F1B5412A-5C36-4ADA-9368-DE4EC0CE4AFB}" srcOrd="1" destOrd="0" parTransId="{E39113E3-C81F-4ECF-A376-3316ABC53630}" sibTransId="{D4197240-D74A-4E9E-8BFC-7AED62DAA4CA}"/>
    <dgm:cxn modelId="{A5ED91DF-D0C5-4A5B-97D4-348587709ED4}" type="presOf" srcId="{59B7154D-47F5-4918-BDC9-5C93EC12DA93}" destId="{7FFD15D0-BD50-4AE9-8B7C-FA59F71ED75C}" srcOrd="0" destOrd="0" presId="urn:microsoft.com/office/officeart/2005/8/layout/vList2"/>
    <dgm:cxn modelId="{0731F3E0-5A13-4EA1-BE6C-F74474240A3F}" srcId="{27952B50-1F36-4ABF-9081-13D8102D8547}" destId="{6AB63343-944E-44C9-904B-99D78512AE88}" srcOrd="2" destOrd="0" parTransId="{64AD118E-B161-4A66-909C-D9226410F13F}" sibTransId="{C4C9067B-FE80-4E95-AE03-521E974A9ED1}"/>
    <dgm:cxn modelId="{24A99BED-D6B8-4E55-962B-5C4E26C2BC4F}" type="presOf" srcId="{82FEDF63-7743-43FC-872D-371224031ECE}" destId="{DE4724B9-6CC7-4CE4-9284-20DEBF986E37}" srcOrd="0" destOrd="0" presId="urn:microsoft.com/office/officeart/2005/8/layout/vList2"/>
    <dgm:cxn modelId="{E4A70FF1-7DE1-4245-AAC7-873F35E0C924}" type="presOf" srcId="{F147FE38-EE58-48E0-88AF-062BCC8A634B}" destId="{F774D521-380E-4CDC-B852-E0987B15A54C}" srcOrd="0" destOrd="0" presId="urn:microsoft.com/office/officeart/2005/8/layout/vList2"/>
    <dgm:cxn modelId="{57906AFB-6D88-46BF-BC93-57947413D33A}" type="presParOf" srcId="{D387DA23-06FA-46F3-AC82-F83D0A379BBC}" destId="{3934D2E2-3D4E-4B07-8370-E930EB3BEF81}" srcOrd="0" destOrd="0" presId="urn:microsoft.com/office/officeart/2005/8/layout/vList2"/>
    <dgm:cxn modelId="{F1CAAA2D-478F-437C-AC8C-4A44C574046B}" type="presParOf" srcId="{D387DA23-06FA-46F3-AC82-F83D0A379BBC}" destId="{BC8C66AF-5D94-4394-AC99-E911F55C725F}" srcOrd="1" destOrd="0" presId="urn:microsoft.com/office/officeart/2005/8/layout/vList2"/>
    <dgm:cxn modelId="{AB58C265-AF0B-4ECF-8D76-22418B0476EC}" type="presParOf" srcId="{D387DA23-06FA-46F3-AC82-F83D0A379BBC}" destId="{AE55C952-C6B4-4FD2-BDD6-8A715D02C911}" srcOrd="2" destOrd="0" presId="urn:microsoft.com/office/officeart/2005/8/layout/vList2"/>
    <dgm:cxn modelId="{2DA6ED2B-FE9A-4607-8922-AFD689944322}" type="presParOf" srcId="{D387DA23-06FA-46F3-AC82-F83D0A379BBC}" destId="{5AC39177-514A-407B-AEFA-490FD19E89C0}" srcOrd="3" destOrd="0" presId="urn:microsoft.com/office/officeart/2005/8/layout/vList2"/>
    <dgm:cxn modelId="{BBE06160-1DB1-4DF8-92C3-693407049A89}" type="presParOf" srcId="{D387DA23-06FA-46F3-AC82-F83D0A379BBC}" destId="{2FCF7A06-F1D1-4411-AC0A-7F922DDA4428}" srcOrd="4" destOrd="0" presId="urn:microsoft.com/office/officeart/2005/8/layout/vList2"/>
    <dgm:cxn modelId="{F2037941-3F43-4BF6-969F-6FD955C2F1D3}" type="presParOf" srcId="{D387DA23-06FA-46F3-AC82-F83D0A379BBC}" destId="{A474B190-C535-4AF0-B022-B167BA06E464}" srcOrd="5" destOrd="0" presId="urn:microsoft.com/office/officeart/2005/8/layout/vList2"/>
    <dgm:cxn modelId="{826F47F9-26BD-4B4F-B9C3-6E0788995B1D}" type="presParOf" srcId="{D387DA23-06FA-46F3-AC82-F83D0A379BBC}" destId="{4684D61A-E68F-4059-95C2-451FB0A613F8}" srcOrd="6" destOrd="0" presId="urn:microsoft.com/office/officeart/2005/8/layout/vList2"/>
    <dgm:cxn modelId="{353EBD20-ACE0-4377-A547-D72047BDFF35}" type="presParOf" srcId="{D387DA23-06FA-46F3-AC82-F83D0A379BBC}" destId="{291FE123-9B2D-4475-B1E4-33F5EA79BAE0}" srcOrd="7" destOrd="0" presId="urn:microsoft.com/office/officeart/2005/8/layout/vList2"/>
    <dgm:cxn modelId="{4AEF7D75-A281-4CE1-9F7E-49E9684DEBAF}" type="presParOf" srcId="{D387DA23-06FA-46F3-AC82-F83D0A379BBC}" destId="{7FFD15D0-BD50-4AE9-8B7C-FA59F71ED75C}" srcOrd="8" destOrd="0" presId="urn:microsoft.com/office/officeart/2005/8/layout/vList2"/>
    <dgm:cxn modelId="{7034A6BE-493B-42D1-9A25-8891C787397E}" type="presParOf" srcId="{D387DA23-06FA-46F3-AC82-F83D0A379BBC}" destId="{B435978A-F190-40C0-930D-6A35A561A435}" srcOrd="9" destOrd="0" presId="urn:microsoft.com/office/officeart/2005/8/layout/vList2"/>
    <dgm:cxn modelId="{9A2E1DC1-769E-4E82-B96B-ED6756B6F07E}" type="presParOf" srcId="{D387DA23-06FA-46F3-AC82-F83D0A379BBC}" destId="{F774D521-380E-4CDC-B852-E0987B15A54C}" srcOrd="10" destOrd="0" presId="urn:microsoft.com/office/officeart/2005/8/layout/vList2"/>
    <dgm:cxn modelId="{7232BB3F-B29D-42E7-A5AD-9AD6258C04E3}" type="presParOf" srcId="{D387DA23-06FA-46F3-AC82-F83D0A379BBC}" destId="{CAC9D3DB-07C9-403A-BE57-D5459448ECA3}" srcOrd="11" destOrd="0" presId="urn:microsoft.com/office/officeart/2005/8/layout/vList2"/>
    <dgm:cxn modelId="{769F5F3C-AB9F-40D7-BA1C-51A4A46E21C6}" type="presParOf" srcId="{D387DA23-06FA-46F3-AC82-F83D0A379BBC}" destId="{78F347EE-D946-44CB-B38B-E33386EDC953}" srcOrd="12" destOrd="0" presId="urn:microsoft.com/office/officeart/2005/8/layout/vList2"/>
    <dgm:cxn modelId="{47BAF61A-A0BB-4B14-854F-5A3040A58073}" type="presParOf" srcId="{D387DA23-06FA-46F3-AC82-F83D0A379BBC}" destId="{DC74CE29-F2F1-437E-841B-79F32825B73D}" srcOrd="13" destOrd="0" presId="urn:microsoft.com/office/officeart/2005/8/layout/vList2"/>
    <dgm:cxn modelId="{C05B9FDC-81BF-4E66-B310-F268D5191777}" type="presParOf" srcId="{D387DA23-06FA-46F3-AC82-F83D0A379BBC}" destId="{349154A5-E334-41B6-AC51-1301DEC898BE}" srcOrd="14" destOrd="0" presId="urn:microsoft.com/office/officeart/2005/8/layout/vList2"/>
    <dgm:cxn modelId="{E00F5BAD-7DB5-4D2A-914D-029C3E35B22C}" type="presParOf" srcId="{D387DA23-06FA-46F3-AC82-F83D0A379BBC}" destId="{8CF91D78-FDF4-466E-8C7D-C153675E0395}" srcOrd="15" destOrd="0" presId="urn:microsoft.com/office/officeart/2005/8/layout/vList2"/>
    <dgm:cxn modelId="{16E816A7-334E-4001-BC80-57FA3F59A8C9}" type="presParOf" srcId="{D387DA23-06FA-46F3-AC82-F83D0A379BBC}" destId="{5BC5FE9D-8FF2-40DC-80E8-E3D848155DD9}" srcOrd="16" destOrd="0" presId="urn:microsoft.com/office/officeart/2005/8/layout/vList2"/>
    <dgm:cxn modelId="{5BD1685F-46B1-4241-9FB6-0DF4B6451709}" type="presParOf" srcId="{D387DA23-06FA-46F3-AC82-F83D0A379BBC}" destId="{30F84C6B-A4D1-4C46-9F79-5017D9E88C17}" srcOrd="17" destOrd="0" presId="urn:microsoft.com/office/officeart/2005/8/layout/vList2"/>
    <dgm:cxn modelId="{F3A04A12-9886-4364-A794-88A941C6F15C}" type="presParOf" srcId="{D387DA23-06FA-46F3-AC82-F83D0A379BBC}" destId="{D0DB1485-9223-46E9-9C7C-6ED3A8D7CE86}" srcOrd="18" destOrd="0" presId="urn:microsoft.com/office/officeart/2005/8/layout/vList2"/>
    <dgm:cxn modelId="{7C585D0E-86CA-4DF7-BF00-B7D9EB7CCD46}" type="presParOf" srcId="{D387DA23-06FA-46F3-AC82-F83D0A379BBC}" destId="{9579BAA2-253E-4579-B8D0-6C916238F799}" srcOrd="19" destOrd="0" presId="urn:microsoft.com/office/officeart/2005/8/layout/vList2"/>
    <dgm:cxn modelId="{A9C33548-BB1D-4164-8139-C4958A74534E}" type="presParOf" srcId="{D387DA23-06FA-46F3-AC82-F83D0A379BBC}" destId="{DE4724B9-6CC7-4CE4-9284-20DEBF986E37}" srcOrd="2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AED830-D133-41FB-A411-517070E7F52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7CB6B225-9B67-4F86-917D-6E6F6E8AED6A}">
      <dgm:prSet custT="1"/>
      <dgm:spPr>
        <a:solidFill>
          <a:schemeClr val="accent2">
            <a:lumMod val="75000"/>
          </a:schemeClr>
        </a:solidFill>
      </dgm:spPr>
      <dgm:t>
        <a:bodyPr/>
        <a:lstStyle/>
        <a:p>
          <a:pPr rtl="0">
            <a:lnSpc>
              <a:spcPct val="100000"/>
            </a:lnSpc>
            <a:spcBef>
              <a:spcPts val="0"/>
            </a:spcBef>
            <a:spcAft>
              <a:spcPts val="0"/>
            </a:spcAft>
          </a:pPr>
          <a:r>
            <a:rPr lang="es-ES" sz="2400" b="1" dirty="0"/>
            <a:t>Producto         Ingredientes(oz./Lb.)       Demanda            Ganancia</a:t>
          </a:r>
        </a:p>
        <a:p>
          <a:pPr rtl="0">
            <a:lnSpc>
              <a:spcPct val="100000"/>
            </a:lnSpc>
            <a:spcBef>
              <a:spcPts val="0"/>
            </a:spcBef>
            <a:spcAft>
              <a:spcPts val="0"/>
            </a:spcAft>
          </a:pPr>
          <a:r>
            <a:rPr lang="es-ES" sz="2400" b="1" dirty="0"/>
            <a:t>                            	A     B     C           Base          Lb.                    $/lb.</a:t>
          </a:r>
        </a:p>
      </dgm:t>
    </dgm:pt>
    <dgm:pt modelId="{4E5E493E-4EB0-4EAE-B773-A2D05C89C3BF}" type="parTrans" cxnId="{BC648051-66C5-4AD5-8A6A-295385B35E44}">
      <dgm:prSet/>
      <dgm:spPr/>
      <dgm:t>
        <a:bodyPr/>
        <a:lstStyle/>
        <a:p>
          <a:pPr>
            <a:lnSpc>
              <a:spcPct val="100000"/>
            </a:lnSpc>
            <a:spcBef>
              <a:spcPts val="0"/>
            </a:spcBef>
            <a:spcAft>
              <a:spcPts val="0"/>
            </a:spcAft>
          </a:pPr>
          <a:endParaRPr lang="es-ES" sz="2400" b="1"/>
        </a:p>
      </dgm:t>
    </dgm:pt>
    <dgm:pt modelId="{46E21E9D-8085-42DA-983A-9E897A7001AD}" type="sibTrans" cxnId="{BC648051-66C5-4AD5-8A6A-295385B35E44}">
      <dgm:prSet/>
      <dgm:spPr/>
      <dgm:t>
        <a:bodyPr/>
        <a:lstStyle/>
        <a:p>
          <a:pPr>
            <a:lnSpc>
              <a:spcPct val="100000"/>
            </a:lnSpc>
            <a:spcBef>
              <a:spcPts val="0"/>
            </a:spcBef>
            <a:spcAft>
              <a:spcPts val="0"/>
            </a:spcAft>
          </a:pPr>
          <a:endParaRPr lang="es-ES" sz="2400" b="1"/>
        </a:p>
      </dgm:t>
    </dgm:pt>
    <dgm:pt modelId="{B98D467B-08D7-4812-BE03-AA72A9BA6142}">
      <dgm:prSet custT="1"/>
      <dgm:spPr/>
      <dgm:t>
        <a:bodyPr/>
        <a:lstStyle/>
        <a:p>
          <a:pPr rtl="0">
            <a:lnSpc>
              <a:spcPct val="100000"/>
            </a:lnSpc>
            <a:spcBef>
              <a:spcPts val="0"/>
            </a:spcBef>
            <a:spcAft>
              <a:spcPts val="0"/>
            </a:spcAft>
          </a:pPr>
          <a:r>
            <a:rPr lang="es-ES" sz="2400" b="1" dirty="0" err="1"/>
            <a:t>Airtex</a:t>
          </a:r>
          <a:r>
            <a:rPr lang="es-ES" sz="2400" b="1" dirty="0"/>
            <a:t>		4     2	4	6     	1000         	7 </a:t>
          </a:r>
        </a:p>
      </dgm:t>
    </dgm:pt>
    <dgm:pt modelId="{74A578EE-D80B-4CE5-B75C-D17BB7E86A7A}" type="parTrans" cxnId="{81831B1D-D2E3-43CB-9A19-0F98D77FC636}">
      <dgm:prSet/>
      <dgm:spPr/>
      <dgm:t>
        <a:bodyPr/>
        <a:lstStyle/>
        <a:p>
          <a:pPr>
            <a:lnSpc>
              <a:spcPct val="100000"/>
            </a:lnSpc>
            <a:spcBef>
              <a:spcPts val="0"/>
            </a:spcBef>
            <a:spcAft>
              <a:spcPts val="0"/>
            </a:spcAft>
          </a:pPr>
          <a:endParaRPr lang="es-ES" sz="2400" b="1"/>
        </a:p>
      </dgm:t>
    </dgm:pt>
    <dgm:pt modelId="{7762A204-66FE-4728-B72B-3C05CA3D8FA5}" type="sibTrans" cxnId="{81831B1D-D2E3-43CB-9A19-0F98D77FC636}">
      <dgm:prSet/>
      <dgm:spPr/>
      <dgm:t>
        <a:bodyPr/>
        <a:lstStyle/>
        <a:p>
          <a:pPr>
            <a:lnSpc>
              <a:spcPct val="100000"/>
            </a:lnSpc>
            <a:spcBef>
              <a:spcPts val="0"/>
            </a:spcBef>
            <a:spcAft>
              <a:spcPts val="0"/>
            </a:spcAft>
          </a:pPr>
          <a:endParaRPr lang="es-ES" sz="2400" b="1"/>
        </a:p>
      </dgm:t>
    </dgm:pt>
    <dgm:pt modelId="{22557AA8-F3B7-4185-872E-2508B1A8EA42}">
      <dgm:prSet custT="1"/>
      <dgm:spPr/>
      <dgm:t>
        <a:bodyPr/>
        <a:lstStyle/>
        <a:p>
          <a:pPr rtl="0">
            <a:lnSpc>
              <a:spcPct val="100000"/>
            </a:lnSpc>
            <a:spcBef>
              <a:spcPts val="0"/>
            </a:spcBef>
            <a:spcAft>
              <a:spcPts val="0"/>
            </a:spcAft>
          </a:pPr>
          <a:r>
            <a:rPr lang="es-ES" sz="2400" b="1" dirty="0" err="1"/>
            <a:t>Extendex</a:t>
          </a:r>
          <a:r>
            <a:rPr lang="es-ES" sz="2400" b="1" dirty="0"/>
            <a:t>	3     2	2	9       	  500         	7 </a:t>
          </a:r>
        </a:p>
      </dgm:t>
    </dgm:pt>
    <dgm:pt modelId="{6C7DB2BB-4C21-4FA5-BCAB-05F506F4110B}" type="parTrans" cxnId="{97C6CFF5-97E3-48DC-89BB-CC7140B2021C}">
      <dgm:prSet/>
      <dgm:spPr/>
      <dgm:t>
        <a:bodyPr/>
        <a:lstStyle/>
        <a:p>
          <a:pPr>
            <a:lnSpc>
              <a:spcPct val="100000"/>
            </a:lnSpc>
            <a:spcBef>
              <a:spcPts val="0"/>
            </a:spcBef>
            <a:spcAft>
              <a:spcPts val="0"/>
            </a:spcAft>
          </a:pPr>
          <a:endParaRPr lang="es-ES" sz="2400" b="1"/>
        </a:p>
      </dgm:t>
    </dgm:pt>
    <dgm:pt modelId="{14976B9E-58E2-4693-BA4D-5B9BC818B4D6}" type="sibTrans" cxnId="{97C6CFF5-97E3-48DC-89BB-CC7140B2021C}">
      <dgm:prSet/>
      <dgm:spPr/>
      <dgm:t>
        <a:bodyPr/>
        <a:lstStyle/>
        <a:p>
          <a:pPr>
            <a:lnSpc>
              <a:spcPct val="100000"/>
            </a:lnSpc>
            <a:spcBef>
              <a:spcPts val="0"/>
            </a:spcBef>
            <a:spcAft>
              <a:spcPts val="0"/>
            </a:spcAft>
          </a:pPr>
          <a:endParaRPr lang="es-ES" sz="2400" b="1"/>
        </a:p>
      </dgm:t>
    </dgm:pt>
    <dgm:pt modelId="{3B70F901-0FB3-4BD0-87E9-798F5D544B9E}">
      <dgm:prSet custT="1"/>
      <dgm:spPr/>
      <dgm:t>
        <a:bodyPr/>
        <a:lstStyle/>
        <a:p>
          <a:pPr rtl="0">
            <a:lnSpc>
              <a:spcPct val="100000"/>
            </a:lnSpc>
            <a:spcBef>
              <a:spcPts val="0"/>
            </a:spcBef>
            <a:spcAft>
              <a:spcPts val="0"/>
            </a:spcAft>
          </a:pPr>
          <a:r>
            <a:rPr lang="es-ES" sz="2400" b="1" dirty="0" err="1"/>
            <a:t>Resistex</a:t>
          </a:r>
          <a:r>
            <a:rPr lang="es-ES" sz="2400" b="1" dirty="0"/>
            <a:t>		6     3      5	2               400         	6                   </a:t>
          </a:r>
        </a:p>
      </dgm:t>
    </dgm:pt>
    <dgm:pt modelId="{14CD407C-3554-408A-9556-B3DF49A8B56E}" type="parTrans" cxnId="{E41625FF-326F-4EC4-BEEC-736A028B92D8}">
      <dgm:prSet/>
      <dgm:spPr/>
      <dgm:t>
        <a:bodyPr/>
        <a:lstStyle/>
        <a:p>
          <a:pPr>
            <a:lnSpc>
              <a:spcPct val="100000"/>
            </a:lnSpc>
            <a:spcBef>
              <a:spcPts val="0"/>
            </a:spcBef>
            <a:spcAft>
              <a:spcPts val="0"/>
            </a:spcAft>
          </a:pPr>
          <a:endParaRPr lang="es-ES" sz="2400" b="1"/>
        </a:p>
      </dgm:t>
    </dgm:pt>
    <dgm:pt modelId="{E7535C34-8BA7-41AA-8895-3AC044722800}" type="sibTrans" cxnId="{E41625FF-326F-4EC4-BEEC-736A028B92D8}">
      <dgm:prSet/>
      <dgm:spPr/>
      <dgm:t>
        <a:bodyPr/>
        <a:lstStyle/>
        <a:p>
          <a:pPr>
            <a:lnSpc>
              <a:spcPct val="100000"/>
            </a:lnSpc>
            <a:spcBef>
              <a:spcPts val="0"/>
            </a:spcBef>
            <a:spcAft>
              <a:spcPts val="0"/>
            </a:spcAft>
          </a:pPr>
          <a:endParaRPr lang="es-ES" sz="2400" b="1"/>
        </a:p>
      </dgm:t>
    </dgm:pt>
    <dgm:pt modelId="{55C42694-B746-4D08-BBFD-2688D0980B33}">
      <dgm:prSet custT="1"/>
      <dgm:spPr>
        <a:solidFill>
          <a:schemeClr val="accent2">
            <a:lumMod val="75000"/>
          </a:schemeClr>
        </a:solidFill>
      </dgm:spPr>
      <dgm:t>
        <a:bodyPr/>
        <a:lstStyle/>
        <a:p>
          <a:pPr rtl="0">
            <a:lnSpc>
              <a:spcPct val="100000"/>
            </a:lnSpc>
            <a:spcBef>
              <a:spcPts val="0"/>
            </a:spcBef>
            <a:spcAft>
              <a:spcPts val="0"/>
            </a:spcAft>
          </a:pPr>
          <a:r>
            <a:rPr lang="es-ES" sz="2400" b="1" dirty="0"/>
            <a:t>Stock (lb.)       500  425     650    1100</a:t>
          </a:r>
        </a:p>
      </dgm:t>
    </dgm:pt>
    <dgm:pt modelId="{46B7014A-ECB6-44BC-91C0-E412191AAE9A}" type="parTrans" cxnId="{21FBC8A1-AE92-4E81-9334-7D9428296E0D}">
      <dgm:prSet/>
      <dgm:spPr/>
      <dgm:t>
        <a:bodyPr/>
        <a:lstStyle/>
        <a:p>
          <a:pPr>
            <a:lnSpc>
              <a:spcPct val="100000"/>
            </a:lnSpc>
            <a:spcBef>
              <a:spcPts val="0"/>
            </a:spcBef>
            <a:spcAft>
              <a:spcPts val="0"/>
            </a:spcAft>
          </a:pPr>
          <a:endParaRPr lang="es-ES" sz="2400" b="1"/>
        </a:p>
      </dgm:t>
    </dgm:pt>
    <dgm:pt modelId="{A17C68BC-732C-47A4-8BFB-4CA3FBEA14F3}" type="sibTrans" cxnId="{21FBC8A1-AE92-4E81-9334-7D9428296E0D}">
      <dgm:prSet/>
      <dgm:spPr/>
      <dgm:t>
        <a:bodyPr/>
        <a:lstStyle/>
        <a:p>
          <a:pPr>
            <a:lnSpc>
              <a:spcPct val="100000"/>
            </a:lnSpc>
            <a:spcBef>
              <a:spcPts val="0"/>
            </a:spcBef>
            <a:spcAft>
              <a:spcPts val="0"/>
            </a:spcAft>
          </a:pPr>
          <a:endParaRPr lang="es-ES" sz="2400" b="1"/>
        </a:p>
      </dgm:t>
    </dgm:pt>
    <dgm:pt modelId="{C1C5939C-534A-4365-8257-DF2B25904993}" type="pres">
      <dgm:prSet presAssocID="{3FAED830-D133-41FB-A411-517070E7F520}" presName="linear" presStyleCnt="0">
        <dgm:presLayoutVars>
          <dgm:animLvl val="lvl"/>
          <dgm:resizeHandles val="exact"/>
        </dgm:presLayoutVars>
      </dgm:prSet>
      <dgm:spPr/>
    </dgm:pt>
    <dgm:pt modelId="{46DAEB25-D753-4F01-93C9-3C18617F5534}" type="pres">
      <dgm:prSet presAssocID="{7CB6B225-9B67-4F86-917D-6E6F6E8AED6A}" presName="parentText" presStyleLbl="node1" presStyleIdx="0" presStyleCnt="5" custScaleY="99214">
        <dgm:presLayoutVars>
          <dgm:chMax val="0"/>
          <dgm:bulletEnabled val="1"/>
        </dgm:presLayoutVars>
      </dgm:prSet>
      <dgm:spPr/>
    </dgm:pt>
    <dgm:pt modelId="{1A28A182-157F-4402-97B1-1A4355BC6329}" type="pres">
      <dgm:prSet presAssocID="{46E21E9D-8085-42DA-983A-9E897A7001AD}" presName="spacer" presStyleCnt="0"/>
      <dgm:spPr/>
    </dgm:pt>
    <dgm:pt modelId="{ACD0E980-602E-4258-BADC-1B8F068E375D}" type="pres">
      <dgm:prSet presAssocID="{B98D467B-08D7-4812-BE03-AA72A9BA6142}" presName="parentText" presStyleLbl="node1" presStyleIdx="1" presStyleCnt="5" custScaleY="77798">
        <dgm:presLayoutVars>
          <dgm:chMax val="0"/>
          <dgm:bulletEnabled val="1"/>
        </dgm:presLayoutVars>
      </dgm:prSet>
      <dgm:spPr/>
    </dgm:pt>
    <dgm:pt modelId="{A6A02DFE-FB19-4738-9423-278D8907F4DC}" type="pres">
      <dgm:prSet presAssocID="{7762A204-66FE-4728-B72B-3C05CA3D8FA5}" presName="spacer" presStyleCnt="0"/>
      <dgm:spPr/>
    </dgm:pt>
    <dgm:pt modelId="{F8EF334B-5CA1-48C2-9652-308E897977C1}" type="pres">
      <dgm:prSet presAssocID="{22557AA8-F3B7-4185-872E-2508B1A8EA42}" presName="parentText" presStyleLbl="node1" presStyleIdx="2" presStyleCnt="5" custScaleY="77798">
        <dgm:presLayoutVars>
          <dgm:chMax val="0"/>
          <dgm:bulletEnabled val="1"/>
        </dgm:presLayoutVars>
      </dgm:prSet>
      <dgm:spPr/>
    </dgm:pt>
    <dgm:pt modelId="{090D96AD-A16B-4ED3-AB75-1D610DDEE236}" type="pres">
      <dgm:prSet presAssocID="{14976B9E-58E2-4693-BA4D-5B9BC818B4D6}" presName="spacer" presStyleCnt="0"/>
      <dgm:spPr/>
    </dgm:pt>
    <dgm:pt modelId="{C2FDB726-D36C-41BF-9142-0E537BD80BDE}" type="pres">
      <dgm:prSet presAssocID="{3B70F901-0FB3-4BD0-87E9-798F5D544B9E}" presName="parentText" presStyleLbl="node1" presStyleIdx="3" presStyleCnt="5" custScaleY="78498">
        <dgm:presLayoutVars>
          <dgm:chMax val="0"/>
          <dgm:bulletEnabled val="1"/>
        </dgm:presLayoutVars>
      </dgm:prSet>
      <dgm:spPr/>
    </dgm:pt>
    <dgm:pt modelId="{1FD7A3F8-B3A1-4685-812C-A6AB9ECC7612}" type="pres">
      <dgm:prSet presAssocID="{E7535C34-8BA7-41AA-8895-3AC044722800}" presName="spacer" presStyleCnt="0"/>
      <dgm:spPr/>
    </dgm:pt>
    <dgm:pt modelId="{3D411049-1C26-498B-95E9-A14BE09BB8CB}" type="pres">
      <dgm:prSet presAssocID="{55C42694-B746-4D08-BBFD-2688D0980B33}" presName="parentText" presStyleLbl="node1" presStyleIdx="4" presStyleCnt="5" custScaleY="50767">
        <dgm:presLayoutVars>
          <dgm:chMax val="0"/>
          <dgm:bulletEnabled val="1"/>
        </dgm:presLayoutVars>
      </dgm:prSet>
      <dgm:spPr/>
    </dgm:pt>
  </dgm:ptLst>
  <dgm:cxnLst>
    <dgm:cxn modelId="{50A0BC0F-0572-416D-8F8D-3F30294B6C26}" type="presOf" srcId="{7CB6B225-9B67-4F86-917D-6E6F6E8AED6A}" destId="{46DAEB25-D753-4F01-93C9-3C18617F5534}" srcOrd="0" destOrd="0" presId="urn:microsoft.com/office/officeart/2005/8/layout/vList2"/>
    <dgm:cxn modelId="{81831B1D-D2E3-43CB-9A19-0F98D77FC636}" srcId="{3FAED830-D133-41FB-A411-517070E7F520}" destId="{B98D467B-08D7-4812-BE03-AA72A9BA6142}" srcOrd="1" destOrd="0" parTransId="{74A578EE-D80B-4CE5-B75C-D17BB7E86A7A}" sibTransId="{7762A204-66FE-4728-B72B-3C05CA3D8FA5}"/>
    <dgm:cxn modelId="{39356129-D537-42C9-9789-19A975B7534B}" type="presOf" srcId="{B98D467B-08D7-4812-BE03-AA72A9BA6142}" destId="{ACD0E980-602E-4258-BADC-1B8F068E375D}" srcOrd="0" destOrd="0" presId="urn:microsoft.com/office/officeart/2005/8/layout/vList2"/>
    <dgm:cxn modelId="{AFEEAA2C-02DA-4AC3-B118-D476D3A3AA59}" type="presOf" srcId="{3B70F901-0FB3-4BD0-87E9-798F5D544B9E}" destId="{C2FDB726-D36C-41BF-9142-0E537BD80BDE}" srcOrd="0" destOrd="0" presId="urn:microsoft.com/office/officeart/2005/8/layout/vList2"/>
    <dgm:cxn modelId="{BC648051-66C5-4AD5-8A6A-295385B35E44}" srcId="{3FAED830-D133-41FB-A411-517070E7F520}" destId="{7CB6B225-9B67-4F86-917D-6E6F6E8AED6A}" srcOrd="0" destOrd="0" parTransId="{4E5E493E-4EB0-4EAE-B773-A2D05C89C3BF}" sibTransId="{46E21E9D-8085-42DA-983A-9E897A7001AD}"/>
    <dgm:cxn modelId="{FBEE9558-DD7D-498D-820B-BD2443FAB22B}" type="presOf" srcId="{3FAED830-D133-41FB-A411-517070E7F520}" destId="{C1C5939C-534A-4365-8257-DF2B25904993}" srcOrd="0" destOrd="0" presId="urn:microsoft.com/office/officeart/2005/8/layout/vList2"/>
    <dgm:cxn modelId="{D43C307D-190E-4EE5-8292-789D0A2B81C4}" type="presOf" srcId="{55C42694-B746-4D08-BBFD-2688D0980B33}" destId="{3D411049-1C26-498B-95E9-A14BE09BB8CB}" srcOrd="0" destOrd="0" presId="urn:microsoft.com/office/officeart/2005/8/layout/vList2"/>
    <dgm:cxn modelId="{D1F69B9E-BF5E-4037-AD10-685D75217EE0}" type="presOf" srcId="{22557AA8-F3B7-4185-872E-2508B1A8EA42}" destId="{F8EF334B-5CA1-48C2-9652-308E897977C1}" srcOrd="0" destOrd="0" presId="urn:microsoft.com/office/officeart/2005/8/layout/vList2"/>
    <dgm:cxn modelId="{21FBC8A1-AE92-4E81-9334-7D9428296E0D}" srcId="{3FAED830-D133-41FB-A411-517070E7F520}" destId="{55C42694-B746-4D08-BBFD-2688D0980B33}" srcOrd="4" destOrd="0" parTransId="{46B7014A-ECB6-44BC-91C0-E412191AAE9A}" sibTransId="{A17C68BC-732C-47A4-8BFB-4CA3FBEA14F3}"/>
    <dgm:cxn modelId="{97C6CFF5-97E3-48DC-89BB-CC7140B2021C}" srcId="{3FAED830-D133-41FB-A411-517070E7F520}" destId="{22557AA8-F3B7-4185-872E-2508B1A8EA42}" srcOrd="2" destOrd="0" parTransId="{6C7DB2BB-4C21-4FA5-BCAB-05F506F4110B}" sibTransId="{14976B9E-58E2-4693-BA4D-5B9BC818B4D6}"/>
    <dgm:cxn modelId="{E41625FF-326F-4EC4-BEEC-736A028B92D8}" srcId="{3FAED830-D133-41FB-A411-517070E7F520}" destId="{3B70F901-0FB3-4BD0-87E9-798F5D544B9E}" srcOrd="3" destOrd="0" parTransId="{14CD407C-3554-408A-9556-B3DF49A8B56E}" sibTransId="{E7535C34-8BA7-41AA-8895-3AC044722800}"/>
    <dgm:cxn modelId="{6DA709E0-8EB1-4372-B8BB-A2BE101FFF35}" type="presParOf" srcId="{C1C5939C-534A-4365-8257-DF2B25904993}" destId="{46DAEB25-D753-4F01-93C9-3C18617F5534}" srcOrd="0" destOrd="0" presId="urn:microsoft.com/office/officeart/2005/8/layout/vList2"/>
    <dgm:cxn modelId="{CDFFD936-AEC0-4CFC-B657-655089A84653}" type="presParOf" srcId="{C1C5939C-534A-4365-8257-DF2B25904993}" destId="{1A28A182-157F-4402-97B1-1A4355BC6329}" srcOrd="1" destOrd="0" presId="urn:microsoft.com/office/officeart/2005/8/layout/vList2"/>
    <dgm:cxn modelId="{4325ECC1-80C0-46A8-87BF-9CB4B43DB711}" type="presParOf" srcId="{C1C5939C-534A-4365-8257-DF2B25904993}" destId="{ACD0E980-602E-4258-BADC-1B8F068E375D}" srcOrd="2" destOrd="0" presId="urn:microsoft.com/office/officeart/2005/8/layout/vList2"/>
    <dgm:cxn modelId="{E505DE62-8668-4463-896A-E579ABE0C043}" type="presParOf" srcId="{C1C5939C-534A-4365-8257-DF2B25904993}" destId="{A6A02DFE-FB19-4738-9423-278D8907F4DC}" srcOrd="3" destOrd="0" presId="urn:microsoft.com/office/officeart/2005/8/layout/vList2"/>
    <dgm:cxn modelId="{53F0ACC5-7F4C-4F33-A87E-0AF80CEE011B}" type="presParOf" srcId="{C1C5939C-534A-4365-8257-DF2B25904993}" destId="{F8EF334B-5CA1-48C2-9652-308E897977C1}" srcOrd="4" destOrd="0" presId="urn:microsoft.com/office/officeart/2005/8/layout/vList2"/>
    <dgm:cxn modelId="{D05FF692-49A2-47DD-A99B-6310726D23B3}" type="presParOf" srcId="{C1C5939C-534A-4365-8257-DF2B25904993}" destId="{090D96AD-A16B-4ED3-AB75-1D610DDEE236}" srcOrd="5" destOrd="0" presId="urn:microsoft.com/office/officeart/2005/8/layout/vList2"/>
    <dgm:cxn modelId="{B6B74851-4B56-4550-B795-8BD1A0E74781}" type="presParOf" srcId="{C1C5939C-534A-4365-8257-DF2B25904993}" destId="{C2FDB726-D36C-41BF-9142-0E537BD80BDE}" srcOrd="6" destOrd="0" presId="urn:microsoft.com/office/officeart/2005/8/layout/vList2"/>
    <dgm:cxn modelId="{1058AD6E-BE17-4974-BF1E-DD18DB3EA8D8}" type="presParOf" srcId="{C1C5939C-534A-4365-8257-DF2B25904993}" destId="{1FD7A3F8-B3A1-4685-812C-A6AB9ECC7612}" srcOrd="7" destOrd="0" presId="urn:microsoft.com/office/officeart/2005/8/layout/vList2"/>
    <dgm:cxn modelId="{B43DBEDB-635D-42DC-BD38-FAF9068ABC5D}" type="presParOf" srcId="{C1C5939C-534A-4365-8257-DF2B25904993}" destId="{3D411049-1C26-498B-95E9-A14BE09BB8C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4FA9BD-DB88-49AD-9DA2-6F5DCC197A2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621EE5B0-90BC-4A45-A33B-8992D5ED4C70}">
      <dgm:prSet custT="1"/>
      <dgm:spPr/>
      <dgm:t>
        <a:bodyPr/>
        <a:lstStyle/>
        <a:p>
          <a:pPr algn="just" rtl="0"/>
          <a:r>
            <a:rPr lang="es-ES_tradnl" sz="2000" dirty="0" err="1">
              <a:solidFill>
                <a:srgbClr val="FFFF00"/>
              </a:solidFill>
            </a:rPr>
            <a:t>RMC</a:t>
          </a:r>
          <a:r>
            <a:rPr lang="es-ES_tradnl" sz="2000" dirty="0">
              <a:solidFill>
                <a:srgbClr val="FFFF00"/>
              </a:solidFill>
            </a:rPr>
            <a:t> posee una pequeña fábrica de pinturas para interiores y exteriores de casa para su distribución al mayoreo. Se utilizan dos materiales básicos, A y B. La disponibilidad máxima de A es de 6 toneladas diarias, la de B es de 8 toneladas por día. La necesidad diaria de materia prima por tonelada de pintura para interiores y exteriores se resumen en la siguiente tabla:</a:t>
          </a:r>
          <a:endParaRPr lang="es-ES" sz="2000" dirty="0">
            <a:solidFill>
              <a:srgbClr val="FFFF00"/>
            </a:solidFill>
          </a:endParaRPr>
        </a:p>
      </dgm:t>
    </dgm:pt>
    <dgm:pt modelId="{FEF6EDD5-71E0-489C-8A03-3EECCD14B8C1}" type="parTrans" cxnId="{533507A7-5726-4362-8A30-8D9076C3032C}">
      <dgm:prSet/>
      <dgm:spPr/>
      <dgm:t>
        <a:bodyPr/>
        <a:lstStyle/>
        <a:p>
          <a:endParaRPr lang="es-ES" sz="2000">
            <a:solidFill>
              <a:srgbClr val="FFFF00"/>
            </a:solidFill>
          </a:endParaRPr>
        </a:p>
      </dgm:t>
    </dgm:pt>
    <dgm:pt modelId="{EC94CA27-94D8-4F61-A5D3-468E60105593}" type="sibTrans" cxnId="{533507A7-5726-4362-8A30-8D9076C3032C}">
      <dgm:prSet/>
      <dgm:spPr/>
      <dgm:t>
        <a:bodyPr/>
        <a:lstStyle/>
        <a:p>
          <a:endParaRPr lang="es-ES" sz="2000">
            <a:solidFill>
              <a:srgbClr val="FFFF00"/>
            </a:solidFill>
          </a:endParaRPr>
        </a:p>
      </dgm:t>
    </dgm:pt>
    <dgm:pt modelId="{3601E92C-B908-4729-A085-949D63180DF5}" type="pres">
      <dgm:prSet presAssocID="{964FA9BD-DB88-49AD-9DA2-6F5DCC197A2B}" presName="linear" presStyleCnt="0">
        <dgm:presLayoutVars>
          <dgm:animLvl val="lvl"/>
          <dgm:resizeHandles val="exact"/>
        </dgm:presLayoutVars>
      </dgm:prSet>
      <dgm:spPr/>
    </dgm:pt>
    <dgm:pt modelId="{6D8D9F98-1CEA-45A1-AC0E-D140529E325F}" type="pres">
      <dgm:prSet presAssocID="{621EE5B0-90BC-4A45-A33B-8992D5ED4C70}" presName="parentText" presStyleLbl="node1" presStyleIdx="0" presStyleCnt="1" custScaleY="714300">
        <dgm:presLayoutVars>
          <dgm:chMax val="0"/>
          <dgm:bulletEnabled val="1"/>
        </dgm:presLayoutVars>
      </dgm:prSet>
      <dgm:spPr/>
    </dgm:pt>
  </dgm:ptLst>
  <dgm:cxnLst>
    <dgm:cxn modelId="{8B719E6D-C4F4-4CA5-B8A7-729514075D21}" type="presOf" srcId="{621EE5B0-90BC-4A45-A33B-8992D5ED4C70}" destId="{6D8D9F98-1CEA-45A1-AC0E-D140529E325F}" srcOrd="0" destOrd="0" presId="urn:microsoft.com/office/officeart/2005/8/layout/vList2"/>
    <dgm:cxn modelId="{533507A7-5726-4362-8A30-8D9076C3032C}" srcId="{964FA9BD-DB88-49AD-9DA2-6F5DCC197A2B}" destId="{621EE5B0-90BC-4A45-A33B-8992D5ED4C70}" srcOrd="0" destOrd="0" parTransId="{FEF6EDD5-71E0-489C-8A03-3EECCD14B8C1}" sibTransId="{EC94CA27-94D8-4F61-A5D3-468E60105593}"/>
    <dgm:cxn modelId="{659A9CC9-9776-4011-BD6D-C08A26AD5716}" type="presOf" srcId="{964FA9BD-DB88-49AD-9DA2-6F5DCC197A2B}" destId="{3601E92C-B908-4729-A085-949D63180DF5}" srcOrd="0" destOrd="0" presId="urn:microsoft.com/office/officeart/2005/8/layout/vList2"/>
    <dgm:cxn modelId="{B48C5C36-07AF-46FE-BE2A-771B59382E76}" type="presParOf" srcId="{3601E92C-B908-4729-A085-949D63180DF5}" destId="{6D8D9F98-1CEA-45A1-AC0E-D140529E325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B9B977-E056-4492-B3DE-DB6922A7D16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08651925-9BB3-406C-A94C-034ED06143F9}">
      <dgm:prSet custT="1"/>
      <dgm:spPr/>
      <dgm:t>
        <a:bodyPr/>
        <a:lstStyle/>
        <a:p>
          <a:pPr rtl="0"/>
          <a:r>
            <a:rPr lang="es-ES_tradnl" sz="2400" dirty="0">
              <a:solidFill>
                <a:srgbClr val="FFFF00"/>
              </a:solidFill>
            </a:rPr>
            <a:t>En un almacén de frutas hay 800 kg de naranjas, 800 kg de manzanas y 500 kg de plátanos.  Para su venta se hacen dos lotes (A y B).  El lote tipo A contiene 1 kg de naranja, 2 kg de manzanas y 1 kg de plátanos; el lote tipo B contiene 2 kg de naranja, 1 kg de manzanas y 1 kg de plátanos. El beneficio por el lote tipo A es de S/.1200 y con el lote tipo B de S/.1400. Determinar el número de lotes de cada tipo para conseguir beneficios máximos. Plantear y resolver el problema  como un problema de PL.</a:t>
          </a:r>
          <a:endParaRPr lang="es-ES" sz="2400" dirty="0">
            <a:solidFill>
              <a:srgbClr val="FFFF00"/>
            </a:solidFill>
          </a:endParaRPr>
        </a:p>
      </dgm:t>
    </dgm:pt>
    <dgm:pt modelId="{38F19AC0-3F10-4595-B818-1FEB58A8476F}" type="parTrans" cxnId="{7EA5D818-3545-4F4E-A48C-62F23768399C}">
      <dgm:prSet/>
      <dgm:spPr/>
      <dgm:t>
        <a:bodyPr/>
        <a:lstStyle/>
        <a:p>
          <a:endParaRPr lang="es-ES" sz="2400">
            <a:solidFill>
              <a:srgbClr val="FFFF00"/>
            </a:solidFill>
          </a:endParaRPr>
        </a:p>
      </dgm:t>
    </dgm:pt>
    <dgm:pt modelId="{D082CD31-B394-4C5A-A862-C8A5DCFF639D}" type="sibTrans" cxnId="{7EA5D818-3545-4F4E-A48C-62F23768399C}">
      <dgm:prSet/>
      <dgm:spPr/>
      <dgm:t>
        <a:bodyPr/>
        <a:lstStyle/>
        <a:p>
          <a:endParaRPr lang="es-ES" sz="2400">
            <a:solidFill>
              <a:srgbClr val="FFFF00"/>
            </a:solidFill>
          </a:endParaRPr>
        </a:p>
      </dgm:t>
    </dgm:pt>
    <dgm:pt modelId="{01218295-E74B-4EF9-97E8-29020A39ED31}" type="pres">
      <dgm:prSet presAssocID="{06B9B977-E056-4492-B3DE-DB6922A7D169}" presName="linear" presStyleCnt="0">
        <dgm:presLayoutVars>
          <dgm:animLvl val="lvl"/>
          <dgm:resizeHandles val="exact"/>
        </dgm:presLayoutVars>
      </dgm:prSet>
      <dgm:spPr/>
    </dgm:pt>
    <dgm:pt modelId="{FDCEB2CA-D4FB-4681-8206-4E2833B682E0}" type="pres">
      <dgm:prSet presAssocID="{08651925-9BB3-406C-A94C-034ED06143F9}" presName="parentText" presStyleLbl="node1" presStyleIdx="0" presStyleCnt="1">
        <dgm:presLayoutVars>
          <dgm:chMax val="0"/>
          <dgm:bulletEnabled val="1"/>
        </dgm:presLayoutVars>
      </dgm:prSet>
      <dgm:spPr/>
    </dgm:pt>
  </dgm:ptLst>
  <dgm:cxnLst>
    <dgm:cxn modelId="{7EA5D818-3545-4F4E-A48C-62F23768399C}" srcId="{06B9B977-E056-4492-B3DE-DB6922A7D169}" destId="{08651925-9BB3-406C-A94C-034ED06143F9}" srcOrd="0" destOrd="0" parTransId="{38F19AC0-3F10-4595-B818-1FEB58A8476F}" sibTransId="{D082CD31-B394-4C5A-A862-C8A5DCFF639D}"/>
    <dgm:cxn modelId="{D188412D-9CF9-4995-A946-8CCE358E43A5}" type="presOf" srcId="{08651925-9BB3-406C-A94C-034ED06143F9}" destId="{FDCEB2CA-D4FB-4681-8206-4E2833B682E0}" srcOrd="0" destOrd="0" presId="urn:microsoft.com/office/officeart/2005/8/layout/vList2"/>
    <dgm:cxn modelId="{FAEB9A64-D530-4FAD-80BA-9D13F951F352}" type="presOf" srcId="{06B9B977-E056-4492-B3DE-DB6922A7D169}" destId="{01218295-E74B-4EF9-97E8-29020A39ED31}" srcOrd="0" destOrd="0" presId="urn:microsoft.com/office/officeart/2005/8/layout/vList2"/>
    <dgm:cxn modelId="{30980C13-2BBF-4850-84DC-69E150E1D85D}" type="presParOf" srcId="{01218295-E74B-4EF9-97E8-29020A39ED31}" destId="{FDCEB2CA-D4FB-4681-8206-4E2833B682E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3261E76-6931-44C2-B3A8-C7804BB7452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B2545DC3-D407-4FAF-96B5-1A014A65999A}">
      <dgm:prSet custT="1"/>
      <dgm:spPr>
        <a:solidFill>
          <a:schemeClr val="accent2">
            <a:lumMod val="75000"/>
          </a:schemeClr>
        </a:solidFill>
      </dgm:spPr>
      <dgm:t>
        <a:bodyPr/>
        <a:lstStyle/>
        <a:p>
          <a:pPr rtl="0"/>
          <a:r>
            <a:rPr lang="es-ES_tradnl" sz="2400" dirty="0">
              <a:solidFill>
                <a:srgbClr val="FFFF00"/>
              </a:solidFill>
            </a:rPr>
            <a:t>Una mueblería produce dos tipos de productos, sillas y mesas. Supóngase  que el beneficio marginal por cada silla es de $8 y por cada mesa es de $10. Para la producción se dispone de 60 horas hombre (</a:t>
          </a:r>
          <a:r>
            <a:rPr lang="es-ES_tradnl" sz="2400" dirty="0" err="1">
              <a:solidFill>
                <a:srgbClr val="FFFF00"/>
              </a:solidFill>
            </a:rPr>
            <a:t>hh</a:t>
          </a:r>
          <a:r>
            <a:rPr lang="es-ES_tradnl" sz="2400" dirty="0">
              <a:solidFill>
                <a:srgbClr val="FFFF00"/>
              </a:solidFill>
            </a:rPr>
            <a:t>) y de 20 unidades de madera (</a:t>
          </a:r>
          <a:r>
            <a:rPr lang="es-ES_tradnl" sz="2400" dirty="0" err="1">
              <a:solidFill>
                <a:srgbClr val="FFFF00"/>
              </a:solidFill>
            </a:rPr>
            <a:t>um</a:t>
          </a:r>
          <a:r>
            <a:rPr lang="es-ES_tradnl" sz="2400" dirty="0">
              <a:solidFill>
                <a:srgbClr val="FFFF00"/>
              </a:solidFill>
            </a:rPr>
            <a:t>). </a:t>
          </a:r>
          <a:endParaRPr lang="es-ES" sz="2400" dirty="0">
            <a:solidFill>
              <a:srgbClr val="FFFF00"/>
            </a:solidFill>
          </a:endParaRPr>
        </a:p>
      </dgm:t>
    </dgm:pt>
    <dgm:pt modelId="{BCEA576B-6708-4F80-9C24-1F3587F2BF2F}" type="parTrans" cxnId="{5E67C6A1-BF78-4844-8DA6-975FDE43DF55}">
      <dgm:prSet/>
      <dgm:spPr/>
      <dgm:t>
        <a:bodyPr/>
        <a:lstStyle/>
        <a:p>
          <a:endParaRPr lang="es-ES">
            <a:solidFill>
              <a:srgbClr val="FFFF00"/>
            </a:solidFill>
          </a:endParaRPr>
        </a:p>
      </dgm:t>
    </dgm:pt>
    <dgm:pt modelId="{67E975A7-A2C5-4F68-957F-43D5764A32FC}" type="sibTrans" cxnId="{5E67C6A1-BF78-4844-8DA6-975FDE43DF55}">
      <dgm:prSet/>
      <dgm:spPr/>
      <dgm:t>
        <a:bodyPr/>
        <a:lstStyle/>
        <a:p>
          <a:endParaRPr lang="es-ES">
            <a:solidFill>
              <a:srgbClr val="FFFF00"/>
            </a:solidFill>
          </a:endParaRPr>
        </a:p>
      </dgm:t>
    </dgm:pt>
    <dgm:pt modelId="{51F2CB60-FA83-4ABF-9B3C-82621172D1A3}" type="pres">
      <dgm:prSet presAssocID="{A3261E76-6931-44C2-B3A8-C7804BB74526}" presName="linear" presStyleCnt="0">
        <dgm:presLayoutVars>
          <dgm:animLvl val="lvl"/>
          <dgm:resizeHandles val="exact"/>
        </dgm:presLayoutVars>
      </dgm:prSet>
      <dgm:spPr/>
    </dgm:pt>
    <dgm:pt modelId="{173B09A7-ABC0-4858-B7A6-DA78D0871E1C}" type="pres">
      <dgm:prSet presAssocID="{B2545DC3-D407-4FAF-96B5-1A014A65999A}" presName="parentText" presStyleLbl="node1" presStyleIdx="0" presStyleCnt="1" custScaleY="649906">
        <dgm:presLayoutVars>
          <dgm:chMax val="0"/>
          <dgm:bulletEnabled val="1"/>
        </dgm:presLayoutVars>
      </dgm:prSet>
      <dgm:spPr/>
    </dgm:pt>
  </dgm:ptLst>
  <dgm:cxnLst>
    <dgm:cxn modelId="{92958430-271A-4331-93D0-D6D6CBEADD92}" type="presOf" srcId="{B2545DC3-D407-4FAF-96B5-1A014A65999A}" destId="{173B09A7-ABC0-4858-B7A6-DA78D0871E1C}" srcOrd="0" destOrd="0" presId="urn:microsoft.com/office/officeart/2005/8/layout/vList2"/>
    <dgm:cxn modelId="{BCFB1C6B-AC60-4A02-8025-9F37EE383D06}" type="presOf" srcId="{A3261E76-6931-44C2-B3A8-C7804BB74526}" destId="{51F2CB60-FA83-4ABF-9B3C-82621172D1A3}" srcOrd="0" destOrd="0" presId="urn:microsoft.com/office/officeart/2005/8/layout/vList2"/>
    <dgm:cxn modelId="{5E67C6A1-BF78-4844-8DA6-975FDE43DF55}" srcId="{A3261E76-6931-44C2-B3A8-C7804BB74526}" destId="{B2545DC3-D407-4FAF-96B5-1A014A65999A}" srcOrd="0" destOrd="0" parTransId="{BCEA576B-6708-4F80-9C24-1F3587F2BF2F}" sibTransId="{67E975A7-A2C5-4F68-957F-43D5764A32FC}"/>
    <dgm:cxn modelId="{FF7565AC-8D52-4034-A890-E911449C1C2C}" type="presParOf" srcId="{51F2CB60-FA83-4ABF-9B3C-82621172D1A3}" destId="{173B09A7-ABC0-4858-B7A6-DA78D0871E1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A3AD98A-5552-45E5-B314-05096A1DB22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7BD1CC28-AD3B-4720-8309-B00990203ADC}">
      <dgm:prSet custT="1"/>
      <dgm:spPr>
        <a:solidFill>
          <a:schemeClr val="accent2">
            <a:lumMod val="75000"/>
          </a:schemeClr>
        </a:solidFill>
      </dgm:spPr>
      <dgm:t>
        <a:bodyPr/>
        <a:lstStyle/>
        <a:p>
          <a:pPr rtl="0"/>
          <a:r>
            <a:rPr lang="es-ES_tradnl" sz="2400">
              <a:solidFill>
                <a:srgbClr val="FFFF00"/>
              </a:solidFill>
            </a:rPr>
            <a:t>Para la construcción de una silla se requieren 8 hh y 2 um, y para la construcción de una mesa se requieren 6 hh y 4 um. </a:t>
          </a:r>
          <a:endParaRPr lang="es-ES" sz="2400">
            <a:solidFill>
              <a:srgbClr val="FFFF00"/>
            </a:solidFill>
          </a:endParaRPr>
        </a:p>
      </dgm:t>
    </dgm:pt>
    <dgm:pt modelId="{8DC11B51-7641-4FE8-ADDE-51266F7CD7CE}" type="parTrans" cxnId="{CA7C21FA-2F6A-4FF3-8CBB-3D3F2B8BDA9A}">
      <dgm:prSet/>
      <dgm:spPr/>
      <dgm:t>
        <a:bodyPr/>
        <a:lstStyle/>
        <a:p>
          <a:endParaRPr lang="es-ES">
            <a:solidFill>
              <a:srgbClr val="FFFF00"/>
            </a:solidFill>
          </a:endParaRPr>
        </a:p>
      </dgm:t>
    </dgm:pt>
    <dgm:pt modelId="{80EAE5EC-B458-4B28-94B5-04EB7A901B58}" type="sibTrans" cxnId="{CA7C21FA-2F6A-4FF3-8CBB-3D3F2B8BDA9A}">
      <dgm:prSet/>
      <dgm:spPr/>
      <dgm:t>
        <a:bodyPr/>
        <a:lstStyle/>
        <a:p>
          <a:endParaRPr lang="es-ES">
            <a:solidFill>
              <a:srgbClr val="FFFF00"/>
            </a:solidFill>
          </a:endParaRPr>
        </a:p>
      </dgm:t>
    </dgm:pt>
    <dgm:pt modelId="{C0A99FB2-4706-4CFF-8D69-974165C8BED9}">
      <dgm:prSet custT="1"/>
      <dgm:spPr>
        <a:solidFill>
          <a:srgbClr val="2683C6">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91440" tIns="91440" rIns="91440" bIns="91440" numCol="1" spcCol="1270" anchor="ctr" anchorCtr="0"/>
        <a:lstStyle/>
        <a:p>
          <a:pPr marL="0" lvl="0" indent="0" algn="l" defTabSz="1066800" rtl="0">
            <a:lnSpc>
              <a:spcPct val="90000"/>
            </a:lnSpc>
            <a:spcBef>
              <a:spcPct val="0"/>
            </a:spcBef>
            <a:spcAft>
              <a:spcPct val="35000"/>
            </a:spcAft>
            <a:buNone/>
          </a:pPr>
          <a:r>
            <a:rPr lang="es-ES_tradnl" sz="2400" kern="1200">
              <a:solidFill>
                <a:srgbClr val="FFFF00"/>
              </a:solidFill>
              <a:latin typeface="Calibri" panose="020F0502020204030204"/>
              <a:ea typeface="+mn-ea"/>
              <a:cs typeface="+mn-cs"/>
            </a:rPr>
            <a:t>¿Cuántas sillas y mesas se deben construir para obtener el mayor beneficio?</a:t>
          </a:r>
          <a:endParaRPr lang="es-ES" sz="2400" kern="1200">
            <a:solidFill>
              <a:srgbClr val="FFFF00"/>
            </a:solidFill>
            <a:latin typeface="Calibri" panose="020F0502020204030204"/>
            <a:ea typeface="+mn-ea"/>
            <a:cs typeface="+mn-cs"/>
          </a:endParaRPr>
        </a:p>
      </dgm:t>
    </dgm:pt>
    <dgm:pt modelId="{22F6EA53-DD3C-410A-8E73-6E59E6D63260}" type="parTrans" cxnId="{42345E15-5FDB-4B43-BF12-E1897A3F6B68}">
      <dgm:prSet/>
      <dgm:spPr/>
      <dgm:t>
        <a:bodyPr/>
        <a:lstStyle/>
        <a:p>
          <a:endParaRPr lang="es-ES">
            <a:solidFill>
              <a:srgbClr val="FFFF00"/>
            </a:solidFill>
          </a:endParaRPr>
        </a:p>
      </dgm:t>
    </dgm:pt>
    <dgm:pt modelId="{BA8CE1CD-693B-4A5B-A114-C011F927F774}" type="sibTrans" cxnId="{42345E15-5FDB-4B43-BF12-E1897A3F6B68}">
      <dgm:prSet/>
      <dgm:spPr/>
      <dgm:t>
        <a:bodyPr/>
        <a:lstStyle/>
        <a:p>
          <a:endParaRPr lang="es-ES">
            <a:solidFill>
              <a:srgbClr val="FFFF00"/>
            </a:solidFill>
          </a:endParaRPr>
        </a:p>
      </dgm:t>
    </dgm:pt>
    <dgm:pt modelId="{A945665C-01FD-428B-A717-C9C2C6EBF94C}" type="pres">
      <dgm:prSet presAssocID="{3A3AD98A-5552-45E5-B314-05096A1DB224}" presName="linear" presStyleCnt="0">
        <dgm:presLayoutVars>
          <dgm:animLvl val="lvl"/>
          <dgm:resizeHandles val="exact"/>
        </dgm:presLayoutVars>
      </dgm:prSet>
      <dgm:spPr/>
    </dgm:pt>
    <dgm:pt modelId="{8D1ED56D-93EF-4255-B12B-1419ADB74E15}" type="pres">
      <dgm:prSet presAssocID="{7BD1CC28-AD3B-4720-8309-B00990203ADC}" presName="parentText" presStyleLbl="node1" presStyleIdx="0" presStyleCnt="2" custLinFactNeighborX="-1768">
        <dgm:presLayoutVars>
          <dgm:chMax val="0"/>
          <dgm:bulletEnabled val="1"/>
        </dgm:presLayoutVars>
      </dgm:prSet>
      <dgm:spPr/>
    </dgm:pt>
    <dgm:pt modelId="{35AF01DD-668C-471E-AAF9-91249BE4AB6E}" type="pres">
      <dgm:prSet presAssocID="{80EAE5EC-B458-4B28-94B5-04EB7A901B58}" presName="spacer" presStyleCnt="0"/>
      <dgm:spPr/>
    </dgm:pt>
    <dgm:pt modelId="{AAB333D1-4FB8-44D7-8A27-536BEF638340}" type="pres">
      <dgm:prSet presAssocID="{C0A99FB2-4706-4CFF-8D69-974165C8BED9}" presName="parentText" presStyleLbl="node1" presStyleIdx="1" presStyleCnt="2" custLinFactY="1404" custLinFactNeighborX="0" custLinFactNeighborY="100000">
        <dgm:presLayoutVars>
          <dgm:chMax val="0"/>
          <dgm:bulletEnabled val="1"/>
        </dgm:presLayoutVars>
      </dgm:prSet>
      <dgm:spPr>
        <a:xfrm>
          <a:off x="0" y="1622755"/>
          <a:ext cx="4771017" cy="1606585"/>
        </a:xfrm>
        <a:prstGeom prst="roundRect">
          <a:avLst/>
        </a:prstGeom>
      </dgm:spPr>
    </dgm:pt>
  </dgm:ptLst>
  <dgm:cxnLst>
    <dgm:cxn modelId="{42345E15-5FDB-4B43-BF12-E1897A3F6B68}" srcId="{3A3AD98A-5552-45E5-B314-05096A1DB224}" destId="{C0A99FB2-4706-4CFF-8D69-974165C8BED9}" srcOrd="1" destOrd="0" parTransId="{22F6EA53-DD3C-410A-8E73-6E59E6D63260}" sibTransId="{BA8CE1CD-693B-4A5B-A114-C011F927F774}"/>
    <dgm:cxn modelId="{446DD743-B21A-4DF2-B4DE-6ADE80F9552B}" type="presOf" srcId="{7BD1CC28-AD3B-4720-8309-B00990203ADC}" destId="{8D1ED56D-93EF-4255-B12B-1419ADB74E15}" srcOrd="0" destOrd="0" presId="urn:microsoft.com/office/officeart/2005/8/layout/vList2"/>
    <dgm:cxn modelId="{995B58C6-08DA-47E4-8198-DA508FBE9C09}" type="presOf" srcId="{C0A99FB2-4706-4CFF-8D69-974165C8BED9}" destId="{AAB333D1-4FB8-44D7-8A27-536BEF638340}" srcOrd="0" destOrd="0" presId="urn:microsoft.com/office/officeart/2005/8/layout/vList2"/>
    <dgm:cxn modelId="{CA7C21FA-2F6A-4FF3-8CBB-3D3F2B8BDA9A}" srcId="{3A3AD98A-5552-45E5-B314-05096A1DB224}" destId="{7BD1CC28-AD3B-4720-8309-B00990203ADC}" srcOrd="0" destOrd="0" parTransId="{8DC11B51-7641-4FE8-ADDE-51266F7CD7CE}" sibTransId="{80EAE5EC-B458-4B28-94B5-04EB7A901B58}"/>
    <dgm:cxn modelId="{E88F6BFC-0E1F-49F5-A786-0F010E7D1B56}" type="presOf" srcId="{3A3AD98A-5552-45E5-B314-05096A1DB224}" destId="{A945665C-01FD-428B-A717-C9C2C6EBF94C}" srcOrd="0" destOrd="0" presId="urn:microsoft.com/office/officeart/2005/8/layout/vList2"/>
    <dgm:cxn modelId="{43A2B0E3-1199-4478-B8C4-6E5F8FD97FB7}" type="presParOf" srcId="{A945665C-01FD-428B-A717-C9C2C6EBF94C}" destId="{8D1ED56D-93EF-4255-B12B-1419ADB74E15}" srcOrd="0" destOrd="0" presId="urn:microsoft.com/office/officeart/2005/8/layout/vList2"/>
    <dgm:cxn modelId="{135D567C-4B46-437A-9110-C530F6E95A64}" type="presParOf" srcId="{A945665C-01FD-428B-A717-C9C2C6EBF94C}" destId="{35AF01DD-668C-471E-AAF9-91249BE4AB6E}" srcOrd="1" destOrd="0" presId="urn:microsoft.com/office/officeart/2005/8/layout/vList2"/>
    <dgm:cxn modelId="{982021EC-54A6-4AE9-B68E-EC494E5C4C6A}" type="presParOf" srcId="{A945665C-01FD-428B-A717-C9C2C6EBF94C}" destId="{AAB333D1-4FB8-44D7-8A27-536BEF638340}"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22C7E94-708F-474A-A44C-57D34C81728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C432DDF2-05CC-43F1-8C42-FBC7E8955FA8}">
      <dgm:prSet custT="1"/>
      <dgm:spPr/>
      <dgm:t>
        <a:bodyPr/>
        <a:lstStyle/>
        <a:p>
          <a:pPr algn="just" rtl="0"/>
          <a:r>
            <a:rPr lang="es-ES_tradnl" sz="2400" dirty="0">
              <a:solidFill>
                <a:srgbClr val="FFFF00"/>
              </a:solidFill>
            </a:rPr>
            <a:t>Dos productos se elaboran al pasar en forma sucesiva por tres máquinas. El tiempo por máquina asignado a los dos productos está limitado a 10 horas  por día. El tiempo de producción y la ganancia por unidad de cada producto son:</a:t>
          </a:r>
          <a:endParaRPr lang="es-ES" sz="2400" dirty="0">
            <a:solidFill>
              <a:srgbClr val="FFFF00"/>
            </a:solidFill>
          </a:endParaRPr>
        </a:p>
      </dgm:t>
    </dgm:pt>
    <dgm:pt modelId="{151F780C-0EB8-41D6-B606-A1FC669F2517}" type="parTrans" cxnId="{27705C5D-0938-4ADC-93CC-B6229B0247C1}">
      <dgm:prSet/>
      <dgm:spPr/>
      <dgm:t>
        <a:bodyPr/>
        <a:lstStyle/>
        <a:p>
          <a:endParaRPr lang="es-ES" sz="2400"/>
        </a:p>
      </dgm:t>
    </dgm:pt>
    <dgm:pt modelId="{5B24B607-DFB2-4B8B-84FE-087F4EC568FB}" type="sibTrans" cxnId="{27705C5D-0938-4ADC-93CC-B6229B0247C1}">
      <dgm:prSet/>
      <dgm:spPr/>
      <dgm:t>
        <a:bodyPr/>
        <a:lstStyle/>
        <a:p>
          <a:endParaRPr lang="es-ES" sz="2400"/>
        </a:p>
      </dgm:t>
    </dgm:pt>
    <dgm:pt modelId="{8D51E65A-CE26-47AF-8B17-2187F77AC504}" type="pres">
      <dgm:prSet presAssocID="{E22C7E94-708F-474A-A44C-57D34C817283}" presName="linear" presStyleCnt="0">
        <dgm:presLayoutVars>
          <dgm:animLvl val="lvl"/>
          <dgm:resizeHandles val="exact"/>
        </dgm:presLayoutVars>
      </dgm:prSet>
      <dgm:spPr/>
    </dgm:pt>
    <dgm:pt modelId="{3CFDDA29-5674-4789-AAE4-5362B9CA996E}" type="pres">
      <dgm:prSet presAssocID="{C432DDF2-05CC-43F1-8C42-FBC7E8955FA8}" presName="parentText" presStyleLbl="node1" presStyleIdx="0" presStyleCnt="1" custScaleY="654540" custLinFactNeighborX="-102" custLinFactNeighborY="2747">
        <dgm:presLayoutVars>
          <dgm:chMax val="0"/>
          <dgm:bulletEnabled val="1"/>
        </dgm:presLayoutVars>
      </dgm:prSet>
      <dgm:spPr/>
    </dgm:pt>
  </dgm:ptLst>
  <dgm:cxnLst>
    <dgm:cxn modelId="{0DE35B40-72D6-4968-A393-A8FB62A8C1A6}" type="presOf" srcId="{E22C7E94-708F-474A-A44C-57D34C817283}" destId="{8D51E65A-CE26-47AF-8B17-2187F77AC504}" srcOrd="0" destOrd="0" presId="urn:microsoft.com/office/officeart/2005/8/layout/vList2"/>
    <dgm:cxn modelId="{27705C5D-0938-4ADC-93CC-B6229B0247C1}" srcId="{E22C7E94-708F-474A-A44C-57D34C817283}" destId="{C432DDF2-05CC-43F1-8C42-FBC7E8955FA8}" srcOrd="0" destOrd="0" parTransId="{151F780C-0EB8-41D6-B606-A1FC669F2517}" sibTransId="{5B24B607-DFB2-4B8B-84FE-087F4EC568FB}"/>
    <dgm:cxn modelId="{A553626C-9777-40CB-A311-49BACAF2C4AE}" type="presOf" srcId="{C432DDF2-05CC-43F1-8C42-FBC7E8955FA8}" destId="{3CFDDA29-5674-4789-AAE4-5362B9CA996E}" srcOrd="0" destOrd="0" presId="urn:microsoft.com/office/officeart/2005/8/layout/vList2"/>
    <dgm:cxn modelId="{4D0EC58B-912D-40B7-98D4-76440826F05A}" type="presParOf" srcId="{8D51E65A-CE26-47AF-8B17-2187F77AC504}" destId="{3CFDDA29-5674-4789-AAE4-5362B9CA996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DDDFD5F-D7B3-4B5C-A872-7D499442EE5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81FF9720-CE9F-4013-AE63-ABA2087470D0}">
      <dgm:prSet custT="1"/>
      <dgm:spPr/>
      <dgm:t>
        <a:bodyPr/>
        <a:lstStyle/>
        <a:p>
          <a:pPr rtl="0"/>
          <a:r>
            <a:rPr lang="es-ES_tradnl" sz="2400" dirty="0">
              <a:solidFill>
                <a:srgbClr val="FFFF00"/>
              </a:solidFill>
            </a:rPr>
            <a:t>Obtenga el modelo de programa lineal para maximizar la ganancia</a:t>
          </a:r>
          <a:endParaRPr lang="es-ES" sz="2400" dirty="0">
            <a:solidFill>
              <a:srgbClr val="FFFF00"/>
            </a:solidFill>
          </a:endParaRPr>
        </a:p>
      </dgm:t>
    </dgm:pt>
    <dgm:pt modelId="{F61B5CEA-BC69-4239-913F-737A13327337}" type="parTrans" cxnId="{E277E1A3-3E2D-42B7-8536-72A1A3C701D5}">
      <dgm:prSet/>
      <dgm:spPr/>
      <dgm:t>
        <a:bodyPr/>
        <a:lstStyle/>
        <a:p>
          <a:endParaRPr lang="es-ES">
            <a:solidFill>
              <a:srgbClr val="FFFF00"/>
            </a:solidFill>
          </a:endParaRPr>
        </a:p>
      </dgm:t>
    </dgm:pt>
    <dgm:pt modelId="{581B4162-1EF6-4236-B523-864D9124809F}" type="sibTrans" cxnId="{E277E1A3-3E2D-42B7-8536-72A1A3C701D5}">
      <dgm:prSet/>
      <dgm:spPr/>
      <dgm:t>
        <a:bodyPr/>
        <a:lstStyle/>
        <a:p>
          <a:endParaRPr lang="es-ES">
            <a:solidFill>
              <a:srgbClr val="FFFF00"/>
            </a:solidFill>
          </a:endParaRPr>
        </a:p>
      </dgm:t>
    </dgm:pt>
    <dgm:pt modelId="{F1906A33-2999-4EBD-8ADF-1711231E1750}" type="pres">
      <dgm:prSet presAssocID="{1DDDFD5F-D7B3-4B5C-A872-7D499442EE5E}" presName="linear" presStyleCnt="0">
        <dgm:presLayoutVars>
          <dgm:animLvl val="lvl"/>
          <dgm:resizeHandles val="exact"/>
        </dgm:presLayoutVars>
      </dgm:prSet>
      <dgm:spPr/>
    </dgm:pt>
    <dgm:pt modelId="{577F3A3C-D2F2-4B92-9403-DF590F56A1F9}" type="pres">
      <dgm:prSet presAssocID="{81FF9720-CE9F-4013-AE63-ABA2087470D0}" presName="parentText" presStyleLbl="node1" presStyleIdx="0" presStyleCnt="1">
        <dgm:presLayoutVars>
          <dgm:chMax val="0"/>
          <dgm:bulletEnabled val="1"/>
        </dgm:presLayoutVars>
      </dgm:prSet>
      <dgm:spPr/>
    </dgm:pt>
  </dgm:ptLst>
  <dgm:cxnLst>
    <dgm:cxn modelId="{72A31F24-9C0D-46E4-BBFE-3B57A06E0110}" type="presOf" srcId="{81FF9720-CE9F-4013-AE63-ABA2087470D0}" destId="{577F3A3C-D2F2-4B92-9403-DF590F56A1F9}" srcOrd="0" destOrd="0" presId="urn:microsoft.com/office/officeart/2005/8/layout/vList2"/>
    <dgm:cxn modelId="{E277E1A3-3E2D-42B7-8536-72A1A3C701D5}" srcId="{1DDDFD5F-D7B3-4B5C-A872-7D499442EE5E}" destId="{81FF9720-CE9F-4013-AE63-ABA2087470D0}" srcOrd="0" destOrd="0" parTransId="{F61B5CEA-BC69-4239-913F-737A13327337}" sibTransId="{581B4162-1EF6-4236-B523-864D9124809F}"/>
    <dgm:cxn modelId="{369CEBCC-180D-48A3-8810-3C811DD0D46E}" type="presOf" srcId="{1DDDFD5F-D7B3-4B5C-A872-7D499442EE5E}" destId="{F1906A33-2999-4EBD-8ADF-1711231E1750}" srcOrd="0" destOrd="0" presId="urn:microsoft.com/office/officeart/2005/8/layout/vList2"/>
    <dgm:cxn modelId="{55BB47E1-AEDD-435F-BB45-FFB9CC24939B}" type="presParOf" srcId="{F1906A33-2999-4EBD-8ADF-1711231E1750}" destId="{577F3A3C-D2F2-4B92-9403-DF590F56A1F9}"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EFE2B37-4B33-4802-A03D-773B93DF96AF}"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s-PE"/>
        </a:p>
      </dgm:t>
    </dgm:pt>
    <dgm:pt modelId="{4EAFDEE0-57B6-4F9A-BA26-D4E420ECB5A2}">
      <dgm:prSet custT="1"/>
      <dgm:spPr/>
      <dgm:t>
        <a:bodyPr/>
        <a:lstStyle/>
        <a:p>
          <a:pPr rtl="0"/>
          <a:r>
            <a:rPr lang="es-ES_tradnl" sz="2000" b="1" dirty="0"/>
            <a:t>Hemos tomado una </a:t>
          </a:r>
          <a:r>
            <a:rPr lang="es-ES_tradnl" sz="2000" b="1" i="1" dirty="0">
              <a:solidFill>
                <a:srgbClr val="FFFF00"/>
              </a:solidFill>
            </a:rPr>
            <a:t>situación real problema</a:t>
          </a:r>
          <a:r>
            <a:rPr lang="es-ES_tradnl" sz="2000" b="1" dirty="0"/>
            <a:t> de decisión</a:t>
          </a:r>
          <a:endParaRPr lang="es-PE" sz="2000" b="1" dirty="0"/>
        </a:p>
      </dgm:t>
    </dgm:pt>
    <dgm:pt modelId="{5FE51FA1-E7F5-4C82-9146-C71B1FB68C31}" type="parTrans" cxnId="{D602F609-25DE-49DF-B42B-F8F1684CD270}">
      <dgm:prSet/>
      <dgm:spPr/>
      <dgm:t>
        <a:bodyPr/>
        <a:lstStyle/>
        <a:p>
          <a:endParaRPr lang="es-PE" sz="2000" b="1"/>
        </a:p>
      </dgm:t>
    </dgm:pt>
    <dgm:pt modelId="{01F4D087-AF1B-4483-BAF2-3659FB3EC37E}" type="sibTrans" cxnId="{D602F609-25DE-49DF-B42B-F8F1684CD270}">
      <dgm:prSet/>
      <dgm:spPr/>
      <dgm:t>
        <a:bodyPr/>
        <a:lstStyle/>
        <a:p>
          <a:endParaRPr lang="es-PE" sz="2000" b="1"/>
        </a:p>
      </dgm:t>
    </dgm:pt>
    <dgm:pt modelId="{A325FC28-C3B1-4931-9700-AD9398DAD350}">
      <dgm:prSet custT="1"/>
      <dgm:spPr/>
      <dgm:t>
        <a:bodyPr/>
        <a:lstStyle/>
        <a:p>
          <a:pPr rtl="0"/>
          <a:r>
            <a:rPr lang="es-ES_tradnl" sz="2000" b="1" dirty="0"/>
            <a:t>Hemos construido su </a:t>
          </a:r>
        </a:p>
        <a:p>
          <a:pPr rtl="0"/>
          <a:r>
            <a:rPr lang="es-ES_tradnl" sz="2000" b="1" i="1" dirty="0">
              <a:solidFill>
                <a:srgbClr val="FFFF00"/>
              </a:solidFill>
            </a:rPr>
            <a:t>modelo matemático</a:t>
          </a:r>
          <a:r>
            <a:rPr lang="es-ES_tradnl" sz="2000" b="1" dirty="0"/>
            <a:t>. </a:t>
          </a:r>
          <a:endParaRPr lang="es-PE" sz="2000" b="1" dirty="0"/>
        </a:p>
      </dgm:t>
    </dgm:pt>
    <dgm:pt modelId="{226A0145-0748-45F8-9276-1FF204D61283}" type="parTrans" cxnId="{13F75CAD-6C41-4F7E-A5BC-9EBC015BECB0}">
      <dgm:prSet/>
      <dgm:spPr/>
      <dgm:t>
        <a:bodyPr/>
        <a:lstStyle/>
        <a:p>
          <a:endParaRPr lang="es-PE" sz="2000" b="1"/>
        </a:p>
      </dgm:t>
    </dgm:pt>
    <dgm:pt modelId="{BCCD8D1D-0B8D-450F-AB52-C025064BFC7A}" type="sibTrans" cxnId="{13F75CAD-6C41-4F7E-A5BC-9EBC015BECB0}">
      <dgm:prSet/>
      <dgm:spPr/>
      <dgm:t>
        <a:bodyPr/>
        <a:lstStyle/>
        <a:p>
          <a:endParaRPr lang="es-PE" sz="2000" b="1"/>
        </a:p>
      </dgm:t>
    </dgm:pt>
    <dgm:pt modelId="{1DCA3D90-892C-4893-B34F-54594FA7FC5A}">
      <dgm:prSet custT="1"/>
      <dgm:spPr/>
      <dgm:t>
        <a:bodyPr/>
        <a:lstStyle/>
        <a:p>
          <a:pPr rtl="0"/>
          <a:r>
            <a:rPr lang="es-ES_tradnl" sz="2000" b="1" dirty="0"/>
            <a:t>El método cuantitativo  permite </a:t>
          </a:r>
          <a:r>
            <a:rPr lang="es-ES_tradnl" sz="2000" b="1" i="1" dirty="0">
              <a:solidFill>
                <a:srgbClr val="FFFF00"/>
              </a:solidFill>
            </a:rPr>
            <a:t>resolver el modelo</a:t>
          </a:r>
          <a:r>
            <a:rPr lang="es-ES_tradnl" sz="2000" b="1" dirty="0"/>
            <a:t>.  </a:t>
          </a:r>
          <a:endParaRPr lang="es-PE" sz="2000" b="1" dirty="0"/>
        </a:p>
      </dgm:t>
    </dgm:pt>
    <dgm:pt modelId="{BD923734-BE3B-4F45-9FBC-D6516C2D7C30}" type="parTrans" cxnId="{ED8527CD-7E4E-4EEA-93FF-2CB1ED6D815D}">
      <dgm:prSet/>
      <dgm:spPr/>
      <dgm:t>
        <a:bodyPr/>
        <a:lstStyle/>
        <a:p>
          <a:endParaRPr lang="es-PE" sz="2000" b="1"/>
        </a:p>
      </dgm:t>
    </dgm:pt>
    <dgm:pt modelId="{E3384EA0-9625-4B74-8ACA-BE2BF9B07A74}" type="sibTrans" cxnId="{ED8527CD-7E4E-4EEA-93FF-2CB1ED6D815D}">
      <dgm:prSet/>
      <dgm:spPr/>
      <dgm:t>
        <a:bodyPr/>
        <a:lstStyle/>
        <a:p>
          <a:endParaRPr lang="es-PE" sz="2000" b="1"/>
        </a:p>
      </dgm:t>
    </dgm:pt>
    <dgm:pt modelId="{1A937E14-2591-484F-9F2E-9BFE16701485}">
      <dgm:prSet custT="1"/>
      <dgm:spPr/>
      <dgm:t>
        <a:bodyPr/>
        <a:lstStyle/>
        <a:p>
          <a:pPr rtl="0"/>
          <a:r>
            <a:rPr lang="es-ES_tradnl" sz="2000" b="1" dirty="0"/>
            <a:t>El algoritmo son instrucciones que  producen una </a:t>
          </a:r>
          <a:r>
            <a:rPr lang="es-ES_tradnl" sz="2000" b="1" i="1" dirty="0">
              <a:solidFill>
                <a:srgbClr val="FFFF00"/>
              </a:solidFill>
            </a:rPr>
            <a:t>solución numérica</a:t>
          </a:r>
          <a:r>
            <a:rPr lang="es-ES_tradnl" sz="2000" b="1" dirty="0"/>
            <a:t>.</a:t>
          </a:r>
          <a:endParaRPr lang="es-PE" sz="2000" b="1" dirty="0"/>
        </a:p>
      </dgm:t>
    </dgm:pt>
    <dgm:pt modelId="{D05CCF68-A13A-42FC-8932-FDB564927DD4}" type="parTrans" cxnId="{3AFA302A-339E-493B-8F8A-F12773454CDA}">
      <dgm:prSet/>
      <dgm:spPr/>
      <dgm:t>
        <a:bodyPr/>
        <a:lstStyle/>
        <a:p>
          <a:endParaRPr lang="es-PE" sz="2000" b="1"/>
        </a:p>
      </dgm:t>
    </dgm:pt>
    <dgm:pt modelId="{6DF99FA3-719F-470E-A201-4CB1BBEF0627}" type="sibTrans" cxnId="{3AFA302A-339E-493B-8F8A-F12773454CDA}">
      <dgm:prSet/>
      <dgm:spPr/>
      <dgm:t>
        <a:bodyPr/>
        <a:lstStyle/>
        <a:p>
          <a:endParaRPr lang="es-PE" sz="2000" b="1"/>
        </a:p>
      </dgm:t>
    </dgm:pt>
    <dgm:pt modelId="{D7D19765-8165-4CD6-A9BC-0EDFB7A2A471}" type="pres">
      <dgm:prSet presAssocID="{6EFE2B37-4B33-4802-A03D-773B93DF96AF}" presName="CompostProcess" presStyleCnt="0">
        <dgm:presLayoutVars>
          <dgm:dir/>
          <dgm:resizeHandles val="exact"/>
        </dgm:presLayoutVars>
      </dgm:prSet>
      <dgm:spPr/>
    </dgm:pt>
    <dgm:pt modelId="{4802B983-8E03-4666-8646-D3A0D70D9484}" type="pres">
      <dgm:prSet presAssocID="{6EFE2B37-4B33-4802-A03D-773B93DF96AF}" presName="arrow" presStyleLbl="bgShp" presStyleIdx="0" presStyleCnt="1"/>
      <dgm:spPr/>
    </dgm:pt>
    <dgm:pt modelId="{14226367-08E3-4E51-BBC7-66F08AA504FF}" type="pres">
      <dgm:prSet presAssocID="{6EFE2B37-4B33-4802-A03D-773B93DF96AF}" presName="linearProcess" presStyleCnt="0"/>
      <dgm:spPr/>
    </dgm:pt>
    <dgm:pt modelId="{CB1BE362-F437-4553-A58E-E0DCEEF82778}" type="pres">
      <dgm:prSet presAssocID="{4EAFDEE0-57B6-4F9A-BA26-D4E420ECB5A2}" presName="textNode" presStyleLbl="node1" presStyleIdx="0" presStyleCnt="4">
        <dgm:presLayoutVars>
          <dgm:bulletEnabled val="1"/>
        </dgm:presLayoutVars>
      </dgm:prSet>
      <dgm:spPr/>
    </dgm:pt>
    <dgm:pt modelId="{3DD6BB9B-74AE-40F9-868C-8A06D2E5BD1D}" type="pres">
      <dgm:prSet presAssocID="{01F4D087-AF1B-4483-BAF2-3659FB3EC37E}" presName="sibTrans" presStyleCnt="0"/>
      <dgm:spPr/>
    </dgm:pt>
    <dgm:pt modelId="{F8128116-B12D-4CD1-9D6B-895D1C4764FF}" type="pres">
      <dgm:prSet presAssocID="{A325FC28-C3B1-4931-9700-AD9398DAD350}" presName="textNode" presStyleLbl="node1" presStyleIdx="1" presStyleCnt="4">
        <dgm:presLayoutVars>
          <dgm:bulletEnabled val="1"/>
        </dgm:presLayoutVars>
      </dgm:prSet>
      <dgm:spPr/>
    </dgm:pt>
    <dgm:pt modelId="{9B6F704C-2304-44C5-947D-B492A0086DDD}" type="pres">
      <dgm:prSet presAssocID="{BCCD8D1D-0B8D-450F-AB52-C025064BFC7A}" presName="sibTrans" presStyleCnt="0"/>
      <dgm:spPr/>
    </dgm:pt>
    <dgm:pt modelId="{2AFC225A-3DFE-4DCF-9B5E-44AB622584F2}" type="pres">
      <dgm:prSet presAssocID="{1DCA3D90-892C-4893-B34F-54594FA7FC5A}" presName="textNode" presStyleLbl="node1" presStyleIdx="2" presStyleCnt="4" custScaleX="108852">
        <dgm:presLayoutVars>
          <dgm:bulletEnabled val="1"/>
        </dgm:presLayoutVars>
      </dgm:prSet>
      <dgm:spPr/>
    </dgm:pt>
    <dgm:pt modelId="{C676E9BE-F940-4326-9373-403BA7589AF8}" type="pres">
      <dgm:prSet presAssocID="{E3384EA0-9625-4B74-8ACA-BE2BF9B07A74}" presName="sibTrans" presStyleCnt="0"/>
      <dgm:spPr/>
    </dgm:pt>
    <dgm:pt modelId="{FAFA2B86-4C9A-4CA7-B778-2789CD30C415}" type="pres">
      <dgm:prSet presAssocID="{1A937E14-2591-484F-9F2E-9BFE16701485}" presName="textNode" presStyleLbl="node1" presStyleIdx="3" presStyleCnt="4" custScaleX="116726" custLinFactNeighborX="-33543" custLinFactNeighborY="-1415">
        <dgm:presLayoutVars>
          <dgm:bulletEnabled val="1"/>
        </dgm:presLayoutVars>
      </dgm:prSet>
      <dgm:spPr/>
    </dgm:pt>
  </dgm:ptLst>
  <dgm:cxnLst>
    <dgm:cxn modelId="{D602F609-25DE-49DF-B42B-F8F1684CD270}" srcId="{6EFE2B37-4B33-4802-A03D-773B93DF96AF}" destId="{4EAFDEE0-57B6-4F9A-BA26-D4E420ECB5A2}" srcOrd="0" destOrd="0" parTransId="{5FE51FA1-E7F5-4C82-9146-C71B1FB68C31}" sibTransId="{01F4D087-AF1B-4483-BAF2-3659FB3EC37E}"/>
    <dgm:cxn modelId="{3AFA302A-339E-493B-8F8A-F12773454CDA}" srcId="{6EFE2B37-4B33-4802-A03D-773B93DF96AF}" destId="{1A937E14-2591-484F-9F2E-9BFE16701485}" srcOrd="3" destOrd="0" parTransId="{D05CCF68-A13A-42FC-8932-FDB564927DD4}" sibTransId="{6DF99FA3-719F-470E-A201-4CB1BBEF0627}"/>
    <dgm:cxn modelId="{E1C4082F-E1D8-4B04-942A-B3203D6294E9}" type="presOf" srcId="{4EAFDEE0-57B6-4F9A-BA26-D4E420ECB5A2}" destId="{CB1BE362-F437-4553-A58E-E0DCEEF82778}" srcOrd="0" destOrd="0" presId="urn:microsoft.com/office/officeart/2005/8/layout/hProcess9"/>
    <dgm:cxn modelId="{8422C592-8879-41CD-96AE-0204E714AFAF}" type="presOf" srcId="{A325FC28-C3B1-4931-9700-AD9398DAD350}" destId="{F8128116-B12D-4CD1-9D6B-895D1C4764FF}" srcOrd="0" destOrd="0" presId="urn:microsoft.com/office/officeart/2005/8/layout/hProcess9"/>
    <dgm:cxn modelId="{13F75CAD-6C41-4F7E-A5BC-9EBC015BECB0}" srcId="{6EFE2B37-4B33-4802-A03D-773B93DF96AF}" destId="{A325FC28-C3B1-4931-9700-AD9398DAD350}" srcOrd="1" destOrd="0" parTransId="{226A0145-0748-45F8-9276-1FF204D61283}" sibTransId="{BCCD8D1D-0B8D-450F-AB52-C025064BFC7A}"/>
    <dgm:cxn modelId="{C1CD27BC-A6DA-4BF1-A58E-34960A70410E}" type="presOf" srcId="{1A937E14-2591-484F-9F2E-9BFE16701485}" destId="{FAFA2B86-4C9A-4CA7-B778-2789CD30C415}" srcOrd="0" destOrd="0" presId="urn:microsoft.com/office/officeart/2005/8/layout/hProcess9"/>
    <dgm:cxn modelId="{DE3DA2CB-C360-4B12-9593-F70003C4A840}" type="presOf" srcId="{1DCA3D90-892C-4893-B34F-54594FA7FC5A}" destId="{2AFC225A-3DFE-4DCF-9B5E-44AB622584F2}" srcOrd="0" destOrd="0" presId="urn:microsoft.com/office/officeart/2005/8/layout/hProcess9"/>
    <dgm:cxn modelId="{ED8527CD-7E4E-4EEA-93FF-2CB1ED6D815D}" srcId="{6EFE2B37-4B33-4802-A03D-773B93DF96AF}" destId="{1DCA3D90-892C-4893-B34F-54594FA7FC5A}" srcOrd="2" destOrd="0" parTransId="{BD923734-BE3B-4F45-9FBC-D6516C2D7C30}" sibTransId="{E3384EA0-9625-4B74-8ACA-BE2BF9B07A74}"/>
    <dgm:cxn modelId="{34B0E9E8-0B19-4AD6-8B65-80BF529B4AC5}" type="presOf" srcId="{6EFE2B37-4B33-4802-A03D-773B93DF96AF}" destId="{D7D19765-8165-4CD6-A9BC-0EDFB7A2A471}" srcOrd="0" destOrd="0" presId="urn:microsoft.com/office/officeart/2005/8/layout/hProcess9"/>
    <dgm:cxn modelId="{C66DC482-7987-454E-AFA3-B27CB944061E}" type="presParOf" srcId="{D7D19765-8165-4CD6-A9BC-0EDFB7A2A471}" destId="{4802B983-8E03-4666-8646-D3A0D70D9484}" srcOrd="0" destOrd="0" presId="urn:microsoft.com/office/officeart/2005/8/layout/hProcess9"/>
    <dgm:cxn modelId="{69F0824E-2600-40F8-899C-922C70489645}" type="presParOf" srcId="{D7D19765-8165-4CD6-A9BC-0EDFB7A2A471}" destId="{14226367-08E3-4E51-BBC7-66F08AA504FF}" srcOrd="1" destOrd="0" presId="urn:microsoft.com/office/officeart/2005/8/layout/hProcess9"/>
    <dgm:cxn modelId="{62DB3936-58A6-4391-9BE6-2EC2D443CE9A}" type="presParOf" srcId="{14226367-08E3-4E51-BBC7-66F08AA504FF}" destId="{CB1BE362-F437-4553-A58E-E0DCEEF82778}" srcOrd="0" destOrd="0" presId="urn:microsoft.com/office/officeart/2005/8/layout/hProcess9"/>
    <dgm:cxn modelId="{A351BFDF-470F-418C-997E-29A577A2175B}" type="presParOf" srcId="{14226367-08E3-4E51-BBC7-66F08AA504FF}" destId="{3DD6BB9B-74AE-40F9-868C-8A06D2E5BD1D}" srcOrd="1" destOrd="0" presId="urn:microsoft.com/office/officeart/2005/8/layout/hProcess9"/>
    <dgm:cxn modelId="{A4F6D260-C8EA-482E-8B21-F92DB2415F6B}" type="presParOf" srcId="{14226367-08E3-4E51-BBC7-66F08AA504FF}" destId="{F8128116-B12D-4CD1-9D6B-895D1C4764FF}" srcOrd="2" destOrd="0" presId="urn:microsoft.com/office/officeart/2005/8/layout/hProcess9"/>
    <dgm:cxn modelId="{C0541F12-6B6F-4978-854A-F5AB7C098049}" type="presParOf" srcId="{14226367-08E3-4E51-BBC7-66F08AA504FF}" destId="{9B6F704C-2304-44C5-947D-B492A0086DDD}" srcOrd="3" destOrd="0" presId="urn:microsoft.com/office/officeart/2005/8/layout/hProcess9"/>
    <dgm:cxn modelId="{BF95016F-E883-4F0D-8C4F-6316DA032175}" type="presParOf" srcId="{14226367-08E3-4E51-BBC7-66F08AA504FF}" destId="{2AFC225A-3DFE-4DCF-9B5E-44AB622584F2}" srcOrd="4" destOrd="0" presId="urn:microsoft.com/office/officeart/2005/8/layout/hProcess9"/>
    <dgm:cxn modelId="{04EDB17A-1B13-4DBB-87B0-20AE682FBF57}" type="presParOf" srcId="{14226367-08E3-4E51-BBC7-66F08AA504FF}" destId="{C676E9BE-F940-4326-9373-403BA7589AF8}" srcOrd="5" destOrd="0" presId="urn:microsoft.com/office/officeart/2005/8/layout/hProcess9"/>
    <dgm:cxn modelId="{DC79C37D-708B-44B4-87EA-6492317571F6}" type="presParOf" srcId="{14226367-08E3-4E51-BBC7-66F08AA504FF}" destId="{FAFA2B86-4C9A-4CA7-B778-2789CD30C415}"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0A78A91-1513-4582-BD2C-BAB98146A2A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F18A70F1-DC2A-49E3-B348-FE779367F497}">
      <dgm:prSet custT="1"/>
      <dgm:spPr/>
      <dgm:t>
        <a:bodyPr/>
        <a:lstStyle/>
        <a:p>
          <a:pPr algn="ctr" rtl="0"/>
          <a:r>
            <a:rPr lang="es-ES_tradnl" sz="2000" b="1" dirty="0">
              <a:solidFill>
                <a:schemeClr val="bg1"/>
              </a:solidFill>
            </a:rPr>
            <a:t>Elección del modelo matemático adecuado así como el algoritmo adecuado.</a:t>
          </a:r>
          <a:endParaRPr lang="es-PE" sz="2000" b="1" dirty="0">
            <a:solidFill>
              <a:schemeClr val="bg1"/>
            </a:solidFill>
          </a:endParaRPr>
        </a:p>
      </dgm:t>
    </dgm:pt>
    <dgm:pt modelId="{17DFCE8C-8555-4025-B8C7-1537CCF1BA55}" type="parTrans" cxnId="{67A8A0C3-400A-4D14-A3AE-A86C401BB779}">
      <dgm:prSet/>
      <dgm:spPr/>
      <dgm:t>
        <a:bodyPr/>
        <a:lstStyle/>
        <a:p>
          <a:pPr algn="ctr"/>
          <a:endParaRPr lang="es-PE" sz="2000" b="1">
            <a:solidFill>
              <a:schemeClr val="bg1"/>
            </a:solidFill>
          </a:endParaRPr>
        </a:p>
      </dgm:t>
    </dgm:pt>
    <dgm:pt modelId="{73653272-14F7-40FF-B1D0-FBCDB9761027}" type="sibTrans" cxnId="{67A8A0C3-400A-4D14-A3AE-A86C401BB779}">
      <dgm:prSet/>
      <dgm:spPr/>
      <dgm:t>
        <a:bodyPr/>
        <a:lstStyle/>
        <a:p>
          <a:pPr algn="ctr"/>
          <a:endParaRPr lang="es-PE" sz="2000" b="1">
            <a:solidFill>
              <a:schemeClr val="bg1"/>
            </a:solidFill>
          </a:endParaRPr>
        </a:p>
      </dgm:t>
    </dgm:pt>
    <dgm:pt modelId="{D53ADE84-015B-4023-8FB4-CFBD7DB9C059}">
      <dgm:prSet custT="1"/>
      <dgm:spPr/>
      <dgm:t>
        <a:bodyPr/>
        <a:lstStyle/>
        <a:p>
          <a:pPr algn="ctr" rtl="0"/>
          <a:r>
            <a:rPr lang="es-ES_tradnl" sz="2000" b="1">
              <a:solidFill>
                <a:schemeClr val="bg1"/>
              </a:solidFill>
            </a:rPr>
            <a:t>Dificultades en la implementación</a:t>
          </a:r>
          <a:endParaRPr lang="es-PE" sz="2000" b="1">
            <a:solidFill>
              <a:schemeClr val="bg1"/>
            </a:solidFill>
          </a:endParaRPr>
        </a:p>
      </dgm:t>
    </dgm:pt>
    <dgm:pt modelId="{E41482C6-CCF4-49CD-B594-1EC7DB298E1B}" type="parTrans" cxnId="{F35A8E1C-171A-4664-B7BA-0E80EA267A5E}">
      <dgm:prSet/>
      <dgm:spPr/>
      <dgm:t>
        <a:bodyPr/>
        <a:lstStyle/>
        <a:p>
          <a:pPr algn="ctr"/>
          <a:endParaRPr lang="es-PE" sz="2000" b="1">
            <a:solidFill>
              <a:schemeClr val="bg1"/>
            </a:solidFill>
          </a:endParaRPr>
        </a:p>
      </dgm:t>
    </dgm:pt>
    <dgm:pt modelId="{CCFC98CD-305B-41BD-BF4F-A45536E2485D}" type="sibTrans" cxnId="{F35A8E1C-171A-4664-B7BA-0E80EA267A5E}">
      <dgm:prSet/>
      <dgm:spPr/>
      <dgm:t>
        <a:bodyPr/>
        <a:lstStyle/>
        <a:p>
          <a:pPr algn="ctr"/>
          <a:endParaRPr lang="es-PE" sz="2000" b="1">
            <a:solidFill>
              <a:schemeClr val="bg1"/>
            </a:solidFill>
          </a:endParaRPr>
        </a:p>
      </dgm:t>
    </dgm:pt>
    <dgm:pt modelId="{9FE2C3D7-0B87-4C26-A834-AC824F7A7BC6}">
      <dgm:prSet custT="1"/>
      <dgm:spPr/>
      <dgm:t>
        <a:bodyPr/>
        <a:lstStyle/>
        <a:p>
          <a:pPr algn="ctr" rtl="0"/>
          <a:r>
            <a:rPr lang="es-ES_tradnl" sz="2000" b="1">
              <a:solidFill>
                <a:schemeClr val="bg1"/>
              </a:solidFill>
            </a:rPr>
            <a:t>Calidad de la solución</a:t>
          </a:r>
          <a:endParaRPr lang="es-PE" sz="2000" b="1">
            <a:solidFill>
              <a:schemeClr val="bg1"/>
            </a:solidFill>
          </a:endParaRPr>
        </a:p>
      </dgm:t>
    </dgm:pt>
    <dgm:pt modelId="{5DCC444A-2172-4411-BBFF-6D7D854EAF9F}" type="parTrans" cxnId="{A228FEF9-5B16-4CD5-BD7B-1F7360C927CD}">
      <dgm:prSet/>
      <dgm:spPr/>
      <dgm:t>
        <a:bodyPr/>
        <a:lstStyle/>
        <a:p>
          <a:pPr algn="ctr"/>
          <a:endParaRPr lang="es-PE" sz="2000" b="1">
            <a:solidFill>
              <a:schemeClr val="bg1"/>
            </a:solidFill>
          </a:endParaRPr>
        </a:p>
      </dgm:t>
    </dgm:pt>
    <dgm:pt modelId="{5C18F6F4-F539-471D-9AC7-BA95D0D735DF}" type="sibTrans" cxnId="{A228FEF9-5B16-4CD5-BD7B-1F7360C927CD}">
      <dgm:prSet/>
      <dgm:spPr/>
      <dgm:t>
        <a:bodyPr/>
        <a:lstStyle/>
        <a:p>
          <a:pPr algn="ctr"/>
          <a:endParaRPr lang="es-PE" sz="2000" b="1">
            <a:solidFill>
              <a:schemeClr val="bg1"/>
            </a:solidFill>
          </a:endParaRPr>
        </a:p>
      </dgm:t>
    </dgm:pt>
    <dgm:pt modelId="{9FA4F188-035A-47A3-963A-AE9DBAD0A08B}">
      <dgm:prSet custT="1"/>
      <dgm:spPr/>
      <dgm:t>
        <a:bodyPr/>
        <a:lstStyle/>
        <a:p>
          <a:pPr algn="ctr" rtl="0"/>
          <a:r>
            <a:rPr lang="es-ES_tradnl" sz="2000" b="1">
              <a:solidFill>
                <a:schemeClr val="bg1"/>
              </a:solidFill>
            </a:rPr>
            <a:t>Consistencia de la solución</a:t>
          </a:r>
          <a:endParaRPr lang="es-PE" sz="2000" b="1">
            <a:solidFill>
              <a:schemeClr val="bg1"/>
            </a:solidFill>
          </a:endParaRPr>
        </a:p>
      </dgm:t>
    </dgm:pt>
    <dgm:pt modelId="{FF79BA52-3001-42E1-86EB-1463BCA36739}" type="parTrans" cxnId="{C3BD37A4-1B54-4500-AD3C-0FF5FB5BDD87}">
      <dgm:prSet/>
      <dgm:spPr/>
      <dgm:t>
        <a:bodyPr/>
        <a:lstStyle/>
        <a:p>
          <a:pPr algn="ctr"/>
          <a:endParaRPr lang="es-PE" sz="2000" b="1">
            <a:solidFill>
              <a:schemeClr val="bg1"/>
            </a:solidFill>
          </a:endParaRPr>
        </a:p>
      </dgm:t>
    </dgm:pt>
    <dgm:pt modelId="{F300F72F-96B4-44FE-A1E2-E4B219BADA7D}" type="sibTrans" cxnId="{C3BD37A4-1B54-4500-AD3C-0FF5FB5BDD87}">
      <dgm:prSet/>
      <dgm:spPr/>
      <dgm:t>
        <a:bodyPr/>
        <a:lstStyle/>
        <a:p>
          <a:pPr algn="ctr"/>
          <a:endParaRPr lang="es-PE" sz="2000" b="1">
            <a:solidFill>
              <a:schemeClr val="bg1"/>
            </a:solidFill>
          </a:endParaRPr>
        </a:p>
      </dgm:t>
    </dgm:pt>
    <dgm:pt modelId="{EBCBA8A8-5E2B-42E5-A45A-8FF4E372BDD6}" type="pres">
      <dgm:prSet presAssocID="{10A78A91-1513-4582-BD2C-BAB98146A2A2}" presName="linear" presStyleCnt="0">
        <dgm:presLayoutVars>
          <dgm:animLvl val="lvl"/>
          <dgm:resizeHandles val="exact"/>
        </dgm:presLayoutVars>
      </dgm:prSet>
      <dgm:spPr/>
    </dgm:pt>
    <dgm:pt modelId="{2C88D09B-5935-4481-A7E5-7574E9DCBC6C}" type="pres">
      <dgm:prSet presAssocID="{F18A70F1-DC2A-49E3-B348-FE779367F497}" presName="parentText" presStyleLbl="node1" presStyleIdx="0" presStyleCnt="4">
        <dgm:presLayoutVars>
          <dgm:chMax val="0"/>
          <dgm:bulletEnabled val="1"/>
        </dgm:presLayoutVars>
      </dgm:prSet>
      <dgm:spPr/>
    </dgm:pt>
    <dgm:pt modelId="{9B9C8A2B-946B-44CF-AA07-159166320873}" type="pres">
      <dgm:prSet presAssocID="{73653272-14F7-40FF-B1D0-FBCDB9761027}" presName="spacer" presStyleCnt="0"/>
      <dgm:spPr/>
    </dgm:pt>
    <dgm:pt modelId="{325095C4-429D-4A72-A57E-5658594ABA58}" type="pres">
      <dgm:prSet presAssocID="{D53ADE84-015B-4023-8FB4-CFBD7DB9C059}" presName="parentText" presStyleLbl="node1" presStyleIdx="1" presStyleCnt="4" custScaleY="76796">
        <dgm:presLayoutVars>
          <dgm:chMax val="0"/>
          <dgm:bulletEnabled val="1"/>
        </dgm:presLayoutVars>
      </dgm:prSet>
      <dgm:spPr/>
    </dgm:pt>
    <dgm:pt modelId="{9B272701-D68C-4972-8C43-537B1F9EA6AE}" type="pres">
      <dgm:prSet presAssocID="{CCFC98CD-305B-41BD-BF4F-A45536E2485D}" presName="spacer" presStyleCnt="0"/>
      <dgm:spPr/>
    </dgm:pt>
    <dgm:pt modelId="{74C3E2A8-2111-4442-ACD3-AAE5C5833A51}" type="pres">
      <dgm:prSet presAssocID="{9FE2C3D7-0B87-4C26-A834-AC824F7A7BC6}" presName="parentText" presStyleLbl="node1" presStyleIdx="2" presStyleCnt="4" custScaleY="57442">
        <dgm:presLayoutVars>
          <dgm:chMax val="0"/>
          <dgm:bulletEnabled val="1"/>
        </dgm:presLayoutVars>
      </dgm:prSet>
      <dgm:spPr/>
    </dgm:pt>
    <dgm:pt modelId="{2F076E5A-33CC-4974-80B1-B2B52F477C24}" type="pres">
      <dgm:prSet presAssocID="{5C18F6F4-F539-471D-9AC7-BA95D0D735DF}" presName="spacer" presStyleCnt="0"/>
      <dgm:spPr/>
    </dgm:pt>
    <dgm:pt modelId="{464C5A4B-9E34-42D1-B7F6-F62F5E15B753}" type="pres">
      <dgm:prSet presAssocID="{9FA4F188-035A-47A3-963A-AE9DBAD0A08B}" presName="parentText" presStyleLbl="node1" presStyleIdx="3" presStyleCnt="4" custScaleY="53258">
        <dgm:presLayoutVars>
          <dgm:chMax val="0"/>
          <dgm:bulletEnabled val="1"/>
        </dgm:presLayoutVars>
      </dgm:prSet>
      <dgm:spPr/>
    </dgm:pt>
  </dgm:ptLst>
  <dgm:cxnLst>
    <dgm:cxn modelId="{F35A8E1C-171A-4664-B7BA-0E80EA267A5E}" srcId="{10A78A91-1513-4582-BD2C-BAB98146A2A2}" destId="{D53ADE84-015B-4023-8FB4-CFBD7DB9C059}" srcOrd="1" destOrd="0" parTransId="{E41482C6-CCF4-49CD-B594-1EC7DB298E1B}" sibTransId="{CCFC98CD-305B-41BD-BF4F-A45536E2485D}"/>
    <dgm:cxn modelId="{76E1E65B-E425-4570-8863-E7A208EE4B3A}" type="presOf" srcId="{D53ADE84-015B-4023-8FB4-CFBD7DB9C059}" destId="{325095C4-429D-4A72-A57E-5658594ABA58}" srcOrd="0" destOrd="0" presId="urn:microsoft.com/office/officeart/2005/8/layout/vList2"/>
    <dgm:cxn modelId="{ECF1F743-0342-495A-917B-242C59B7108E}" type="presOf" srcId="{10A78A91-1513-4582-BD2C-BAB98146A2A2}" destId="{EBCBA8A8-5E2B-42E5-A45A-8FF4E372BDD6}" srcOrd="0" destOrd="0" presId="urn:microsoft.com/office/officeart/2005/8/layout/vList2"/>
    <dgm:cxn modelId="{05C7BD57-5CB0-4FE9-B6C7-92DA7471F46F}" type="presOf" srcId="{9FE2C3D7-0B87-4C26-A834-AC824F7A7BC6}" destId="{74C3E2A8-2111-4442-ACD3-AAE5C5833A51}" srcOrd="0" destOrd="0" presId="urn:microsoft.com/office/officeart/2005/8/layout/vList2"/>
    <dgm:cxn modelId="{C3BD37A4-1B54-4500-AD3C-0FF5FB5BDD87}" srcId="{10A78A91-1513-4582-BD2C-BAB98146A2A2}" destId="{9FA4F188-035A-47A3-963A-AE9DBAD0A08B}" srcOrd="3" destOrd="0" parTransId="{FF79BA52-3001-42E1-86EB-1463BCA36739}" sibTransId="{F300F72F-96B4-44FE-A1E2-E4B219BADA7D}"/>
    <dgm:cxn modelId="{67A8A0C3-400A-4D14-A3AE-A86C401BB779}" srcId="{10A78A91-1513-4582-BD2C-BAB98146A2A2}" destId="{F18A70F1-DC2A-49E3-B348-FE779367F497}" srcOrd="0" destOrd="0" parTransId="{17DFCE8C-8555-4025-B8C7-1537CCF1BA55}" sibTransId="{73653272-14F7-40FF-B1D0-FBCDB9761027}"/>
    <dgm:cxn modelId="{B5DFEDED-8C01-4D32-B090-97823D71B00E}" type="presOf" srcId="{9FA4F188-035A-47A3-963A-AE9DBAD0A08B}" destId="{464C5A4B-9E34-42D1-B7F6-F62F5E15B753}" srcOrd="0" destOrd="0" presId="urn:microsoft.com/office/officeart/2005/8/layout/vList2"/>
    <dgm:cxn modelId="{060234F0-E36E-451A-BD9E-FB094CD25A6C}" type="presOf" srcId="{F18A70F1-DC2A-49E3-B348-FE779367F497}" destId="{2C88D09B-5935-4481-A7E5-7574E9DCBC6C}" srcOrd="0" destOrd="0" presId="urn:microsoft.com/office/officeart/2005/8/layout/vList2"/>
    <dgm:cxn modelId="{A228FEF9-5B16-4CD5-BD7B-1F7360C927CD}" srcId="{10A78A91-1513-4582-BD2C-BAB98146A2A2}" destId="{9FE2C3D7-0B87-4C26-A834-AC824F7A7BC6}" srcOrd="2" destOrd="0" parTransId="{5DCC444A-2172-4411-BBFF-6D7D854EAF9F}" sibTransId="{5C18F6F4-F539-471D-9AC7-BA95D0D735DF}"/>
    <dgm:cxn modelId="{45EABD26-9079-4851-A5CE-3A9256792310}" type="presParOf" srcId="{EBCBA8A8-5E2B-42E5-A45A-8FF4E372BDD6}" destId="{2C88D09B-5935-4481-A7E5-7574E9DCBC6C}" srcOrd="0" destOrd="0" presId="urn:microsoft.com/office/officeart/2005/8/layout/vList2"/>
    <dgm:cxn modelId="{60831FF9-91FA-4B1E-813A-3FEE1CB66B5D}" type="presParOf" srcId="{EBCBA8A8-5E2B-42E5-A45A-8FF4E372BDD6}" destId="{9B9C8A2B-946B-44CF-AA07-159166320873}" srcOrd="1" destOrd="0" presId="urn:microsoft.com/office/officeart/2005/8/layout/vList2"/>
    <dgm:cxn modelId="{09415E2C-7643-40E7-A9AF-35E259392462}" type="presParOf" srcId="{EBCBA8A8-5E2B-42E5-A45A-8FF4E372BDD6}" destId="{325095C4-429D-4A72-A57E-5658594ABA58}" srcOrd="2" destOrd="0" presId="urn:microsoft.com/office/officeart/2005/8/layout/vList2"/>
    <dgm:cxn modelId="{9BA4FEEF-D104-4F93-941A-619ED977F9B9}" type="presParOf" srcId="{EBCBA8A8-5E2B-42E5-A45A-8FF4E372BDD6}" destId="{9B272701-D68C-4972-8C43-537B1F9EA6AE}" srcOrd="3" destOrd="0" presId="urn:microsoft.com/office/officeart/2005/8/layout/vList2"/>
    <dgm:cxn modelId="{41B3F570-9FAE-4F28-9E3D-853D15496AF1}" type="presParOf" srcId="{EBCBA8A8-5E2B-42E5-A45A-8FF4E372BDD6}" destId="{74C3E2A8-2111-4442-ACD3-AAE5C5833A51}" srcOrd="4" destOrd="0" presId="urn:microsoft.com/office/officeart/2005/8/layout/vList2"/>
    <dgm:cxn modelId="{156E0DB1-C84C-4449-A4D4-6586C8681FF0}" type="presParOf" srcId="{EBCBA8A8-5E2B-42E5-A45A-8FF4E372BDD6}" destId="{2F076E5A-33CC-4974-80B1-B2B52F477C24}" srcOrd="5" destOrd="0" presId="urn:microsoft.com/office/officeart/2005/8/layout/vList2"/>
    <dgm:cxn modelId="{613EC488-C42A-4C95-A8D3-82A0A0A34A65}" type="presParOf" srcId="{EBCBA8A8-5E2B-42E5-A45A-8FF4E372BDD6}" destId="{464C5A4B-9E34-42D1-B7F6-F62F5E15B753}"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7859ABA-4DB7-438A-A633-FD16358DA00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A27EA4B6-D010-4E84-9BA3-0EF4BDB58046}">
      <dgm:prSet custT="1"/>
      <dgm:spPr/>
      <dgm:t>
        <a:bodyPr/>
        <a:lstStyle/>
        <a:p>
          <a:r>
            <a:rPr lang="es-MX" sz="2800" dirty="0"/>
            <a:t>MODELO:</a:t>
          </a:r>
        </a:p>
        <a:p>
          <a:r>
            <a:rPr lang="es-MX" sz="2800" dirty="0"/>
            <a:t>Es la representación simbólica del sistema real. Donde cada concepto o definición está representado por una </a:t>
          </a:r>
          <a:r>
            <a:rPr lang="es-MX" sz="2800" b="1" dirty="0"/>
            <a:t>función lineal</a:t>
          </a:r>
          <a:r>
            <a:rPr lang="es-MX" sz="2800" dirty="0"/>
            <a:t>.</a:t>
          </a:r>
          <a:endParaRPr lang="es-PE" sz="2800" dirty="0"/>
        </a:p>
      </dgm:t>
    </dgm:pt>
    <dgm:pt modelId="{F7712E4F-C66B-4F7B-8A94-57B7080D158A}" type="parTrans" cxnId="{6FB7601B-EB43-4243-87CC-2A116DF7AD1A}">
      <dgm:prSet/>
      <dgm:spPr/>
      <dgm:t>
        <a:bodyPr/>
        <a:lstStyle/>
        <a:p>
          <a:endParaRPr lang="es-PE" sz="2800"/>
        </a:p>
      </dgm:t>
    </dgm:pt>
    <dgm:pt modelId="{EF227151-663B-4A50-9AD5-DA43E410B95C}" type="sibTrans" cxnId="{6FB7601B-EB43-4243-87CC-2A116DF7AD1A}">
      <dgm:prSet/>
      <dgm:spPr/>
      <dgm:t>
        <a:bodyPr/>
        <a:lstStyle/>
        <a:p>
          <a:endParaRPr lang="es-PE" sz="2800"/>
        </a:p>
      </dgm:t>
    </dgm:pt>
    <dgm:pt modelId="{2CEC2454-E01E-4999-B7E9-62659B0F08D7}" type="pres">
      <dgm:prSet presAssocID="{07859ABA-4DB7-438A-A633-FD16358DA009}" presName="linear" presStyleCnt="0">
        <dgm:presLayoutVars>
          <dgm:animLvl val="lvl"/>
          <dgm:resizeHandles val="exact"/>
        </dgm:presLayoutVars>
      </dgm:prSet>
      <dgm:spPr/>
    </dgm:pt>
    <dgm:pt modelId="{9F957249-D874-4445-A8E9-4B902A2DF286}" type="pres">
      <dgm:prSet presAssocID="{A27EA4B6-D010-4E84-9BA3-0EF4BDB58046}" presName="parentText" presStyleLbl="node1" presStyleIdx="0" presStyleCnt="1">
        <dgm:presLayoutVars>
          <dgm:chMax val="0"/>
          <dgm:bulletEnabled val="1"/>
        </dgm:presLayoutVars>
      </dgm:prSet>
      <dgm:spPr/>
    </dgm:pt>
  </dgm:ptLst>
  <dgm:cxnLst>
    <dgm:cxn modelId="{6FB7601B-EB43-4243-87CC-2A116DF7AD1A}" srcId="{07859ABA-4DB7-438A-A633-FD16358DA009}" destId="{A27EA4B6-D010-4E84-9BA3-0EF4BDB58046}" srcOrd="0" destOrd="0" parTransId="{F7712E4F-C66B-4F7B-8A94-57B7080D158A}" sibTransId="{EF227151-663B-4A50-9AD5-DA43E410B95C}"/>
    <dgm:cxn modelId="{482DFB1D-9961-493D-808D-2BB6FC22B491}" type="presOf" srcId="{A27EA4B6-D010-4E84-9BA3-0EF4BDB58046}" destId="{9F957249-D874-4445-A8E9-4B902A2DF286}" srcOrd="0" destOrd="0" presId="urn:microsoft.com/office/officeart/2005/8/layout/vList2"/>
    <dgm:cxn modelId="{8B8EEF41-0E70-4618-9D1B-4EAE13842A8C}" type="presOf" srcId="{07859ABA-4DB7-438A-A633-FD16358DA009}" destId="{2CEC2454-E01E-4999-B7E9-62659B0F08D7}" srcOrd="0" destOrd="0" presId="urn:microsoft.com/office/officeart/2005/8/layout/vList2"/>
    <dgm:cxn modelId="{181F24BE-1267-4DF5-B676-8A5DB1131C30}" type="presParOf" srcId="{2CEC2454-E01E-4999-B7E9-62659B0F08D7}" destId="{9F957249-D874-4445-A8E9-4B902A2DF28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90454B7-A3FD-4940-B560-AC25068F233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C7E96650-AF1E-4EE9-9434-5B10700A398C}">
      <dgm:prSet custT="1"/>
      <dgm:spPr/>
      <dgm:t>
        <a:bodyPr/>
        <a:lstStyle/>
        <a:p>
          <a:r>
            <a:rPr lang="es-MX" sz="2400" dirty="0"/>
            <a:t>Toda </a:t>
          </a:r>
          <a:r>
            <a:rPr lang="es-MX" sz="2400" dirty="0" err="1"/>
            <a:t>F.O</a:t>
          </a:r>
          <a:r>
            <a:rPr lang="es-MX" sz="2400" dirty="0"/>
            <a:t>. estará sujeta a un conjunto de restricciones que limitarán el valor del objetivo que puede ser alcanzado.</a:t>
          </a:r>
          <a:endParaRPr lang="es-PE" sz="2400" dirty="0"/>
        </a:p>
      </dgm:t>
    </dgm:pt>
    <dgm:pt modelId="{7A1FB22F-147D-4F95-9108-B84399CD1A5B}" type="parTrans" cxnId="{0443CEF6-BC46-4917-B75E-D822B3CA6F28}">
      <dgm:prSet/>
      <dgm:spPr/>
      <dgm:t>
        <a:bodyPr/>
        <a:lstStyle/>
        <a:p>
          <a:endParaRPr lang="es-PE" sz="2400"/>
        </a:p>
      </dgm:t>
    </dgm:pt>
    <dgm:pt modelId="{1F403F8E-4A90-4020-BB27-D9144221C28E}" type="sibTrans" cxnId="{0443CEF6-BC46-4917-B75E-D822B3CA6F28}">
      <dgm:prSet/>
      <dgm:spPr/>
      <dgm:t>
        <a:bodyPr/>
        <a:lstStyle/>
        <a:p>
          <a:endParaRPr lang="es-PE" sz="2400"/>
        </a:p>
      </dgm:t>
    </dgm:pt>
    <dgm:pt modelId="{1629DE08-7FCA-4FE3-8CCE-4E1057D5E143}">
      <dgm:prSet custT="1"/>
      <dgm:spPr/>
      <dgm:t>
        <a:bodyPr/>
        <a:lstStyle/>
        <a:p>
          <a:r>
            <a:rPr lang="es-MX" sz="2400" dirty="0"/>
            <a:t>Las </a:t>
          </a:r>
          <a:r>
            <a:rPr lang="es-MX" sz="2400" b="1" dirty="0">
              <a:solidFill>
                <a:srgbClr val="FF0000"/>
              </a:solidFill>
            </a:rPr>
            <a:t>restricciones</a:t>
          </a:r>
          <a:r>
            <a:rPr lang="es-MX" sz="2400" dirty="0"/>
            <a:t> pueden ser:</a:t>
          </a:r>
          <a:endParaRPr lang="es-PE" sz="2400" dirty="0"/>
        </a:p>
      </dgm:t>
    </dgm:pt>
    <dgm:pt modelId="{C508A992-E43C-4D87-944E-C6E2C000B5C6}" type="parTrans" cxnId="{4AB27D1A-6724-4A11-BDE5-8105EAD494E5}">
      <dgm:prSet/>
      <dgm:spPr/>
      <dgm:t>
        <a:bodyPr/>
        <a:lstStyle/>
        <a:p>
          <a:endParaRPr lang="es-PE" sz="2400"/>
        </a:p>
      </dgm:t>
    </dgm:pt>
    <dgm:pt modelId="{E4554DCA-0D94-4515-9A7D-C584A239EE51}" type="sibTrans" cxnId="{4AB27D1A-6724-4A11-BDE5-8105EAD494E5}">
      <dgm:prSet/>
      <dgm:spPr/>
      <dgm:t>
        <a:bodyPr/>
        <a:lstStyle/>
        <a:p>
          <a:endParaRPr lang="es-PE" sz="2400"/>
        </a:p>
      </dgm:t>
    </dgm:pt>
    <dgm:pt modelId="{8CF5AACD-3CBE-44E1-9F6E-28720B8A4C73}">
      <dgm:prSet custT="1"/>
      <dgm:spPr/>
      <dgm:t>
        <a:bodyPr/>
        <a:lstStyle/>
        <a:p>
          <a:r>
            <a:rPr lang="es-MX" sz="2400" dirty="0"/>
            <a:t>Menor o igual (&lt;=)    Menor  (&lt;)</a:t>
          </a:r>
          <a:endParaRPr lang="es-PE" sz="2400" dirty="0"/>
        </a:p>
      </dgm:t>
    </dgm:pt>
    <dgm:pt modelId="{BB7F986D-3023-4C5A-B7F0-29C89DDDBEDA}" type="parTrans" cxnId="{384D6B13-0D65-4D24-A38F-AA2D961BBBAE}">
      <dgm:prSet/>
      <dgm:spPr/>
      <dgm:t>
        <a:bodyPr/>
        <a:lstStyle/>
        <a:p>
          <a:endParaRPr lang="es-PE" sz="2400"/>
        </a:p>
      </dgm:t>
    </dgm:pt>
    <dgm:pt modelId="{E2E5F3CB-52BA-4DA6-9B2A-5C63CF899FC2}" type="sibTrans" cxnId="{384D6B13-0D65-4D24-A38F-AA2D961BBBAE}">
      <dgm:prSet/>
      <dgm:spPr/>
      <dgm:t>
        <a:bodyPr/>
        <a:lstStyle/>
        <a:p>
          <a:endParaRPr lang="es-PE" sz="2400"/>
        </a:p>
      </dgm:t>
    </dgm:pt>
    <dgm:pt modelId="{AC4A00BD-0955-4318-B291-03D80DF69F4E}">
      <dgm:prSet custT="1"/>
      <dgm:spPr/>
      <dgm:t>
        <a:bodyPr/>
        <a:lstStyle/>
        <a:p>
          <a:r>
            <a:rPr lang="es-MX" sz="2400" dirty="0"/>
            <a:t>Mayor o igual (&gt;=)     Mayor  (&gt;)   Igual (=)</a:t>
          </a:r>
          <a:endParaRPr lang="es-PE" sz="2400" dirty="0"/>
        </a:p>
      </dgm:t>
    </dgm:pt>
    <dgm:pt modelId="{96CDFFB9-F8D5-4EA4-86D7-C5522AADC041}" type="parTrans" cxnId="{7962CD3C-554F-4D32-A033-BD3D4E804940}">
      <dgm:prSet/>
      <dgm:spPr/>
      <dgm:t>
        <a:bodyPr/>
        <a:lstStyle/>
        <a:p>
          <a:endParaRPr lang="es-PE" sz="2400"/>
        </a:p>
      </dgm:t>
    </dgm:pt>
    <dgm:pt modelId="{54DAE3F5-6CA2-4D48-8262-0FF3C0A32655}" type="sibTrans" cxnId="{7962CD3C-554F-4D32-A033-BD3D4E804940}">
      <dgm:prSet/>
      <dgm:spPr/>
      <dgm:t>
        <a:bodyPr/>
        <a:lstStyle/>
        <a:p>
          <a:endParaRPr lang="es-PE" sz="2400"/>
        </a:p>
      </dgm:t>
    </dgm:pt>
    <dgm:pt modelId="{70BEA054-D5E7-4DDA-8ADB-086B9EFDCA9B}" type="pres">
      <dgm:prSet presAssocID="{C90454B7-A3FD-4940-B560-AC25068F2339}" presName="Name0" presStyleCnt="0">
        <dgm:presLayoutVars>
          <dgm:dir/>
          <dgm:animLvl val="lvl"/>
          <dgm:resizeHandles val="exact"/>
        </dgm:presLayoutVars>
      </dgm:prSet>
      <dgm:spPr/>
    </dgm:pt>
    <dgm:pt modelId="{1E1785CC-24F2-4441-ABD4-3DA001EDC64A}" type="pres">
      <dgm:prSet presAssocID="{C7E96650-AF1E-4EE9-9434-5B10700A398C}" presName="linNode" presStyleCnt="0"/>
      <dgm:spPr/>
    </dgm:pt>
    <dgm:pt modelId="{27FA4BCB-A202-4C75-8FFF-E1E2D5146317}" type="pres">
      <dgm:prSet presAssocID="{C7E96650-AF1E-4EE9-9434-5B10700A398C}" presName="parentText" presStyleLbl="node1" presStyleIdx="0" presStyleCnt="1" custScaleX="134597">
        <dgm:presLayoutVars>
          <dgm:chMax val="1"/>
          <dgm:bulletEnabled val="1"/>
        </dgm:presLayoutVars>
      </dgm:prSet>
      <dgm:spPr/>
    </dgm:pt>
    <dgm:pt modelId="{26809509-653A-4639-B42D-A3C1A790E9B8}" type="pres">
      <dgm:prSet presAssocID="{C7E96650-AF1E-4EE9-9434-5B10700A398C}" presName="descendantText" presStyleLbl="alignAccFollowNode1" presStyleIdx="0" presStyleCnt="1" custScaleX="81696" custScaleY="121786">
        <dgm:presLayoutVars>
          <dgm:bulletEnabled val="1"/>
        </dgm:presLayoutVars>
      </dgm:prSet>
      <dgm:spPr/>
    </dgm:pt>
  </dgm:ptLst>
  <dgm:cxnLst>
    <dgm:cxn modelId="{96F1D902-9011-482D-9E6B-3DA780C87B8F}" type="presOf" srcId="{C7E96650-AF1E-4EE9-9434-5B10700A398C}" destId="{27FA4BCB-A202-4C75-8FFF-E1E2D5146317}" srcOrd="0" destOrd="0" presId="urn:microsoft.com/office/officeart/2005/8/layout/vList5"/>
    <dgm:cxn modelId="{D8C85E10-01EE-4FFC-A846-68237B44C4C0}" type="presOf" srcId="{AC4A00BD-0955-4318-B291-03D80DF69F4E}" destId="{26809509-653A-4639-B42D-A3C1A790E9B8}" srcOrd="0" destOrd="2" presId="urn:microsoft.com/office/officeart/2005/8/layout/vList5"/>
    <dgm:cxn modelId="{384D6B13-0D65-4D24-A38F-AA2D961BBBAE}" srcId="{C7E96650-AF1E-4EE9-9434-5B10700A398C}" destId="{8CF5AACD-3CBE-44E1-9F6E-28720B8A4C73}" srcOrd="1" destOrd="0" parTransId="{BB7F986D-3023-4C5A-B7F0-29C89DDDBEDA}" sibTransId="{E2E5F3CB-52BA-4DA6-9B2A-5C63CF899FC2}"/>
    <dgm:cxn modelId="{4AB27D1A-6724-4A11-BDE5-8105EAD494E5}" srcId="{C7E96650-AF1E-4EE9-9434-5B10700A398C}" destId="{1629DE08-7FCA-4FE3-8CCE-4E1057D5E143}" srcOrd="0" destOrd="0" parTransId="{C508A992-E43C-4D87-944E-C6E2C000B5C6}" sibTransId="{E4554DCA-0D94-4515-9A7D-C584A239EE51}"/>
    <dgm:cxn modelId="{E5EAF22F-90D2-44EB-8CD6-A5D0E1DCD189}" type="presOf" srcId="{1629DE08-7FCA-4FE3-8CCE-4E1057D5E143}" destId="{26809509-653A-4639-B42D-A3C1A790E9B8}" srcOrd="0" destOrd="0" presId="urn:microsoft.com/office/officeart/2005/8/layout/vList5"/>
    <dgm:cxn modelId="{7962CD3C-554F-4D32-A033-BD3D4E804940}" srcId="{C7E96650-AF1E-4EE9-9434-5B10700A398C}" destId="{AC4A00BD-0955-4318-B291-03D80DF69F4E}" srcOrd="2" destOrd="0" parTransId="{96CDFFB9-F8D5-4EA4-86D7-C5522AADC041}" sibTransId="{54DAE3F5-6CA2-4D48-8262-0FF3C0A32655}"/>
    <dgm:cxn modelId="{83A564BE-452B-4D85-84B7-097F049A04DF}" type="presOf" srcId="{C90454B7-A3FD-4940-B560-AC25068F2339}" destId="{70BEA054-D5E7-4DDA-8ADB-086B9EFDCA9B}" srcOrd="0" destOrd="0" presId="urn:microsoft.com/office/officeart/2005/8/layout/vList5"/>
    <dgm:cxn modelId="{C1D5DCC4-989D-4ADC-A216-D156613C168C}" type="presOf" srcId="{8CF5AACD-3CBE-44E1-9F6E-28720B8A4C73}" destId="{26809509-653A-4639-B42D-A3C1A790E9B8}" srcOrd="0" destOrd="1" presId="urn:microsoft.com/office/officeart/2005/8/layout/vList5"/>
    <dgm:cxn modelId="{0443CEF6-BC46-4917-B75E-D822B3CA6F28}" srcId="{C90454B7-A3FD-4940-B560-AC25068F2339}" destId="{C7E96650-AF1E-4EE9-9434-5B10700A398C}" srcOrd="0" destOrd="0" parTransId="{7A1FB22F-147D-4F95-9108-B84399CD1A5B}" sibTransId="{1F403F8E-4A90-4020-BB27-D9144221C28E}"/>
    <dgm:cxn modelId="{AFE84FA7-8E5C-419E-862B-3BBEA7328668}" type="presParOf" srcId="{70BEA054-D5E7-4DDA-8ADB-086B9EFDCA9B}" destId="{1E1785CC-24F2-4441-ABD4-3DA001EDC64A}" srcOrd="0" destOrd="0" presId="urn:microsoft.com/office/officeart/2005/8/layout/vList5"/>
    <dgm:cxn modelId="{F39FC1F8-404C-4B69-BED1-C9C814EC2BB0}" type="presParOf" srcId="{1E1785CC-24F2-4441-ABD4-3DA001EDC64A}" destId="{27FA4BCB-A202-4C75-8FFF-E1E2D5146317}" srcOrd="0" destOrd="0" presId="urn:microsoft.com/office/officeart/2005/8/layout/vList5"/>
    <dgm:cxn modelId="{F98F86E6-570E-4FEA-9563-D75D7E12005B}" type="presParOf" srcId="{1E1785CC-24F2-4441-ABD4-3DA001EDC64A}" destId="{26809509-653A-4639-B42D-A3C1A790E9B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E6009AD-5DC3-49D5-BF3C-EB494A71C71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E1B67B18-8E5A-47A3-AEC6-209FB4020E4F}">
      <dgm:prSe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1440" tIns="45720" rIns="91440" bIns="45720" numCol="1" spcCol="1270" anchor="ctr" anchorCtr="0"/>
        <a:lstStyle/>
        <a:p>
          <a:pPr marL="0" lvl="0" indent="0" algn="ctr" defTabSz="1066800">
            <a:lnSpc>
              <a:spcPct val="90000"/>
            </a:lnSpc>
            <a:spcBef>
              <a:spcPct val="0"/>
            </a:spcBef>
            <a:spcAft>
              <a:spcPct val="35000"/>
            </a:spcAft>
            <a:buNone/>
          </a:pPr>
          <a:r>
            <a:rPr lang="es-MX" sz="2400" kern="1200">
              <a:solidFill>
                <a:prstClr val="white"/>
              </a:solidFill>
              <a:latin typeface="Calibri" panose="020F0502020204030204"/>
              <a:ea typeface="+mn-ea"/>
              <a:cs typeface="+mn-cs"/>
            </a:rPr>
            <a:t>Menor o igual (&lt;=)</a:t>
          </a:r>
          <a:endParaRPr lang="es-PE" sz="2400" kern="1200">
            <a:solidFill>
              <a:prstClr val="white"/>
            </a:solidFill>
            <a:latin typeface="Calibri" panose="020F0502020204030204"/>
            <a:ea typeface="+mn-ea"/>
            <a:cs typeface="+mn-cs"/>
          </a:endParaRPr>
        </a:p>
      </dgm:t>
    </dgm:pt>
    <dgm:pt modelId="{0D123BF4-D3D5-455A-A44E-5ACA77851FF1}" type="parTrans" cxnId="{B2E20D72-9916-48F7-92F5-5F36EF8DD2C8}">
      <dgm:prSet/>
      <dgm:spPr/>
      <dgm:t>
        <a:bodyPr/>
        <a:lstStyle/>
        <a:p>
          <a:endParaRPr lang="es-PE" sz="2400"/>
        </a:p>
      </dgm:t>
    </dgm:pt>
    <dgm:pt modelId="{69C29966-E907-4BD5-8214-0DE2E7C58124}" type="sibTrans" cxnId="{B2E20D72-9916-48F7-92F5-5F36EF8DD2C8}">
      <dgm:prSet/>
      <dgm:spPr/>
      <dgm:t>
        <a:bodyPr/>
        <a:lstStyle/>
        <a:p>
          <a:endParaRPr lang="es-PE" sz="2400"/>
        </a:p>
      </dgm:t>
    </dgm:pt>
    <dgm:pt modelId="{AE26303F-2BAF-4D8F-A176-4DE5E1A89935}">
      <dgm:prSet custT="1"/>
      <dgm:spPr/>
      <dgm:t>
        <a:bodyPr/>
        <a:lstStyle/>
        <a:p>
          <a:r>
            <a:rPr lang="es-MX" sz="2400" dirty="0"/>
            <a:t>Las horas de producción debe ser </a:t>
          </a:r>
          <a:r>
            <a:rPr lang="es-MX" sz="2400" i="1" dirty="0">
              <a:solidFill>
                <a:srgbClr val="FF0000"/>
              </a:solidFill>
            </a:rPr>
            <a:t>menor o igual </a:t>
          </a:r>
          <a:r>
            <a:rPr lang="es-MX" sz="2400" dirty="0"/>
            <a:t>a 132 horas.</a:t>
          </a:r>
          <a:endParaRPr lang="es-PE" sz="2400" dirty="0"/>
        </a:p>
      </dgm:t>
    </dgm:pt>
    <dgm:pt modelId="{D22DE902-51C0-43F9-AC32-0B8E2E93B4B4}" type="parTrans" cxnId="{9E02225D-CB7A-4682-AC55-915D78FA434F}">
      <dgm:prSet/>
      <dgm:spPr/>
      <dgm:t>
        <a:bodyPr/>
        <a:lstStyle/>
        <a:p>
          <a:endParaRPr lang="es-PE" sz="2400"/>
        </a:p>
      </dgm:t>
    </dgm:pt>
    <dgm:pt modelId="{29F18BED-E506-45C0-9B0D-7222BC24BF09}" type="sibTrans" cxnId="{9E02225D-CB7A-4682-AC55-915D78FA434F}">
      <dgm:prSet/>
      <dgm:spPr/>
      <dgm:t>
        <a:bodyPr/>
        <a:lstStyle/>
        <a:p>
          <a:endParaRPr lang="es-PE" sz="2400"/>
        </a:p>
      </dgm:t>
    </dgm:pt>
    <dgm:pt modelId="{3854A5DD-D5D4-4AE9-AA08-B0590E9468A7}">
      <dgm:prSet custT="1"/>
      <dgm:spPr/>
      <dgm:t>
        <a:bodyPr/>
        <a:lstStyle/>
        <a:p>
          <a:r>
            <a:rPr lang="es-MX" sz="2400" dirty="0"/>
            <a:t>La inversión total en acciones debe ser </a:t>
          </a:r>
          <a:r>
            <a:rPr lang="es-MX" sz="2400" i="1" dirty="0">
              <a:solidFill>
                <a:srgbClr val="FF0000"/>
              </a:solidFill>
            </a:rPr>
            <a:t>a lo más </a:t>
          </a:r>
          <a:r>
            <a:rPr lang="es-MX" sz="2400" dirty="0"/>
            <a:t>un millón $</a:t>
          </a:r>
          <a:endParaRPr lang="es-PE" sz="2400" dirty="0"/>
        </a:p>
      </dgm:t>
    </dgm:pt>
    <dgm:pt modelId="{E537967E-D801-4B8A-A6C3-C58D09FAA6A2}" type="parTrans" cxnId="{B11056E1-D077-4E57-B311-CB330080048C}">
      <dgm:prSet/>
      <dgm:spPr/>
      <dgm:t>
        <a:bodyPr/>
        <a:lstStyle/>
        <a:p>
          <a:endParaRPr lang="es-PE" sz="2400"/>
        </a:p>
      </dgm:t>
    </dgm:pt>
    <dgm:pt modelId="{3EF8D8E0-AEB0-4764-8F0C-B476CD29BC94}" type="sibTrans" cxnId="{B11056E1-D077-4E57-B311-CB330080048C}">
      <dgm:prSet/>
      <dgm:spPr/>
      <dgm:t>
        <a:bodyPr/>
        <a:lstStyle/>
        <a:p>
          <a:endParaRPr lang="es-PE" sz="2400"/>
        </a:p>
      </dgm:t>
    </dgm:pt>
    <dgm:pt modelId="{4CC93737-104F-44FD-8B23-41C5C81A75BE}">
      <dgm:prSet custT="1"/>
      <dgm:spPr/>
      <dgm:t>
        <a:bodyPr/>
        <a:lstStyle/>
        <a:p>
          <a:r>
            <a:rPr lang="es-MX" sz="2400" dirty="0"/>
            <a:t>La cantidad de acciones A, debe ser </a:t>
          </a:r>
          <a:r>
            <a:rPr lang="es-MX" sz="2400" i="1" dirty="0">
              <a:solidFill>
                <a:srgbClr val="FF0000"/>
              </a:solidFill>
            </a:rPr>
            <a:t>menor o igual</a:t>
          </a:r>
          <a:r>
            <a:rPr lang="es-MX" sz="2400" dirty="0"/>
            <a:t> al 30% del total.</a:t>
          </a:r>
          <a:endParaRPr lang="es-PE" sz="2400" dirty="0"/>
        </a:p>
      </dgm:t>
    </dgm:pt>
    <dgm:pt modelId="{D2D07717-C76A-4D7A-8412-B907FD601A5C}" type="parTrans" cxnId="{A27DE72C-A80C-4741-8AA2-D361C873B92B}">
      <dgm:prSet/>
      <dgm:spPr/>
      <dgm:t>
        <a:bodyPr/>
        <a:lstStyle/>
        <a:p>
          <a:endParaRPr lang="es-PE" sz="2400"/>
        </a:p>
      </dgm:t>
    </dgm:pt>
    <dgm:pt modelId="{A5D56F15-3398-4D7A-A7E7-AD17CCEB46B3}" type="sibTrans" cxnId="{A27DE72C-A80C-4741-8AA2-D361C873B92B}">
      <dgm:prSet/>
      <dgm:spPr/>
      <dgm:t>
        <a:bodyPr/>
        <a:lstStyle/>
        <a:p>
          <a:endParaRPr lang="es-PE" sz="2400"/>
        </a:p>
      </dgm:t>
    </dgm:pt>
    <dgm:pt modelId="{756C2AF2-A406-436A-9EDB-B95A9F23DD9A}">
      <dgm:prSe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1440" tIns="45720" rIns="91440" bIns="45720" numCol="1" spcCol="1270" anchor="ctr" anchorCtr="0"/>
        <a:lstStyle/>
        <a:p>
          <a:pPr marL="0" lvl="0" indent="0" algn="ctr" defTabSz="1066800">
            <a:lnSpc>
              <a:spcPct val="90000"/>
            </a:lnSpc>
            <a:spcBef>
              <a:spcPct val="0"/>
            </a:spcBef>
            <a:spcAft>
              <a:spcPct val="35000"/>
            </a:spcAft>
            <a:buNone/>
          </a:pPr>
          <a:r>
            <a:rPr lang="es-MX" sz="2400" kern="1200">
              <a:solidFill>
                <a:prstClr val="white"/>
              </a:solidFill>
              <a:latin typeface="Calibri" panose="020F0502020204030204"/>
              <a:ea typeface="+mn-ea"/>
              <a:cs typeface="+mn-cs"/>
            </a:rPr>
            <a:t>Mayor o igual (&gt;=)</a:t>
          </a:r>
          <a:endParaRPr lang="es-PE" sz="2400" kern="1200">
            <a:solidFill>
              <a:prstClr val="white"/>
            </a:solidFill>
            <a:latin typeface="Calibri" panose="020F0502020204030204"/>
            <a:ea typeface="+mn-ea"/>
            <a:cs typeface="+mn-cs"/>
          </a:endParaRPr>
        </a:p>
      </dgm:t>
    </dgm:pt>
    <dgm:pt modelId="{54FA825F-FDB9-4705-8812-4963ABD4D5BE}" type="parTrans" cxnId="{BE13409B-7B09-45EA-9086-0A3A1C8CA125}">
      <dgm:prSet/>
      <dgm:spPr/>
      <dgm:t>
        <a:bodyPr/>
        <a:lstStyle/>
        <a:p>
          <a:endParaRPr lang="es-PE" sz="2400"/>
        </a:p>
      </dgm:t>
    </dgm:pt>
    <dgm:pt modelId="{A7935BD8-46C1-4502-937D-A30840CC7C40}" type="sibTrans" cxnId="{BE13409B-7B09-45EA-9086-0A3A1C8CA125}">
      <dgm:prSet/>
      <dgm:spPr/>
      <dgm:t>
        <a:bodyPr/>
        <a:lstStyle/>
        <a:p>
          <a:endParaRPr lang="es-PE" sz="2400"/>
        </a:p>
      </dgm:t>
    </dgm:pt>
    <dgm:pt modelId="{17EF3AD6-7CE5-41FB-92CB-2FC251A59FEB}">
      <dgm:prSet custT="1"/>
      <dgm:spPr/>
      <dgm:t>
        <a:bodyPr/>
        <a:lstStyle/>
        <a:p>
          <a:r>
            <a:rPr lang="es-MX" sz="2400" dirty="0"/>
            <a:t>Las horas asignada a la línea 1 debe ser </a:t>
          </a:r>
          <a:r>
            <a:rPr lang="es-MX" sz="2400" i="1" dirty="0">
              <a:solidFill>
                <a:srgbClr val="FF0000"/>
              </a:solidFill>
            </a:rPr>
            <a:t>mayor o igual </a:t>
          </a:r>
          <a:r>
            <a:rPr lang="es-MX" sz="2400" dirty="0"/>
            <a:t>a 100 horas.</a:t>
          </a:r>
          <a:endParaRPr lang="es-PE" sz="2400" dirty="0"/>
        </a:p>
      </dgm:t>
    </dgm:pt>
    <dgm:pt modelId="{EAF56AFF-0F2B-4968-ADA5-C56E30968796}" type="parTrans" cxnId="{01A04D33-4E99-48EE-9827-346AD0C52739}">
      <dgm:prSet/>
      <dgm:spPr/>
      <dgm:t>
        <a:bodyPr/>
        <a:lstStyle/>
        <a:p>
          <a:endParaRPr lang="es-PE" sz="2400"/>
        </a:p>
      </dgm:t>
    </dgm:pt>
    <dgm:pt modelId="{58D2A7D6-7FC8-405E-96AA-BBA3C7475EEA}" type="sibTrans" cxnId="{01A04D33-4E99-48EE-9827-346AD0C52739}">
      <dgm:prSet/>
      <dgm:spPr/>
      <dgm:t>
        <a:bodyPr/>
        <a:lstStyle/>
        <a:p>
          <a:endParaRPr lang="es-PE" sz="2400"/>
        </a:p>
      </dgm:t>
    </dgm:pt>
    <dgm:pt modelId="{5F44B616-C277-4CA9-B052-CE6D844BDD23}">
      <dgm:prSet custT="1"/>
      <dgm:spPr/>
      <dgm:t>
        <a:bodyPr/>
        <a:lstStyle/>
        <a:p>
          <a:r>
            <a:rPr lang="es-MX" sz="2400" dirty="0"/>
            <a:t>La inversión en acciones debe ser </a:t>
          </a:r>
          <a:r>
            <a:rPr lang="es-MX" sz="2400" i="0" dirty="0">
              <a:solidFill>
                <a:srgbClr val="FF0000"/>
              </a:solidFill>
            </a:rPr>
            <a:t>por lo menos </a:t>
          </a:r>
          <a:r>
            <a:rPr lang="es-MX" sz="2400" dirty="0"/>
            <a:t>el 50% de la inversión</a:t>
          </a:r>
          <a:endParaRPr lang="es-PE" sz="2400" dirty="0"/>
        </a:p>
      </dgm:t>
    </dgm:pt>
    <dgm:pt modelId="{DC2A6E81-7EA2-407D-9C98-E3153B9392E4}" type="parTrans" cxnId="{5D803B7F-298D-4D4D-919E-4CC7018C5266}">
      <dgm:prSet/>
      <dgm:spPr/>
      <dgm:t>
        <a:bodyPr/>
        <a:lstStyle/>
        <a:p>
          <a:endParaRPr lang="es-PE" sz="2400"/>
        </a:p>
      </dgm:t>
    </dgm:pt>
    <dgm:pt modelId="{50BD28AD-98DD-4F9D-98EE-74FE51F9A2E8}" type="sibTrans" cxnId="{5D803B7F-298D-4D4D-919E-4CC7018C5266}">
      <dgm:prSet/>
      <dgm:spPr/>
      <dgm:t>
        <a:bodyPr/>
        <a:lstStyle/>
        <a:p>
          <a:endParaRPr lang="es-PE" sz="2400"/>
        </a:p>
      </dgm:t>
    </dgm:pt>
    <dgm:pt modelId="{8B7E276C-BBDD-4240-B896-80F6398D3BC8}">
      <dgm:prSe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1440" tIns="45720" rIns="91440" bIns="45720" numCol="1" spcCol="1270" anchor="ctr" anchorCtr="0"/>
        <a:lstStyle/>
        <a:p>
          <a:pPr marL="0" lvl="0" indent="0" algn="ctr" defTabSz="1066800">
            <a:lnSpc>
              <a:spcPct val="90000"/>
            </a:lnSpc>
            <a:spcBef>
              <a:spcPct val="0"/>
            </a:spcBef>
            <a:spcAft>
              <a:spcPct val="35000"/>
            </a:spcAft>
            <a:buNone/>
          </a:pPr>
          <a:r>
            <a:rPr lang="es-MX" sz="2400" kern="1200">
              <a:solidFill>
                <a:prstClr val="white"/>
              </a:solidFill>
              <a:latin typeface="Calibri" panose="020F0502020204030204"/>
              <a:ea typeface="+mn-ea"/>
              <a:cs typeface="+mn-cs"/>
            </a:rPr>
            <a:t>Igual (=)</a:t>
          </a:r>
          <a:endParaRPr lang="es-PE" sz="2400" kern="1200">
            <a:solidFill>
              <a:prstClr val="white"/>
            </a:solidFill>
            <a:latin typeface="Calibri" panose="020F0502020204030204"/>
            <a:ea typeface="+mn-ea"/>
            <a:cs typeface="+mn-cs"/>
          </a:endParaRPr>
        </a:p>
      </dgm:t>
    </dgm:pt>
    <dgm:pt modelId="{0F6DC5C6-6A44-4D97-B794-587EBBA4EB94}" type="parTrans" cxnId="{196010B3-86EF-43B7-BE2F-31A7A7DBF36C}">
      <dgm:prSet/>
      <dgm:spPr/>
      <dgm:t>
        <a:bodyPr/>
        <a:lstStyle/>
        <a:p>
          <a:endParaRPr lang="es-PE" sz="2400"/>
        </a:p>
      </dgm:t>
    </dgm:pt>
    <dgm:pt modelId="{2C9DA718-DA9B-425F-AFC4-FFBA0D1992F5}" type="sibTrans" cxnId="{196010B3-86EF-43B7-BE2F-31A7A7DBF36C}">
      <dgm:prSet/>
      <dgm:spPr/>
      <dgm:t>
        <a:bodyPr/>
        <a:lstStyle/>
        <a:p>
          <a:endParaRPr lang="es-PE" sz="2400"/>
        </a:p>
      </dgm:t>
    </dgm:pt>
    <dgm:pt modelId="{8A40196F-B5A5-4A5C-B915-047A5949593C}">
      <dgm:prSet custT="1"/>
      <dgm:spPr/>
      <dgm:t>
        <a:bodyPr/>
        <a:lstStyle/>
        <a:p>
          <a:r>
            <a:rPr lang="es-MX" sz="2400" dirty="0"/>
            <a:t>La producción debe ser </a:t>
          </a:r>
          <a:r>
            <a:rPr lang="es-MX" sz="2400" i="1" dirty="0">
              <a:solidFill>
                <a:srgbClr val="FF0000"/>
              </a:solidFill>
            </a:rPr>
            <a:t>igual</a:t>
          </a:r>
          <a:r>
            <a:rPr lang="es-MX" sz="2400" dirty="0"/>
            <a:t> a los pedidos de los clientes.</a:t>
          </a:r>
          <a:endParaRPr lang="es-PE" sz="2400" dirty="0"/>
        </a:p>
      </dgm:t>
    </dgm:pt>
    <dgm:pt modelId="{62473939-F2C3-4D7D-B475-14F19C81782E}" type="parTrans" cxnId="{04D23824-D11F-48E6-A2F7-72D947CAD6EA}">
      <dgm:prSet/>
      <dgm:spPr/>
      <dgm:t>
        <a:bodyPr/>
        <a:lstStyle/>
        <a:p>
          <a:endParaRPr lang="es-PE" sz="2400"/>
        </a:p>
      </dgm:t>
    </dgm:pt>
    <dgm:pt modelId="{58BE3687-A77B-465F-914B-A1DC641E52C1}" type="sibTrans" cxnId="{04D23824-D11F-48E6-A2F7-72D947CAD6EA}">
      <dgm:prSet/>
      <dgm:spPr/>
      <dgm:t>
        <a:bodyPr/>
        <a:lstStyle/>
        <a:p>
          <a:endParaRPr lang="es-PE" sz="2400"/>
        </a:p>
      </dgm:t>
    </dgm:pt>
    <dgm:pt modelId="{18DF37C3-21A1-46EA-A0FF-E6358AC55385}">
      <dgm:prSet custT="1"/>
      <dgm:spPr/>
      <dgm:t>
        <a:bodyPr/>
        <a:lstStyle/>
        <a:p>
          <a:r>
            <a:rPr lang="es-MX" sz="2400" dirty="0"/>
            <a:t>La inversión en acciones debe ser </a:t>
          </a:r>
          <a:r>
            <a:rPr lang="es-MX" sz="2400" i="1" dirty="0">
              <a:solidFill>
                <a:srgbClr val="FF0000"/>
              </a:solidFill>
            </a:rPr>
            <a:t>igual</a:t>
          </a:r>
          <a:r>
            <a:rPr lang="es-MX" sz="2400" dirty="0"/>
            <a:t> al dinero disponible.</a:t>
          </a:r>
          <a:endParaRPr lang="es-PE" sz="2400" dirty="0"/>
        </a:p>
      </dgm:t>
    </dgm:pt>
    <dgm:pt modelId="{4163F5AF-64E6-4D09-8BAA-C89E3821DC32}" type="parTrans" cxnId="{899CB76A-62B5-476B-8F5F-AEEBAB87F694}">
      <dgm:prSet/>
      <dgm:spPr/>
      <dgm:t>
        <a:bodyPr/>
        <a:lstStyle/>
        <a:p>
          <a:endParaRPr lang="es-PE" sz="2400"/>
        </a:p>
      </dgm:t>
    </dgm:pt>
    <dgm:pt modelId="{6776E3C2-F43A-43D5-92B4-472930252A84}" type="sibTrans" cxnId="{899CB76A-62B5-476B-8F5F-AEEBAB87F694}">
      <dgm:prSet/>
      <dgm:spPr/>
      <dgm:t>
        <a:bodyPr/>
        <a:lstStyle/>
        <a:p>
          <a:endParaRPr lang="es-PE" sz="2400"/>
        </a:p>
      </dgm:t>
    </dgm:pt>
    <dgm:pt modelId="{668C5241-560F-42D2-82C8-B332BC8510BA}" type="pres">
      <dgm:prSet presAssocID="{6E6009AD-5DC3-49D5-BF3C-EB494A71C71A}" presName="Name0" presStyleCnt="0">
        <dgm:presLayoutVars>
          <dgm:dir/>
          <dgm:animLvl val="lvl"/>
          <dgm:resizeHandles val="exact"/>
        </dgm:presLayoutVars>
      </dgm:prSet>
      <dgm:spPr/>
    </dgm:pt>
    <dgm:pt modelId="{40C5BACE-27B3-4B8D-954D-0C7A9D55CCA4}" type="pres">
      <dgm:prSet presAssocID="{E1B67B18-8E5A-47A3-AEC6-209FB4020E4F}" presName="linNode" presStyleCnt="0"/>
      <dgm:spPr/>
    </dgm:pt>
    <dgm:pt modelId="{C3D0B683-631F-4553-8775-76208D3E6552}" type="pres">
      <dgm:prSet presAssocID="{E1B67B18-8E5A-47A3-AEC6-209FB4020E4F}" presName="parentText" presStyleLbl="node1" presStyleIdx="0" presStyleCnt="3" custScaleX="64662">
        <dgm:presLayoutVars>
          <dgm:chMax val="1"/>
          <dgm:bulletEnabled val="1"/>
        </dgm:presLayoutVars>
      </dgm:prSet>
      <dgm:spPr>
        <a:xfrm>
          <a:off x="17704" y="1048"/>
          <a:ext cx="2526459" cy="1417798"/>
        </a:xfrm>
        <a:prstGeom prst="roundRect">
          <a:avLst/>
        </a:prstGeom>
      </dgm:spPr>
    </dgm:pt>
    <dgm:pt modelId="{9D4E4299-3126-4C70-938F-E39F25071BC0}" type="pres">
      <dgm:prSet presAssocID="{E1B67B18-8E5A-47A3-AEC6-209FB4020E4F}" presName="descendantText" presStyleLbl="alignAccFollowNode1" presStyleIdx="0" presStyleCnt="3" custScaleX="164245" custScaleY="125825" custLinFactNeighborX="0" custLinFactNeighborY="0">
        <dgm:presLayoutVars>
          <dgm:bulletEnabled val="1"/>
        </dgm:presLayoutVars>
      </dgm:prSet>
      <dgm:spPr/>
    </dgm:pt>
    <dgm:pt modelId="{E786BC90-065B-47D2-97B3-74F04BBC0125}" type="pres">
      <dgm:prSet presAssocID="{69C29966-E907-4BD5-8214-0DE2E7C58124}" presName="sp" presStyleCnt="0"/>
      <dgm:spPr/>
    </dgm:pt>
    <dgm:pt modelId="{F208DD57-F850-4296-B0EB-D834D8ABAF9A}" type="pres">
      <dgm:prSet presAssocID="{756C2AF2-A406-436A-9EDB-B95A9F23DD9A}" presName="linNode" presStyleCnt="0"/>
      <dgm:spPr/>
    </dgm:pt>
    <dgm:pt modelId="{E4CE4785-E773-4C77-B31C-846BD902AB4E}" type="pres">
      <dgm:prSet presAssocID="{756C2AF2-A406-436A-9EDB-B95A9F23DD9A}" presName="parentText" presStyleLbl="node1" presStyleIdx="1" presStyleCnt="3" custScaleX="67916" custScaleY="74810">
        <dgm:presLayoutVars>
          <dgm:chMax val="1"/>
          <dgm:bulletEnabled val="1"/>
        </dgm:presLayoutVars>
      </dgm:prSet>
      <dgm:spPr>
        <a:xfrm>
          <a:off x="17704" y="1489736"/>
          <a:ext cx="2555888" cy="1060655"/>
        </a:xfrm>
        <a:prstGeom prst="roundRect">
          <a:avLst/>
        </a:prstGeom>
      </dgm:spPr>
    </dgm:pt>
    <dgm:pt modelId="{B8FC383B-72F4-4FA7-808F-B36BA2F0CE95}" type="pres">
      <dgm:prSet presAssocID="{756C2AF2-A406-436A-9EDB-B95A9F23DD9A}" presName="descendantText" presStyleLbl="alignAccFollowNode1" presStyleIdx="1" presStyleCnt="3" custScaleX="172601" custScaleY="85584" custLinFactNeighborX="93">
        <dgm:presLayoutVars>
          <dgm:bulletEnabled val="1"/>
        </dgm:presLayoutVars>
      </dgm:prSet>
      <dgm:spPr/>
    </dgm:pt>
    <dgm:pt modelId="{E414A8C2-60A5-4754-B67F-B60EF9870B4C}" type="pres">
      <dgm:prSet presAssocID="{A7935BD8-46C1-4502-937D-A30840CC7C40}" presName="sp" presStyleCnt="0"/>
      <dgm:spPr/>
    </dgm:pt>
    <dgm:pt modelId="{A05F3E17-39E7-4220-ACD1-8625DC98EB1B}" type="pres">
      <dgm:prSet presAssocID="{8B7E276C-BBDD-4240-B896-80F6398D3BC8}" presName="linNode" presStyleCnt="0"/>
      <dgm:spPr/>
    </dgm:pt>
    <dgm:pt modelId="{872FC01E-AAFB-4C3F-A3B8-AB8F912B5C6B}" type="pres">
      <dgm:prSet presAssocID="{8B7E276C-BBDD-4240-B896-80F6398D3BC8}" presName="parentText" presStyleLbl="node1" presStyleIdx="2" presStyleCnt="3" custScaleX="50508" custScaleY="57880">
        <dgm:presLayoutVars>
          <dgm:chMax val="1"/>
          <dgm:bulletEnabled val="1"/>
        </dgm:presLayoutVars>
      </dgm:prSet>
      <dgm:spPr>
        <a:xfrm>
          <a:off x="17704" y="2621281"/>
          <a:ext cx="2558785" cy="1043896"/>
        </a:xfrm>
        <a:prstGeom prst="roundRect">
          <a:avLst/>
        </a:prstGeom>
      </dgm:spPr>
    </dgm:pt>
    <dgm:pt modelId="{C12D8E31-9B1E-47EE-BF97-943CA86E21A3}" type="pres">
      <dgm:prSet presAssocID="{8B7E276C-BBDD-4240-B896-80F6398D3BC8}" presName="descendantText" presStyleLbl="alignAccFollowNode1" presStyleIdx="2" presStyleCnt="3" custScaleX="127378" custScaleY="72446" custLinFactNeighborX="422">
        <dgm:presLayoutVars>
          <dgm:bulletEnabled val="1"/>
        </dgm:presLayoutVars>
      </dgm:prSet>
      <dgm:spPr/>
    </dgm:pt>
  </dgm:ptLst>
  <dgm:cxnLst>
    <dgm:cxn modelId="{D375D502-4CB5-4D35-AC30-8E5E41CBAFE5}" type="presOf" srcId="{17EF3AD6-7CE5-41FB-92CB-2FC251A59FEB}" destId="{B8FC383B-72F4-4FA7-808F-B36BA2F0CE95}" srcOrd="0" destOrd="0" presId="urn:microsoft.com/office/officeart/2005/8/layout/vList5"/>
    <dgm:cxn modelId="{9B0A8204-9878-4A80-90A4-883863A36793}" type="presOf" srcId="{756C2AF2-A406-436A-9EDB-B95A9F23DD9A}" destId="{E4CE4785-E773-4C77-B31C-846BD902AB4E}" srcOrd="0" destOrd="0" presId="urn:microsoft.com/office/officeart/2005/8/layout/vList5"/>
    <dgm:cxn modelId="{25915519-86BF-42CB-87F9-F349B41A5334}" type="presOf" srcId="{18DF37C3-21A1-46EA-A0FF-E6358AC55385}" destId="{C12D8E31-9B1E-47EE-BF97-943CA86E21A3}" srcOrd="0" destOrd="1" presId="urn:microsoft.com/office/officeart/2005/8/layout/vList5"/>
    <dgm:cxn modelId="{1DD4CF1A-7077-4A09-ACC1-97D3F7460EA7}" type="presOf" srcId="{AE26303F-2BAF-4D8F-A176-4DE5E1A89935}" destId="{9D4E4299-3126-4C70-938F-E39F25071BC0}" srcOrd="0" destOrd="0" presId="urn:microsoft.com/office/officeart/2005/8/layout/vList5"/>
    <dgm:cxn modelId="{04D23824-D11F-48E6-A2F7-72D947CAD6EA}" srcId="{8B7E276C-BBDD-4240-B896-80F6398D3BC8}" destId="{8A40196F-B5A5-4A5C-B915-047A5949593C}" srcOrd="0" destOrd="0" parTransId="{62473939-F2C3-4D7D-B475-14F19C81782E}" sibTransId="{58BE3687-A77B-465F-914B-A1DC641E52C1}"/>
    <dgm:cxn modelId="{A27DE72C-A80C-4741-8AA2-D361C873B92B}" srcId="{E1B67B18-8E5A-47A3-AEC6-209FB4020E4F}" destId="{4CC93737-104F-44FD-8B23-41C5C81A75BE}" srcOrd="2" destOrd="0" parTransId="{D2D07717-C76A-4D7A-8412-B907FD601A5C}" sibTransId="{A5D56F15-3398-4D7A-A7E7-AD17CCEB46B3}"/>
    <dgm:cxn modelId="{01A04D33-4E99-48EE-9827-346AD0C52739}" srcId="{756C2AF2-A406-436A-9EDB-B95A9F23DD9A}" destId="{17EF3AD6-7CE5-41FB-92CB-2FC251A59FEB}" srcOrd="0" destOrd="0" parTransId="{EAF56AFF-0F2B-4968-ADA5-C56E30968796}" sibTransId="{58D2A7D6-7FC8-405E-96AA-BBA3C7475EEA}"/>
    <dgm:cxn modelId="{9E02225D-CB7A-4682-AC55-915D78FA434F}" srcId="{E1B67B18-8E5A-47A3-AEC6-209FB4020E4F}" destId="{AE26303F-2BAF-4D8F-A176-4DE5E1A89935}" srcOrd="0" destOrd="0" parTransId="{D22DE902-51C0-43F9-AC32-0B8E2E93B4B4}" sibTransId="{29F18BED-E506-45C0-9B0D-7222BC24BF09}"/>
    <dgm:cxn modelId="{FF5ED047-271A-4855-AE51-6DA21908C325}" type="presOf" srcId="{8A40196F-B5A5-4A5C-B915-047A5949593C}" destId="{C12D8E31-9B1E-47EE-BF97-943CA86E21A3}" srcOrd="0" destOrd="0" presId="urn:microsoft.com/office/officeart/2005/8/layout/vList5"/>
    <dgm:cxn modelId="{899CB76A-62B5-476B-8F5F-AEEBAB87F694}" srcId="{8B7E276C-BBDD-4240-B896-80F6398D3BC8}" destId="{18DF37C3-21A1-46EA-A0FF-E6358AC55385}" srcOrd="1" destOrd="0" parTransId="{4163F5AF-64E6-4D09-8BAA-C89E3821DC32}" sibTransId="{6776E3C2-F43A-43D5-92B4-472930252A84}"/>
    <dgm:cxn modelId="{B2E20D72-9916-48F7-92F5-5F36EF8DD2C8}" srcId="{6E6009AD-5DC3-49D5-BF3C-EB494A71C71A}" destId="{E1B67B18-8E5A-47A3-AEC6-209FB4020E4F}" srcOrd="0" destOrd="0" parTransId="{0D123BF4-D3D5-455A-A44E-5ACA77851FF1}" sibTransId="{69C29966-E907-4BD5-8214-0DE2E7C58124}"/>
    <dgm:cxn modelId="{80503D78-6D9C-4C8D-BE91-8BD8B607DC59}" type="presOf" srcId="{E1B67B18-8E5A-47A3-AEC6-209FB4020E4F}" destId="{C3D0B683-631F-4553-8775-76208D3E6552}" srcOrd="0" destOrd="0" presId="urn:microsoft.com/office/officeart/2005/8/layout/vList5"/>
    <dgm:cxn modelId="{5D803B7F-298D-4D4D-919E-4CC7018C5266}" srcId="{756C2AF2-A406-436A-9EDB-B95A9F23DD9A}" destId="{5F44B616-C277-4CA9-B052-CE6D844BDD23}" srcOrd="1" destOrd="0" parTransId="{DC2A6E81-7EA2-407D-9C98-E3153B9392E4}" sibTransId="{50BD28AD-98DD-4F9D-98EE-74FE51F9A2E8}"/>
    <dgm:cxn modelId="{86B6B395-1715-416F-970B-6056147474F2}" type="presOf" srcId="{5F44B616-C277-4CA9-B052-CE6D844BDD23}" destId="{B8FC383B-72F4-4FA7-808F-B36BA2F0CE95}" srcOrd="0" destOrd="1" presId="urn:microsoft.com/office/officeart/2005/8/layout/vList5"/>
    <dgm:cxn modelId="{BE13409B-7B09-45EA-9086-0A3A1C8CA125}" srcId="{6E6009AD-5DC3-49D5-BF3C-EB494A71C71A}" destId="{756C2AF2-A406-436A-9EDB-B95A9F23DD9A}" srcOrd="1" destOrd="0" parTransId="{54FA825F-FDB9-4705-8812-4963ABD4D5BE}" sibTransId="{A7935BD8-46C1-4502-937D-A30840CC7C40}"/>
    <dgm:cxn modelId="{E1818CA8-307B-4BD9-A6EE-E4A1E59DDFFD}" type="presOf" srcId="{6E6009AD-5DC3-49D5-BF3C-EB494A71C71A}" destId="{668C5241-560F-42D2-82C8-B332BC8510BA}" srcOrd="0" destOrd="0" presId="urn:microsoft.com/office/officeart/2005/8/layout/vList5"/>
    <dgm:cxn modelId="{196010B3-86EF-43B7-BE2F-31A7A7DBF36C}" srcId="{6E6009AD-5DC3-49D5-BF3C-EB494A71C71A}" destId="{8B7E276C-BBDD-4240-B896-80F6398D3BC8}" srcOrd="2" destOrd="0" parTransId="{0F6DC5C6-6A44-4D97-B794-587EBBA4EB94}" sibTransId="{2C9DA718-DA9B-425F-AFC4-FFBA0D1992F5}"/>
    <dgm:cxn modelId="{348AFCC6-12C1-4565-94FF-C2BAC78F6538}" type="presOf" srcId="{3854A5DD-D5D4-4AE9-AA08-B0590E9468A7}" destId="{9D4E4299-3126-4C70-938F-E39F25071BC0}" srcOrd="0" destOrd="1" presId="urn:microsoft.com/office/officeart/2005/8/layout/vList5"/>
    <dgm:cxn modelId="{DE4509D0-A954-438B-A086-BC756A5ACB35}" type="presOf" srcId="{4CC93737-104F-44FD-8B23-41C5C81A75BE}" destId="{9D4E4299-3126-4C70-938F-E39F25071BC0}" srcOrd="0" destOrd="2" presId="urn:microsoft.com/office/officeart/2005/8/layout/vList5"/>
    <dgm:cxn modelId="{B11056E1-D077-4E57-B311-CB330080048C}" srcId="{E1B67B18-8E5A-47A3-AEC6-209FB4020E4F}" destId="{3854A5DD-D5D4-4AE9-AA08-B0590E9468A7}" srcOrd="1" destOrd="0" parTransId="{E537967E-D801-4B8A-A6C3-C58D09FAA6A2}" sibTransId="{3EF8D8E0-AEB0-4764-8F0C-B476CD29BC94}"/>
    <dgm:cxn modelId="{9C258BE3-F9C9-4BD6-86A8-F8098B4C33F7}" type="presOf" srcId="{8B7E276C-BBDD-4240-B896-80F6398D3BC8}" destId="{872FC01E-AAFB-4C3F-A3B8-AB8F912B5C6B}" srcOrd="0" destOrd="0" presId="urn:microsoft.com/office/officeart/2005/8/layout/vList5"/>
    <dgm:cxn modelId="{42F0B8E7-D7A2-4FD8-BF08-C91FB0E9BA93}" type="presParOf" srcId="{668C5241-560F-42D2-82C8-B332BC8510BA}" destId="{40C5BACE-27B3-4B8D-954D-0C7A9D55CCA4}" srcOrd="0" destOrd="0" presId="urn:microsoft.com/office/officeart/2005/8/layout/vList5"/>
    <dgm:cxn modelId="{DBFCEA02-D141-4C0E-8525-C216BD1C785E}" type="presParOf" srcId="{40C5BACE-27B3-4B8D-954D-0C7A9D55CCA4}" destId="{C3D0B683-631F-4553-8775-76208D3E6552}" srcOrd="0" destOrd="0" presId="urn:microsoft.com/office/officeart/2005/8/layout/vList5"/>
    <dgm:cxn modelId="{270BB133-C903-4CC4-88D9-3133A4A6D70F}" type="presParOf" srcId="{40C5BACE-27B3-4B8D-954D-0C7A9D55CCA4}" destId="{9D4E4299-3126-4C70-938F-E39F25071BC0}" srcOrd="1" destOrd="0" presId="urn:microsoft.com/office/officeart/2005/8/layout/vList5"/>
    <dgm:cxn modelId="{C1364A1E-B21D-4EC7-B68F-A09D80121965}" type="presParOf" srcId="{668C5241-560F-42D2-82C8-B332BC8510BA}" destId="{E786BC90-065B-47D2-97B3-74F04BBC0125}" srcOrd="1" destOrd="0" presId="urn:microsoft.com/office/officeart/2005/8/layout/vList5"/>
    <dgm:cxn modelId="{CD654D75-0554-48FA-8CB7-FEBF9588D1A4}" type="presParOf" srcId="{668C5241-560F-42D2-82C8-B332BC8510BA}" destId="{F208DD57-F850-4296-B0EB-D834D8ABAF9A}" srcOrd="2" destOrd="0" presId="urn:microsoft.com/office/officeart/2005/8/layout/vList5"/>
    <dgm:cxn modelId="{9EE7EF9E-3ED2-4FF0-A8EF-9C43B3AA2278}" type="presParOf" srcId="{F208DD57-F850-4296-B0EB-D834D8ABAF9A}" destId="{E4CE4785-E773-4C77-B31C-846BD902AB4E}" srcOrd="0" destOrd="0" presId="urn:microsoft.com/office/officeart/2005/8/layout/vList5"/>
    <dgm:cxn modelId="{041A04E6-0919-47C1-A2DE-5254F4A0B720}" type="presParOf" srcId="{F208DD57-F850-4296-B0EB-D834D8ABAF9A}" destId="{B8FC383B-72F4-4FA7-808F-B36BA2F0CE95}" srcOrd="1" destOrd="0" presId="urn:microsoft.com/office/officeart/2005/8/layout/vList5"/>
    <dgm:cxn modelId="{9C40B3A0-F322-4F2F-9C46-ED98211FF0A1}" type="presParOf" srcId="{668C5241-560F-42D2-82C8-B332BC8510BA}" destId="{E414A8C2-60A5-4754-B67F-B60EF9870B4C}" srcOrd="3" destOrd="0" presId="urn:microsoft.com/office/officeart/2005/8/layout/vList5"/>
    <dgm:cxn modelId="{EED87D82-E259-40E6-8EA9-8B6BBF884523}" type="presParOf" srcId="{668C5241-560F-42D2-82C8-B332BC8510BA}" destId="{A05F3E17-39E7-4220-ACD1-8625DC98EB1B}" srcOrd="4" destOrd="0" presId="urn:microsoft.com/office/officeart/2005/8/layout/vList5"/>
    <dgm:cxn modelId="{AC0A4982-F651-4D3B-B0BF-5D7B025C336C}" type="presParOf" srcId="{A05F3E17-39E7-4220-ACD1-8625DC98EB1B}" destId="{872FC01E-AAFB-4C3F-A3B8-AB8F912B5C6B}" srcOrd="0" destOrd="0" presId="urn:microsoft.com/office/officeart/2005/8/layout/vList5"/>
    <dgm:cxn modelId="{C1E5CECD-19DE-4A7A-BF16-610B34700777}" type="presParOf" srcId="{A05F3E17-39E7-4220-ACD1-8625DC98EB1B}" destId="{C12D8E31-9B1E-47EE-BF97-943CA86E21A3}"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A3315F2-324B-4BC4-8424-83824FB79A2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FE410CE0-DEA9-4847-BCF6-3D5265B9E750}">
      <dgm:prSet custT="1"/>
      <dgm:spPr/>
      <dgm:t>
        <a:bodyPr/>
        <a:lstStyle/>
        <a:p>
          <a:r>
            <a:rPr lang="es-MX" sz="2800"/>
            <a:t>Debe existir alternativas disponibles.</a:t>
          </a:r>
          <a:endParaRPr lang="es-PE" sz="2800"/>
        </a:p>
      </dgm:t>
    </dgm:pt>
    <dgm:pt modelId="{8D454A40-BAF4-43CD-9A5A-6F4A76F43BFC}" type="parTrans" cxnId="{F802ECF3-6BCA-491E-9200-CC6302E626DC}">
      <dgm:prSet/>
      <dgm:spPr/>
      <dgm:t>
        <a:bodyPr/>
        <a:lstStyle/>
        <a:p>
          <a:endParaRPr lang="es-PE" sz="2000"/>
        </a:p>
      </dgm:t>
    </dgm:pt>
    <dgm:pt modelId="{974BA63B-732E-42D7-915D-C8085B7B9D21}" type="sibTrans" cxnId="{F802ECF3-6BCA-491E-9200-CC6302E626DC}">
      <dgm:prSet/>
      <dgm:spPr/>
      <dgm:t>
        <a:bodyPr/>
        <a:lstStyle/>
        <a:p>
          <a:endParaRPr lang="es-PE" sz="2000"/>
        </a:p>
      </dgm:t>
    </dgm:pt>
    <dgm:pt modelId="{1CA22B7A-8C89-42E6-9C11-A7FF423C9C3A}">
      <dgm:prSet custT="1"/>
      <dgm:spPr/>
      <dgm:t>
        <a:bodyPr/>
        <a:lstStyle/>
        <a:p>
          <a:pPr>
            <a:buFontTx/>
            <a:buNone/>
          </a:pPr>
          <a:r>
            <a:rPr lang="es-MX" sz="2800" b="1" dirty="0">
              <a:solidFill>
                <a:srgbClr val="FF0000"/>
              </a:solidFill>
            </a:rPr>
            <a:t>Ejemplo de alternativas</a:t>
          </a:r>
          <a:r>
            <a:rPr lang="es-MX" sz="2400" dirty="0"/>
            <a:t>:</a:t>
          </a:r>
          <a:endParaRPr lang="es-PE" sz="2400" dirty="0"/>
        </a:p>
      </dgm:t>
    </dgm:pt>
    <dgm:pt modelId="{52744BA6-7445-4174-B914-926143F19D85}" type="parTrans" cxnId="{51845871-D0DD-4972-ADDE-6183E173AB50}">
      <dgm:prSet/>
      <dgm:spPr/>
      <dgm:t>
        <a:bodyPr/>
        <a:lstStyle/>
        <a:p>
          <a:endParaRPr lang="es-PE" sz="2000"/>
        </a:p>
      </dgm:t>
    </dgm:pt>
    <dgm:pt modelId="{F825554F-21BD-4BD6-AC14-113CBE35667A}" type="sibTrans" cxnId="{51845871-D0DD-4972-ADDE-6183E173AB50}">
      <dgm:prSet/>
      <dgm:spPr/>
      <dgm:t>
        <a:bodyPr/>
        <a:lstStyle/>
        <a:p>
          <a:endParaRPr lang="es-PE" sz="2000"/>
        </a:p>
      </dgm:t>
    </dgm:pt>
    <dgm:pt modelId="{D58C7AF7-8816-4548-BAA1-1DB0317CF537}">
      <dgm:prSet custT="1"/>
      <dgm:spPr/>
      <dgm:t>
        <a:bodyPr/>
        <a:lstStyle/>
        <a:p>
          <a:r>
            <a:rPr lang="es-ES" sz="2400" dirty="0"/>
            <a:t>Se tiene un millón de dólares para invertir en acciones. Se puede invertir en acciones: </a:t>
          </a:r>
          <a:r>
            <a:rPr lang="es-ES" sz="2400" i="1" dirty="0">
              <a:solidFill>
                <a:srgbClr val="7030A0"/>
              </a:solidFill>
            </a:rPr>
            <a:t>Cervecería, Minera y Gaseosas</a:t>
          </a:r>
          <a:r>
            <a:rPr lang="es-ES" sz="2400" i="1" dirty="0"/>
            <a:t>.</a:t>
          </a:r>
          <a:endParaRPr lang="es-PE" sz="2400" i="1" dirty="0"/>
        </a:p>
      </dgm:t>
    </dgm:pt>
    <dgm:pt modelId="{C231BE4E-7236-40F1-8CD8-24EDD8BF0618}" type="parTrans" cxnId="{69E4F808-6D21-43C6-9447-6C309F0E3A88}">
      <dgm:prSet/>
      <dgm:spPr/>
      <dgm:t>
        <a:bodyPr/>
        <a:lstStyle/>
        <a:p>
          <a:endParaRPr lang="es-PE" sz="2000"/>
        </a:p>
      </dgm:t>
    </dgm:pt>
    <dgm:pt modelId="{32130027-3DFA-493E-A7C2-335E2E1F2459}" type="sibTrans" cxnId="{69E4F808-6D21-43C6-9447-6C309F0E3A88}">
      <dgm:prSet/>
      <dgm:spPr/>
      <dgm:t>
        <a:bodyPr/>
        <a:lstStyle/>
        <a:p>
          <a:endParaRPr lang="es-PE" sz="2000"/>
        </a:p>
      </dgm:t>
    </dgm:pt>
    <dgm:pt modelId="{7BF53E9E-B469-42E5-94C9-5E5067F8BB8E}">
      <dgm:prSet custT="1"/>
      <dgm:spPr/>
      <dgm:t>
        <a:bodyPr/>
        <a:lstStyle/>
        <a:p>
          <a:r>
            <a:rPr lang="es-ES" sz="2400" dirty="0"/>
            <a:t>La línea principal de envasado en una cervecería es para el formato 620 m. Podemos asignar a esta línea las siguientes marcas: </a:t>
          </a:r>
          <a:r>
            <a:rPr lang="es-ES" sz="2400" i="1" dirty="0">
              <a:solidFill>
                <a:srgbClr val="7030A0"/>
              </a:solidFill>
            </a:rPr>
            <a:t>Cristal 620, Pilsen 620 y Cusqueña 620</a:t>
          </a:r>
          <a:r>
            <a:rPr lang="es-ES" sz="2400" i="1" dirty="0"/>
            <a:t>.</a:t>
          </a:r>
          <a:endParaRPr lang="es-PE" sz="2400" i="1" dirty="0"/>
        </a:p>
      </dgm:t>
    </dgm:pt>
    <dgm:pt modelId="{71D4D8E1-1820-4FE7-A325-571815F67E34}" type="parTrans" cxnId="{6D647151-73B3-4349-9E00-5DD6301883E5}">
      <dgm:prSet/>
      <dgm:spPr/>
      <dgm:t>
        <a:bodyPr/>
        <a:lstStyle/>
        <a:p>
          <a:endParaRPr lang="es-PE" sz="2000"/>
        </a:p>
      </dgm:t>
    </dgm:pt>
    <dgm:pt modelId="{F74D9A89-27B2-4284-9A39-9013E4CB3F29}" type="sibTrans" cxnId="{6D647151-73B3-4349-9E00-5DD6301883E5}">
      <dgm:prSet/>
      <dgm:spPr/>
      <dgm:t>
        <a:bodyPr/>
        <a:lstStyle/>
        <a:p>
          <a:endParaRPr lang="es-PE" sz="2000"/>
        </a:p>
      </dgm:t>
    </dgm:pt>
    <dgm:pt modelId="{0263E593-C8B7-4E08-AECD-7E0E3CB18D8D}">
      <dgm:prSet custT="1"/>
      <dgm:spPr/>
      <dgm:t>
        <a:bodyPr/>
        <a:lstStyle/>
        <a:p>
          <a:r>
            <a:rPr lang="es-ES" sz="2400" dirty="0"/>
            <a:t>Se debe elegir los medios para programar publicidad de los productos de una empresa: </a:t>
          </a:r>
          <a:r>
            <a:rPr lang="es-ES" sz="2400" i="1" dirty="0">
              <a:solidFill>
                <a:srgbClr val="7030A0"/>
              </a:solidFill>
            </a:rPr>
            <a:t>Televisión, Radio y Periódico.</a:t>
          </a:r>
          <a:endParaRPr lang="es-PE" sz="2400" i="1" dirty="0">
            <a:solidFill>
              <a:srgbClr val="7030A0"/>
            </a:solidFill>
          </a:endParaRPr>
        </a:p>
      </dgm:t>
    </dgm:pt>
    <dgm:pt modelId="{A4FE672F-F4D1-4DF7-B30B-73736A4D53E5}" type="parTrans" cxnId="{87A117FC-7ADE-4CA8-B23D-419F5AA0C6F2}">
      <dgm:prSet/>
      <dgm:spPr/>
      <dgm:t>
        <a:bodyPr/>
        <a:lstStyle/>
        <a:p>
          <a:endParaRPr lang="es-PE" sz="2000"/>
        </a:p>
      </dgm:t>
    </dgm:pt>
    <dgm:pt modelId="{596EBFB7-B64D-4B87-81E8-257CA35AE300}" type="sibTrans" cxnId="{87A117FC-7ADE-4CA8-B23D-419F5AA0C6F2}">
      <dgm:prSet/>
      <dgm:spPr/>
      <dgm:t>
        <a:bodyPr/>
        <a:lstStyle/>
        <a:p>
          <a:endParaRPr lang="es-PE" sz="2000"/>
        </a:p>
      </dgm:t>
    </dgm:pt>
    <dgm:pt modelId="{A90F20AF-0EBA-4651-B454-C853906FF425}">
      <dgm:prSet custT="1"/>
      <dgm:spPr/>
      <dgm:t>
        <a:bodyPr/>
        <a:lstStyle/>
        <a:p>
          <a:r>
            <a:rPr lang="es-ES" sz="2400" dirty="0"/>
            <a:t>Para un plan de producción, se debe comprar materia prima, se tiene </a:t>
          </a:r>
          <a:r>
            <a:rPr lang="es-ES" sz="2400" i="1" dirty="0"/>
            <a:t>tres proveedores </a:t>
          </a:r>
          <a:r>
            <a:rPr lang="es-ES" sz="2400" dirty="0"/>
            <a:t>que pueden abastecer.</a:t>
          </a:r>
          <a:endParaRPr lang="es-PE" sz="2400" dirty="0"/>
        </a:p>
      </dgm:t>
    </dgm:pt>
    <dgm:pt modelId="{F0BC396E-6C59-40B8-B84D-78F5B9C32ADA}" type="parTrans" cxnId="{4566A883-0B90-4C35-A44A-F5921D95BD9F}">
      <dgm:prSet/>
      <dgm:spPr/>
      <dgm:t>
        <a:bodyPr/>
        <a:lstStyle/>
        <a:p>
          <a:endParaRPr lang="es-PE" sz="2000"/>
        </a:p>
      </dgm:t>
    </dgm:pt>
    <dgm:pt modelId="{0EAAE5E1-0B71-48F0-8143-6A88A5D9C703}" type="sibTrans" cxnId="{4566A883-0B90-4C35-A44A-F5921D95BD9F}">
      <dgm:prSet/>
      <dgm:spPr/>
      <dgm:t>
        <a:bodyPr/>
        <a:lstStyle/>
        <a:p>
          <a:endParaRPr lang="es-PE" sz="2000"/>
        </a:p>
      </dgm:t>
    </dgm:pt>
    <dgm:pt modelId="{34B59FF7-242B-49CF-A2D7-753E706CA003}" type="pres">
      <dgm:prSet presAssocID="{AA3315F2-324B-4BC4-8424-83824FB79A22}" presName="Name0" presStyleCnt="0">
        <dgm:presLayoutVars>
          <dgm:dir/>
          <dgm:animLvl val="lvl"/>
          <dgm:resizeHandles val="exact"/>
        </dgm:presLayoutVars>
      </dgm:prSet>
      <dgm:spPr/>
    </dgm:pt>
    <dgm:pt modelId="{1926B279-AF4F-4CEF-AE03-FDC647981953}" type="pres">
      <dgm:prSet presAssocID="{FE410CE0-DEA9-4847-BCF6-3D5265B9E750}" presName="linNode" presStyleCnt="0"/>
      <dgm:spPr/>
    </dgm:pt>
    <dgm:pt modelId="{07431A2E-F005-41E7-95A9-3D43F76D9349}" type="pres">
      <dgm:prSet presAssocID="{FE410CE0-DEA9-4847-BCF6-3D5265B9E750}" presName="parentText" presStyleLbl="node1" presStyleIdx="0" presStyleCnt="1" custScaleX="57990" custScaleY="99056">
        <dgm:presLayoutVars>
          <dgm:chMax val="1"/>
          <dgm:bulletEnabled val="1"/>
        </dgm:presLayoutVars>
      </dgm:prSet>
      <dgm:spPr/>
    </dgm:pt>
    <dgm:pt modelId="{A53A4B74-14D4-408B-B8C8-DEB7009AC35F}" type="pres">
      <dgm:prSet presAssocID="{FE410CE0-DEA9-4847-BCF6-3D5265B9E750}" presName="descendantText" presStyleLbl="alignAccFollowNode1" presStyleIdx="0" presStyleCnt="1" custScaleX="122556" custScaleY="125122">
        <dgm:presLayoutVars>
          <dgm:bulletEnabled val="1"/>
        </dgm:presLayoutVars>
      </dgm:prSet>
      <dgm:spPr/>
    </dgm:pt>
  </dgm:ptLst>
  <dgm:cxnLst>
    <dgm:cxn modelId="{69E4F808-6D21-43C6-9447-6C309F0E3A88}" srcId="{FE410CE0-DEA9-4847-BCF6-3D5265B9E750}" destId="{D58C7AF7-8816-4548-BAA1-1DB0317CF537}" srcOrd="1" destOrd="0" parTransId="{C231BE4E-7236-40F1-8CD8-24EDD8BF0618}" sibTransId="{32130027-3DFA-493E-A7C2-335E2E1F2459}"/>
    <dgm:cxn modelId="{3D0E6B10-A737-4472-9D12-8846A49E3FC8}" type="presOf" srcId="{0263E593-C8B7-4E08-AECD-7E0E3CB18D8D}" destId="{A53A4B74-14D4-408B-B8C8-DEB7009AC35F}" srcOrd="0" destOrd="3" presId="urn:microsoft.com/office/officeart/2005/8/layout/vList5"/>
    <dgm:cxn modelId="{B6055967-FD25-4F5A-90CE-327C6F137C22}" type="presOf" srcId="{D58C7AF7-8816-4548-BAA1-1DB0317CF537}" destId="{A53A4B74-14D4-408B-B8C8-DEB7009AC35F}" srcOrd="0" destOrd="1" presId="urn:microsoft.com/office/officeart/2005/8/layout/vList5"/>
    <dgm:cxn modelId="{970B9167-F06D-4835-9C63-B13EF8C81B54}" type="presOf" srcId="{A90F20AF-0EBA-4651-B454-C853906FF425}" destId="{A53A4B74-14D4-408B-B8C8-DEB7009AC35F}" srcOrd="0" destOrd="4" presId="urn:microsoft.com/office/officeart/2005/8/layout/vList5"/>
    <dgm:cxn modelId="{4C540C6C-5954-41CB-844C-F21610EEB8B8}" type="presOf" srcId="{AA3315F2-324B-4BC4-8424-83824FB79A22}" destId="{34B59FF7-242B-49CF-A2D7-753E706CA003}" srcOrd="0" destOrd="0" presId="urn:microsoft.com/office/officeart/2005/8/layout/vList5"/>
    <dgm:cxn modelId="{6D647151-73B3-4349-9E00-5DD6301883E5}" srcId="{FE410CE0-DEA9-4847-BCF6-3D5265B9E750}" destId="{7BF53E9E-B469-42E5-94C9-5E5067F8BB8E}" srcOrd="2" destOrd="0" parTransId="{71D4D8E1-1820-4FE7-A325-571815F67E34}" sibTransId="{F74D9A89-27B2-4284-9A39-9013E4CB3F29}"/>
    <dgm:cxn modelId="{51845871-D0DD-4972-ADDE-6183E173AB50}" srcId="{FE410CE0-DEA9-4847-BCF6-3D5265B9E750}" destId="{1CA22B7A-8C89-42E6-9C11-A7FF423C9C3A}" srcOrd="0" destOrd="0" parTransId="{52744BA6-7445-4174-B914-926143F19D85}" sibTransId="{F825554F-21BD-4BD6-AC14-113CBE35667A}"/>
    <dgm:cxn modelId="{4566A883-0B90-4C35-A44A-F5921D95BD9F}" srcId="{FE410CE0-DEA9-4847-BCF6-3D5265B9E750}" destId="{A90F20AF-0EBA-4651-B454-C853906FF425}" srcOrd="4" destOrd="0" parTransId="{F0BC396E-6C59-40B8-B84D-78F5B9C32ADA}" sibTransId="{0EAAE5E1-0B71-48F0-8143-6A88A5D9C703}"/>
    <dgm:cxn modelId="{919E28AC-BE7A-41B2-94A5-97C6C5B437F8}" type="presOf" srcId="{FE410CE0-DEA9-4847-BCF6-3D5265B9E750}" destId="{07431A2E-F005-41E7-95A9-3D43F76D9349}" srcOrd="0" destOrd="0" presId="urn:microsoft.com/office/officeart/2005/8/layout/vList5"/>
    <dgm:cxn modelId="{633851CD-207A-48D6-B0A1-F00B301044FD}" type="presOf" srcId="{7BF53E9E-B469-42E5-94C9-5E5067F8BB8E}" destId="{A53A4B74-14D4-408B-B8C8-DEB7009AC35F}" srcOrd="0" destOrd="2" presId="urn:microsoft.com/office/officeart/2005/8/layout/vList5"/>
    <dgm:cxn modelId="{5E729BF2-4A9E-4DEC-B081-CCDB2EB5D4F4}" type="presOf" srcId="{1CA22B7A-8C89-42E6-9C11-A7FF423C9C3A}" destId="{A53A4B74-14D4-408B-B8C8-DEB7009AC35F}" srcOrd="0" destOrd="0" presId="urn:microsoft.com/office/officeart/2005/8/layout/vList5"/>
    <dgm:cxn modelId="{F802ECF3-6BCA-491E-9200-CC6302E626DC}" srcId="{AA3315F2-324B-4BC4-8424-83824FB79A22}" destId="{FE410CE0-DEA9-4847-BCF6-3D5265B9E750}" srcOrd="0" destOrd="0" parTransId="{8D454A40-BAF4-43CD-9A5A-6F4A76F43BFC}" sibTransId="{974BA63B-732E-42D7-915D-C8085B7B9D21}"/>
    <dgm:cxn modelId="{87A117FC-7ADE-4CA8-B23D-419F5AA0C6F2}" srcId="{FE410CE0-DEA9-4847-BCF6-3D5265B9E750}" destId="{0263E593-C8B7-4E08-AECD-7E0E3CB18D8D}" srcOrd="3" destOrd="0" parTransId="{A4FE672F-F4D1-4DF7-B30B-73736A4D53E5}" sibTransId="{596EBFB7-B64D-4B87-81E8-257CA35AE300}"/>
    <dgm:cxn modelId="{F42382C8-E6F4-4502-8ADC-38D1E3113853}" type="presParOf" srcId="{34B59FF7-242B-49CF-A2D7-753E706CA003}" destId="{1926B279-AF4F-4CEF-AE03-FDC647981953}" srcOrd="0" destOrd="0" presId="urn:microsoft.com/office/officeart/2005/8/layout/vList5"/>
    <dgm:cxn modelId="{C1BA2648-0E08-44DE-8575-26FDD84C6C2B}" type="presParOf" srcId="{1926B279-AF4F-4CEF-AE03-FDC647981953}" destId="{07431A2E-F005-41E7-95A9-3D43F76D9349}" srcOrd="0" destOrd="0" presId="urn:microsoft.com/office/officeart/2005/8/layout/vList5"/>
    <dgm:cxn modelId="{9F45C57D-4A81-4337-B1D0-9377BB5E24C9}" type="presParOf" srcId="{1926B279-AF4F-4CEF-AE03-FDC647981953}" destId="{A53A4B74-14D4-408B-B8C8-DEB7009AC35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99E4B43-8593-4CCF-BF38-ACE5DD78CAF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36AC5D6D-955E-4980-8C31-838D86578CFF}">
      <dgm:prSet custT="1"/>
      <dgm:spPr/>
      <dgm:t>
        <a:bodyPr/>
        <a:lstStyle/>
        <a:p>
          <a:pPr algn="l"/>
          <a:r>
            <a:rPr lang="es-ES" sz="2800" dirty="0"/>
            <a:t>Todas las relaciones para representar un concepto, serán relaciones lineales.</a:t>
          </a:r>
          <a:endParaRPr lang="es-PE" sz="2800" dirty="0"/>
        </a:p>
      </dgm:t>
    </dgm:pt>
    <dgm:pt modelId="{5D33A77D-762B-4631-86DA-0B1E47D280D6}" type="parTrans" cxnId="{8E757589-6222-4385-BE3C-2EFE40944EAA}">
      <dgm:prSet/>
      <dgm:spPr/>
      <dgm:t>
        <a:bodyPr/>
        <a:lstStyle/>
        <a:p>
          <a:pPr algn="just"/>
          <a:endParaRPr lang="es-PE"/>
        </a:p>
      </dgm:t>
    </dgm:pt>
    <dgm:pt modelId="{D4B82250-0BCA-487F-95D0-8181B26AAFDA}" type="sibTrans" cxnId="{8E757589-6222-4385-BE3C-2EFE40944EAA}">
      <dgm:prSet/>
      <dgm:spPr/>
      <dgm:t>
        <a:bodyPr/>
        <a:lstStyle/>
        <a:p>
          <a:pPr algn="just"/>
          <a:endParaRPr lang="es-PE"/>
        </a:p>
      </dgm:t>
    </dgm:pt>
    <dgm:pt modelId="{00EEE710-56D6-4BD9-B4D3-E4EC84504355}">
      <dgm:prSet/>
      <dgm:spPr/>
      <dgm:t>
        <a:bodyPr/>
        <a:lstStyle/>
        <a:p>
          <a:pPr algn="just"/>
          <a:r>
            <a:rPr lang="es-ES" dirty="0"/>
            <a:t>La función objetivo y cada una de las restricciones, deben ser </a:t>
          </a:r>
          <a:r>
            <a:rPr lang="es-ES" dirty="0">
              <a:solidFill>
                <a:srgbClr val="7030A0"/>
              </a:solidFill>
            </a:rPr>
            <a:t>relaciones lineales.</a:t>
          </a:r>
          <a:endParaRPr lang="es-PE" dirty="0">
            <a:solidFill>
              <a:srgbClr val="7030A0"/>
            </a:solidFill>
          </a:endParaRPr>
        </a:p>
      </dgm:t>
    </dgm:pt>
    <dgm:pt modelId="{F78D9D1D-65C7-4D0A-9B4A-9F81DE375F8E}" type="parTrans" cxnId="{B6ED60B9-BE80-4CF6-810B-5650F577D003}">
      <dgm:prSet/>
      <dgm:spPr/>
      <dgm:t>
        <a:bodyPr/>
        <a:lstStyle/>
        <a:p>
          <a:pPr algn="just"/>
          <a:endParaRPr lang="es-PE"/>
        </a:p>
      </dgm:t>
    </dgm:pt>
    <dgm:pt modelId="{51AE65AF-07D2-47AC-A50E-23B9E0F516FD}" type="sibTrans" cxnId="{B6ED60B9-BE80-4CF6-810B-5650F577D003}">
      <dgm:prSet/>
      <dgm:spPr/>
      <dgm:t>
        <a:bodyPr/>
        <a:lstStyle/>
        <a:p>
          <a:pPr algn="just"/>
          <a:endParaRPr lang="es-PE"/>
        </a:p>
      </dgm:t>
    </dgm:pt>
    <dgm:pt modelId="{488E355D-6028-42F1-BB34-AB137D45F069}">
      <dgm:prSet/>
      <dgm:spPr/>
      <dgm:t>
        <a:bodyPr/>
        <a:lstStyle/>
        <a:p>
          <a:pPr algn="just"/>
          <a:r>
            <a:rPr lang="es-ES" dirty="0"/>
            <a:t>Una relación matemática lineal sólo significa que todos los términos en la función objetivo y en las restricciones son de </a:t>
          </a:r>
          <a:r>
            <a:rPr lang="es-ES" dirty="0">
              <a:solidFill>
                <a:srgbClr val="7030A0"/>
              </a:solidFill>
            </a:rPr>
            <a:t>primer grado.</a:t>
          </a:r>
          <a:endParaRPr lang="es-PE" dirty="0">
            <a:solidFill>
              <a:srgbClr val="7030A0"/>
            </a:solidFill>
          </a:endParaRPr>
        </a:p>
      </dgm:t>
    </dgm:pt>
    <dgm:pt modelId="{F45E8CCE-3CFA-4A08-9A32-EB074336DF1B}" type="parTrans" cxnId="{B66E0C6D-7D05-461D-8ECA-956E737B974A}">
      <dgm:prSet/>
      <dgm:spPr/>
      <dgm:t>
        <a:bodyPr/>
        <a:lstStyle/>
        <a:p>
          <a:pPr algn="just"/>
          <a:endParaRPr lang="es-PE"/>
        </a:p>
      </dgm:t>
    </dgm:pt>
    <dgm:pt modelId="{C8A5F3DD-743D-4485-948E-61473D1FE31A}" type="sibTrans" cxnId="{B66E0C6D-7D05-461D-8ECA-956E737B974A}">
      <dgm:prSet/>
      <dgm:spPr/>
      <dgm:t>
        <a:bodyPr/>
        <a:lstStyle/>
        <a:p>
          <a:pPr algn="just"/>
          <a:endParaRPr lang="es-PE"/>
        </a:p>
      </dgm:t>
    </dgm:pt>
    <dgm:pt modelId="{E1E82D97-519A-4A1D-A9C6-0F75FDD33B30}" type="pres">
      <dgm:prSet presAssocID="{399E4B43-8593-4CCF-BF38-ACE5DD78CAF4}" presName="Name0" presStyleCnt="0">
        <dgm:presLayoutVars>
          <dgm:dir/>
          <dgm:animLvl val="lvl"/>
          <dgm:resizeHandles val="exact"/>
        </dgm:presLayoutVars>
      </dgm:prSet>
      <dgm:spPr/>
    </dgm:pt>
    <dgm:pt modelId="{E437D328-3D68-4404-80A9-5A2C37439BDA}" type="pres">
      <dgm:prSet presAssocID="{36AC5D6D-955E-4980-8C31-838D86578CFF}" presName="linNode" presStyleCnt="0"/>
      <dgm:spPr/>
    </dgm:pt>
    <dgm:pt modelId="{24D66022-52D3-46BA-A5F7-2874221A048D}" type="pres">
      <dgm:prSet presAssocID="{36AC5D6D-955E-4980-8C31-838D86578CFF}" presName="parentText" presStyleLbl="node1" presStyleIdx="0" presStyleCnt="1" custScaleX="93519" custScaleY="82566">
        <dgm:presLayoutVars>
          <dgm:chMax val="1"/>
          <dgm:bulletEnabled val="1"/>
        </dgm:presLayoutVars>
      </dgm:prSet>
      <dgm:spPr/>
    </dgm:pt>
    <dgm:pt modelId="{74F61941-246C-4564-9645-181D1D88B4FE}" type="pres">
      <dgm:prSet presAssocID="{36AC5D6D-955E-4980-8C31-838D86578CFF}" presName="descendantText" presStyleLbl="alignAccFollowNode1" presStyleIdx="0" presStyleCnt="1" custScaleX="102344">
        <dgm:presLayoutVars>
          <dgm:bulletEnabled val="1"/>
        </dgm:presLayoutVars>
      </dgm:prSet>
      <dgm:spPr/>
    </dgm:pt>
  </dgm:ptLst>
  <dgm:cxnLst>
    <dgm:cxn modelId="{B66E0C6D-7D05-461D-8ECA-956E737B974A}" srcId="{36AC5D6D-955E-4980-8C31-838D86578CFF}" destId="{488E355D-6028-42F1-BB34-AB137D45F069}" srcOrd="1" destOrd="0" parTransId="{F45E8CCE-3CFA-4A08-9A32-EB074336DF1B}" sibTransId="{C8A5F3DD-743D-4485-948E-61473D1FE31A}"/>
    <dgm:cxn modelId="{3E661B56-9318-494E-A3BC-E029141D0B90}" type="presOf" srcId="{00EEE710-56D6-4BD9-B4D3-E4EC84504355}" destId="{74F61941-246C-4564-9645-181D1D88B4FE}" srcOrd="0" destOrd="0" presId="urn:microsoft.com/office/officeart/2005/8/layout/vList5"/>
    <dgm:cxn modelId="{8E757589-6222-4385-BE3C-2EFE40944EAA}" srcId="{399E4B43-8593-4CCF-BF38-ACE5DD78CAF4}" destId="{36AC5D6D-955E-4980-8C31-838D86578CFF}" srcOrd="0" destOrd="0" parTransId="{5D33A77D-762B-4631-86DA-0B1E47D280D6}" sibTransId="{D4B82250-0BCA-487F-95D0-8181B26AAFDA}"/>
    <dgm:cxn modelId="{0E850391-BEA4-4A40-883F-DB5A2C46FDD0}" type="presOf" srcId="{488E355D-6028-42F1-BB34-AB137D45F069}" destId="{74F61941-246C-4564-9645-181D1D88B4FE}" srcOrd="0" destOrd="1" presId="urn:microsoft.com/office/officeart/2005/8/layout/vList5"/>
    <dgm:cxn modelId="{B6ED60B9-BE80-4CF6-810B-5650F577D003}" srcId="{36AC5D6D-955E-4980-8C31-838D86578CFF}" destId="{00EEE710-56D6-4BD9-B4D3-E4EC84504355}" srcOrd="0" destOrd="0" parTransId="{F78D9D1D-65C7-4D0A-9B4A-9F81DE375F8E}" sibTransId="{51AE65AF-07D2-47AC-A50E-23B9E0F516FD}"/>
    <dgm:cxn modelId="{A56DF6F1-44F7-4E79-AF43-939E701F53DC}" type="presOf" srcId="{36AC5D6D-955E-4980-8C31-838D86578CFF}" destId="{24D66022-52D3-46BA-A5F7-2874221A048D}" srcOrd="0" destOrd="0" presId="urn:microsoft.com/office/officeart/2005/8/layout/vList5"/>
    <dgm:cxn modelId="{D35E3CF4-1B06-4136-A144-17920909C121}" type="presOf" srcId="{399E4B43-8593-4CCF-BF38-ACE5DD78CAF4}" destId="{E1E82D97-519A-4A1D-A9C6-0F75FDD33B30}" srcOrd="0" destOrd="0" presId="urn:microsoft.com/office/officeart/2005/8/layout/vList5"/>
    <dgm:cxn modelId="{147FD465-0202-4C13-84AB-BD79F0D19248}" type="presParOf" srcId="{E1E82D97-519A-4A1D-A9C6-0F75FDD33B30}" destId="{E437D328-3D68-4404-80A9-5A2C37439BDA}" srcOrd="0" destOrd="0" presId="urn:microsoft.com/office/officeart/2005/8/layout/vList5"/>
    <dgm:cxn modelId="{354CAA99-5085-4EE4-8F19-7E44915BA83E}" type="presParOf" srcId="{E437D328-3D68-4404-80A9-5A2C37439BDA}" destId="{24D66022-52D3-46BA-A5F7-2874221A048D}" srcOrd="0" destOrd="0" presId="urn:microsoft.com/office/officeart/2005/8/layout/vList5"/>
    <dgm:cxn modelId="{31C49C32-1D1C-42EF-BD8E-84864A4141E1}" type="presParOf" srcId="{E437D328-3D68-4404-80A9-5A2C37439BDA}" destId="{74F61941-246C-4564-9645-181D1D88B4F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96E9A5A-8DF9-4261-856E-CC9178009E2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42C1ABF0-6AA8-4742-90FC-7D3822C1D20E}">
      <dgm:prSet custT="1"/>
      <dgm:spPr/>
      <dgm:t>
        <a:bodyPr/>
        <a:lstStyle/>
        <a:p>
          <a:pPr algn="l"/>
          <a:r>
            <a:rPr lang="es-ES" sz="2400" dirty="0"/>
            <a:t>El artículo A tiene un precio de 15 soles y B un precio de 17 soles, si queremos maximizar ingresos, la función lineal será:</a:t>
          </a:r>
          <a:endParaRPr lang="es-PE" sz="2400" dirty="0"/>
        </a:p>
      </dgm:t>
    </dgm:pt>
    <dgm:pt modelId="{540B78D5-3F33-4748-938D-B39AF676FA52}" type="parTrans" cxnId="{9901A10E-4A69-44A1-9FB9-1F799C5B7978}">
      <dgm:prSet/>
      <dgm:spPr/>
      <dgm:t>
        <a:bodyPr/>
        <a:lstStyle/>
        <a:p>
          <a:endParaRPr lang="es-PE" sz="2400"/>
        </a:p>
      </dgm:t>
    </dgm:pt>
    <dgm:pt modelId="{185A7F5A-46E2-4B8D-ACC6-5C60F4F12A91}" type="sibTrans" cxnId="{9901A10E-4A69-44A1-9FB9-1F799C5B7978}">
      <dgm:prSet/>
      <dgm:spPr/>
      <dgm:t>
        <a:bodyPr/>
        <a:lstStyle/>
        <a:p>
          <a:endParaRPr lang="es-PE" sz="2400"/>
        </a:p>
      </dgm:t>
    </dgm:pt>
    <dgm:pt modelId="{5397D7A3-A41D-4DE9-B1C2-676E3ACAB5AE}">
      <dgm:prSet custT="1"/>
      <dgm:spPr/>
      <dgm:t>
        <a:bodyPr/>
        <a:lstStyle/>
        <a:p>
          <a:r>
            <a:rPr lang="es-ES" sz="2400" dirty="0"/>
            <a:t>Max =  </a:t>
          </a:r>
          <a:r>
            <a:rPr lang="es-ES" sz="2400" dirty="0" err="1"/>
            <a:t>15X1</a:t>
          </a:r>
          <a:r>
            <a:rPr lang="es-ES" sz="2400" dirty="0"/>
            <a:t> + </a:t>
          </a:r>
          <a:r>
            <a:rPr lang="es-ES" sz="2400" dirty="0" err="1"/>
            <a:t>17X2</a:t>
          </a:r>
          <a:endParaRPr lang="es-PE" sz="2400" dirty="0"/>
        </a:p>
      </dgm:t>
    </dgm:pt>
    <dgm:pt modelId="{41B5AF82-AD50-4651-8FB9-5BE5480F738B}" type="parTrans" cxnId="{13A1DBF2-6FD5-4B39-9557-A96454E2528A}">
      <dgm:prSet/>
      <dgm:spPr/>
      <dgm:t>
        <a:bodyPr/>
        <a:lstStyle/>
        <a:p>
          <a:endParaRPr lang="es-PE" sz="2400"/>
        </a:p>
      </dgm:t>
    </dgm:pt>
    <dgm:pt modelId="{5697BAB9-3723-4C08-BCEC-5F4D54060CB3}" type="sibTrans" cxnId="{13A1DBF2-6FD5-4B39-9557-A96454E2528A}">
      <dgm:prSet/>
      <dgm:spPr/>
      <dgm:t>
        <a:bodyPr/>
        <a:lstStyle/>
        <a:p>
          <a:endParaRPr lang="es-PE" sz="2400"/>
        </a:p>
      </dgm:t>
    </dgm:pt>
    <dgm:pt modelId="{356CC89F-C6F5-4993-8832-D9153A32D7B5}">
      <dgm:prSet custT="1"/>
      <dgm:spPr/>
      <dgm:t>
        <a:bodyPr/>
        <a:lstStyle/>
        <a:p>
          <a:r>
            <a:rPr lang="es-ES" sz="2400"/>
            <a:t>X1: unidades de A que se venderán</a:t>
          </a:r>
          <a:endParaRPr lang="es-PE" sz="2400"/>
        </a:p>
      </dgm:t>
    </dgm:pt>
    <dgm:pt modelId="{083ACCC0-B360-42C8-A8D6-E745EE728C8C}" type="parTrans" cxnId="{A6D16782-C791-4E2A-95DF-92F574406517}">
      <dgm:prSet/>
      <dgm:spPr/>
      <dgm:t>
        <a:bodyPr/>
        <a:lstStyle/>
        <a:p>
          <a:endParaRPr lang="es-PE" sz="2400"/>
        </a:p>
      </dgm:t>
    </dgm:pt>
    <dgm:pt modelId="{59FCAA9B-8564-4CFD-81B5-36B8F01D5117}" type="sibTrans" cxnId="{A6D16782-C791-4E2A-95DF-92F574406517}">
      <dgm:prSet/>
      <dgm:spPr/>
      <dgm:t>
        <a:bodyPr/>
        <a:lstStyle/>
        <a:p>
          <a:endParaRPr lang="es-PE" sz="2400"/>
        </a:p>
      </dgm:t>
    </dgm:pt>
    <dgm:pt modelId="{D6394980-10DD-4634-9F85-8989882CDD02}">
      <dgm:prSet custT="1"/>
      <dgm:spPr/>
      <dgm:t>
        <a:bodyPr/>
        <a:lstStyle/>
        <a:p>
          <a:r>
            <a:rPr lang="es-ES" sz="2400"/>
            <a:t>X2: unidades de B que se venderán</a:t>
          </a:r>
          <a:endParaRPr lang="es-PE" sz="2400"/>
        </a:p>
      </dgm:t>
    </dgm:pt>
    <dgm:pt modelId="{3E3EB51B-FE8C-463E-8E52-C62A63861773}" type="parTrans" cxnId="{0060543A-09E8-4378-A4D0-6D388352B860}">
      <dgm:prSet/>
      <dgm:spPr/>
      <dgm:t>
        <a:bodyPr/>
        <a:lstStyle/>
        <a:p>
          <a:endParaRPr lang="es-PE" sz="2400"/>
        </a:p>
      </dgm:t>
    </dgm:pt>
    <dgm:pt modelId="{53988552-0E53-4A87-A01D-95E2AC21B62C}" type="sibTrans" cxnId="{0060543A-09E8-4378-A4D0-6D388352B860}">
      <dgm:prSet/>
      <dgm:spPr/>
      <dgm:t>
        <a:bodyPr/>
        <a:lstStyle/>
        <a:p>
          <a:endParaRPr lang="es-PE" sz="2400"/>
        </a:p>
      </dgm:t>
    </dgm:pt>
    <dgm:pt modelId="{265ADD6C-4E32-4A74-A822-1376BD88527B}">
      <dgm:prSet custT="1"/>
      <dgm:spPr/>
      <dgm:t>
        <a:bodyPr/>
        <a:lstStyle/>
        <a:p>
          <a:pPr algn="l"/>
          <a:r>
            <a:rPr lang="es-MX" sz="2400"/>
            <a:t>Una unidad de A requiere de 2 horas, una unidad de B requiere 3 horas y la disponibilidad es de 132 horas.</a:t>
          </a:r>
          <a:endParaRPr lang="es-PE" sz="2400"/>
        </a:p>
      </dgm:t>
    </dgm:pt>
    <dgm:pt modelId="{7414F980-4AC6-4B7D-A2F7-92A6BCCCDFFE}" type="parTrans" cxnId="{32030AEA-3741-497B-9F96-C2C044B93A51}">
      <dgm:prSet/>
      <dgm:spPr/>
      <dgm:t>
        <a:bodyPr/>
        <a:lstStyle/>
        <a:p>
          <a:endParaRPr lang="es-PE" sz="2400"/>
        </a:p>
      </dgm:t>
    </dgm:pt>
    <dgm:pt modelId="{D6142F4D-7C9D-48B1-B707-DC28EF3308FA}" type="sibTrans" cxnId="{32030AEA-3741-497B-9F96-C2C044B93A51}">
      <dgm:prSet/>
      <dgm:spPr/>
      <dgm:t>
        <a:bodyPr/>
        <a:lstStyle/>
        <a:p>
          <a:endParaRPr lang="es-PE" sz="2400"/>
        </a:p>
      </dgm:t>
    </dgm:pt>
    <dgm:pt modelId="{ABD96557-5CF7-4BC5-8F3D-404F4D36AAF2}">
      <dgm:prSet custT="1"/>
      <dgm:spPr/>
      <dgm:t>
        <a:bodyPr/>
        <a:lstStyle/>
        <a:p>
          <a:r>
            <a:rPr lang="es-MX" sz="2400" dirty="0" err="1"/>
            <a:t>2X1</a:t>
          </a:r>
          <a:r>
            <a:rPr lang="es-MX" sz="2400" dirty="0"/>
            <a:t> + </a:t>
          </a:r>
          <a:r>
            <a:rPr lang="es-MX" sz="2400" dirty="0" err="1"/>
            <a:t>3x2</a:t>
          </a:r>
          <a:r>
            <a:rPr lang="es-MX" sz="2400" dirty="0"/>
            <a:t>  &lt;= 132 </a:t>
          </a:r>
          <a:endParaRPr lang="es-PE" sz="2400" dirty="0"/>
        </a:p>
      </dgm:t>
    </dgm:pt>
    <dgm:pt modelId="{CEFC3811-97CF-4123-9613-467660E8B53C}" type="parTrans" cxnId="{44732927-36FE-4BEC-A8EB-8128062F1343}">
      <dgm:prSet/>
      <dgm:spPr/>
      <dgm:t>
        <a:bodyPr/>
        <a:lstStyle/>
        <a:p>
          <a:endParaRPr lang="es-PE" sz="2400"/>
        </a:p>
      </dgm:t>
    </dgm:pt>
    <dgm:pt modelId="{BAE5F07F-FEFC-4455-B7EB-3D74CB3064B6}" type="sibTrans" cxnId="{44732927-36FE-4BEC-A8EB-8128062F1343}">
      <dgm:prSet/>
      <dgm:spPr/>
      <dgm:t>
        <a:bodyPr/>
        <a:lstStyle/>
        <a:p>
          <a:endParaRPr lang="es-PE" sz="2400"/>
        </a:p>
      </dgm:t>
    </dgm:pt>
    <dgm:pt modelId="{FC655190-BA7C-412E-BD32-BFAE7F3C05CD}">
      <dgm:prSet custT="1"/>
      <dgm:spPr/>
      <dgm:t>
        <a:bodyPr/>
        <a:lstStyle/>
        <a:p>
          <a:pPr algn="l"/>
          <a:r>
            <a:rPr lang="es-MX" sz="2400" dirty="0"/>
            <a:t>Una empresa puede producir 4 tipos de productos. La producción entre los productos 1 y 2 debe ser igual a la producción entre los productos 3 y 4.</a:t>
          </a:r>
          <a:endParaRPr lang="es-PE" sz="2400" dirty="0"/>
        </a:p>
      </dgm:t>
    </dgm:pt>
    <dgm:pt modelId="{32AFDCA6-93A3-4E8E-AFA7-AD8217B7AE82}" type="parTrans" cxnId="{CFE6139E-89C8-4B72-903E-31925FFAF7FF}">
      <dgm:prSet/>
      <dgm:spPr/>
      <dgm:t>
        <a:bodyPr/>
        <a:lstStyle/>
        <a:p>
          <a:endParaRPr lang="es-PE" sz="2400"/>
        </a:p>
      </dgm:t>
    </dgm:pt>
    <dgm:pt modelId="{49A44A54-D3DC-4346-99A8-5E77C5B23F85}" type="sibTrans" cxnId="{CFE6139E-89C8-4B72-903E-31925FFAF7FF}">
      <dgm:prSet/>
      <dgm:spPr/>
      <dgm:t>
        <a:bodyPr/>
        <a:lstStyle/>
        <a:p>
          <a:endParaRPr lang="es-PE" sz="2400"/>
        </a:p>
      </dgm:t>
    </dgm:pt>
    <dgm:pt modelId="{6C63AB2D-2D4B-4C47-B1DF-4C1484540F45}">
      <dgm:prSet custT="1"/>
      <dgm:spPr/>
      <dgm:t>
        <a:bodyPr/>
        <a:lstStyle/>
        <a:p>
          <a:r>
            <a:rPr lang="es-MX" sz="2400"/>
            <a:t>Xj: unidades del producto j que se puede producir, donde j=1,2,3,4</a:t>
          </a:r>
          <a:endParaRPr lang="es-PE" sz="2400"/>
        </a:p>
      </dgm:t>
    </dgm:pt>
    <dgm:pt modelId="{77CB557F-F3F5-477B-96B6-B207BB3C8DCE}" type="parTrans" cxnId="{F28BADEA-4FB6-42DD-BAA2-AFAB9A8171EF}">
      <dgm:prSet/>
      <dgm:spPr/>
      <dgm:t>
        <a:bodyPr/>
        <a:lstStyle/>
        <a:p>
          <a:endParaRPr lang="es-PE" sz="2400"/>
        </a:p>
      </dgm:t>
    </dgm:pt>
    <dgm:pt modelId="{E73E24AE-D6AC-45CF-8B32-DFA990BC0A4B}" type="sibTrans" cxnId="{F28BADEA-4FB6-42DD-BAA2-AFAB9A8171EF}">
      <dgm:prSet/>
      <dgm:spPr/>
      <dgm:t>
        <a:bodyPr/>
        <a:lstStyle/>
        <a:p>
          <a:endParaRPr lang="es-PE" sz="2400"/>
        </a:p>
      </dgm:t>
    </dgm:pt>
    <dgm:pt modelId="{301C054B-352F-4E9F-9292-D14848817CAC}">
      <dgm:prSet custT="1"/>
      <dgm:spPr/>
      <dgm:t>
        <a:bodyPr/>
        <a:lstStyle/>
        <a:p>
          <a:r>
            <a:rPr lang="es-MX" sz="2400"/>
            <a:t>X1 + X2 = X3 + X4</a:t>
          </a:r>
          <a:endParaRPr lang="es-PE" sz="2400"/>
        </a:p>
      </dgm:t>
    </dgm:pt>
    <dgm:pt modelId="{84FE64D0-DDBB-4F71-B5F9-BDB8A9BCC7D7}" type="parTrans" cxnId="{7B2C9622-B4D6-4E43-8CCD-E3AE1910E765}">
      <dgm:prSet/>
      <dgm:spPr/>
      <dgm:t>
        <a:bodyPr/>
        <a:lstStyle/>
        <a:p>
          <a:endParaRPr lang="es-PE" sz="2400"/>
        </a:p>
      </dgm:t>
    </dgm:pt>
    <dgm:pt modelId="{682D3E41-FEB8-4CAA-8F3A-93C2D526ADC4}" type="sibTrans" cxnId="{7B2C9622-B4D6-4E43-8CCD-E3AE1910E765}">
      <dgm:prSet/>
      <dgm:spPr/>
      <dgm:t>
        <a:bodyPr/>
        <a:lstStyle/>
        <a:p>
          <a:endParaRPr lang="es-PE" sz="2400"/>
        </a:p>
      </dgm:t>
    </dgm:pt>
    <dgm:pt modelId="{F6828B56-5A6D-41CE-A35E-9D7656335117}" type="pres">
      <dgm:prSet presAssocID="{796E9A5A-8DF9-4261-856E-CC9178009E2F}" presName="Name0" presStyleCnt="0">
        <dgm:presLayoutVars>
          <dgm:dir/>
          <dgm:animLvl val="lvl"/>
          <dgm:resizeHandles val="exact"/>
        </dgm:presLayoutVars>
      </dgm:prSet>
      <dgm:spPr/>
    </dgm:pt>
    <dgm:pt modelId="{D1CB4DDF-805A-473C-91F5-25FE5432C0CE}" type="pres">
      <dgm:prSet presAssocID="{42C1ABF0-6AA8-4742-90FC-7D3822C1D20E}" presName="linNode" presStyleCnt="0"/>
      <dgm:spPr/>
    </dgm:pt>
    <dgm:pt modelId="{766ACA92-5D1F-437F-989F-0E43C028AB16}" type="pres">
      <dgm:prSet presAssocID="{42C1ABF0-6AA8-4742-90FC-7D3822C1D20E}" presName="parentText" presStyleLbl="node1" presStyleIdx="0" presStyleCnt="3" custScaleX="192025">
        <dgm:presLayoutVars>
          <dgm:chMax val="1"/>
          <dgm:bulletEnabled val="1"/>
        </dgm:presLayoutVars>
      </dgm:prSet>
      <dgm:spPr/>
    </dgm:pt>
    <dgm:pt modelId="{489B6342-EA76-4DDF-A735-26C0298ED67A}" type="pres">
      <dgm:prSet presAssocID="{42C1ABF0-6AA8-4742-90FC-7D3822C1D20E}" presName="descendantText" presStyleLbl="alignAccFollowNode1" presStyleIdx="0" presStyleCnt="3">
        <dgm:presLayoutVars>
          <dgm:bulletEnabled val="1"/>
        </dgm:presLayoutVars>
      </dgm:prSet>
      <dgm:spPr/>
    </dgm:pt>
    <dgm:pt modelId="{5AEE4A89-A093-4C53-B661-BB643F231248}" type="pres">
      <dgm:prSet presAssocID="{185A7F5A-46E2-4B8D-ACC6-5C60F4F12A91}" presName="sp" presStyleCnt="0"/>
      <dgm:spPr/>
    </dgm:pt>
    <dgm:pt modelId="{98E4F12D-9F54-4765-ACEF-7115250DC422}" type="pres">
      <dgm:prSet presAssocID="{265ADD6C-4E32-4A74-A822-1376BD88527B}" presName="linNode" presStyleCnt="0"/>
      <dgm:spPr/>
    </dgm:pt>
    <dgm:pt modelId="{AC96DA6F-09F2-4CA7-8193-9164AE7D7311}" type="pres">
      <dgm:prSet presAssocID="{265ADD6C-4E32-4A74-A822-1376BD88527B}" presName="parentText" presStyleLbl="node1" presStyleIdx="1" presStyleCnt="3" custScaleX="194504" custLinFactNeighborX="169" custLinFactNeighborY="-2461">
        <dgm:presLayoutVars>
          <dgm:chMax val="1"/>
          <dgm:bulletEnabled val="1"/>
        </dgm:presLayoutVars>
      </dgm:prSet>
      <dgm:spPr/>
    </dgm:pt>
    <dgm:pt modelId="{A00D8BD7-6229-497B-85C9-A7DC779AF5F3}" type="pres">
      <dgm:prSet presAssocID="{265ADD6C-4E32-4A74-A822-1376BD88527B}" presName="descendantText" presStyleLbl="alignAccFollowNode1" presStyleIdx="1" presStyleCnt="3">
        <dgm:presLayoutVars>
          <dgm:bulletEnabled val="1"/>
        </dgm:presLayoutVars>
      </dgm:prSet>
      <dgm:spPr/>
    </dgm:pt>
    <dgm:pt modelId="{F16E7C3C-AE9A-4D21-8E25-411789999AC2}" type="pres">
      <dgm:prSet presAssocID="{D6142F4D-7C9D-48B1-B707-DC28EF3308FA}" presName="sp" presStyleCnt="0"/>
      <dgm:spPr/>
    </dgm:pt>
    <dgm:pt modelId="{5F6A1C6B-4273-4AF0-9B70-BDEE7D3AE39E}" type="pres">
      <dgm:prSet presAssocID="{FC655190-BA7C-412E-BD32-BFAE7F3C05CD}" presName="linNode" presStyleCnt="0"/>
      <dgm:spPr/>
    </dgm:pt>
    <dgm:pt modelId="{F69EEBD8-6DB3-417B-B735-094580724A03}" type="pres">
      <dgm:prSet presAssocID="{FC655190-BA7C-412E-BD32-BFAE7F3C05CD}" presName="parentText" presStyleLbl="node1" presStyleIdx="2" presStyleCnt="3" custScaleX="197251">
        <dgm:presLayoutVars>
          <dgm:chMax val="1"/>
          <dgm:bulletEnabled val="1"/>
        </dgm:presLayoutVars>
      </dgm:prSet>
      <dgm:spPr/>
    </dgm:pt>
    <dgm:pt modelId="{978A72DB-E299-4B22-9247-924A61EE9025}" type="pres">
      <dgm:prSet presAssocID="{FC655190-BA7C-412E-BD32-BFAE7F3C05CD}" presName="descendantText" presStyleLbl="alignAccFollowNode1" presStyleIdx="2" presStyleCnt="3">
        <dgm:presLayoutVars>
          <dgm:bulletEnabled val="1"/>
        </dgm:presLayoutVars>
      </dgm:prSet>
      <dgm:spPr/>
    </dgm:pt>
  </dgm:ptLst>
  <dgm:cxnLst>
    <dgm:cxn modelId="{9901A10E-4A69-44A1-9FB9-1F799C5B7978}" srcId="{796E9A5A-8DF9-4261-856E-CC9178009E2F}" destId="{42C1ABF0-6AA8-4742-90FC-7D3822C1D20E}" srcOrd="0" destOrd="0" parTransId="{540B78D5-3F33-4748-938D-B39AF676FA52}" sibTransId="{185A7F5A-46E2-4B8D-ACC6-5C60F4F12A91}"/>
    <dgm:cxn modelId="{0F67B415-D747-4C69-A165-D613C01947EE}" type="presOf" srcId="{FC655190-BA7C-412E-BD32-BFAE7F3C05CD}" destId="{F69EEBD8-6DB3-417B-B735-094580724A03}" srcOrd="0" destOrd="0" presId="urn:microsoft.com/office/officeart/2005/8/layout/vList5"/>
    <dgm:cxn modelId="{7B2C9622-B4D6-4E43-8CCD-E3AE1910E765}" srcId="{FC655190-BA7C-412E-BD32-BFAE7F3C05CD}" destId="{301C054B-352F-4E9F-9292-D14848817CAC}" srcOrd="1" destOrd="0" parTransId="{84FE64D0-DDBB-4F71-B5F9-BDB8A9BCC7D7}" sibTransId="{682D3E41-FEB8-4CAA-8F3A-93C2D526ADC4}"/>
    <dgm:cxn modelId="{44732927-36FE-4BEC-A8EB-8128062F1343}" srcId="{265ADD6C-4E32-4A74-A822-1376BD88527B}" destId="{ABD96557-5CF7-4BC5-8F3D-404F4D36AAF2}" srcOrd="0" destOrd="0" parTransId="{CEFC3811-97CF-4123-9613-467660E8B53C}" sibTransId="{BAE5F07F-FEFC-4455-B7EB-3D74CB3064B6}"/>
    <dgm:cxn modelId="{1053F22C-6AE5-4D4F-B0B1-5288A451207F}" type="presOf" srcId="{42C1ABF0-6AA8-4742-90FC-7D3822C1D20E}" destId="{766ACA92-5D1F-437F-989F-0E43C028AB16}" srcOrd="0" destOrd="0" presId="urn:microsoft.com/office/officeart/2005/8/layout/vList5"/>
    <dgm:cxn modelId="{533B6331-BE5C-4D90-BC45-190B808E2F90}" type="presOf" srcId="{ABD96557-5CF7-4BC5-8F3D-404F4D36AAF2}" destId="{A00D8BD7-6229-497B-85C9-A7DC779AF5F3}" srcOrd="0" destOrd="0" presId="urn:microsoft.com/office/officeart/2005/8/layout/vList5"/>
    <dgm:cxn modelId="{21CFF732-8CF3-4969-A8AC-2F09B1105916}" type="presOf" srcId="{D6394980-10DD-4634-9F85-8989882CDD02}" destId="{489B6342-EA76-4DDF-A735-26C0298ED67A}" srcOrd="0" destOrd="2" presId="urn:microsoft.com/office/officeart/2005/8/layout/vList5"/>
    <dgm:cxn modelId="{0E9CC435-66BE-49CD-91FB-8F3DDEA00833}" type="presOf" srcId="{356CC89F-C6F5-4993-8832-D9153A32D7B5}" destId="{489B6342-EA76-4DDF-A735-26C0298ED67A}" srcOrd="0" destOrd="1" presId="urn:microsoft.com/office/officeart/2005/8/layout/vList5"/>
    <dgm:cxn modelId="{F8DF5338-38CF-4415-A726-3DFAC3E53942}" type="presOf" srcId="{265ADD6C-4E32-4A74-A822-1376BD88527B}" destId="{AC96DA6F-09F2-4CA7-8193-9164AE7D7311}" srcOrd="0" destOrd="0" presId="urn:microsoft.com/office/officeart/2005/8/layout/vList5"/>
    <dgm:cxn modelId="{0060543A-09E8-4378-A4D0-6D388352B860}" srcId="{42C1ABF0-6AA8-4742-90FC-7D3822C1D20E}" destId="{D6394980-10DD-4634-9F85-8989882CDD02}" srcOrd="2" destOrd="0" parTransId="{3E3EB51B-FE8C-463E-8E52-C62A63861773}" sibTransId="{53988552-0E53-4A87-A01D-95E2AC21B62C}"/>
    <dgm:cxn modelId="{0F024F78-481F-4004-BD63-6EC9E216B3F3}" type="presOf" srcId="{6C63AB2D-2D4B-4C47-B1DF-4C1484540F45}" destId="{978A72DB-E299-4B22-9247-924A61EE9025}" srcOrd="0" destOrd="0" presId="urn:microsoft.com/office/officeart/2005/8/layout/vList5"/>
    <dgm:cxn modelId="{9E1CA97E-2B45-4EAE-84BB-13941EDE9402}" type="presOf" srcId="{5397D7A3-A41D-4DE9-B1C2-676E3ACAB5AE}" destId="{489B6342-EA76-4DDF-A735-26C0298ED67A}" srcOrd="0" destOrd="0" presId="urn:microsoft.com/office/officeart/2005/8/layout/vList5"/>
    <dgm:cxn modelId="{A6D16782-C791-4E2A-95DF-92F574406517}" srcId="{42C1ABF0-6AA8-4742-90FC-7D3822C1D20E}" destId="{356CC89F-C6F5-4993-8832-D9153A32D7B5}" srcOrd="1" destOrd="0" parTransId="{083ACCC0-B360-42C8-A8D6-E745EE728C8C}" sibTransId="{59FCAA9B-8564-4CFD-81B5-36B8F01D5117}"/>
    <dgm:cxn modelId="{C7E7679C-967C-42D8-9BBE-D670E9215B47}" type="presOf" srcId="{796E9A5A-8DF9-4261-856E-CC9178009E2F}" destId="{F6828B56-5A6D-41CE-A35E-9D7656335117}" srcOrd="0" destOrd="0" presId="urn:microsoft.com/office/officeart/2005/8/layout/vList5"/>
    <dgm:cxn modelId="{CFE6139E-89C8-4B72-903E-31925FFAF7FF}" srcId="{796E9A5A-8DF9-4261-856E-CC9178009E2F}" destId="{FC655190-BA7C-412E-BD32-BFAE7F3C05CD}" srcOrd="2" destOrd="0" parTransId="{32AFDCA6-93A3-4E8E-AFA7-AD8217B7AE82}" sibTransId="{49A44A54-D3DC-4346-99A8-5E77C5B23F85}"/>
    <dgm:cxn modelId="{32030AEA-3741-497B-9F96-C2C044B93A51}" srcId="{796E9A5A-8DF9-4261-856E-CC9178009E2F}" destId="{265ADD6C-4E32-4A74-A822-1376BD88527B}" srcOrd="1" destOrd="0" parTransId="{7414F980-4AC6-4B7D-A2F7-92A6BCCCDFFE}" sibTransId="{D6142F4D-7C9D-48B1-B707-DC28EF3308FA}"/>
    <dgm:cxn modelId="{F28BADEA-4FB6-42DD-BAA2-AFAB9A8171EF}" srcId="{FC655190-BA7C-412E-BD32-BFAE7F3C05CD}" destId="{6C63AB2D-2D4B-4C47-B1DF-4C1484540F45}" srcOrd="0" destOrd="0" parTransId="{77CB557F-F3F5-477B-96B6-B207BB3C8DCE}" sibTransId="{E73E24AE-D6AC-45CF-8B32-DFA990BC0A4B}"/>
    <dgm:cxn modelId="{13A1DBF2-6FD5-4B39-9557-A96454E2528A}" srcId="{42C1ABF0-6AA8-4742-90FC-7D3822C1D20E}" destId="{5397D7A3-A41D-4DE9-B1C2-676E3ACAB5AE}" srcOrd="0" destOrd="0" parTransId="{41B5AF82-AD50-4651-8FB9-5BE5480F738B}" sibTransId="{5697BAB9-3723-4C08-BCEC-5F4D54060CB3}"/>
    <dgm:cxn modelId="{C7A782F8-5E9C-4F94-95F2-EC64AA1421BF}" type="presOf" srcId="{301C054B-352F-4E9F-9292-D14848817CAC}" destId="{978A72DB-E299-4B22-9247-924A61EE9025}" srcOrd="0" destOrd="1" presId="urn:microsoft.com/office/officeart/2005/8/layout/vList5"/>
    <dgm:cxn modelId="{4589FD3C-4E14-4B50-983F-85CC4B4867C9}" type="presParOf" srcId="{F6828B56-5A6D-41CE-A35E-9D7656335117}" destId="{D1CB4DDF-805A-473C-91F5-25FE5432C0CE}" srcOrd="0" destOrd="0" presId="urn:microsoft.com/office/officeart/2005/8/layout/vList5"/>
    <dgm:cxn modelId="{887BD136-40E0-463D-9289-4D2B84EF457D}" type="presParOf" srcId="{D1CB4DDF-805A-473C-91F5-25FE5432C0CE}" destId="{766ACA92-5D1F-437F-989F-0E43C028AB16}" srcOrd="0" destOrd="0" presId="urn:microsoft.com/office/officeart/2005/8/layout/vList5"/>
    <dgm:cxn modelId="{E4DA1896-7C28-412A-AF9E-9792508A611D}" type="presParOf" srcId="{D1CB4DDF-805A-473C-91F5-25FE5432C0CE}" destId="{489B6342-EA76-4DDF-A735-26C0298ED67A}" srcOrd="1" destOrd="0" presId="urn:microsoft.com/office/officeart/2005/8/layout/vList5"/>
    <dgm:cxn modelId="{620DA79C-7D53-40A7-A6D2-A8FF412E730F}" type="presParOf" srcId="{F6828B56-5A6D-41CE-A35E-9D7656335117}" destId="{5AEE4A89-A093-4C53-B661-BB643F231248}" srcOrd="1" destOrd="0" presId="urn:microsoft.com/office/officeart/2005/8/layout/vList5"/>
    <dgm:cxn modelId="{5C52B961-A2F7-45AC-8D3D-2E6843E2DE19}" type="presParOf" srcId="{F6828B56-5A6D-41CE-A35E-9D7656335117}" destId="{98E4F12D-9F54-4765-ACEF-7115250DC422}" srcOrd="2" destOrd="0" presId="urn:microsoft.com/office/officeart/2005/8/layout/vList5"/>
    <dgm:cxn modelId="{358C418B-6CD3-4833-AB31-D8D6BB61AD51}" type="presParOf" srcId="{98E4F12D-9F54-4765-ACEF-7115250DC422}" destId="{AC96DA6F-09F2-4CA7-8193-9164AE7D7311}" srcOrd="0" destOrd="0" presId="urn:microsoft.com/office/officeart/2005/8/layout/vList5"/>
    <dgm:cxn modelId="{D3A33E12-7EC0-4087-A499-8D21C78F8BFA}" type="presParOf" srcId="{98E4F12D-9F54-4765-ACEF-7115250DC422}" destId="{A00D8BD7-6229-497B-85C9-A7DC779AF5F3}" srcOrd="1" destOrd="0" presId="urn:microsoft.com/office/officeart/2005/8/layout/vList5"/>
    <dgm:cxn modelId="{590A68E9-42B5-4A6D-AA7C-473AD3738E18}" type="presParOf" srcId="{F6828B56-5A6D-41CE-A35E-9D7656335117}" destId="{F16E7C3C-AE9A-4D21-8E25-411789999AC2}" srcOrd="3" destOrd="0" presId="urn:microsoft.com/office/officeart/2005/8/layout/vList5"/>
    <dgm:cxn modelId="{6A672D4E-DF64-4215-8A7F-B9C1551D1257}" type="presParOf" srcId="{F6828B56-5A6D-41CE-A35E-9D7656335117}" destId="{5F6A1C6B-4273-4AF0-9B70-BDEE7D3AE39E}" srcOrd="4" destOrd="0" presId="urn:microsoft.com/office/officeart/2005/8/layout/vList5"/>
    <dgm:cxn modelId="{08E8FDFA-242F-43F1-942E-3BBBCC17DCFA}" type="presParOf" srcId="{5F6A1C6B-4273-4AF0-9B70-BDEE7D3AE39E}" destId="{F69EEBD8-6DB3-417B-B735-094580724A03}" srcOrd="0" destOrd="0" presId="urn:microsoft.com/office/officeart/2005/8/layout/vList5"/>
    <dgm:cxn modelId="{B191FBAC-9147-49DA-B4E9-9F4F08C9A2D3}" type="presParOf" srcId="{5F6A1C6B-4273-4AF0-9B70-BDEE7D3AE39E}" destId="{978A72DB-E299-4B22-9247-924A61EE902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65C4834-6836-443B-BCCE-9F8675676D4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489C809E-7E4D-46E7-A0E9-742C7D236BB7}">
      <dgm:prSet custT="1"/>
      <dgm:spPr/>
      <dgm:t>
        <a:bodyPr/>
        <a:lstStyle/>
        <a:p>
          <a:r>
            <a:rPr lang="es-MX" sz="2400" dirty="0"/>
            <a:t>Podemos invertir en acciones tipo A , tipo B y tipo C. La disponibilidad para invertir es  $ 2000  y para cada tipo su inversión debe ser como mínimo el 20% del dinero disponible.</a:t>
          </a:r>
          <a:endParaRPr lang="es-PE" sz="2400" dirty="0"/>
        </a:p>
      </dgm:t>
    </dgm:pt>
    <dgm:pt modelId="{9AF45169-19FD-40F2-8092-BACE14A2205A}" type="parTrans" cxnId="{BDA45A60-F9C5-4F93-AA96-CDC337D9D293}">
      <dgm:prSet/>
      <dgm:spPr/>
      <dgm:t>
        <a:bodyPr/>
        <a:lstStyle/>
        <a:p>
          <a:endParaRPr lang="es-PE" sz="2400"/>
        </a:p>
      </dgm:t>
    </dgm:pt>
    <dgm:pt modelId="{E794C780-A5DB-41FE-9B87-8578C36BB25A}" type="sibTrans" cxnId="{BDA45A60-F9C5-4F93-AA96-CDC337D9D293}">
      <dgm:prSet/>
      <dgm:spPr/>
      <dgm:t>
        <a:bodyPr/>
        <a:lstStyle/>
        <a:p>
          <a:endParaRPr lang="es-PE" sz="2400"/>
        </a:p>
      </dgm:t>
    </dgm:pt>
    <dgm:pt modelId="{12B2A48E-BFC0-40AC-8930-C0B23353977A}">
      <dgm:prSet custT="1"/>
      <dgm:spPr/>
      <dgm:t>
        <a:bodyPr/>
        <a:lstStyle/>
        <a:p>
          <a:r>
            <a:rPr lang="es-MX" sz="2400" dirty="0"/>
            <a:t>Xi: el monto a invertir en acciones tipo i </a:t>
          </a:r>
          <a:endParaRPr lang="es-PE" sz="2400" dirty="0"/>
        </a:p>
      </dgm:t>
    </dgm:pt>
    <dgm:pt modelId="{58EF4C80-5C9D-42DE-ACA8-6F5656F8389E}" type="parTrans" cxnId="{907BE18F-66EB-4CD3-84BA-B87A90CDF5CF}">
      <dgm:prSet/>
      <dgm:spPr/>
      <dgm:t>
        <a:bodyPr/>
        <a:lstStyle/>
        <a:p>
          <a:endParaRPr lang="es-PE" sz="2400"/>
        </a:p>
      </dgm:t>
    </dgm:pt>
    <dgm:pt modelId="{6761DEAD-78AA-4FB5-AD09-7781EC0411AF}" type="sibTrans" cxnId="{907BE18F-66EB-4CD3-84BA-B87A90CDF5CF}">
      <dgm:prSet/>
      <dgm:spPr/>
      <dgm:t>
        <a:bodyPr/>
        <a:lstStyle/>
        <a:p>
          <a:endParaRPr lang="es-PE" sz="2400"/>
        </a:p>
      </dgm:t>
    </dgm:pt>
    <dgm:pt modelId="{74D396F3-F64D-459B-8629-644EF29389F1}">
      <dgm:prSet custT="1"/>
      <dgm:spPr/>
      <dgm:t>
        <a:bodyPr/>
        <a:lstStyle/>
        <a:p>
          <a:r>
            <a:rPr lang="es-MX" sz="2400" dirty="0" err="1"/>
            <a:t>X1</a:t>
          </a:r>
          <a:r>
            <a:rPr lang="es-MX" sz="2400" dirty="0"/>
            <a:t> + </a:t>
          </a:r>
          <a:r>
            <a:rPr lang="es-MX" sz="2400" dirty="0" err="1"/>
            <a:t>X2</a:t>
          </a:r>
          <a:r>
            <a:rPr lang="es-MX" sz="2400" dirty="0"/>
            <a:t> + </a:t>
          </a:r>
          <a:r>
            <a:rPr lang="es-MX" sz="2400" dirty="0" err="1"/>
            <a:t>X3</a:t>
          </a:r>
          <a:r>
            <a:rPr lang="es-MX" sz="2400" dirty="0"/>
            <a:t> &lt;=2000  , disponibilidad para invertir</a:t>
          </a:r>
          <a:endParaRPr lang="es-PE" sz="2400" dirty="0"/>
        </a:p>
      </dgm:t>
    </dgm:pt>
    <dgm:pt modelId="{32E124EA-9E81-4832-B529-BE6455FCA00E}" type="parTrans" cxnId="{559B288B-7F4B-4230-A6F0-412AE6D181FA}">
      <dgm:prSet/>
      <dgm:spPr/>
      <dgm:t>
        <a:bodyPr/>
        <a:lstStyle/>
        <a:p>
          <a:endParaRPr lang="es-PE" sz="2400"/>
        </a:p>
      </dgm:t>
    </dgm:pt>
    <dgm:pt modelId="{29FDFC8D-56DE-49C3-B7A4-F52199A94C76}" type="sibTrans" cxnId="{559B288B-7F4B-4230-A6F0-412AE6D181FA}">
      <dgm:prSet/>
      <dgm:spPr/>
      <dgm:t>
        <a:bodyPr/>
        <a:lstStyle/>
        <a:p>
          <a:endParaRPr lang="es-PE" sz="2400"/>
        </a:p>
      </dgm:t>
    </dgm:pt>
    <dgm:pt modelId="{C67D012D-4625-4241-A705-1EE6FEF0F07B}">
      <dgm:prSet custT="1"/>
      <dgm:spPr/>
      <dgm:t>
        <a:bodyPr/>
        <a:lstStyle/>
        <a:p>
          <a:r>
            <a:rPr lang="es-MX" sz="2400" dirty="0" err="1"/>
            <a:t>X1</a:t>
          </a:r>
          <a:r>
            <a:rPr lang="es-MX" sz="2400" dirty="0"/>
            <a:t> &gt;= 0.20*2000     , inversión mínima tipo A</a:t>
          </a:r>
          <a:endParaRPr lang="es-PE" sz="2400" dirty="0"/>
        </a:p>
      </dgm:t>
    </dgm:pt>
    <dgm:pt modelId="{E25D82F7-F67C-4620-AA1E-28E5B4442C16}" type="parTrans" cxnId="{62019C2B-7378-4613-B35B-5A2F966CCA32}">
      <dgm:prSet/>
      <dgm:spPr/>
      <dgm:t>
        <a:bodyPr/>
        <a:lstStyle/>
        <a:p>
          <a:endParaRPr lang="es-PE" sz="2400"/>
        </a:p>
      </dgm:t>
    </dgm:pt>
    <dgm:pt modelId="{1C6D92AE-D07F-4064-9338-D8119179ECFB}" type="sibTrans" cxnId="{62019C2B-7378-4613-B35B-5A2F966CCA32}">
      <dgm:prSet/>
      <dgm:spPr/>
      <dgm:t>
        <a:bodyPr/>
        <a:lstStyle/>
        <a:p>
          <a:endParaRPr lang="es-PE" sz="2400"/>
        </a:p>
      </dgm:t>
    </dgm:pt>
    <dgm:pt modelId="{C4C7E716-B84D-43D5-91A6-DEBFBE11E913}">
      <dgm:prSet custT="1"/>
      <dgm:spPr/>
      <dgm:t>
        <a:bodyPr/>
        <a:lstStyle/>
        <a:p>
          <a:r>
            <a:rPr lang="es-MX" sz="2400" dirty="0" err="1"/>
            <a:t>X2</a:t>
          </a:r>
          <a:r>
            <a:rPr lang="es-MX" sz="2400" dirty="0"/>
            <a:t> &gt;= 0.20*2000     , inversión mínima tipo B</a:t>
          </a:r>
          <a:endParaRPr lang="es-PE" sz="2400" dirty="0"/>
        </a:p>
      </dgm:t>
    </dgm:pt>
    <dgm:pt modelId="{0C9E0A69-ACE6-4E74-95BD-98E8FEFD3FCF}" type="parTrans" cxnId="{5F97712E-A572-4823-8B44-EC8A23945BEF}">
      <dgm:prSet/>
      <dgm:spPr/>
      <dgm:t>
        <a:bodyPr/>
        <a:lstStyle/>
        <a:p>
          <a:endParaRPr lang="es-PE" sz="2400"/>
        </a:p>
      </dgm:t>
    </dgm:pt>
    <dgm:pt modelId="{4979CC95-DFDA-4569-B19E-BA7B8A5AA843}" type="sibTrans" cxnId="{5F97712E-A572-4823-8B44-EC8A23945BEF}">
      <dgm:prSet/>
      <dgm:spPr/>
      <dgm:t>
        <a:bodyPr/>
        <a:lstStyle/>
        <a:p>
          <a:endParaRPr lang="es-PE" sz="2400"/>
        </a:p>
      </dgm:t>
    </dgm:pt>
    <dgm:pt modelId="{D196E1C0-F6B1-42AE-9393-00371B622DF8}">
      <dgm:prSet custT="1"/>
      <dgm:spPr/>
      <dgm:t>
        <a:bodyPr/>
        <a:lstStyle/>
        <a:p>
          <a:r>
            <a:rPr lang="es-MX" sz="2400" dirty="0" err="1"/>
            <a:t>X3</a:t>
          </a:r>
          <a:r>
            <a:rPr lang="es-MX" sz="2400" dirty="0"/>
            <a:t> &gt;= 0.20*2000     , inversión mínima tipo C</a:t>
          </a:r>
          <a:endParaRPr lang="es-PE" sz="2400" dirty="0"/>
        </a:p>
      </dgm:t>
    </dgm:pt>
    <dgm:pt modelId="{D90427DC-C51A-49B6-B89E-8B7D8872F8A4}" type="parTrans" cxnId="{735ECB8C-9182-4C2E-9246-1476605C3339}">
      <dgm:prSet/>
      <dgm:spPr/>
      <dgm:t>
        <a:bodyPr/>
        <a:lstStyle/>
        <a:p>
          <a:endParaRPr lang="es-PE" sz="2400"/>
        </a:p>
      </dgm:t>
    </dgm:pt>
    <dgm:pt modelId="{B852437D-8681-4C2F-8081-4032A7AE6FA7}" type="sibTrans" cxnId="{735ECB8C-9182-4C2E-9246-1476605C3339}">
      <dgm:prSet/>
      <dgm:spPr/>
      <dgm:t>
        <a:bodyPr/>
        <a:lstStyle/>
        <a:p>
          <a:endParaRPr lang="es-PE" sz="2400"/>
        </a:p>
      </dgm:t>
    </dgm:pt>
    <dgm:pt modelId="{7467BE25-2A14-4CE0-AFFC-4C2DFC53F8F0}">
      <dgm:prSet custT="1"/>
      <dgm:spPr/>
      <dgm:t>
        <a:bodyPr/>
        <a:lstStyle/>
        <a:p>
          <a:r>
            <a:rPr lang="es-MX" sz="2400"/>
            <a:t>A las restricciones =, se les llama restricciones obligatorias.</a:t>
          </a:r>
          <a:endParaRPr lang="es-PE" sz="2400"/>
        </a:p>
      </dgm:t>
    </dgm:pt>
    <dgm:pt modelId="{AD0DFA12-33D1-4B0D-BC10-2228BA7A181B}" type="parTrans" cxnId="{69857525-B46C-4035-93DC-10033395E144}">
      <dgm:prSet/>
      <dgm:spPr/>
      <dgm:t>
        <a:bodyPr/>
        <a:lstStyle/>
        <a:p>
          <a:endParaRPr lang="es-PE" sz="2400"/>
        </a:p>
      </dgm:t>
    </dgm:pt>
    <dgm:pt modelId="{ED26D6EF-0705-459D-8B25-3BDED880915E}" type="sibTrans" cxnId="{69857525-B46C-4035-93DC-10033395E144}">
      <dgm:prSet/>
      <dgm:spPr/>
      <dgm:t>
        <a:bodyPr/>
        <a:lstStyle/>
        <a:p>
          <a:endParaRPr lang="es-PE" sz="2400"/>
        </a:p>
      </dgm:t>
    </dgm:pt>
    <dgm:pt modelId="{82D0A23E-13D9-4248-A1B3-BFB45C494061}">
      <dgm:prSet custT="1"/>
      <dgm:spPr/>
      <dgm:t>
        <a:bodyPr/>
        <a:lstStyle/>
        <a:p>
          <a:r>
            <a:rPr lang="es-MX" sz="2400"/>
            <a:t>La solución para invertir en acciones tipo A, B y C la suma de las tres decisiones deben sumar 200,000 dólares. A: 100000, B=60000 y C=40000</a:t>
          </a:r>
          <a:endParaRPr lang="es-PE" sz="2400"/>
        </a:p>
      </dgm:t>
    </dgm:pt>
    <dgm:pt modelId="{5B351D59-FCDC-4EC9-9A84-A5CEB2767776}" type="parTrans" cxnId="{632BF78F-D4E6-4FE1-92A8-A3A49F6E08CB}">
      <dgm:prSet/>
      <dgm:spPr/>
      <dgm:t>
        <a:bodyPr/>
        <a:lstStyle/>
        <a:p>
          <a:endParaRPr lang="es-PE" sz="2400"/>
        </a:p>
      </dgm:t>
    </dgm:pt>
    <dgm:pt modelId="{916B9568-A420-412F-BF73-E6E7517D9964}" type="sibTrans" cxnId="{632BF78F-D4E6-4FE1-92A8-A3A49F6E08CB}">
      <dgm:prSet/>
      <dgm:spPr/>
      <dgm:t>
        <a:bodyPr/>
        <a:lstStyle/>
        <a:p>
          <a:endParaRPr lang="es-PE" sz="2400"/>
        </a:p>
      </dgm:t>
    </dgm:pt>
    <dgm:pt modelId="{E4D9713E-FF21-4400-A536-FFB366B1BE11}" type="pres">
      <dgm:prSet presAssocID="{A65C4834-6836-443B-BCCE-9F8675676D4D}" presName="Name0" presStyleCnt="0">
        <dgm:presLayoutVars>
          <dgm:dir/>
          <dgm:animLvl val="lvl"/>
          <dgm:resizeHandles val="exact"/>
        </dgm:presLayoutVars>
      </dgm:prSet>
      <dgm:spPr/>
    </dgm:pt>
    <dgm:pt modelId="{3B51A6AC-A959-4FCF-BDB9-E123872A41A3}" type="pres">
      <dgm:prSet presAssocID="{489C809E-7E4D-46E7-A0E9-742C7D236BB7}" presName="linNode" presStyleCnt="0"/>
      <dgm:spPr/>
    </dgm:pt>
    <dgm:pt modelId="{51D38ED5-CB09-4604-834A-4C733E484BBC}" type="pres">
      <dgm:prSet presAssocID="{489C809E-7E4D-46E7-A0E9-742C7D236BB7}" presName="parentText" presStyleLbl="node1" presStyleIdx="0" presStyleCnt="2" custScaleY="79361">
        <dgm:presLayoutVars>
          <dgm:chMax val="1"/>
          <dgm:bulletEnabled val="1"/>
        </dgm:presLayoutVars>
      </dgm:prSet>
      <dgm:spPr/>
    </dgm:pt>
    <dgm:pt modelId="{33E61997-91ED-4071-8F1F-22B59D3504B3}" type="pres">
      <dgm:prSet presAssocID="{489C809E-7E4D-46E7-A0E9-742C7D236BB7}" presName="descendantText" presStyleLbl="alignAccFollowNode1" presStyleIdx="0" presStyleCnt="2" custScaleY="95148">
        <dgm:presLayoutVars>
          <dgm:bulletEnabled val="1"/>
        </dgm:presLayoutVars>
      </dgm:prSet>
      <dgm:spPr/>
    </dgm:pt>
    <dgm:pt modelId="{42F96282-76FB-4DBA-993D-1E35C2FA18A0}" type="pres">
      <dgm:prSet presAssocID="{E794C780-A5DB-41FE-9B87-8578C36BB25A}" presName="sp" presStyleCnt="0"/>
      <dgm:spPr/>
    </dgm:pt>
    <dgm:pt modelId="{B9C93FF7-5701-42AF-83AB-BF52E9918A56}" type="pres">
      <dgm:prSet presAssocID="{7467BE25-2A14-4CE0-AFFC-4C2DFC53F8F0}" presName="linNode" presStyleCnt="0"/>
      <dgm:spPr/>
    </dgm:pt>
    <dgm:pt modelId="{6F72F4DA-E2C7-4E69-9C47-EEAF93F72C99}" type="pres">
      <dgm:prSet presAssocID="{7467BE25-2A14-4CE0-AFFC-4C2DFC53F8F0}" presName="parentText" presStyleLbl="node1" presStyleIdx="1" presStyleCnt="2" custScaleY="46468">
        <dgm:presLayoutVars>
          <dgm:chMax val="1"/>
          <dgm:bulletEnabled val="1"/>
        </dgm:presLayoutVars>
      </dgm:prSet>
      <dgm:spPr/>
    </dgm:pt>
    <dgm:pt modelId="{111C3BF7-96C5-410A-9514-ECC5536677E2}" type="pres">
      <dgm:prSet presAssocID="{7467BE25-2A14-4CE0-AFFC-4C2DFC53F8F0}" presName="descendantText" presStyleLbl="alignAccFollowNode1" presStyleIdx="1" presStyleCnt="2" custScaleY="56588">
        <dgm:presLayoutVars>
          <dgm:bulletEnabled val="1"/>
        </dgm:presLayoutVars>
      </dgm:prSet>
      <dgm:spPr/>
    </dgm:pt>
  </dgm:ptLst>
  <dgm:cxnLst>
    <dgm:cxn modelId="{682BFB00-7FF2-4595-B428-70AB327A066F}" type="presOf" srcId="{489C809E-7E4D-46E7-A0E9-742C7D236BB7}" destId="{51D38ED5-CB09-4604-834A-4C733E484BBC}" srcOrd="0" destOrd="0" presId="urn:microsoft.com/office/officeart/2005/8/layout/vList5"/>
    <dgm:cxn modelId="{1977C80C-FEAC-4733-A5E1-6064C8E3492F}" type="presOf" srcId="{A65C4834-6836-443B-BCCE-9F8675676D4D}" destId="{E4D9713E-FF21-4400-A536-FFB366B1BE11}" srcOrd="0" destOrd="0" presId="urn:microsoft.com/office/officeart/2005/8/layout/vList5"/>
    <dgm:cxn modelId="{69857525-B46C-4035-93DC-10033395E144}" srcId="{A65C4834-6836-443B-BCCE-9F8675676D4D}" destId="{7467BE25-2A14-4CE0-AFFC-4C2DFC53F8F0}" srcOrd="1" destOrd="0" parTransId="{AD0DFA12-33D1-4B0D-BC10-2228BA7A181B}" sibTransId="{ED26D6EF-0705-459D-8B25-3BDED880915E}"/>
    <dgm:cxn modelId="{62019C2B-7378-4613-B35B-5A2F966CCA32}" srcId="{489C809E-7E4D-46E7-A0E9-742C7D236BB7}" destId="{C67D012D-4625-4241-A705-1EE6FEF0F07B}" srcOrd="2" destOrd="0" parTransId="{E25D82F7-F67C-4620-AA1E-28E5B4442C16}" sibTransId="{1C6D92AE-D07F-4064-9338-D8119179ECFB}"/>
    <dgm:cxn modelId="{5F97712E-A572-4823-8B44-EC8A23945BEF}" srcId="{489C809E-7E4D-46E7-A0E9-742C7D236BB7}" destId="{C4C7E716-B84D-43D5-91A6-DEBFBE11E913}" srcOrd="3" destOrd="0" parTransId="{0C9E0A69-ACE6-4E74-95BD-98E8FEFD3FCF}" sibTransId="{4979CC95-DFDA-4569-B19E-BA7B8A5AA843}"/>
    <dgm:cxn modelId="{BDA45A60-F9C5-4F93-AA96-CDC337D9D293}" srcId="{A65C4834-6836-443B-BCCE-9F8675676D4D}" destId="{489C809E-7E4D-46E7-A0E9-742C7D236BB7}" srcOrd="0" destOrd="0" parTransId="{9AF45169-19FD-40F2-8092-BACE14A2205A}" sibTransId="{E794C780-A5DB-41FE-9B87-8578C36BB25A}"/>
    <dgm:cxn modelId="{DAF7F743-9B46-4768-9DFA-096FA10DED44}" type="presOf" srcId="{74D396F3-F64D-459B-8629-644EF29389F1}" destId="{33E61997-91ED-4071-8F1F-22B59D3504B3}" srcOrd="0" destOrd="1" presId="urn:microsoft.com/office/officeart/2005/8/layout/vList5"/>
    <dgm:cxn modelId="{4ABC1B51-7187-40C1-ADC0-047CAF4A77C1}" type="presOf" srcId="{D196E1C0-F6B1-42AE-9393-00371B622DF8}" destId="{33E61997-91ED-4071-8F1F-22B59D3504B3}" srcOrd="0" destOrd="4" presId="urn:microsoft.com/office/officeart/2005/8/layout/vList5"/>
    <dgm:cxn modelId="{7CC8467D-CE6D-422A-A069-C19F0598FD4D}" type="presOf" srcId="{C4C7E716-B84D-43D5-91A6-DEBFBE11E913}" destId="{33E61997-91ED-4071-8F1F-22B59D3504B3}" srcOrd="0" destOrd="3" presId="urn:microsoft.com/office/officeart/2005/8/layout/vList5"/>
    <dgm:cxn modelId="{559B288B-7F4B-4230-A6F0-412AE6D181FA}" srcId="{489C809E-7E4D-46E7-A0E9-742C7D236BB7}" destId="{74D396F3-F64D-459B-8629-644EF29389F1}" srcOrd="1" destOrd="0" parTransId="{32E124EA-9E81-4832-B529-BE6455FCA00E}" sibTransId="{29FDFC8D-56DE-49C3-B7A4-F52199A94C76}"/>
    <dgm:cxn modelId="{735ECB8C-9182-4C2E-9246-1476605C3339}" srcId="{489C809E-7E4D-46E7-A0E9-742C7D236BB7}" destId="{D196E1C0-F6B1-42AE-9393-00371B622DF8}" srcOrd="4" destOrd="0" parTransId="{D90427DC-C51A-49B6-B89E-8B7D8872F8A4}" sibTransId="{B852437D-8681-4C2F-8081-4032A7AE6FA7}"/>
    <dgm:cxn modelId="{907BE18F-66EB-4CD3-84BA-B87A90CDF5CF}" srcId="{489C809E-7E4D-46E7-A0E9-742C7D236BB7}" destId="{12B2A48E-BFC0-40AC-8930-C0B23353977A}" srcOrd="0" destOrd="0" parTransId="{58EF4C80-5C9D-42DE-ACA8-6F5656F8389E}" sibTransId="{6761DEAD-78AA-4FB5-AD09-7781EC0411AF}"/>
    <dgm:cxn modelId="{632BF78F-D4E6-4FE1-92A8-A3A49F6E08CB}" srcId="{7467BE25-2A14-4CE0-AFFC-4C2DFC53F8F0}" destId="{82D0A23E-13D9-4248-A1B3-BFB45C494061}" srcOrd="0" destOrd="0" parTransId="{5B351D59-FCDC-4EC9-9A84-A5CEB2767776}" sibTransId="{916B9568-A420-412F-BF73-E6E7517D9964}"/>
    <dgm:cxn modelId="{DF672EAC-CF23-411E-85B5-5379C1163ED5}" type="presOf" srcId="{7467BE25-2A14-4CE0-AFFC-4C2DFC53F8F0}" destId="{6F72F4DA-E2C7-4E69-9C47-EEAF93F72C99}" srcOrd="0" destOrd="0" presId="urn:microsoft.com/office/officeart/2005/8/layout/vList5"/>
    <dgm:cxn modelId="{4277B8ED-CF69-4154-B4A2-6DE622899719}" type="presOf" srcId="{C67D012D-4625-4241-A705-1EE6FEF0F07B}" destId="{33E61997-91ED-4071-8F1F-22B59D3504B3}" srcOrd="0" destOrd="2" presId="urn:microsoft.com/office/officeart/2005/8/layout/vList5"/>
    <dgm:cxn modelId="{18EC10FB-D52A-4F0F-A4FD-D34F8C793470}" type="presOf" srcId="{82D0A23E-13D9-4248-A1B3-BFB45C494061}" destId="{111C3BF7-96C5-410A-9514-ECC5536677E2}" srcOrd="0" destOrd="0" presId="urn:microsoft.com/office/officeart/2005/8/layout/vList5"/>
    <dgm:cxn modelId="{3FE961FB-8511-4F13-80AE-5090F0831770}" type="presOf" srcId="{12B2A48E-BFC0-40AC-8930-C0B23353977A}" destId="{33E61997-91ED-4071-8F1F-22B59D3504B3}" srcOrd="0" destOrd="0" presId="urn:microsoft.com/office/officeart/2005/8/layout/vList5"/>
    <dgm:cxn modelId="{51116604-ED90-418C-85E5-35931D15FEDE}" type="presParOf" srcId="{E4D9713E-FF21-4400-A536-FFB366B1BE11}" destId="{3B51A6AC-A959-4FCF-BDB9-E123872A41A3}" srcOrd="0" destOrd="0" presId="urn:microsoft.com/office/officeart/2005/8/layout/vList5"/>
    <dgm:cxn modelId="{5C6FBC94-785A-468A-8133-561A343B2D53}" type="presParOf" srcId="{3B51A6AC-A959-4FCF-BDB9-E123872A41A3}" destId="{51D38ED5-CB09-4604-834A-4C733E484BBC}" srcOrd="0" destOrd="0" presId="urn:microsoft.com/office/officeart/2005/8/layout/vList5"/>
    <dgm:cxn modelId="{4F500DDB-4555-4C85-B798-00E494F0F129}" type="presParOf" srcId="{3B51A6AC-A959-4FCF-BDB9-E123872A41A3}" destId="{33E61997-91ED-4071-8F1F-22B59D3504B3}" srcOrd="1" destOrd="0" presId="urn:microsoft.com/office/officeart/2005/8/layout/vList5"/>
    <dgm:cxn modelId="{A9C221AE-2351-44AC-A828-AA1C5A2BF355}" type="presParOf" srcId="{E4D9713E-FF21-4400-A536-FFB366B1BE11}" destId="{42F96282-76FB-4DBA-993D-1E35C2FA18A0}" srcOrd="1" destOrd="0" presId="urn:microsoft.com/office/officeart/2005/8/layout/vList5"/>
    <dgm:cxn modelId="{531FD1BC-7B63-4FA5-BF10-63EB3799010A}" type="presParOf" srcId="{E4D9713E-FF21-4400-A536-FFB366B1BE11}" destId="{B9C93FF7-5701-42AF-83AB-BF52E9918A56}" srcOrd="2" destOrd="0" presId="urn:microsoft.com/office/officeart/2005/8/layout/vList5"/>
    <dgm:cxn modelId="{EA1EE063-FFF9-4E95-BA49-99B06C1FAE59}" type="presParOf" srcId="{B9C93FF7-5701-42AF-83AB-BF52E9918A56}" destId="{6F72F4DA-E2C7-4E69-9C47-EEAF93F72C99}" srcOrd="0" destOrd="0" presId="urn:microsoft.com/office/officeart/2005/8/layout/vList5"/>
    <dgm:cxn modelId="{B35C3662-B340-4C1B-9791-397F3CFFDAF0}" type="presParOf" srcId="{B9C93FF7-5701-42AF-83AB-BF52E9918A56}" destId="{111C3BF7-96C5-410A-9514-ECC5536677E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2F43D3E-E51F-4271-883C-E1F6A6A1BF6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61F2AC21-89D1-4126-B4DB-C88D7F872EE6}">
      <dgm:prSet custT="1"/>
      <dgm:spPr/>
      <dgm:t>
        <a:bodyPr/>
        <a:lstStyle/>
        <a:p>
          <a:r>
            <a:rPr lang="es-MX" sz="2800" dirty="0"/>
            <a:t>Variables de decisión</a:t>
          </a:r>
          <a:endParaRPr lang="es-PE" sz="2800" dirty="0"/>
        </a:p>
      </dgm:t>
    </dgm:pt>
    <dgm:pt modelId="{9E182FBD-12DC-46A8-AA2B-06BF7D7AD9FB}" type="parTrans" cxnId="{4B2F13E3-8B6C-4291-B0C3-906BC0DAC331}">
      <dgm:prSet/>
      <dgm:spPr/>
      <dgm:t>
        <a:bodyPr/>
        <a:lstStyle/>
        <a:p>
          <a:endParaRPr lang="es-PE" sz="2800"/>
        </a:p>
      </dgm:t>
    </dgm:pt>
    <dgm:pt modelId="{4959AEF4-504B-4CD9-B099-EB1C44EF8801}" type="sibTrans" cxnId="{4B2F13E3-8B6C-4291-B0C3-906BC0DAC331}">
      <dgm:prSet/>
      <dgm:spPr/>
      <dgm:t>
        <a:bodyPr/>
        <a:lstStyle/>
        <a:p>
          <a:endParaRPr lang="es-PE" sz="2800"/>
        </a:p>
      </dgm:t>
    </dgm:pt>
    <dgm:pt modelId="{371DE245-EE5E-4234-A600-2DD802F667EB}">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247650" tIns="123825" rIns="247650" bIns="123825" numCol="1" spcCol="1270" anchor="ctr" anchorCtr="0"/>
        <a:lstStyle/>
        <a:p>
          <a:r>
            <a:rPr lang="es-MX" sz="2800" kern="1200" dirty="0">
              <a:solidFill>
                <a:prstClr val="black">
                  <a:hueOff val="0"/>
                  <a:satOff val="0"/>
                  <a:lumOff val="0"/>
                  <a:alphaOff val="0"/>
                </a:prstClr>
              </a:solidFill>
              <a:latin typeface="Calibri" panose="020F0502020204030204"/>
              <a:ea typeface="+mn-ea"/>
              <a:cs typeface="+mn-cs"/>
            </a:rPr>
            <a:t>Representan</a:t>
          </a:r>
          <a:r>
            <a:rPr lang="es-MX" sz="2800" kern="1200" dirty="0"/>
            <a:t> a los niveles de actividad. </a:t>
          </a:r>
          <a:endParaRPr lang="es-PE" sz="2800" kern="1200" dirty="0"/>
        </a:p>
      </dgm:t>
    </dgm:pt>
    <dgm:pt modelId="{B635BD5D-792B-41B5-AABE-B0CB0F9B91D5}" type="parTrans" cxnId="{E16211B9-153D-4820-A3CA-DFFF3788DDA5}">
      <dgm:prSet/>
      <dgm:spPr/>
      <dgm:t>
        <a:bodyPr/>
        <a:lstStyle/>
        <a:p>
          <a:endParaRPr lang="es-PE" sz="2800"/>
        </a:p>
      </dgm:t>
    </dgm:pt>
    <dgm:pt modelId="{9714CC35-D719-4142-A2C3-B917998FA63F}" type="sibTrans" cxnId="{E16211B9-153D-4820-A3CA-DFFF3788DDA5}">
      <dgm:prSet/>
      <dgm:spPr/>
      <dgm:t>
        <a:bodyPr/>
        <a:lstStyle/>
        <a:p>
          <a:endParaRPr lang="es-PE" sz="2800"/>
        </a:p>
      </dgm:t>
    </dgm:pt>
    <dgm:pt modelId="{F645CAA2-AC43-429A-A366-FA8895F2CC63}">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247650" tIns="123825" rIns="247650" bIns="123825" numCol="1" spcCol="1270" anchor="ctr" anchorCtr="0"/>
        <a:lstStyle/>
        <a:p>
          <a:r>
            <a:rPr lang="es-MX" sz="2800" kern="1200" dirty="0"/>
            <a:t>Son los valores no conocidos del sistema y deben ser representados por variables.</a:t>
          </a:r>
          <a:endParaRPr lang="es-PE" sz="2800" kern="1200" dirty="0"/>
        </a:p>
      </dgm:t>
    </dgm:pt>
    <dgm:pt modelId="{275698F4-5FB4-45EC-8CC8-29CBB9AD57AE}" type="parTrans" cxnId="{F0792489-9C3B-4F9E-95A7-9BF47562AC5D}">
      <dgm:prSet/>
      <dgm:spPr/>
      <dgm:t>
        <a:bodyPr/>
        <a:lstStyle/>
        <a:p>
          <a:endParaRPr lang="es-PE" sz="2800"/>
        </a:p>
      </dgm:t>
    </dgm:pt>
    <dgm:pt modelId="{26D5CA5E-4CEF-4F70-9C97-E495B405311A}" type="sibTrans" cxnId="{F0792489-9C3B-4F9E-95A7-9BF47562AC5D}">
      <dgm:prSet/>
      <dgm:spPr/>
      <dgm:t>
        <a:bodyPr/>
        <a:lstStyle/>
        <a:p>
          <a:endParaRPr lang="es-PE" sz="2800"/>
        </a:p>
      </dgm:t>
    </dgm:pt>
    <dgm:pt modelId="{132C454C-4266-4E6F-AF3A-6E00016F5BCC}" type="pres">
      <dgm:prSet presAssocID="{F2F43D3E-E51F-4271-883C-E1F6A6A1BF61}" presName="Name0" presStyleCnt="0">
        <dgm:presLayoutVars>
          <dgm:dir/>
          <dgm:animLvl val="lvl"/>
          <dgm:resizeHandles val="exact"/>
        </dgm:presLayoutVars>
      </dgm:prSet>
      <dgm:spPr/>
    </dgm:pt>
    <dgm:pt modelId="{904DBD62-ED92-4FB6-81DB-B1C26A6F0A34}" type="pres">
      <dgm:prSet presAssocID="{61F2AC21-89D1-4126-B4DB-C88D7F872EE6}" presName="linNode" presStyleCnt="0"/>
      <dgm:spPr/>
    </dgm:pt>
    <dgm:pt modelId="{791089C8-73D0-4A9D-8A9E-2DA867125EDB}" type="pres">
      <dgm:prSet presAssocID="{61F2AC21-89D1-4126-B4DB-C88D7F872EE6}" presName="parentText" presStyleLbl="node1" presStyleIdx="0" presStyleCnt="1" custScaleX="71819" custScaleY="93356">
        <dgm:presLayoutVars>
          <dgm:chMax val="1"/>
          <dgm:bulletEnabled val="1"/>
        </dgm:presLayoutVars>
      </dgm:prSet>
      <dgm:spPr/>
    </dgm:pt>
    <dgm:pt modelId="{E0339DA5-D10B-4F2B-BD95-6CF891C22B2D}" type="pres">
      <dgm:prSet presAssocID="{61F2AC21-89D1-4126-B4DB-C88D7F872EE6}" presName="descendantText" presStyleLbl="alignAccFollowNode1" presStyleIdx="0" presStyleCnt="1" custScaleX="124035" custScaleY="116329">
        <dgm:presLayoutVars>
          <dgm:bulletEnabled val="1"/>
        </dgm:presLayoutVars>
      </dgm:prSet>
      <dgm:spPr>
        <a:xfrm rot="5400000">
          <a:off x="6027281" y="-2455360"/>
          <a:ext cx="1825926" cy="6874666"/>
        </a:xfrm>
        <a:prstGeom prst="round2SameRect">
          <a:avLst/>
        </a:prstGeom>
      </dgm:spPr>
    </dgm:pt>
  </dgm:ptLst>
  <dgm:cxnLst>
    <dgm:cxn modelId="{BF8FA329-ED49-4AFF-B388-4C442435C731}" type="presOf" srcId="{371DE245-EE5E-4234-A600-2DD802F667EB}" destId="{E0339DA5-D10B-4F2B-BD95-6CF891C22B2D}" srcOrd="0" destOrd="0" presId="urn:microsoft.com/office/officeart/2005/8/layout/vList5"/>
    <dgm:cxn modelId="{D3E15078-A209-46D3-8095-332956D37901}" type="presOf" srcId="{61F2AC21-89D1-4126-B4DB-C88D7F872EE6}" destId="{791089C8-73D0-4A9D-8A9E-2DA867125EDB}" srcOrd="0" destOrd="0" presId="urn:microsoft.com/office/officeart/2005/8/layout/vList5"/>
    <dgm:cxn modelId="{F0792489-9C3B-4F9E-95A7-9BF47562AC5D}" srcId="{61F2AC21-89D1-4126-B4DB-C88D7F872EE6}" destId="{F645CAA2-AC43-429A-A366-FA8895F2CC63}" srcOrd="1" destOrd="0" parTransId="{275698F4-5FB4-45EC-8CC8-29CBB9AD57AE}" sibTransId="{26D5CA5E-4CEF-4F70-9C97-E495B405311A}"/>
    <dgm:cxn modelId="{C2800792-7C3F-46E6-8EC9-2FA0E4636FB5}" type="presOf" srcId="{F2F43D3E-E51F-4271-883C-E1F6A6A1BF61}" destId="{132C454C-4266-4E6F-AF3A-6E00016F5BCC}" srcOrd="0" destOrd="0" presId="urn:microsoft.com/office/officeart/2005/8/layout/vList5"/>
    <dgm:cxn modelId="{5143EE9C-36A0-4418-A42A-D5607C7B81CA}" type="presOf" srcId="{F645CAA2-AC43-429A-A366-FA8895F2CC63}" destId="{E0339DA5-D10B-4F2B-BD95-6CF891C22B2D}" srcOrd="0" destOrd="1" presId="urn:microsoft.com/office/officeart/2005/8/layout/vList5"/>
    <dgm:cxn modelId="{E16211B9-153D-4820-A3CA-DFFF3788DDA5}" srcId="{61F2AC21-89D1-4126-B4DB-C88D7F872EE6}" destId="{371DE245-EE5E-4234-A600-2DD802F667EB}" srcOrd="0" destOrd="0" parTransId="{B635BD5D-792B-41B5-AABE-B0CB0F9B91D5}" sibTransId="{9714CC35-D719-4142-A2C3-B917998FA63F}"/>
    <dgm:cxn modelId="{4B2F13E3-8B6C-4291-B0C3-906BC0DAC331}" srcId="{F2F43D3E-E51F-4271-883C-E1F6A6A1BF61}" destId="{61F2AC21-89D1-4126-B4DB-C88D7F872EE6}" srcOrd="0" destOrd="0" parTransId="{9E182FBD-12DC-46A8-AA2B-06BF7D7AD9FB}" sibTransId="{4959AEF4-504B-4CD9-B099-EB1C44EF8801}"/>
    <dgm:cxn modelId="{801F83AD-4E11-4A53-91A5-C27517E61579}" type="presParOf" srcId="{132C454C-4266-4E6F-AF3A-6E00016F5BCC}" destId="{904DBD62-ED92-4FB6-81DB-B1C26A6F0A34}" srcOrd="0" destOrd="0" presId="urn:microsoft.com/office/officeart/2005/8/layout/vList5"/>
    <dgm:cxn modelId="{9C942BCC-CABA-4EDF-ACEA-D30DEE3D60D1}" type="presParOf" srcId="{904DBD62-ED92-4FB6-81DB-B1C26A6F0A34}" destId="{791089C8-73D0-4A9D-8A9E-2DA867125EDB}" srcOrd="0" destOrd="0" presId="urn:microsoft.com/office/officeart/2005/8/layout/vList5"/>
    <dgm:cxn modelId="{412ED8E5-5957-405C-94A8-80C4A6BC9156}" type="presParOf" srcId="{904DBD62-ED92-4FB6-81DB-B1C26A6F0A34}" destId="{E0339DA5-D10B-4F2B-BD95-6CF891C22B2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13E1D06-EB00-40C3-8D09-09336B13B47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C5BFCA89-1DB9-446B-A766-15FF8D70BF50}">
      <dgm:prSe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167640" tIns="83820" rIns="167640" bIns="83820" numCol="1" spcCol="1270" anchor="ctr" anchorCtr="0"/>
        <a:lstStyle/>
        <a:p>
          <a:r>
            <a:rPr lang="es-MX" sz="2800" kern="1200" dirty="0">
              <a:solidFill>
                <a:prstClr val="white"/>
              </a:solidFill>
              <a:latin typeface="Calibri" panose="020F0502020204030204"/>
              <a:ea typeface="+mn-ea"/>
              <a:cs typeface="+mn-cs"/>
            </a:rPr>
            <a:t>Datos</a:t>
          </a:r>
          <a:endParaRPr lang="es-PE" sz="2800" kern="1200" dirty="0">
            <a:solidFill>
              <a:prstClr val="white"/>
            </a:solidFill>
            <a:latin typeface="Calibri" panose="020F0502020204030204"/>
            <a:ea typeface="+mn-ea"/>
            <a:cs typeface="+mn-cs"/>
          </a:endParaRPr>
        </a:p>
      </dgm:t>
    </dgm:pt>
    <dgm:pt modelId="{85D82B49-09E0-4A4C-8643-BDDBA317DE0F}" type="parTrans" cxnId="{05C4FC1F-1E4A-4DA7-BAB0-EF008B7D1039}">
      <dgm:prSet/>
      <dgm:spPr/>
      <dgm:t>
        <a:bodyPr/>
        <a:lstStyle/>
        <a:p>
          <a:endParaRPr lang="es-PE" sz="2800"/>
        </a:p>
      </dgm:t>
    </dgm:pt>
    <dgm:pt modelId="{EC81606B-8752-47C5-8FA0-39ADB647991E}" type="sibTrans" cxnId="{05C4FC1F-1E4A-4DA7-BAB0-EF008B7D1039}">
      <dgm:prSet/>
      <dgm:spPr/>
      <dgm:t>
        <a:bodyPr/>
        <a:lstStyle/>
        <a:p>
          <a:endParaRPr lang="es-PE" sz="2800"/>
        </a:p>
      </dgm:t>
    </dgm:pt>
    <dgm:pt modelId="{0E7F92F0-BF13-4242-A3EF-54C6DC0C12BE}">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247650" tIns="123825" rIns="247650" bIns="123825" numCol="1" spcCol="1270" anchor="ctr" anchorCtr="0"/>
        <a:lstStyle/>
        <a:p>
          <a:r>
            <a:rPr lang="es-MX" sz="2800" dirty="0"/>
            <a:t>Son los valores conocidos</a:t>
          </a:r>
          <a:endParaRPr lang="es-PE" sz="2800" dirty="0"/>
        </a:p>
      </dgm:t>
    </dgm:pt>
    <dgm:pt modelId="{08D4B9FC-D517-4C0A-9036-05FA66A72C16}" type="parTrans" cxnId="{0CD8F6B4-EC9E-4EE1-B1EF-16AB6E2BA902}">
      <dgm:prSet/>
      <dgm:spPr/>
      <dgm:t>
        <a:bodyPr/>
        <a:lstStyle/>
        <a:p>
          <a:endParaRPr lang="es-PE" sz="2800"/>
        </a:p>
      </dgm:t>
    </dgm:pt>
    <dgm:pt modelId="{54236441-14B7-478C-A24E-F97D0C1B80B2}" type="sibTrans" cxnId="{0CD8F6B4-EC9E-4EE1-B1EF-16AB6E2BA902}">
      <dgm:prSet/>
      <dgm:spPr/>
      <dgm:t>
        <a:bodyPr/>
        <a:lstStyle/>
        <a:p>
          <a:endParaRPr lang="es-PE" sz="2800"/>
        </a:p>
      </dgm:t>
    </dgm:pt>
    <dgm:pt modelId="{98EC6FD3-01AD-4281-9D1B-80E0476B30C0}">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247650" tIns="123825" rIns="247650" bIns="123825" numCol="1" spcCol="1270" anchor="ctr" anchorCtr="0"/>
        <a:lstStyle/>
        <a:p>
          <a:r>
            <a:rPr lang="es-MX" altLang="es-PE" sz="2800" dirty="0"/>
            <a:t>Son valores determinísticos (Se conocen a priori)</a:t>
          </a:r>
          <a:endParaRPr lang="es-PE" sz="2800" dirty="0"/>
        </a:p>
      </dgm:t>
    </dgm:pt>
    <dgm:pt modelId="{A9CDFCDF-8DA3-4528-8BCA-D25A4AF3871D}" type="parTrans" cxnId="{152F38FF-4FA8-4BB1-A8D5-FA308DF257ED}">
      <dgm:prSet/>
      <dgm:spPr/>
      <dgm:t>
        <a:bodyPr/>
        <a:lstStyle/>
        <a:p>
          <a:endParaRPr lang="es-PE" sz="2800"/>
        </a:p>
      </dgm:t>
    </dgm:pt>
    <dgm:pt modelId="{6BE7BDDF-2258-4220-A698-40851324DF5F}" type="sibTrans" cxnId="{152F38FF-4FA8-4BB1-A8D5-FA308DF257ED}">
      <dgm:prSet/>
      <dgm:spPr/>
      <dgm:t>
        <a:bodyPr/>
        <a:lstStyle/>
        <a:p>
          <a:endParaRPr lang="es-PE" sz="2800"/>
        </a:p>
      </dgm:t>
    </dgm:pt>
    <dgm:pt modelId="{FCDCBF44-E47B-4616-9038-E9726BCC8AFD}">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247650" tIns="123825" rIns="247650" bIns="123825" numCol="1" spcCol="1270" anchor="ctr" anchorCtr="0"/>
        <a:lstStyle/>
        <a:p>
          <a:r>
            <a:rPr lang="es-MX" altLang="es-PE" sz="2800" dirty="0"/>
            <a:t>Son necesarios para ejecutar el modelo lineal y encontrar una solución óptima en base a esos valores.</a:t>
          </a:r>
        </a:p>
      </dgm:t>
    </dgm:pt>
    <dgm:pt modelId="{2AD86234-0A15-4DD4-8278-8ECA25E14E85}" type="parTrans" cxnId="{E73E7421-B0E0-46A5-8DFB-3A001492C5E4}">
      <dgm:prSet/>
      <dgm:spPr/>
      <dgm:t>
        <a:bodyPr/>
        <a:lstStyle/>
        <a:p>
          <a:endParaRPr lang="es-PE" sz="2800"/>
        </a:p>
      </dgm:t>
    </dgm:pt>
    <dgm:pt modelId="{A0AC98E9-5218-4274-B6CF-247B83A42BC1}" type="sibTrans" cxnId="{E73E7421-B0E0-46A5-8DFB-3A001492C5E4}">
      <dgm:prSet/>
      <dgm:spPr/>
      <dgm:t>
        <a:bodyPr/>
        <a:lstStyle/>
        <a:p>
          <a:endParaRPr lang="es-PE" sz="2800"/>
        </a:p>
      </dgm:t>
    </dgm:pt>
    <dgm:pt modelId="{E1BFA537-20DD-4FD6-95A0-279C996E70B9}" type="pres">
      <dgm:prSet presAssocID="{213E1D06-EB00-40C3-8D09-09336B13B47A}" presName="Name0" presStyleCnt="0">
        <dgm:presLayoutVars>
          <dgm:dir/>
          <dgm:animLvl val="lvl"/>
          <dgm:resizeHandles val="exact"/>
        </dgm:presLayoutVars>
      </dgm:prSet>
      <dgm:spPr/>
    </dgm:pt>
    <dgm:pt modelId="{D10ECF6E-174E-4116-8C40-DD5CCF1007DF}" type="pres">
      <dgm:prSet presAssocID="{C5BFCA89-1DB9-446B-A766-15FF8D70BF50}" presName="linNode" presStyleCnt="0"/>
      <dgm:spPr/>
    </dgm:pt>
    <dgm:pt modelId="{D2101BE9-2D7F-4C2A-B550-849BBDAADF5F}" type="pres">
      <dgm:prSet presAssocID="{C5BFCA89-1DB9-446B-A766-15FF8D70BF50}" presName="parentText" presStyleLbl="node1" presStyleIdx="0" presStyleCnt="1" custScaleX="82318" custScaleY="76510" custLinFactNeighborY="-2416">
        <dgm:presLayoutVars>
          <dgm:chMax val="1"/>
          <dgm:bulletEnabled val="1"/>
        </dgm:presLayoutVars>
      </dgm:prSet>
      <dgm:spPr>
        <a:xfrm>
          <a:off x="0" y="224289"/>
          <a:ext cx="3692968" cy="2285995"/>
        </a:xfrm>
        <a:prstGeom prst="roundRect">
          <a:avLst/>
        </a:prstGeom>
      </dgm:spPr>
    </dgm:pt>
    <dgm:pt modelId="{3FFBA285-D477-4FD1-93AB-975813E0945E}" type="pres">
      <dgm:prSet presAssocID="{C5BFCA89-1DB9-446B-A766-15FF8D70BF50}" presName="descendantText" presStyleLbl="alignAccFollowNode1" presStyleIdx="0" presStyleCnt="1" custScaleX="143457" custScaleY="88479" custLinFactNeighborX="1041" custLinFactNeighborY="-3729">
        <dgm:presLayoutVars>
          <dgm:bulletEnabled val="1"/>
        </dgm:presLayoutVars>
      </dgm:prSet>
      <dgm:spPr>
        <a:xfrm rot="5400000">
          <a:off x="6109429" y="-2057691"/>
          <a:ext cx="1732354" cy="6565276"/>
        </a:xfrm>
        <a:prstGeom prst="round2SameRect">
          <a:avLst/>
        </a:prstGeom>
      </dgm:spPr>
    </dgm:pt>
  </dgm:ptLst>
  <dgm:cxnLst>
    <dgm:cxn modelId="{47FF570F-C142-4AA2-B230-150F9EDDBBD6}" type="presOf" srcId="{C5BFCA89-1DB9-446B-A766-15FF8D70BF50}" destId="{D2101BE9-2D7F-4C2A-B550-849BBDAADF5F}" srcOrd="0" destOrd="0" presId="urn:microsoft.com/office/officeart/2005/8/layout/vList5"/>
    <dgm:cxn modelId="{05C4FC1F-1E4A-4DA7-BAB0-EF008B7D1039}" srcId="{213E1D06-EB00-40C3-8D09-09336B13B47A}" destId="{C5BFCA89-1DB9-446B-A766-15FF8D70BF50}" srcOrd="0" destOrd="0" parTransId="{85D82B49-09E0-4A4C-8643-BDDBA317DE0F}" sibTransId="{EC81606B-8752-47C5-8FA0-39ADB647991E}"/>
    <dgm:cxn modelId="{E73E7421-B0E0-46A5-8DFB-3A001492C5E4}" srcId="{C5BFCA89-1DB9-446B-A766-15FF8D70BF50}" destId="{FCDCBF44-E47B-4616-9038-E9726BCC8AFD}" srcOrd="2" destOrd="0" parTransId="{2AD86234-0A15-4DD4-8278-8ECA25E14E85}" sibTransId="{A0AC98E9-5218-4274-B6CF-247B83A42BC1}"/>
    <dgm:cxn modelId="{F63A8322-5A27-4726-A8E2-579416D23E0F}" type="presOf" srcId="{213E1D06-EB00-40C3-8D09-09336B13B47A}" destId="{E1BFA537-20DD-4FD6-95A0-279C996E70B9}" srcOrd="0" destOrd="0" presId="urn:microsoft.com/office/officeart/2005/8/layout/vList5"/>
    <dgm:cxn modelId="{2890BDA0-D9D0-45F2-B0CF-56935D475735}" type="presOf" srcId="{98EC6FD3-01AD-4281-9D1B-80E0476B30C0}" destId="{3FFBA285-D477-4FD1-93AB-975813E0945E}" srcOrd="0" destOrd="1" presId="urn:microsoft.com/office/officeart/2005/8/layout/vList5"/>
    <dgm:cxn modelId="{84D78CB1-0637-43BC-968D-0E414D4ACEF4}" type="presOf" srcId="{FCDCBF44-E47B-4616-9038-E9726BCC8AFD}" destId="{3FFBA285-D477-4FD1-93AB-975813E0945E}" srcOrd="0" destOrd="2" presId="urn:microsoft.com/office/officeart/2005/8/layout/vList5"/>
    <dgm:cxn modelId="{0CD8F6B4-EC9E-4EE1-B1EF-16AB6E2BA902}" srcId="{C5BFCA89-1DB9-446B-A766-15FF8D70BF50}" destId="{0E7F92F0-BF13-4242-A3EF-54C6DC0C12BE}" srcOrd="0" destOrd="0" parTransId="{08D4B9FC-D517-4C0A-9036-05FA66A72C16}" sibTransId="{54236441-14B7-478C-A24E-F97D0C1B80B2}"/>
    <dgm:cxn modelId="{152F38FF-4FA8-4BB1-A8D5-FA308DF257ED}" srcId="{C5BFCA89-1DB9-446B-A766-15FF8D70BF50}" destId="{98EC6FD3-01AD-4281-9D1B-80E0476B30C0}" srcOrd="1" destOrd="0" parTransId="{A9CDFCDF-8DA3-4528-8BCA-D25A4AF3871D}" sibTransId="{6BE7BDDF-2258-4220-A698-40851324DF5F}"/>
    <dgm:cxn modelId="{2AD353FF-5A5D-496B-9637-FF9A813B108A}" type="presOf" srcId="{0E7F92F0-BF13-4242-A3EF-54C6DC0C12BE}" destId="{3FFBA285-D477-4FD1-93AB-975813E0945E}" srcOrd="0" destOrd="0" presId="urn:microsoft.com/office/officeart/2005/8/layout/vList5"/>
    <dgm:cxn modelId="{D817C9BB-EFC9-4AC7-9508-7F6F18D7BE4E}" type="presParOf" srcId="{E1BFA537-20DD-4FD6-95A0-279C996E70B9}" destId="{D10ECF6E-174E-4116-8C40-DD5CCF1007DF}" srcOrd="0" destOrd="0" presId="urn:microsoft.com/office/officeart/2005/8/layout/vList5"/>
    <dgm:cxn modelId="{9DA037E1-B527-4038-9371-379C112A1AD6}" type="presParOf" srcId="{D10ECF6E-174E-4116-8C40-DD5CCF1007DF}" destId="{D2101BE9-2D7F-4C2A-B550-849BBDAADF5F}" srcOrd="0" destOrd="0" presId="urn:microsoft.com/office/officeart/2005/8/layout/vList5"/>
    <dgm:cxn modelId="{68BFE4DC-27DA-4C85-82FD-831D7EE4ADC6}" type="presParOf" srcId="{D10ECF6E-174E-4116-8C40-DD5CCF1007DF}" destId="{3FFBA285-D477-4FD1-93AB-975813E0945E}"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CDF9861-E7AA-42D1-8E07-5B895534A6C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025B260D-CB68-4117-8F17-9BC8A322BBED}">
      <dgm:prSet/>
      <dgm:spPr/>
      <dgm:t>
        <a:bodyPr/>
        <a:lstStyle/>
        <a:p>
          <a:r>
            <a:rPr lang="es-ES" b="1"/>
            <a:t>Certeza</a:t>
          </a:r>
          <a:endParaRPr lang="es-PE" b="1"/>
        </a:p>
      </dgm:t>
    </dgm:pt>
    <dgm:pt modelId="{5C28D76B-D7FF-4A3E-994B-227DB98F25E6}" type="parTrans" cxnId="{34F3245C-7C0B-4C7E-B46F-1E889424083F}">
      <dgm:prSet/>
      <dgm:spPr/>
      <dgm:t>
        <a:bodyPr/>
        <a:lstStyle/>
        <a:p>
          <a:endParaRPr lang="es-PE" b="1"/>
        </a:p>
      </dgm:t>
    </dgm:pt>
    <dgm:pt modelId="{D575B38B-8DC9-44AD-9F82-C2172FAB3727}" type="sibTrans" cxnId="{34F3245C-7C0B-4C7E-B46F-1E889424083F}">
      <dgm:prSet/>
      <dgm:spPr/>
      <dgm:t>
        <a:bodyPr/>
        <a:lstStyle/>
        <a:p>
          <a:endParaRPr lang="es-PE" b="1"/>
        </a:p>
      </dgm:t>
    </dgm:pt>
    <dgm:pt modelId="{84838809-4C19-43C6-8D7E-D17659FD7716}">
      <dgm:prSet custT="1"/>
      <dgm:spPr/>
      <dgm:t>
        <a:bodyPr/>
        <a:lstStyle/>
        <a:p>
          <a:r>
            <a:rPr lang="es-ES" sz="2000" b="1"/>
            <a:t>Se conocen con certeza los datos y no cambian durante el periodo que se está estudiando.</a:t>
          </a:r>
          <a:endParaRPr lang="es-PE" sz="2000" b="1"/>
        </a:p>
      </dgm:t>
    </dgm:pt>
    <dgm:pt modelId="{A69CA796-4E15-4BD7-B8CA-78ECECA6F30B}" type="parTrans" cxnId="{1CB895FD-054B-448C-B7BF-1639CB2537E4}">
      <dgm:prSet/>
      <dgm:spPr/>
      <dgm:t>
        <a:bodyPr/>
        <a:lstStyle/>
        <a:p>
          <a:endParaRPr lang="es-PE" b="1"/>
        </a:p>
      </dgm:t>
    </dgm:pt>
    <dgm:pt modelId="{DDA7EF0E-C49D-48BA-ADEB-D4CD6C753499}" type="sibTrans" cxnId="{1CB895FD-054B-448C-B7BF-1639CB2537E4}">
      <dgm:prSet/>
      <dgm:spPr/>
      <dgm:t>
        <a:bodyPr/>
        <a:lstStyle/>
        <a:p>
          <a:endParaRPr lang="es-PE" b="1"/>
        </a:p>
      </dgm:t>
    </dgm:pt>
    <dgm:pt modelId="{44A1CD74-44E6-4E29-BCC4-BF5E5596CC8A}">
      <dgm:prSet/>
      <dgm:spPr/>
      <dgm:t>
        <a:bodyPr/>
        <a:lstStyle/>
        <a:p>
          <a:r>
            <a:rPr lang="es-ES" b="1"/>
            <a:t>Proporcionalidad</a:t>
          </a:r>
          <a:endParaRPr lang="es-PE" b="1"/>
        </a:p>
      </dgm:t>
    </dgm:pt>
    <dgm:pt modelId="{2D384333-C4BD-4F4B-878B-ACC832E9C481}" type="parTrans" cxnId="{0DDA5FA9-4DFD-44FA-9771-5B00E8C3595D}">
      <dgm:prSet/>
      <dgm:spPr/>
      <dgm:t>
        <a:bodyPr/>
        <a:lstStyle/>
        <a:p>
          <a:endParaRPr lang="es-PE" b="1"/>
        </a:p>
      </dgm:t>
    </dgm:pt>
    <dgm:pt modelId="{63A9AF81-4BD8-4F83-8BEF-795E4A1DF756}" type="sibTrans" cxnId="{0DDA5FA9-4DFD-44FA-9771-5B00E8C3595D}">
      <dgm:prSet/>
      <dgm:spPr/>
      <dgm:t>
        <a:bodyPr/>
        <a:lstStyle/>
        <a:p>
          <a:endParaRPr lang="es-PE" b="1"/>
        </a:p>
      </dgm:t>
    </dgm:pt>
    <dgm:pt modelId="{67278480-78F2-4139-82FB-3CE5F625677D}">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106680" tIns="53340" rIns="106680" bIns="53340" numCol="1" spcCol="1270" anchor="ctr" anchorCtr="0"/>
        <a:lstStyle/>
        <a:p>
          <a:pPr marL="228600" lvl="1" indent="-228600" algn="l" defTabSz="889000">
            <a:lnSpc>
              <a:spcPct val="90000"/>
            </a:lnSpc>
            <a:spcBef>
              <a:spcPct val="0"/>
            </a:spcBef>
            <a:spcAft>
              <a:spcPct val="15000"/>
            </a:spcAft>
            <a:buChar char="•"/>
          </a:pPr>
          <a:r>
            <a:rPr lang="es-ES" sz="2000" b="1" kern="1200" dirty="0">
              <a:solidFill>
                <a:prstClr val="black">
                  <a:hueOff val="0"/>
                  <a:satOff val="0"/>
                  <a:lumOff val="0"/>
                  <a:alphaOff val="0"/>
                </a:prstClr>
              </a:solidFill>
              <a:latin typeface="Calibri" panose="020F0502020204030204"/>
              <a:ea typeface="+mn-ea"/>
              <a:cs typeface="+mn-cs"/>
            </a:rPr>
            <a:t>Si la producción de una unidad requiere 4 horas, producir 20 unidades del ese producto requiere 80 horas.</a:t>
          </a:r>
          <a:endParaRPr lang="es-PE" sz="2000" b="1" kern="1200" dirty="0">
            <a:solidFill>
              <a:prstClr val="black">
                <a:hueOff val="0"/>
                <a:satOff val="0"/>
                <a:lumOff val="0"/>
                <a:alphaOff val="0"/>
              </a:prstClr>
            </a:solidFill>
            <a:latin typeface="Calibri" panose="020F0502020204030204"/>
            <a:ea typeface="+mn-ea"/>
            <a:cs typeface="+mn-cs"/>
          </a:endParaRPr>
        </a:p>
      </dgm:t>
    </dgm:pt>
    <dgm:pt modelId="{8CD1C459-946B-4416-9DAC-2B0EA6B9F518}" type="parTrans" cxnId="{FD78C79C-0C33-4696-B712-DB851BF8B52F}">
      <dgm:prSet/>
      <dgm:spPr/>
      <dgm:t>
        <a:bodyPr/>
        <a:lstStyle/>
        <a:p>
          <a:endParaRPr lang="es-PE" b="1"/>
        </a:p>
      </dgm:t>
    </dgm:pt>
    <dgm:pt modelId="{00E6D352-0922-4643-BF59-F488488ECF72}" type="sibTrans" cxnId="{FD78C79C-0C33-4696-B712-DB851BF8B52F}">
      <dgm:prSet/>
      <dgm:spPr/>
      <dgm:t>
        <a:bodyPr/>
        <a:lstStyle/>
        <a:p>
          <a:endParaRPr lang="es-PE" b="1"/>
        </a:p>
      </dgm:t>
    </dgm:pt>
    <dgm:pt modelId="{292894C7-99DB-4F7C-BA5C-7366B3287CC2}">
      <dgm:prSet/>
      <dgm:spPr/>
      <dgm:t>
        <a:bodyPr/>
        <a:lstStyle/>
        <a:p>
          <a:r>
            <a:rPr lang="es-ES" b="1"/>
            <a:t>Aditividad</a:t>
          </a:r>
          <a:endParaRPr lang="es-PE" b="1"/>
        </a:p>
      </dgm:t>
    </dgm:pt>
    <dgm:pt modelId="{5F39596B-734F-4D7E-B273-7F5D3F632D50}" type="parTrans" cxnId="{D93ACB13-137D-43E3-B0EC-1E37FC384181}">
      <dgm:prSet/>
      <dgm:spPr/>
      <dgm:t>
        <a:bodyPr/>
        <a:lstStyle/>
        <a:p>
          <a:endParaRPr lang="es-PE" b="1"/>
        </a:p>
      </dgm:t>
    </dgm:pt>
    <dgm:pt modelId="{C4D525E1-85B5-4E61-8849-E50F56C997FA}" type="sibTrans" cxnId="{D93ACB13-137D-43E3-B0EC-1E37FC384181}">
      <dgm:prSet/>
      <dgm:spPr/>
      <dgm:t>
        <a:bodyPr/>
        <a:lstStyle/>
        <a:p>
          <a:endParaRPr lang="es-PE" b="1"/>
        </a:p>
      </dgm:t>
    </dgm:pt>
    <dgm:pt modelId="{843CF4AD-C775-4B3E-8D65-4EA2EDC6087A}">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106680" tIns="53340" rIns="106680" bIns="53340" numCol="1" spcCol="1270" anchor="ctr" anchorCtr="0"/>
        <a:lstStyle/>
        <a:p>
          <a:pPr marL="228600" lvl="1" indent="-228600" algn="l" defTabSz="889000">
            <a:lnSpc>
              <a:spcPct val="90000"/>
            </a:lnSpc>
            <a:spcBef>
              <a:spcPct val="0"/>
            </a:spcBef>
            <a:spcAft>
              <a:spcPct val="15000"/>
            </a:spcAft>
            <a:buChar char="•"/>
          </a:pPr>
          <a:r>
            <a:rPr lang="es-ES" sz="2000" b="1" kern="1200" dirty="0">
              <a:solidFill>
                <a:prstClr val="black">
                  <a:hueOff val="0"/>
                  <a:satOff val="0"/>
                  <a:lumOff val="0"/>
                  <a:alphaOff val="0"/>
                </a:prstClr>
              </a:solidFill>
              <a:latin typeface="Calibri" panose="020F0502020204030204"/>
              <a:ea typeface="+mn-ea"/>
              <a:cs typeface="+mn-cs"/>
            </a:rPr>
            <a:t>El total de todas las actividades es igual a la suma de las actividades individuales.</a:t>
          </a:r>
          <a:endParaRPr lang="es-PE" sz="2000" b="1" kern="1200" dirty="0">
            <a:solidFill>
              <a:prstClr val="black">
                <a:hueOff val="0"/>
                <a:satOff val="0"/>
                <a:lumOff val="0"/>
                <a:alphaOff val="0"/>
              </a:prstClr>
            </a:solidFill>
            <a:latin typeface="Calibri" panose="020F0502020204030204"/>
            <a:ea typeface="+mn-ea"/>
            <a:cs typeface="+mn-cs"/>
          </a:endParaRPr>
        </a:p>
      </dgm:t>
    </dgm:pt>
    <dgm:pt modelId="{6BBD3CC7-81A0-491F-AAD6-FB76C1165DB8}" type="parTrans" cxnId="{DADAD3D5-C92E-40E9-9280-E1A49791BDC5}">
      <dgm:prSet/>
      <dgm:spPr/>
      <dgm:t>
        <a:bodyPr/>
        <a:lstStyle/>
        <a:p>
          <a:endParaRPr lang="es-PE" b="1"/>
        </a:p>
      </dgm:t>
    </dgm:pt>
    <dgm:pt modelId="{7FFAD080-31F0-45DF-B811-01401DF82A5B}" type="sibTrans" cxnId="{DADAD3D5-C92E-40E9-9280-E1A49791BDC5}">
      <dgm:prSet/>
      <dgm:spPr/>
      <dgm:t>
        <a:bodyPr/>
        <a:lstStyle/>
        <a:p>
          <a:endParaRPr lang="es-PE" b="1"/>
        </a:p>
      </dgm:t>
    </dgm:pt>
    <dgm:pt modelId="{F06300AA-F628-4495-AF4A-08391DC51E66}">
      <dgm:prSet/>
      <dgm:spPr/>
      <dgm:t>
        <a:bodyPr/>
        <a:lstStyle/>
        <a:p>
          <a:r>
            <a:rPr lang="es-ES" b="1"/>
            <a:t>Divisibilidad</a:t>
          </a:r>
          <a:endParaRPr lang="es-PE" b="1"/>
        </a:p>
      </dgm:t>
    </dgm:pt>
    <dgm:pt modelId="{CFE4385D-C2B0-4517-BE93-9DE5CF3D6A91}" type="parTrans" cxnId="{E3F6DD31-4447-42A6-ACEF-5A70FB8A5699}">
      <dgm:prSet/>
      <dgm:spPr/>
      <dgm:t>
        <a:bodyPr/>
        <a:lstStyle/>
        <a:p>
          <a:endParaRPr lang="es-PE" b="1"/>
        </a:p>
      </dgm:t>
    </dgm:pt>
    <dgm:pt modelId="{ACA39EE6-49E9-4E3E-853C-4CC84784202F}" type="sibTrans" cxnId="{E3F6DD31-4447-42A6-ACEF-5A70FB8A5699}">
      <dgm:prSet/>
      <dgm:spPr/>
      <dgm:t>
        <a:bodyPr/>
        <a:lstStyle/>
        <a:p>
          <a:endParaRPr lang="es-PE" b="1"/>
        </a:p>
      </dgm:t>
    </dgm:pt>
    <dgm:pt modelId="{A07BD019-EDF7-4403-B14B-AEBCAD3F8D04}">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106680" tIns="53340" rIns="106680" bIns="53340" numCol="1" spcCol="1270" anchor="ctr" anchorCtr="0"/>
        <a:lstStyle/>
        <a:p>
          <a:pPr marL="228600" lvl="1" indent="-228600" algn="l" defTabSz="889000">
            <a:lnSpc>
              <a:spcPct val="90000"/>
            </a:lnSpc>
            <a:spcBef>
              <a:spcPct val="0"/>
            </a:spcBef>
            <a:spcAft>
              <a:spcPct val="15000"/>
            </a:spcAft>
            <a:buChar char="•"/>
          </a:pPr>
          <a:r>
            <a:rPr lang="es-ES" sz="2000" b="1" kern="1200" dirty="0">
              <a:solidFill>
                <a:prstClr val="black">
                  <a:hueOff val="0"/>
                  <a:satOff val="0"/>
                  <a:lumOff val="0"/>
                  <a:alphaOff val="0"/>
                </a:prstClr>
              </a:solidFill>
              <a:latin typeface="Calibri" panose="020F0502020204030204"/>
              <a:ea typeface="+mn-ea"/>
              <a:cs typeface="+mn-cs"/>
            </a:rPr>
            <a:t>Las soluciones pueden tomar valor </a:t>
          </a:r>
          <a:r>
            <a:rPr lang="es-ES" sz="2000" b="1" kern="1200" dirty="0">
              <a:solidFill>
                <a:srgbClr val="FF0000"/>
              </a:solidFill>
              <a:latin typeface="Calibri" panose="020F0502020204030204"/>
              <a:ea typeface="+mn-ea"/>
              <a:cs typeface="+mn-cs"/>
            </a:rPr>
            <a:t>fraccionario</a:t>
          </a:r>
          <a:r>
            <a:rPr lang="es-ES" sz="2000" b="1" kern="1200" dirty="0">
              <a:solidFill>
                <a:prstClr val="black">
                  <a:hueOff val="0"/>
                  <a:satOff val="0"/>
                  <a:lumOff val="0"/>
                  <a:alphaOff val="0"/>
                </a:prstClr>
              </a:solidFill>
              <a:latin typeface="Calibri" panose="020F0502020204030204"/>
              <a:ea typeface="+mn-ea"/>
              <a:cs typeface="+mn-cs"/>
            </a:rPr>
            <a:t>. Ejemplo 210.6 sillas, esto significaría que tenemos trabajo en proceso. Cuando la fracción no tiene sentido, estamos frente a un problema de programación </a:t>
          </a:r>
          <a:r>
            <a:rPr lang="es-ES" sz="2000" b="1" kern="1200" dirty="0">
              <a:solidFill>
                <a:srgbClr val="FF0000"/>
              </a:solidFill>
              <a:latin typeface="Calibri" panose="020F0502020204030204"/>
              <a:ea typeface="+mn-ea"/>
              <a:cs typeface="+mn-cs"/>
            </a:rPr>
            <a:t>entera</a:t>
          </a:r>
          <a:r>
            <a:rPr lang="es-ES" sz="2000" b="1" kern="1200" dirty="0">
              <a:solidFill>
                <a:prstClr val="black">
                  <a:hueOff val="0"/>
                  <a:satOff val="0"/>
                  <a:lumOff val="0"/>
                  <a:alphaOff val="0"/>
                </a:prstClr>
              </a:solidFill>
              <a:latin typeface="Calibri" panose="020F0502020204030204"/>
              <a:ea typeface="+mn-ea"/>
              <a:cs typeface="+mn-cs"/>
            </a:rPr>
            <a:t>.</a:t>
          </a:r>
          <a:endParaRPr lang="es-PE" sz="2000" b="1" kern="1200" dirty="0">
            <a:solidFill>
              <a:prstClr val="black">
                <a:hueOff val="0"/>
                <a:satOff val="0"/>
                <a:lumOff val="0"/>
                <a:alphaOff val="0"/>
              </a:prstClr>
            </a:solidFill>
            <a:latin typeface="Calibri" panose="020F0502020204030204"/>
            <a:ea typeface="+mn-ea"/>
            <a:cs typeface="+mn-cs"/>
          </a:endParaRPr>
        </a:p>
      </dgm:t>
    </dgm:pt>
    <dgm:pt modelId="{70E66954-622D-415B-9F58-1F26F765AF72}" type="parTrans" cxnId="{6C7C17E5-15E4-42DD-95A9-72AE4E56B3B3}">
      <dgm:prSet/>
      <dgm:spPr/>
      <dgm:t>
        <a:bodyPr/>
        <a:lstStyle/>
        <a:p>
          <a:endParaRPr lang="es-PE" b="1"/>
        </a:p>
      </dgm:t>
    </dgm:pt>
    <dgm:pt modelId="{A560216A-6A38-495A-9C59-4BF6763ED08C}" type="sibTrans" cxnId="{6C7C17E5-15E4-42DD-95A9-72AE4E56B3B3}">
      <dgm:prSet/>
      <dgm:spPr/>
      <dgm:t>
        <a:bodyPr/>
        <a:lstStyle/>
        <a:p>
          <a:endParaRPr lang="es-PE" b="1"/>
        </a:p>
      </dgm:t>
    </dgm:pt>
    <dgm:pt modelId="{5DC6E109-0704-4926-BBE2-26DEE7DBFD85}">
      <dgm:prSet/>
      <dgm:spPr/>
      <dgm:t>
        <a:bodyPr/>
        <a:lstStyle/>
        <a:p>
          <a:r>
            <a:rPr lang="es-ES" b="1"/>
            <a:t>No negatividad</a:t>
          </a:r>
          <a:endParaRPr lang="es-PE" b="1"/>
        </a:p>
      </dgm:t>
    </dgm:pt>
    <dgm:pt modelId="{2CB5D10D-1538-4EEC-8F38-EF2AFF2024F2}" type="parTrans" cxnId="{12E2072E-C184-46A3-AC4E-D90A6A9468DA}">
      <dgm:prSet/>
      <dgm:spPr/>
      <dgm:t>
        <a:bodyPr/>
        <a:lstStyle/>
        <a:p>
          <a:endParaRPr lang="es-PE" b="1"/>
        </a:p>
      </dgm:t>
    </dgm:pt>
    <dgm:pt modelId="{FB10E65D-4186-484A-99FD-3981B62EBBF9}" type="sibTrans" cxnId="{12E2072E-C184-46A3-AC4E-D90A6A9468DA}">
      <dgm:prSet/>
      <dgm:spPr/>
      <dgm:t>
        <a:bodyPr/>
        <a:lstStyle/>
        <a:p>
          <a:endParaRPr lang="es-PE" b="1"/>
        </a:p>
      </dgm:t>
    </dgm:pt>
    <dgm:pt modelId="{FA6458AA-14AB-405B-ADBB-23133DA16C54}">
      <dgm:prSet custT="1"/>
      <dgm:spPr/>
      <dgm:t>
        <a:bodyPr/>
        <a:lstStyle/>
        <a:p>
          <a:r>
            <a:rPr lang="es-ES" sz="2000" b="1"/>
            <a:t>Los valores de todas las variables deben ser no negativas. Los valores negativos de cantidades físicas son imposibles, no podemos producir -3 sillas.</a:t>
          </a:r>
          <a:endParaRPr lang="es-PE" sz="2000" b="1"/>
        </a:p>
      </dgm:t>
    </dgm:pt>
    <dgm:pt modelId="{60F50B03-1CEA-4C82-8A27-A75E2C2C3906}" type="parTrans" cxnId="{C5377A34-4F4D-4E7B-8270-FC8D75439A7E}">
      <dgm:prSet/>
      <dgm:spPr/>
      <dgm:t>
        <a:bodyPr/>
        <a:lstStyle/>
        <a:p>
          <a:endParaRPr lang="es-PE" b="1"/>
        </a:p>
      </dgm:t>
    </dgm:pt>
    <dgm:pt modelId="{21810E84-37E4-4758-9337-F7472083FBAD}" type="sibTrans" cxnId="{C5377A34-4F4D-4E7B-8270-FC8D75439A7E}">
      <dgm:prSet/>
      <dgm:spPr/>
      <dgm:t>
        <a:bodyPr/>
        <a:lstStyle/>
        <a:p>
          <a:endParaRPr lang="es-PE" b="1"/>
        </a:p>
      </dgm:t>
    </dgm:pt>
    <dgm:pt modelId="{B157BCFF-2480-442E-A951-39035F5429DC}" type="pres">
      <dgm:prSet presAssocID="{3CDF9861-E7AA-42D1-8E07-5B895534A6CF}" presName="Name0" presStyleCnt="0">
        <dgm:presLayoutVars>
          <dgm:dir/>
          <dgm:animLvl val="lvl"/>
          <dgm:resizeHandles val="exact"/>
        </dgm:presLayoutVars>
      </dgm:prSet>
      <dgm:spPr/>
    </dgm:pt>
    <dgm:pt modelId="{1AFB78F7-0B6F-438D-AD79-44CD4D9840E1}" type="pres">
      <dgm:prSet presAssocID="{025B260D-CB68-4117-8F17-9BC8A322BBED}" presName="linNode" presStyleCnt="0"/>
      <dgm:spPr/>
    </dgm:pt>
    <dgm:pt modelId="{644DBE01-3D17-4BE2-A0C4-E496A02F9FB8}" type="pres">
      <dgm:prSet presAssocID="{025B260D-CB68-4117-8F17-9BC8A322BBED}" presName="parentText" presStyleLbl="node1" presStyleIdx="0" presStyleCnt="5" custScaleX="89211">
        <dgm:presLayoutVars>
          <dgm:chMax val="1"/>
          <dgm:bulletEnabled val="1"/>
        </dgm:presLayoutVars>
      </dgm:prSet>
      <dgm:spPr/>
    </dgm:pt>
    <dgm:pt modelId="{9621D49D-08E4-482B-B110-F958D9543CDC}" type="pres">
      <dgm:prSet presAssocID="{025B260D-CB68-4117-8F17-9BC8A322BBED}" presName="descendantText" presStyleLbl="alignAccFollowNode1" presStyleIdx="0" presStyleCnt="5" custScaleY="121292">
        <dgm:presLayoutVars>
          <dgm:bulletEnabled val="1"/>
        </dgm:presLayoutVars>
      </dgm:prSet>
      <dgm:spPr/>
    </dgm:pt>
    <dgm:pt modelId="{F55DA206-06CB-4187-BE34-2CA40F7B2760}" type="pres">
      <dgm:prSet presAssocID="{D575B38B-8DC9-44AD-9F82-C2172FAB3727}" presName="sp" presStyleCnt="0"/>
      <dgm:spPr/>
    </dgm:pt>
    <dgm:pt modelId="{35178C8C-3C9D-4B39-824A-3223EA176AF9}" type="pres">
      <dgm:prSet presAssocID="{44A1CD74-44E6-4E29-BCC4-BF5E5596CC8A}" presName="linNode" presStyleCnt="0"/>
      <dgm:spPr/>
    </dgm:pt>
    <dgm:pt modelId="{FB50D0A5-9E55-4F65-805E-2FCF66BBB7CD}" type="pres">
      <dgm:prSet presAssocID="{44A1CD74-44E6-4E29-BCC4-BF5E5596CC8A}" presName="parentText" presStyleLbl="node1" presStyleIdx="1" presStyleCnt="5" custScaleX="89211">
        <dgm:presLayoutVars>
          <dgm:chMax val="1"/>
          <dgm:bulletEnabled val="1"/>
        </dgm:presLayoutVars>
      </dgm:prSet>
      <dgm:spPr/>
    </dgm:pt>
    <dgm:pt modelId="{35B10693-A100-4F43-9A1B-1229ED3C6EFC}" type="pres">
      <dgm:prSet presAssocID="{44A1CD74-44E6-4E29-BCC4-BF5E5596CC8A}" presName="descendantText" presStyleLbl="alignAccFollowNode1" presStyleIdx="1" presStyleCnt="5" custScaleY="123480">
        <dgm:presLayoutVars>
          <dgm:bulletEnabled val="1"/>
        </dgm:presLayoutVars>
      </dgm:prSet>
      <dgm:spPr>
        <a:xfrm rot="5400000">
          <a:off x="6895953" y="-1916664"/>
          <a:ext cx="779143" cy="6856964"/>
        </a:xfrm>
        <a:prstGeom prst="round2SameRect">
          <a:avLst/>
        </a:prstGeom>
      </dgm:spPr>
    </dgm:pt>
    <dgm:pt modelId="{1ABE689A-2464-4BA1-9251-FF39AC49658A}" type="pres">
      <dgm:prSet presAssocID="{63A9AF81-4BD8-4F83-8BEF-795E4A1DF756}" presName="sp" presStyleCnt="0"/>
      <dgm:spPr/>
    </dgm:pt>
    <dgm:pt modelId="{018A17B5-92CD-4A72-B5AD-0AB771EDD210}" type="pres">
      <dgm:prSet presAssocID="{292894C7-99DB-4F7C-BA5C-7366B3287CC2}" presName="linNode" presStyleCnt="0"/>
      <dgm:spPr/>
    </dgm:pt>
    <dgm:pt modelId="{D67A6385-7033-40CC-B520-FBC3E64396C7}" type="pres">
      <dgm:prSet presAssocID="{292894C7-99DB-4F7C-BA5C-7366B3287CC2}" presName="parentText" presStyleLbl="node1" presStyleIdx="2" presStyleCnt="5" custScaleX="90160">
        <dgm:presLayoutVars>
          <dgm:chMax val="1"/>
          <dgm:bulletEnabled val="1"/>
        </dgm:presLayoutVars>
      </dgm:prSet>
      <dgm:spPr/>
    </dgm:pt>
    <dgm:pt modelId="{B84A2433-5393-41C9-A729-1F44916CDC56}" type="pres">
      <dgm:prSet presAssocID="{292894C7-99DB-4F7C-BA5C-7366B3287CC2}" presName="descendantText" presStyleLbl="alignAccFollowNode1" presStyleIdx="2" presStyleCnt="5" custScaleY="117060">
        <dgm:presLayoutVars>
          <dgm:bulletEnabled val="1"/>
        </dgm:presLayoutVars>
      </dgm:prSet>
      <dgm:spPr>
        <a:xfrm rot="5400000">
          <a:off x="6895953" y="-894038"/>
          <a:ext cx="779143" cy="6856964"/>
        </a:xfrm>
        <a:prstGeom prst="round2SameRect">
          <a:avLst/>
        </a:prstGeom>
      </dgm:spPr>
    </dgm:pt>
    <dgm:pt modelId="{4B59D334-2252-47F3-B266-D2D3C75614F0}" type="pres">
      <dgm:prSet presAssocID="{C4D525E1-85B5-4E61-8849-E50F56C997FA}" presName="sp" presStyleCnt="0"/>
      <dgm:spPr/>
    </dgm:pt>
    <dgm:pt modelId="{142AA57D-6557-4FE2-B6DE-8F4BFAF5D9CC}" type="pres">
      <dgm:prSet presAssocID="{F06300AA-F628-4495-AF4A-08391DC51E66}" presName="linNode" presStyleCnt="0"/>
      <dgm:spPr/>
    </dgm:pt>
    <dgm:pt modelId="{14F306CE-7A9E-4225-A357-ADF4AB1CAA6A}" type="pres">
      <dgm:prSet presAssocID="{F06300AA-F628-4495-AF4A-08391DC51E66}" presName="parentText" presStyleLbl="node1" presStyleIdx="3" presStyleCnt="5" custScaleX="90159" custScaleY="130035">
        <dgm:presLayoutVars>
          <dgm:chMax val="1"/>
          <dgm:bulletEnabled val="1"/>
        </dgm:presLayoutVars>
      </dgm:prSet>
      <dgm:spPr/>
    </dgm:pt>
    <dgm:pt modelId="{E2007E24-4EDE-40FB-8499-4A8B839C24CC}" type="pres">
      <dgm:prSet presAssocID="{F06300AA-F628-4495-AF4A-08391DC51E66}" presName="descendantText" presStyleLbl="alignAccFollowNode1" presStyleIdx="3" presStyleCnt="5" custScaleY="157277">
        <dgm:presLayoutVars>
          <dgm:bulletEnabled val="1"/>
        </dgm:presLayoutVars>
      </dgm:prSet>
      <dgm:spPr>
        <a:xfrm rot="5400000">
          <a:off x="6895953" y="128586"/>
          <a:ext cx="779143" cy="6856964"/>
        </a:xfrm>
        <a:prstGeom prst="round2SameRect">
          <a:avLst/>
        </a:prstGeom>
      </dgm:spPr>
    </dgm:pt>
    <dgm:pt modelId="{A344B81F-170C-467A-9AD1-C44EBE7770B3}" type="pres">
      <dgm:prSet presAssocID="{ACA39EE6-49E9-4E3E-853C-4CC84784202F}" presName="sp" presStyleCnt="0"/>
      <dgm:spPr/>
    </dgm:pt>
    <dgm:pt modelId="{2C49CA81-6845-446B-A32A-2F0140DEAABB}" type="pres">
      <dgm:prSet presAssocID="{5DC6E109-0704-4926-BBE2-26DEE7DBFD85}" presName="linNode" presStyleCnt="0"/>
      <dgm:spPr/>
    </dgm:pt>
    <dgm:pt modelId="{618B31DD-216A-4F13-B909-C9B6B4741D72}" type="pres">
      <dgm:prSet presAssocID="{5DC6E109-0704-4926-BBE2-26DEE7DBFD85}" presName="parentText" presStyleLbl="node1" presStyleIdx="4" presStyleCnt="5" custScaleX="91501">
        <dgm:presLayoutVars>
          <dgm:chMax val="1"/>
          <dgm:bulletEnabled val="1"/>
        </dgm:presLayoutVars>
      </dgm:prSet>
      <dgm:spPr/>
    </dgm:pt>
    <dgm:pt modelId="{608D53D3-8AA1-4220-A8C0-2822B9CC436D}" type="pres">
      <dgm:prSet presAssocID="{5DC6E109-0704-4926-BBE2-26DEE7DBFD85}" presName="descendantText" presStyleLbl="alignAccFollowNode1" presStyleIdx="4" presStyleCnt="5" custScaleY="117382" custLinFactNeighborX="-2034">
        <dgm:presLayoutVars>
          <dgm:bulletEnabled val="1"/>
        </dgm:presLayoutVars>
      </dgm:prSet>
      <dgm:spPr/>
    </dgm:pt>
  </dgm:ptLst>
  <dgm:cxnLst>
    <dgm:cxn modelId="{BABF2A0E-69BF-4C92-B236-75A94F905CA9}" type="presOf" srcId="{843CF4AD-C775-4B3E-8D65-4EA2EDC6087A}" destId="{B84A2433-5393-41C9-A729-1F44916CDC56}" srcOrd="0" destOrd="0" presId="urn:microsoft.com/office/officeart/2005/8/layout/vList5"/>
    <dgm:cxn modelId="{D93ACB13-137D-43E3-B0EC-1E37FC384181}" srcId="{3CDF9861-E7AA-42D1-8E07-5B895534A6CF}" destId="{292894C7-99DB-4F7C-BA5C-7366B3287CC2}" srcOrd="2" destOrd="0" parTransId="{5F39596B-734F-4D7E-B273-7F5D3F632D50}" sibTransId="{C4D525E1-85B5-4E61-8849-E50F56C997FA}"/>
    <dgm:cxn modelId="{D179471E-1412-40E4-A929-61D64D3CA193}" type="presOf" srcId="{3CDF9861-E7AA-42D1-8E07-5B895534A6CF}" destId="{B157BCFF-2480-442E-A951-39035F5429DC}" srcOrd="0" destOrd="0" presId="urn:microsoft.com/office/officeart/2005/8/layout/vList5"/>
    <dgm:cxn modelId="{12E2072E-C184-46A3-AC4E-D90A6A9468DA}" srcId="{3CDF9861-E7AA-42D1-8E07-5B895534A6CF}" destId="{5DC6E109-0704-4926-BBE2-26DEE7DBFD85}" srcOrd="4" destOrd="0" parTransId="{2CB5D10D-1538-4EEC-8F38-EF2AFF2024F2}" sibTransId="{FB10E65D-4186-484A-99FD-3981B62EBBF9}"/>
    <dgm:cxn modelId="{E3F6DD31-4447-42A6-ACEF-5A70FB8A5699}" srcId="{3CDF9861-E7AA-42D1-8E07-5B895534A6CF}" destId="{F06300AA-F628-4495-AF4A-08391DC51E66}" srcOrd="3" destOrd="0" parTransId="{CFE4385D-C2B0-4517-BE93-9DE5CF3D6A91}" sibTransId="{ACA39EE6-49E9-4E3E-853C-4CC84784202F}"/>
    <dgm:cxn modelId="{C5377A34-4F4D-4E7B-8270-FC8D75439A7E}" srcId="{5DC6E109-0704-4926-BBE2-26DEE7DBFD85}" destId="{FA6458AA-14AB-405B-ADBB-23133DA16C54}" srcOrd="0" destOrd="0" parTransId="{60F50B03-1CEA-4C82-8A27-A75E2C2C3906}" sibTransId="{21810E84-37E4-4758-9337-F7472083FBAD}"/>
    <dgm:cxn modelId="{34F3245C-7C0B-4C7E-B46F-1E889424083F}" srcId="{3CDF9861-E7AA-42D1-8E07-5B895534A6CF}" destId="{025B260D-CB68-4117-8F17-9BC8A322BBED}" srcOrd="0" destOrd="0" parTransId="{5C28D76B-D7FF-4A3E-994B-227DB98F25E6}" sibTransId="{D575B38B-8DC9-44AD-9F82-C2172FAB3727}"/>
    <dgm:cxn modelId="{9DE24561-F55B-45A9-B316-5D5BD3747724}" type="presOf" srcId="{292894C7-99DB-4F7C-BA5C-7366B3287CC2}" destId="{D67A6385-7033-40CC-B520-FBC3E64396C7}" srcOrd="0" destOrd="0" presId="urn:microsoft.com/office/officeart/2005/8/layout/vList5"/>
    <dgm:cxn modelId="{7F741443-58EB-4C61-81BC-CDFE03B51AE6}" type="presOf" srcId="{F06300AA-F628-4495-AF4A-08391DC51E66}" destId="{14F306CE-7A9E-4225-A357-ADF4AB1CAA6A}" srcOrd="0" destOrd="0" presId="urn:microsoft.com/office/officeart/2005/8/layout/vList5"/>
    <dgm:cxn modelId="{69856743-E067-4610-977E-4699C4C6CE43}" type="presOf" srcId="{5DC6E109-0704-4926-BBE2-26DEE7DBFD85}" destId="{618B31DD-216A-4F13-B909-C9B6B4741D72}" srcOrd="0" destOrd="0" presId="urn:microsoft.com/office/officeart/2005/8/layout/vList5"/>
    <dgm:cxn modelId="{038D296B-6A25-44CC-AF88-EFCC07A01A29}" type="presOf" srcId="{44A1CD74-44E6-4E29-BCC4-BF5E5596CC8A}" destId="{FB50D0A5-9E55-4F65-805E-2FCF66BBB7CD}" srcOrd="0" destOrd="0" presId="urn:microsoft.com/office/officeart/2005/8/layout/vList5"/>
    <dgm:cxn modelId="{33AD416B-5237-4DF1-8220-1538A81D619B}" type="presOf" srcId="{025B260D-CB68-4117-8F17-9BC8A322BBED}" destId="{644DBE01-3D17-4BE2-A0C4-E496A02F9FB8}" srcOrd="0" destOrd="0" presId="urn:microsoft.com/office/officeart/2005/8/layout/vList5"/>
    <dgm:cxn modelId="{FD3CF34E-34FC-4A71-BB02-8EA1111CD7C5}" type="presOf" srcId="{FA6458AA-14AB-405B-ADBB-23133DA16C54}" destId="{608D53D3-8AA1-4220-A8C0-2822B9CC436D}" srcOrd="0" destOrd="0" presId="urn:microsoft.com/office/officeart/2005/8/layout/vList5"/>
    <dgm:cxn modelId="{FD78C79C-0C33-4696-B712-DB851BF8B52F}" srcId="{44A1CD74-44E6-4E29-BCC4-BF5E5596CC8A}" destId="{67278480-78F2-4139-82FB-3CE5F625677D}" srcOrd="0" destOrd="0" parTransId="{8CD1C459-946B-4416-9DAC-2B0EA6B9F518}" sibTransId="{00E6D352-0922-4643-BF59-F488488ECF72}"/>
    <dgm:cxn modelId="{0DDA5FA9-4DFD-44FA-9771-5B00E8C3595D}" srcId="{3CDF9861-E7AA-42D1-8E07-5B895534A6CF}" destId="{44A1CD74-44E6-4E29-BCC4-BF5E5596CC8A}" srcOrd="1" destOrd="0" parTransId="{2D384333-C4BD-4F4B-878B-ACC832E9C481}" sibTransId="{63A9AF81-4BD8-4F83-8BEF-795E4A1DF756}"/>
    <dgm:cxn modelId="{DB2C34C1-4334-4495-8B9D-60D3C6B64B5F}" type="presOf" srcId="{67278480-78F2-4139-82FB-3CE5F625677D}" destId="{35B10693-A100-4F43-9A1B-1229ED3C6EFC}" srcOrd="0" destOrd="0" presId="urn:microsoft.com/office/officeart/2005/8/layout/vList5"/>
    <dgm:cxn modelId="{83EF7FC6-0650-4A6A-B384-1A5E69EBFD50}" type="presOf" srcId="{84838809-4C19-43C6-8D7E-D17659FD7716}" destId="{9621D49D-08E4-482B-B110-F958D9543CDC}" srcOrd="0" destOrd="0" presId="urn:microsoft.com/office/officeart/2005/8/layout/vList5"/>
    <dgm:cxn modelId="{DADAD3D5-C92E-40E9-9280-E1A49791BDC5}" srcId="{292894C7-99DB-4F7C-BA5C-7366B3287CC2}" destId="{843CF4AD-C775-4B3E-8D65-4EA2EDC6087A}" srcOrd="0" destOrd="0" parTransId="{6BBD3CC7-81A0-491F-AAD6-FB76C1165DB8}" sibTransId="{7FFAD080-31F0-45DF-B811-01401DF82A5B}"/>
    <dgm:cxn modelId="{3026CDDA-A49C-49AB-9091-0967728FE442}" type="presOf" srcId="{A07BD019-EDF7-4403-B14B-AEBCAD3F8D04}" destId="{E2007E24-4EDE-40FB-8499-4A8B839C24CC}" srcOrd="0" destOrd="0" presId="urn:microsoft.com/office/officeart/2005/8/layout/vList5"/>
    <dgm:cxn modelId="{6C7C17E5-15E4-42DD-95A9-72AE4E56B3B3}" srcId="{F06300AA-F628-4495-AF4A-08391DC51E66}" destId="{A07BD019-EDF7-4403-B14B-AEBCAD3F8D04}" srcOrd="0" destOrd="0" parTransId="{70E66954-622D-415B-9F58-1F26F765AF72}" sibTransId="{A560216A-6A38-495A-9C59-4BF6763ED08C}"/>
    <dgm:cxn modelId="{1CB895FD-054B-448C-B7BF-1639CB2537E4}" srcId="{025B260D-CB68-4117-8F17-9BC8A322BBED}" destId="{84838809-4C19-43C6-8D7E-D17659FD7716}" srcOrd="0" destOrd="0" parTransId="{A69CA796-4E15-4BD7-B8CA-78ECECA6F30B}" sibTransId="{DDA7EF0E-C49D-48BA-ADEB-D4CD6C753499}"/>
    <dgm:cxn modelId="{DDC71AD6-E6B6-4625-9BF9-ECBAF6ADB598}" type="presParOf" srcId="{B157BCFF-2480-442E-A951-39035F5429DC}" destId="{1AFB78F7-0B6F-438D-AD79-44CD4D9840E1}" srcOrd="0" destOrd="0" presId="urn:microsoft.com/office/officeart/2005/8/layout/vList5"/>
    <dgm:cxn modelId="{A9BEB733-2280-44D9-AAEC-7F6722392EFC}" type="presParOf" srcId="{1AFB78F7-0B6F-438D-AD79-44CD4D9840E1}" destId="{644DBE01-3D17-4BE2-A0C4-E496A02F9FB8}" srcOrd="0" destOrd="0" presId="urn:microsoft.com/office/officeart/2005/8/layout/vList5"/>
    <dgm:cxn modelId="{E33841A4-FF3B-4A8B-B261-6481BDDE7EE5}" type="presParOf" srcId="{1AFB78F7-0B6F-438D-AD79-44CD4D9840E1}" destId="{9621D49D-08E4-482B-B110-F958D9543CDC}" srcOrd="1" destOrd="0" presId="urn:microsoft.com/office/officeart/2005/8/layout/vList5"/>
    <dgm:cxn modelId="{656ACAF7-AD87-47E5-8D95-F528E9F1F185}" type="presParOf" srcId="{B157BCFF-2480-442E-A951-39035F5429DC}" destId="{F55DA206-06CB-4187-BE34-2CA40F7B2760}" srcOrd="1" destOrd="0" presId="urn:microsoft.com/office/officeart/2005/8/layout/vList5"/>
    <dgm:cxn modelId="{194A068E-5F15-4167-8043-3C50DA8EB0D0}" type="presParOf" srcId="{B157BCFF-2480-442E-A951-39035F5429DC}" destId="{35178C8C-3C9D-4B39-824A-3223EA176AF9}" srcOrd="2" destOrd="0" presId="urn:microsoft.com/office/officeart/2005/8/layout/vList5"/>
    <dgm:cxn modelId="{6E4721DF-C7EB-4524-821A-5394C32428F9}" type="presParOf" srcId="{35178C8C-3C9D-4B39-824A-3223EA176AF9}" destId="{FB50D0A5-9E55-4F65-805E-2FCF66BBB7CD}" srcOrd="0" destOrd="0" presId="urn:microsoft.com/office/officeart/2005/8/layout/vList5"/>
    <dgm:cxn modelId="{80A88B5C-E162-4BD2-8A7B-EBCF04E78C84}" type="presParOf" srcId="{35178C8C-3C9D-4B39-824A-3223EA176AF9}" destId="{35B10693-A100-4F43-9A1B-1229ED3C6EFC}" srcOrd="1" destOrd="0" presId="urn:microsoft.com/office/officeart/2005/8/layout/vList5"/>
    <dgm:cxn modelId="{6952A3D2-6E55-4385-91BE-D49278E59E81}" type="presParOf" srcId="{B157BCFF-2480-442E-A951-39035F5429DC}" destId="{1ABE689A-2464-4BA1-9251-FF39AC49658A}" srcOrd="3" destOrd="0" presId="urn:microsoft.com/office/officeart/2005/8/layout/vList5"/>
    <dgm:cxn modelId="{9F5C2F26-1430-4154-A07E-EAA9B502DD9E}" type="presParOf" srcId="{B157BCFF-2480-442E-A951-39035F5429DC}" destId="{018A17B5-92CD-4A72-B5AD-0AB771EDD210}" srcOrd="4" destOrd="0" presId="urn:microsoft.com/office/officeart/2005/8/layout/vList5"/>
    <dgm:cxn modelId="{76D0F4F7-8A8F-4F15-852B-782D069EDE48}" type="presParOf" srcId="{018A17B5-92CD-4A72-B5AD-0AB771EDD210}" destId="{D67A6385-7033-40CC-B520-FBC3E64396C7}" srcOrd="0" destOrd="0" presId="urn:microsoft.com/office/officeart/2005/8/layout/vList5"/>
    <dgm:cxn modelId="{EC74AA77-D349-49BF-8F19-082FF14CE771}" type="presParOf" srcId="{018A17B5-92CD-4A72-B5AD-0AB771EDD210}" destId="{B84A2433-5393-41C9-A729-1F44916CDC56}" srcOrd="1" destOrd="0" presId="urn:microsoft.com/office/officeart/2005/8/layout/vList5"/>
    <dgm:cxn modelId="{5FFFEEA8-21DA-40AD-A941-B41303A76129}" type="presParOf" srcId="{B157BCFF-2480-442E-A951-39035F5429DC}" destId="{4B59D334-2252-47F3-B266-D2D3C75614F0}" srcOrd="5" destOrd="0" presId="urn:microsoft.com/office/officeart/2005/8/layout/vList5"/>
    <dgm:cxn modelId="{FAB73E11-B6E3-4729-BC51-1CBF9C943C3A}" type="presParOf" srcId="{B157BCFF-2480-442E-A951-39035F5429DC}" destId="{142AA57D-6557-4FE2-B6DE-8F4BFAF5D9CC}" srcOrd="6" destOrd="0" presId="urn:microsoft.com/office/officeart/2005/8/layout/vList5"/>
    <dgm:cxn modelId="{AA93AE14-7B4E-4642-A0FC-00F27CB072C3}" type="presParOf" srcId="{142AA57D-6557-4FE2-B6DE-8F4BFAF5D9CC}" destId="{14F306CE-7A9E-4225-A357-ADF4AB1CAA6A}" srcOrd="0" destOrd="0" presId="urn:microsoft.com/office/officeart/2005/8/layout/vList5"/>
    <dgm:cxn modelId="{DB1D63A3-D3F8-4CCB-B45D-F88E21584B3D}" type="presParOf" srcId="{142AA57D-6557-4FE2-B6DE-8F4BFAF5D9CC}" destId="{E2007E24-4EDE-40FB-8499-4A8B839C24CC}" srcOrd="1" destOrd="0" presId="urn:microsoft.com/office/officeart/2005/8/layout/vList5"/>
    <dgm:cxn modelId="{8E44F67C-94D6-4CB2-8501-0393BF65CA5B}" type="presParOf" srcId="{B157BCFF-2480-442E-A951-39035F5429DC}" destId="{A344B81F-170C-467A-9AD1-C44EBE7770B3}" srcOrd="7" destOrd="0" presId="urn:microsoft.com/office/officeart/2005/8/layout/vList5"/>
    <dgm:cxn modelId="{3B6B0C10-5EFC-4157-9E7E-1C17119AD234}" type="presParOf" srcId="{B157BCFF-2480-442E-A951-39035F5429DC}" destId="{2C49CA81-6845-446B-A32A-2F0140DEAABB}" srcOrd="8" destOrd="0" presId="urn:microsoft.com/office/officeart/2005/8/layout/vList5"/>
    <dgm:cxn modelId="{41081430-AA43-4032-983A-399EF7807E16}" type="presParOf" srcId="{2C49CA81-6845-446B-A32A-2F0140DEAABB}" destId="{618B31DD-216A-4F13-B909-C9B6B4741D72}" srcOrd="0" destOrd="0" presId="urn:microsoft.com/office/officeart/2005/8/layout/vList5"/>
    <dgm:cxn modelId="{0A764DB3-2B16-4166-A4E7-E9B8B2DE7BD0}" type="presParOf" srcId="{2C49CA81-6845-446B-A32A-2F0140DEAABB}" destId="{608D53D3-8AA1-4220-A8C0-2822B9CC436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1FA9064-64B4-4425-9171-64200C46431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60D62C9D-4C58-428A-9BF6-212A89B420FC}">
      <dgm:prSet custT="1"/>
      <dgm:spPr/>
      <dgm:t>
        <a:bodyPr/>
        <a:lstStyle/>
        <a:p>
          <a:r>
            <a:rPr lang="es-MX" sz="2400"/>
            <a:t>Coeficientes de contribución, son los coeficientes de las variables de decisión en la </a:t>
          </a:r>
          <a:r>
            <a:rPr lang="es-MX" sz="2400" b="1"/>
            <a:t>función objetivo</a:t>
          </a:r>
          <a:r>
            <a:rPr lang="es-MX" sz="2400"/>
            <a:t>, que representan a un concepto. Pueden ser:</a:t>
          </a:r>
          <a:endParaRPr lang="es-PE" sz="2400"/>
        </a:p>
      </dgm:t>
    </dgm:pt>
    <dgm:pt modelId="{CCA46CE1-7F7E-4A8F-AA01-2AC41C9EC54E}" type="parTrans" cxnId="{4F05490D-AAF7-43FE-95A4-B3A0DA1E764B}">
      <dgm:prSet/>
      <dgm:spPr/>
      <dgm:t>
        <a:bodyPr/>
        <a:lstStyle/>
        <a:p>
          <a:endParaRPr lang="es-PE" sz="2400"/>
        </a:p>
      </dgm:t>
    </dgm:pt>
    <dgm:pt modelId="{82D7306E-335F-4846-A52D-2E36EC30314E}" type="sibTrans" cxnId="{4F05490D-AAF7-43FE-95A4-B3A0DA1E764B}">
      <dgm:prSet/>
      <dgm:spPr/>
      <dgm:t>
        <a:bodyPr/>
        <a:lstStyle/>
        <a:p>
          <a:endParaRPr lang="es-PE" sz="2400"/>
        </a:p>
      </dgm:t>
    </dgm:pt>
    <dgm:pt modelId="{33DCB1F7-8B1E-4434-B734-1A42AF4AB364}">
      <dgm:prSet custT="1"/>
      <dgm:spPr/>
      <dgm:t>
        <a:bodyPr/>
        <a:lstStyle/>
        <a:p>
          <a:r>
            <a:rPr lang="es-MX" sz="2400"/>
            <a:t>Utilidad, utilidad por unidad de la variable de decisión.</a:t>
          </a:r>
          <a:endParaRPr lang="es-PE" sz="2400"/>
        </a:p>
      </dgm:t>
    </dgm:pt>
    <dgm:pt modelId="{34814002-9894-494C-AF40-D3F795CE2A79}" type="parTrans" cxnId="{D615C7F8-362D-4A59-85B2-C72DA56B73B4}">
      <dgm:prSet/>
      <dgm:spPr/>
      <dgm:t>
        <a:bodyPr/>
        <a:lstStyle/>
        <a:p>
          <a:endParaRPr lang="es-PE" sz="2400"/>
        </a:p>
      </dgm:t>
    </dgm:pt>
    <dgm:pt modelId="{0D2EF1AC-A7B5-466A-B194-CA88631D4FF6}" type="sibTrans" cxnId="{D615C7F8-362D-4A59-85B2-C72DA56B73B4}">
      <dgm:prSet/>
      <dgm:spPr/>
      <dgm:t>
        <a:bodyPr/>
        <a:lstStyle/>
        <a:p>
          <a:endParaRPr lang="es-PE" sz="2400"/>
        </a:p>
      </dgm:t>
    </dgm:pt>
    <dgm:pt modelId="{D26761C5-9C01-441E-BF84-F63FE272D720}">
      <dgm:prSet custT="1"/>
      <dgm:spPr/>
      <dgm:t>
        <a:bodyPr/>
        <a:lstStyle/>
        <a:p>
          <a:r>
            <a:rPr lang="es-MX" sz="2400" dirty="0"/>
            <a:t>Costo, costo por unidad de la variable de decisión.</a:t>
          </a:r>
          <a:endParaRPr lang="es-PE" sz="2400" dirty="0"/>
        </a:p>
      </dgm:t>
    </dgm:pt>
    <dgm:pt modelId="{ACC66782-2F2C-4255-BC14-C8F1F5BC7FB4}" type="parTrans" cxnId="{DB85F993-E2DE-4E14-A9AA-9E1D749A0BA6}">
      <dgm:prSet/>
      <dgm:spPr/>
      <dgm:t>
        <a:bodyPr/>
        <a:lstStyle/>
        <a:p>
          <a:endParaRPr lang="es-PE" sz="2400"/>
        </a:p>
      </dgm:t>
    </dgm:pt>
    <dgm:pt modelId="{547F590E-A9C3-452A-B22B-43CD7DD51B11}" type="sibTrans" cxnId="{DB85F993-E2DE-4E14-A9AA-9E1D749A0BA6}">
      <dgm:prSet/>
      <dgm:spPr/>
      <dgm:t>
        <a:bodyPr/>
        <a:lstStyle/>
        <a:p>
          <a:endParaRPr lang="es-PE" sz="2400"/>
        </a:p>
      </dgm:t>
    </dgm:pt>
    <dgm:pt modelId="{28B7E9B9-D0AA-40C7-BBD8-E2A4BA63796F}" type="pres">
      <dgm:prSet presAssocID="{61FA9064-64B4-4425-9171-64200C464310}" presName="Name0" presStyleCnt="0">
        <dgm:presLayoutVars>
          <dgm:dir/>
          <dgm:animLvl val="lvl"/>
          <dgm:resizeHandles val="exact"/>
        </dgm:presLayoutVars>
      </dgm:prSet>
      <dgm:spPr/>
    </dgm:pt>
    <dgm:pt modelId="{3CB890BF-FDCB-4BA3-B766-2A769FE7E9C5}" type="pres">
      <dgm:prSet presAssocID="{60D62C9D-4C58-428A-9BF6-212A89B420FC}" presName="linNode" presStyleCnt="0"/>
      <dgm:spPr/>
    </dgm:pt>
    <dgm:pt modelId="{AD26C6CE-FD28-41DD-8967-BF6DB11FB20D}" type="pres">
      <dgm:prSet presAssocID="{60D62C9D-4C58-428A-9BF6-212A89B420FC}" presName="parentText" presStyleLbl="node1" presStyleIdx="0" presStyleCnt="1" custScaleX="165677" custScaleY="83204">
        <dgm:presLayoutVars>
          <dgm:chMax val="1"/>
          <dgm:bulletEnabled val="1"/>
        </dgm:presLayoutVars>
      </dgm:prSet>
      <dgm:spPr/>
    </dgm:pt>
    <dgm:pt modelId="{4E439980-D90D-4A09-96B1-AC69C9C9588E}" type="pres">
      <dgm:prSet presAssocID="{60D62C9D-4C58-428A-9BF6-212A89B420FC}" presName="descendantText" presStyleLbl="alignAccFollowNode1" presStyleIdx="0" presStyleCnt="1">
        <dgm:presLayoutVars>
          <dgm:bulletEnabled val="1"/>
        </dgm:presLayoutVars>
      </dgm:prSet>
      <dgm:spPr/>
    </dgm:pt>
  </dgm:ptLst>
  <dgm:cxnLst>
    <dgm:cxn modelId="{4F05490D-AAF7-43FE-95A4-B3A0DA1E764B}" srcId="{61FA9064-64B4-4425-9171-64200C464310}" destId="{60D62C9D-4C58-428A-9BF6-212A89B420FC}" srcOrd="0" destOrd="0" parTransId="{CCA46CE1-7F7E-4A8F-AA01-2AC41C9EC54E}" sibTransId="{82D7306E-335F-4846-A52D-2E36EC30314E}"/>
    <dgm:cxn modelId="{B6048F29-B6E2-40F4-A65F-D3E4896E0DBE}" type="presOf" srcId="{33DCB1F7-8B1E-4434-B734-1A42AF4AB364}" destId="{4E439980-D90D-4A09-96B1-AC69C9C9588E}" srcOrd="0" destOrd="0" presId="urn:microsoft.com/office/officeart/2005/8/layout/vList5"/>
    <dgm:cxn modelId="{DB85F993-E2DE-4E14-A9AA-9E1D749A0BA6}" srcId="{60D62C9D-4C58-428A-9BF6-212A89B420FC}" destId="{D26761C5-9C01-441E-BF84-F63FE272D720}" srcOrd="1" destOrd="0" parTransId="{ACC66782-2F2C-4255-BC14-C8F1F5BC7FB4}" sibTransId="{547F590E-A9C3-452A-B22B-43CD7DD51B11}"/>
    <dgm:cxn modelId="{C875D4A6-4658-4107-BBFA-660E75702962}" type="presOf" srcId="{60D62C9D-4C58-428A-9BF6-212A89B420FC}" destId="{AD26C6CE-FD28-41DD-8967-BF6DB11FB20D}" srcOrd="0" destOrd="0" presId="urn:microsoft.com/office/officeart/2005/8/layout/vList5"/>
    <dgm:cxn modelId="{84FC13AB-C465-4B9A-88E1-221D9644EBC1}" type="presOf" srcId="{D26761C5-9C01-441E-BF84-F63FE272D720}" destId="{4E439980-D90D-4A09-96B1-AC69C9C9588E}" srcOrd="0" destOrd="1" presId="urn:microsoft.com/office/officeart/2005/8/layout/vList5"/>
    <dgm:cxn modelId="{490BBCE7-606E-4BD1-8715-700C29A86B0F}" type="presOf" srcId="{61FA9064-64B4-4425-9171-64200C464310}" destId="{28B7E9B9-D0AA-40C7-BBD8-E2A4BA63796F}" srcOrd="0" destOrd="0" presId="urn:microsoft.com/office/officeart/2005/8/layout/vList5"/>
    <dgm:cxn modelId="{D615C7F8-362D-4A59-85B2-C72DA56B73B4}" srcId="{60D62C9D-4C58-428A-9BF6-212A89B420FC}" destId="{33DCB1F7-8B1E-4434-B734-1A42AF4AB364}" srcOrd="0" destOrd="0" parTransId="{34814002-9894-494C-AF40-D3F795CE2A79}" sibTransId="{0D2EF1AC-A7B5-466A-B194-CA88631D4FF6}"/>
    <dgm:cxn modelId="{3E240D38-1904-4099-87B1-2DF6576D2F50}" type="presParOf" srcId="{28B7E9B9-D0AA-40C7-BBD8-E2A4BA63796F}" destId="{3CB890BF-FDCB-4BA3-B766-2A769FE7E9C5}" srcOrd="0" destOrd="0" presId="urn:microsoft.com/office/officeart/2005/8/layout/vList5"/>
    <dgm:cxn modelId="{F8F55099-043A-4918-8ADA-56967A9A00CF}" type="presParOf" srcId="{3CB890BF-FDCB-4BA3-B766-2A769FE7E9C5}" destId="{AD26C6CE-FD28-41DD-8967-BF6DB11FB20D}" srcOrd="0" destOrd="0" presId="urn:microsoft.com/office/officeart/2005/8/layout/vList5"/>
    <dgm:cxn modelId="{46DE9BA8-BBB1-4650-BBB8-D7830E39895A}" type="presParOf" srcId="{3CB890BF-FDCB-4BA3-B766-2A769FE7E9C5}" destId="{4E439980-D90D-4A09-96B1-AC69C9C9588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0198194-92EB-42DA-BD7B-D61136ABD04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F85B2461-95D9-498F-8BEB-201D943F42FF}">
      <dgm:prSet custT="1"/>
      <dgm:spPr/>
      <dgm:t>
        <a:bodyPr/>
        <a:lstStyle/>
        <a:p>
          <a:r>
            <a:rPr lang="es-MX" sz="2400"/>
            <a:t>Coeficientes técnicos, son los coeficientes de la variables de decisión en las </a:t>
          </a:r>
          <a:r>
            <a:rPr lang="es-MX" sz="2400" b="1"/>
            <a:t>restricciones</a:t>
          </a:r>
          <a:r>
            <a:rPr lang="es-MX" sz="2400"/>
            <a:t>, que determinan el requerimiento por unidad. </a:t>
          </a:r>
          <a:endParaRPr lang="es-PE" sz="2400" dirty="0"/>
        </a:p>
      </dgm:t>
    </dgm:pt>
    <dgm:pt modelId="{105C67F5-674D-4D2B-B557-FD19B2FA5C13}" type="parTrans" cxnId="{F24D8A5D-7987-4186-9F23-882092C53960}">
      <dgm:prSet/>
      <dgm:spPr/>
      <dgm:t>
        <a:bodyPr/>
        <a:lstStyle/>
        <a:p>
          <a:endParaRPr lang="es-PE" sz="2400"/>
        </a:p>
      </dgm:t>
    </dgm:pt>
    <dgm:pt modelId="{CE3E69EA-3EA1-4B24-AA2F-5E80623962C3}" type="sibTrans" cxnId="{F24D8A5D-7987-4186-9F23-882092C53960}">
      <dgm:prSet/>
      <dgm:spPr/>
      <dgm:t>
        <a:bodyPr/>
        <a:lstStyle/>
        <a:p>
          <a:endParaRPr lang="es-PE" sz="2400"/>
        </a:p>
      </dgm:t>
    </dgm:pt>
    <dgm:pt modelId="{F3518D5C-009B-42F1-B058-A12804E5A660}">
      <dgm:prSet custT="1"/>
      <dgm:spPr/>
      <dgm:t>
        <a:bodyPr/>
        <a:lstStyle/>
        <a:p>
          <a:r>
            <a:rPr lang="es-MX" sz="2400" dirty="0"/>
            <a:t>Ejemplo:</a:t>
          </a:r>
          <a:endParaRPr lang="es-PE" sz="2400" dirty="0"/>
        </a:p>
      </dgm:t>
    </dgm:pt>
    <dgm:pt modelId="{FA024965-CD2D-4706-A0D9-0CAF32DAF32E}" type="parTrans" cxnId="{215EAE62-6432-42A8-AC97-61044313EDF7}">
      <dgm:prSet/>
      <dgm:spPr/>
      <dgm:t>
        <a:bodyPr/>
        <a:lstStyle/>
        <a:p>
          <a:endParaRPr lang="es-PE" sz="2400"/>
        </a:p>
      </dgm:t>
    </dgm:pt>
    <dgm:pt modelId="{C62DFAFE-31C1-4120-9008-98794D533014}" type="sibTrans" cxnId="{215EAE62-6432-42A8-AC97-61044313EDF7}">
      <dgm:prSet/>
      <dgm:spPr/>
      <dgm:t>
        <a:bodyPr/>
        <a:lstStyle/>
        <a:p>
          <a:endParaRPr lang="es-PE" sz="2400"/>
        </a:p>
      </dgm:t>
    </dgm:pt>
    <dgm:pt modelId="{7CA93D29-5AB4-4BFD-97F9-78612604CD0D}">
      <dgm:prSet custT="1"/>
      <dgm:spPr/>
      <dgm:t>
        <a:bodyPr/>
        <a:lstStyle/>
        <a:p>
          <a:r>
            <a:rPr lang="es-MX" sz="2400" dirty="0"/>
            <a:t>Para producir una unidad del producto j se requiere 2 horas de producción, </a:t>
          </a:r>
          <a:r>
            <a:rPr lang="es-MX" sz="2400" dirty="0" err="1"/>
            <a:t>Xj</a:t>
          </a:r>
          <a:r>
            <a:rPr lang="es-MX" sz="2400" dirty="0"/>
            <a:t> unidades requiere: </a:t>
          </a:r>
          <a:r>
            <a:rPr lang="es-MX" sz="2400" dirty="0" err="1"/>
            <a:t>2Xj</a:t>
          </a:r>
          <a:r>
            <a:rPr lang="es-MX" sz="2400" dirty="0"/>
            <a:t> horas de producción.</a:t>
          </a:r>
          <a:endParaRPr lang="es-PE" sz="2400" dirty="0"/>
        </a:p>
      </dgm:t>
    </dgm:pt>
    <dgm:pt modelId="{0CFA2834-A112-4A28-AAC8-CD71FB6F72F4}" type="parTrans" cxnId="{584D8BE5-34A3-4C71-92F1-9BDD7F172F5F}">
      <dgm:prSet/>
      <dgm:spPr/>
      <dgm:t>
        <a:bodyPr/>
        <a:lstStyle/>
        <a:p>
          <a:endParaRPr lang="es-PE" sz="2400"/>
        </a:p>
      </dgm:t>
    </dgm:pt>
    <dgm:pt modelId="{89BF154C-C920-4CB5-B827-0060312AF423}" type="sibTrans" cxnId="{584D8BE5-34A3-4C71-92F1-9BDD7F172F5F}">
      <dgm:prSet/>
      <dgm:spPr/>
      <dgm:t>
        <a:bodyPr/>
        <a:lstStyle/>
        <a:p>
          <a:endParaRPr lang="es-PE" sz="2400"/>
        </a:p>
      </dgm:t>
    </dgm:pt>
    <dgm:pt modelId="{5CDCA9B1-4026-4530-9504-8800323602CB}">
      <dgm:prSet custT="1"/>
      <dgm:spPr/>
      <dgm:t>
        <a:bodyPr/>
        <a:lstStyle/>
        <a:p>
          <a:r>
            <a:rPr lang="es-MX" sz="2400"/>
            <a:t>Comprar una acción tipo k requiere de 200 dólares, por lo tanto comprar Xk acciones requiere: 200Xk dólares.</a:t>
          </a:r>
          <a:endParaRPr lang="es-PE" sz="2400"/>
        </a:p>
      </dgm:t>
    </dgm:pt>
    <dgm:pt modelId="{B1587EB7-E92A-4FBA-B492-57EA25859378}" type="parTrans" cxnId="{22A0CB88-7B5A-452B-8070-D3B4CAD65EC6}">
      <dgm:prSet/>
      <dgm:spPr/>
      <dgm:t>
        <a:bodyPr/>
        <a:lstStyle/>
        <a:p>
          <a:endParaRPr lang="es-PE" sz="2400"/>
        </a:p>
      </dgm:t>
    </dgm:pt>
    <dgm:pt modelId="{D58F1098-72B9-4A72-860A-8EB62D78A700}" type="sibTrans" cxnId="{22A0CB88-7B5A-452B-8070-D3B4CAD65EC6}">
      <dgm:prSet/>
      <dgm:spPr/>
      <dgm:t>
        <a:bodyPr/>
        <a:lstStyle/>
        <a:p>
          <a:endParaRPr lang="es-PE" sz="2400"/>
        </a:p>
      </dgm:t>
    </dgm:pt>
    <dgm:pt modelId="{B296858D-8A60-44E8-92F2-15DDD20A3740}">
      <dgm:prSet custT="1"/>
      <dgm:spPr/>
      <dgm:t>
        <a:bodyPr/>
        <a:lstStyle/>
        <a:p>
          <a:r>
            <a:rPr lang="es-MX" sz="2400" dirty="0"/>
            <a:t>Una unidad de la variable i requiere 3 unidades de materia prima, por lo tanto Xi requiere: </a:t>
          </a:r>
          <a:r>
            <a:rPr lang="es-MX" sz="2400" dirty="0" err="1"/>
            <a:t>3Xi</a:t>
          </a:r>
          <a:r>
            <a:rPr lang="es-MX" sz="2400" dirty="0"/>
            <a:t> unidades de materia prima.</a:t>
          </a:r>
          <a:endParaRPr lang="es-PE" sz="2400" dirty="0"/>
        </a:p>
      </dgm:t>
    </dgm:pt>
    <dgm:pt modelId="{A0B360D2-B857-4DD7-8B1B-775D9EA1417C}" type="parTrans" cxnId="{91A2BE6E-0846-4D45-837A-F8E88F79449C}">
      <dgm:prSet/>
      <dgm:spPr/>
      <dgm:t>
        <a:bodyPr/>
        <a:lstStyle/>
        <a:p>
          <a:endParaRPr lang="es-PE" sz="2400"/>
        </a:p>
      </dgm:t>
    </dgm:pt>
    <dgm:pt modelId="{62A3AAC4-4049-44D3-8897-8D535B299B26}" type="sibTrans" cxnId="{91A2BE6E-0846-4D45-837A-F8E88F79449C}">
      <dgm:prSet/>
      <dgm:spPr/>
      <dgm:t>
        <a:bodyPr/>
        <a:lstStyle/>
        <a:p>
          <a:endParaRPr lang="es-PE" sz="2400"/>
        </a:p>
      </dgm:t>
    </dgm:pt>
    <dgm:pt modelId="{075F36DC-DF0C-404E-A956-44C2C371B6C6}" type="pres">
      <dgm:prSet presAssocID="{80198194-92EB-42DA-BD7B-D61136ABD044}" presName="Name0" presStyleCnt="0">
        <dgm:presLayoutVars>
          <dgm:dir/>
          <dgm:animLvl val="lvl"/>
          <dgm:resizeHandles val="exact"/>
        </dgm:presLayoutVars>
      </dgm:prSet>
      <dgm:spPr/>
    </dgm:pt>
    <dgm:pt modelId="{9A9FC388-6275-445D-AB38-1C75C076F385}" type="pres">
      <dgm:prSet presAssocID="{F85B2461-95D9-498F-8BEB-201D943F42FF}" presName="linNode" presStyleCnt="0"/>
      <dgm:spPr/>
    </dgm:pt>
    <dgm:pt modelId="{9BEC1507-262B-4319-8881-0C689D03A9A0}" type="pres">
      <dgm:prSet presAssocID="{F85B2461-95D9-498F-8BEB-201D943F42FF}" presName="parentText" presStyleLbl="node1" presStyleIdx="0" presStyleCnt="1" custScaleX="83117">
        <dgm:presLayoutVars>
          <dgm:chMax val="1"/>
          <dgm:bulletEnabled val="1"/>
        </dgm:presLayoutVars>
      </dgm:prSet>
      <dgm:spPr/>
    </dgm:pt>
    <dgm:pt modelId="{174DA934-25DB-4E68-B29C-E4042A007D66}" type="pres">
      <dgm:prSet presAssocID="{F85B2461-95D9-498F-8BEB-201D943F42FF}" presName="descendantText" presStyleLbl="alignAccFollowNode1" presStyleIdx="0" presStyleCnt="1" custScaleX="108089" custScaleY="122267">
        <dgm:presLayoutVars>
          <dgm:bulletEnabled val="1"/>
        </dgm:presLayoutVars>
      </dgm:prSet>
      <dgm:spPr/>
    </dgm:pt>
  </dgm:ptLst>
  <dgm:cxnLst>
    <dgm:cxn modelId="{4C25F818-CC7A-493B-904F-94D2087C3ECC}" type="presOf" srcId="{B296858D-8A60-44E8-92F2-15DDD20A3740}" destId="{174DA934-25DB-4E68-B29C-E4042A007D66}" srcOrd="0" destOrd="1" presId="urn:microsoft.com/office/officeart/2005/8/layout/vList5"/>
    <dgm:cxn modelId="{F24D8A5D-7987-4186-9F23-882092C53960}" srcId="{80198194-92EB-42DA-BD7B-D61136ABD044}" destId="{F85B2461-95D9-498F-8BEB-201D943F42FF}" srcOrd="0" destOrd="0" parTransId="{105C67F5-674D-4D2B-B557-FD19B2FA5C13}" sibTransId="{CE3E69EA-3EA1-4B24-AA2F-5E80623962C3}"/>
    <dgm:cxn modelId="{40F5F65E-0250-4C24-B1EA-10787C5C7657}" type="presOf" srcId="{80198194-92EB-42DA-BD7B-D61136ABD044}" destId="{075F36DC-DF0C-404E-A956-44C2C371B6C6}" srcOrd="0" destOrd="0" presId="urn:microsoft.com/office/officeart/2005/8/layout/vList5"/>
    <dgm:cxn modelId="{215EAE62-6432-42A8-AC97-61044313EDF7}" srcId="{F85B2461-95D9-498F-8BEB-201D943F42FF}" destId="{F3518D5C-009B-42F1-B058-A12804E5A660}" srcOrd="0" destOrd="0" parTransId="{FA024965-CD2D-4706-A0D9-0CAF32DAF32E}" sibTransId="{C62DFAFE-31C1-4120-9008-98794D533014}"/>
    <dgm:cxn modelId="{91A2BE6E-0846-4D45-837A-F8E88F79449C}" srcId="{F85B2461-95D9-498F-8BEB-201D943F42FF}" destId="{B296858D-8A60-44E8-92F2-15DDD20A3740}" srcOrd="1" destOrd="0" parTransId="{A0B360D2-B857-4DD7-8B1B-775D9EA1417C}" sibTransId="{62A3AAC4-4049-44D3-8897-8D535B299B26}"/>
    <dgm:cxn modelId="{22A0CB88-7B5A-452B-8070-D3B4CAD65EC6}" srcId="{F85B2461-95D9-498F-8BEB-201D943F42FF}" destId="{5CDCA9B1-4026-4530-9504-8800323602CB}" srcOrd="3" destOrd="0" parTransId="{B1587EB7-E92A-4FBA-B492-57EA25859378}" sibTransId="{D58F1098-72B9-4A72-860A-8EB62D78A700}"/>
    <dgm:cxn modelId="{E0CDE0AA-1A88-4265-AD14-F27012529E49}" type="presOf" srcId="{F3518D5C-009B-42F1-B058-A12804E5A660}" destId="{174DA934-25DB-4E68-B29C-E4042A007D66}" srcOrd="0" destOrd="0" presId="urn:microsoft.com/office/officeart/2005/8/layout/vList5"/>
    <dgm:cxn modelId="{4AD5FFD9-05A8-4504-8E8F-97DDE8DE5E2B}" type="presOf" srcId="{F85B2461-95D9-498F-8BEB-201D943F42FF}" destId="{9BEC1507-262B-4319-8881-0C689D03A9A0}" srcOrd="0" destOrd="0" presId="urn:microsoft.com/office/officeart/2005/8/layout/vList5"/>
    <dgm:cxn modelId="{54E710DA-1367-41C5-A258-74CAD35943A8}" type="presOf" srcId="{7CA93D29-5AB4-4BFD-97F9-78612604CD0D}" destId="{174DA934-25DB-4E68-B29C-E4042A007D66}" srcOrd="0" destOrd="2" presId="urn:microsoft.com/office/officeart/2005/8/layout/vList5"/>
    <dgm:cxn modelId="{584D8BE5-34A3-4C71-92F1-9BDD7F172F5F}" srcId="{F85B2461-95D9-498F-8BEB-201D943F42FF}" destId="{7CA93D29-5AB4-4BFD-97F9-78612604CD0D}" srcOrd="2" destOrd="0" parTransId="{0CFA2834-A112-4A28-AAC8-CD71FB6F72F4}" sibTransId="{89BF154C-C920-4CB5-B827-0060312AF423}"/>
    <dgm:cxn modelId="{AE3FD6EE-CE8D-404E-846D-66C27460E422}" type="presOf" srcId="{5CDCA9B1-4026-4530-9504-8800323602CB}" destId="{174DA934-25DB-4E68-B29C-E4042A007D66}" srcOrd="0" destOrd="3" presId="urn:microsoft.com/office/officeart/2005/8/layout/vList5"/>
    <dgm:cxn modelId="{BEB50E94-362E-4C6A-BDCD-D0D81A69AA3B}" type="presParOf" srcId="{075F36DC-DF0C-404E-A956-44C2C371B6C6}" destId="{9A9FC388-6275-445D-AB38-1C75C076F385}" srcOrd="0" destOrd="0" presId="urn:microsoft.com/office/officeart/2005/8/layout/vList5"/>
    <dgm:cxn modelId="{47E352DC-12A5-41F6-8172-BF6C0F3D7DF2}" type="presParOf" srcId="{9A9FC388-6275-445D-AB38-1C75C076F385}" destId="{9BEC1507-262B-4319-8881-0C689D03A9A0}" srcOrd="0" destOrd="0" presId="urn:microsoft.com/office/officeart/2005/8/layout/vList5"/>
    <dgm:cxn modelId="{1241D6E9-3855-43DF-9212-1E181216ABDD}" type="presParOf" srcId="{9A9FC388-6275-445D-AB38-1C75C076F385}" destId="{174DA934-25DB-4E68-B29C-E4042A007D66}"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11E0E174-3C7F-444C-B250-49D2C9698AC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E847AA1F-BC5A-45DB-A2E5-A26A4EE666B0}">
      <dgm:prSet custT="1"/>
      <dgm:spPr/>
      <dgm:t>
        <a:bodyPr/>
        <a:lstStyle/>
        <a:p>
          <a:r>
            <a:rPr lang="es-MX" sz="2800"/>
            <a:t>Disponibilidades b(i), es la </a:t>
          </a:r>
          <a:r>
            <a:rPr lang="es-MX" sz="2800" b="1"/>
            <a:t>disponibilidad</a:t>
          </a:r>
          <a:r>
            <a:rPr lang="es-MX" sz="2800"/>
            <a:t> de los recursos para elaborar la restricción correspondiente, limitan la decisión.</a:t>
          </a:r>
          <a:endParaRPr lang="es-PE" sz="2800"/>
        </a:p>
      </dgm:t>
    </dgm:pt>
    <dgm:pt modelId="{F2D00CAC-5D4B-4A4C-9EF6-ADDAA68795F7}" type="parTrans" cxnId="{9857758E-29DE-4677-B914-3837E1CE4AFF}">
      <dgm:prSet/>
      <dgm:spPr/>
      <dgm:t>
        <a:bodyPr/>
        <a:lstStyle/>
        <a:p>
          <a:endParaRPr lang="es-PE" sz="2800"/>
        </a:p>
      </dgm:t>
    </dgm:pt>
    <dgm:pt modelId="{34CA1412-EE69-4DC2-A214-A43B37970423}" type="sibTrans" cxnId="{9857758E-29DE-4677-B914-3837E1CE4AFF}">
      <dgm:prSet/>
      <dgm:spPr/>
      <dgm:t>
        <a:bodyPr/>
        <a:lstStyle/>
        <a:p>
          <a:endParaRPr lang="es-PE" sz="2800"/>
        </a:p>
      </dgm:t>
    </dgm:pt>
    <dgm:pt modelId="{22E2A45F-F66D-48BD-BC73-8005808084FD}">
      <dgm:prSet custT="1"/>
      <dgm:spPr/>
      <dgm:t>
        <a:bodyPr/>
        <a:lstStyle/>
        <a:p>
          <a:r>
            <a:rPr lang="es-MX" sz="2800" dirty="0"/>
            <a:t>Ejemplo:</a:t>
          </a:r>
          <a:endParaRPr lang="es-PE" sz="2800" dirty="0"/>
        </a:p>
      </dgm:t>
    </dgm:pt>
    <dgm:pt modelId="{EA128E52-5917-4AB7-8595-424FD5C4ECFD}" type="parTrans" cxnId="{9E951976-B403-4B3F-9820-EE37CFE76052}">
      <dgm:prSet/>
      <dgm:spPr/>
      <dgm:t>
        <a:bodyPr/>
        <a:lstStyle/>
        <a:p>
          <a:endParaRPr lang="es-PE" sz="2800"/>
        </a:p>
      </dgm:t>
    </dgm:pt>
    <dgm:pt modelId="{0994EBC5-F681-4BC0-A24A-16AE88CFF138}" type="sibTrans" cxnId="{9E951976-B403-4B3F-9820-EE37CFE76052}">
      <dgm:prSet/>
      <dgm:spPr/>
      <dgm:t>
        <a:bodyPr/>
        <a:lstStyle/>
        <a:p>
          <a:endParaRPr lang="es-PE" sz="2800"/>
        </a:p>
      </dgm:t>
    </dgm:pt>
    <dgm:pt modelId="{EB59C8F0-7DDB-4156-9B70-2089544D6470}">
      <dgm:prSet custT="1"/>
      <dgm:spPr/>
      <dgm:t>
        <a:bodyPr/>
        <a:lstStyle/>
        <a:p>
          <a:r>
            <a:rPr lang="es-MX" sz="2800" dirty="0"/>
            <a:t>La capacidad de producción es 8000 unidades, se puede producir 5 tipos de productos. Entonces:                   </a:t>
          </a:r>
          <a:r>
            <a:rPr lang="es-MX" sz="2800" dirty="0" err="1"/>
            <a:t>X1</a:t>
          </a:r>
          <a:r>
            <a:rPr lang="es-MX" sz="2800" dirty="0"/>
            <a:t> + </a:t>
          </a:r>
          <a:r>
            <a:rPr lang="es-MX" sz="2800" dirty="0" err="1"/>
            <a:t>X2</a:t>
          </a:r>
          <a:r>
            <a:rPr lang="es-MX" sz="2800" dirty="0"/>
            <a:t> + </a:t>
          </a:r>
          <a:r>
            <a:rPr lang="es-MX" sz="2800" dirty="0" err="1"/>
            <a:t>X3</a:t>
          </a:r>
          <a:r>
            <a:rPr lang="es-MX" sz="2800" dirty="0"/>
            <a:t> + </a:t>
          </a:r>
          <a:r>
            <a:rPr lang="es-MX" sz="2800" dirty="0" err="1"/>
            <a:t>X4</a:t>
          </a:r>
          <a:r>
            <a:rPr lang="es-MX" sz="2800" dirty="0"/>
            <a:t> + </a:t>
          </a:r>
          <a:r>
            <a:rPr lang="es-MX" sz="2800" dirty="0" err="1"/>
            <a:t>X5</a:t>
          </a:r>
          <a:r>
            <a:rPr lang="es-MX" sz="2800" dirty="0"/>
            <a:t> &lt;= 8000 </a:t>
          </a:r>
          <a:endParaRPr lang="es-PE" sz="2800" dirty="0"/>
        </a:p>
      </dgm:t>
    </dgm:pt>
    <dgm:pt modelId="{DCC2DE65-AD0B-4456-B729-5492AE8BC307}" type="parTrans" cxnId="{CFCB26D4-AB44-4F90-B06A-0DC58954625E}">
      <dgm:prSet/>
      <dgm:spPr/>
      <dgm:t>
        <a:bodyPr/>
        <a:lstStyle/>
        <a:p>
          <a:endParaRPr lang="es-PE" sz="2800"/>
        </a:p>
      </dgm:t>
    </dgm:pt>
    <dgm:pt modelId="{0CEFF4DF-8D07-4413-A7A2-8D4C6146DC02}" type="sibTrans" cxnId="{CFCB26D4-AB44-4F90-B06A-0DC58954625E}">
      <dgm:prSet/>
      <dgm:spPr/>
      <dgm:t>
        <a:bodyPr/>
        <a:lstStyle/>
        <a:p>
          <a:endParaRPr lang="es-PE" sz="2800"/>
        </a:p>
      </dgm:t>
    </dgm:pt>
    <dgm:pt modelId="{3ABAB927-846B-413F-8576-FD06750CB72E}">
      <dgm:prSet custT="1"/>
      <dgm:spPr/>
      <dgm:t>
        <a:bodyPr/>
        <a:lstStyle/>
        <a:p>
          <a:r>
            <a:rPr lang="es-MX" sz="2800" dirty="0"/>
            <a:t>Se dispone de 2000 dólares para invertir en acciones, el costo es: 120 y 240 respectivamente. Entonces: </a:t>
          </a:r>
          <a:r>
            <a:rPr lang="es-MX" sz="2800" dirty="0" err="1"/>
            <a:t>120X1</a:t>
          </a:r>
          <a:r>
            <a:rPr lang="es-MX" sz="2800" dirty="0"/>
            <a:t> + </a:t>
          </a:r>
          <a:r>
            <a:rPr lang="es-MX" sz="2800" dirty="0" err="1"/>
            <a:t>240X2</a:t>
          </a:r>
          <a:r>
            <a:rPr lang="es-MX" sz="2800" dirty="0"/>
            <a:t> &lt;= 2000</a:t>
          </a:r>
          <a:endParaRPr lang="es-PE" sz="2800" dirty="0"/>
        </a:p>
      </dgm:t>
    </dgm:pt>
    <dgm:pt modelId="{57D4AC08-48CA-485A-9BFA-6403A04258A9}" type="parTrans" cxnId="{8E449FC5-B614-489A-BED2-8841FC829CD9}">
      <dgm:prSet/>
      <dgm:spPr/>
      <dgm:t>
        <a:bodyPr/>
        <a:lstStyle/>
        <a:p>
          <a:endParaRPr lang="es-PE"/>
        </a:p>
      </dgm:t>
    </dgm:pt>
    <dgm:pt modelId="{967AB3AB-775B-41FA-8E1E-C54675BB18FB}" type="sibTrans" cxnId="{8E449FC5-B614-489A-BED2-8841FC829CD9}">
      <dgm:prSet/>
      <dgm:spPr/>
      <dgm:t>
        <a:bodyPr/>
        <a:lstStyle/>
        <a:p>
          <a:endParaRPr lang="es-PE"/>
        </a:p>
      </dgm:t>
    </dgm:pt>
    <dgm:pt modelId="{CE78952C-034F-4D43-8002-77DD47B9AA2C}" type="pres">
      <dgm:prSet presAssocID="{11E0E174-3C7F-444C-B250-49D2C9698ACA}" presName="Name0" presStyleCnt="0">
        <dgm:presLayoutVars>
          <dgm:dir/>
          <dgm:animLvl val="lvl"/>
          <dgm:resizeHandles val="exact"/>
        </dgm:presLayoutVars>
      </dgm:prSet>
      <dgm:spPr/>
    </dgm:pt>
    <dgm:pt modelId="{A3333CD8-3CF0-4473-97BF-147EC9442ADF}" type="pres">
      <dgm:prSet presAssocID="{E847AA1F-BC5A-45DB-A2E5-A26A4EE666B0}" presName="linNode" presStyleCnt="0"/>
      <dgm:spPr/>
    </dgm:pt>
    <dgm:pt modelId="{333945CE-6D10-4773-A4D6-32C8CEB12E89}" type="pres">
      <dgm:prSet presAssocID="{E847AA1F-BC5A-45DB-A2E5-A26A4EE666B0}" presName="parentText" presStyleLbl="node1" presStyleIdx="0" presStyleCnt="1" custLinFactNeighborY="1071">
        <dgm:presLayoutVars>
          <dgm:chMax val="1"/>
          <dgm:bulletEnabled val="1"/>
        </dgm:presLayoutVars>
      </dgm:prSet>
      <dgm:spPr/>
    </dgm:pt>
    <dgm:pt modelId="{C8E2B29E-67E0-47AE-B888-41E56400E4DE}" type="pres">
      <dgm:prSet presAssocID="{E847AA1F-BC5A-45DB-A2E5-A26A4EE666B0}" presName="descendantText" presStyleLbl="alignAccFollowNode1" presStyleIdx="0" presStyleCnt="1" custScaleY="124811">
        <dgm:presLayoutVars>
          <dgm:bulletEnabled val="1"/>
        </dgm:presLayoutVars>
      </dgm:prSet>
      <dgm:spPr/>
    </dgm:pt>
  </dgm:ptLst>
  <dgm:cxnLst>
    <dgm:cxn modelId="{F778696B-6740-4776-B3A3-06A16E40912A}" type="presOf" srcId="{EB59C8F0-7DDB-4156-9B70-2089544D6470}" destId="{C8E2B29E-67E0-47AE-B888-41E56400E4DE}" srcOrd="0" destOrd="2" presId="urn:microsoft.com/office/officeart/2005/8/layout/vList5"/>
    <dgm:cxn modelId="{C19F9A4C-52AC-4997-84C8-BB060CB00F74}" type="presOf" srcId="{E847AA1F-BC5A-45DB-A2E5-A26A4EE666B0}" destId="{333945CE-6D10-4773-A4D6-32C8CEB12E89}" srcOrd="0" destOrd="0" presId="urn:microsoft.com/office/officeart/2005/8/layout/vList5"/>
    <dgm:cxn modelId="{9E951976-B403-4B3F-9820-EE37CFE76052}" srcId="{E847AA1F-BC5A-45DB-A2E5-A26A4EE666B0}" destId="{22E2A45F-F66D-48BD-BC73-8005808084FD}" srcOrd="0" destOrd="0" parTransId="{EA128E52-5917-4AB7-8595-424FD5C4ECFD}" sibTransId="{0994EBC5-F681-4BC0-A24A-16AE88CFF138}"/>
    <dgm:cxn modelId="{9857758E-29DE-4677-B914-3837E1CE4AFF}" srcId="{11E0E174-3C7F-444C-B250-49D2C9698ACA}" destId="{E847AA1F-BC5A-45DB-A2E5-A26A4EE666B0}" srcOrd="0" destOrd="0" parTransId="{F2D00CAC-5D4B-4A4C-9EF6-ADDAA68795F7}" sibTransId="{34CA1412-EE69-4DC2-A214-A43B37970423}"/>
    <dgm:cxn modelId="{77AC18C4-5581-4D83-82F0-ACC833429182}" type="presOf" srcId="{22E2A45F-F66D-48BD-BC73-8005808084FD}" destId="{C8E2B29E-67E0-47AE-B888-41E56400E4DE}" srcOrd="0" destOrd="0" presId="urn:microsoft.com/office/officeart/2005/8/layout/vList5"/>
    <dgm:cxn modelId="{8E449FC5-B614-489A-BED2-8841FC829CD9}" srcId="{E847AA1F-BC5A-45DB-A2E5-A26A4EE666B0}" destId="{3ABAB927-846B-413F-8576-FD06750CB72E}" srcOrd="1" destOrd="0" parTransId="{57D4AC08-48CA-485A-9BFA-6403A04258A9}" sibTransId="{967AB3AB-775B-41FA-8E1E-C54675BB18FB}"/>
    <dgm:cxn modelId="{E9F599CA-1931-45DA-9FF0-F5DAE0FFA2BF}" type="presOf" srcId="{3ABAB927-846B-413F-8576-FD06750CB72E}" destId="{C8E2B29E-67E0-47AE-B888-41E56400E4DE}" srcOrd="0" destOrd="1" presId="urn:microsoft.com/office/officeart/2005/8/layout/vList5"/>
    <dgm:cxn modelId="{CFCB26D4-AB44-4F90-B06A-0DC58954625E}" srcId="{E847AA1F-BC5A-45DB-A2E5-A26A4EE666B0}" destId="{EB59C8F0-7DDB-4156-9B70-2089544D6470}" srcOrd="2" destOrd="0" parTransId="{DCC2DE65-AD0B-4456-B729-5492AE8BC307}" sibTransId="{0CEFF4DF-8D07-4413-A7A2-8D4C6146DC02}"/>
    <dgm:cxn modelId="{88A799FA-82E5-41A6-8E01-B89CA9791FA6}" type="presOf" srcId="{11E0E174-3C7F-444C-B250-49D2C9698ACA}" destId="{CE78952C-034F-4D43-8002-77DD47B9AA2C}" srcOrd="0" destOrd="0" presId="urn:microsoft.com/office/officeart/2005/8/layout/vList5"/>
    <dgm:cxn modelId="{54EE71CA-9B13-4181-B0BC-B73380CDF172}" type="presParOf" srcId="{CE78952C-034F-4D43-8002-77DD47B9AA2C}" destId="{A3333CD8-3CF0-4473-97BF-147EC9442ADF}" srcOrd="0" destOrd="0" presId="urn:microsoft.com/office/officeart/2005/8/layout/vList5"/>
    <dgm:cxn modelId="{9B2E3809-632C-4F2A-AE64-A4C9E00B72C5}" type="presParOf" srcId="{A3333CD8-3CF0-4473-97BF-147EC9442ADF}" destId="{333945CE-6D10-4773-A4D6-32C8CEB12E89}" srcOrd="0" destOrd="0" presId="urn:microsoft.com/office/officeart/2005/8/layout/vList5"/>
    <dgm:cxn modelId="{4BC9DB8D-A639-4979-A317-F6E0D2A22563}" type="presParOf" srcId="{A3333CD8-3CF0-4473-97BF-147EC9442ADF}" destId="{C8E2B29E-67E0-47AE-B888-41E56400E4D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B9264255-22FE-4ACC-8159-56ED7F6FE71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54CEF074-AF67-49F0-A74B-1282526B51A1}">
      <dgm:prSet custT="1"/>
      <dgm:spPr/>
      <dgm:t>
        <a:bodyPr/>
        <a:lstStyle/>
        <a:p>
          <a:pPr algn="just" rtl="0"/>
          <a:r>
            <a:rPr lang="es-PE" sz="2400" dirty="0"/>
            <a:t>Burger King, es un restaurante que vende una gran variedad de hamburguesas. Se encuentra ubicado en la Av. Javier Prado y tiene entre sus variedades la Súper Burger King y a la Mega Burger King como las más preferidas por sus clientes. </a:t>
          </a:r>
        </a:p>
      </dgm:t>
    </dgm:pt>
    <dgm:pt modelId="{A26668F4-1975-48D6-B7F2-06303FE52143}" type="parTrans" cxnId="{D3A71DA6-597E-4D1E-A910-A3DB6B6F484E}">
      <dgm:prSet/>
      <dgm:spPr/>
      <dgm:t>
        <a:bodyPr/>
        <a:lstStyle/>
        <a:p>
          <a:pPr algn="just"/>
          <a:endParaRPr lang="es-PE" sz="2400"/>
        </a:p>
      </dgm:t>
    </dgm:pt>
    <dgm:pt modelId="{ACC8981B-0E74-48C3-A6B6-3485250693E2}" type="sibTrans" cxnId="{D3A71DA6-597E-4D1E-A910-A3DB6B6F484E}">
      <dgm:prSet/>
      <dgm:spPr/>
      <dgm:t>
        <a:bodyPr/>
        <a:lstStyle/>
        <a:p>
          <a:pPr algn="just"/>
          <a:endParaRPr lang="es-PE" sz="2400"/>
        </a:p>
      </dgm:t>
    </dgm:pt>
    <dgm:pt modelId="{597DC0FF-3814-4A15-8004-E19753DCC545}">
      <dgm:prSet custT="1"/>
      <dgm:spPr>
        <a:solidFill>
          <a:schemeClr val="accent2">
            <a:lumMod val="75000"/>
          </a:schemeClr>
        </a:solidFill>
      </dgm:spPr>
      <dgm:t>
        <a:bodyPr/>
        <a:lstStyle/>
        <a:p>
          <a:pPr algn="just" rtl="0"/>
          <a:r>
            <a:rPr lang="es-PE" sz="2400" dirty="0"/>
            <a:t>La Súper Burger King utiliza en su preparación </a:t>
          </a:r>
          <a:r>
            <a:rPr lang="es-PE" sz="2400" dirty="0" err="1"/>
            <a:t>250gr</a:t>
          </a:r>
          <a:r>
            <a:rPr lang="es-PE" sz="2400" dirty="0"/>
            <a:t>. de carne molida, en tanto que la Mega Burger King </a:t>
          </a:r>
          <a:r>
            <a:rPr lang="es-PE" sz="2400" dirty="0" err="1"/>
            <a:t>350gr</a:t>
          </a:r>
          <a:r>
            <a:rPr lang="es-PE" sz="2400" dirty="0"/>
            <a:t>. El restaurante inicia el día con </a:t>
          </a:r>
          <a:r>
            <a:rPr lang="es-PE" sz="2400" dirty="0" err="1"/>
            <a:t>200kg</a:t>
          </a:r>
          <a:r>
            <a:rPr lang="es-PE" sz="2400" dirty="0"/>
            <a:t>. de carne destinada a la preparación de estos tipos de hamburguesas, pero puede ordenar más a un costo adicional de S/.6.00 por Kg. para cubrir los costos de entrega. </a:t>
          </a:r>
        </a:p>
      </dgm:t>
    </dgm:pt>
    <dgm:pt modelId="{D61B4BE2-D558-48F4-9C8B-5D8FD909208A}" type="parTrans" cxnId="{40EF1E24-4DE4-4AFC-B62C-26BC221B2A3B}">
      <dgm:prSet/>
      <dgm:spPr/>
      <dgm:t>
        <a:bodyPr/>
        <a:lstStyle/>
        <a:p>
          <a:pPr algn="just"/>
          <a:endParaRPr lang="es-PE" sz="2400"/>
        </a:p>
      </dgm:t>
    </dgm:pt>
    <dgm:pt modelId="{94CF8BFE-C425-42D4-B4CD-B48CE8823BFC}" type="sibTrans" cxnId="{40EF1E24-4DE4-4AFC-B62C-26BC221B2A3B}">
      <dgm:prSet/>
      <dgm:spPr/>
      <dgm:t>
        <a:bodyPr/>
        <a:lstStyle/>
        <a:p>
          <a:pPr algn="just"/>
          <a:endParaRPr lang="es-PE" sz="2400"/>
        </a:p>
      </dgm:t>
    </dgm:pt>
    <dgm:pt modelId="{57DA52B7-E5F8-4334-ADF7-F0F416F8FA13}">
      <dgm:prSet custT="1"/>
      <dgm:spPr/>
      <dgm:t>
        <a:bodyPr/>
        <a:lstStyle/>
        <a:p>
          <a:pPr algn="just" rtl="0"/>
          <a:r>
            <a:rPr lang="es-PE" sz="2400" dirty="0"/>
            <a:t>Cualquier sobrante de carne al final del día se dona al comedor “San Cristóbal”. Las utilidades de Burger King son de S/.2.00 por una Súper Burger King y de S/.4.00 por una Mega Burger King. No se espera vender más de 100 hamburguesas de estos tipos en un día. Encuentre la solución que le permita a Burger King conocer su plan óptimo de trabajo.</a:t>
          </a:r>
        </a:p>
      </dgm:t>
    </dgm:pt>
    <dgm:pt modelId="{B6AFD71E-0ADE-4ED8-8DA7-520EB80FA9B9}" type="parTrans" cxnId="{E878F284-EAF0-47C7-87CE-C5E38EC14BF5}">
      <dgm:prSet/>
      <dgm:spPr/>
      <dgm:t>
        <a:bodyPr/>
        <a:lstStyle/>
        <a:p>
          <a:pPr algn="just"/>
          <a:endParaRPr lang="es-PE" sz="2400"/>
        </a:p>
      </dgm:t>
    </dgm:pt>
    <dgm:pt modelId="{BB3AFD4F-C9C0-4416-AF95-E0E348C6135B}" type="sibTrans" cxnId="{E878F284-EAF0-47C7-87CE-C5E38EC14BF5}">
      <dgm:prSet/>
      <dgm:spPr/>
      <dgm:t>
        <a:bodyPr/>
        <a:lstStyle/>
        <a:p>
          <a:pPr algn="just"/>
          <a:endParaRPr lang="es-PE" sz="2400"/>
        </a:p>
      </dgm:t>
    </dgm:pt>
    <dgm:pt modelId="{A206BEBF-23B6-4DF5-A588-4E477735E27F}" type="pres">
      <dgm:prSet presAssocID="{B9264255-22FE-4ACC-8159-56ED7F6FE71A}" presName="linear" presStyleCnt="0">
        <dgm:presLayoutVars>
          <dgm:animLvl val="lvl"/>
          <dgm:resizeHandles val="exact"/>
        </dgm:presLayoutVars>
      </dgm:prSet>
      <dgm:spPr/>
    </dgm:pt>
    <dgm:pt modelId="{20398D00-108A-4A91-9C77-8D4DD483EF8A}" type="pres">
      <dgm:prSet presAssocID="{54CEF074-AF67-49F0-A74B-1282526B51A1}" presName="parentText" presStyleLbl="node1" presStyleIdx="0" presStyleCnt="3" custScaleY="74348">
        <dgm:presLayoutVars>
          <dgm:chMax val="0"/>
          <dgm:bulletEnabled val="1"/>
        </dgm:presLayoutVars>
      </dgm:prSet>
      <dgm:spPr/>
    </dgm:pt>
    <dgm:pt modelId="{7F1661BC-ABB5-4FFA-B220-BBF3C94A0116}" type="pres">
      <dgm:prSet presAssocID="{ACC8981B-0E74-48C3-A6B6-3485250693E2}" presName="spacer" presStyleCnt="0"/>
      <dgm:spPr/>
    </dgm:pt>
    <dgm:pt modelId="{55D1A51B-48B1-484F-8AF5-9D78A4AF23E4}" type="pres">
      <dgm:prSet presAssocID="{597DC0FF-3814-4A15-8004-E19753DCC545}" presName="parentText" presStyleLbl="node1" presStyleIdx="1" presStyleCnt="3" custScaleY="85847">
        <dgm:presLayoutVars>
          <dgm:chMax val="0"/>
          <dgm:bulletEnabled val="1"/>
        </dgm:presLayoutVars>
      </dgm:prSet>
      <dgm:spPr/>
    </dgm:pt>
    <dgm:pt modelId="{F570E17C-2C10-411B-963D-A691100C7475}" type="pres">
      <dgm:prSet presAssocID="{94CF8BFE-C425-42D4-B4CD-B48CE8823BFC}" presName="spacer" presStyleCnt="0"/>
      <dgm:spPr/>
    </dgm:pt>
    <dgm:pt modelId="{96E1AB6F-B521-413C-9585-15271E773F13}" type="pres">
      <dgm:prSet presAssocID="{57DA52B7-E5F8-4334-ADF7-F0F416F8FA13}" presName="parentText" presStyleLbl="node1" presStyleIdx="2" presStyleCnt="3">
        <dgm:presLayoutVars>
          <dgm:chMax val="0"/>
          <dgm:bulletEnabled val="1"/>
        </dgm:presLayoutVars>
      </dgm:prSet>
      <dgm:spPr/>
    </dgm:pt>
  </dgm:ptLst>
  <dgm:cxnLst>
    <dgm:cxn modelId="{40EF1E24-4DE4-4AFC-B62C-26BC221B2A3B}" srcId="{B9264255-22FE-4ACC-8159-56ED7F6FE71A}" destId="{597DC0FF-3814-4A15-8004-E19753DCC545}" srcOrd="1" destOrd="0" parTransId="{D61B4BE2-D558-48F4-9C8B-5D8FD909208A}" sibTransId="{94CF8BFE-C425-42D4-B4CD-B48CE8823BFC}"/>
    <dgm:cxn modelId="{0D792482-578B-4786-832D-0BB03ACFE29D}" type="presOf" srcId="{57DA52B7-E5F8-4334-ADF7-F0F416F8FA13}" destId="{96E1AB6F-B521-413C-9585-15271E773F13}" srcOrd="0" destOrd="0" presId="urn:microsoft.com/office/officeart/2005/8/layout/vList2"/>
    <dgm:cxn modelId="{E878F284-EAF0-47C7-87CE-C5E38EC14BF5}" srcId="{B9264255-22FE-4ACC-8159-56ED7F6FE71A}" destId="{57DA52B7-E5F8-4334-ADF7-F0F416F8FA13}" srcOrd="2" destOrd="0" parTransId="{B6AFD71E-0ADE-4ED8-8DA7-520EB80FA9B9}" sibTransId="{BB3AFD4F-C9C0-4416-AF95-E0E348C6135B}"/>
    <dgm:cxn modelId="{2538208B-EC1D-4B20-B60A-B4C59DB8E257}" type="presOf" srcId="{54CEF074-AF67-49F0-A74B-1282526B51A1}" destId="{20398D00-108A-4A91-9C77-8D4DD483EF8A}" srcOrd="0" destOrd="0" presId="urn:microsoft.com/office/officeart/2005/8/layout/vList2"/>
    <dgm:cxn modelId="{D3A71DA6-597E-4D1E-A910-A3DB6B6F484E}" srcId="{B9264255-22FE-4ACC-8159-56ED7F6FE71A}" destId="{54CEF074-AF67-49F0-A74B-1282526B51A1}" srcOrd="0" destOrd="0" parTransId="{A26668F4-1975-48D6-B7F2-06303FE52143}" sibTransId="{ACC8981B-0E74-48C3-A6B6-3485250693E2}"/>
    <dgm:cxn modelId="{FB7CBEF3-E85A-447B-9844-82F97698FBB9}" type="presOf" srcId="{597DC0FF-3814-4A15-8004-E19753DCC545}" destId="{55D1A51B-48B1-484F-8AF5-9D78A4AF23E4}" srcOrd="0" destOrd="0" presId="urn:microsoft.com/office/officeart/2005/8/layout/vList2"/>
    <dgm:cxn modelId="{991DF5FC-7587-4B1F-923B-F9E510958B48}" type="presOf" srcId="{B9264255-22FE-4ACC-8159-56ED7F6FE71A}" destId="{A206BEBF-23B6-4DF5-A588-4E477735E27F}" srcOrd="0" destOrd="0" presId="urn:microsoft.com/office/officeart/2005/8/layout/vList2"/>
    <dgm:cxn modelId="{FD2FE0AE-9C2A-412D-A6B9-4C3E36C358F0}" type="presParOf" srcId="{A206BEBF-23B6-4DF5-A588-4E477735E27F}" destId="{20398D00-108A-4A91-9C77-8D4DD483EF8A}" srcOrd="0" destOrd="0" presId="urn:microsoft.com/office/officeart/2005/8/layout/vList2"/>
    <dgm:cxn modelId="{660C4544-4CD7-4F32-A41F-DA1C60CE4739}" type="presParOf" srcId="{A206BEBF-23B6-4DF5-A588-4E477735E27F}" destId="{7F1661BC-ABB5-4FFA-B220-BBF3C94A0116}" srcOrd="1" destOrd="0" presId="urn:microsoft.com/office/officeart/2005/8/layout/vList2"/>
    <dgm:cxn modelId="{D2133B6D-D48E-4DCC-A027-1FD4152D886D}" type="presParOf" srcId="{A206BEBF-23B6-4DF5-A588-4E477735E27F}" destId="{55D1A51B-48B1-484F-8AF5-9D78A4AF23E4}" srcOrd="2" destOrd="0" presId="urn:microsoft.com/office/officeart/2005/8/layout/vList2"/>
    <dgm:cxn modelId="{9D204506-D5E8-4365-8CF2-A335BA836DC2}" type="presParOf" srcId="{A206BEBF-23B6-4DF5-A588-4E477735E27F}" destId="{F570E17C-2C10-411B-963D-A691100C7475}" srcOrd="3" destOrd="0" presId="urn:microsoft.com/office/officeart/2005/8/layout/vList2"/>
    <dgm:cxn modelId="{974CA516-EE96-4035-969B-6B83C9696A25}" type="presParOf" srcId="{A206BEBF-23B6-4DF5-A588-4E477735E27F}" destId="{96E1AB6F-B521-413C-9585-15271E773F1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C33F86D2-CA10-4F44-BFD5-17DF02BE2E3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5492CE8B-2449-4D5D-A723-08833C406E6A}">
      <dgm:prSet custT="1"/>
      <dgm:spPr/>
      <dgm:t>
        <a:bodyPr/>
        <a:lstStyle/>
        <a:p>
          <a:pPr algn="just" rtl="0"/>
          <a:r>
            <a:rPr lang="es-PE" sz="2400" dirty="0"/>
            <a:t>La Casa del Llavero, elabora dos tipos de llaveros; y para producirlos utiliza una máquina especial. Los tiempos de producción para los llaveros tipo 1 y 2 son de 10 y 12 minutos respectivamente, por unidad. </a:t>
          </a:r>
        </a:p>
      </dgm:t>
    </dgm:pt>
    <dgm:pt modelId="{870AFFFC-A6C5-4438-A64B-146DFF557CE7}" type="parTrans" cxnId="{C652D56E-9FE0-45BD-9A28-CA06E10BA2E8}">
      <dgm:prSet/>
      <dgm:spPr/>
      <dgm:t>
        <a:bodyPr/>
        <a:lstStyle/>
        <a:p>
          <a:pPr algn="just"/>
          <a:endParaRPr lang="es-PE" sz="2400"/>
        </a:p>
      </dgm:t>
    </dgm:pt>
    <dgm:pt modelId="{DDAE16C0-B146-4457-8F14-9F95F1E1058E}" type="sibTrans" cxnId="{C652D56E-9FE0-45BD-9A28-CA06E10BA2E8}">
      <dgm:prSet/>
      <dgm:spPr/>
      <dgm:t>
        <a:bodyPr/>
        <a:lstStyle/>
        <a:p>
          <a:pPr algn="just"/>
          <a:endParaRPr lang="es-PE" sz="2400"/>
        </a:p>
      </dgm:t>
    </dgm:pt>
    <dgm:pt modelId="{0B09C47F-017B-48F2-B0C2-7111373B8DE7}">
      <dgm:prSet custT="1"/>
      <dgm:spPr/>
      <dgm:t>
        <a:bodyPr/>
        <a:lstStyle/>
        <a:p>
          <a:pPr algn="just" rtl="0"/>
          <a:r>
            <a:rPr lang="es-PE" sz="2400"/>
            <a:t>El tiempo regular total de la máquina es de 2500 minutos por día. “La Casa del Llavero “vende entre 150 y 200 unidades del tipo 1, pero no más de 45 unidades del tipo 2, diariamente. </a:t>
          </a:r>
        </a:p>
      </dgm:t>
    </dgm:pt>
    <dgm:pt modelId="{A246C112-8B93-4262-85EC-374214E12647}" type="parTrans" cxnId="{A058BFC6-9173-44AF-A34F-477A46B05EC2}">
      <dgm:prSet/>
      <dgm:spPr/>
      <dgm:t>
        <a:bodyPr/>
        <a:lstStyle/>
        <a:p>
          <a:pPr algn="just"/>
          <a:endParaRPr lang="es-PE" sz="2400"/>
        </a:p>
      </dgm:t>
    </dgm:pt>
    <dgm:pt modelId="{4BD6E00E-441A-4629-9CDF-EE3F5298D382}" type="sibTrans" cxnId="{A058BFC6-9173-44AF-A34F-477A46B05EC2}">
      <dgm:prSet/>
      <dgm:spPr/>
      <dgm:t>
        <a:bodyPr/>
        <a:lstStyle/>
        <a:p>
          <a:pPr algn="just"/>
          <a:endParaRPr lang="es-PE" sz="2400"/>
        </a:p>
      </dgm:t>
    </dgm:pt>
    <dgm:pt modelId="{61E14E9D-A29E-4D6D-85C4-19952FAF14F8}">
      <dgm:prSet custT="1"/>
      <dgm:spPr/>
      <dgm:t>
        <a:bodyPr/>
        <a:lstStyle/>
        <a:p>
          <a:pPr algn="just" rtl="0"/>
          <a:r>
            <a:rPr lang="es-PE" sz="2400" dirty="0"/>
            <a:t>Además se pueden emplear horas extras para satisfacer la demanda a un costo adicional de S/.0.10 por minuto. Si las utilidades por unidad de los llaveros tipo 1 y 2 son S/.1.20 y S/.1.50, respectivamente. </a:t>
          </a:r>
        </a:p>
      </dgm:t>
    </dgm:pt>
    <dgm:pt modelId="{3A70B8A3-235A-47C4-B912-5D0E3953D54D}" type="parTrans" cxnId="{D24B2EED-10F8-4CBD-8E05-079E5C2BCF93}">
      <dgm:prSet/>
      <dgm:spPr/>
      <dgm:t>
        <a:bodyPr/>
        <a:lstStyle/>
        <a:p>
          <a:pPr algn="just"/>
          <a:endParaRPr lang="es-PE" sz="2400"/>
        </a:p>
      </dgm:t>
    </dgm:pt>
    <dgm:pt modelId="{E8C9898E-085F-4BFF-85A8-EC62D9C7963F}" type="sibTrans" cxnId="{D24B2EED-10F8-4CBD-8E05-079E5C2BCF93}">
      <dgm:prSet/>
      <dgm:spPr/>
      <dgm:t>
        <a:bodyPr/>
        <a:lstStyle/>
        <a:p>
          <a:pPr algn="just"/>
          <a:endParaRPr lang="es-PE" sz="2400"/>
        </a:p>
      </dgm:t>
    </dgm:pt>
    <dgm:pt modelId="{A86CD8A6-DEE4-48DE-9B21-FD0E43380DD3}">
      <dgm:prSet custT="1"/>
      <dgm:spPr/>
      <dgm:t>
        <a:bodyPr/>
        <a:lstStyle/>
        <a:p>
          <a:pPr algn="just" rtl="0"/>
          <a:r>
            <a:rPr lang="es-PE" sz="2400"/>
            <a:t>Encuentre la solución que determine el nivel óptimo de producción para cada tipo de llavero.</a:t>
          </a:r>
        </a:p>
      </dgm:t>
    </dgm:pt>
    <dgm:pt modelId="{64756195-6D9E-48E9-B423-6C1FF5BC6F11}" type="parTrans" cxnId="{96E1F9FE-3381-492B-8753-CDE535F29731}">
      <dgm:prSet/>
      <dgm:spPr/>
      <dgm:t>
        <a:bodyPr/>
        <a:lstStyle/>
        <a:p>
          <a:pPr algn="just"/>
          <a:endParaRPr lang="es-PE" sz="2400"/>
        </a:p>
      </dgm:t>
    </dgm:pt>
    <dgm:pt modelId="{11604AFA-E835-4405-B569-31EF52F119B2}" type="sibTrans" cxnId="{96E1F9FE-3381-492B-8753-CDE535F29731}">
      <dgm:prSet/>
      <dgm:spPr/>
      <dgm:t>
        <a:bodyPr/>
        <a:lstStyle/>
        <a:p>
          <a:pPr algn="just"/>
          <a:endParaRPr lang="es-PE" sz="2400"/>
        </a:p>
      </dgm:t>
    </dgm:pt>
    <dgm:pt modelId="{ADDAA78E-9970-4156-83D3-AF2D78846FA8}" type="pres">
      <dgm:prSet presAssocID="{C33F86D2-CA10-4F44-BFD5-17DF02BE2E32}" presName="linear" presStyleCnt="0">
        <dgm:presLayoutVars>
          <dgm:animLvl val="lvl"/>
          <dgm:resizeHandles val="exact"/>
        </dgm:presLayoutVars>
      </dgm:prSet>
      <dgm:spPr/>
    </dgm:pt>
    <dgm:pt modelId="{52D124D4-4599-4B0D-BDC5-0F658AC4EC1B}" type="pres">
      <dgm:prSet presAssocID="{5492CE8B-2449-4D5D-A723-08833C406E6A}" presName="parentText" presStyleLbl="node1" presStyleIdx="0" presStyleCnt="4">
        <dgm:presLayoutVars>
          <dgm:chMax val="0"/>
          <dgm:bulletEnabled val="1"/>
        </dgm:presLayoutVars>
      </dgm:prSet>
      <dgm:spPr/>
    </dgm:pt>
    <dgm:pt modelId="{E6E91C4A-9504-40EB-BC83-0AE0692FB736}" type="pres">
      <dgm:prSet presAssocID="{DDAE16C0-B146-4457-8F14-9F95F1E1058E}" presName="spacer" presStyleCnt="0"/>
      <dgm:spPr/>
    </dgm:pt>
    <dgm:pt modelId="{12C367C6-76E7-42BC-94D6-285201124271}" type="pres">
      <dgm:prSet presAssocID="{0B09C47F-017B-48F2-B0C2-7111373B8DE7}" presName="parentText" presStyleLbl="node1" presStyleIdx="1" presStyleCnt="4">
        <dgm:presLayoutVars>
          <dgm:chMax val="0"/>
          <dgm:bulletEnabled val="1"/>
        </dgm:presLayoutVars>
      </dgm:prSet>
      <dgm:spPr/>
    </dgm:pt>
    <dgm:pt modelId="{EC634272-9CC3-45E5-81FD-0E4993E32579}" type="pres">
      <dgm:prSet presAssocID="{4BD6E00E-441A-4629-9CDF-EE3F5298D382}" presName="spacer" presStyleCnt="0"/>
      <dgm:spPr/>
    </dgm:pt>
    <dgm:pt modelId="{965FB0DA-FF81-4BBB-90B9-5A0C57A62EB8}" type="pres">
      <dgm:prSet presAssocID="{61E14E9D-A29E-4D6D-85C4-19952FAF14F8}" presName="parentText" presStyleLbl="node1" presStyleIdx="2" presStyleCnt="4">
        <dgm:presLayoutVars>
          <dgm:chMax val="0"/>
          <dgm:bulletEnabled val="1"/>
        </dgm:presLayoutVars>
      </dgm:prSet>
      <dgm:spPr/>
    </dgm:pt>
    <dgm:pt modelId="{2F83506B-009D-40B0-AE45-685DB0AE968D}" type="pres">
      <dgm:prSet presAssocID="{E8C9898E-085F-4BFF-85A8-EC62D9C7963F}" presName="spacer" presStyleCnt="0"/>
      <dgm:spPr/>
    </dgm:pt>
    <dgm:pt modelId="{D65F5659-CBDD-406E-A9AE-77DB2825D5F1}" type="pres">
      <dgm:prSet presAssocID="{A86CD8A6-DEE4-48DE-9B21-FD0E43380DD3}" presName="parentText" presStyleLbl="node1" presStyleIdx="3" presStyleCnt="4" custScaleY="72096">
        <dgm:presLayoutVars>
          <dgm:chMax val="0"/>
          <dgm:bulletEnabled val="1"/>
        </dgm:presLayoutVars>
      </dgm:prSet>
      <dgm:spPr/>
    </dgm:pt>
  </dgm:ptLst>
  <dgm:cxnLst>
    <dgm:cxn modelId="{8D1CF95E-2F4A-42CB-805D-6D2F9353317D}" type="presOf" srcId="{0B09C47F-017B-48F2-B0C2-7111373B8DE7}" destId="{12C367C6-76E7-42BC-94D6-285201124271}" srcOrd="0" destOrd="0" presId="urn:microsoft.com/office/officeart/2005/8/layout/vList2"/>
    <dgm:cxn modelId="{C652D56E-9FE0-45BD-9A28-CA06E10BA2E8}" srcId="{C33F86D2-CA10-4F44-BFD5-17DF02BE2E32}" destId="{5492CE8B-2449-4D5D-A723-08833C406E6A}" srcOrd="0" destOrd="0" parTransId="{870AFFFC-A6C5-4438-A64B-146DFF557CE7}" sibTransId="{DDAE16C0-B146-4457-8F14-9F95F1E1058E}"/>
    <dgm:cxn modelId="{93B85187-88E9-4E78-A611-99C49D37758A}" type="presOf" srcId="{61E14E9D-A29E-4D6D-85C4-19952FAF14F8}" destId="{965FB0DA-FF81-4BBB-90B9-5A0C57A62EB8}" srcOrd="0" destOrd="0" presId="urn:microsoft.com/office/officeart/2005/8/layout/vList2"/>
    <dgm:cxn modelId="{14885499-A20E-48F9-B690-F98E3A73C39F}" type="presOf" srcId="{A86CD8A6-DEE4-48DE-9B21-FD0E43380DD3}" destId="{D65F5659-CBDD-406E-A9AE-77DB2825D5F1}" srcOrd="0" destOrd="0" presId="urn:microsoft.com/office/officeart/2005/8/layout/vList2"/>
    <dgm:cxn modelId="{A058BFC6-9173-44AF-A34F-477A46B05EC2}" srcId="{C33F86D2-CA10-4F44-BFD5-17DF02BE2E32}" destId="{0B09C47F-017B-48F2-B0C2-7111373B8DE7}" srcOrd="1" destOrd="0" parTransId="{A246C112-8B93-4262-85EC-374214E12647}" sibTransId="{4BD6E00E-441A-4629-9CDF-EE3F5298D382}"/>
    <dgm:cxn modelId="{ACAD12DC-6575-4F1C-B317-E6C432AF87D4}" type="presOf" srcId="{C33F86D2-CA10-4F44-BFD5-17DF02BE2E32}" destId="{ADDAA78E-9970-4156-83D3-AF2D78846FA8}" srcOrd="0" destOrd="0" presId="urn:microsoft.com/office/officeart/2005/8/layout/vList2"/>
    <dgm:cxn modelId="{D24B2EED-10F8-4CBD-8E05-079E5C2BCF93}" srcId="{C33F86D2-CA10-4F44-BFD5-17DF02BE2E32}" destId="{61E14E9D-A29E-4D6D-85C4-19952FAF14F8}" srcOrd="2" destOrd="0" parTransId="{3A70B8A3-235A-47C4-B912-5D0E3953D54D}" sibTransId="{E8C9898E-085F-4BFF-85A8-EC62D9C7963F}"/>
    <dgm:cxn modelId="{CD7261F7-DF6F-46B8-848A-E374BDF96498}" type="presOf" srcId="{5492CE8B-2449-4D5D-A723-08833C406E6A}" destId="{52D124D4-4599-4B0D-BDC5-0F658AC4EC1B}" srcOrd="0" destOrd="0" presId="urn:microsoft.com/office/officeart/2005/8/layout/vList2"/>
    <dgm:cxn modelId="{96E1F9FE-3381-492B-8753-CDE535F29731}" srcId="{C33F86D2-CA10-4F44-BFD5-17DF02BE2E32}" destId="{A86CD8A6-DEE4-48DE-9B21-FD0E43380DD3}" srcOrd="3" destOrd="0" parTransId="{64756195-6D9E-48E9-B423-6C1FF5BC6F11}" sibTransId="{11604AFA-E835-4405-B569-31EF52F119B2}"/>
    <dgm:cxn modelId="{5B45347F-0226-474C-A95D-3F87171D7B60}" type="presParOf" srcId="{ADDAA78E-9970-4156-83D3-AF2D78846FA8}" destId="{52D124D4-4599-4B0D-BDC5-0F658AC4EC1B}" srcOrd="0" destOrd="0" presId="urn:microsoft.com/office/officeart/2005/8/layout/vList2"/>
    <dgm:cxn modelId="{22A7FF0B-2459-4D15-A4C2-C570FFB2AD9C}" type="presParOf" srcId="{ADDAA78E-9970-4156-83D3-AF2D78846FA8}" destId="{E6E91C4A-9504-40EB-BC83-0AE0692FB736}" srcOrd="1" destOrd="0" presId="urn:microsoft.com/office/officeart/2005/8/layout/vList2"/>
    <dgm:cxn modelId="{A8EADF5B-4091-456E-B900-F496431A2EEF}" type="presParOf" srcId="{ADDAA78E-9970-4156-83D3-AF2D78846FA8}" destId="{12C367C6-76E7-42BC-94D6-285201124271}" srcOrd="2" destOrd="0" presId="urn:microsoft.com/office/officeart/2005/8/layout/vList2"/>
    <dgm:cxn modelId="{47E4255D-91F7-451C-B9A7-3689EECFF4FB}" type="presParOf" srcId="{ADDAA78E-9970-4156-83D3-AF2D78846FA8}" destId="{EC634272-9CC3-45E5-81FD-0E4993E32579}" srcOrd="3" destOrd="0" presId="urn:microsoft.com/office/officeart/2005/8/layout/vList2"/>
    <dgm:cxn modelId="{AAC7B38C-5C64-4675-ACE6-53AD62B511D5}" type="presParOf" srcId="{ADDAA78E-9970-4156-83D3-AF2D78846FA8}" destId="{965FB0DA-FF81-4BBB-90B9-5A0C57A62EB8}" srcOrd="4" destOrd="0" presId="urn:microsoft.com/office/officeart/2005/8/layout/vList2"/>
    <dgm:cxn modelId="{01128AD5-4444-495A-90B2-09F8CE41C9E6}" type="presParOf" srcId="{ADDAA78E-9970-4156-83D3-AF2D78846FA8}" destId="{2F83506B-009D-40B0-AE45-685DB0AE968D}" srcOrd="5" destOrd="0" presId="urn:microsoft.com/office/officeart/2005/8/layout/vList2"/>
    <dgm:cxn modelId="{E8EC3E94-6584-4426-84B8-DFAA9425455D}" type="presParOf" srcId="{ADDAA78E-9970-4156-83D3-AF2D78846FA8}" destId="{D65F5659-CBDD-406E-A9AE-77DB2825D5F1}" srcOrd="6" destOrd="0" presId="urn:microsoft.com/office/officeart/2005/8/layout/vList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4D2E2-3D4E-4B07-8370-E930EB3BEF81}">
      <dsp:nvSpPr>
        <dsp:cNvPr id="0" name=""/>
        <dsp:cNvSpPr/>
      </dsp:nvSpPr>
      <dsp:spPr>
        <a:xfrm>
          <a:off x="0" y="2022"/>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a:t>1) 8500 </a:t>
          </a:r>
          <a:endParaRPr lang="es-PE" sz="2400" kern="1200"/>
        </a:p>
      </dsp:txBody>
      <dsp:txXfrm>
        <a:off x="20051" y="22073"/>
        <a:ext cx="5178845" cy="370654"/>
      </dsp:txXfrm>
    </dsp:sp>
    <dsp:sp modelId="{AE55C952-C6B4-4FD2-BDD6-8A715D02C911}">
      <dsp:nvSpPr>
        <dsp:cNvPr id="0" name=""/>
        <dsp:cNvSpPr/>
      </dsp:nvSpPr>
      <dsp:spPr>
        <a:xfrm>
          <a:off x="0" y="422890"/>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a:t>Variable           Value       Reduced Cost</a:t>
          </a:r>
          <a:endParaRPr lang="es-PE" sz="2400" kern="1200" dirty="0"/>
        </a:p>
      </dsp:txBody>
      <dsp:txXfrm>
        <a:off x="20051" y="442941"/>
        <a:ext cx="5178845" cy="370654"/>
      </dsp:txXfrm>
    </dsp:sp>
    <dsp:sp modelId="{2FCF7A06-F1D1-4411-AC0A-7F922DDA4428}">
      <dsp:nvSpPr>
        <dsp:cNvPr id="0" name=""/>
        <dsp:cNvSpPr/>
      </dsp:nvSpPr>
      <dsp:spPr>
        <a:xfrm>
          <a:off x="0" y="843758"/>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X11        	3.000000            1600.000</a:t>
          </a:r>
          <a:endParaRPr lang="es-PE" sz="2400" kern="1200" dirty="0"/>
        </a:p>
      </dsp:txBody>
      <dsp:txXfrm>
        <a:off x="20051" y="863809"/>
        <a:ext cx="5178845" cy="370654"/>
      </dsp:txXfrm>
    </dsp:sp>
    <dsp:sp modelId="{4684D61A-E68F-4059-95C2-451FB0A613F8}">
      <dsp:nvSpPr>
        <dsp:cNvPr id="0" name=""/>
        <dsp:cNvSpPr/>
      </dsp:nvSpPr>
      <dsp:spPr>
        <a:xfrm>
          <a:off x="0" y="1264626"/>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X12        	0.000000            1800.000</a:t>
          </a:r>
          <a:endParaRPr lang="es-PE" sz="2400" kern="1200" dirty="0"/>
        </a:p>
      </dsp:txBody>
      <dsp:txXfrm>
        <a:off x="20051" y="1284677"/>
        <a:ext cx="5178845" cy="370654"/>
      </dsp:txXfrm>
    </dsp:sp>
    <dsp:sp modelId="{7FFD15D0-BD50-4AE9-8B7C-FA59F71ED75C}">
      <dsp:nvSpPr>
        <dsp:cNvPr id="0" name=""/>
        <dsp:cNvSpPr/>
      </dsp:nvSpPr>
      <dsp:spPr>
        <a:xfrm>
          <a:off x="0" y="1685493"/>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X13        	0.000000            2500.000</a:t>
          </a:r>
          <a:endParaRPr lang="es-PE" sz="2400" kern="1200" dirty="0"/>
        </a:p>
      </dsp:txBody>
      <dsp:txXfrm>
        <a:off x="20051" y="1705544"/>
        <a:ext cx="5178845" cy="370654"/>
      </dsp:txXfrm>
    </dsp:sp>
    <dsp:sp modelId="{F774D521-380E-4CDC-B852-E0987B15A54C}">
      <dsp:nvSpPr>
        <dsp:cNvPr id="0" name=""/>
        <dsp:cNvSpPr/>
      </dsp:nvSpPr>
      <dsp:spPr>
        <a:xfrm>
          <a:off x="0" y="2106361"/>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X21       	1.000000            900.0000</a:t>
          </a:r>
          <a:endParaRPr lang="es-PE" sz="2400" kern="1200" dirty="0"/>
        </a:p>
      </dsp:txBody>
      <dsp:txXfrm>
        <a:off x="20051" y="2126412"/>
        <a:ext cx="5178845" cy="370654"/>
      </dsp:txXfrm>
    </dsp:sp>
    <dsp:sp modelId="{78F347EE-D946-44CB-B38B-E33386EDC953}">
      <dsp:nvSpPr>
        <dsp:cNvPr id="0" name=""/>
        <dsp:cNvSpPr/>
      </dsp:nvSpPr>
      <dsp:spPr>
        <a:xfrm>
          <a:off x="0" y="2527229"/>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X22        	1.000000            1000.000</a:t>
          </a:r>
          <a:endParaRPr lang="es-PE" sz="2400" kern="1200" dirty="0"/>
        </a:p>
      </dsp:txBody>
      <dsp:txXfrm>
        <a:off x="20051" y="2547280"/>
        <a:ext cx="5178845" cy="370654"/>
      </dsp:txXfrm>
    </dsp:sp>
    <dsp:sp modelId="{349154A5-E334-41B6-AC51-1301DEC898BE}">
      <dsp:nvSpPr>
        <dsp:cNvPr id="0" name=""/>
        <dsp:cNvSpPr/>
      </dsp:nvSpPr>
      <dsp:spPr>
        <a:xfrm>
          <a:off x="0" y="2948097"/>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X23        	0.000000            1800.000</a:t>
          </a:r>
          <a:endParaRPr lang="es-PE" sz="2400" kern="1200" dirty="0"/>
        </a:p>
      </dsp:txBody>
      <dsp:txXfrm>
        <a:off x="20051" y="2968148"/>
        <a:ext cx="5178845" cy="370654"/>
      </dsp:txXfrm>
    </dsp:sp>
    <dsp:sp modelId="{5BC5FE9D-8FF2-40DC-80E8-E3D848155DD9}">
      <dsp:nvSpPr>
        <dsp:cNvPr id="0" name=""/>
        <dsp:cNvSpPr/>
      </dsp:nvSpPr>
      <dsp:spPr>
        <a:xfrm>
          <a:off x="0" y="3368964"/>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X31        	0.000000            1400.000</a:t>
          </a:r>
          <a:endParaRPr lang="es-PE" sz="2400" kern="1200" dirty="0"/>
        </a:p>
      </dsp:txBody>
      <dsp:txXfrm>
        <a:off x="20051" y="3389015"/>
        <a:ext cx="5178845" cy="370654"/>
      </dsp:txXfrm>
    </dsp:sp>
    <dsp:sp modelId="{D0DB1485-9223-46E9-9C7C-6ED3A8D7CE86}">
      <dsp:nvSpPr>
        <dsp:cNvPr id="0" name=""/>
        <dsp:cNvSpPr/>
      </dsp:nvSpPr>
      <dsp:spPr>
        <a:xfrm>
          <a:off x="0" y="3789832"/>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X32        	1.000000            1000.000         </a:t>
          </a:r>
          <a:endParaRPr lang="es-PE" sz="2400" kern="1200" dirty="0"/>
        </a:p>
      </dsp:txBody>
      <dsp:txXfrm>
        <a:off x="20051" y="3809883"/>
        <a:ext cx="5178845" cy="370654"/>
      </dsp:txXfrm>
    </dsp:sp>
    <dsp:sp modelId="{DE4724B9-6CC7-4CE4-9284-20DEBF986E37}">
      <dsp:nvSpPr>
        <dsp:cNvPr id="0" name=""/>
        <dsp:cNvSpPr/>
      </dsp:nvSpPr>
      <dsp:spPr>
        <a:xfrm>
          <a:off x="0" y="4210700"/>
          <a:ext cx="5218947" cy="4107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0" kern="1200" dirty="0"/>
            <a:t>X33        	2.000000            400.0000</a:t>
          </a:r>
          <a:endParaRPr lang="es-PE" sz="2400" kern="1200" dirty="0"/>
        </a:p>
      </dsp:txBody>
      <dsp:txXfrm>
        <a:off x="20051" y="4230751"/>
        <a:ext cx="5178845" cy="370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DAEB25-D753-4F01-93C9-3C18617F5534}">
      <dsp:nvSpPr>
        <dsp:cNvPr id="0" name=""/>
        <dsp:cNvSpPr/>
      </dsp:nvSpPr>
      <dsp:spPr>
        <a:xfrm>
          <a:off x="0" y="1450"/>
          <a:ext cx="8712968" cy="826321"/>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100000"/>
            </a:lnSpc>
            <a:spcBef>
              <a:spcPct val="0"/>
            </a:spcBef>
            <a:spcAft>
              <a:spcPts val="0"/>
            </a:spcAft>
            <a:buNone/>
          </a:pPr>
          <a:r>
            <a:rPr lang="es-ES" sz="2400" b="1" kern="1200" dirty="0"/>
            <a:t>Producto         Ingredientes(oz./Lb.)       Demanda            Ganancia</a:t>
          </a:r>
        </a:p>
        <a:p>
          <a:pPr marL="0" lvl="0" indent="0" algn="l" defTabSz="1066800" rtl="0">
            <a:lnSpc>
              <a:spcPct val="100000"/>
            </a:lnSpc>
            <a:spcBef>
              <a:spcPct val="0"/>
            </a:spcBef>
            <a:spcAft>
              <a:spcPts val="0"/>
            </a:spcAft>
            <a:buNone/>
          </a:pPr>
          <a:r>
            <a:rPr lang="es-ES" sz="2400" b="1" kern="1200" dirty="0"/>
            <a:t>                            	A     B     C           Base          Lb.                    $/lb.</a:t>
          </a:r>
        </a:p>
      </dsp:txBody>
      <dsp:txXfrm>
        <a:off x="40338" y="41788"/>
        <a:ext cx="8632292" cy="745645"/>
      </dsp:txXfrm>
    </dsp:sp>
    <dsp:sp modelId="{ACD0E980-602E-4258-BADC-1B8F068E375D}">
      <dsp:nvSpPr>
        <dsp:cNvPr id="0" name=""/>
        <dsp:cNvSpPr/>
      </dsp:nvSpPr>
      <dsp:spPr>
        <a:xfrm>
          <a:off x="0" y="830581"/>
          <a:ext cx="8712968" cy="6479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100000"/>
            </a:lnSpc>
            <a:spcBef>
              <a:spcPct val="0"/>
            </a:spcBef>
            <a:spcAft>
              <a:spcPts val="0"/>
            </a:spcAft>
            <a:buNone/>
          </a:pPr>
          <a:r>
            <a:rPr lang="es-ES" sz="2400" b="1" kern="1200" dirty="0" err="1"/>
            <a:t>Airtex</a:t>
          </a:r>
          <a:r>
            <a:rPr lang="es-ES" sz="2400" b="1" kern="1200" dirty="0"/>
            <a:t>		4     2	4	6     	1000         	7 </a:t>
          </a:r>
        </a:p>
      </dsp:txBody>
      <dsp:txXfrm>
        <a:off x="31631" y="862212"/>
        <a:ext cx="8649706" cy="584692"/>
      </dsp:txXfrm>
    </dsp:sp>
    <dsp:sp modelId="{F8EF334B-5CA1-48C2-9652-308E897977C1}">
      <dsp:nvSpPr>
        <dsp:cNvPr id="0" name=""/>
        <dsp:cNvSpPr/>
      </dsp:nvSpPr>
      <dsp:spPr>
        <a:xfrm>
          <a:off x="0" y="1481345"/>
          <a:ext cx="8712968" cy="6479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100000"/>
            </a:lnSpc>
            <a:spcBef>
              <a:spcPct val="0"/>
            </a:spcBef>
            <a:spcAft>
              <a:spcPts val="0"/>
            </a:spcAft>
            <a:buNone/>
          </a:pPr>
          <a:r>
            <a:rPr lang="es-ES" sz="2400" b="1" kern="1200" dirty="0" err="1"/>
            <a:t>Extendex</a:t>
          </a:r>
          <a:r>
            <a:rPr lang="es-ES" sz="2400" b="1" kern="1200" dirty="0"/>
            <a:t>	3     2	2	9       	  500         	7 </a:t>
          </a:r>
        </a:p>
      </dsp:txBody>
      <dsp:txXfrm>
        <a:off x="31631" y="1512976"/>
        <a:ext cx="8649706" cy="584692"/>
      </dsp:txXfrm>
    </dsp:sp>
    <dsp:sp modelId="{C2FDB726-D36C-41BF-9142-0E537BD80BDE}">
      <dsp:nvSpPr>
        <dsp:cNvPr id="0" name=""/>
        <dsp:cNvSpPr/>
      </dsp:nvSpPr>
      <dsp:spPr>
        <a:xfrm>
          <a:off x="0" y="2132109"/>
          <a:ext cx="8712968" cy="6537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100000"/>
            </a:lnSpc>
            <a:spcBef>
              <a:spcPct val="0"/>
            </a:spcBef>
            <a:spcAft>
              <a:spcPts val="0"/>
            </a:spcAft>
            <a:buNone/>
          </a:pPr>
          <a:r>
            <a:rPr lang="es-ES" sz="2400" b="1" kern="1200" dirty="0" err="1"/>
            <a:t>Resistex</a:t>
          </a:r>
          <a:r>
            <a:rPr lang="es-ES" sz="2400" b="1" kern="1200" dirty="0"/>
            <a:t>		6     3      5	2               400         	6                   </a:t>
          </a:r>
        </a:p>
      </dsp:txBody>
      <dsp:txXfrm>
        <a:off x="31915" y="2164024"/>
        <a:ext cx="8649138" cy="589954"/>
      </dsp:txXfrm>
    </dsp:sp>
    <dsp:sp modelId="{3D411049-1C26-498B-95E9-A14BE09BB8CB}">
      <dsp:nvSpPr>
        <dsp:cNvPr id="0" name=""/>
        <dsp:cNvSpPr/>
      </dsp:nvSpPr>
      <dsp:spPr>
        <a:xfrm>
          <a:off x="0" y="2788703"/>
          <a:ext cx="8712968" cy="422821"/>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100000"/>
            </a:lnSpc>
            <a:spcBef>
              <a:spcPct val="0"/>
            </a:spcBef>
            <a:spcAft>
              <a:spcPts val="0"/>
            </a:spcAft>
            <a:buNone/>
          </a:pPr>
          <a:r>
            <a:rPr lang="es-ES" sz="2400" b="1" kern="1200" dirty="0"/>
            <a:t>Stock (lb.)       500  425     650    1100</a:t>
          </a:r>
        </a:p>
      </dsp:txBody>
      <dsp:txXfrm>
        <a:off x="20640" y="2809343"/>
        <a:ext cx="8671688" cy="3815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8D9F98-1CEA-45A1-AC0E-D140529E325F}">
      <dsp:nvSpPr>
        <dsp:cNvPr id="0" name=""/>
        <dsp:cNvSpPr/>
      </dsp:nvSpPr>
      <dsp:spPr>
        <a:xfrm>
          <a:off x="0" y="25877"/>
          <a:ext cx="5779698" cy="233776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rtl="0">
            <a:lnSpc>
              <a:spcPct val="90000"/>
            </a:lnSpc>
            <a:spcBef>
              <a:spcPct val="0"/>
            </a:spcBef>
            <a:spcAft>
              <a:spcPct val="35000"/>
            </a:spcAft>
            <a:buNone/>
          </a:pPr>
          <a:r>
            <a:rPr lang="es-ES_tradnl" sz="2000" kern="1200" dirty="0" err="1">
              <a:solidFill>
                <a:srgbClr val="FFFF00"/>
              </a:solidFill>
            </a:rPr>
            <a:t>RMC</a:t>
          </a:r>
          <a:r>
            <a:rPr lang="es-ES_tradnl" sz="2000" kern="1200" dirty="0">
              <a:solidFill>
                <a:srgbClr val="FFFF00"/>
              </a:solidFill>
            </a:rPr>
            <a:t> posee una pequeña fábrica de pinturas para interiores y exteriores de casa para su distribución al mayoreo. Se utilizan dos materiales básicos, A y B. La disponibilidad máxima de A es de 6 toneladas diarias, la de B es de 8 toneladas por día. La necesidad diaria de materia prima por tonelada de pintura para interiores y exteriores se resumen en la siguiente tabla:</a:t>
          </a:r>
          <a:endParaRPr lang="es-ES" sz="2000" kern="1200" dirty="0">
            <a:solidFill>
              <a:srgbClr val="FFFF00"/>
            </a:solidFill>
          </a:endParaRPr>
        </a:p>
      </dsp:txBody>
      <dsp:txXfrm>
        <a:off x="114120" y="139997"/>
        <a:ext cx="5551458" cy="21095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CEB2CA-D4FB-4681-8206-4E2833B682E0}">
      <dsp:nvSpPr>
        <dsp:cNvPr id="0" name=""/>
        <dsp:cNvSpPr/>
      </dsp:nvSpPr>
      <dsp:spPr>
        <a:xfrm>
          <a:off x="0" y="27000"/>
          <a:ext cx="5702578" cy="5068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dirty="0">
              <a:solidFill>
                <a:srgbClr val="FFFF00"/>
              </a:solidFill>
            </a:rPr>
            <a:t>En un almacén de frutas hay 800 kg de naranjas, 800 kg de manzanas y 500 kg de plátanos.  Para su venta se hacen dos lotes (A y B).  El lote tipo A contiene 1 kg de naranja, 2 kg de manzanas y 1 kg de plátanos; el lote tipo B contiene 2 kg de naranja, 1 kg de manzanas y 1 kg de plátanos. El beneficio por el lote tipo A es de S/.1200 y con el lote tipo B de S/.1400. Determinar el número de lotes de cada tipo para conseguir beneficios máximos. Plantear y resolver el problema  como un problema de PL.</a:t>
          </a:r>
          <a:endParaRPr lang="es-ES" sz="2400" kern="1200" dirty="0">
            <a:solidFill>
              <a:srgbClr val="FFFF00"/>
            </a:solidFill>
          </a:endParaRPr>
        </a:p>
      </dsp:txBody>
      <dsp:txXfrm>
        <a:off x="247421" y="274421"/>
        <a:ext cx="5207736" cy="45735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3B09A7-ABC0-4858-B7A6-DA78D0871E1C}">
      <dsp:nvSpPr>
        <dsp:cNvPr id="0" name=""/>
        <dsp:cNvSpPr/>
      </dsp:nvSpPr>
      <dsp:spPr>
        <a:xfrm>
          <a:off x="0" y="18981"/>
          <a:ext cx="6029056" cy="235490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dirty="0">
              <a:solidFill>
                <a:srgbClr val="FFFF00"/>
              </a:solidFill>
            </a:rPr>
            <a:t>Una mueblería produce dos tipos de productos, sillas y mesas. Supóngase  que el beneficio marginal por cada silla es de $8 y por cada mesa es de $10. Para la producción se dispone de 60 horas hombre (</a:t>
          </a:r>
          <a:r>
            <a:rPr lang="es-ES_tradnl" sz="2400" kern="1200" dirty="0" err="1">
              <a:solidFill>
                <a:srgbClr val="FFFF00"/>
              </a:solidFill>
            </a:rPr>
            <a:t>hh</a:t>
          </a:r>
          <a:r>
            <a:rPr lang="es-ES_tradnl" sz="2400" kern="1200" dirty="0">
              <a:solidFill>
                <a:srgbClr val="FFFF00"/>
              </a:solidFill>
            </a:rPr>
            <a:t>) y de 20 unidades de madera (</a:t>
          </a:r>
          <a:r>
            <a:rPr lang="es-ES_tradnl" sz="2400" kern="1200" dirty="0" err="1">
              <a:solidFill>
                <a:srgbClr val="FFFF00"/>
              </a:solidFill>
            </a:rPr>
            <a:t>um</a:t>
          </a:r>
          <a:r>
            <a:rPr lang="es-ES_tradnl" sz="2400" kern="1200" dirty="0">
              <a:solidFill>
                <a:srgbClr val="FFFF00"/>
              </a:solidFill>
            </a:rPr>
            <a:t>). </a:t>
          </a:r>
          <a:endParaRPr lang="es-ES" sz="2400" kern="1200" dirty="0">
            <a:solidFill>
              <a:srgbClr val="FFFF00"/>
            </a:solidFill>
          </a:endParaRPr>
        </a:p>
      </dsp:txBody>
      <dsp:txXfrm>
        <a:off x="114957" y="133938"/>
        <a:ext cx="5799142" cy="21249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1ED56D-93EF-4255-B12B-1419ADB74E15}">
      <dsp:nvSpPr>
        <dsp:cNvPr id="0" name=""/>
        <dsp:cNvSpPr/>
      </dsp:nvSpPr>
      <dsp:spPr>
        <a:xfrm>
          <a:off x="0" y="191600"/>
          <a:ext cx="6029056" cy="1330875"/>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solidFill>
                <a:srgbClr val="FFFF00"/>
              </a:solidFill>
            </a:rPr>
            <a:t>Para la construcción de una silla se requieren 8 hh y 2 um, y para la construcción de una mesa se requieren 6 hh y 4 um. </a:t>
          </a:r>
          <a:endParaRPr lang="es-ES" sz="2400" kern="1200">
            <a:solidFill>
              <a:srgbClr val="FFFF00"/>
            </a:solidFill>
          </a:endParaRPr>
        </a:p>
      </dsp:txBody>
      <dsp:txXfrm>
        <a:off x="64968" y="256568"/>
        <a:ext cx="5899120" cy="1200939"/>
      </dsp:txXfrm>
    </dsp:sp>
    <dsp:sp modelId="{AAB333D1-4FB8-44D7-8A27-536BEF638340}">
      <dsp:nvSpPr>
        <dsp:cNvPr id="0" name=""/>
        <dsp:cNvSpPr/>
      </dsp:nvSpPr>
      <dsp:spPr>
        <a:xfrm>
          <a:off x="0" y="1901275"/>
          <a:ext cx="6029056" cy="1330875"/>
        </a:xfrm>
        <a:prstGeom prst="roundRect">
          <a:avLst/>
        </a:prstGeom>
        <a:solidFill>
          <a:srgbClr val="2683C6">
            <a:lumMod val="75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solidFill>
                <a:srgbClr val="FFFF00"/>
              </a:solidFill>
              <a:latin typeface="Calibri" panose="020F0502020204030204"/>
              <a:ea typeface="+mn-ea"/>
              <a:cs typeface="+mn-cs"/>
            </a:rPr>
            <a:t>¿Cuántas sillas y mesas se deben construir para obtener el mayor beneficio?</a:t>
          </a:r>
          <a:endParaRPr lang="es-ES" sz="2400" kern="1200">
            <a:solidFill>
              <a:srgbClr val="FFFF00"/>
            </a:solidFill>
            <a:latin typeface="Calibri" panose="020F0502020204030204"/>
            <a:ea typeface="+mn-ea"/>
            <a:cs typeface="+mn-cs"/>
          </a:endParaRPr>
        </a:p>
      </dsp:txBody>
      <dsp:txXfrm>
        <a:off x="64968" y="1966243"/>
        <a:ext cx="5899120" cy="12009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FDDA29-5674-4789-AAE4-5362B9CA996E}">
      <dsp:nvSpPr>
        <dsp:cNvPr id="0" name=""/>
        <dsp:cNvSpPr/>
      </dsp:nvSpPr>
      <dsp:spPr>
        <a:xfrm>
          <a:off x="0" y="2066"/>
          <a:ext cx="6020346" cy="21145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ES_tradnl" sz="2400" kern="1200" dirty="0">
              <a:solidFill>
                <a:srgbClr val="FFFF00"/>
              </a:solidFill>
            </a:rPr>
            <a:t>Dos productos se elaboran al pasar en forma sucesiva por tres máquinas. El tiempo por máquina asignado a los dos productos está limitado a 10 horas  por día. El tiempo de producción y la ganancia por unidad de cada producto son:</a:t>
          </a:r>
          <a:endParaRPr lang="es-ES" sz="2400" kern="1200" dirty="0">
            <a:solidFill>
              <a:srgbClr val="FFFF00"/>
            </a:solidFill>
          </a:endParaRPr>
        </a:p>
      </dsp:txBody>
      <dsp:txXfrm>
        <a:off x="103223" y="105289"/>
        <a:ext cx="5813900" cy="190808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F3A3C-D2F2-4B92-9403-DF590F56A1F9}">
      <dsp:nvSpPr>
        <dsp:cNvPr id="0" name=""/>
        <dsp:cNvSpPr/>
      </dsp:nvSpPr>
      <dsp:spPr>
        <a:xfrm>
          <a:off x="0" y="6850"/>
          <a:ext cx="6016823" cy="106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dirty="0">
              <a:solidFill>
                <a:srgbClr val="FFFF00"/>
              </a:solidFill>
            </a:rPr>
            <a:t>Obtenga el modelo de programa lineal para maximizar la ganancia</a:t>
          </a:r>
          <a:endParaRPr lang="es-ES" sz="2400" kern="1200" dirty="0">
            <a:solidFill>
              <a:srgbClr val="FFFF00"/>
            </a:solidFill>
          </a:endParaRPr>
        </a:p>
      </dsp:txBody>
      <dsp:txXfrm>
        <a:off x="52089" y="58939"/>
        <a:ext cx="5912645" cy="96286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02B983-8E03-4666-8646-D3A0D70D9484}">
      <dsp:nvSpPr>
        <dsp:cNvPr id="0" name=""/>
        <dsp:cNvSpPr/>
      </dsp:nvSpPr>
      <dsp:spPr>
        <a:xfrm>
          <a:off x="571620" y="0"/>
          <a:ext cx="6478361" cy="471256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1BE362-F437-4553-A58E-E0DCEEF82778}">
      <dsp:nvSpPr>
        <dsp:cNvPr id="0" name=""/>
        <dsp:cNvSpPr/>
      </dsp:nvSpPr>
      <dsp:spPr>
        <a:xfrm>
          <a:off x="3839" y="1413768"/>
          <a:ext cx="1600982" cy="18850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kern="1200" dirty="0"/>
            <a:t>Hemos tomado una </a:t>
          </a:r>
          <a:r>
            <a:rPr lang="es-ES_tradnl" sz="2000" b="1" i="1" kern="1200" dirty="0">
              <a:solidFill>
                <a:srgbClr val="FFFF00"/>
              </a:solidFill>
            </a:rPr>
            <a:t>situación real problema</a:t>
          </a:r>
          <a:r>
            <a:rPr lang="es-ES_tradnl" sz="2000" b="1" kern="1200" dirty="0"/>
            <a:t> de decisión</a:t>
          </a:r>
          <a:endParaRPr lang="es-PE" sz="2000" b="1" kern="1200" dirty="0"/>
        </a:p>
      </dsp:txBody>
      <dsp:txXfrm>
        <a:off x="81992" y="1491921"/>
        <a:ext cx="1444676" cy="1728719"/>
      </dsp:txXfrm>
    </dsp:sp>
    <dsp:sp modelId="{F8128116-B12D-4CD1-9D6B-895D1C4764FF}">
      <dsp:nvSpPr>
        <dsp:cNvPr id="0" name=""/>
        <dsp:cNvSpPr/>
      </dsp:nvSpPr>
      <dsp:spPr>
        <a:xfrm>
          <a:off x="1871653" y="1413768"/>
          <a:ext cx="1600982" cy="18850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kern="1200" dirty="0"/>
            <a:t>Hemos construido su </a:t>
          </a:r>
        </a:p>
        <a:p>
          <a:pPr marL="0" lvl="0" indent="0" algn="ctr" defTabSz="889000" rtl="0">
            <a:lnSpc>
              <a:spcPct val="90000"/>
            </a:lnSpc>
            <a:spcBef>
              <a:spcPct val="0"/>
            </a:spcBef>
            <a:spcAft>
              <a:spcPct val="35000"/>
            </a:spcAft>
            <a:buNone/>
          </a:pPr>
          <a:r>
            <a:rPr lang="es-ES_tradnl" sz="2000" b="1" i="1" kern="1200" dirty="0">
              <a:solidFill>
                <a:srgbClr val="FFFF00"/>
              </a:solidFill>
            </a:rPr>
            <a:t>modelo matemático</a:t>
          </a:r>
          <a:r>
            <a:rPr lang="es-ES_tradnl" sz="2000" b="1" kern="1200" dirty="0"/>
            <a:t>. </a:t>
          </a:r>
          <a:endParaRPr lang="es-PE" sz="2000" b="1" kern="1200" dirty="0"/>
        </a:p>
      </dsp:txBody>
      <dsp:txXfrm>
        <a:off x="1949806" y="1491921"/>
        <a:ext cx="1444676" cy="1728719"/>
      </dsp:txXfrm>
    </dsp:sp>
    <dsp:sp modelId="{2AFC225A-3DFE-4DCF-9B5E-44AB622584F2}">
      <dsp:nvSpPr>
        <dsp:cNvPr id="0" name=""/>
        <dsp:cNvSpPr/>
      </dsp:nvSpPr>
      <dsp:spPr>
        <a:xfrm>
          <a:off x="3739466" y="1413768"/>
          <a:ext cx="1742702" cy="18850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kern="1200" dirty="0"/>
            <a:t>El método cuantitativo  permite </a:t>
          </a:r>
          <a:r>
            <a:rPr lang="es-ES_tradnl" sz="2000" b="1" i="1" kern="1200" dirty="0">
              <a:solidFill>
                <a:srgbClr val="FFFF00"/>
              </a:solidFill>
            </a:rPr>
            <a:t>resolver el modelo</a:t>
          </a:r>
          <a:r>
            <a:rPr lang="es-ES_tradnl" sz="2000" b="1" kern="1200" dirty="0"/>
            <a:t>.  </a:t>
          </a:r>
          <a:endParaRPr lang="es-PE" sz="2000" b="1" kern="1200" dirty="0"/>
        </a:p>
      </dsp:txBody>
      <dsp:txXfrm>
        <a:off x="3824538" y="1498840"/>
        <a:ext cx="1572558" cy="1714881"/>
      </dsp:txXfrm>
    </dsp:sp>
    <dsp:sp modelId="{FAFA2B86-4C9A-4CA7-B778-2789CD30C415}">
      <dsp:nvSpPr>
        <dsp:cNvPr id="0" name=""/>
        <dsp:cNvSpPr/>
      </dsp:nvSpPr>
      <dsp:spPr>
        <a:xfrm>
          <a:off x="5659496" y="1387095"/>
          <a:ext cx="1868763" cy="18850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kern="1200" dirty="0"/>
            <a:t>El algoritmo son instrucciones que  producen una </a:t>
          </a:r>
          <a:r>
            <a:rPr lang="es-ES_tradnl" sz="2000" b="1" i="1" kern="1200" dirty="0">
              <a:solidFill>
                <a:srgbClr val="FFFF00"/>
              </a:solidFill>
            </a:rPr>
            <a:t>solución numérica</a:t>
          </a:r>
          <a:r>
            <a:rPr lang="es-ES_tradnl" sz="2000" b="1" kern="1200" dirty="0"/>
            <a:t>.</a:t>
          </a:r>
          <a:endParaRPr lang="es-PE" sz="2000" b="1" kern="1200" dirty="0"/>
        </a:p>
      </dsp:txBody>
      <dsp:txXfrm>
        <a:off x="5750721" y="1478320"/>
        <a:ext cx="1686313" cy="17025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88D09B-5935-4481-A7E5-7574E9DCBC6C}">
      <dsp:nvSpPr>
        <dsp:cNvPr id="0" name=""/>
        <dsp:cNvSpPr/>
      </dsp:nvSpPr>
      <dsp:spPr>
        <a:xfrm>
          <a:off x="0" y="437424"/>
          <a:ext cx="3776935" cy="1216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kern="1200" dirty="0">
              <a:solidFill>
                <a:schemeClr val="bg1"/>
              </a:solidFill>
            </a:rPr>
            <a:t>Elección del modelo matemático adecuado así como el algoritmo adecuado.</a:t>
          </a:r>
          <a:endParaRPr lang="es-PE" sz="2000" b="1" kern="1200" dirty="0">
            <a:solidFill>
              <a:schemeClr val="bg1"/>
            </a:solidFill>
          </a:endParaRPr>
        </a:p>
      </dsp:txBody>
      <dsp:txXfrm>
        <a:off x="59399" y="496823"/>
        <a:ext cx="3658137" cy="1098002"/>
      </dsp:txXfrm>
    </dsp:sp>
    <dsp:sp modelId="{325095C4-429D-4A72-A57E-5658594ABA58}">
      <dsp:nvSpPr>
        <dsp:cNvPr id="0" name=""/>
        <dsp:cNvSpPr/>
      </dsp:nvSpPr>
      <dsp:spPr>
        <a:xfrm>
          <a:off x="0" y="1841424"/>
          <a:ext cx="3776935" cy="9344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kern="1200">
              <a:solidFill>
                <a:schemeClr val="bg1"/>
              </a:solidFill>
            </a:rPr>
            <a:t>Dificultades en la implementación</a:t>
          </a:r>
          <a:endParaRPr lang="es-PE" sz="2000" b="1" kern="1200">
            <a:solidFill>
              <a:schemeClr val="bg1"/>
            </a:solidFill>
          </a:endParaRPr>
        </a:p>
      </dsp:txBody>
      <dsp:txXfrm>
        <a:off x="45616" y="1887040"/>
        <a:ext cx="3685703" cy="843221"/>
      </dsp:txXfrm>
    </dsp:sp>
    <dsp:sp modelId="{74C3E2A8-2111-4442-ACD3-AAE5C5833A51}">
      <dsp:nvSpPr>
        <dsp:cNvPr id="0" name=""/>
        <dsp:cNvSpPr/>
      </dsp:nvSpPr>
      <dsp:spPr>
        <a:xfrm>
          <a:off x="0" y="2963078"/>
          <a:ext cx="3776935" cy="6989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kern="1200">
              <a:solidFill>
                <a:schemeClr val="bg1"/>
              </a:solidFill>
            </a:rPr>
            <a:t>Calidad de la solución</a:t>
          </a:r>
          <a:endParaRPr lang="es-PE" sz="2000" b="1" kern="1200">
            <a:solidFill>
              <a:schemeClr val="bg1"/>
            </a:solidFill>
          </a:endParaRPr>
        </a:p>
      </dsp:txBody>
      <dsp:txXfrm>
        <a:off x="34120" y="2997198"/>
        <a:ext cx="3708695" cy="630714"/>
      </dsp:txXfrm>
    </dsp:sp>
    <dsp:sp modelId="{464C5A4B-9E34-42D1-B7F6-F62F5E15B753}">
      <dsp:nvSpPr>
        <dsp:cNvPr id="0" name=""/>
        <dsp:cNvSpPr/>
      </dsp:nvSpPr>
      <dsp:spPr>
        <a:xfrm>
          <a:off x="0" y="3849232"/>
          <a:ext cx="3776935" cy="6480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kern="1200">
              <a:solidFill>
                <a:schemeClr val="bg1"/>
              </a:solidFill>
            </a:rPr>
            <a:t>Consistencia de la solución</a:t>
          </a:r>
          <a:endParaRPr lang="es-PE" sz="2000" b="1" kern="1200">
            <a:solidFill>
              <a:schemeClr val="bg1"/>
            </a:solidFill>
          </a:endParaRPr>
        </a:p>
      </dsp:txBody>
      <dsp:txXfrm>
        <a:off x="31635" y="3880867"/>
        <a:ext cx="3713665" cy="58477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957249-D874-4445-A8E9-4B902A2DF286}">
      <dsp:nvSpPr>
        <dsp:cNvPr id="0" name=""/>
        <dsp:cNvSpPr/>
      </dsp:nvSpPr>
      <dsp:spPr>
        <a:xfrm>
          <a:off x="0" y="948"/>
          <a:ext cx="4777679" cy="30013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dirty="0"/>
            <a:t>MODELO:</a:t>
          </a:r>
        </a:p>
        <a:p>
          <a:pPr marL="0" lvl="0" indent="0" algn="l" defTabSz="1244600">
            <a:lnSpc>
              <a:spcPct val="90000"/>
            </a:lnSpc>
            <a:spcBef>
              <a:spcPct val="0"/>
            </a:spcBef>
            <a:spcAft>
              <a:spcPct val="35000"/>
            </a:spcAft>
            <a:buNone/>
          </a:pPr>
          <a:r>
            <a:rPr lang="es-MX" sz="2800" kern="1200" dirty="0"/>
            <a:t>Es la representación simbólica del sistema real. Donde cada concepto o definición está representado por una </a:t>
          </a:r>
          <a:r>
            <a:rPr lang="es-MX" sz="2800" b="1" kern="1200" dirty="0"/>
            <a:t>función lineal</a:t>
          </a:r>
          <a:r>
            <a:rPr lang="es-MX" sz="2800" kern="1200" dirty="0"/>
            <a:t>.</a:t>
          </a:r>
          <a:endParaRPr lang="es-PE" sz="2800" kern="1200" dirty="0"/>
        </a:p>
      </dsp:txBody>
      <dsp:txXfrm>
        <a:off x="146513" y="147461"/>
        <a:ext cx="4484653" cy="270829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809509-653A-4639-B42D-A3C1A790E9B8}">
      <dsp:nvSpPr>
        <dsp:cNvPr id="0" name=""/>
        <dsp:cNvSpPr/>
      </dsp:nvSpPr>
      <dsp:spPr>
        <a:xfrm rot="5400000">
          <a:off x="7842947" y="-2317265"/>
          <a:ext cx="1271469" cy="594083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dirty="0"/>
            <a:t>Las </a:t>
          </a:r>
          <a:r>
            <a:rPr lang="es-MX" sz="2400" b="1" kern="1200" dirty="0">
              <a:solidFill>
                <a:srgbClr val="FF0000"/>
              </a:solidFill>
            </a:rPr>
            <a:t>restricciones</a:t>
          </a:r>
          <a:r>
            <a:rPr lang="es-MX" sz="2400" kern="1200" dirty="0"/>
            <a:t> pueden ser:</a:t>
          </a:r>
          <a:endParaRPr lang="es-PE" sz="2400" kern="1200" dirty="0"/>
        </a:p>
        <a:p>
          <a:pPr marL="228600" lvl="1" indent="-228600" algn="l" defTabSz="1066800">
            <a:lnSpc>
              <a:spcPct val="90000"/>
            </a:lnSpc>
            <a:spcBef>
              <a:spcPct val="0"/>
            </a:spcBef>
            <a:spcAft>
              <a:spcPct val="15000"/>
            </a:spcAft>
            <a:buChar char="•"/>
          </a:pPr>
          <a:r>
            <a:rPr lang="es-MX" sz="2400" kern="1200" dirty="0"/>
            <a:t>Menor o igual (&lt;=)    Menor  (&lt;)</a:t>
          </a:r>
          <a:endParaRPr lang="es-PE" sz="2400" kern="1200" dirty="0"/>
        </a:p>
        <a:p>
          <a:pPr marL="228600" lvl="1" indent="-228600" algn="l" defTabSz="1066800">
            <a:lnSpc>
              <a:spcPct val="90000"/>
            </a:lnSpc>
            <a:spcBef>
              <a:spcPct val="0"/>
            </a:spcBef>
            <a:spcAft>
              <a:spcPct val="15000"/>
            </a:spcAft>
            <a:buChar char="•"/>
          </a:pPr>
          <a:r>
            <a:rPr lang="es-MX" sz="2400" kern="1200" dirty="0"/>
            <a:t>Mayor o igual (&gt;=)     Mayor  (&gt;)   Igual (=)</a:t>
          </a:r>
          <a:endParaRPr lang="es-PE" sz="2400" kern="1200" dirty="0"/>
        </a:p>
      </dsp:txBody>
      <dsp:txXfrm rot="-5400000">
        <a:off x="5508267" y="79483"/>
        <a:ext cx="5878762" cy="1147333"/>
      </dsp:txXfrm>
    </dsp:sp>
    <dsp:sp modelId="{27FA4BCB-A202-4C75-8FFF-E1E2D5146317}">
      <dsp:nvSpPr>
        <dsp:cNvPr id="0" name=""/>
        <dsp:cNvSpPr/>
      </dsp:nvSpPr>
      <dsp:spPr>
        <a:xfrm>
          <a:off x="2672" y="637"/>
          <a:ext cx="5505594" cy="13050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MX" sz="2400" kern="1200" dirty="0"/>
            <a:t>Toda </a:t>
          </a:r>
          <a:r>
            <a:rPr lang="es-MX" sz="2400" kern="1200" dirty="0" err="1"/>
            <a:t>F.O</a:t>
          </a:r>
          <a:r>
            <a:rPr lang="es-MX" sz="2400" kern="1200" dirty="0"/>
            <a:t>. estará sujeta a un conjunto de restricciones que limitarán el valor del objetivo que puede ser alcanzado.</a:t>
          </a:r>
          <a:endParaRPr lang="es-PE" sz="2400" kern="1200" dirty="0"/>
        </a:p>
      </dsp:txBody>
      <dsp:txXfrm>
        <a:off x="66378" y="64343"/>
        <a:ext cx="5378182" cy="11776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E4299-3126-4C70-938F-E39F25071BC0}">
      <dsp:nvSpPr>
        <dsp:cNvPr id="0" name=""/>
        <dsp:cNvSpPr/>
      </dsp:nvSpPr>
      <dsp:spPr>
        <a:xfrm rot="5400000">
          <a:off x="6055189" y="-3975843"/>
          <a:ext cx="1416221" cy="936921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dirty="0"/>
            <a:t>Las horas de producción debe ser </a:t>
          </a:r>
          <a:r>
            <a:rPr lang="es-MX" sz="2400" i="1" kern="1200" dirty="0">
              <a:solidFill>
                <a:srgbClr val="FF0000"/>
              </a:solidFill>
            </a:rPr>
            <a:t>menor o igual </a:t>
          </a:r>
          <a:r>
            <a:rPr lang="es-MX" sz="2400" kern="1200" dirty="0"/>
            <a:t>a 132 horas.</a:t>
          </a:r>
          <a:endParaRPr lang="es-PE" sz="2400" kern="1200" dirty="0"/>
        </a:p>
        <a:p>
          <a:pPr marL="228600" lvl="1" indent="-228600" algn="l" defTabSz="1066800">
            <a:lnSpc>
              <a:spcPct val="90000"/>
            </a:lnSpc>
            <a:spcBef>
              <a:spcPct val="0"/>
            </a:spcBef>
            <a:spcAft>
              <a:spcPct val="15000"/>
            </a:spcAft>
            <a:buChar char="•"/>
          </a:pPr>
          <a:r>
            <a:rPr lang="es-MX" sz="2400" kern="1200" dirty="0"/>
            <a:t>La inversión total en acciones debe ser </a:t>
          </a:r>
          <a:r>
            <a:rPr lang="es-MX" sz="2400" i="1" kern="1200" dirty="0">
              <a:solidFill>
                <a:srgbClr val="FF0000"/>
              </a:solidFill>
            </a:rPr>
            <a:t>a lo más </a:t>
          </a:r>
          <a:r>
            <a:rPr lang="es-MX" sz="2400" kern="1200" dirty="0"/>
            <a:t>un millón $</a:t>
          </a:r>
          <a:endParaRPr lang="es-PE" sz="2400" kern="1200" dirty="0"/>
        </a:p>
        <a:p>
          <a:pPr marL="228600" lvl="1" indent="-228600" algn="l" defTabSz="1066800">
            <a:lnSpc>
              <a:spcPct val="90000"/>
            </a:lnSpc>
            <a:spcBef>
              <a:spcPct val="0"/>
            </a:spcBef>
            <a:spcAft>
              <a:spcPct val="15000"/>
            </a:spcAft>
            <a:buChar char="•"/>
          </a:pPr>
          <a:r>
            <a:rPr lang="es-MX" sz="2400" kern="1200" dirty="0"/>
            <a:t>La cantidad de acciones A, debe ser </a:t>
          </a:r>
          <a:r>
            <a:rPr lang="es-MX" sz="2400" i="1" kern="1200" dirty="0">
              <a:solidFill>
                <a:srgbClr val="FF0000"/>
              </a:solidFill>
            </a:rPr>
            <a:t>menor o igual</a:t>
          </a:r>
          <a:r>
            <a:rPr lang="es-MX" sz="2400" kern="1200" dirty="0"/>
            <a:t> al 30% del total.</a:t>
          </a:r>
          <a:endParaRPr lang="es-PE" sz="2400" kern="1200" dirty="0"/>
        </a:p>
      </dsp:txBody>
      <dsp:txXfrm rot="-5400000">
        <a:off x="2078693" y="69787"/>
        <a:ext cx="9300079" cy="1277953"/>
      </dsp:txXfrm>
    </dsp:sp>
    <dsp:sp modelId="{C3D0B683-631F-4553-8775-76208D3E6552}">
      <dsp:nvSpPr>
        <dsp:cNvPr id="0" name=""/>
        <dsp:cNvSpPr/>
      </dsp:nvSpPr>
      <dsp:spPr>
        <a:xfrm>
          <a:off x="3863" y="5295"/>
          <a:ext cx="2074830" cy="1406935"/>
        </a:xfrm>
        <a:prstGeom prst="roundRect">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MX" sz="2400" kern="1200">
              <a:solidFill>
                <a:prstClr val="white"/>
              </a:solidFill>
              <a:latin typeface="Calibri" panose="020F0502020204030204"/>
              <a:ea typeface="+mn-ea"/>
              <a:cs typeface="+mn-cs"/>
            </a:rPr>
            <a:t>Menor o igual (&lt;=)</a:t>
          </a:r>
          <a:endParaRPr lang="es-PE" sz="2400" kern="1200">
            <a:solidFill>
              <a:prstClr val="white"/>
            </a:solidFill>
            <a:latin typeface="Calibri" panose="020F0502020204030204"/>
            <a:ea typeface="+mn-ea"/>
            <a:cs typeface="+mn-cs"/>
          </a:endParaRPr>
        </a:p>
      </dsp:txBody>
      <dsp:txXfrm>
        <a:off x="72544" y="73976"/>
        <a:ext cx="1937468" cy="1269573"/>
      </dsp:txXfrm>
    </dsp:sp>
    <dsp:sp modelId="{B8FC383B-72F4-4FA7-808F-B36BA2F0CE95}">
      <dsp:nvSpPr>
        <dsp:cNvPr id="0" name=""/>
        <dsp:cNvSpPr/>
      </dsp:nvSpPr>
      <dsp:spPr>
        <a:xfrm rot="5400000">
          <a:off x="6279702" y="-2668554"/>
          <a:ext cx="963289" cy="936408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dirty="0"/>
            <a:t>Las horas asignada a la línea 1 debe ser </a:t>
          </a:r>
          <a:r>
            <a:rPr lang="es-MX" sz="2400" i="1" kern="1200" dirty="0">
              <a:solidFill>
                <a:srgbClr val="FF0000"/>
              </a:solidFill>
            </a:rPr>
            <a:t>mayor o igual </a:t>
          </a:r>
          <a:r>
            <a:rPr lang="es-MX" sz="2400" kern="1200" dirty="0"/>
            <a:t>a 100 horas.</a:t>
          </a:r>
          <a:endParaRPr lang="es-PE" sz="2400" kern="1200" dirty="0"/>
        </a:p>
        <a:p>
          <a:pPr marL="228600" lvl="1" indent="-228600" algn="l" defTabSz="1066800">
            <a:lnSpc>
              <a:spcPct val="90000"/>
            </a:lnSpc>
            <a:spcBef>
              <a:spcPct val="0"/>
            </a:spcBef>
            <a:spcAft>
              <a:spcPct val="15000"/>
            </a:spcAft>
            <a:buChar char="•"/>
          </a:pPr>
          <a:r>
            <a:rPr lang="es-MX" sz="2400" kern="1200" dirty="0"/>
            <a:t>La inversión en acciones debe ser </a:t>
          </a:r>
          <a:r>
            <a:rPr lang="es-MX" sz="2400" i="0" kern="1200" dirty="0">
              <a:solidFill>
                <a:srgbClr val="FF0000"/>
              </a:solidFill>
            </a:rPr>
            <a:t>por lo menos </a:t>
          </a:r>
          <a:r>
            <a:rPr lang="es-MX" sz="2400" kern="1200" dirty="0"/>
            <a:t>el 50% de la inversión</a:t>
          </a:r>
          <a:endParaRPr lang="es-PE" sz="2400" kern="1200" dirty="0"/>
        </a:p>
      </dsp:txBody>
      <dsp:txXfrm rot="-5400000">
        <a:off x="2079306" y="1578866"/>
        <a:ext cx="9317057" cy="869241"/>
      </dsp:txXfrm>
    </dsp:sp>
    <dsp:sp modelId="{E4CE4785-E773-4C77-B31C-846BD902AB4E}">
      <dsp:nvSpPr>
        <dsp:cNvPr id="0" name=""/>
        <dsp:cNvSpPr/>
      </dsp:nvSpPr>
      <dsp:spPr>
        <a:xfrm>
          <a:off x="3863" y="1487221"/>
          <a:ext cx="2072604" cy="1052528"/>
        </a:xfrm>
        <a:prstGeom prst="roundRect">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MX" sz="2400" kern="1200">
              <a:solidFill>
                <a:prstClr val="white"/>
              </a:solidFill>
              <a:latin typeface="Calibri" panose="020F0502020204030204"/>
              <a:ea typeface="+mn-ea"/>
              <a:cs typeface="+mn-cs"/>
            </a:rPr>
            <a:t>Mayor o igual (&gt;=)</a:t>
          </a:r>
          <a:endParaRPr lang="es-PE" sz="2400" kern="1200">
            <a:solidFill>
              <a:prstClr val="white"/>
            </a:solidFill>
            <a:latin typeface="Calibri" panose="020F0502020204030204"/>
            <a:ea typeface="+mn-ea"/>
            <a:cs typeface="+mn-cs"/>
          </a:endParaRPr>
        </a:p>
      </dsp:txBody>
      <dsp:txXfrm>
        <a:off x="55243" y="1538601"/>
        <a:ext cx="1969844" cy="949768"/>
      </dsp:txXfrm>
    </dsp:sp>
    <dsp:sp modelId="{C12D8E31-9B1E-47EE-BF97-943CA86E21A3}">
      <dsp:nvSpPr>
        <dsp:cNvPr id="0" name=""/>
        <dsp:cNvSpPr/>
      </dsp:nvSpPr>
      <dsp:spPr>
        <a:xfrm rot="5400000">
          <a:off x="6363666" y="-1650047"/>
          <a:ext cx="815415" cy="933570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dirty="0"/>
            <a:t>La producción debe ser </a:t>
          </a:r>
          <a:r>
            <a:rPr lang="es-MX" sz="2400" i="1" kern="1200" dirty="0">
              <a:solidFill>
                <a:srgbClr val="FF0000"/>
              </a:solidFill>
            </a:rPr>
            <a:t>igual</a:t>
          </a:r>
          <a:r>
            <a:rPr lang="es-MX" sz="2400" kern="1200" dirty="0"/>
            <a:t> a los pedidos de los clientes.</a:t>
          </a:r>
          <a:endParaRPr lang="es-PE" sz="2400" kern="1200" dirty="0"/>
        </a:p>
        <a:p>
          <a:pPr marL="228600" lvl="1" indent="-228600" algn="l" defTabSz="1066800">
            <a:lnSpc>
              <a:spcPct val="90000"/>
            </a:lnSpc>
            <a:spcBef>
              <a:spcPct val="0"/>
            </a:spcBef>
            <a:spcAft>
              <a:spcPct val="15000"/>
            </a:spcAft>
            <a:buChar char="•"/>
          </a:pPr>
          <a:r>
            <a:rPr lang="es-MX" sz="2400" kern="1200" dirty="0"/>
            <a:t>La inversión en acciones debe ser </a:t>
          </a:r>
          <a:r>
            <a:rPr lang="es-MX" sz="2400" i="1" kern="1200" dirty="0">
              <a:solidFill>
                <a:srgbClr val="FF0000"/>
              </a:solidFill>
            </a:rPr>
            <a:t>igual</a:t>
          </a:r>
          <a:r>
            <a:rPr lang="es-MX" sz="2400" kern="1200" dirty="0"/>
            <a:t> al dinero disponible.</a:t>
          </a:r>
          <a:endParaRPr lang="es-PE" sz="2400" kern="1200" dirty="0"/>
        </a:p>
      </dsp:txBody>
      <dsp:txXfrm rot="-5400000">
        <a:off x="2103523" y="2649901"/>
        <a:ext cx="9295898" cy="735805"/>
      </dsp:txXfrm>
    </dsp:sp>
    <dsp:sp modelId="{872FC01E-AAFB-4C3F-A3B8-AB8F912B5C6B}">
      <dsp:nvSpPr>
        <dsp:cNvPr id="0" name=""/>
        <dsp:cNvSpPr/>
      </dsp:nvSpPr>
      <dsp:spPr>
        <a:xfrm>
          <a:off x="3863" y="2610637"/>
          <a:ext cx="2082261" cy="814334"/>
        </a:xfrm>
        <a:prstGeom prst="roundRect">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MX" sz="2400" kern="1200">
              <a:solidFill>
                <a:prstClr val="white"/>
              </a:solidFill>
              <a:latin typeface="Calibri" panose="020F0502020204030204"/>
              <a:ea typeface="+mn-ea"/>
              <a:cs typeface="+mn-cs"/>
            </a:rPr>
            <a:t>Igual (=)</a:t>
          </a:r>
          <a:endParaRPr lang="es-PE" sz="2400" kern="1200">
            <a:solidFill>
              <a:prstClr val="white"/>
            </a:solidFill>
            <a:latin typeface="Calibri" panose="020F0502020204030204"/>
            <a:ea typeface="+mn-ea"/>
            <a:cs typeface="+mn-cs"/>
          </a:endParaRPr>
        </a:p>
      </dsp:txBody>
      <dsp:txXfrm>
        <a:off x="43616" y="2650390"/>
        <a:ext cx="2002755" cy="73482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A4B74-14D4-408B-B8C8-DEB7009AC35F}">
      <dsp:nvSpPr>
        <dsp:cNvPr id="0" name=""/>
        <dsp:cNvSpPr/>
      </dsp:nvSpPr>
      <dsp:spPr>
        <a:xfrm rot="5400000">
          <a:off x="4406430" y="-2144538"/>
          <a:ext cx="4052253" cy="834133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FontTx/>
            <a:buNone/>
          </a:pPr>
          <a:r>
            <a:rPr lang="es-MX" sz="2800" b="1" kern="1200" dirty="0">
              <a:solidFill>
                <a:srgbClr val="FF0000"/>
              </a:solidFill>
            </a:rPr>
            <a:t>Ejemplo de alternativas</a:t>
          </a:r>
          <a:r>
            <a:rPr lang="es-MX" sz="2400" kern="1200" dirty="0"/>
            <a:t>:</a:t>
          </a:r>
          <a:endParaRPr lang="es-PE" sz="2400" kern="1200" dirty="0"/>
        </a:p>
        <a:p>
          <a:pPr marL="228600" lvl="1" indent="-228600" algn="l" defTabSz="1066800">
            <a:lnSpc>
              <a:spcPct val="90000"/>
            </a:lnSpc>
            <a:spcBef>
              <a:spcPct val="0"/>
            </a:spcBef>
            <a:spcAft>
              <a:spcPct val="15000"/>
            </a:spcAft>
            <a:buChar char="•"/>
          </a:pPr>
          <a:r>
            <a:rPr lang="es-ES" sz="2400" kern="1200" dirty="0"/>
            <a:t>Se tiene un millón de dólares para invertir en acciones. Se puede invertir en acciones: </a:t>
          </a:r>
          <a:r>
            <a:rPr lang="es-ES" sz="2400" i="1" kern="1200" dirty="0">
              <a:solidFill>
                <a:srgbClr val="7030A0"/>
              </a:solidFill>
            </a:rPr>
            <a:t>Cervecería, Minera y Gaseosas</a:t>
          </a:r>
          <a:r>
            <a:rPr lang="es-ES" sz="2400" i="1" kern="1200" dirty="0"/>
            <a:t>.</a:t>
          </a:r>
          <a:endParaRPr lang="es-PE" sz="2400" i="1" kern="1200" dirty="0"/>
        </a:p>
        <a:p>
          <a:pPr marL="228600" lvl="1" indent="-228600" algn="l" defTabSz="1066800">
            <a:lnSpc>
              <a:spcPct val="90000"/>
            </a:lnSpc>
            <a:spcBef>
              <a:spcPct val="0"/>
            </a:spcBef>
            <a:spcAft>
              <a:spcPct val="15000"/>
            </a:spcAft>
            <a:buChar char="•"/>
          </a:pPr>
          <a:r>
            <a:rPr lang="es-ES" sz="2400" kern="1200" dirty="0"/>
            <a:t>La línea principal de envasado en una cervecería es para el formato 620 m. Podemos asignar a esta línea las siguientes marcas: </a:t>
          </a:r>
          <a:r>
            <a:rPr lang="es-ES" sz="2400" i="1" kern="1200" dirty="0">
              <a:solidFill>
                <a:srgbClr val="7030A0"/>
              </a:solidFill>
            </a:rPr>
            <a:t>Cristal 620, Pilsen 620 y Cusqueña 620</a:t>
          </a:r>
          <a:r>
            <a:rPr lang="es-ES" sz="2400" i="1" kern="1200" dirty="0"/>
            <a:t>.</a:t>
          </a:r>
          <a:endParaRPr lang="es-PE" sz="2400" i="1" kern="1200" dirty="0"/>
        </a:p>
        <a:p>
          <a:pPr marL="228600" lvl="1" indent="-228600" algn="l" defTabSz="1066800">
            <a:lnSpc>
              <a:spcPct val="90000"/>
            </a:lnSpc>
            <a:spcBef>
              <a:spcPct val="0"/>
            </a:spcBef>
            <a:spcAft>
              <a:spcPct val="15000"/>
            </a:spcAft>
            <a:buChar char="•"/>
          </a:pPr>
          <a:r>
            <a:rPr lang="es-ES" sz="2400" kern="1200" dirty="0"/>
            <a:t>Se debe elegir los medios para programar publicidad de los productos de una empresa: </a:t>
          </a:r>
          <a:r>
            <a:rPr lang="es-ES" sz="2400" i="1" kern="1200" dirty="0">
              <a:solidFill>
                <a:srgbClr val="7030A0"/>
              </a:solidFill>
            </a:rPr>
            <a:t>Televisión, Radio y Periódico.</a:t>
          </a:r>
          <a:endParaRPr lang="es-PE" sz="2400" i="1" kern="1200" dirty="0">
            <a:solidFill>
              <a:srgbClr val="7030A0"/>
            </a:solidFill>
          </a:endParaRPr>
        </a:p>
        <a:p>
          <a:pPr marL="228600" lvl="1" indent="-228600" algn="l" defTabSz="1066800">
            <a:lnSpc>
              <a:spcPct val="90000"/>
            </a:lnSpc>
            <a:spcBef>
              <a:spcPct val="0"/>
            </a:spcBef>
            <a:spcAft>
              <a:spcPct val="15000"/>
            </a:spcAft>
            <a:buChar char="•"/>
          </a:pPr>
          <a:r>
            <a:rPr lang="es-ES" sz="2400" kern="1200" dirty="0"/>
            <a:t>Para un plan de producción, se debe comprar materia prima, se tiene </a:t>
          </a:r>
          <a:r>
            <a:rPr lang="es-ES" sz="2400" i="1" kern="1200" dirty="0"/>
            <a:t>tres proveedores </a:t>
          </a:r>
          <a:r>
            <a:rPr lang="es-ES" sz="2400" kern="1200" dirty="0"/>
            <a:t>que pueden abastecer.</a:t>
          </a:r>
          <a:endParaRPr lang="es-PE" sz="2400" kern="1200" dirty="0"/>
        </a:p>
      </dsp:txBody>
      <dsp:txXfrm rot="-5400000">
        <a:off x="2261889" y="197818"/>
        <a:ext cx="8143521" cy="3656623"/>
      </dsp:txXfrm>
    </dsp:sp>
    <dsp:sp modelId="{07431A2E-F005-41E7-95A9-3D43F76D9349}">
      <dsp:nvSpPr>
        <dsp:cNvPr id="0" name=""/>
        <dsp:cNvSpPr/>
      </dsp:nvSpPr>
      <dsp:spPr>
        <a:xfrm>
          <a:off x="41768" y="21086"/>
          <a:ext cx="2220121" cy="401008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MX" sz="2800" kern="1200"/>
            <a:t>Debe existir alternativas disponibles.</a:t>
          </a:r>
          <a:endParaRPr lang="es-PE" sz="2800" kern="1200"/>
        </a:p>
      </dsp:txBody>
      <dsp:txXfrm>
        <a:off x="150145" y="129463"/>
        <a:ext cx="2003367" cy="379333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61941-246C-4564-9645-181D1D88B4FE}">
      <dsp:nvSpPr>
        <dsp:cNvPr id="0" name=""/>
        <dsp:cNvSpPr/>
      </dsp:nvSpPr>
      <dsp:spPr>
        <a:xfrm rot="5400000">
          <a:off x="5695495" y="-1861565"/>
          <a:ext cx="2445797" cy="678037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just" defTabSz="1155700">
            <a:lnSpc>
              <a:spcPct val="90000"/>
            </a:lnSpc>
            <a:spcBef>
              <a:spcPct val="0"/>
            </a:spcBef>
            <a:spcAft>
              <a:spcPct val="15000"/>
            </a:spcAft>
            <a:buChar char="•"/>
          </a:pPr>
          <a:r>
            <a:rPr lang="es-ES" sz="2600" kern="1200" dirty="0"/>
            <a:t>La función objetivo y cada una de las restricciones, deben ser </a:t>
          </a:r>
          <a:r>
            <a:rPr lang="es-ES" sz="2600" kern="1200" dirty="0">
              <a:solidFill>
                <a:srgbClr val="7030A0"/>
              </a:solidFill>
            </a:rPr>
            <a:t>relaciones lineales.</a:t>
          </a:r>
          <a:endParaRPr lang="es-PE" sz="2600" kern="1200" dirty="0">
            <a:solidFill>
              <a:srgbClr val="7030A0"/>
            </a:solidFill>
          </a:endParaRPr>
        </a:p>
        <a:p>
          <a:pPr marL="228600" lvl="1" indent="-228600" algn="just" defTabSz="1155700">
            <a:lnSpc>
              <a:spcPct val="90000"/>
            </a:lnSpc>
            <a:spcBef>
              <a:spcPct val="0"/>
            </a:spcBef>
            <a:spcAft>
              <a:spcPct val="15000"/>
            </a:spcAft>
            <a:buChar char="•"/>
          </a:pPr>
          <a:r>
            <a:rPr lang="es-ES" sz="2600" kern="1200" dirty="0"/>
            <a:t>Una relación matemática lineal sólo significa que todos los términos en la función objetivo y en las restricciones son de </a:t>
          </a:r>
          <a:r>
            <a:rPr lang="es-ES" sz="2600" kern="1200" dirty="0">
              <a:solidFill>
                <a:srgbClr val="7030A0"/>
              </a:solidFill>
            </a:rPr>
            <a:t>primer grado.</a:t>
          </a:r>
          <a:endParaRPr lang="es-PE" sz="2600" kern="1200" dirty="0">
            <a:solidFill>
              <a:srgbClr val="7030A0"/>
            </a:solidFill>
          </a:endParaRPr>
        </a:p>
      </dsp:txBody>
      <dsp:txXfrm rot="-5400000">
        <a:off x="3528205" y="425119"/>
        <a:ext cx="6660984" cy="2207009"/>
      </dsp:txXfrm>
    </dsp:sp>
    <dsp:sp modelId="{24D66022-52D3-46BA-A5F7-2874221A048D}">
      <dsp:nvSpPr>
        <dsp:cNvPr id="0" name=""/>
        <dsp:cNvSpPr/>
      </dsp:nvSpPr>
      <dsp:spPr>
        <a:xfrm>
          <a:off x="43114" y="266500"/>
          <a:ext cx="3485089" cy="252424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l" defTabSz="1244600">
            <a:lnSpc>
              <a:spcPct val="90000"/>
            </a:lnSpc>
            <a:spcBef>
              <a:spcPct val="0"/>
            </a:spcBef>
            <a:spcAft>
              <a:spcPct val="35000"/>
            </a:spcAft>
            <a:buNone/>
          </a:pPr>
          <a:r>
            <a:rPr lang="es-ES" sz="2800" kern="1200" dirty="0"/>
            <a:t>Todas las relaciones para representar un concepto, serán relaciones lineales.</a:t>
          </a:r>
          <a:endParaRPr lang="es-PE" sz="2800" kern="1200" dirty="0"/>
        </a:p>
      </dsp:txBody>
      <dsp:txXfrm>
        <a:off x="166338" y="389724"/>
        <a:ext cx="3238641" cy="227779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B6342-EA76-4DDF-A735-26C0298ED67A}">
      <dsp:nvSpPr>
        <dsp:cNvPr id="0" name=""/>
        <dsp:cNvSpPr/>
      </dsp:nvSpPr>
      <dsp:spPr>
        <a:xfrm rot="5400000">
          <a:off x="7546105" y="-1822335"/>
          <a:ext cx="1206225" cy="515702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ES" sz="2400" kern="1200" dirty="0"/>
            <a:t>Max =  </a:t>
          </a:r>
          <a:r>
            <a:rPr lang="es-ES" sz="2400" kern="1200" dirty="0" err="1"/>
            <a:t>15X1</a:t>
          </a:r>
          <a:r>
            <a:rPr lang="es-ES" sz="2400" kern="1200" dirty="0"/>
            <a:t> + </a:t>
          </a:r>
          <a:r>
            <a:rPr lang="es-ES" sz="2400" kern="1200" dirty="0" err="1"/>
            <a:t>17X2</a:t>
          </a:r>
          <a:endParaRPr lang="es-PE" sz="2400" kern="1200" dirty="0"/>
        </a:p>
        <a:p>
          <a:pPr marL="228600" lvl="1" indent="-228600" algn="l" defTabSz="1066800">
            <a:lnSpc>
              <a:spcPct val="90000"/>
            </a:lnSpc>
            <a:spcBef>
              <a:spcPct val="0"/>
            </a:spcBef>
            <a:spcAft>
              <a:spcPct val="15000"/>
            </a:spcAft>
            <a:buChar char="•"/>
          </a:pPr>
          <a:r>
            <a:rPr lang="es-ES" sz="2400" kern="1200"/>
            <a:t>X1: unidades de A que se venderán</a:t>
          </a:r>
          <a:endParaRPr lang="es-PE" sz="2400" kern="1200"/>
        </a:p>
        <a:p>
          <a:pPr marL="228600" lvl="1" indent="-228600" algn="l" defTabSz="1066800">
            <a:lnSpc>
              <a:spcPct val="90000"/>
            </a:lnSpc>
            <a:spcBef>
              <a:spcPct val="0"/>
            </a:spcBef>
            <a:spcAft>
              <a:spcPct val="15000"/>
            </a:spcAft>
            <a:buChar char="•"/>
          </a:pPr>
          <a:r>
            <a:rPr lang="es-ES" sz="2400" kern="1200"/>
            <a:t>X2: unidades de B que se venderán</a:t>
          </a:r>
          <a:endParaRPr lang="es-PE" sz="2400" kern="1200"/>
        </a:p>
      </dsp:txBody>
      <dsp:txXfrm rot="-5400000">
        <a:off x="5570708" y="211945"/>
        <a:ext cx="5098138" cy="1088459"/>
      </dsp:txXfrm>
    </dsp:sp>
    <dsp:sp modelId="{766ACA92-5D1F-437F-989F-0E43C028AB16}">
      <dsp:nvSpPr>
        <dsp:cNvPr id="0" name=""/>
        <dsp:cNvSpPr/>
      </dsp:nvSpPr>
      <dsp:spPr>
        <a:xfrm>
          <a:off x="399" y="2284"/>
          <a:ext cx="5570308" cy="150778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s-ES" sz="2400" kern="1200" dirty="0"/>
            <a:t>El artículo A tiene un precio de 15 soles y B un precio de 17 soles, si queremos maximizar ingresos, la función lineal será:</a:t>
          </a:r>
          <a:endParaRPr lang="es-PE" sz="2400" kern="1200" dirty="0"/>
        </a:p>
      </dsp:txBody>
      <dsp:txXfrm>
        <a:off x="74003" y="75888"/>
        <a:ext cx="5423100" cy="1360573"/>
      </dsp:txXfrm>
    </dsp:sp>
    <dsp:sp modelId="{A00D8BD7-6229-497B-85C9-A7DC779AF5F3}">
      <dsp:nvSpPr>
        <dsp:cNvPr id="0" name=""/>
        <dsp:cNvSpPr/>
      </dsp:nvSpPr>
      <dsp:spPr>
        <a:xfrm rot="5400000">
          <a:off x="7564565" y="-222399"/>
          <a:ext cx="1206225" cy="512349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dirty="0" err="1"/>
            <a:t>2X1</a:t>
          </a:r>
          <a:r>
            <a:rPr lang="es-MX" sz="2400" kern="1200" dirty="0"/>
            <a:t> + </a:t>
          </a:r>
          <a:r>
            <a:rPr lang="es-MX" sz="2400" kern="1200" dirty="0" err="1"/>
            <a:t>3x2</a:t>
          </a:r>
          <a:r>
            <a:rPr lang="es-MX" sz="2400" kern="1200" dirty="0"/>
            <a:t>  &lt;= 132 </a:t>
          </a:r>
          <a:endParaRPr lang="es-PE" sz="2400" kern="1200" dirty="0"/>
        </a:p>
      </dsp:txBody>
      <dsp:txXfrm rot="-5400000">
        <a:off x="5605933" y="1795116"/>
        <a:ext cx="5064607" cy="1088459"/>
      </dsp:txXfrm>
    </dsp:sp>
    <dsp:sp modelId="{AC96DA6F-09F2-4CA7-8193-9164AE7D7311}">
      <dsp:nvSpPr>
        <dsp:cNvPr id="0" name=""/>
        <dsp:cNvSpPr/>
      </dsp:nvSpPr>
      <dsp:spPr>
        <a:xfrm>
          <a:off x="9057" y="1548348"/>
          <a:ext cx="5605534" cy="150778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s-MX" sz="2400" kern="1200"/>
            <a:t>Una unidad de A requiere de 2 horas, una unidad de B requiere 3 horas y la disponibilidad es de 132 horas.</a:t>
          </a:r>
          <a:endParaRPr lang="es-PE" sz="2400" kern="1200"/>
        </a:p>
      </dsp:txBody>
      <dsp:txXfrm>
        <a:off x="82661" y="1621952"/>
        <a:ext cx="5458326" cy="1360573"/>
      </dsp:txXfrm>
    </dsp:sp>
    <dsp:sp modelId="{978A72DB-E299-4B22-9247-924A61EE9025}">
      <dsp:nvSpPr>
        <dsp:cNvPr id="0" name=""/>
        <dsp:cNvSpPr/>
      </dsp:nvSpPr>
      <dsp:spPr>
        <a:xfrm rot="5400000">
          <a:off x="7578970" y="1380889"/>
          <a:ext cx="1206225" cy="508325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a:t>Xj: unidades del producto j que se puede producir, donde j=1,2,3,4</a:t>
          </a:r>
          <a:endParaRPr lang="es-PE" sz="2400" kern="1200"/>
        </a:p>
        <a:p>
          <a:pPr marL="228600" lvl="1" indent="-228600" algn="l" defTabSz="1066800">
            <a:lnSpc>
              <a:spcPct val="90000"/>
            </a:lnSpc>
            <a:spcBef>
              <a:spcPct val="0"/>
            </a:spcBef>
            <a:spcAft>
              <a:spcPct val="15000"/>
            </a:spcAft>
            <a:buChar char="•"/>
          </a:pPr>
          <a:r>
            <a:rPr lang="es-MX" sz="2400" kern="1200"/>
            <a:t>X1 + X2 = X3 + X4</a:t>
          </a:r>
          <a:endParaRPr lang="es-PE" sz="2400" kern="1200"/>
        </a:p>
      </dsp:txBody>
      <dsp:txXfrm rot="-5400000">
        <a:off x="5640457" y="3378286"/>
        <a:ext cx="5024370" cy="1088459"/>
      </dsp:txXfrm>
    </dsp:sp>
    <dsp:sp modelId="{F69EEBD8-6DB3-417B-B735-094580724A03}">
      <dsp:nvSpPr>
        <dsp:cNvPr id="0" name=""/>
        <dsp:cNvSpPr/>
      </dsp:nvSpPr>
      <dsp:spPr>
        <a:xfrm>
          <a:off x="399" y="3168625"/>
          <a:ext cx="5640057" cy="150778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s-MX" sz="2400" kern="1200" dirty="0"/>
            <a:t>Una empresa puede producir 4 tipos de productos. La producción entre los productos 1 y 2 debe ser igual a la producción entre los productos 3 y 4.</a:t>
          </a:r>
          <a:endParaRPr lang="es-PE" sz="2400" kern="1200" dirty="0"/>
        </a:p>
      </dsp:txBody>
      <dsp:txXfrm>
        <a:off x="74003" y="3242229"/>
        <a:ext cx="5492849" cy="136057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E61997-91ED-4071-8F1F-22B59D3504B3}">
      <dsp:nvSpPr>
        <dsp:cNvPr id="0" name=""/>
        <dsp:cNvSpPr/>
      </dsp:nvSpPr>
      <dsp:spPr>
        <a:xfrm rot="5400000">
          <a:off x="6213282" y="-2231528"/>
          <a:ext cx="2414320" cy="698394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dirty="0"/>
            <a:t>Xi: el monto a invertir en acciones tipo i </a:t>
          </a:r>
          <a:endParaRPr lang="es-PE" sz="2400" kern="1200" dirty="0"/>
        </a:p>
        <a:p>
          <a:pPr marL="228600" lvl="1" indent="-228600" algn="l" defTabSz="1066800">
            <a:lnSpc>
              <a:spcPct val="90000"/>
            </a:lnSpc>
            <a:spcBef>
              <a:spcPct val="0"/>
            </a:spcBef>
            <a:spcAft>
              <a:spcPct val="15000"/>
            </a:spcAft>
            <a:buChar char="•"/>
          </a:pPr>
          <a:r>
            <a:rPr lang="es-MX" sz="2400" kern="1200" dirty="0" err="1"/>
            <a:t>X1</a:t>
          </a:r>
          <a:r>
            <a:rPr lang="es-MX" sz="2400" kern="1200" dirty="0"/>
            <a:t> + </a:t>
          </a:r>
          <a:r>
            <a:rPr lang="es-MX" sz="2400" kern="1200" dirty="0" err="1"/>
            <a:t>X2</a:t>
          </a:r>
          <a:r>
            <a:rPr lang="es-MX" sz="2400" kern="1200" dirty="0"/>
            <a:t> + </a:t>
          </a:r>
          <a:r>
            <a:rPr lang="es-MX" sz="2400" kern="1200" dirty="0" err="1"/>
            <a:t>X3</a:t>
          </a:r>
          <a:r>
            <a:rPr lang="es-MX" sz="2400" kern="1200" dirty="0"/>
            <a:t> &lt;=2000  , disponibilidad para invertir</a:t>
          </a:r>
          <a:endParaRPr lang="es-PE" sz="2400" kern="1200" dirty="0"/>
        </a:p>
        <a:p>
          <a:pPr marL="228600" lvl="1" indent="-228600" algn="l" defTabSz="1066800">
            <a:lnSpc>
              <a:spcPct val="90000"/>
            </a:lnSpc>
            <a:spcBef>
              <a:spcPct val="0"/>
            </a:spcBef>
            <a:spcAft>
              <a:spcPct val="15000"/>
            </a:spcAft>
            <a:buChar char="•"/>
          </a:pPr>
          <a:r>
            <a:rPr lang="es-MX" sz="2400" kern="1200" dirty="0" err="1"/>
            <a:t>X1</a:t>
          </a:r>
          <a:r>
            <a:rPr lang="es-MX" sz="2400" kern="1200" dirty="0"/>
            <a:t> &gt;= 0.20*2000     , inversión mínima tipo A</a:t>
          </a:r>
          <a:endParaRPr lang="es-PE" sz="2400" kern="1200" dirty="0"/>
        </a:p>
        <a:p>
          <a:pPr marL="228600" lvl="1" indent="-228600" algn="l" defTabSz="1066800">
            <a:lnSpc>
              <a:spcPct val="90000"/>
            </a:lnSpc>
            <a:spcBef>
              <a:spcPct val="0"/>
            </a:spcBef>
            <a:spcAft>
              <a:spcPct val="15000"/>
            </a:spcAft>
            <a:buChar char="•"/>
          </a:pPr>
          <a:r>
            <a:rPr lang="es-MX" sz="2400" kern="1200" dirty="0" err="1"/>
            <a:t>X2</a:t>
          </a:r>
          <a:r>
            <a:rPr lang="es-MX" sz="2400" kern="1200" dirty="0"/>
            <a:t> &gt;= 0.20*2000     , inversión mínima tipo B</a:t>
          </a:r>
          <a:endParaRPr lang="es-PE" sz="2400" kern="1200" dirty="0"/>
        </a:p>
        <a:p>
          <a:pPr marL="228600" lvl="1" indent="-228600" algn="l" defTabSz="1066800">
            <a:lnSpc>
              <a:spcPct val="90000"/>
            </a:lnSpc>
            <a:spcBef>
              <a:spcPct val="0"/>
            </a:spcBef>
            <a:spcAft>
              <a:spcPct val="15000"/>
            </a:spcAft>
            <a:buChar char="•"/>
          </a:pPr>
          <a:r>
            <a:rPr lang="es-MX" sz="2400" kern="1200" dirty="0" err="1"/>
            <a:t>X3</a:t>
          </a:r>
          <a:r>
            <a:rPr lang="es-MX" sz="2400" kern="1200" dirty="0"/>
            <a:t> &gt;= 0.20*2000     , inversión mínima tipo C</a:t>
          </a:r>
          <a:endParaRPr lang="es-PE" sz="2400" kern="1200" dirty="0"/>
        </a:p>
      </dsp:txBody>
      <dsp:txXfrm rot="-5400000">
        <a:off x="3928470" y="171141"/>
        <a:ext cx="6866088" cy="2178606"/>
      </dsp:txXfrm>
    </dsp:sp>
    <dsp:sp modelId="{51D38ED5-CB09-4604-834A-4C733E484BBC}">
      <dsp:nvSpPr>
        <dsp:cNvPr id="0" name=""/>
        <dsp:cNvSpPr/>
      </dsp:nvSpPr>
      <dsp:spPr>
        <a:xfrm>
          <a:off x="0" y="1860"/>
          <a:ext cx="3928469" cy="25171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MX" sz="2400" kern="1200" dirty="0"/>
            <a:t>Podemos invertir en acciones tipo A , tipo B y tipo C. La disponibilidad para invertir es  $ 2000  y para cada tipo su inversión debe ser como mínimo el 20% del dinero disponible.</a:t>
          </a:r>
          <a:endParaRPr lang="es-PE" sz="2400" kern="1200" dirty="0"/>
        </a:p>
      </dsp:txBody>
      <dsp:txXfrm>
        <a:off x="122878" y="124738"/>
        <a:ext cx="3682713" cy="2271412"/>
      </dsp:txXfrm>
    </dsp:sp>
    <dsp:sp modelId="{111C3BF7-96C5-410A-9514-ECC5536677E2}">
      <dsp:nvSpPr>
        <dsp:cNvPr id="0" name=""/>
        <dsp:cNvSpPr/>
      </dsp:nvSpPr>
      <dsp:spPr>
        <a:xfrm rot="5400000">
          <a:off x="6702499" y="-77418"/>
          <a:ext cx="1435884" cy="698394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a:t>La solución para invertir en acciones tipo A, B y C la suma de las tres decisiones deben sumar 200,000 dólares. A: 100000, B=60000 y C=40000</a:t>
          </a:r>
          <a:endParaRPr lang="es-PE" sz="2400" kern="1200"/>
        </a:p>
      </dsp:txBody>
      <dsp:txXfrm rot="-5400000">
        <a:off x="3928469" y="2766706"/>
        <a:ext cx="6913851" cy="1295696"/>
      </dsp:txXfrm>
    </dsp:sp>
    <dsp:sp modelId="{6F72F4DA-E2C7-4E69-9C47-EEAF93F72C99}">
      <dsp:nvSpPr>
        <dsp:cNvPr id="0" name=""/>
        <dsp:cNvSpPr/>
      </dsp:nvSpPr>
      <dsp:spPr>
        <a:xfrm>
          <a:off x="0" y="2677618"/>
          <a:ext cx="3928469" cy="14738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MX" sz="2400" kern="1200"/>
            <a:t>A las restricciones =, se les llama restricciones obligatorias.</a:t>
          </a:r>
          <a:endParaRPr lang="es-PE" sz="2400" kern="1200"/>
        </a:p>
      </dsp:txBody>
      <dsp:txXfrm>
        <a:off x="71948" y="2749566"/>
        <a:ext cx="3784573" cy="132997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339DA5-D10B-4F2B-BD95-6CF891C22B2D}">
      <dsp:nvSpPr>
        <dsp:cNvPr id="0" name=""/>
        <dsp:cNvSpPr/>
      </dsp:nvSpPr>
      <dsp:spPr>
        <a:xfrm rot="5400000">
          <a:off x="6284698" y="-3376405"/>
          <a:ext cx="1825926" cy="8716757"/>
        </a:xfrm>
        <a:prstGeom prst="round2Same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MX" sz="2800" kern="1200" dirty="0">
              <a:solidFill>
                <a:prstClr val="black">
                  <a:hueOff val="0"/>
                  <a:satOff val="0"/>
                  <a:lumOff val="0"/>
                  <a:alphaOff val="0"/>
                </a:prstClr>
              </a:solidFill>
              <a:latin typeface="Calibri" panose="020F0502020204030204"/>
              <a:ea typeface="+mn-ea"/>
              <a:cs typeface="+mn-cs"/>
            </a:rPr>
            <a:t>Representan</a:t>
          </a:r>
          <a:r>
            <a:rPr lang="es-MX" sz="2800" kern="1200" dirty="0"/>
            <a:t> a los niveles de actividad. </a:t>
          </a:r>
          <a:endParaRPr lang="es-PE" sz="2800" kern="1200" dirty="0"/>
        </a:p>
        <a:p>
          <a:pPr marL="285750" lvl="1" indent="-285750" algn="l" defTabSz="1244600">
            <a:lnSpc>
              <a:spcPct val="90000"/>
            </a:lnSpc>
            <a:spcBef>
              <a:spcPct val="0"/>
            </a:spcBef>
            <a:spcAft>
              <a:spcPct val="15000"/>
            </a:spcAft>
            <a:buChar char="•"/>
          </a:pPr>
          <a:r>
            <a:rPr lang="es-MX" sz="2800" kern="1200" dirty="0"/>
            <a:t>Son los valores no conocidos del sistema y deben ser representados por variables.</a:t>
          </a:r>
          <a:endParaRPr lang="es-PE" sz="2800" kern="1200" dirty="0"/>
        </a:p>
      </dsp:txBody>
      <dsp:txXfrm rot="-5400000">
        <a:off x="2839283" y="158144"/>
        <a:ext cx="8627623" cy="1647658"/>
      </dsp:txXfrm>
    </dsp:sp>
    <dsp:sp modelId="{791089C8-73D0-4A9D-8A9E-2DA867125EDB}">
      <dsp:nvSpPr>
        <dsp:cNvPr id="0" name=""/>
        <dsp:cNvSpPr/>
      </dsp:nvSpPr>
      <dsp:spPr>
        <a:xfrm>
          <a:off x="235" y="66137"/>
          <a:ext cx="2839047" cy="1831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MX" sz="2800" kern="1200" dirty="0"/>
            <a:t>Variables de decisión</a:t>
          </a:r>
          <a:endParaRPr lang="es-PE" sz="2800" kern="1200" dirty="0"/>
        </a:p>
      </dsp:txBody>
      <dsp:txXfrm>
        <a:off x="89650" y="155552"/>
        <a:ext cx="2660217" cy="165284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FBA285-D477-4FD1-93AB-975813E0945E}">
      <dsp:nvSpPr>
        <dsp:cNvPr id="0" name=""/>
        <dsp:cNvSpPr/>
      </dsp:nvSpPr>
      <dsp:spPr>
        <a:xfrm rot="5400000">
          <a:off x="6241123" y="-3106894"/>
          <a:ext cx="1895618" cy="8734684"/>
        </a:xfrm>
        <a:prstGeom prst="round2Same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MX" sz="2800" kern="1200" dirty="0"/>
            <a:t>Son los valores conocidos</a:t>
          </a:r>
          <a:endParaRPr lang="es-PE" sz="2800" kern="1200" dirty="0"/>
        </a:p>
        <a:p>
          <a:pPr marL="285750" lvl="1" indent="-285750" algn="l" defTabSz="1244600">
            <a:lnSpc>
              <a:spcPct val="90000"/>
            </a:lnSpc>
            <a:spcBef>
              <a:spcPct val="0"/>
            </a:spcBef>
            <a:spcAft>
              <a:spcPct val="15000"/>
            </a:spcAft>
            <a:buChar char="•"/>
          </a:pPr>
          <a:r>
            <a:rPr lang="es-MX" altLang="es-PE" sz="2800" kern="1200" dirty="0"/>
            <a:t>Son valores determinísticos (Se conocen a priori)</a:t>
          </a:r>
          <a:endParaRPr lang="es-PE" sz="2800" kern="1200" dirty="0"/>
        </a:p>
        <a:p>
          <a:pPr marL="285750" lvl="1" indent="-285750" algn="l" defTabSz="1244600">
            <a:lnSpc>
              <a:spcPct val="90000"/>
            </a:lnSpc>
            <a:spcBef>
              <a:spcPct val="0"/>
            </a:spcBef>
            <a:spcAft>
              <a:spcPct val="15000"/>
            </a:spcAft>
            <a:buChar char="•"/>
          </a:pPr>
          <a:r>
            <a:rPr lang="es-MX" altLang="es-PE" sz="2800" kern="1200" dirty="0"/>
            <a:t>Son necesarios para ejecutar el modelo lineal y encontrar una solución óptima en base a esos valores.</a:t>
          </a:r>
        </a:p>
      </dsp:txBody>
      <dsp:txXfrm rot="-5400000">
        <a:off x="2821590" y="405175"/>
        <a:ext cx="8642148" cy="1710546"/>
      </dsp:txXfrm>
    </dsp:sp>
    <dsp:sp modelId="{D2101BE9-2D7F-4C2A-B550-849BBDAADF5F}">
      <dsp:nvSpPr>
        <dsp:cNvPr id="0" name=""/>
        <dsp:cNvSpPr/>
      </dsp:nvSpPr>
      <dsp:spPr>
        <a:xfrm>
          <a:off x="1140" y="251145"/>
          <a:ext cx="2819309" cy="2048985"/>
        </a:xfrm>
        <a:prstGeom prst="roundRect">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244600">
            <a:lnSpc>
              <a:spcPct val="90000"/>
            </a:lnSpc>
            <a:spcBef>
              <a:spcPct val="0"/>
            </a:spcBef>
            <a:spcAft>
              <a:spcPct val="35000"/>
            </a:spcAft>
            <a:buNone/>
          </a:pPr>
          <a:r>
            <a:rPr lang="es-MX" sz="2800" kern="1200" dirty="0">
              <a:solidFill>
                <a:prstClr val="white"/>
              </a:solidFill>
              <a:latin typeface="Calibri" panose="020F0502020204030204"/>
              <a:ea typeface="+mn-ea"/>
              <a:cs typeface="+mn-cs"/>
            </a:rPr>
            <a:t>Datos</a:t>
          </a:r>
          <a:endParaRPr lang="es-PE" sz="2800" kern="1200" dirty="0">
            <a:solidFill>
              <a:prstClr val="white"/>
            </a:solidFill>
            <a:latin typeface="Calibri" panose="020F0502020204030204"/>
            <a:ea typeface="+mn-ea"/>
            <a:cs typeface="+mn-cs"/>
          </a:endParaRPr>
        </a:p>
      </dsp:txBody>
      <dsp:txXfrm>
        <a:off x="101163" y="351168"/>
        <a:ext cx="2619263" cy="184893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21D49D-08E4-482B-B110-F958D9543CDC}">
      <dsp:nvSpPr>
        <dsp:cNvPr id="0" name=""/>
        <dsp:cNvSpPr/>
      </dsp:nvSpPr>
      <dsp:spPr>
        <a:xfrm rot="5400000">
          <a:off x="6556639" y="-2934787"/>
          <a:ext cx="953307" cy="685696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s-ES" sz="2000" b="1" kern="1200"/>
            <a:t>Se conocen con certeza los datos y no cambian durante el periodo que se está estudiando.</a:t>
          </a:r>
          <a:endParaRPr lang="es-PE" sz="2000" b="1" kern="1200"/>
        </a:p>
      </dsp:txBody>
      <dsp:txXfrm rot="-5400000">
        <a:off x="3604811" y="63578"/>
        <a:ext cx="6810427" cy="860233"/>
      </dsp:txXfrm>
    </dsp:sp>
    <dsp:sp modelId="{644DBE01-3D17-4BE2-A0C4-E496A02F9FB8}">
      <dsp:nvSpPr>
        <dsp:cNvPr id="0" name=""/>
        <dsp:cNvSpPr/>
      </dsp:nvSpPr>
      <dsp:spPr>
        <a:xfrm>
          <a:off x="163905" y="2469"/>
          <a:ext cx="3440906" cy="982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kern="1200"/>
            <a:t>Certeza</a:t>
          </a:r>
          <a:endParaRPr lang="es-PE" sz="3100" b="1" kern="1200"/>
        </a:p>
      </dsp:txBody>
      <dsp:txXfrm>
        <a:off x="211864" y="50428"/>
        <a:ext cx="3344988" cy="886532"/>
      </dsp:txXfrm>
    </dsp:sp>
    <dsp:sp modelId="{35B10693-A100-4F43-9A1B-1229ED3C6EFC}">
      <dsp:nvSpPr>
        <dsp:cNvPr id="0" name=""/>
        <dsp:cNvSpPr/>
      </dsp:nvSpPr>
      <dsp:spPr>
        <a:xfrm rot="5400000">
          <a:off x="6548041" y="-1903214"/>
          <a:ext cx="970504" cy="6856964"/>
        </a:xfrm>
        <a:prstGeom prst="round2Same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28600" lvl="1" indent="-228600" algn="l" defTabSz="889000">
            <a:lnSpc>
              <a:spcPct val="90000"/>
            </a:lnSpc>
            <a:spcBef>
              <a:spcPct val="0"/>
            </a:spcBef>
            <a:spcAft>
              <a:spcPct val="15000"/>
            </a:spcAft>
            <a:buChar char="•"/>
          </a:pPr>
          <a:r>
            <a:rPr lang="es-ES" sz="2000" b="1" kern="1200" dirty="0">
              <a:solidFill>
                <a:prstClr val="black">
                  <a:hueOff val="0"/>
                  <a:satOff val="0"/>
                  <a:lumOff val="0"/>
                  <a:alphaOff val="0"/>
                </a:prstClr>
              </a:solidFill>
              <a:latin typeface="Calibri" panose="020F0502020204030204"/>
              <a:ea typeface="+mn-ea"/>
              <a:cs typeface="+mn-cs"/>
            </a:rPr>
            <a:t>Si la producción de una unidad requiere 4 horas, producir 20 unidades del ese producto requiere 80 horas.</a:t>
          </a:r>
          <a:endParaRPr lang="es-PE" sz="2000" b="1" kern="1200" dirty="0">
            <a:solidFill>
              <a:prstClr val="black">
                <a:hueOff val="0"/>
                <a:satOff val="0"/>
                <a:lumOff val="0"/>
                <a:alphaOff val="0"/>
              </a:prstClr>
            </a:solidFill>
            <a:latin typeface="Calibri" panose="020F0502020204030204"/>
            <a:ea typeface="+mn-ea"/>
            <a:cs typeface="+mn-cs"/>
          </a:endParaRPr>
        </a:p>
      </dsp:txBody>
      <dsp:txXfrm rot="-5400000">
        <a:off x="3604811" y="1087392"/>
        <a:ext cx="6809588" cy="875752"/>
      </dsp:txXfrm>
    </dsp:sp>
    <dsp:sp modelId="{FB50D0A5-9E55-4F65-805E-2FCF66BBB7CD}">
      <dsp:nvSpPr>
        <dsp:cNvPr id="0" name=""/>
        <dsp:cNvSpPr/>
      </dsp:nvSpPr>
      <dsp:spPr>
        <a:xfrm>
          <a:off x="163905" y="1034042"/>
          <a:ext cx="3440906" cy="982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kern="1200"/>
            <a:t>Proporcionalidad</a:t>
          </a:r>
          <a:endParaRPr lang="es-PE" sz="3100" b="1" kern="1200"/>
        </a:p>
      </dsp:txBody>
      <dsp:txXfrm>
        <a:off x="211864" y="1082001"/>
        <a:ext cx="3344988" cy="886532"/>
      </dsp:txXfrm>
    </dsp:sp>
    <dsp:sp modelId="{B84A2433-5393-41C9-A729-1F44916CDC56}">
      <dsp:nvSpPr>
        <dsp:cNvPr id="0" name=""/>
        <dsp:cNvSpPr/>
      </dsp:nvSpPr>
      <dsp:spPr>
        <a:xfrm rot="5400000">
          <a:off x="6609874" y="-871641"/>
          <a:ext cx="920045" cy="6856964"/>
        </a:xfrm>
        <a:prstGeom prst="round2Same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28600" lvl="1" indent="-228600" algn="l" defTabSz="889000">
            <a:lnSpc>
              <a:spcPct val="90000"/>
            </a:lnSpc>
            <a:spcBef>
              <a:spcPct val="0"/>
            </a:spcBef>
            <a:spcAft>
              <a:spcPct val="15000"/>
            </a:spcAft>
            <a:buChar char="•"/>
          </a:pPr>
          <a:r>
            <a:rPr lang="es-ES" sz="2000" b="1" kern="1200" dirty="0">
              <a:solidFill>
                <a:prstClr val="black">
                  <a:hueOff val="0"/>
                  <a:satOff val="0"/>
                  <a:lumOff val="0"/>
                  <a:alphaOff val="0"/>
                </a:prstClr>
              </a:solidFill>
              <a:latin typeface="Calibri" panose="020F0502020204030204"/>
              <a:ea typeface="+mn-ea"/>
              <a:cs typeface="+mn-cs"/>
            </a:rPr>
            <a:t>El total de todas las actividades es igual a la suma de las actividades individuales.</a:t>
          </a:r>
          <a:endParaRPr lang="es-PE" sz="2000" b="1" kern="1200" dirty="0">
            <a:solidFill>
              <a:prstClr val="black">
                <a:hueOff val="0"/>
                <a:satOff val="0"/>
                <a:lumOff val="0"/>
                <a:alphaOff val="0"/>
              </a:prstClr>
            </a:solidFill>
            <a:latin typeface="Calibri" panose="020F0502020204030204"/>
            <a:ea typeface="+mn-ea"/>
            <a:cs typeface="+mn-cs"/>
          </a:endParaRPr>
        </a:p>
      </dsp:txBody>
      <dsp:txXfrm rot="-5400000">
        <a:off x="3641415" y="2141731"/>
        <a:ext cx="6812051" cy="830219"/>
      </dsp:txXfrm>
    </dsp:sp>
    <dsp:sp modelId="{D67A6385-7033-40CC-B520-FBC3E64396C7}">
      <dsp:nvSpPr>
        <dsp:cNvPr id="0" name=""/>
        <dsp:cNvSpPr/>
      </dsp:nvSpPr>
      <dsp:spPr>
        <a:xfrm>
          <a:off x="163905" y="2065615"/>
          <a:ext cx="3477509" cy="982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kern="1200"/>
            <a:t>Aditividad</a:t>
          </a:r>
          <a:endParaRPr lang="es-PE" sz="3100" b="1" kern="1200"/>
        </a:p>
      </dsp:txBody>
      <dsp:txXfrm>
        <a:off x="211864" y="2113574"/>
        <a:ext cx="3381591" cy="886532"/>
      </dsp:txXfrm>
    </dsp:sp>
    <dsp:sp modelId="{E2007E24-4EDE-40FB-8499-4A8B839C24CC}">
      <dsp:nvSpPr>
        <dsp:cNvPr id="0" name=""/>
        <dsp:cNvSpPr/>
      </dsp:nvSpPr>
      <dsp:spPr>
        <a:xfrm rot="5400000">
          <a:off x="6445046" y="310819"/>
          <a:ext cx="1236135" cy="6850268"/>
        </a:xfrm>
        <a:prstGeom prst="round2Same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28600" lvl="1" indent="-228600" algn="l" defTabSz="889000">
            <a:lnSpc>
              <a:spcPct val="90000"/>
            </a:lnSpc>
            <a:spcBef>
              <a:spcPct val="0"/>
            </a:spcBef>
            <a:spcAft>
              <a:spcPct val="15000"/>
            </a:spcAft>
            <a:buChar char="•"/>
          </a:pPr>
          <a:r>
            <a:rPr lang="es-ES" sz="2000" b="1" kern="1200" dirty="0">
              <a:solidFill>
                <a:prstClr val="black">
                  <a:hueOff val="0"/>
                  <a:satOff val="0"/>
                  <a:lumOff val="0"/>
                  <a:alphaOff val="0"/>
                </a:prstClr>
              </a:solidFill>
              <a:latin typeface="Calibri" panose="020F0502020204030204"/>
              <a:ea typeface="+mn-ea"/>
              <a:cs typeface="+mn-cs"/>
            </a:rPr>
            <a:t>Las soluciones pueden tomar valor </a:t>
          </a:r>
          <a:r>
            <a:rPr lang="es-ES" sz="2000" b="1" kern="1200" dirty="0">
              <a:solidFill>
                <a:srgbClr val="FF0000"/>
              </a:solidFill>
              <a:latin typeface="Calibri" panose="020F0502020204030204"/>
              <a:ea typeface="+mn-ea"/>
              <a:cs typeface="+mn-cs"/>
            </a:rPr>
            <a:t>fraccionario</a:t>
          </a:r>
          <a:r>
            <a:rPr lang="es-ES" sz="2000" b="1" kern="1200" dirty="0">
              <a:solidFill>
                <a:prstClr val="black">
                  <a:hueOff val="0"/>
                  <a:satOff val="0"/>
                  <a:lumOff val="0"/>
                  <a:alphaOff val="0"/>
                </a:prstClr>
              </a:solidFill>
              <a:latin typeface="Calibri" panose="020F0502020204030204"/>
              <a:ea typeface="+mn-ea"/>
              <a:cs typeface="+mn-cs"/>
            </a:rPr>
            <a:t>. Ejemplo 210.6 sillas, esto significaría que tenemos trabajo en proceso. Cuando la fracción no tiene sentido, estamos frente a un problema de programación </a:t>
          </a:r>
          <a:r>
            <a:rPr lang="es-ES" sz="2000" b="1" kern="1200" dirty="0">
              <a:solidFill>
                <a:srgbClr val="FF0000"/>
              </a:solidFill>
              <a:latin typeface="Calibri" panose="020F0502020204030204"/>
              <a:ea typeface="+mn-ea"/>
              <a:cs typeface="+mn-cs"/>
            </a:rPr>
            <a:t>entera</a:t>
          </a:r>
          <a:r>
            <a:rPr lang="es-ES" sz="2000" b="1" kern="1200" dirty="0">
              <a:solidFill>
                <a:prstClr val="black">
                  <a:hueOff val="0"/>
                  <a:satOff val="0"/>
                  <a:lumOff val="0"/>
                  <a:alphaOff val="0"/>
                </a:prstClr>
              </a:solidFill>
              <a:latin typeface="Calibri" panose="020F0502020204030204"/>
              <a:ea typeface="+mn-ea"/>
              <a:cs typeface="+mn-cs"/>
            </a:rPr>
            <a:t>.</a:t>
          </a:r>
          <a:endParaRPr lang="es-PE" sz="2000" b="1" kern="1200" dirty="0">
            <a:solidFill>
              <a:prstClr val="black">
                <a:hueOff val="0"/>
                <a:satOff val="0"/>
                <a:lumOff val="0"/>
                <a:alphaOff val="0"/>
              </a:prstClr>
            </a:solidFill>
            <a:latin typeface="Calibri" panose="020F0502020204030204"/>
            <a:ea typeface="+mn-ea"/>
            <a:cs typeface="+mn-cs"/>
          </a:endParaRPr>
        </a:p>
      </dsp:txBody>
      <dsp:txXfrm rot="-5400000">
        <a:off x="3637980" y="3178229"/>
        <a:ext cx="6789925" cy="1115449"/>
      </dsp:txXfrm>
    </dsp:sp>
    <dsp:sp modelId="{14F306CE-7A9E-4225-A357-ADF4AB1CAA6A}">
      <dsp:nvSpPr>
        <dsp:cNvPr id="0" name=""/>
        <dsp:cNvSpPr/>
      </dsp:nvSpPr>
      <dsp:spPr>
        <a:xfrm>
          <a:off x="163905" y="3097188"/>
          <a:ext cx="3474074" cy="12775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kern="1200"/>
            <a:t>Divisibilidad</a:t>
          </a:r>
          <a:endParaRPr lang="es-PE" sz="3100" b="1" kern="1200"/>
        </a:p>
      </dsp:txBody>
      <dsp:txXfrm>
        <a:off x="226269" y="3159552"/>
        <a:ext cx="3349346" cy="1152801"/>
      </dsp:txXfrm>
    </dsp:sp>
    <dsp:sp modelId="{608D53D3-8AA1-4220-A8C0-2822B9CC436D}">
      <dsp:nvSpPr>
        <dsp:cNvPr id="0" name=""/>
        <dsp:cNvSpPr/>
      </dsp:nvSpPr>
      <dsp:spPr>
        <a:xfrm rot="5400000">
          <a:off x="6581879" y="1486584"/>
          <a:ext cx="922576" cy="685696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s-ES" sz="2000" b="1" kern="1200"/>
            <a:t>Los valores de todas las variables deben ser no negativas. Los valores negativos de cantidades físicas son imposibles, no podemos producir -3 sillas.</a:t>
          </a:r>
          <a:endParaRPr lang="es-PE" sz="2000" b="1" kern="1200"/>
        </a:p>
      </dsp:txBody>
      <dsp:txXfrm rot="-5400000">
        <a:off x="3614685" y="4498814"/>
        <a:ext cx="6811928" cy="832504"/>
      </dsp:txXfrm>
    </dsp:sp>
    <dsp:sp modelId="{618B31DD-216A-4F13-B909-C9B6B4741D72}">
      <dsp:nvSpPr>
        <dsp:cNvPr id="0" name=""/>
        <dsp:cNvSpPr/>
      </dsp:nvSpPr>
      <dsp:spPr>
        <a:xfrm>
          <a:off x="163905" y="4423841"/>
          <a:ext cx="3529232" cy="982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kern="1200"/>
            <a:t>No negatividad</a:t>
          </a:r>
          <a:endParaRPr lang="es-PE" sz="3100" b="1" kern="1200"/>
        </a:p>
      </dsp:txBody>
      <dsp:txXfrm>
        <a:off x="211864" y="4471800"/>
        <a:ext cx="3433314" cy="88653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439980-D90D-4A09-96B1-AC69C9C9588E}">
      <dsp:nvSpPr>
        <dsp:cNvPr id="0" name=""/>
        <dsp:cNvSpPr/>
      </dsp:nvSpPr>
      <dsp:spPr>
        <a:xfrm rot="5400000">
          <a:off x="7608128" y="-1857234"/>
          <a:ext cx="1771332" cy="593079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a:t>Utilidad, utilidad por unidad de la variable de decisión.</a:t>
          </a:r>
          <a:endParaRPr lang="es-PE" sz="2400" kern="1200"/>
        </a:p>
        <a:p>
          <a:pPr marL="228600" lvl="1" indent="-228600" algn="l" defTabSz="1066800">
            <a:lnSpc>
              <a:spcPct val="90000"/>
            </a:lnSpc>
            <a:spcBef>
              <a:spcPct val="0"/>
            </a:spcBef>
            <a:spcAft>
              <a:spcPct val="15000"/>
            </a:spcAft>
            <a:buChar char="•"/>
          </a:pPr>
          <a:r>
            <a:rPr lang="es-MX" sz="2400" kern="1200" dirty="0"/>
            <a:t>Costo, costo por unidad de la variable de decisión.</a:t>
          </a:r>
          <a:endParaRPr lang="es-PE" sz="2400" kern="1200" dirty="0"/>
        </a:p>
      </dsp:txBody>
      <dsp:txXfrm rot="-5400000">
        <a:off x="5528396" y="308967"/>
        <a:ext cx="5844329" cy="1598394"/>
      </dsp:txXfrm>
    </dsp:sp>
    <dsp:sp modelId="{AD26C6CE-FD28-41DD-8967-BF6DB11FB20D}">
      <dsp:nvSpPr>
        <dsp:cNvPr id="0" name=""/>
        <dsp:cNvSpPr/>
      </dsp:nvSpPr>
      <dsp:spPr>
        <a:xfrm>
          <a:off x="1287" y="187027"/>
          <a:ext cx="5527107" cy="18422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MX" sz="2400" kern="1200"/>
            <a:t>Coeficientes de contribución, son los coeficientes de las variables de decisión en la </a:t>
          </a:r>
          <a:r>
            <a:rPr lang="es-MX" sz="2400" b="1" kern="1200"/>
            <a:t>función objetivo</a:t>
          </a:r>
          <a:r>
            <a:rPr lang="es-MX" sz="2400" kern="1200"/>
            <a:t>, que representan a un concepto. Pueden ser:</a:t>
          </a:r>
          <a:endParaRPr lang="es-PE" sz="2400" kern="1200"/>
        </a:p>
      </dsp:txBody>
      <dsp:txXfrm>
        <a:off x="91219" y="276959"/>
        <a:ext cx="5347243" cy="166241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4DA934-25DB-4E68-B29C-E4042A007D66}">
      <dsp:nvSpPr>
        <dsp:cNvPr id="0" name=""/>
        <dsp:cNvSpPr/>
      </dsp:nvSpPr>
      <dsp:spPr>
        <a:xfrm rot="5400000">
          <a:off x="5928413" y="-2367553"/>
          <a:ext cx="3214595" cy="802477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MX" sz="2400" kern="1200" dirty="0"/>
            <a:t>Ejemplo:</a:t>
          </a:r>
          <a:endParaRPr lang="es-PE" sz="2400" kern="1200" dirty="0"/>
        </a:p>
        <a:p>
          <a:pPr marL="228600" lvl="1" indent="-228600" algn="l" defTabSz="1066800">
            <a:lnSpc>
              <a:spcPct val="90000"/>
            </a:lnSpc>
            <a:spcBef>
              <a:spcPct val="0"/>
            </a:spcBef>
            <a:spcAft>
              <a:spcPct val="15000"/>
            </a:spcAft>
            <a:buChar char="•"/>
          </a:pPr>
          <a:r>
            <a:rPr lang="es-MX" sz="2400" kern="1200" dirty="0"/>
            <a:t>Una unidad de la variable i requiere 3 unidades de materia prima, por lo tanto Xi requiere: </a:t>
          </a:r>
          <a:r>
            <a:rPr lang="es-MX" sz="2400" kern="1200" dirty="0" err="1"/>
            <a:t>3Xi</a:t>
          </a:r>
          <a:r>
            <a:rPr lang="es-MX" sz="2400" kern="1200" dirty="0"/>
            <a:t> unidades de materia prima.</a:t>
          </a:r>
          <a:endParaRPr lang="es-PE" sz="2400" kern="1200" dirty="0"/>
        </a:p>
        <a:p>
          <a:pPr marL="228600" lvl="1" indent="-228600" algn="l" defTabSz="1066800">
            <a:lnSpc>
              <a:spcPct val="90000"/>
            </a:lnSpc>
            <a:spcBef>
              <a:spcPct val="0"/>
            </a:spcBef>
            <a:spcAft>
              <a:spcPct val="15000"/>
            </a:spcAft>
            <a:buChar char="•"/>
          </a:pPr>
          <a:r>
            <a:rPr lang="es-MX" sz="2400" kern="1200" dirty="0"/>
            <a:t>Para producir una unidad del producto j se requiere 2 horas de producción, </a:t>
          </a:r>
          <a:r>
            <a:rPr lang="es-MX" sz="2400" kern="1200" dirty="0" err="1"/>
            <a:t>Xj</a:t>
          </a:r>
          <a:r>
            <a:rPr lang="es-MX" sz="2400" kern="1200" dirty="0"/>
            <a:t> unidades requiere: </a:t>
          </a:r>
          <a:r>
            <a:rPr lang="es-MX" sz="2400" kern="1200" dirty="0" err="1"/>
            <a:t>2Xj</a:t>
          </a:r>
          <a:r>
            <a:rPr lang="es-MX" sz="2400" kern="1200" dirty="0"/>
            <a:t> horas de producción.</a:t>
          </a:r>
          <a:endParaRPr lang="es-PE" sz="2400" kern="1200" dirty="0"/>
        </a:p>
        <a:p>
          <a:pPr marL="228600" lvl="1" indent="-228600" algn="l" defTabSz="1066800">
            <a:lnSpc>
              <a:spcPct val="90000"/>
            </a:lnSpc>
            <a:spcBef>
              <a:spcPct val="0"/>
            </a:spcBef>
            <a:spcAft>
              <a:spcPct val="15000"/>
            </a:spcAft>
            <a:buChar char="•"/>
          </a:pPr>
          <a:r>
            <a:rPr lang="es-MX" sz="2400" kern="1200"/>
            <a:t>Comprar una acción tipo k requiere de 200 dólares, por lo tanto comprar Xk acciones requiere: 200Xk dólares.</a:t>
          </a:r>
          <a:endParaRPr lang="es-PE" sz="2400" kern="1200"/>
        </a:p>
      </dsp:txBody>
      <dsp:txXfrm rot="-5400000">
        <a:off x="3523326" y="194458"/>
        <a:ext cx="7867846" cy="2900747"/>
      </dsp:txXfrm>
    </dsp:sp>
    <dsp:sp modelId="{9BEC1507-262B-4319-8881-0C689D03A9A0}">
      <dsp:nvSpPr>
        <dsp:cNvPr id="0" name=""/>
        <dsp:cNvSpPr/>
      </dsp:nvSpPr>
      <dsp:spPr>
        <a:xfrm>
          <a:off x="52254" y="1606"/>
          <a:ext cx="3471070" cy="3286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MX" sz="2400" kern="1200"/>
            <a:t>Coeficientes técnicos, son los coeficientes de la variables de decisión en las </a:t>
          </a:r>
          <a:r>
            <a:rPr lang="es-MX" sz="2400" b="1" kern="1200"/>
            <a:t>restricciones</a:t>
          </a:r>
          <a:r>
            <a:rPr lang="es-MX" sz="2400" kern="1200"/>
            <a:t>, que determinan el requerimiento por unidad. </a:t>
          </a:r>
          <a:endParaRPr lang="es-PE" sz="2400" kern="1200" dirty="0"/>
        </a:p>
      </dsp:txBody>
      <dsp:txXfrm>
        <a:off x="212685" y="162037"/>
        <a:ext cx="3150208" cy="296558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E2B29E-67E0-47AE-B888-41E56400E4DE}">
      <dsp:nvSpPr>
        <dsp:cNvPr id="0" name=""/>
        <dsp:cNvSpPr/>
      </dsp:nvSpPr>
      <dsp:spPr>
        <a:xfrm rot="5400000">
          <a:off x="5103674" y="-1322315"/>
          <a:ext cx="4058671" cy="671342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MX" sz="2800" kern="1200" dirty="0"/>
            <a:t>Ejemplo:</a:t>
          </a:r>
          <a:endParaRPr lang="es-PE" sz="2800" kern="1200" dirty="0"/>
        </a:p>
        <a:p>
          <a:pPr marL="285750" lvl="1" indent="-285750" algn="l" defTabSz="1244600">
            <a:lnSpc>
              <a:spcPct val="90000"/>
            </a:lnSpc>
            <a:spcBef>
              <a:spcPct val="0"/>
            </a:spcBef>
            <a:spcAft>
              <a:spcPct val="15000"/>
            </a:spcAft>
            <a:buChar char="•"/>
          </a:pPr>
          <a:r>
            <a:rPr lang="es-MX" sz="2800" kern="1200" dirty="0"/>
            <a:t>Se dispone de 2000 dólares para invertir en acciones, el costo es: 120 y 240 respectivamente. Entonces: </a:t>
          </a:r>
          <a:r>
            <a:rPr lang="es-MX" sz="2800" kern="1200" dirty="0" err="1"/>
            <a:t>120X1</a:t>
          </a:r>
          <a:r>
            <a:rPr lang="es-MX" sz="2800" kern="1200" dirty="0"/>
            <a:t> + </a:t>
          </a:r>
          <a:r>
            <a:rPr lang="es-MX" sz="2800" kern="1200" dirty="0" err="1"/>
            <a:t>240X2</a:t>
          </a:r>
          <a:r>
            <a:rPr lang="es-MX" sz="2800" kern="1200" dirty="0"/>
            <a:t> &lt;= 2000</a:t>
          </a:r>
          <a:endParaRPr lang="es-PE" sz="2800" kern="1200" dirty="0"/>
        </a:p>
        <a:p>
          <a:pPr marL="285750" lvl="1" indent="-285750" algn="l" defTabSz="1244600">
            <a:lnSpc>
              <a:spcPct val="90000"/>
            </a:lnSpc>
            <a:spcBef>
              <a:spcPct val="0"/>
            </a:spcBef>
            <a:spcAft>
              <a:spcPct val="15000"/>
            </a:spcAft>
            <a:buChar char="•"/>
          </a:pPr>
          <a:r>
            <a:rPr lang="es-MX" sz="2800" kern="1200" dirty="0"/>
            <a:t>La capacidad de producción es 8000 unidades, se puede producir 5 tipos de productos. Entonces:                   </a:t>
          </a:r>
          <a:r>
            <a:rPr lang="es-MX" sz="2800" kern="1200" dirty="0" err="1"/>
            <a:t>X1</a:t>
          </a:r>
          <a:r>
            <a:rPr lang="es-MX" sz="2800" kern="1200" dirty="0"/>
            <a:t> + </a:t>
          </a:r>
          <a:r>
            <a:rPr lang="es-MX" sz="2800" kern="1200" dirty="0" err="1"/>
            <a:t>X2</a:t>
          </a:r>
          <a:r>
            <a:rPr lang="es-MX" sz="2800" kern="1200" dirty="0"/>
            <a:t> + </a:t>
          </a:r>
          <a:r>
            <a:rPr lang="es-MX" sz="2800" kern="1200" dirty="0" err="1"/>
            <a:t>X3</a:t>
          </a:r>
          <a:r>
            <a:rPr lang="es-MX" sz="2800" kern="1200" dirty="0"/>
            <a:t> + </a:t>
          </a:r>
          <a:r>
            <a:rPr lang="es-MX" sz="2800" kern="1200" dirty="0" err="1"/>
            <a:t>X4</a:t>
          </a:r>
          <a:r>
            <a:rPr lang="es-MX" sz="2800" kern="1200" dirty="0"/>
            <a:t> + </a:t>
          </a:r>
          <a:r>
            <a:rPr lang="es-MX" sz="2800" kern="1200" dirty="0" err="1"/>
            <a:t>X5</a:t>
          </a:r>
          <a:r>
            <a:rPr lang="es-MX" sz="2800" kern="1200" dirty="0"/>
            <a:t> &lt;= 8000 </a:t>
          </a:r>
          <a:endParaRPr lang="es-PE" sz="2800" kern="1200" dirty="0"/>
        </a:p>
      </dsp:txBody>
      <dsp:txXfrm rot="-5400000">
        <a:off x="3776299" y="203188"/>
        <a:ext cx="6515293" cy="3662415"/>
      </dsp:txXfrm>
    </dsp:sp>
    <dsp:sp modelId="{333945CE-6D10-4773-A4D6-32C8CEB12E89}">
      <dsp:nvSpPr>
        <dsp:cNvPr id="0" name=""/>
        <dsp:cNvSpPr/>
      </dsp:nvSpPr>
      <dsp:spPr>
        <a:xfrm>
          <a:off x="0" y="3973"/>
          <a:ext cx="3776299" cy="40648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MX" sz="2800" kern="1200"/>
            <a:t>Disponibilidades b(i), es la </a:t>
          </a:r>
          <a:r>
            <a:rPr lang="es-MX" sz="2800" b="1" kern="1200"/>
            <a:t>disponibilidad</a:t>
          </a:r>
          <a:r>
            <a:rPr lang="es-MX" sz="2800" kern="1200"/>
            <a:t> de los recursos para elaborar la restricción correspondiente, limitan la decisión.</a:t>
          </a:r>
          <a:endParaRPr lang="es-PE" sz="2800" kern="1200"/>
        </a:p>
      </dsp:txBody>
      <dsp:txXfrm>
        <a:off x="184344" y="188317"/>
        <a:ext cx="3407611" cy="369612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398D00-108A-4A91-9C77-8D4DD483EF8A}">
      <dsp:nvSpPr>
        <dsp:cNvPr id="0" name=""/>
        <dsp:cNvSpPr/>
      </dsp:nvSpPr>
      <dsp:spPr>
        <a:xfrm>
          <a:off x="0" y="1921"/>
          <a:ext cx="8655668" cy="14950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kern="1200" dirty="0"/>
            <a:t>Burger King, es un restaurante que vende una gran variedad de hamburguesas. Se encuentra ubicado en la Av. Javier Prado y tiene entre sus variedades la Súper Burger King y a la Mega Burger King como las más preferidas por sus clientes. </a:t>
          </a:r>
        </a:p>
      </dsp:txBody>
      <dsp:txXfrm>
        <a:off x="72984" y="74905"/>
        <a:ext cx="8509700" cy="1349125"/>
      </dsp:txXfrm>
    </dsp:sp>
    <dsp:sp modelId="{55D1A51B-48B1-484F-8AF5-9D78A4AF23E4}">
      <dsp:nvSpPr>
        <dsp:cNvPr id="0" name=""/>
        <dsp:cNvSpPr/>
      </dsp:nvSpPr>
      <dsp:spPr>
        <a:xfrm>
          <a:off x="0" y="1507202"/>
          <a:ext cx="8655668" cy="1726331"/>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kern="1200" dirty="0"/>
            <a:t>La Súper Burger King utiliza en su preparación </a:t>
          </a:r>
          <a:r>
            <a:rPr lang="es-PE" sz="2400" kern="1200" dirty="0" err="1"/>
            <a:t>250gr</a:t>
          </a:r>
          <a:r>
            <a:rPr lang="es-PE" sz="2400" kern="1200" dirty="0"/>
            <a:t>. de carne molida, en tanto que la Mega Burger King </a:t>
          </a:r>
          <a:r>
            <a:rPr lang="es-PE" sz="2400" kern="1200" dirty="0" err="1"/>
            <a:t>350gr</a:t>
          </a:r>
          <a:r>
            <a:rPr lang="es-PE" sz="2400" kern="1200" dirty="0"/>
            <a:t>. El restaurante inicia el día con </a:t>
          </a:r>
          <a:r>
            <a:rPr lang="es-PE" sz="2400" kern="1200" dirty="0" err="1"/>
            <a:t>200kg</a:t>
          </a:r>
          <a:r>
            <a:rPr lang="es-PE" sz="2400" kern="1200" dirty="0"/>
            <a:t>. de carne destinada a la preparación de estos tipos de hamburguesas, pero puede ordenar más a un costo adicional de S/.6.00 por Kg. para cubrir los costos de entrega. </a:t>
          </a:r>
        </a:p>
      </dsp:txBody>
      <dsp:txXfrm>
        <a:off x="84273" y="1591475"/>
        <a:ext cx="8487122" cy="1557785"/>
      </dsp:txXfrm>
    </dsp:sp>
    <dsp:sp modelId="{96E1AB6F-B521-413C-9585-15271E773F13}">
      <dsp:nvSpPr>
        <dsp:cNvPr id="0" name=""/>
        <dsp:cNvSpPr/>
      </dsp:nvSpPr>
      <dsp:spPr>
        <a:xfrm>
          <a:off x="0" y="3243722"/>
          <a:ext cx="8655668" cy="2010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kern="1200" dirty="0"/>
            <a:t>Cualquier sobrante de carne al final del día se dona al comedor “San Cristóbal”. Las utilidades de Burger King son de S/.2.00 por una Súper Burger King y de S/.4.00 por una Mega Burger King. No se espera vender más de 100 hamburguesas de estos tipos en un día. Encuentre la solución que le permita a Burger King conocer su plan óptimo de trabajo.</a:t>
          </a:r>
        </a:p>
      </dsp:txBody>
      <dsp:txXfrm>
        <a:off x="98166" y="3341888"/>
        <a:ext cx="8459336" cy="181460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D124D4-4599-4B0D-BDC5-0F658AC4EC1B}">
      <dsp:nvSpPr>
        <dsp:cNvPr id="0" name=""/>
        <dsp:cNvSpPr/>
      </dsp:nvSpPr>
      <dsp:spPr>
        <a:xfrm>
          <a:off x="0" y="4383"/>
          <a:ext cx="9326879" cy="1316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kern="1200" dirty="0"/>
            <a:t>La Casa del Llavero, elabora dos tipos de llaveros; y para producirlos utiliza una máquina especial. Los tiempos de producción para los llaveros tipo 1 y 2 son de 10 y 12 minutos respectivamente, por unidad. </a:t>
          </a:r>
        </a:p>
      </dsp:txBody>
      <dsp:txXfrm>
        <a:off x="64254" y="68637"/>
        <a:ext cx="9198371" cy="1187742"/>
      </dsp:txXfrm>
    </dsp:sp>
    <dsp:sp modelId="{12C367C6-76E7-42BC-94D6-285201124271}">
      <dsp:nvSpPr>
        <dsp:cNvPr id="0" name=""/>
        <dsp:cNvSpPr/>
      </dsp:nvSpPr>
      <dsp:spPr>
        <a:xfrm>
          <a:off x="0" y="1464633"/>
          <a:ext cx="9326879" cy="1316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kern="1200"/>
            <a:t>El tiempo regular total de la máquina es de 2500 minutos por día. “La Casa del Llavero “vende entre 150 y 200 unidades del tipo 1, pero no más de 45 unidades del tipo 2, diariamente. </a:t>
          </a:r>
        </a:p>
      </dsp:txBody>
      <dsp:txXfrm>
        <a:off x="64254" y="1528887"/>
        <a:ext cx="9198371" cy="1187742"/>
      </dsp:txXfrm>
    </dsp:sp>
    <dsp:sp modelId="{965FB0DA-FF81-4BBB-90B9-5A0C57A62EB8}">
      <dsp:nvSpPr>
        <dsp:cNvPr id="0" name=""/>
        <dsp:cNvSpPr/>
      </dsp:nvSpPr>
      <dsp:spPr>
        <a:xfrm>
          <a:off x="0" y="2924883"/>
          <a:ext cx="9326879" cy="1316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kern="1200" dirty="0"/>
            <a:t>Además se pueden emplear horas extras para satisfacer la demanda a un costo adicional de S/.0.10 por minuto. Si las utilidades por unidad de los llaveros tipo 1 y 2 son S/.1.20 y S/.1.50, respectivamente. </a:t>
          </a:r>
        </a:p>
      </dsp:txBody>
      <dsp:txXfrm>
        <a:off x="64254" y="2989137"/>
        <a:ext cx="9198371" cy="1187742"/>
      </dsp:txXfrm>
    </dsp:sp>
    <dsp:sp modelId="{D65F5659-CBDD-406E-A9AE-77DB2825D5F1}">
      <dsp:nvSpPr>
        <dsp:cNvPr id="0" name=""/>
        <dsp:cNvSpPr/>
      </dsp:nvSpPr>
      <dsp:spPr>
        <a:xfrm>
          <a:off x="0" y="4385133"/>
          <a:ext cx="9326879" cy="9489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kern="1200"/>
            <a:t>Encuentre la solución que determine el nivel óptimo de producción para cada tipo de llavero.</a:t>
          </a:r>
        </a:p>
      </dsp:txBody>
      <dsp:txXfrm>
        <a:off x="46325" y="4431458"/>
        <a:ext cx="9234229" cy="85631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937FDB4C-8DB5-4895-9E8B-EB4F1648811C}" type="slidenum">
              <a:rPr lang="es-ES" smtClean="0"/>
              <a:pPr/>
              <a:t>3</a:t>
            </a:fld>
            <a:endParaRPr lang="es-ES"/>
          </a:p>
        </p:txBody>
      </p:sp>
    </p:spTree>
    <p:extLst>
      <p:ext uri="{BB962C8B-B14F-4D97-AF65-F5344CB8AC3E}">
        <p14:creationId xmlns:p14="http://schemas.microsoft.com/office/powerpoint/2010/main" val="3621909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53251"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54275"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38</a:t>
            </a:fld>
            <a:endParaRPr lang="es-ES" noProof="0" dirty="0"/>
          </a:p>
        </p:txBody>
      </p:sp>
    </p:spTree>
    <p:extLst>
      <p:ext uri="{BB962C8B-B14F-4D97-AF65-F5344CB8AC3E}">
        <p14:creationId xmlns:p14="http://schemas.microsoft.com/office/powerpoint/2010/main" val="1741003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41</a:t>
            </a:fld>
            <a:endParaRPr lang="es-ES" noProof="0" dirty="0"/>
          </a:p>
        </p:txBody>
      </p:sp>
    </p:spTree>
    <p:extLst>
      <p:ext uri="{BB962C8B-B14F-4D97-AF65-F5344CB8AC3E}">
        <p14:creationId xmlns:p14="http://schemas.microsoft.com/office/powerpoint/2010/main" val="1373554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43</a:t>
            </a:fld>
            <a:endParaRPr lang="es-ES" noProof="0" dirty="0"/>
          </a:p>
        </p:txBody>
      </p:sp>
    </p:spTree>
    <p:extLst>
      <p:ext uri="{BB962C8B-B14F-4D97-AF65-F5344CB8AC3E}">
        <p14:creationId xmlns:p14="http://schemas.microsoft.com/office/powerpoint/2010/main" val="1782546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extLst>
      <p:ext uri="{BB962C8B-B14F-4D97-AF65-F5344CB8AC3E}">
        <p14:creationId xmlns:p14="http://schemas.microsoft.com/office/powerpoint/2010/main" val="3865345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4186182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 id="214748366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diagramLayout" Target="../diagrams/layout3.xml"/><Relationship Id="rId7" Type="http://schemas.openxmlformats.org/officeDocument/2006/relationships/oleObject" Target="../embeddings/oleObject3.bin"/><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4.png"/><Relationship Id="rId4" Type="http://schemas.openxmlformats.org/officeDocument/2006/relationships/diagramQuickStyle" Target="../diagrams/quickStyle3.xml"/><Relationship Id="rId9"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7.jpeg"/><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image" Target="../media/image19.emf"/><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oleObject" Target="../embeddings/oleObject4.bin"/><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5" Type="http://schemas.openxmlformats.org/officeDocument/2006/relationships/image" Target="../media/image21.png"/><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 Id="rId1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22.emf"/><Relationship Id="rId13" Type="http://schemas.microsoft.com/office/2007/relationships/diagramDrawing" Target="../diagrams/drawing8.xml"/><Relationship Id="rId3" Type="http://schemas.openxmlformats.org/officeDocument/2006/relationships/diagramLayout" Target="../diagrams/layout7.xml"/><Relationship Id="rId7" Type="http://schemas.openxmlformats.org/officeDocument/2006/relationships/oleObject" Target="../embeddings/oleObject5.bin"/><Relationship Id="rId12" Type="http://schemas.openxmlformats.org/officeDocument/2006/relationships/diagramColors" Target="../diagrams/colors8.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11" Type="http://schemas.openxmlformats.org/officeDocument/2006/relationships/diagramQuickStyle" Target="../diagrams/quickStyle8.xml"/><Relationship Id="rId5" Type="http://schemas.openxmlformats.org/officeDocument/2006/relationships/diagramColors" Target="../diagrams/colors7.xml"/><Relationship Id="rId10" Type="http://schemas.openxmlformats.org/officeDocument/2006/relationships/diagramLayout" Target="../diagrams/layout8.xml"/><Relationship Id="rId4" Type="http://schemas.openxmlformats.org/officeDocument/2006/relationships/diagramQuickStyle" Target="../diagrams/quickStyle7.xml"/><Relationship Id="rId9" Type="http://schemas.openxmlformats.org/officeDocument/2006/relationships/diagramData" Target="../diagrams/data8.xml"/></Relationships>
</file>

<file path=ppt/slides/_rels/slide36.xml.rels><?xml version="1.0" encoding="UTF-8" standalone="yes"?>
<Relationships xmlns="http://schemas.openxmlformats.org/package/2006/relationships"><Relationship Id="rId2" Type="http://schemas.openxmlformats.org/officeDocument/2006/relationships/image" Target="../media/image23.jf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diagramLayout" Target="../diagrams/layout12.xml"/><Relationship Id="rId7" Type="http://schemas.openxmlformats.org/officeDocument/2006/relationships/diagramData" Target="../diagrams/data13.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54.xml.rels><?xml version="1.0" encoding="UTF-8" standalone="yes"?>
<Relationships xmlns="http://schemas.openxmlformats.org/package/2006/relationships"><Relationship Id="rId8" Type="http://schemas.openxmlformats.org/officeDocument/2006/relationships/diagramLayout" Target="../diagrams/layout19.xml"/><Relationship Id="rId3" Type="http://schemas.openxmlformats.org/officeDocument/2006/relationships/diagramLayout" Target="../diagrams/layout18.xml"/><Relationship Id="rId7" Type="http://schemas.openxmlformats.org/officeDocument/2006/relationships/diagramData" Target="../diagrams/data19.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s>
</file>

<file path=ppt/slides/_rels/slide55.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jfi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0.jfi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1.jfi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2.jfif"/><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34.jf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6.jfi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6.jfi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24.xml"/><Relationship Id="rId7" Type="http://schemas.openxmlformats.org/officeDocument/2006/relationships/image" Target="../media/image37.png"/><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image" Target="../media/image38.jpeg"/><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3" name="2 Título"/>
          <p:cNvSpPr>
            <a:spLocks noGrp="1"/>
          </p:cNvSpPr>
          <p:nvPr>
            <p:ph type="ctrTitle"/>
          </p:nvPr>
        </p:nvSpPr>
        <p:spPr/>
        <p:txBody>
          <a:bodyPr/>
          <a:lstStyle/>
          <a:p>
            <a:r>
              <a:rPr lang="es-PE" dirty="0">
                <a:solidFill>
                  <a:srgbClr val="FF0000"/>
                </a:solidFill>
                <a:latin typeface="Bauhaus 93" pitchFamily="82" charset="0"/>
              </a:rPr>
              <a:t>DESARROLLO DE MODELOS</a:t>
            </a:r>
            <a:br>
              <a:rPr lang="es-PE" dirty="0">
                <a:solidFill>
                  <a:srgbClr val="FF0000"/>
                </a:solidFill>
                <a:latin typeface="Bauhaus 93" pitchFamily="82" charset="0"/>
              </a:rPr>
            </a:br>
            <a:r>
              <a:rPr lang="es-PE" dirty="0">
                <a:solidFill>
                  <a:srgbClr val="FF0000"/>
                </a:solidFill>
                <a:latin typeface="Bauhaus 93" pitchFamily="82" charset="0"/>
              </a:rPr>
              <a:t>DE PROGRAMACIÓN LINEAL</a:t>
            </a:r>
            <a:endParaRPr lang="es-ES" dirty="0">
              <a:solidFill>
                <a:srgbClr val="0064AE"/>
              </a:solidFill>
              <a:effectLst>
                <a:outerShdw blurRad="38100" dist="38100" dir="2700000" algn="tl">
                  <a:srgbClr val="000000">
                    <a:alpha val="43137"/>
                  </a:srgbClr>
                </a:outerShdw>
              </a:effectLst>
              <a:latin typeface="Arial Black" panose="020B0A04020102020204" pitchFamily="34" charset="0"/>
            </a:endParaRPr>
          </a:p>
        </p:txBody>
      </p:sp>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2</a:t>
            </a:fld>
            <a:endParaRPr dirty="0"/>
          </a:p>
        </p:txBody>
      </p:sp>
      <p:sp>
        <p:nvSpPr>
          <p:cNvPr id="7" name="Rectangle 2"/>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Semana 2</a:t>
            </a:r>
          </a:p>
        </p:txBody>
      </p:sp>
      <p:pic>
        <p:nvPicPr>
          <p:cNvPr id="8" name="Google Shape;61;p13"/>
          <p:cNvPicPr preferRelativeResize="0"/>
          <p:nvPr/>
        </p:nvPicPr>
        <p:blipFill>
          <a:blip r:embed="rId3">
            <a:alphaModFix/>
          </a:blip>
          <a:stretch>
            <a:fillRect/>
          </a:stretch>
        </p:blipFill>
        <p:spPr>
          <a:xfrm>
            <a:off x="7436237" y="2564904"/>
            <a:ext cx="1782850" cy="1988920"/>
          </a:xfrm>
          <a:prstGeom prst="rect">
            <a:avLst/>
          </a:prstGeom>
          <a:noFill/>
          <a:ln>
            <a:noFill/>
          </a:ln>
        </p:spPr>
      </p:pic>
    </p:spTree>
    <p:extLst>
      <p:ext uri="{BB962C8B-B14F-4D97-AF65-F5344CB8AC3E}">
        <p14:creationId xmlns:p14="http://schemas.microsoft.com/office/powerpoint/2010/main" val="282642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2909646" y="623889"/>
            <a:ext cx="6354706" cy="563563"/>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r>
              <a:rPr lang="es-PE" sz="3200" dirty="0">
                <a:solidFill>
                  <a:schemeClr val="bg1"/>
                </a:solidFill>
                <a:latin typeface="Bauhaus 93" pitchFamily="82" charset="0"/>
                <a:ea typeface="+mn-ea"/>
                <a:cs typeface="+mn-cs"/>
              </a:rPr>
              <a:t>Contenido</a:t>
            </a:r>
          </a:p>
        </p:txBody>
      </p:sp>
      <p:grpSp>
        <p:nvGrpSpPr>
          <p:cNvPr id="67587" name="Group 3"/>
          <p:cNvGrpSpPr>
            <a:grpSpLocks/>
          </p:cNvGrpSpPr>
          <p:nvPr/>
        </p:nvGrpSpPr>
        <p:grpSpPr bwMode="auto">
          <a:xfrm>
            <a:off x="4338912" y="1258857"/>
            <a:ext cx="788922" cy="665163"/>
            <a:chOff x="1110" y="2656"/>
            <a:chExt cx="1549" cy="1351"/>
          </a:xfrm>
          <a:solidFill>
            <a:srgbClr val="7030A0"/>
          </a:solidFill>
        </p:grpSpPr>
        <p:sp>
          <p:nvSpPr>
            <p:cNvPr id="67588" name="AutoShape 4"/>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a:solidFill>
                  <a:schemeClr val="bg2">
                    <a:lumMod val="50000"/>
                  </a:schemeClr>
                </a:solidFill>
              </a:endParaRPr>
            </a:p>
          </p:txBody>
        </p:sp>
        <p:sp>
          <p:nvSpPr>
            <p:cNvPr id="67589" name="AutoShape 5"/>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a:solidFill>
                  <a:schemeClr val="bg2">
                    <a:lumMod val="50000"/>
                  </a:schemeClr>
                </a:solidFill>
              </a:endParaRPr>
            </a:p>
          </p:txBody>
        </p:sp>
        <p:sp>
          <p:nvSpPr>
            <p:cNvPr id="67590" name="AutoShape 6"/>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a:solidFill>
                  <a:schemeClr val="bg2">
                    <a:lumMod val="50000"/>
                  </a:schemeClr>
                </a:solidFill>
              </a:endParaRPr>
            </a:p>
          </p:txBody>
        </p:sp>
      </p:grpSp>
      <p:grpSp>
        <p:nvGrpSpPr>
          <p:cNvPr id="67591" name="Group 7"/>
          <p:cNvGrpSpPr>
            <a:grpSpLocks/>
          </p:cNvGrpSpPr>
          <p:nvPr/>
        </p:nvGrpSpPr>
        <p:grpSpPr bwMode="auto">
          <a:xfrm>
            <a:off x="4338912" y="1964245"/>
            <a:ext cx="788922" cy="665163"/>
            <a:chOff x="3174" y="2656"/>
            <a:chExt cx="1549" cy="1351"/>
          </a:xfrm>
        </p:grpSpPr>
        <p:sp>
          <p:nvSpPr>
            <p:cNvPr id="6759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2800">
                <a:solidFill>
                  <a:schemeClr val="bg2">
                    <a:lumMod val="50000"/>
                  </a:schemeClr>
                </a:solidFill>
              </a:endParaRPr>
            </a:p>
          </p:txBody>
        </p:sp>
        <p:sp>
          <p:nvSpPr>
            <p:cNvPr id="6759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2800">
                <a:solidFill>
                  <a:schemeClr val="bg2">
                    <a:lumMod val="50000"/>
                  </a:schemeClr>
                </a:solidFill>
              </a:endParaRPr>
            </a:p>
          </p:txBody>
        </p:sp>
        <p:sp>
          <p:nvSpPr>
            <p:cNvPr id="6759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2800">
                <a:solidFill>
                  <a:schemeClr val="bg2">
                    <a:lumMod val="50000"/>
                  </a:schemeClr>
                </a:solidFill>
              </a:endParaRPr>
            </a:p>
          </p:txBody>
        </p:sp>
      </p:grpSp>
      <p:sp>
        <p:nvSpPr>
          <p:cNvPr id="67595" name="Line 11"/>
          <p:cNvSpPr>
            <a:spLocks noChangeShapeType="1"/>
          </p:cNvSpPr>
          <p:nvPr/>
        </p:nvSpPr>
        <p:spPr bwMode="auto">
          <a:xfrm>
            <a:off x="4927596" y="1868457"/>
            <a:ext cx="4408512" cy="2995"/>
          </a:xfrm>
          <a:prstGeom prst="line">
            <a:avLst/>
          </a:prstGeom>
          <a:noFill/>
          <a:ln w="25400">
            <a:solidFill>
              <a:schemeClr val="tx2"/>
            </a:solidFill>
            <a:prstDash val="sysDot"/>
            <a:round/>
            <a:headEnd/>
            <a:tailEnd type="oval" w="med" len="med"/>
          </a:ln>
          <a:effectLst/>
        </p:spPr>
        <p:txBody>
          <a:bodyPr wrap="none" anchor="ctr"/>
          <a:lstStyle/>
          <a:p>
            <a:endParaRPr lang="es-ES" sz="2800">
              <a:solidFill>
                <a:schemeClr val="bg2">
                  <a:lumMod val="50000"/>
                </a:schemeClr>
              </a:solidFill>
            </a:endParaRPr>
          </a:p>
        </p:txBody>
      </p:sp>
      <p:sp>
        <p:nvSpPr>
          <p:cNvPr id="67596" name="Text Box 12"/>
          <p:cNvSpPr txBox="1">
            <a:spLocks noChangeArrowheads="1"/>
          </p:cNvSpPr>
          <p:nvPr/>
        </p:nvSpPr>
        <p:spPr bwMode="auto">
          <a:xfrm>
            <a:off x="5115735" y="1322754"/>
            <a:ext cx="3258071" cy="523220"/>
          </a:xfrm>
          <a:prstGeom prst="rect">
            <a:avLst/>
          </a:prstGeom>
          <a:noFill/>
          <a:ln w="9525" algn="ctr">
            <a:noFill/>
            <a:miter lim="800000"/>
            <a:headEnd/>
            <a:tailEnd/>
          </a:ln>
          <a:effectLst/>
        </p:spPr>
        <p:txBody>
          <a:bodyPr wrap="none">
            <a:spAutoFit/>
          </a:bodyPr>
          <a:lstStyle/>
          <a:p>
            <a:pPr eaLnBrk="0" hangingPunct="0"/>
            <a:r>
              <a:rPr lang="es-ES_tradnl" sz="2800" dirty="0"/>
              <a:t>Problemas de mezcla</a:t>
            </a:r>
          </a:p>
        </p:txBody>
      </p:sp>
      <p:sp>
        <p:nvSpPr>
          <p:cNvPr id="67597" name="Text Box 13"/>
          <p:cNvSpPr txBox="1">
            <a:spLocks noChangeArrowheads="1"/>
          </p:cNvSpPr>
          <p:nvPr/>
        </p:nvSpPr>
        <p:spPr bwMode="gray">
          <a:xfrm>
            <a:off x="4567084" y="1357281"/>
            <a:ext cx="367408"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1</a:t>
            </a:r>
          </a:p>
        </p:txBody>
      </p:sp>
      <p:sp>
        <p:nvSpPr>
          <p:cNvPr id="67598" name="Line 14"/>
          <p:cNvSpPr>
            <a:spLocks noChangeShapeType="1"/>
          </p:cNvSpPr>
          <p:nvPr/>
        </p:nvSpPr>
        <p:spPr bwMode="auto">
          <a:xfrm>
            <a:off x="4927596" y="2573843"/>
            <a:ext cx="4408512" cy="9700"/>
          </a:xfrm>
          <a:prstGeom prst="line">
            <a:avLst/>
          </a:prstGeom>
          <a:noFill/>
          <a:ln w="25400">
            <a:solidFill>
              <a:schemeClr val="tx2"/>
            </a:solidFill>
            <a:prstDash val="sysDot"/>
            <a:round/>
            <a:headEnd/>
            <a:tailEnd type="oval" w="med" len="med"/>
          </a:ln>
          <a:effectLst/>
        </p:spPr>
        <p:txBody>
          <a:bodyPr wrap="none" anchor="ctr"/>
          <a:lstStyle/>
          <a:p>
            <a:endParaRPr lang="es-ES" sz="2800">
              <a:solidFill>
                <a:schemeClr val="bg2">
                  <a:lumMod val="50000"/>
                </a:schemeClr>
              </a:solidFill>
            </a:endParaRPr>
          </a:p>
        </p:txBody>
      </p:sp>
      <p:sp>
        <p:nvSpPr>
          <p:cNvPr id="67599" name="Text Box 15"/>
          <p:cNvSpPr txBox="1">
            <a:spLocks noChangeArrowheads="1"/>
          </p:cNvSpPr>
          <p:nvPr/>
        </p:nvSpPr>
        <p:spPr bwMode="auto">
          <a:xfrm>
            <a:off x="5127836" y="1985099"/>
            <a:ext cx="3791679" cy="523220"/>
          </a:xfrm>
          <a:prstGeom prst="rect">
            <a:avLst/>
          </a:prstGeom>
          <a:noFill/>
          <a:ln w="9525" algn="ctr">
            <a:noFill/>
            <a:miter lim="800000"/>
            <a:headEnd/>
            <a:tailEnd/>
          </a:ln>
          <a:effectLst/>
        </p:spPr>
        <p:txBody>
          <a:bodyPr wrap="none">
            <a:spAutoFit/>
          </a:bodyPr>
          <a:lstStyle>
            <a:defPPr>
              <a:defRPr lang="es-ES"/>
            </a:defPPr>
            <a:lvl1pPr eaLnBrk="0" hangingPunct="0">
              <a:defRPr sz="2400">
                <a:solidFill>
                  <a:schemeClr val="bg1"/>
                </a:solidFill>
              </a:defRPr>
            </a:lvl1pPr>
          </a:lstStyle>
          <a:p>
            <a:r>
              <a:rPr lang="es-ES_tradnl" sz="2800" dirty="0">
                <a:solidFill>
                  <a:schemeClr val="tx1"/>
                </a:solidFill>
              </a:rPr>
              <a:t>Problemas de estaciones</a:t>
            </a:r>
          </a:p>
        </p:txBody>
      </p:sp>
      <p:sp>
        <p:nvSpPr>
          <p:cNvPr id="67600" name="Text Box 16"/>
          <p:cNvSpPr txBox="1">
            <a:spLocks noChangeArrowheads="1"/>
          </p:cNvSpPr>
          <p:nvPr/>
        </p:nvSpPr>
        <p:spPr bwMode="gray">
          <a:xfrm>
            <a:off x="4599946" y="2062669"/>
            <a:ext cx="271771" cy="523220"/>
          </a:xfrm>
          <a:prstGeom prst="rect">
            <a:avLst/>
          </a:prstGeom>
          <a:noFill/>
          <a:ln w="9525" algn="ctr">
            <a:noFill/>
            <a:miter lim="800000"/>
            <a:headEnd/>
            <a:tailEnd/>
          </a:ln>
          <a:effectLst/>
        </p:spPr>
        <p:txBody>
          <a:bodyPr wrap="square">
            <a:spAutoFit/>
          </a:bodyPr>
          <a:lstStyle/>
          <a:p>
            <a:pPr algn="ctr" eaLnBrk="0" hangingPunct="0"/>
            <a:r>
              <a:rPr lang="en-US" sz="2800" dirty="0">
                <a:solidFill>
                  <a:schemeClr val="bg1"/>
                </a:solidFill>
              </a:rPr>
              <a:t>2</a:t>
            </a:r>
          </a:p>
        </p:txBody>
      </p:sp>
      <p:grpSp>
        <p:nvGrpSpPr>
          <p:cNvPr id="67601" name="Group 17"/>
          <p:cNvGrpSpPr>
            <a:grpSpLocks/>
          </p:cNvGrpSpPr>
          <p:nvPr/>
        </p:nvGrpSpPr>
        <p:grpSpPr bwMode="auto">
          <a:xfrm>
            <a:off x="4338912" y="2664821"/>
            <a:ext cx="788922" cy="665163"/>
            <a:chOff x="1110" y="2656"/>
            <a:chExt cx="1549" cy="1351"/>
          </a:xfrm>
          <a:solidFill>
            <a:srgbClr val="7030A0"/>
          </a:solidFill>
        </p:grpSpPr>
        <p:sp>
          <p:nvSpPr>
            <p:cNvPr id="67602" name="AutoShape 18"/>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a:solidFill>
                  <a:schemeClr val="bg2">
                    <a:lumMod val="50000"/>
                  </a:schemeClr>
                </a:solidFill>
              </a:endParaRPr>
            </a:p>
          </p:txBody>
        </p:sp>
        <p:sp>
          <p:nvSpPr>
            <p:cNvPr id="67603"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a:solidFill>
                  <a:schemeClr val="bg2">
                    <a:lumMod val="50000"/>
                  </a:schemeClr>
                </a:solidFill>
              </a:endParaRPr>
            </a:p>
          </p:txBody>
        </p:sp>
        <p:sp>
          <p:nvSpPr>
            <p:cNvPr id="67604" name="AutoShape 20"/>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a:solidFill>
                  <a:schemeClr val="bg2">
                    <a:lumMod val="50000"/>
                  </a:schemeClr>
                </a:solidFill>
              </a:endParaRPr>
            </a:p>
          </p:txBody>
        </p:sp>
      </p:grpSp>
      <p:grpSp>
        <p:nvGrpSpPr>
          <p:cNvPr id="67605" name="Group 21"/>
          <p:cNvGrpSpPr>
            <a:grpSpLocks/>
          </p:cNvGrpSpPr>
          <p:nvPr/>
        </p:nvGrpSpPr>
        <p:grpSpPr bwMode="auto">
          <a:xfrm>
            <a:off x="4345534" y="3361502"/>
            <a:ext cx="782301" cy="665163"/>
            <a:chOff x="3174" y="2656"/>
            <a:chExt cx="1549" cy="1351"/>
          </a:xfrm>
        </p:grpSpPr>
        <p:sp>
          <p:nvSpPr>
            <p:cNvPr id="67606"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2800">
                <a:solidFill>
                  <a:schemeClr val="bg2">
                    <a:lumMod val="50000"/>
                  </a:schemeClr>
                </a:solidFill>
              </a:endParaRPr>
            </a:p>
          </p:txBody>
        </p:sp>
        <p:sp>
          <p:nvSpPr>
            <p:cNvPr id="67607"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2800">
                <a:solidFill>
                  <a:schemeClr val="bg2">
                    <a:lumMod val="50000"/>
                  </a:schemeClr>
                </a:solidFill>
              </a:endParaRPr>
            </a:p>
          </p:txBody>
        </p:sp>
        <p:sp>
          <p:nvSpPr>
            <p:cNvPr id="67608"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2800">
                <a:solidFill>
                  <a:schemeClr val="bg2">
                    <a:lumMod val="50000"/>
                  </a:schemeClr>
                </a:solidFill>
              </a:endParaRPr>
            </a:p>
          </p:txBody>
        </p:sp>
      </p:grpSp>
      <p:sp>
        <p:nvSpPr>
          <p:cNvPr id="67611" name="Text Box 27"/>
          <p:cNvSpPr txBox="1">
            <a:spLocks noChangeArrowheads="1"/>
          </p:cNvSpPr>
          <p:nvPr/>
        </p:nvSpPr>
        <p:spPr bwMode="gray">
          <a:xfrm>
            <a:off x="4567084" y="2763245"/>
            <a:ext cx="367408"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3</a:t>
            </a:r>
          </a:p>
        </p:txBody>
      </p:sp>
      <p:sp>
        <p:nvSpPr>
          <p:cNvPr id="67612" name="Line 28"/>
          <p:cNvSpPr>
            <a:spLocks noChangeShapeType="1"/>
          </p:cNvSpPr>
          <p:nvPr/>
        </p:nvSpPr>
        <p:spPr bwMode="auto">
          <a:xfrm>
            <a:off x="4927596" y="3971103"/>
            <a:ext cx="4408512" cy="4849"/>
          </a:xfrm>
          <a:prstGeom prst="line">
            <a:avLst/>
          </a:prstGeom>
          <a:noFill/>
          <a:ln w="25400">
            <a:solidFill>
              <a:schemeClr val="tx2"/>
            </a:solidFill>
            <a:prstDash val="sysDot"/>
            <a:round/>
            <a:headEnd/>
            <a:tailEnd type="oval" w="med" len="med"/>
          </a:ln>
          <a:effectLst/>
        </p:spPr>
        <p:txBody>
          <a:bodyPr wrap="none" anchor="ctr"/>
          <a:lstStyle/>
          <a:p>
            <a:endParaRPr lang="es-ES" sz="2800">
              <a:solidFill>
                <a:schemeClr val="bg2">
                  <a:lumMod val="50000"/>
                </a:schemeClr>
              </a:solidFill>
            </a:endParaRPr>
          </a:p>
        </p:txBody>
      </p:sp>
      <p:sp>
        <p:nvSpPr>
          <p:cNvPr id="67613" name="Text Box 29"/>
          <p:cNvSpPr txBox="1">
            <a:spLocks noChangeArrowheads="1"/>
          </p:cNvSpPr>
          <p:nvPr/>
        </p:nvSpPr>
        <p:spPr bwMode="auto">
          <a:xfrm>
            <a:off x="5127835" y="2700526"/>
            <a:ext cx="2992294" cy="523220"/>
          </a:xfrm>
          <a:prstGeom prst="rect">
            <a:avLst/>
          </a:prstGeom>
          <a:noFill/>
          <a:ln w="9525" algn="ctr">
            <a:noFill/>
            <a:miter lim="800000"/>
            <a:headEnd/>
            <a:tailEnd/>
          </a:ln>
          <a:effectLst/>
        </p:spPr>
        <p:txBody>
          <a:bodyPr wrap="none">
            <a:spAutoFit/>
          </a:bodyPr>
          <a:lstStyle>
            <a:defPPr>
              <a:defRPr lang="es-ES"/>
            </a:defPPr>
            <a:lvl1pPr eaLnBrk="0" hangingPunct="0">
              <a:defRPr sz="2400">
                <a:solidFill>
                  <a:schemeClr val="bg1"/>
                </a:solidFill>
              </a:defRPr>
            </a:lvl1pPr>
          </a:lstStyle>
          <a:p>
            <a:r>
              <a:rPr lang="es-ES_tradnl" sz="2800" dirty="0">
                <a:solidFill>
                  <a:schemeClr val="tx1"/>
                </a:solidFill>
              </a:rPr>
              <a:t>Problema de dietas</a:t>
            </a:r>
          </a:p>
        </p:txBody>
      </p:sp>
      <p:sp>
        <p:nvSpPr>
          <p:cNvPr id="67614" name="Text Box 30"/>
          <p:cNvSpPr txBox="1">
            <a:spLocks noChangeArrowheads="1"/>
          </p:cNvSpPr>
          <p:nvPr/>
        </p:nvSpPr>
        <p:spPr bwMode="gray">
          <a:xfrm>
            <a:off x="4567084" y="3459927"/>
            <a:ext cx="367408"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4</a:t>
            </a:r>
          </a:p>
        </p:txBody>
      </p:sp>
      <p:sp>
        <p:nvSpPr>
          <p:cNvPr id="67615" name="Text Box 31"/>
          <p:cNvSpPr txBox="1">
            <a:spLocks noChangeArrowheads="1"/>
          </p:cNvSpPr>
          <p:nvPr/>
        </p:nvSpPr>
        <p:spPr bwMode="auto">
          <a:xfrm>
            <a:off x="3912396" y="722313"/>
            <a:ext cx="184731" cy="253916"/>
          </a:xfrm>
          <a:prstGeom prst="rect">
            <a:avLst/>
          </a:prstGeom>
          <a:noFill/>
          <a:ln w="9525">
            <a:noFill/>
            <a:miter lim="800000"/>
            <a:headEnd/>
            <a:tailEnd/>
          </a:ln>
          <a:effectLst/>
        </p:spPr>
        <p:txBody>
          <a:bodyPr wrap="none">
            <a:spAutoFit/>
          </a:bodyPr>
          <a:lstStyle/>
          <a:p>
            <a:endParaRPr lang="es-ES" sz="1050"/>
          </a:p>
        </p:txBody>
      </p:sp>
      <p:sp>
        <p:nvSpPr>
          <p:cNvPr id="32" name="Text Box 12"/>
          <p:cNvSpPr txBox="1">
            <a:spLocks noChangeArrowheads="1"/>
          </p:cNvSpPr>
          <p:nvPr/>
        </p:nvSpPr>
        <p:spPr bwMode="auto">
          <a:xfrm>
            <a:off x="5115735" y="3422146"/>
            <a:ext cx="3372077" cy="523220"/>
          </a:xfrm>
          <a:prstGeom prst="rect">
            <a:avLst/>
          </a:prstGeom>
          <a:noFill/>
          <a:ln w="9525" algn="ctr">
            <a:noFill/>
            <a:miter lim="800000"/>
            <a:headEnd/>
            <a:tailEnd/>
          </a:ln>
          <a:effectLst/>
        </p:spPr>
        <p:txBody>
          <a:bodyPr wrap="none">
            <a:spAutoFit/>
          </a:bodyPr>
          <a:lstStyle>
            <a:defPPr>
              <a:defRPr lang="es-ES"/>
            </a:defPPr>
            <a:lvl1pPr eaLnBrk="0" hangingPunct="0">
              <a:defRPr sz="2400">
                <a:solidFill>
                  <a:schemeClr val="bg1"/>
                </a:solidFill>
              </a:defRPr>
            </a:lvl1pPr>
          </a:lstStyle>
          <a:p>
            <a:r>
              <a:rPr lang="es-ES_tradnl" sz="2800" dirty="0">
                <a:solidFill>
                  <a:schemeClr val="tx1"/>
                </a:solidFill>
              </a:rPr>
              <a:t>Problemas de minería</a:t>
            </a:r>
          </a:p>
        </p:txBody>
      </p:sp>
      <p:sp>
        <p:nvSpPr>
          <p:cNvPr id="33" name="Rectangle 2">
            <a:extLst>
              <a:ext uri="{FF2B5EF4-FFF2-40B4-BE49-F238E27FC236}">
                <a16:creationId xmlns:a16="http://schemas.microsoft.com/office/drawing/2014/main" id="{3D4CBBED-E956-4C66-BD82-70BD8582EB26}"/>
              </a:ext>
            </a:extLst>
          </p:cNvPr>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Contenido</a:t>
            </a:r>
          </a:p>
        </p:txBody>
      </p:sp>
      <p:grpSp>
        <p:nvGrpSpPr>
          <p:cNvPr id="2" name="Group 3">
            <a:extLst>
              <a:ext uri="{FF2B5EF4-FFF2-40B4-BE49-F238E27FC236}">
                <a16:creationId xmlns:a16="http://schemas.microsoft.com/office/drawing/2014/main" id="{8F9DB27C-A454-E364-A75A-040B37B5BB9D}"/>
              </a:ext>
            </a:extLst>
          </p:cNvPr>
          <p:cNvGrpSpPr>
            <a:grpSpLocks/>
          </p:cNvGrpSpPr>
          <p:nvPr/>
        </p:nvGrpSpPr>
        <p:grpSpPr bwMode="auto">
          <a:xfrm>
            <a:off x="4356853" y="4058699"/>
            <a:ext cx="762000" cy="665163"/>
            <a:chOff x="1110" y="2656"/>
            <a:chExt cx="1549" cy="1351"/>
          </a:xfrm>
          <a:solidFill>
            <a:schemeClr val="accent6">
              <a:lumMod val="75000"/>
            </a:schemeClr>
          </a:solidFill>
        </p:grpSpPr>
        <p:sp>
          <p:nvSpPr>
            <p:cNvPr id="3" name="AutoShape 4">
              <a:extLst>
                <a:ext uri="{FF2B5EF4-FFF2-40B4-BE49-F238E27FC236}">
                  <a16:creationId xmlns:a16="http://schemas.microsoft.com/office/drawing/2014/main" id="{09CEEC10-DE87-CE62-6562-3A068F377B9C}"/>
                </a:ext>
              </a:extLst>
            </p:cNvPr>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dirty="0"/>
            </a:p>
          </p:txBody>
        </p:sp>
        <p:sp>
          <p:nvSpPr>
            <p:cNvPr id="4" name="AutoShape 5">
              <a:extLst>
                <a:ext uri="{FF2B5EF4-FFF2-40B4-BE49-F238E27FC236}">
                  <a16:creationId xmlns:a16="http://schemas.microsoft.com/office/drawing/2014/main" id="{0C75EE41-F9F8-01C7-1071-AD25395D7F7A}"/>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dirty="0"/>
            </a:p>
          </p:txBody>
        </p:sp>
        <p:sp>
          <p:nvSpPr>
            <p:cNvPr id="5" name="AutoShape 6">
              <a:extLst>
                <a:ext uri="{FF2B5EF4-FFF2-40B4-BE49-F238E27FC236}">
                  <a16:creationId xmlns:a16="http://schemas.microsoft.com/office/drawing/2014/main" id="{E0AE0775-7891-18AE-E353-6A74EE9B7F06}"/>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dirty="0"/>
            </a:p>
          </p:txBody>
        </p:sp>
      </p:grpSp>
      <p:grpSp>
        <p:nvGrpSpPr>
          <p:cNvPr id="6" name="Group 7">
            <a:extLst>
              <a:ext uri="{FF2B5EF4-FFF2-40B4-BE49-F238E27FC236}">
                <a16:creationId xmlns:a16="http://schemas.microsoft.com/office/drawing/2014/main" id="{D278C85F-931F-D610-2392-0AFFAB235C75}"/>
              </a:ext>
            </a:extLst>
          </p:cNvPr>
          <p:cNvGrpSpPr>
            <a:grpSpLocks/>
          </p:cNvGrpSpPr>
          <p:nvPr/>
        </p:nvGrpSpPr>
        <p:grpSpPr bwMode="auto">
          <a:xfrm>
            <a:off x="4349658" y="4758199"/>
            <a:ext cx="762000" cy="665163"/>
            <a:chOff x="3174" y="2656"/>
            <a:chExt cx="1549" cy="1351"/>
          </a:xfrm>
        </p:grpSpPr>
        <p:sp>
          <p:nvSpPr>
            <p:cNvPr id="7" name="AutoShape 8">
              <a:extLst>
                <a:ext uri="{FF2B5EF4-FFF2-40B4-BE49-F238E27FC236}">
                  <a16:creationId xmlns:a16="http://schemas.microsoft.com/office/drawing/2014/main" id="{67C38578-3308-D3B2-E726-4DED3403A561}"/>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2800" dirty="0"/>
            </a:p>
          </p:txBody>
        </p:sp>
        <p:sp>
          <p:nvSpPr>
            <p:cNvPr id="8" name="AutoShape 9">
              <a:extLst>
                <a:ext uri="{FF2B5EF4-FFF2-40B4-BE49-F238E27FC236}">
                  <a16:creationId xmlns:a16="http://schemas.microsoft.com/office/drawing/2014/main" id="{321E43E8-0AFC-FD03-6160-05BD006AC6EF}"/>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2800" dirty="0"/>
            </a:p>
          </p:txBody>
        </p:sp>
        <p:sp>
          <p:nvSpPr>
            <p:cNvPr id="9" name="AutoShape 10">
              <a:extLst>
                <a:ext uri="{FF2B5EF4-FFF2-40B4-BE49-F238E27FC236}">
                  <a16:creationId xmlns:a16="http://schemas.microsoft.com/office/drawing/2014/main" id="{D9304004-0116-0648-B889-8B4D7849F870}"/>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2800" dirty="0"/>
            </a:p>
          </p:txBody>
        </p:sp>
      </p:grpSp>
      <p:sp>
        <p:nvSpPr>
          <p:cNvPr id="12" name="Text Box 13">
            <a:extLst>
              <a:ext uri="{FF2B5EF4-FFF2-40B4-BE49-F238E27FC236}">
                <a16:creationId xmlns:a16="http://schemas.microsoft.com/office/drawing/2014/main" id="{FC1FA46B-B3DC-5DA2-87AF-EA1C5FCB4462}"/>
              </a:ext>
            </a:extLst>
          </p:cNvPr>
          <p:cNvSpPr txBox="1">
            <a:spLocks noChangeArrowheads="1"/>
          </p:cNvSpPr>
          <p:nvPr/>
        </p:nvSpPr>
        <p:spPr bwMode="gray">
          <a:xfrm>
            <a:off x="4557347" y="4144039"/>
            <a:ext cx="367408"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5</a:t>
            </a:r>
          </a:p>
        </p:txBody>
      </p:sp>
      <p:sp>
        <p:nvSpPr>
          <p:cNvPr id="14" name="Text Box 15">
            <a:extLst>
              <a:ext uri="{FF2B5EF4-FFF2-40B4-BE49-F238E27FC236}">
                <a16:creationId xmlns:a16="http://schemas.microsoft.com/office/drawing/2014/main" id="{73E51194-A6AE-98E3-D379-C6A9901A4FF6}"/>
              </a:ext>
            </a:extLst>
          </p:cNvPr>
          <p:cNvSpPr txBox="1">
            <a:spLocks noChangeArrowheads="1"/>
          </p:cNvSpPr>
          <p:nvPr/>
        </p:nvSpPr>
        <p:spPr bwMode="auto">
          <a:xfrm>
            <a:off x="5080975" y="4173491"/>
            <a:ext cx="3983591"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accent4"/>
                </a:solidFill>
              </a:defRPr>
            </a:lvl1pPr>
          </a:lstStyle>
          <a:p>
            <a:r>
              <a:rPr lang="es-ES_tradnl" dirty="0">
                <a:solidFill>
                  <a:schemeClr val="tx1"/>
                </a:solidFill>
              </a:rPr>
              <a:t>Problemas de distribución</a:t>
            </a:r>
          </a:p>
        </p:txBody>
      </p:sp>
      <p:sp>
        <p:nvSpPr>
          <p:cNvPr id="15" name="Text Box 16">
            <a:extLst>
              <a:ext uri="{FF2B5EF4-FFF2-40B4-BE49-F238E27FC236}">
                <a16:creationId xmlns:a16="http://schemas.microsoft.com/office/drawing/2014/main" id="{4A3B5E35-6CC7-CC6B-D5A9-E7347DF711CF}"/>
              </a:ext>
            </a:extLst>
          </p:cNvPr>
          <p:cNvSpPr txBox="1">
            <a:spLocks noChangeArrowheads="1"/>
          </p:cNvSpPr>
          <p:nvPr/>
        </p:nvSpPr>
        <p:spPr bwMode="gray">
          <a:xfrm>
            <a:off x="4542281" y="4823508"/>
            <a:ext cx="367408"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6</a:t>
            </a:r>
          </a:p>
        </p:txBody>
      </p:sp>
      <p:sp>
        <p:nvSpPr>
          <p:cNvPr id="21" name="Text Box 26">
            <a:extLst>
              <a:ext uri="{FF2B5EF4-FFF2-40B4-BE49-F238E27FC236}">
                <a16:creationId xmlns:a16="http://schemas.microsoft.com/office/drawing/2014/main" id="{57E70C36-6FDE-9CAA-C75E-B6E48B05CFAE}"/>
              </a:ext>
            </a:extLst>
          </p:cNvPr>
          <p:cNvSpPr txBox="1">
            <a:spLocks noChangeArrowheads="1"/>
          </p:cNvSpPr>
          <p:nvPr/>
        </p:nvSpPr>
        <p:spPr bwMode="auto">
          <a:xfrm>
            <a:off x="5053430" y="4880996"/>
            <a:ext cx="4493859"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dirty="0">
                <a:solidFill>
                  <a:schemeClr val="tx1"/>
                </a:solidFill>
              </a:rPr>
              <a:t>Problemas de abastecimiento</a:t>
            </a:r>
          </a:p>
        </p:txBody>
      </p:sp>
      <p:sp>
        <p:nvSpPr>
          <p:cNvPr id="22" name="Text Box 27">
            <a:extLst>
              <a:ext uri="{FF2B5EF4-FFF2-40B4-BE49-F238E27FC236}">
                <a16:creationId xmlns:a16="http://schemas.microsoft.com/office/drawing/2014/main" id="{299D4F86-5B3D-D630-813E-6BAE8F8D33ED}"/>
              </a:ext>
            </a:extLst>
          </p:cNvPr>
          <p:cNvSpPr txBox="1">
            <a:spLocks noChangeArrowheads="1"/>
          </p:cNvSpPr>
          <p:nvPr/>
        </p:nvSpPr>
        <p:spPr bwMode="gray">
          <a:xfrm>
            <a:off x="7947224" y="5737644"/>
            <a:ext cx="367408"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7</a:t>
            </a:r>
          </a:p>
        </p:txBody>
      </p:sp>
      <p:sp>
        <p:nvSpPr>
          <p:cNvPr id="23" name="Line 14">
            <a:extLst>
              <a:ext uri="{FF2B5EF4-FFF2-40B4-BE49-F238E27FC236}">
                <a16:creationId xmlns:a16="http://schemas.microsoft.com/office/drawing/2014/main" id="{3BCF8FD2-E349-B378-B078-20895BBF8017}"/>
              </a:ext>
            </a:extLst>
          </p:cNvPr>
          <p:cNvSpPr>
            <a:spLocks noChangeShapeType="1"/>
          </p:cNvSpPr>
          <p:nvPr/>
        </p:nvSpPr>
        <p:spPr bwMode="auto">
          <a:xfrm>
            <a:off x="4943975" y="3292184"/>
            <a:ext cx="4408512" cy="9700"/>
          </a:xfrm>
          <a:prstGeom prst="line">
            <a:avLst/>
          </a:prstGeom>
          <a:noFill/>
          <a:ln w="25400">
            <a:solidFill>
              <a:schemeClr val="tx2"/>
            </a:solidFill>
            <a:prstDash val="sysDot"/>
            <a:round/>
            <a:headEnd/>
            <a:tailEnd type="oval" w="med" len="med"/>
          </a:ln>
          <a:effectLst/>
        </p:spPr>
        <p:txBody>
          <a:bodyPr wrap="none" anchor="ctr"/>
          <a:lstStyle/>
          <a:p>
            <a:endParaRPr lang="es-ES" sz="2800">
              <a:solidFill>
                <a:schemeClr val="bg2">
                  <a:lumMod val="50000"/>
                </a:schemeClr>
              </a:solidFill>
            </a:endParaRPr>
          </a:p>
        </p:txBody>
      </p:sp>
      <p:sp>
        <p:nvSpPr>
          <p:cNvPr id="24" name="Line 28">
            <a:extLst>
              <a:ext uri="{FF2B5EF4-FFF2-40B4-BE49-F238E27FC236}">
                <a16:creationId xmlns:a16="http://schemas.microsoft.com/office/drawing/2014/main" id="{2BFC6D3C-EF2A-758F-7847-BF59C4E7AFEC}"/>
              </a:ext>
            </a:extLst>
          </p:cNvPr>
          <p:cNvSpPr>
            <a:spLocks noChangeShapeType="1"/>
          </p:cNvSpPr>
          <p:nvPr/>
        </p:nvSpPr>
        <p:spPr bwMode="auto">
          <a:xfrm>
            <a:off x="5105263" y="4654765"/>
            <a:ext cx="4408512" cy="4849"/>
          </a:xfrm>
          <a:prstGeom prst="line">
            <a:avLst/>
          </a:prstGeom>
          <a:noFill/>
          <a:ln w="25400">
            <a:solidFill>
              <a:schemeClr val="tx2"/>
            </a:solidFill>
            <a:prstDash val="sysDot"/>
            <a:round/>
            <a:headEnd/>
            <a:tailEnd type="oval" w="med" len="med"/>
          </a:ln>
          <a:effectLst/>
        </p:spPr>
        <p:txBody>
          <a:bodyPr wrap="none" anchor="ctr"/>
          <a:lstStyle/>
          <a:p>
            <a:endParaRPr lang="es-ES" sz="2800">
              <a:solidFill>
                <a:schemeClr val="bg2">
                  <a:lumMod val="50000"/>
                </a:schemeClr>
              </a:solidFill>
            </a:endParaRPr>
          </a:p>
        </p:txBody>
      </p:sp>
      <p:sp>
        <p:nvSpPr>
          <p:cNvPr id="25" name="Line 28">
            <a:extLst>
              <a:ext uri="{FF2B5EF4-FFF2-40B4-BE49-F238E27FC236}">
                <a16:creationId xmlns:a16="http://schemas.microsoft.com/office/drawing/2014/main" id="{8EE574D7-E9CE-EBBA-078C-66898E0735DE}"/>
              </a:ext>
            </a:extLst>
          </p:cNvPr>
          <p:cNvSpPr>
            <a:spLocks noChangeShapeType="1"/>
          </p:cNvSpPr>
          <p:nvPr/>
        </p:nvSpPr>
        <p:spPr bwMode="auto">
          <a:xfrm>
            <a:off x="5105263" y="5363329"/>
            <a:ext cx="4408512" cy="4849"/>
          </a:xfrm>
          <a:prstGeom prst="line">
            <a:avLst/>
          </a:prstGeom>
          <a:noFill/>
          <a:ln w="25400">
            <a:solidFill>
              <a:schemeClr val="tx2"/>
            </a:solidFill>
            <a:prstDash val="sysDot"/>
            <a:round/>
            <a:headEnd/>
            <a:tailEnd type="oval" w="med" len="med"/>
          </a:ln>
          <a:effectLst/>
        </p:spPr>
        <p:txBody>
          <a:bodyPr wrap="none" anchor="ctr"/>
          <a:lstStyle/>
          <a:p>
            <a:endParaRPr lang="es-ES" sz="2800">
              <a:solidFill>
                <a:schemeClr val="bg2">
                  <a:lumMod val="50000"/>
                </a:schemeClr>
              </a:solidFill>
            </a:endParaRPr>
          </a:p>
        </p:txBody>
      </p:sp>
      <p:grpSp>
        <p:nvGrpSpPr>
          <p:cNvPr id="10" name="Group 7">
            <a:extLst>
              <a:ext uri="{FF2B5EF4-FFF2-40B4-BE49-F238E27FC236}">
                <a16:creationId xmlns:a16="http://schemas.microsoft.com/office/drawing/2014/main" id="{418382C7-4FDB-756B-DB23-23FBCF331899}"/>
              </a:ext>
            </a:extLst>
          </p:cNvPr>
          <p:cNvGrpSpPr>
            <a:grpSpLocks/>
          </p:cNvGrpSpPr>
          <p:nvPr/>
        </p:nvGrpSpPr>
        <p:grpSpPr bwMode="auto">
          <a:xfrm>
            <a:off x="4358307" y="6156560"/>
            <a:ext cx="762000" cy="665163"/>
            <a:chOff x="3174" y="2656"/>
            <a:chExt cx="1549" cy="1351"/>
          </a:xfrm>
        </p:grpSpPr>
        <p:sp>
          <p:nvSpPr>
            <p:cNvPr id="11" name="AutoShape 8">
              <a:extLst>
                <a:ext uri="{FF2B5EF4-FFF2-40B4-BE49-F238E27FC236}">
                  <a16:creationId xmlns:a16="http://schemas.microsoft.com/office/drawing/2014/main" id="{592B4F29-01C4-5A47-C607-C5B46693D81B}"/>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13" name="AutoShape 9">
              <a:extLst>
                <a:ext uri="{FF2B5EF4-FFF2-40B4-BE49-F238E27FC236}">
                  <a16:creationId xmlns:a16="http://schemas.microsoft.com/office/drawing/2014/main" id="{961443E4-587F-8196-5841-C0519C3D3E8C}"/>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16" name="AutoShape 10">
              <a:extLst>
                <a:ext uri="{FF2B5EF4-FFF2-40B4-BE49-F238E27FC236}">
                  <a16:creationId xmlns:a16="http://schemas.microsoft.com/office/drawing/2014/main" id="{F9BD0079-55B9-C31A-C45F-E7F41230E066}"/>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dirty="0"/>
            </a:p>
          </p:txBody>
        </p:sp>
      </p:grpSp>
      <p:grpSp>
        <p:nvGrpSpPr>
          <p:cNvPr id="45" name="Group 3">
            <a:extLst>
              <a:ext uri="{FF2B5EF4-FFF2-40B4-BE49-F238E27FC236}">
                <a16:creationId xmlns:a16="http://schemas.microsoft.com/office/drawing/2014/main" id="{66C48775-046F-3EE3-2496-16E76FF47E87}"/>
              </a:ext>
            </a:extLst>
          </p:cNvPr>
          <p:cNvGrpSpPr>
            <a:grpSpLocks/>
          </p:cNvGrpSpPr>
          <p:nvPr/>
        </p:nvGrpSpPr>
        <p:grpSpPr bwMode="auto">
          <a:xfrm>
            <a:off x="4362909" y="5454500"/>
            <a:ext cx="762000" cy="665163"/>
            <a:chOff x="1110" y="2656"/>
            <a:chExt cx="1549" cy="1351"/>
          </a:xfrm>
          <a:solidFill>
            <a:schemeClr val="accent6">
              <a:lumMod val="75000"/>
            </a:schemeClr>
          </a:solidFill>
        </p:grpSpPr>
        <p:sp>
          <p:nvSpPr>
            <p:cNvPr id="46" name="AutoShape 4">
              <a:extLst>
                <a:ext uri="{FF2B5EF4-FFF2-40B4-BE49-F238E27FC236}">
                  <a16:creationId xmlns:a16="http://schemas.microsoft.com/office/drawing/2014/main" id="{62FF695C-4680-51FC-EF4F-8CFBB5B26274}"/>
                </a:ext>
              </a:extLst>
            </p:cNvPr>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dirty="0"/>
            </a:p>
          </p:txBody>
        </p:sp>
        <p:sp>
          <p:nvSpPr>
            <p:cNvPr id="47" name="AutoShape 5">
              <a:extLst>
                <a:ext uri="{FF2B5EF4-FFF2-40B4-BE49-F238E27FC236}">
                  <a16:creationId xmlns:a16="http://schemas.microsoft.com/office/drawing/2014/main" id="{AA1E86D8-B955-3FFA-A63A-68327B9E6352}"/>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dirty="0"/>
            </a:p>
          </p:txBody>
        </p:sp>
        <p:sp>
          <p:nvSpPr>
            <p:cNvPr id="48" name="AutoShape 6">
              <a:extLst>
                <a:ext uri="{FF2B5EF4-FFF2-40B4-BE49-F238E27FC236}">
                  <a16:creationId xmlns:a16="http://schemas.microsoft.com/office/drawing/2014/main" id="{6607A179-A2EB-B5ED-936A-8A0CE5BA3EF5}"/>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dirty="0"/>
            </a:p>
          </p:txBody>
        </p:sp>
      </p:grpSp>
      <p:sp>
        <p:nvSpPr>
          <p:cNvPr id="56" name="Line 14">
            <a:extLst>
              <a:ext uri="{FF2B5EF4-FFF2-40B4-BE49-F238E27FC236}">
                <a16:creationId xmlns:a16="http://schemas.microsoft.com/office/drawing/2014/main" id="{E8A954A5-E1F8-81D1-CE37-A49B5259F735}"/>
              </a:ext>
            </a:extLst>
          </p:cNvPr>
          <p:cNvSpPr>
            <a:spLocks noChangeShapeType="1"/>
          </p:cNvSpPr>
          <p:nvPr/>
        </p:nvSpPr>
        <p:spPr bwMode="auto">
          <a:xfrm>
            <a:off x="5505385" y="6024979"/>
            <a:ext cx="3807052" cy="7582"/>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57" name="Text Box 15">
            <a:extLst>
              <a:ext uri="{FF2B5EF4-FFF2-40B4-BE49-F238E27FC236}">
                <a16:creationId xmlns:a16="http://schemas.microsoft.com/office/drawing/2014/main" id="{0C18C34B-3F9C-19EE-6FAE-05CB1806470E}"/>
              </a:ext>
            </a:extLst>
          </p:cNvPr>
          <p:cNvSpPr txBox="1">
            <a:spLocks noChangeArrowheads="1"/>
          </p:cNvSpPr>
          <p:nvPr/>
        </p:nvSpPr>
        <p:spPr bwMode="auto">
          <a:xfrm>
            <a:off x="5380164" y="5509341"/>
            <a:ext cx="3361754"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accent4"/>
                </a:solidFill>
              </a:defRPr>
            </a:lvl1pPr>
          </a:lstStyle>
          <a:p>
            <a:r>
              <a:rPr lang="es-ES_tradnl" dirty="0">
                <a:solidFill>
                  <a:schemeClr val="tx1"/>
                </a:solidFill>
              </a:rPr>
              <a:t>Problemas de compra</a:t>
            </a:r>
          </a:p>
        </p:txBody>
      </p:sp>
      <p:sp>
        <p:nvSpPr>
          <p:cNvPr id="58" name="Text Box 16">
            <a:extLst>
              <a:ext uri="{FF2B5EF4-FFF2-40B4-BE49-F238E27FC236}">
                <a16:creationId xmlns:a16="http://schemas.microsoft.com/office/drawing/2014/main" id="{8351B6AF-31AE-E475-CC83-558434E3B309}"/>
              </a:ext>
            </a:extLst>
          </p:cNvPr>
          <p:cNvSpPr txBox="1">
            <a:spLocks noChangeArrowheads="1"/>
          </p:cNvSpPr>
          <p:nvPr/>
        </p:nvSpPr>
        <p:spPr bwMode="gray">
          <a:xfrm>
            <a:off x="4572272" y="5513806"/>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7</a:t>
            </a:r>
          </a:p>
        </p:txBody>
      </p:sp>
      <p:sp>
        <p:nvSpPr>
          <p:cNvPr id="59" name="Line 25">
            <a:extLst>
              <a:ext uri="{FF2B5EF4-FFF2-40B4-BE49-F238E27FC236}">
                <a16:creationId xmlns:a16="http://schemas.microsoft.com/office/drawing/2014/main" id="{28417335-7BD7-8AA6-0A0B-7C9D60D84CAC}"/>
              </a:ext>
            </a:extLst>
          </p:cNvPr>
          <p:cNvSpPr>
            <a:spLocks noChangeShapeType="1"/>
          </p:cNvSpPr>
          <p:nvPr/>
        </p:nvSpPr>
        <p:spPr bwMode="auto">
          <a:xfrm flipV="1">
            <a:off x="5505385" y="6771012"/>
            <a:ext cx="3807052" cy="23862"/>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60" name="Text Box 26">
            <a:extLst>
              <a:ext uri="{FF2B5EF4-FFF2-40B4-BE49-F238E27FC236}">
                <a16:creationId xmlns:a16="http://schemas.microsoft.com/office/drawing/2014/main" id="{D8641D33-A67B-0510-4F95-4A26E65AB741}"/>
              </a:ext>
            </a:extLst>
          </p:cNvPr>
          <p:cNvSpPr txBox="1">
            <a:spLocks noChangeArrowheads="1"/>
          </p:cNvSpPr>
          <p:nvPr/>
        </p:nvSpPr>
        <p:spPr bwMode="auto">
          <a:xfrm>
            <a:off x="5405121" y="6288630"/>
            <a:ext cx="3718967"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dirty="0">
                <a:solidFill>
                  <a:schemeClr val="tx1"/>
                </a:solidFill>
              </a:rPr>
              <a:t>Problemas de financiero</a:t>
            </a:r>
          </a:p>
        </p:txBody>
      </p:sp>
      <p:sp>
        <p:nvSpPr>
          <p:cNvPr id="61" name="Text Box 27">
            <a:extLst>
              <a:ext uri="{FF2B5EF4-FFF2-40B4-BE49-F238E27FC236}">
                <a16:creationId xmlns:a16="http://schemas.microsoft.com/office/drawing/2014/main" id="{4EB947F5-17C4-56B6-ECC6-93B4A3D6B6B1}"/>
              </a:ext>
            </a:extLst>
          </p:cNvPr>
          <p:cNvSpPr txBox="1">
            <a:spLocks noChangeArrowheads="1"/>
          </p:cNvSpPr>
          <p:nvPr/>
        </p:nvSpPr>
        <p:spPr bwMode="gray">
          <a:xfrm>
            <a:off x="4578406" y="6248383"/>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8</a:t>
            </a:r>
          </a:p>
        </p:txBody>
      </p:sp>
    </p:spTree>
    <p:extLst>
      <p:ext uri="{BB962C8B-B14F-4D97-AF65-F5344CB8AC3E}">
        <p14:creationId xmlns:p14="http://schemas.microsoft.com/office/powerpoint/2010/main" val="917637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Text Box 4"/>
          <p:cNvSpPr txBox="1">
            <a:spLocks noChangeArrowheads="1"/>
          </p:cNvSpPr>
          <p:nvPr/>
        </p:nvSpPr>
        <p:spPr bwMode="auto">
          <a:xfrm>
            <a:off x="5592" y="2336612"/>
            <a:ext cx="238363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ES"/>
            </a:defPPr>
            <a:lvl1pPr algn="ctr">
              <a:spcBef>
                <a:spcPct val="50000"/>
              </a:spcBef>
              <a:defRPr sz="2000" b="1">
                <a:solidFill>
                  <a:schemeClr val="accent2"/>
                </a:solidFill>
                <a:latin typeface="Arial" charset="0"/>
              </a:defRPr>
            </a:lvl1pPr>
            <a:lvl2pPr>
              <a:defRPr sz="2000">
                <a:latin typeface="Arial" charset="0"/>
              </a:defRPr>
            </a:lvl2pPr>
            <a:lvl3pPr>
              <a:defRPr>
                <a:latin typeface="Arial" charset="0"/>
              </a:defRPr>
            </a:lvl3pPr>
            <a:lvl4pPr>
              <a:defRPr sz="1600">
                <a:latin typeface="Arial" charset="0"/>
              </a:defRPr>
            </a:lvl4pPr>
            <a:lvl5pPr>
              <a:defRPr sz="1600">
                <a:latin typeface="Arial" charset="0"/>
              </a:defRPr>
            </a:lvl5pPr>
            <a:lvl6pPr eaLnBrk="0" hangingPunct="0">
              <a:defRPr sz="1600">
                <a:latin typeface="Arial" charset="0"/>
              </a:defRPr>
            </a:lvl6pPr>
            <a:lvl7pPr eaLnBrk="0" hangingPunct="0">
              <a:defRPr sz="1600">
                <a:latin typeface="Arial" charset="0"/>
              </a:defRPr>
            </a:lvl7pPr>
            <a:lvl8pPr eaLnBrk="0" hangingPunct="0">
              <a:defRPr sz="1600">
                <a:latin typeface="Arial" charset="0"/>
              </a:defRPr>
            </a:lvl8pPr>
            <a:lvl9pPr eaLnBrk="0" hangingPunct="0">
              <a:defRPr sz="1600">
                <a:latin typeface="Arial" charset="0"/>
              </a:defRPr>
            </a:lvl9pPr>
          </a:lstStyle>
          <a:p>
            <a:r>
              <a:rPr lang="es-ES" altLang="es-PE" sz="2800" dirty="0"/>
              <a:t>Función Objetivo</a:t>
            </a:r>
          </a:p>
        </p:txBody>
      </p:sp>
      <p:sp>
        <p:nvSpPr>
          <p:cNvPr id="132101" name="Text Box 5"/>
          <p:cNvSpPr txBox="1">
            <a:spLocks noChangeArrowheads="1"/>
          </p:cNvSpPr>
          <p:nvPr/>
        </p:nvSpPr>
        <p:spPr bwMode="auto">
          <a:xfrm>
            <a:off x="278319" y="4424695"/>
            <a:ext cx="190770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algn="ctr" eaLnBrk="1" hangingPunct="1">
              <a:spcBef>
                <a:spcPct val="50000"/>
              </a:spcBef>
            </a:pPr>
            <a:r>
              <a:rPr lang="es-ES" altLang="es-PE" sz="2800" b="1" dirty="0">
                <a:solidFill>
                  <a:schemeClr val="accent2"/>
                </a:solidFill>
              </a:rPr>
              <a:t>Restricciones</a:t>
            </a:r>
          </a:p>
        </p:txBody>
      </p:sp>
      <p:sp>
        <p:nvSpPr>
          <p:cNvPr id="132102" name="AutoShape 6"/>
          <p:cNvSpPr>
            <a:spLocks noChangeArrowheads="1"/>
          </p:cNvSpPr>
          <p:nvPr/>
        </p:nvSpPr>
        <p:spPr bwMode="auto">
          <a:xfrm>
            <a:off x="2389223" y="2336613"/>
            <a:ext cx="475457" cy="498475"/>
          </a:xfrm>
          <a:prstGeom prst="rightArrow">
            <a:avLst>
              <a:gd name="adj1" fmla="val 50000"/>
              <a:gd name="adj2" fmla="val 63977"/>
            </a:avLst>
          </a:prstGeom>
          <a:solidFill>
            <a:srgbClr val="FFC000"/>
          </a:solidFill>
          <a:ln w="9525">
            <a:solidFill>
              <a:schemeClr val="tx1"/>
            </a:solidFill>
            <a:miter lim="800000"/>
            <a:headEnd/>
            <a:tailEnd/>
          </a:ln>
        </p:spPr>
        <p:txBody>
          <a:bodyPr wrap="none" anchor="ctr"/>
          <a:lstStyle/>
          <a:p>
            <a:pPr eaLnBrk="1" hangingPunct="1"/>
            <a:endParaRPr lang="es-PE" altLang="es-PE" dirty="0"/>
          </a:p>
        </p:txBody>
      </p:sp>
      <p:sp>
        <p:nvSpPr>
          <p:cNvPr id="132103" name="AutoShape 7"/>
          <p:cNvSpPr>
            <a:spLocks noChangeArrowheads="1"/>
          </p:cNvSpPr>
          <p:nvPr/>
        </p:nvSpPr>
        <p:spPr bwMode="auto">
          <a:xfrm>
            <a:off x="2389223" y="4500826"/>
            <a:ext cx="545307" cy="555625"/>
          </a:xfrm>
          <a:prstGeom prst="rightArrow">
            <a:avLst>
              <a:gd name="adj1" fmla="val 50000"/>
              <a:gd name="adj2" fmla="val 63994"/>
            </a:avLst>
          </a:prstGeom>
          <a:solidFill>
            <a:srgbClr val="FFC000"/>
          </a:solidFill>
          <a:ln w="9525">
            <a:solidFill>
              <a:schemeClr val="tx1"/>
            </a:solidFill>
            <a:miter lim="800000"/>
            <a:headEnd/>
            <a:tailEnd/>
          </a:ln>
        </p:spPr>
        <p:txBody>
          <a:bodyPr wrap="none" anchor="ctr"/>
          <a:lstStyle/>
          <a:p>
            <a:pPr eaLnBrk="1" hangingPunct="1"/>
            <a:endParaRPr lang="es-PE" altLang="es-PE" dirty="0"/>
          </a:p>
        </p:txBody>
      </p:sp>
      <p:sp>
        <p:nvSpPr>
          <p:cNvPr id="132106" name="Text Box 10"/>
          <p:cNvSpPr txBox="1">
            <a:spLocks noChangeArrowheads="1"/>
          </p:cNvSpPr>
          <p:nvPr/>
        </p:nvSpPr>
        <p:spPr bwMode="auto">
          <a:xfrm>
            <a:off x="4377567" y="213976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eaLnBrk="1" hangingPunct="1"/>
            <a:endParaRPr lang="es-PE" altLang="es-PE" sz="1800" dirty="0"/>
          </a:p>
        </p:txBody>
      </p:sp>
      <p:sp>
        <p:nvSpPr>
          <p:cNvPr id="132108" name="Rectangle 12"/>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s-PE" altLang="es-PE" dirty="0"/>
          </a:p>
        </p:txBody>
      </p:sp>
      <p:graphicFrame>
        <p:nvGraphicFramePr>
          <p:cNvPr id="132107" name="Object 11"/>
          <p:cNvGraphicFramePr>
            <a:graphicFrameLocks noChangeAspect="1"/>
          </p:cNvGraphicFramePr>
          <p:nvPr/>
        </p:nvGraphicFramePr>
        <p:xfrm>
          <a:off x="2931354" y="2408050"/>
          <a:ext cx="2284412" cy="530225"/>
        </p:xfrm>
        <a:graphic>
          <a:graphicData uri="http://schemas.openxmlformats.org/presentationml/2006/ole">
            <mc:AlternateContent xmlns:mc="http://schemas.openxmlformats.org/markup-compatibility/2006">
              <mc:Choice xmlns:v="urn:schemas-microsoft-com:vml" Requires="v">
                <p:oleObj name="Equation" r:id="rId2" imgW="863280" imgH="203040" progId="Equation.DSMT4">
                  <p:embed/>
                </p:oleObj>
              </mc:Choice>
              <mc:Fallback>
                <p:oleObj name="Equation" r:id="rId2" imgW="863280" imgH="203040" progId="Equation.DSMT4">
                  <p:embed/>
                  <p:pic>
                    <p:nvPicPr>
                      <p:cNvPr id="132107" name="Object 11"/>
                      <p:cNvPicPr>
                        <a:picLocks noChangeAspect="1" noChangeArrowheads="1"/>
                      </p:cNvPicPr>
                      <p:nvPr/>
                    </p:nvPicPr>
                    <p:blipFill>
                      <a:blip r:embed="rId3"/>
                      <a:srcRect/>
                      <a:stretch>
                        <a:fillRect/>
                      </a:stretch>
                    </p:blipFill>
                    <p:spPr bwMode="auto">
                      <a:xfrm>
                        <a:off x="2931354" y="2408050"/>
                        <a:ext cx="22844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2109" name="Text Box 13"/>
          <p:cNvSpPr txBox="1">
            <a:spLocks noChangeArrowheads="1"/>
          </p:cNvSpPr>
          <p:nvPr/>
        </p:nvSpPr>
        <p:spPr bwMode="auto">
          <a:xfrm>
            <a:off x="4018792" y="487661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eaLnBrk="1" hangingPunct="1"/>
            <a:endParaRPr lang="es-PE" altLang="es-PE" sz="1800" dirty="0"/>
          </a:p>
        </p:txBody>
      </p:sp>
      <p:sp>
        <p:nvSpPr>
          <p:cNvPr id="132111" name="Rectangle 15"/>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s-PE" altLang="es-PE" dirty="0"/>
          </a:p>
        </p:txBody>
      </p:sp>
      <p:graphicFrame>
        <p:nvGraphicFramePr>
          <p:cNvPr id="132110" name="Object 14"/>
          <p:cNvGraphicFramePr>
            <a:graphicFrameLocks noChangeAspect="1"/>
          </p:cNvGraphicFramePr>
          <p:nvPr/>
        </p:nvGraphicFramePr>
        <p:xfrm>
          <a:off x="2998386" y="3621256"/>
          <a:ext cx="2232025" cy="2303463"/>
        </p:xfrm>
        <a:graphic>
          <a:graphicData uri="http://schemas.openxmlformats.org/presentationml/2006/ole">
            <mc:AlternateContent xmlns:mc="http://schemas.openxmlformats.org/markup-compatibility/2006">
              <mc:Choice xmlns:v="urn:schemas-microsoft-com:vml" Requires="v">
                <p:oleObj name="Equation" r:id="rId4" imgW="889000" imgH="914400" progId="Equation.DSMT4">
                  <p:embed/>
                </p:oleObj>
              </mc:Choice>
              <mc:Fallback>
                <p:oleObj name="Equation" r:id="rId4" imgW="889000" imgH="914400" progId="Equation.DSMT4">
                  <p:embed/>
                  <p:pic>
                    <p:nvPicPr>
                      <p:cNvPr id="13211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8386" y="3621256"/>
                        <a:ext cx="2232025"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2112" name="AutoShape 16"/>
          <p:cNvSpPr>
            <a:spLocks noChangeArrowheads="1"/>
          </p:cNvSpPr>
          <p:nvPr/>
        </p:nvSpPr>
        <p:spPr bwMode="auto">
          <a:xfrm>
            <a:off x="6320239" y="2204299"/>
            <a:ext cx="2891615" cy="1393400"/>
          </a:xfrm>
          <a:prstGeom prst="wedgeRoundRectCallout">
            <a:avLst>
              <a:gd name="adj1" fmla="val -82085"/>
              <a:gd name="adj2" fmla="val -15884"/>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endParaRPr lang="es-PE" altLang="es-PE" dirty="0"/>
          </a:p>
        </p:txBody>
      </p:sp>
      <p:sp>
        <p:nvSpPr>
          <p:cNvPr id="132113" name="Text Box 17"/>
          <p:cNvSpPr txBox="1">
            <a:spLocks noChangeArrowheads="1"/>
          </p:cNvSpPr>
          <p:nvPr/>
        </p:nvSpPr>
        <p:spPr bwMode="auto">
          <a:xfrm>
            <a:off x="6363961" y="2228801"/>
            <a:ext cx="27930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algn="ctr" eaLnBrk="1" hangingPunct="1"/>
            <a:r>
              <a:rPr lang="es-ES" altLang="es-PE" b="1" dirty="0">
                <a:latin typeface="Gill Sans MT" pitchFamily="34" charset="0"/>
              </a:rPr>
              <a:t>Es la función de utilidades que debo maximizar</a:t>
            </a:r>
          </a:p>
        </p:txBody>
      </p:sp>
      <p:grpSp>
        <p:nvGrpSpPr>
          <p:cNvPr id="2" name="Group 21"/>
          <p:cNvGrpSpPr>
            <a:grpSpLocks/>
          </p:cNvGrpSpPr>
          <p:nvPr/>
        </p:nvGrpSpPr>
        <p:grpSpPr bwMode="auto">
          <a:xfrm>
            <a:off x="6314723" y="4024086"/>
            <a:ext cx="2929583" cy="2039977"/>
            <a:chOff x="4013" y="3067"/>
            <a:chExt cx="1611" cy="1221"/>
          </a:xfrm>
        </p:grpSpPr>
        <p:sp>
          <p:nvSpPr>
            <p:cNvPr id="15381" name="AutoShape 18"/>
            <p:cNvSpPr>
              <a:spLocks noChangeArrowheads="1"/>
            </p:cNvSpPr>
            <p:nvPr/>
          </p:nvSpPr>
          <p:spPr bwMode="auto">
            <a:xfrm>
              <a:off x="4013" y="3067"/>
              <a:ext cx="1611" cy="834"/>
            </a:xfrm>
            <a:prstGeom prst="wedgeRoundRectCallout">
              <a:avLst>
                <a:gd name="adj1" fmla="val -83299"/>
                <a:gd name="adj2" fmla="val -25328"/>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endParaRPr lang="es-PE" altLang="es-PE" sz="2400" dirty="0"/>
            </a:p>
          </p:txBody>
        </p:sp>
        <p:sp>
          <p:nvSpPr>
            <p:cNvPr id="15382" name="Text Box 20"/>
            <p:cNvSpPr txBox="1">
              <a:spLocks noChangeArrowheads="1"/>
            </p:cNvSpPr>
            <p:nvPr/>
          </p:nvSpPr>
          <p:spPr bwMode="auto">
            <a:xfrm>
              <a:off x="4078" y="3067"/>
              <a:ext cx="1368" cy="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algn="just" eaLnBrk="1" hangingPunct="1"/>
              <a:r>
                <a:rPr lang="es-ES" altLang="es-PE" b="1" dirty="0">
                  <a:latin typeface="Gill Sans MT" pitchFamily="34" charset="0"/>
                </a:rPr>
                <a:t>Limitaciones horarias de las máquinas A y B</a:t>
              </a:r>
            </a:p>
          </p:txBody>
        </p:sp>
      </p:grpSp>
      <p:sp>
        <p:nvSpPr>
          <p:cNvPr id="132120" name="Text Box 24"/>
          <p:cNvSpPr txBox="1">
            <a:spLocks noChangeArrowheads="1"/>
          </p:cNvSpPr>
          <p:nvPr/>
        </p:nvSpPr>
        <p:spPr bwMode="auto">
          <a:xfrm>
            <a:off x="6363979" y="5517473"/>
            <a:ext cx="262558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PE"/>
            </a:defPPr>
            <a:lvl1pPr algn="just">
              <a:defRPr sz="2400" b="1">
                <a:latin typeface="Gill Sans MT" pitchFamily="34" charset="0"/>
              </a:defRPr>
            </a:lvl1pPr>
            <a:lvl2pPr>
              <a:defRPr sz="2000">
                <a:latin typeface="Arial" charset="0"/>
              </a:defRPr>
            </a:lvl2pPr>
            <a:lvl3pPr>
              <a:defRPr>
                <a:latin typeface="Arial" charset="0"/>
              </a:defRPr>
            </a:lvl3pPr>
            <a:lvl4pPr>
              <a:defRPr sz="1600">
                <a:latin typeface="Arial" charset="0"/>
              </a:defRPr>
            </a:lvl4pPr>
            <a:lvl5pPr>
              <a:defRPr sz="1600">
                <a:latin typeface="Arial" charset="0"/>
              </a:defRPr>
            </a:lvl5pPr>
            <a:lvl6pPr eaLnBrk="0" hangingPunct="0">
              <a:defRPr sz="1600">
                <a:latin typeface="Arial" charset="0"/>
              </a:defRPr>
            </a:lvl6pPr>
            <a:lvl7pPr eaLnBrk="0" hangingPunct="0">
              <a:defRPr sz="1600">
                <a:latin typeface="Arial" charset="0"/>
              </a:defRPr>
            </a:lvl7pPr>
            <a:lvl8pPr eaLnBrk="0" hangingPunct="0">
              <a:defRPr sz="1600">
                <a:latin typeface="Arial" charset="0"/>
              </a:defRPr>
            </a:lvl8pPr>
            <a:lvl9pPr eaLnBrk="0" hangingPunct="0">
              <a:defRPr sz="1600">
                <a:latin typeface="Arial" charset="0"/>
              </a:defRPr>
            </a:lvl9pPr>
          </a:lstStyle>
          <a:p>
            <a:r>
              <a:rPr lang="es-ES" altLang="es-PE" dirty="0"/>
              <a:t>Condiciones de no negatividad</a:t>
            </a:r>
          </a:p>
        </p:txBody>
      </p:sp>
      <p:sp>
        <p:nvSpPr>
          <p:cNvPr id="21" name="20 Rectángulo redondeado"/>
          <p:cNvSpPr/>
          <p:nvPr/>
        </p:nvSpPr>
        <p:spPr>
          <a:xfrm>
            <a:off x="6116636" y="168051"/>
            <a:ext cx="6075364" cy="71279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MODELO MATEMÁTICO</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pic>
        <p:nvPicPr>
          <p:cNvPr id="22" name="Picture 6"/>
          <p:cNvPicPr>
            <a:picLocks noChangeAspect="1" noChangeArrowheads="1"/>
          </p:cNvPicPr>
          <p:nvPr/>
        </p:nvPicPr>
        <p:blipFill>
          <a:blip r:embed="rId6">
            <a:extLst>
              <a:ext uri="{28A0092B-C50C-407E-A947-70E740481C1C}">
                <a14:useLocalDpi xmlns:a14="http://schemas.microsoft.com/office/drawing/2010/main" val="0"/>
              </a:ext>
            </a:extLst>
          </a:blip>
          <a:srcRect l="43921" t="9061" r="10609" b="43954"/>
          <a:stretch>
            <a:fillRect/>
          </a:stretch>
        </p:blipFill>
        <p:spPr bwMode="auto">
          <a:xfrm>
            <a:off x="9547693" y="2194292"/>
            <a:ext cx="2276475"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AutoShape 23"/>
          <p:cNvSpPr>
            <a:spLocks noChangeArrowheads="1"/>
          </p:cNvSpPr>
          <p:nvPr/>
        </p:nvSpPr>
        <p:spPr bwMode="auto">
          <a:xfrm>
            <a:off x="9547691" y="4755169"/>
            <a:ext cx="2370995" cy="475386"/>
          </a:xfrm>
          <a:prstGeom prst="wedgeRoundRectCallout">
            <a:avLst>
              <a:gd name="adj1" fmla="val -21167"/>
              <a:gd name="adj2" fmla="val -222538"/>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endParaRPr lang="es-PE" altLang="es-PE" dirty="0"/>
          </a:p>
        </p:txBody>
      </p:sp>
      <p:sp>
        <p:nvSpPr>
          <p:cNvPr id="24" name="Text Box 24"/>
          <p:cNvSpPr txBox="1">
            <a:spLocks noChangeArrowheads="1"/>
          </p:cNvSpPr>
          <p:nvPr/>
        </p:nvSpPr>
        <p:spPr bwMode="auto">
          <a:xfrm>
            <a:off x="9681667" y="4768890"/>
            <a:ext cx="2370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s-PE"/>
            </a:defPPr>
            <a:lvl1pPr algn="just">
              <a:defRPr sz="2400" b="1">
                <a:latin typeface="Gill Sans MT" pitchFamily="34" charset="0"/>
              </a:defRPr>
            </a:lvl1pPr>
            <a:lvl2pPr>
              <a:defRPr sz="2000">
                <a:latin typeface="Arial" charset="0"/>
              </a:defRPr>
            </a:lvl2pPr>
            <a:lvl3pPr>
              <a:defRPr>
                <a:latin typeface="Arial" charset="0"/>
              </a:defRPr>
            </a:lvl3pPr>
            <a:lvl4pPr>
              <a:defRPr sz="1600">
                <a:latin typeface="Arial" charset="0"/>
              </a:defRPr>
            </a:lvl4pPr>
            <a:lvl5pPr>
              <a:defRPr sz="1600">
                <a:latin typeface="Arial" charset="0"/>
              </a:defRPr>
            </a:lvl5pPr>
            <a:lvl6pPr eaLnBrk="0" hangingPunct="0">
              <a:defRPr sz="1600">
                <a:latin typeface="Arial" charset="0"/>
              </a:defRPr>
            </a:lvl6pPr>
            <a:lvl7pPr eaLnBrk="0" hangingPunct="0">
              <a:defRPr sz="1600">
                <a:latin typeface="Arial" charset="0"/>
              </a:defRPr>
            </a:lvl7pPr>
            <a:lvl8pPr eaLnBrk="0" hangingPunct="0">
              <a:defRPr sz="1600">
                <a:latin typeface="Arial" charset="0"/>
              </a:defRPr>
            </a:lvl8pPr>
            <a:lvl9pPr eaLnBrk="0" hangingPunct="0">
              <a:defRPr sz="1600">
                <a:latin typeface="Arial" charset="0"/>
              </a:defRPr>
            </a:lvl9pPr>
          </a:lstStyle>
          <a:p>
            <a:r>
              <a:rPr lang="es-ES" altLang="es-PE" dirty="0"/>
              <a:t>Región factible</a:t>
            </a:r>
          </a:p>
        </p:txBody>
      </p:sp>
      <p:sp>
        <p:nvSpPr>
          <p:cNvPr id="3" name="2 Abrir llave"/>
          <p:cNvSpPr/>
          <p:nvPr/>
        </p:nvSpPr>
        <p:spPr>
          <a:xfrm flipH="1">
            <a:off x="4265842" y="5021119"/>
            <a:ext cx="381378" cy="874712"/>
          </a:xfrm>
          <a:prstGeom prst="leftBrace">
            <a:avLst>
              <a:gd name="adj1" fmla="val 8333"/>
              <a:gd name="adj2" fmla="val 5298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4" name="CuadroTexto 3">
            <a:extLst>
              <a:ext uri="{FF2B5EF4-FFF2-40B4-BE49-F238E27FC236}">
                <a16:creationId xmlns:a16="http://schemas.microsoft.com/office/drawing/2014/main" id="{5E83E98F-BC39-4ACC-B3E8-0EB5681FAEC0}"/>
              </a:ext>
            </a:extLst>
          </p:cNvPr>
          <p:cNvSpPr txBox="1"/>
          <p:nvPr/>
        </p:nvSpPr>
        <p:spPr>
          <a:xfrm>
            <a:off x="9112601" y="1440514"/>
            <a:ext cx="3041342" cy="707886"/>
          </a:xfrm>
          <a:prstGeom prst="rect">
            <a:avLst/>
          </a:prstGeom>
          <a:noFill/>
        </p:spPr>
        <p:txBody>
          <a:bodyPr wrap="square" rtlCol="0">
            <a:spAutoFit/>
          </a:bodyPr>
          <a:lstStyle/>
          <a:p>
            <a:r>
              <a:rPr lang="es-ES" sz="2000" b="1" dirty="0">
                <a:solidFill>
                  <a:srgbClr val="FF0000"/>
                </a:solidFill>
              </a:rPr>
              <a:t>RESOLUCIÓN DEL MODELO	</a:t>
            </a:r>
            <a:endParaRPr lang="es-PE" sz="2000" b="1" dirty="0">
              <a:solidFill>
                <a:srgbClr val="FF0000"/>
              </a:solidFill>
            </a:endParaRPr>
          </a:p>
        </p:txBody>
      </p:sp>
      <p:sp>
        <p:nvSpPr>
          <p:cNvPr id="5" name="AutoShape 18">
            <a:extLst>
              <a:ext uri="{FF2B5EF4-FFF2-40B4-BE49-F238E27FC236}">
                <a16:creationId xmlns:a16="http://schemas.microsoft.com/office/drawing/2014/main" id="{A368395A-7642-027E-5F30-657192E5FBD8}"/>
              </a:ext>
            </a:extLst>
          </p:cNvPr>
          <p:cNvSpPr>
            <a:spLocks noChangeArrowheads="1"/>
          </p:cNvSpPr>
          <p:nvPr/>
        </p:nvSpPr>
        <p:spPr bwMode="auto">
          <a:xfrm>
            <a:off x="6301660" y="5447939"/>
            <a:ext cx="2929583" cy="1093177"/>
          </a:xfrm>
          <a:prstGeom prst="wedgeRoundRectCallout">
            <a:avLst>
              <a:gd name="adj1" fmla="val -84488"/>
              <a:gd name="adj2" fmla="val -43453"/>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endParaRPr lang="es-PE" altLang="es-PE" sz="2400" dirty="0"/>
          </a:p>
        </p:txBody>
      </p:sp>
    </p:spTree>
    <p:extLst>
      <p:ext uri="{BB962C8B-B14F-4D97-AF65-F5344CB8AC3E}">
        <p14:creationId xmlns:p14="http://schemas.microsoft.com/office/powerpoint/2010/main" val="2437687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32100"/>
                                        </p:tgtEl>
                                        <p:attrNameLst>
                                          <p:attrName>style.visibility</p:attrName>
                                        </p:attrNameLst>
                                      </p:cBhvr>
                                      <p:to>
                                        <p:strVal val="visible"/>
                                      </p:to>
                                    </p:set>
                                    <p:anim calcmode="lin" valueType="num">
                                      <p:cBhvr>
                                        <p:cTn id="7" dur="1000" fill="hold"/>
                                        <p:tgtEl>
                                          <p:spTgt spid="132100"/>
                                        </p:tgtEl>
                                        <p:attrNameLst>
                                          <p:attrName>ppt_w</p:attrName>
                                        </p:attrNameLst>
                                      </p:cBhvr>
                                      <p:tavLst>
                                        <p:tav tm="0">
                                          <p:val>
                                            <p:strVal val="#ppt_w*0.70"/>
                                          </p:val>
                                        </p:tav>
                                        <p:tav tm="100000">
                                          <p:val>
                                            <p:strVal val="#ppt_w"/>
                                          </p:val>
                                        </p:tav>
                                      </p:tavLst>
                                    </p:anim>
                                    <p:anim calcmode="lin" valueType="num">
                                      <p:cBhvr>
                                        <p:cTn id="8" dur="1000" fill="hold"/>
                                        <p:tgtEl>
                                          <p:spTgt spid="132100"/>
                                        </p:tgtEl>
                                        <p:attrNameLst>
                                          <p:attrName>ppt_h</p:attrName>
                                        </p:attrNameLst>
                                      </p:cBhvr>
                                      <p:tavLst>
                                        <p:tav tm="0">
                                          <p:val>
                                            <p:strVal val="#ppt_h"/>
                                          </p:val>
                                        </p:tav>
                                        <p:tav tm="100000">
                                          <p:val>
                                            <p:strVal val="#ppt_h"/>
                                          </p:val>
                                        </p:tav>
                                      </p:tavLst>
                                    </p:anim>
                                    <p:animEffect transition="in" filter="fade">
                                      <p:cBhvr>
                                        <p:cTn id="9" dur="1000"/>
                                        <p:tgtEl>
                                          <p:spTgt spid="132100"/>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32101"/>
                                        </p:tgtEl>
                                        <p:attrNameLst>
                                          <p:attrName>style.visibility</p:attrName>
                                        </p:attrNameLst>
                                      </p:cBhvr>
                                      <p:to>
                                        <p:strVal val="visible"/>
                                      </p:to>
                                    </p:set>
                                    <p:anim calcmode="lin" valueType="num">
                                      <p:cBhvr>
                                        <p:cTn id="12" dur="1000" fill="hold"/>
                                        <p:tgtEl>
                                          <p:spTgt spid="132101"/>
                                        </p:tgtEl>
                                        <p:attrNameLst>
                                          <p:attrName>ppt_w</p:attrName>
                                        </p:attrNameLst>
                                      </p:cBhvr>
                                      <p:tavLst>
                                        <p:tav tm="0">
                                          <p:val>
                                            <p:strVal val="#ppt_w*0.70"/>
                                          </p:val>
                                        </p:tav>
                                        <p:tav tm="100000">
                                          <p:val>
                                            <p:strVal val="#ppt_w"/>
                                          </p:val>
                                        </p:tav>
                                      </p:tavLst>
                                    </p:anim>
                                    <p:anim calcmode="lin" valueType="num">
                                      <p:cBhvr>
                                        <p:cTn id="13" dur="1000" fill="hold"/>
                                        <p:tgtEl>
                                          <p:spTgt spid="132101"/>
                                        </p:tgtEl>
                                        <p:attrNameLst>
                                          <p:attrName>ppt_h</p:attrName>
                                        </p:attrNameLst>
                                      </p:cBhvr>
                                      <p:tavLst>
                                        <p:tav tm="0">
                                          <p:val>
                                            <p:strVal val="#ppt_h"/>
                                          </p:val>
                                        </p:tav>
                                        <p:tav tm="100000">
                                          <p:val>
                                            <p:strVal val="#ppt_h"/>
                                          </p:val>
                                        </p:tav>
                                      </p:tavLst>
                                    </p:anim>
                                    <p:animEffect transition="in" filter="fade">
                                      <p:cBhvr>
                                        <p:cTn id="14" dur="1000"/>
                                        <p:tgtEl>
                                          <p:spTgt spid="132101"/>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2102"/>
                                        </p:tgtEl>
                                        <p:attrNameLst>
                                          <p:attrName>style.visibility</p:attrName>
                                        </p:attrNameLst>
                                      </p:cBhvr>
                                      <p:to>
                                        <p:strVal val="visible"/>
                                      </p:to>
                                    </p:set>
                                    <p:anim calcmode="lin" valueType="num">
                                      <p:cBhvr>
                                        <p:cTn id="17" dur="1000" fill="hold"/>
                                        <p:tgtEl>
                                          <p:spTgt spid="132102"/>
                                        </p:tgtEl>
                                        <p:attrNameLst>
                                          <p:attrName>ppt_w</p:attrName>
                                        </p:attrNameLst>
                                      </p:cBhvr>
                                      <p:tavLst>
                                        <p:tav tm="0">
                                          <p:val>
                                            <p:strVal val="#ppt_w*0.70"/>
                                          </p:val>
                                        </p:tav>
                                        <p:tav tm="100000">
                                          <p:val>
                                            <p:strVal val="#ppt_w"/>
                                          </p:val>
                                        </p:tav>
                                      </p:tavLst>
                                    </p:anim>
                                    <p:anim calcmode="lin" valueType="num">
                                      <p:cBhvr>
                                        <p:cTn id="18" dur="1000" fill="hold"/>
                                        <p:tgtEl>
                                          <p:spTgt spid="132102"/>
                                        </p:tgtEl>
                                        <p:attrNameLst>
                                          <p:attrName>ppt_h</p:attrName>
                                        </p:attrNameLst>
                                      </p:cBhvr>
                                      <p:tavLst>
                                        <p:tav tm="0">
                                          <p:val>
                                            <p:strVal val="#ppt_h"/>
                                          </p:val>
                                        </p:tav>
                                        <p:tav tm="100000">
                                          <p:val>
                                            <p:strVal val="#ppt_h"/>
                                          </p:val>
                                        </p:tav>
                                      </p:tavLst>
                                    </p:anim>
                                    <p:animEffect transition="in" filter="fade">
                                      <p:cBhvr>
                                        <p:cTn id="19" dur="1000"/>
                                        <p:tgtEl>
                                          <p:spTgt spid="132102"/>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32103"/>
                                        </p:tgtEl>
                                        <p:attrNameLst>
                                          <p:attrName>style.visibility</p:attrName>
                                        </p:attrNameLst>
                                      </p:cBhvr>
                                      <p:to>
                                        <p:strVal val="visible"/>
                                      </p:to>
                                    </p:set>
                                    <p:anim calcmode="lin" valueType="num">
                                      <p:cBhvr>
                                        <p:cTn id="22" dur="1000" fill="hold"/>
                                        <p:tgtEl>
                                          <p:spTgt spid="132103"/>
                                        </p:tgtEl>
                                        <p:attrNameLst>
                                          <p:attrName>ppt_w</p:attrName>
                                        </p:attrNameLst>
                                      </p:cBhvr>
                                      <p:tavLst>
                                        <p:tav tm="0">
                                          <p:val>
                                            <p:strVal val="#ppt_w*0.70"/>
                                          </p:val>
                                        </p:tav>
                                        <p:tav tm="100000">
                                          <p:val>
                                            <p:strVal val="#ppt_w"/>
                                          </p:val>
                                        </p:tav>
                                      </p:tavLst>
                                    </p:anim>
                                    <p:anim calcmode="lin" valueType="num">
                                      <p:cBhvr>
                                        <p:cTn id="23" dur="1000" fill="hold"/>
                                        <p:tgtEl>
                                          <p:spTgt spid="132103"/>
                                        </p:tgtEl>
                                        <p:attrNameLst>
                                          <p:attrName>ppt_h</p:attrName>
                                        </p:attrNameLst>
                                      </p:cBhvr>
                                      <p:tavLst>
                                        <p:tav tm="0">
                                          <p:val>
                                            <p:strVal val="#ppt_h"/>
                                          </p:val>
                                        </p:tav>
                                        <p:tav tm="100000">
                                          <p:val>
                                            <p:strVal val="#ppt_h"/>
                                          </p:val>
                                        </p:tav>
                                      </p:tavLst>
                                    </p:anim>
                                    <p:animEffect transition="in" filter="fade">
                                      <p:cBhvr>
                                        <p:cTn id="24" dur="1000"/>
                                        <p:tgtEl>
                                          <p:spTgt spid="132103"/>
                                        </p:tgtEl>
                                      </p:cBhvr>
                                    </p:animEffect>
                                  </p:childTnLst>
                                </p:cTn>
                              </p:par>
                              <p:par>
                                <p:cTn id="25" presetID="55" presetClass="entr" presetSubtype="0" fill="hold" grpId="0" nodeType="withEffect" nodePh="1">
                                  <p:stCondLst>
                                    <p:cond delay="0"/>
                                  </p:stCondLst>
                                  <p:endCondLst>
                                    <p:cond evt="begin" delay="0">
                                      <p:tn val="25"/>
                                    </p:cond>
                                  </p:endCondLst>
                                  <p:childTnLst>
                                    <p:set>
                                      <p:cBhvr>
                                        <p:cTn id="26" dur="1" fill="hold">
                                          <p:stCondLst>
                                            <p:cond delay="0"/>
                                          </p:stCondLst>
                                        </p:cTn>
                                        <p:tgtEl>
                                          <p:spTgt spid="132106"/>
                                        </p:tgtEl>
                                        <p:attrNameLst>
                                          <p:attrName>style.visibility</p:attrName>
                                        </p:attrNameLst>
                                      </p:cBhvr>
                                      <p:to>
                                        <p:strVal val="visible"/>
                                      </p:to>
                                    </p:set>
                                    <p:anim calcmode="lin" valueType="num">
                                      <p:cBhvr>
                                        <p:cTn id="27" dur="1000" fill="hold"/>
                                        <p:tgtEl>
                                          <p:spTgt spid="132106"/>
                                        </p:tgtEl>
                                        <p:attrNameLst>
                                          <p:attrName>ppt_w</p:attrName>
                                        </p:attrNameLst>
                                      </p:cBhvr>
                                      <p:tavLst>
                                        <p:tav tm="0">
                                          <p:val>
                                            <p:strVal val="#ppt_w*0.70"/>
                                          </p:val>
                                        </p:tav>
                                        <p:tav tm="100000">
                                          <p:val>
                                            <p:strVal val="#ppt_w"/>
                                          </p:val>
                                        </p:tav>
                                      </p:tavLst>
                                    </p:anim>
                                    <p:anim calcmode="lin" valueType="num">
                                      <p:cBhvr>
                                        <p:cTn id="28" dur="1000" fill="hold"/>
                                        <p:tgtEl>
                                          <p:spTgt spid="132106"/>
                                        </p:tgtEl>
                                        <p:attrNameLst>
                                          <p:attrName>ppt_h</p:attrName>
                                        </p:attrNameLst>
                                      </p:cBhvr>
                                      <p:tavLst>
                                        <p:tav tm="0">
                                          <p:val>
                                            <p:strVal val="#ppt_h"/>
                                          </p:val>
                                        </p:tav>
                                        <p:tav tm="100000">
                                          <p:val>
                                            <p:strVal val="#ppt_h"/>
                                          </p:val>
                                        </p:tav>
                                      </p:tavLst>
                                    </p:anim>
                                    <p:animEffect transition="in" filter="fade">
                                      <p:cBhvr>
                                        <p:cTn id="29" dur="1000"/>
                                        <p:tgtEl>
                                          <p:spTgt spid="132106"/>
                                        </p:tgtEl>
                                      </p:cBhvr>
                                    </p:animEffect>
                                  </p:childTnLst>
                                </p:cTn>
                              </p:par>
                              <p:par>
                                <p:cTn id="30" presetID="55" presetClass="entr" presetSubtype="0" fill="hold" grpId="0" nodeType="withEffect" nodePh="1">
                                  <p:stCondLst>
                                    <p:cond delay="0"/>
                                  </p:stCondLst>
                                  <p:endCondLst>
                                    <p:cond evt="begin" delay="0">
                                      <p:tn val="30"/>
                                    </p:cond>
                                  </p:endCondLst>
                                  <p:childTnLst>
                                    <p:set>
                                      <p:cBhvr>
                                        <p:cTn id="31" dur="1" fill="hold">
                                          <p:stCondLst>
                                            <p:cond delay="0"/>
                                          </p:stCondLst>
                                        </p:cTn>
                                        <p:tgtEl>
                                          <p:spTgt spid="132108"/>
                                        </p:tgtEl>
                                        <p:attrNameLst>
                                          <p:attrName>style.visibility</p:attrName>
                                        </p:attrNameLst>
                                      </p:cBhvr>
                                      <p:to>
                                        <p:strVal val="visible"/>
                                      </p:to>
                                    </p:set>
                                    <p:anim calcmode="lin" valueType="num">
                                      <p:cBhvr>
                                        <p:cTn id="32" dur="1000" fill="hold"/>
                                        <p:tgtEl>
                                          <p:spTgt spid="132108"/>
                                        </p:tgtEl>
                                        <p:attrNameLst>
                                          <p:attrName>ppt_w</p:attrName>
                                        </p:attrNameLst>
                                      </p:cBhvr>
                                      <p:tavLst>
                                        <p:tav tm="0">
                                          <p:val>
                                            <p:strVal val="#ppt_w*0.70"/>
                                          </p:val>
                                        </p:tav>
                                        <p:tav tm="100000">
                                          <p:val>
                                            <p:strVal val="#ppt_w"/>
                                          </p:val>
                                        </p:tav>
                                      </p:tavLst>
                                    </p:anim>
                                    <p:anim calcmode="lin" valueType="num">
                                      <p:cBhvr>
                                        <p:cTn id="33" dur="1000" fill="hold"/>
                                        <p:tgtEl>
                                          <p:spTgt spid="132108"/>
                                        </p:tgtEl>
                                        <p:attrNameLst>
                                          <p:attrName>ppt_h</p:attrName>
                                        </p:attrNameLst>
                                      </p:cBhvr>
                                      <p:tavLst>
                                        <p:tav tm="0">
                                          <p:val>
                                            <p:strVal val="#ppt_h"/>
                                          </p:val>
                                        </p:tav>
                                        <p:tav tm="100000">
                                          <p:val>
                                            <p:strVal val="#ppt_h"/>
                                          </p:val>
                                        </p:tav>
                                      </p:tavLst>
                                    </p:anim>
                                    <p:animEffect transition="in" filter="fade">
                                      <p:cBhvr>
                                        <p:cTn id="34" dur="1000"/>
                                        <p:tgtEl>
                                          <p:spTgt spid="132108"/>
                                        </p:tgtEl>
                                      </p:cBhvr>
                                    </p:animEffect>
                                  </p:childTnLst>
                                </p:cTn>
                              </p:par>
                              <p:par>
                                <p:cTn id="35" presetID="55" presetClass="entr" presetSubtype="0" fill="hold" nodeType="withEffect">
                                  <p:stCondLst>
                                    <p:cond delay="0"/>
                                  </p:stCondLst>
                                  <p:childTnLst>
                                    <p:set>
                                      <p:cBhvr>
                                        <p:cTn id="36" dur="1" fill="hold">
                                          <p:stCondLst>
                                            <p:cond delay="0"/>
                                          </p:stCondLst>
                                        </p:cTn>
                                        <p:tgtEl>
                                          <p:spTgt spid="132107"/>
                                        </p:tgtEl>
                                        <p:attrNameLst>
                                          <p:attrName>style.visibility</p:attrName>
                                        </p:attrNameLst>
                                      </p:cBhvr>
                                      <p:to>
                                        <p:strVal val="visible"/>
                                      </p:to>
                                    </p:set>
                                    <p:anim calcmode="lin" valueType="num">
                                      <p:cBhvr>
                                        <p:cTn id="37" dur="1000" fill="hold"/>
                                        <p:tgtEl>
                                          <p:spTgt spid="132107"/>
                                        </p:tgtEl>
                                        <p:attrNameLst>
                                          <p:attrName>ppt_w</p:attrName>
                                        </p:attrNameLst>
                                      </p:cBhvr>
                                      <p:tavLst>
                                        <p:tav tm="0">
                                          <p:val>
                                            <p:strVal val="#ppt_w*0.70"/>
                                          </p:val>
                                        </p:tav>
                                        <p:tav tm="100000">
                                          <p:val>
                                            <p:strVal val="#ppt_w"/>
                                          </p:val>
                                        </p:tav>
                                      </p:tavLst>
                                    </p:anim>
                                    <p:anim calcmode="lin" valueType="num">
                                      <p:cBhvr>
                                        <p:cTn id="38" dur="1000" fill="hold"/>
                                        <p:tgtEl>
                                          <p:spTgt spid="132107"/>
                                        </p:tgtEl>
                                        <p:attrNameLst>
                                          <p:attrName>ppt_h</p:attrName>
                                        </p:attrNameLst>
                                      </p:cBhvr>
                                      <p:tavLst>
                                        <p:tav tm="0">
                                          <p:val>
                                            <p:strVal val="#ppt_h"/>
                                          </p:val>
                                        </p:tav>
                                        <p:tav tm="100000">
                                          <p:val>
                                            <p:strVal val="#ppt_h"/>
                                          </p:val>
                                        </p:tav>
                                      </p:tavLst>
                                    </p:anim>
                                    <p:animEffect transition="in" filter="fade">
                                      <p:cBhvr>
                                        <p:cTn id="39" dur="1000"/>
                                        <p:tgtEl>
                                          <p:spTgt spid="132107"/>
                                        </p:tgtEl>
                                      </p:cBhvr>
                                    </p:animEffect>
                                  </p:childTnLst>
                                </p:cTn>
                              </p:par>
                              <p:par>
                                <p:cTn id="40" presetID="55" presetClass="entr" presetSubtype="0" fill="hold" grpId="0" nodeType="withEffect" nodePh="1">
                                  <p:stCondLst>
                                    <p:cond delay="0"/>
                                  </p:stCondLst>
                                  <p:endCondLst>
                                    <p:cond evt="begin" delay="0">
                                      <p:tn val="40"/>
                                    </p:cond>
                                  </p:endCondLst>
                                  <p:childTnLst>
                                    <p:set>
                                      <p:cBhvr>
                                        <p:cTn id="41" dur="1" fill="hold">
                                          <p:stCondLst>
                                            <p:cond delay="0"/>
                                          </p:stCondLst>
                                        </p:cTn>
                                        <p:tgtEl>
                                          <p:spTgt spid="132109"/>
                                        </p:tgtEl>
                                        <p:attrNameLst>
                                          <p:attrName>style.visibility</p:attrName>
                                        </p:attrNameLst>
                                      </p:cBhvr>
                                      <p:to>
                                        <p:strVal val="visible"/>
                                      </p:to>
                                    </p:set>
                                    <p:anim calcmode="lin" valueType="num">
                                      <p:cBhvr>
                                        <p:cTn id="42" dur="1000" fill="hold"/>
                                        <p:tgtEl>
                                          <p:spTgt spid="132109"/>
                                        </p:tgtEl>
                                        <p:attrNameLst>
                                          <p:attrName>ppt_w</p:attrName>
                                        </p:attrNameLst>
                                      </p:cBhvr>
                                      <p:tavLst>
                                        <p:tav tm="0">
                                          <p:val>
                                            <p:strVal val="#ppt_w*0.70"/>
                                          </p:val>
                                        </p:tav>
                                        <p:tav tm="100000">
                                          <p:val>
                                            <p:strVal val="#ppt_w"/>
                                          </p:val>
                                        </p:tav>
                                      </p:tavLst>
                                    </p:anim>
                                    <p:anim calcmode="lin" valueType="num">
                                      <p:cBhvr>
                                        <p:cTn id="43" dur="1000" fill="hold"/>
                                        <p:tgtEl>
                                          <p:spTgt spid="132109"/>
                                        </p:tgtEl>
                                        <p:attrNameLst>
                                          <p:attrName>ppt_h</p:attrName>
                                        </p:attrNameLst>
                                      </p:cBhvr>
                                      <p:tavLst>
                                        <p:tav tm="0">
                                          <p:val>
                                            <p:strVal val="#ppt_h"/>
                                          </p:val>
                                        </p:tav>
                                        <p:tav tm="100000">
                                          <p:val>
                                            <p:strVal val="#ppt_h"/>
                                          </p:val>
                                        </p:tav>
                                      </p:tavLst>
                                    </p:anim>
                                    <p:animEffect transition="in" filter="fade">
                                      <p:cBhvr>
                                        <p:cTn id="44" dur="1000"/>
                                        <p:tgtEl>
                                          <p:spTgt spid="132109"/>
                                        </p:tgtEl>
                                      </p:cBhvr>
                                    </p:animEffect>
                                  </p:childTnLst>
                                </p:cTn>
                              </p:par>
                              <p:par>
                                <p:cTn id="45" presetID="55" presetClass="entr" presetSubtype="0" fill="hold" grpId="0" nodeType="withEffect" nodePh="1">
                                  <p:stCondLst>
                                    <p:cond delay="0"/>
                                  </p:stCondLst>
                                  <p:endCondLst>
                                    <p:cond evt="begin" delay="0">
                                      <p:tn val="45"/>
                                    </p:cond>
                                  </p:endCondLst>
                                  <p:childTnLst>
                                    <p:set>
                                      <p:cBhvr>
                                        <p:cTn id="46" dur="1" fill="hold">
                                          <p:stCondLst>
                                            <p:cond delay="0"/>
                                          </p:stCondLst>
                                        </p:cTn>
                                        <p:tgtEl>
                                          <p:spTgt spid="132111"/>
                                        </p:tgtEl>
                                        <p:attrNameLst>
                                          <p:attrName>style.visibility</p:attrName>
                                        </p:attrNameLst>
                                      </p:cBhvr>
                                      <p:to>
                                        <p:strVal val="visible"/>
                                      </p:to>
                                    </p:set>
                                    <p:anim calcmode="lin" valueType="num">
                                      <p:cBhvr>
                                        <p:cTn id="47" dur="1000" fill="hold"/>
                                        <p:tgtEl>
                                          <p:spTgt spid="132111"/>
                                        </p:tgtEl>
                                        <p:attrNameLst>
                                          <p:attrName>ppt_w</p:attrName>
                                        </p:attrNameLst>
                                      </p:cBhvr>
                                      <p:tavLst>
                                        <p:tav tm="0">
                                          <p:val>
                                            <p:strVal val="#ppt_w*0.70"/>
                                          </p:val>
                                        </p:tav>
                                        <p:tav tm="100000">
                                          <p:val>
                                            <p:strVal val="#ppt_w"/>
                                          </p:val>
                                        </p:tav>
                                      </p:tavLst>
                                    </p:anim>
                                    <p:anim calcmode="lin" valueType="num">
                                      <p:cBhvr>
                                        <p:cTn id="48" dur="1000" fill="hold"/>
                                        <p:tgtEl>
                                          <p:spTgt spid="132111"/>
                                        </p:tgtEl>
                                        <p:attrNameLst>
                                          <p:attrName>ppt_h</p:attrName>
                                        </p:attrNameLst>
                                      </p:cBhvr>
                                      <p:tavLst>
                                        <p:tav tm="0">
                                          <p:val>
                                            <p:strVal val="#ppt_h"/>
                                          </p:val>
                                        </p:tav>
                                        <p:tav tm="100000">
                                          <p:val>
                                            <p:strVal val="#ppt_h"/>
                                          </p:val>
                                        </p:tav>
                                      </p:tavLst>
                                    </p:anim>
                                    <p:animEffect transition="in" filter="fade">
                                      <p:cBhvr>
                                        <p:cTn id="49" dur="1000"/>
                                        <p:tgtEl>
                                          <p:spTgt spid="132111"/>
                                        </p:tgtEl>
                                      </p:cBhvr>
                                    </p:animEffect>
                                  </p:childTnLst>
                                </p:cTn>
                              </p:par>
                              <p:par>
                                <p:cTn id="50" presetID="55" presetClass="entr" presetSubtype="0" fill="hold" nodeType="withEffect">
                                  <p:stCondLst>
                                    <p:cond delay="0"/>
                                  </p:stCondLst>
                                  <p:childTnLst>
                                    <p:set>
                                      <p:cBhvr>
                                        <p:cTn id="51" dur="1" fill="hold">
                                          <p:stCondLst>
                                            <p:cond delay="0"/>
                                          </p:stCondLst>
                                        </p:cTn>
                                        <p:tgtEl>
                                          <p:spTgt spid="132110"/>
                                        </p:tgtEl>
                                        <p:attrNameLst>
                                          <p:attrName>style.visibility</p:attrName>
                                        </p:attrNameLst>
                                      </p:cBhvr>
                                      <p:to>
                                        <p:strVal val="visible"/>
                                      </p:to>
                                    </p:set>
                                    <p:anim calcmode="lin" valueType="num">
                                      <p:cBhvr>
                                        <p:cTn id="52" dur="1000" fill="hold"/>
                                        <p:tgtEl>
                                          <p:spTgt spid="132110"/>
                                        </p:tgtEl>
                                        <p:attrNameLst>
                                          <p:attrName>ppt_w</p:attrName>
                                        </p:attrNameLst>
                                      </p:cBhvr>
                                      <p:tavLst>
                                        <p:tav tm="0">
                                          <p:val>
                                            <p:strVal val="#ppt_w*0.70"/>
                                          </p:val>
                                        </p:tav>
                                        <p:tav tm="100000">
                                          <p:val>
                                            <p:strVal val="#ppt_w"/>
                                          </p:val>
                                        </p:tav>
                                      </p:tavLst>
                                    </p:anim>
                                    <p:anim calcmode="lin" valueType="num">
                                      <p:cBhvr>
                                        <p:cTn id="53" dur="1000" fill="hold"/>
                                        <p:tgtEl>
                                          <p:spTgt spid="132110"/>
                                        </p:tgtEl>
                                        <p:attrNameLst>
                                          <p:attrName>ppt_h</p:attrName>
                                        </p:attrNameLst>
                                      </p:cBhvr>
                                      <p:tavLst>
                                        <p:tav tm="0">
                                          <p:val>
                                            <p:strVal val="#ppt_h"/>
                                          </p:val>
                                        </p:tav>
                                        <p:tav tm="100000">
                                          <p:val>
                                            <p:strVal val="#ppt_h"/>
                                          </p:val>
                                        </p:tav>
                                      </p:tavLst>
                                    </p:anim>
                                    <p:animEffect transition="in" filter="fade">
                                      <p:cBhvr>
                                        <p:cTn id="54" dur="1000"/>
                                        <p:tgtEl>
                                          <p:spTgt spid="132110"/>
                                        </p:tgtEl>
                                      </p:cBhvr>
                                    </p:animEffect>
                                  </p:childTnLst>
                                </p:cTn>
                              </p:par>
                              <p:par>
                                <p:cTn id="55" presetID="55" presetClass="entr" presetSubtype="0" fill="hold" grpId="0" nodeType="withEffect">
                                  <p:stCondLst>
                                    <p:cond delay="0"/>
                                  </p:stCondLst>
                                  <p:childTnLst>
                                    <p:set>
                                      <p:cBhvr>
                                        <p:cTn id="56" dur="1" fill="hold">
                                          <p:stCondLst>
                                            <p:cond delay="0"/>
                                          </p:stCondLst>
                                        </p:cTn>
                                        <p:tgtEl>
                                          <p:spTgt spid="132112"/>
                                        </p:tgtEl>
                                        <p:attrNameLst>
                                          <p:attrName>style.visibility</p:attrName>
                                        </p:attrNameLst>
                                      </p:cBhvr>
                                      <p:to>
                                        <p:strVal val="visible"/>
                                      </p:to>
                                    </p:set>
                                    <p:anim calcmode="lin" valueType="num">
                                      <p:cBhvr>
                                        <p:cTn id="57" dur="1000" fill="hold"/>
                                        <p:tgtEl>
                                          <p:spTgt spid="132112"/>
                                        </p:tgtEl>
                                        <p:attrNameLst>
                                          <p:attrName>ppt_w</p:attrName>
                                        </p:attrNameLst>
                                      </p:cBhvr>
                                      <p:tavLst>
                                        <p:tav tm="0">
                                          <p:val>
                                            <p:strVal val="#ppt_w*0.70"/>
                                          </p:val>
                                        </p:tav>
                                        <p:tav tm="100000">
                                          <p:val>
                                            <p:strVal val="#ppt_w"/>
                                          </p:val>
                                        </p:tav>
                                      </p:tavLst>
                                    </p:anim>
                                    <p:anim calcmode="lin" valueType="num">
                                      <p:cBhvr>
                                        <p:cTn id="58" dur="1000" fill="hold"/>
                                        <p:tgtEl>
                                          <p:spTgt spid="132112"/>
                                        </p:tgtEl>
                                        <p:attrNameLst>
                                          <p:attrName>ppt_h</p:attrName>
                                        </p:attrNameLst>
                                      </p:cBhvr>
                                      <p:tavLst>
                                        <p:tav tm="0">
                                          <p:val>
                                            <p:strVal val="#ppt_h"/>
                                          </p:val>
                                        </p:tav>
                                        <p:tav tm="100000">
                                          <p:val>
                                            <p:strVal val="#ppt_h"/>
                                          </p:val>
                                        </p:tav>
                                      </p:tavLst>
                                    </p:anim>
                                    <p:animEffect transition="in" filter="fade">
                                      <p:cBhvr>
                                        <p:cTn id="59" dur="1000"/>
                                        <p:tgtEl>
                                          <p:spTgt spid="132112"/>
                                        </p:tgtEl>
                                      </p:cBhvr>
                                    </p:animEffect>
                                  </p:childTnLst>
                                </p:cTn>
                              </p:par>
                              <p:par>
                                <p:cTn id="60" presetID="55" presetClass="entr" presetSubtype="0" fill="hold" grpId="0" nodeType="withEffect">
                                  <p:stCondLst>
                                    <p:cond delay="0"/>
                                  </p:stCondLst>
                                  <p:childTnLst>
                                    <p:set>
                                      <p:cBhvr>
                                        <p:cTn id="61" dur="1" fill="hold">
                                          <p:stCondLst>
                                            <p:cond delay="0"/>
                                          </p:stCondLst>
                                        </p:cTn>
                                        <p:tgtEl>
                                          <p:spTgt spid="132113"/>
                                        </p:tgtEl>
                                        <p:attrNameLst>
                                          <p:attrName>style.visibility</p:attrName>
                                        </p:attrNameLst>
                                      </p:cBhvr>
                                      <p:to>
                                        <p:strVal val="visible"/>
                                      </p:to>
                                    </p:set>
                                    <p:anim calcmode="lin" valueType="num">
                                      <p:cBhvr>
                                        <p:cTn id="62" dur="1000" fill="hold"/>
                                        <p:tgtEl>
                                          <p:spTgt spid="132113"/>
                                        </p:tgtEl>
                                        <p:attrNameLst>
                                          <p:attrName>ppt_w</p:attrName>
                                        </p:attrNameLst>
                                      </p:cBhvr>
                                      <p:tavLst>
                                        <p:tav tm="0">
                                          <p:val>
                                            <p:strVal val="#ppt_w*0.70"/>
                                          </p:val>
                                        </p:tav>
                                        <p:tav tm="100000">
                                          <p:val>
                                            <p:strVal val="#ppt_w"/>
                                          </p:val>
                                        </p:tav>
                                      </p:tavLst>
                                    </p:anim>
                                    <p:anim calcmode="lin" valueType="num">
                                      <p:cBhvr>
                                        <p:cTn id="63" dur="1000" fill="hold"/>
                                        <p:tgtEl>
                                          <p:spTgt spid="132113"/>
                                        </p:tgtEl>
                                        <p:attrNameLst>
                                          <p:attrName>ppt_h</p:attrName>
                                        </p:attrNameLst>
                                      </p:cBhvr>
                                      <p:tavLst>
                                        <p:tav tm="0">
                                          <p:val>
                                            <p:strVal val="#ppt_h"/>
                                          </p:val>
                                        </p:tav>
                                        <p:tav tm="100000">
                                          <p:val>
                                            <p:strVal val="#ppt_h"/>
                                          </p:val>
                                        </p:tav>
                                      </p:tavLst>
                                    </p:anim>
                                    <p:animEffect transition="in" filter="fade">
                                      <p:cBhvr>
                                        <p:cTn id="64" dur="1000"/>
                                        <p:tgtEl>
                                          <p:spTgt spid="132113"/>
                                        </p:tgtEl>
                                      </p:cBhvr>
                                    </p:animEffect>
                                  </p:childTnLst>
                                </p:cTn>
                              </p:par>
                              <p:par>
                                <p:cTn id="65" presetID="55" presetClass="entr" presetSubtype="0" fill="hold" nodeType="withEffect">
                                  <p:stCondLst>
                                    <p:cond delay="0"/>
                                  </p:stCondLst>
                                  <p:childTnLst>
                                    <p:set>
                                      <p:cBhvr>
                                        <p:cTn id="66" dur="1" fill="hold">
                                          <p:stCondLst>
                                            <p:cond delay="0"/>
                                          </p:stCondLst>
                                        </p:cTn>
                                        <p:tgtEl>
                                          <p:spTgt spid="2"/>
                                        </p:tgtEl>
                                        <p:attrNameLst>
                                          <p:attrName>style.visibility</p:attrName>
                                        </p:attrNameLst>
                                      </p:cBhvr>
                                      <p:to>
                                        <p:strVal val="visible"/>
                                      </p:to>
                                    </p:set>
                                    <p:anim calcmode="lin" valueType="num">
                                      <p:cBhvr>
                                        <p:cTn id="67" dur="1000" fill="hold"/>
                                        <p:tgtEl>
                                          <p:spTgt spid="2"/>
                                        </p:tgtEl>
                                        <p:attrNameLst>
                                          <p:attrName>ppt_w</p:attrName>
                                        </p:attrNameLst>
                                      </p:cBhvr>
                                      <p:tavLst>
                                        <p:tav tm="0">
                                          <p:val>
                                            <p:strVal val="#ppt_w*0.70"/>
                                          </p:val>
                                        </p:tav>
                                        <p:tav tm="100000">
                                          <p:val>
                                            <p:strVal val="#ppt_w"/>
                                          </p:val>
                                        </p:tav>
                                      </p:tavLst>
                                    </p:anim>
                                    <p:anim calcmode="lin" valueType="num">
                                      <p:cBhvr>
                                        <p:cTn id="68" dur="1000" fill="hold"/>
                                        <p:tgtEl>
                                          <p:spTgt spid="2"/>
                                        </p:tgtEl>
                                        <p:attrNameLst>
                                          <p:attrName>ppt_h</p:attrName>
                                        </p:attrNameLst>
                                      </p:cBhvr>
                                      <p:tavLst>
                                        <p:tav tm="0">
                                          <p:val>
                                            <p:strVal val="#ppt_h"/>
                                          </p:val>
                                        </p:tav>
                                        <p:tav tm="100000">
                                          <p:val>
                                            <p:strVal val="#ppt_h"/>
                                          </p:val>
                                        </p:tav>
                                      </p:tavLst>
                                    </p:anim>
                                    <p:animEffect transition="in" filter="fade">
                                      <p:cBhvr>
                                        <p:cTn id="69" dur="1000"/>
                                        <p:tgtEl>
                                          <p:spTgt spid="2"/>
                                        </p:tgtEl>
                                      </p:cBhvr>
                                    </p:animEffect>
                                  </p:childTnLst>
                                </p:cTn>
                              </p:par>
                              <p:par>
                                <p:cTn id="70" presetID="55" presetClass="entr" presetSubtype="0" fill="hold" grpId="0" nodeType="withEffect">
                                  <p:stCondLst>
                                    <p:cond delay="0"/>
                                  </p:stCondLst>
                                  <p:childTnLst>
                                    <p:set>
                                      <p:cBhvr>
                                        <p:cTn id="71" dur="1" fill="hold">
                                          <p:stCondLst>
                                            <p:cond delay="0"/>
                                          </p:stCondLst>
                                        </p:cTn>
                                        <p:tgtEl>
                                          <p:spTgt spid="132120"/>
                                        </p:tgtEl>
                                        <p:attrNameLst>
                                          <p:attrName>style.visibility</p:attrName>
                                        </p:attrNameLst>
                                      </p:cBhvr>
                                      <p:to>
                                        <p:strVal val="visible"/>
                                      </p:to>
                                    </p:set>
                                    <p:anim calcmode="lin" valueType="num">
                                      <p:cBhvr>
                                        <p:cTn id="72" dur="1000" fill="hold"/>
                                        <p:tgtEl>
                                          <p:spTgt spid="132120"/>
                                        </p:tgtEl>
                                        <p:attrNameLst>
                                          <p:attrName>ppt_w</p:attrName>
                                        </p:attrNameLst>
                                      </p:cBhvr>
                                      <p:tavLst>
                                        <p:tav tm="0">
                                          <p:val>
                                            <p:strVal val="#ppt_w*0.70"/>
                                          </p:val>
                                        </p:tav>
                                        <p:tav tm="100000">
                                          <p:val>
                                            <p:strVal val="#ppt_w"/>
                                          </p:val>
                                        </p:tav>
                                      </p:tavLst>
                                    </p:anim>
                                    <p:anim calcmode="lin" valueType="num">
                                      <p:cBhvr>
                                        <p:cTn id="73" dur="1000" fill="hold"/>
                                        <p:tgtEl>
                                          <p:spTgt spid="132120"/>
                                        </p:tgtEl>
                                        <p:attrNameLst>
                                          <p:attrName>ppt_h</p:attrName>
                                        </p:attrNameLst>
                                      </p:cBhvr>
                                      <p:tavLst>
                                        <p:tav tm="0">
                                          <p:val>
                                            <p:strVal val="#ppt_h"/>
                                          </p:val>
                                        </p:tav>
                                        <p:tav tm="100000">
                                          <p:val>
                                            <p:strVal val="#ppt_h"/>
                                          </p:val>
                                        </p:tav>
                                      </p:tavLst>
                                    </p:anim>
                                    <p:animEffect transition="in" filter="fade">
                                      <p:cBhvr>
                                        <p:cTn id="74" dur="1000"/>
                                        <p:tgtEl>
                                          <p:spTgt spid="132120"/>
                                        </p:tgtEl>
                                      </p:cBhvr>
                                    </p:animEffect>
                                  </p:childTnLst>
                                </p:cTn>
                              </p:par>
                              <p:par>
                                <p:cTn id="75" presetID="55"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p:cTn id="77" dur="1000" fill="hold"/>
                                        <p:tgtEl>
                                          <p:spTgt spid="23"/>
                                        </p:tgtEl>
                                        <p:attrNameLst>
                                          <p:attrName>ppt_w</p:attrName>
                                        </p:attrNameLst>
                                      </p:cBhvr>
                                      <p:tavLst>
                                        <p:tav tm="0">
                                          <p:val>
                                            <p:strVal val="#ppt_w*0.70"/>
                                          </p:val>
                                        </p:tav>
                                        <p:tav tm="100000">
                                          <p:val>
                                            <p:strVal val="#ppt_w"/>
                                          </p:val>
                                        </p:tav>
                                      </p:tavLst>
                                    </p:anim>
                                    <p:anim calcmode="lin" valueType="num">
                                      <p:cBhvr>
                                        <p:cTn id="78" dur="1000" fill="hold"/>
                                        <p:tgtEl>
                                          <p:spTgt spid="23"/>
                                        </p:tgtEl>
                                        <p:attrNameLst>
                                          <p:attrName>ppt_h</p:attrName>
                                        </p:attrNameLst>
                                      </p:cBhvr>
                                      <p:tavLst>
                                        <p:tav tm="0">
                                          <p:val>
                                            <p:strVal val="#ppt_h"/>
                                          </p:val>
                                        </p:tav>
                                        <p:tav tm="100000">
                                          <p:val>
                                            <p:strVal val="#ppt_h"/>
                                          </p:val>
                                        </p:tav>
                                      </p:tavLst>
                                    </p:anim>
                                    <p:animEffect transition="in" filter="fade">
                                      <p:cBhvr>
                                        <p:cTn id="79" dur="1000"/>
                                        <p:tgtEl>
                                          <p:spTgt spid="23"/>
                                        </p:tgtEl>
                                      </p:cBhvr>
                                    </p:animEffect>
                                  </p:childTnLst>
                                </p:cTn>
                              </p:par>
                              <p:par>
                                <p:cTn id="80" presetID="55" presetClass="entr" presetSubtype="0"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p:cTn id="82" dur="1000" fill="hold"/>
                                        <p:tgtEl>
                                          <p:spTgt spid="24"/>
                                        </p:tgtEl>
                                        <p:attrNameLst>
                                          <p:attrName>ppt_w</p:attrName>
                                        </p:attrNameLst>
                                      </p:cBhvr>
                                      <p:tavLst>
                                        <p:tav tm="0">
                                          <p:val>
                                            <p:strVal val="#ppt_w*0.70"/>
                                          </p:val>
                                        </p:tav>
                                        <p:tav tm="100000">
                                          <p:val>
                                            <p:strVal val="#ppt_w"/>
                                          </p:val>
                                        </p:tav>
                                      </p:tavLst>
                                    </p:anim>
                                    <p:anim calcmode="lin" valueType="num">
                                      <p:cBhvr>
                                        <p:cTn id="83" dur="1000" fill="hold"/>
                                        <p:tgtEl>
                                          <p:spTgt spid="24"/>
                                        </p:tgtEl>
                                        <p:attrNameLst>
                                          <p:attrName>ppt_h</p:attrName>
                                        </p:attrNameLst>
                                      </p:cBhvr>
                                      <p:tavLst>
                                        <p:tav tm="0">
                                          <p:val>
                                            <p:strVal val="#ppt_h"/>
                                          </p:val>
                                        </p:tav>
                                        <p:tav tm="100000">
                                          <p:val>
                                            <p:strVal val="#ppt_h"/>
                                          </p:val>
                                        </p:tav>
                                      </p:tavLst>
                                    </p:anim>
                                    <p:animEffect transition="in" filter="fade">
                                      <p:cBhvr>
                                        <p:cTn id="84" dur="1000"/>
                                        <p:tgtEl>
                                          <p:spTgt spid="24"/>
                                        </p:tgtEl>
                                      </p:cBhvr>
                                    </p:animEffect>
                                  </p:childTnLst>
                                </p:cTn>
                              </p:par>
                            </p:childTnLst>
                          </p:cTn>
                        </p:par>
                        <p:par>
                          <p:cTn id="85" fill="hold" nodeType="afterGroup">
                            <p:stCondLst>
                              <p:cond delay="1000"/>
                            </p:stCondLst>
                            <p:childTnLst>
                              <p:par>
                                <p:cTn id="86" presetID="1" presetClass="entr" presetSubtype="0" fill="hold" nodeType="afterEffect">
                                  <p:stCondLst>
                                    <p:cond delay="0"/>
                                  </p:stCondLst>
                                  <p:childTnLst>
                                    <p:set>
                                      <p:cBhvr>
                                        <p:cTn id="87"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p:bldP spid="132101" grpId="0"/>
      <p:bldP spid="132102" grpId="0" animBg="1"/>
      <p:bldP spid="132103" grpId="0" animBg="1"/>
      <p:bldP spid="132106" grpId="0"/>
      <p:bldP spid="132108" grpId="0" animBg="1"/>
      <p:bldP spid="132109" grpId="0"/>
      <p:bldP spid="132111" grpId="0" animBg="1"/>
      <p:bldP spid="132112" grpId="0" animBg="1"/>
      <p:bldP spid="132113" grpId="0"/>
      <p:bldP spid="132120" grpId="0"/>
      <p:bldP spid="23" grpId="0" animBg="1"/>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6095999" y="226406"/>
            <a:ext cx="6096001"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s-ES_tradnl" sz="3200" b="1" dirty="0">
                <a:solidFill>
                  <a:schemeClr val="bg1"/>
                </a:solidFill>
                <a:latin typeface="Tahoma" pitchFamily="34" charset="0"/>
              </a:rPr>
              <a:t>Problema 1</a:t>
            </a:r>
            <a:endParaRPr lang="es-ES" sz="3200" b="1" dirty="0">
              <a:solidFill>
                <a:schemeClr val="bg1"/>
              </a:solidFill>
              <a:latin typeface="Tahoma" pitchFamily="34" charset="0"/>
            </a:endParaRPr>
          </a:p>
        </p:txBody>
      </p:sp>
      <p:grpSp>
        <p:nvGrpSpPr>
          <p:cNvPr id="5" name="Grupo 4">
            <a:extLst>
              <a:ext uri="{FF2B5EF4-FFF2-40B4-BE49-F238E27FC236}">
                <a16:creationId xmlns:a16="http://schemas.microsoft.com/office/drawing/2014/main" id="{AF9F5AC2-CAF3-417F-B6BF-662033053AB5}"/>
              </a:ext>
            </a:extLst>
          </p:cNvPr>
          <p:cNvGrpSpPr/>
          <p:nvPr/>
        </p:nvGrpSpPr>
        <p:grpSpPr>
          <a:xfrm>
            <a:off x="992173" y="3778377"/>
            <a:ext cx="10235802" cy="2484664"/>
            <a:chOff x="0" y="1881521"/>
            <a:chExt cx="8761614" cy="2890371"/>
          </a:xfrm>
          <a:solidFill>
            <a:schemeClr val="accent2"/>
          </a:solidFill>
        </p:grpSpPr>
        <p:sp>
          <p:nvSpPr>
            <p:cNvPr id="6" name="Rectángulo: esquinas redondeadas 5">
              <a:extLst>
                <a:ext uri="{FF2B5EF4-FFF2-40B4-BE49-F238E27FC236}">
                  <a16:creationId xmlns:a16="http://schemas.microsoft.com/office/drawing/2014/main" id="{5804EB15-A645-4181-A176-A195A23D2105}"/>
                </a:ext>
              </a:extLst>
            </p:cNvPr>
            <p:cNvSpPr/>
            <p:nvPr/>
          </p:nvSpPr>
          <p:spPr>
            <a:xfrm>
              <a:off x="0" y="1881521"/>
              <a:ext cx="8761614" cy="2890371"/>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7" name="Rectángulo: esquinas redondeadas 4">
              <a:extLst>
                <a:ext uri="{FF2B5EF4-FFF2-40B4-BE49-F238E27FC236}">
                  <a16:creationId xmlns:a16="http://schemas.microsoft.com/office/drawing/2014/main" id="{592CAE3B-A5DB-4997-8390-C60C99CA8EEB}"/>
                </a:ext>
              </a:extLst>
            </p:cNvPr>
            <p:cNvSpPr txBox="1"/>
            <p:nvPr/>
          </p:nvSpPr>
          <p:spPr>
            <a:xfrm>
              <a:off x="141096" y="2022617"/>
              <a:ext cx="8479422" cy="260817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ES_tradnl" sz="2800" b="0" kern="1200" dirty="0">
                  <a:latin typeface="Arial Narrow" pitchFamily="34" charset="0"/>
                </a:rPr>
                <a:t>Para decidir una determinada asignación de tareas deberíamos escoger de entre un total de 70! (Permutaciones de 70 elementos) aquella que maximiza el resultado final de la empresa. </a:t>
              </a:r>
            </a:p>
            <a:p>
              <a:pPr marL="0" lvl="0" indent="0" algn="just" defTabSz="1066800" rtl="0">
                <a:lnSpc>
                  <a:spcPct val="90000"/>
                </a:lnSpc>
                <a:spcBef>
                  <a:spcPct val="0"/>
                </a:spcBef>
                <a:spcAft>
                  <a:spcPct val="35000"/>
                </a:spcAft>
                <a:buNone/>
              </a:pPr>
              <a:r>
                <a:rPr lang="es-ES_tradnl" sz="2800" b="0" kern="1200" dirty="0">
                  <a:latin typeface="Arial Narrow" pitchFamily="34" charset="0"/>
                </a:rPr>
                <a:t>Como 70! es aproximadamente igual a 10</a:t>
              </a:r>
              <a:r>
                <a:rPr lang="es-ES_tradnl" sz="2800" b="0" kern="1200" baseline="30000" dirty="0">
                  <a:latin typeface="Arial Narrow" pitchFamily="34" charset="0"/>
                </a:rPr>
                <a:t>100</a:t>
              </a:r>
              <a:r>
                <a:rPr lang="es-ES_tradnl" sz="2800" b="0" kern="1200" dirty="0">
                  <a:latin typeface="Arial Narrow" pitchFamily="34" charset="0"/>
                </a:rPr>
                <a:t>, aún revisando un 1 millón de asignaciones diferentes al segundo necesitaríamos aproximadamente 10</a:t>
              </a:r>
              <a:r>
                <a:rPr lang="es-ES_tradnl" sz="2800" b="0" kern="1200" baseline="30000" dirty="0">
                  <a:latin typeface="Arial Narrow" pitchFamily="34" charset="0"/>
                </a:rPr>
                <a:t>87</a:t>
              </a:r>
              <a:r>
                <a:rPr lang="es-ES_tradnl" sz="2800" b="0" kern="1200" dirty="0">
                  <a:latin typeface="Arial Narrow" pitchFamily="34" charset="0"/>
                </a:rPr>
                <a:t> años para revisar todas las asignaciones posibles. IMPOSIBLE!</a:t>
              </a:r>
              <a:endParaRPr lang="es-PE" sz="2800" b="0" kern="1200" dirty="0">
                <a:latin typeface="Arial Narrow" pitchFamily="34" charset="0"/>
              </a:endParaRPr>
            </a:p>
          </p:txBody>
        </p:sp>
      </p:grpSp>
      <p:grpSp>
        <p:nvGrpSpPr>
          <p:cNvPr id="8" name="Grupo 7">
            <a:extLst>
              <a:ext uri="{FF2B5EF4-FFF2-40B4-BE49-F238E27FC236}">
                <a16:creationId xmlns:a16="http://schemas.microsoft.com/office/drawing/2014/main" id="{030125A3-4172-49AD-BF5C-05F59A4B5614}"/>
              </a:ext>
            </a:extLst>
          </p:cNvPr>
          <p:cNvGrpSpPr/>
          <p:nvPr/>
        </p:nvGrpSpPr>
        <p:grpSpPr>
          <a:xfrm>
            <a:off x="992173" y="1440611"/>
            <a:ext cx="10235802" cy="1397907"/>
            <a:chOff x="0" y="1949887"/>
            <a:chExt cx="8761614" cy="872117"/>
          </a:xfrm>
        </p:grpSpPr>
        <p:sp>
          <p:nvSpPr>
            <p:cNvPr id="9" name="Rectángulo: esquinas redondeadas 8">
              <a:extLst>
                <a:ext uri="{FF2B5EF4-FFF2-40B4-BE49-F238E27FC236}">
                  <a16:creationId xmlns:a16="http://schemas.microsoft.com/office/drawing/2014/main" id="{09A8E811-B992-41CD-9A59-ACB8B1C6FB64}"/>
                </a:ext>
              </a:extLst>
            </p:cNvPr>
            <p:cNvSpPr/>
            <p:nvPr/>
          </p:nvSpPr>
          <p:spPr>
            <a:xfrm>
              <a:off x="0" y="1949887"/>
              <a:ext cx="8761614" cy="872117"/>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Rectángulo: esquinas redondeadas 4">
              <a:extLst>
                <a:ext uri="{FF2B5EF4-FFF2-40B4-BE49-F238E27FC236}">
                  <a16:creationId xmlns:a16="http://schemas.microsoft.com/office/drawing/2014/main" id="{B2BC7570-AA74-4AE2-840B-4B3FA7511E37}"/>
                </a:ext>
              </a:extLst>
            </p:cNvPr>
            <p:cNvSpPr txBox="1"/>
            <p:nvPr/>
          </p:nvSpPr>
          <p:spPr>
            <a:xfrm>
              <a:off x="42573" y="1992460"/>
              <a:ext cx="8676468" cy="78697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ES_tradnl" sz="2800" b="0" kern="1200" dirty="0">
                  <a:latin typeface="Arial Narrow" pitchFamily="34" charset="0"/>
                </a:rPr>
                <a:t>Una empresa dispone de 70 trabajadores con cualificaciones diferentes (Economistas, Ingenieros, Auxiliares Administrativos, etc..) a los que hemos de asignar 70 actividades también diferentes. </a:t>
              </a:r>
              <a:endParaRPr lang="es-PE" sz="2800" b="0" kern="1200" dirty="0">
                <a:latin typeface="Arial Narrow" pitchFamily="34" charset="0"/>
              </a:endParaRPr>
            </a:p>
          </p:txBody>
        </p:sp>
      </p:grpSp>
      <p:sp>
        <p:nvSpPr>
          <p:cNvPr id="3" name="CuadroTexto 2">
            <a:extLst>
              <a:ext uri="{FF2B5EF4-FFF2-40B4-BE49-F238E27FC236}">
                <a16:creationId xmlns:a16="http://schemas.microsoft.com/office/drawing/2014/main" id="{DD480156-58CF-4737-B646-003CDBE209F8}"/>
              </a:ext>
            </a:extLst>
          </p:cNvPr>
          <p:cNvSpPr txBox="1"/>
          <p:nvPr/>
        </p:nvSpPr>
        <p:spPr>
          <a:xfrm>
            <a:off x="4323433" y="3071008"/>
            <a:ext cx="2559775" cy="523220"/>
          </a:xfrm>
          <a:prstGeom prst="rect">
            <a:avLst/>
          </a:prstGeom>
          <a:noFill/>
        </p:spPr>
        <p:txBody>
          <a:bodyPr wrap="square" rtlCol="0">
            <a:spAutoFit/>
          </a:bodyPr>
          <a:lstStyle/>
          <a:p>
            <a:pPr algn="ctr"/>
            <a:r>
              <a:rPr lang="es-ES" sz="2800" b="1" dirty="0">
                <a:solidFill>
                  <a:srgbClr val="FF0000"/>
                </a:solidFill>
                <a:latin typeface="Arial Narrow" panose="020B0606020202030204" pitchFamily="34" charset="0"/>
              </a:rPr>
              <a:t>Solución</a:t>
            </a:r>
            <a:endParaRPr lang="es-PE" sz="2800" b="1"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17766018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829993" y="1323888"/>
            <a:ext cx="10550769"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spcBef>
                <a:spcPct val="50000"/>
              </a:spcBef>
            </a:pPr>
            <a:r>
              <a:rPr lang="es-ES" sz="2800" dirty="0">
                <a:latin typeface="Arial Narrow" pitchFamily="34" charset="0"/>
                <a:cs typeface="Times New Roman" pitchFamily="18" charset="0"/>
              </a:rPr>
              <a:t>Dos empresas Mineras extraen dos tipos diferentes de minerales, los cuales son sometidos a un proceso de trituración, con tres grados: alto , medio y bajo. Las compañías han firmado un contrato para proveer de mineral a una planta de fundición cada semana, 12 toneladas de mineral de grado alto, 8 toneladas de grado medio y 24 toneladas de grado bajo. Cada una de las empresas tiene diferentes procesos de fabricación como se indica en la tabla. ¿cuántos días a la semana debería operar cada empresa para cumplir el contrato con la planta de fundición, sabiendo que se labora un dia completo de lunes a viernes.?</a:t>
            </a:r>
            <a:endParaRPr lang="es-ES" sz="2800" dirty="0">
              <a:latin typeface="Arial Narrow" pitchFamily="34" charset="0"/>
            </a:endParaRPr>
          </a:p>
        </p:txBody>
      </p:sp>
      <p:sp>
        <p:nvSpPr>
          <p:cNvPr id="11" name="Text Box 7"/>
          <p:cNvSpPr txBox="1">
            <a:spLocks noChangeArrowheads="1"/>
          </p:cNvSpPr>
          <p:nvPr/>
        </p:nvSpPr>
        <p:spPr bwMode="auto">
          <a:xfrm>
            <a:off x="6096000" y="268351"/>
            <a:ext cx="6096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s-ES_tradnl" sz="3200" b="1" dirty="0">
                <a:solidFill>
                  <a:schemeClr val="bg1"/>
                </a:solidFill>
                <a:latin typeface="Tahoma" pitchFamily="34" charset="0"/>
              </a:rPr>
              <a:t>Problema 2</a:t>
            </a:r>
            <a:endParaRPr lang="es-ES" sz="3200" b="1" dirty="0">
              <a:solidFill>
                <a:schemeClr val="bg1"/>
              </a:solidFill>
              <a:latin typeface="Tahoma" pitchFamily="34" charset="0"/>
            </a:endParaRPr>
          </a:p>
        </p:txBody>
      </p:sp>
      <p:graphicFrame>
        <p:nvGraphicFramePr>
          <p:cNvPr id="2" name="1 Tabla"/>
          <p:cNvGraphicFramePr>
            <a:graphicFrameLocks noGrp="1"/>
          </p:cNvGraphicFramePr>
          <p:nvPr/>
        </p:nvGraphicFramePr>
        <p:xfrm>
          <a:off x="2722790" y="4897423"/>
          <a:ext cx="8503787" cy="1828800"/>
        </p:xfrm>
        <a:graphic>
          <a:graphicData uri="http://schemas.openxmlformats.org/drawingml/2006/table">
            <a:tbl>
              <a:tblPr firstRow="1" bandRow="1">
                <a:tableStyleId>{5C22544A-7EE6-4342-B048-85BDC9FD1C3A}</a:tableStyleId>
              </a:tblPr>
              <a:tblGrid>
                <a:gridCol w="990180">
                  <a:extLst>
                    <a:ext uri="{9D8B030D-6E8A-4147-A177-3AD203B41FA5}">
                      <a16:colId xmlns:a16="http://schemas.microsoft.com/office/drawing/2014/main" val="20000"/>
                    </a:ext>
                  </a:extLst>
                </a:gridCol>
                <a:gridCol w="2225218">
                  <a:extLst>
                    <a:ext uri="{9D8B030D-6E8A-4147-A177-3AD203B41FA5}">
                      <a16:colId xmlns:a16="http://schemas.microsoft.com/office/drawing/2014/main" val="20001"/>
                    </a:ext>
                  </a:extLst>
                </a:gridCol>
                <a:gridCol w="1685016">
                  <a:extLst>
                    <a:ext uri="{9D8B030D-6E8A-4147-A177-3AD203B41FA5}">
                      <a16:colId xmlns:a16="http://schemas.microsoft.com/office/drawing/2014/main" val="20002"/>
                    </a:ext>
                  </a:extLst>
                </a:gridCol>
                <a:gridCol w="1878090">
                  <a:extLst>
                    <a:ext uri="{9D8B030D-6E8A-4147-A177-3AD203B41FA5}">
                      <a16:colId xmlns:a16="http://schemas.microsoft.com/office/drawing/2014/main" val="20003"/>
                    </a:ext>
                  </a:extLst>
                </a:gridCol>
                <a:gridCol w="1725283">
                  <a:extLst>
                    <a:ext uri="{9D8B030D-6E8A-4147-A177-3AD203B41FA5}">
                      <a16:colId xmlns:a16="http://schemas.microsoft.com/office/drawing/2014/main" val="20004"/>
                    </a:ext>
                  </a:extLst>
                </a:gridCol>
              </a:tblGrid>
              <a:tr h="389399">
                <a:tc>
                  <a:txBody>
                    <a:bodyPr/>
                    <a:lstStyle/>
                    <a:p>
                      <a:pPr algn="ctr"/>
                      <a:r>
                        <a:rPr lang="es-ES" sz="2400" b="0" dirty="0">
                          <a:latin typeface="Arial Narrow" pitchFamily="34" charset="0"/>
                        </a:rPr>
                        <a:t>Mina</a:t>
                      </a:r>
                      <a:endParaRPr lang="es-PE" sz="2400" b="0" dirty="0">
                        <a:latin typeface="Arial Narrow" pitchFamily="34" charset="0"/>
                      </a:endParaRPr>
                    </a:p>
                  </a:txBody>
                  <a:tcPr/>
                </a:tc>
                <a:tc>
                  <a:txBody>
                    <a:bodyPr/>
                    <a:lstStyle/>
                    <a:p>
                      <a:pPr algn="ctr"/>
                      <a:r>
                        <a:rPr lang="es-ES" sz="2400" b="0" dirty="0">
                          <a:latin typeface="Arial Narrow" pitchFamily="34" charset="0"/>
                          <a:cs typeface="Times New Roman" pitchFamily="18" charset="0"/>
                        </a:rPr>
                        <a:t>Coste por día ($)</a:t>
                      </a:r>
                      <a:endParaRPr lang="es-PE" sz="2400" b="0" dirty="0">
                        <a:latin typeface="Arial Narrow" pitchFamily="34" charset="0"/>
                      </a:endParaRPr>
                    </a:p>
                  </a:txBody>
                  <a:tcPr/>
                </a:tc>
                <a:tc>
                  <a:txBody>
                    <a:bodyPr/>
                    <a:lstStyle/>
                    <a:p>
                      <a:pPr algn="ctr"/>
                      <a:r>
                        <a:rPr lang="es-ES" sz="2400" b="0" dirty="0">
                          <a:latin typeface="Arial Narrow" pitchFamily="34" charset="0"/>
                        </a:rPr>
                        <a:t>Alto (</a:t>
                      </a:r>
                      <a:r>
                        <a:rPr lang="es-ES" sz="2400" b="0" dirty="0" err="1">
                          <a:latin typeface="Arial Narrow" pitchFamily="34" charset="0"/>
                        </a:rPr>
                        <a:t>Tn</a:t>
                      </a:r>
                      <a:r>
                        <a:rPr lang="es-ES" sz="2400" b="0" dirty="0">
                          <a:latin typeface="Arial Narrow" pitchFamily="34" charset="0"/>
                        </a:rPr>
                        <a:t>/día)</a:t>
                      </a:r>
                      <a:endParaRPr lang="es-PE" sz="2400" b="0" dirty="0">
                        <a:latin typeface="Arial Narrow" pitchFamily="34"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2400" b="0" dirty="0">
                          <a:latin typeface="Arial Narrow" pitchFamily="34" charset="0"/>
                        </a:rPr>
                        <a:t>Medio (</a:t>
                      </a:r>
                      <a:r>
                        <a:rPr lang="es-ES" sz="2400" b="0" dirty="0" err="1">
                          <a:latin typeface="Arial Narrow" pitchFamily="34" charset="0"/>
                        </a:rPr>
                        <a:t>Tn</a:t>
                      </a:r>
                      <a:r>
                        <a:rPr lang="es-ES" sz="2400" b="0" dirty="0">
                          <a:latin typeface="Arial Narrow" pitchFamily="34" charset="0"/>
                        </a:rPr>
                        <a:t>/día)</a:t>
                      </a:r>
                      <a:endParaRPr lang="es-PE" sz="2400" b="0" dirty="0">
                        <a:latin typeface="Arial Narrow" pitchFamily="34"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 sz="2400" b="0" dirty="0">
                          <a:latin typeface="Arial Narrow" pitchFamily="34" charset="0"/>
                        </a:rPr>
                        <a:t>Bajo (</a:t>
                      </a:r>
                      <a:r>
                        <a:rPr lang="es-ES" sz="2400" b="0" dirty="0" err="1">
                          <a:latin typeface="Arial Narrow" pitchFamily="34" charset="0"/>
                        </a:rPr>
                        <a:t>Tn</a:t>
                      </a:r>
                      <a:r>
                        <a:rPr lang="es-ES" sz="2400" b="0" dirty="0">
                          <a:latin typeface="Arial Narrow" pitchFamily="34" charset="0"/>
                        </a:rPr>
                        <a:t>/día)</a:t>
                      </a:r>
                      <a:endParaRPr lang="es-PE" sz="2400" b="0" dirty="0">
                        <a:latin typeface="Arial Narrow" pitchFamily="34" charset="0"/>
                      </a:endParaRPr>
                    </a:p>
                  </a:txBody>
                  <a:tcPr/>
                </a:tc>
                <a:extLst>
                  <a:ext uri="{0D108BD9-81ED-4DB2-BD59-A6C34878D82A}">
                    <a16:rowId xmlns:a16="http://schemas.microsoft.com/office/drawing/2014/main" val="10000"/>
                  </a:ext>
                </a:extLst>
              </a:tr>
              <a:tr h="413729">
                <a:tc>
                  <a:txBody>
                    <a:bodyPr/>
                    <a:lstStyle/>
                    <a:p>
                      <a:pPr algn="ctr"/>
                      <a:r>
                        <a:rPr lang="es-ES" sz="2400" b="0" dirty="0">
                          <a:latin typeface="Arial Narrow" pitchFamily="34" charset="0"/>
                        </a:rPr>
                        <a:t>1</a:t>
                      </a:r>
                      <a:endParaRPr lang="es-PE" sz="2400" b="0" dirty="0">
                        <a:latin typeface="Arial Narrow" pitchFamily="34" charset="0"/>
                      </a:endParaRPr>
                    </a:p>
                  </a:txBody>
                  <a:tcPr/>
                </a:tc>
                <a:tc>
                  <a:txBody>
                    <a:bodyPr/>
                    <a:lstStyle/>
                    <a:p>
                      <a:pPr algn="ctr"/>
                      <a:r>
                        <a:rPr lang="es-ES" sz="2400" b="0" dirty="0">
                          <a:latin typeface="Arial Narrow" pitchFamily="34" charset="0"/>
                        </a:rPr>
                        <a:t>180</a:t>
                      </a:r>
                      <a:endParaRPr lang="es-PE" sz="2400" b="0" dirty="0">
                        <a:latin typeface="Arial Narrow" pitchFamily="34" charset="0"/>
                      </a:endParaRPr>
                    </a:p>
                  </a:txBody>
                  <a:tcPr/>
                </a:tc>
                <a:tc>
                  <a:txBody>
                    <a:bodyPr/>
                    <a:lstStyle/>
                    <a:p>
                      <a:pPr algn="ctr"/>
                      <a:r>
                        <a:rPr lang="es-ES" sz="2400" b="0" dirty="0">
                          <a:latin typeface="Arial Narrow" pitchFamily="34" charset="0"/>
                        </a:rPr>
                        <a:t>6</a:t>
                      </a:r>
                      <a:endParaRPr lang="es-PE" sz="2400" b="0" dirty="0">
                        <a:latin typeface="Arial Narrow" pitchFamily="34" charset="0"/>
                      </a:endParaRPr>
                    </a:p>
                  </a:txBody>
                  <a:tcPr/>
                </a:tc>
                <a:tc>
                  <a:txBody>
                    <a:bodyPr/>
                    <a:lstStyle/>
                    <a:p>
                      <a:pPr algn="ctr"/>
                      <a:r>
                        <a:rPr lang="es-ES" sz="2400" b="0" dirty="0">
                          <a:latin typeface="Arial Narrow" pitchFamily="34" charset="0"/>
                        </a:rPr>
                        <a:t>3</a:t>
                      </a:r>
                      <a:endParaRPr lang="es-PE" sz="2400" b="0" dirty="0">
                        <a:latin typeface="Arial Narrow" pitchFamily="34" charset="0"/>
                      </a:endParaRPr>
                    </a:p>
                  </a:txBody>
                  <a:tcPr/>
                </a:tc>
                <a:tc>
                  <a:txBody>
                    <a:bodyPr/>
                    <a:lstStyle/>
                    <a:p>
                      <a:pPr algn="ctr"/>
                      <a:r>
                        <a:rPr lang="es-ES" sz="2400" b="0" dirty="0">
                          <a:latin typeface="Arial Narrow" pitchFamily="34" charset="0"/>
                        </a:rPr>
                        <a:t>4</a:t>
                      </a:r>
                      <a:endParaRPr lang="es-PE" sz="2400" b="0" dirty="0">
                        <a:latin typeface="Arial Narrow" pitchFamily="34" charset="0"/>
                      </a:endParaRPr>
                    </a:p>
                  </a:txBody>
                  <a:tcPr/>
                </a:tc>
                <a:extLst>
                  <a:ext uri="{0D108BD9-81ED-4DB2-BD59-A6C34878D82A}">
                    <a16:rowId xmlns:a16="http://schemas.microsoft.com/office/drawing/2014/main" val="10001"/>
                  </a:ext>
                </a:extLst>
              </a:tr>
              <a:tr h="413729">
                <a:tc>
                  <a:txBody>
                    <a:bodyPr/>
                    <a:lstStyle/>
                    <a:p>
                      <a:pPr algn="ctr"/>
                      <a:r>
                        <a:rPr lang="es-ES" sz="2400" b="0" dirty="0">
                          <a:latin typeface="Arial Narrow" pitchFamily="34" charset="0"/>
                        </a:rPr>
                        <a:t>2</a:t>
                      </a:r>
                      <a:endParaRPr lang="es-PE" sz="2400" b="0" dirty="0">
                        <a:latin typeface="Arial Narrow" pitchFamily="34" charset="0"/>
                      </a:endParaRPr>
                    </a:p>
                  </a:txBody>
                  <a:tcPr/>
                </a:tc>
                <a:tc>
                  <a:txBody>
                    <a:bodyPr/>
                    <a:lstStyle/>
                    <a:p>
                      <a:pPr algn="ctr"/>
                      <a:r>
                        <a:rPr lang="es-ES" sz="2400" b="0" dirty="0">
                          <a:latin typeface="Arial Narrow" pitchFamily="34" charset="0"/>
                        </a:rPr>
                        <a:t>160</a:t>
                      </a:r>
                      <a:endParaRPr lang="es-PE" sz="2400" b="0" dirty="0">
                        <a:latin typeface="Arial Narrow" pitchFamily="34" charset="0"/>
                      </a:endParaRPr>
                    </a:p>
                  </a:txBody>
                  <a:tcPr/>
                </a:tc>
                <a:tc>
                  <a:txBody>
                    <a:bodyPr/>
                    <a:lstStyle/>
                    <a:p>
                      <a:pPr algn="ctr"/>
                      <a:r>
                        <a:rPr lang="es-ES" sz="2400" b="0" dirty="0">
                          <a:latin typeface="Arial Narrow" pitchFamily="34" charset="0"/>
                        </a:rPr>
                        <a:t>1</a:t>
                      </a:r>
                      <a:endParaRPr lang="es-PE" sz="2400" b="0" dirty="0">
                        <a:latin typeface="Arial Narrow" pitchFamily="34" charset="0"/>
                      </a:endParaRPr>
                    </a:p>
                  </a:txBody>
                  <a:tcPr/>
                </a:tc>
                <a:tc>
                  <a:txBody>
                    <a:bodyPr/>
                    <a:lstStyle/>
                    <a:p>
                      <a:pPr algn="ctr"/>
                      <a:r>
                        <a:rPr lang="es-ES" sz="2400" b="0" dirty="0">
                          <a:latin typeface="Arial Narrow" pitchFamily="34" charset="0"/>
                        </a:rPr>
                        <a:t>1</a:t>
                      </a:r>
                      <a:endParaRPr lang="es-PE" sz="2400" b="0" dirty="0">
                        <a:latin typeface="Arial Narrow" pitchFamily="34" charset="0"/>
                      </a:endParaRPr>
                    </a:p>
                  </a:txBody>
                  <a:tcPr/>
                </a:tc>
                <a:tc>
                  <a:txBody>
                    <a:bodyPr/>
                    <a:lstStyle/>
                    <a:p>
                      <a:pPr algn="ctr"/>
                      <a:r>
                        <a:rPr lang="es-ES" sz="2400" b="0" dirty="0">
                          <a:latin typeface="Arial Narrow" pitchFamily="34" charset="0"/>
                        </a:rPr>
                        <a:t>6</a:t>
                      </a:r>
                      <a:endParaRPr lang="es-PE" sz="2400" b="0" dirty="0">
                        <a:latin typeface="Arial Narrow" pitchFamily="34" charset="0"/>
                      </a:endParaRPr>
                    </a:p>
                  </a:txBody>
                  <a:tcPr/>
                </a:tc>
                <a:extLst>
                  <a:ext uri="{0D108BD9-81ED-4DB2-BD59-A6C34878D82A}">
                    <a16:rowId xmlns:a16="http://schemas.microsoft.com/office/drawing/2014/main" val="10002"/>
                  </a:ext>
                </a:extLst>
              </a:tr>
              <a:tr h="413729">
                <a:tc>
                  <a:txBody>
                    <a:bodyPr/>
                    <a:lstStyle/>
                    <a:p>
                      <a:pPr algn="ctr"/>
                      <a:endParaRPr lang="es-PE" sz="2400" b="0" dirty="0">
                        <a:latin typeface="Arial Narrow" pitchFamily="34" charset="0"/>
                      </a:endParaRPr>
                    </a:p>
                  </a:txBody>
                  <a:tcPr/>
                </a:tc>
                <a:tc>
                  <a:txBody>
                    <a:bodyPr/>
                    <a:lstStyle/>
                    <a:p>
                      <a:pPr algn="ctr"/>
                      <a:endParaRPr lang="es-PE" sz="2400" b="0" dirty="0">
                        <a:latin typeface="Arial Narrow" pitchFamily="34" charset="0"/>
                      </a:endParaRPr>
                    </a:p>
                  </a:txBody>
                  <a:tcPr/>
                </a:tc>
                <a:tc>
                  <a:txBody>
                    <a:bodyPr/>
                    <a:lstStyle/>
                    <a:p>
                      <a:pPr algn="ctr"/>
                      <a:r>
                        <a:rPr lang="es-ES" sz="2400" b="0" dirty="0">
                          <a:latin typeface="Arial Narrow" pitchFamily="34" charset="0"/>
                        </a:rPr>
                        <a:t>12</a:t>
                      </a:r>
                      <a:endParaRPr lang="es-PE" sz="2400" b="0" dirty="0">
                        <a:latin typeface="Arial Narrow" pitchFamily="34" charset="0"/>
                      </a:endParaRPr>
                    </a:p>
                  </a:txBody>
                  <a:tcPr/>
                </a:tc>
                <a:tc>
                  <a:txBody>
                    <a:bodyPr/>
                    <a:lstStyle/>
                    <a:p>
                      <a:pPr algn="ctr"/>
                      <a:r>
                        <a:rPr lang="es-ES" sz="2400" b="0" dirty="0">
                          <a:latin typeface="Arial Narrow" pitchFamily="34" charset="0"/>
                        </a:rPr>
                        <a:t>8</a:t>
                      </a:r>
                      <a:endParaRPr lang="es-PE" sz="2400" b="0" dirty="0">
                        <a:latin typeface="Arial Narrow" pitchFamily="34" charset="0"/>
                      </a:endParaRPr>
                    </a:p>
                  </a:txBody>
                  <a:tcPr/>
                </a:tc>
                <a:tc>
                  <a:txBody>
                    <a:bodyPr/>
                    <a:lstStyle/>
                    <a:p>
                      <a:pPr algn="ctr"/>
                      <a:r>
                        <a:rPr lang="es-ES" sz="2400" b="0" dirty="0">
                          <a:latin typeface="Arial Narrow" pitchFamily="34" charset="0"/>
                        </a:rPr>
                        <a:t>24</a:t>
                      </a:r>
                      <a:endParaRPr lang="es-PE" sz="2400" b="0" dirty="0">
                        <a:latin typeface="Arial Narrow" pitchFamily="34" charset="0"/>
                      </a:endParaRPr>
                    </a:p>
                  </a:txBody>
                  <a:tcPr/>
                </a:tc>
                <a:extLst>
                  <a:ext uri="{0D108BD9-81ED-4DB2-BD59-A6C34878D82A}">
                    <a16:rowId xmlns:a16="http://schemas.microsoft.com/office/drawing/2014/main" val="2720185474"/>
                  </a:ext>
                </a:extLst>
              </a:tr>
            </a:tbl>
          </a:graphicData>
        </a:graphic>
      </p:graphicFrame>
      <p:sp>
        <p:nvSpPr>
          <p:cNvPr id="5" name="CuadroTexto 4">
            <a:extLst>
              <a:ext uri="{FF2B5EF4-FFF2-40B4-BE49-F238E27FC236}">
                <a16:creationId xmlns:a16="http://schemas.microsoft.com/office/drawing/2014/main" id="{9731146E-7618-4878-A7F5-AB74ADDCE0E2}"/>
              </a:ext>
            </a:extLst>
          </p:cNvPr>
          <p:cNvSpPr txBox="1"/>
          <p:nvPr/>
        </p:nvSpPr>
        <p:spPr>
          <a:xfrm>
            <a:off x="965423" y="5534112"/>
            <a:ext cx="1406118" cy="461665"/>
          </a:xfrm>
          <a:prstGeom prst="rect">
            <a:avLst/>
          </a:prstGeom>
          <a:noFill/>
        </p:spPr>
        <p:txBody>
          <a:bodyPr wrap="square" rtlCol="0">
            <a:spAutoFit/>
          </a:bodyPr>
          <a:lstStyle/>
          <a:p>
            <a:pPr algn="ctr"/>
            <a:r>
              <a:rPr lang="es-ES" sz="2400" b="1" dirty="0">
                <a:solidFill>
                  <a:srgbClr val="FF0000"/>
                </a:solidFill>
                <a:latin typeface="Arial Narrow" panose="020B0606020202030204" pitchFamily="34" charset="0"/>
              </a:rPr>
              <a:t>Solución</a:t>
            </a:r>
            <a:endParaRPr lang="es-PE" sz="2400" b="1"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2360948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additive="base">
                                        <p:cTn id="7" dur="500" fill="hold"/>
                                        <p:tgtEl>
                                          <p:spTgt spid="14339"/>
                                        </p:tgtEl>
                                        <p:attrNameLst>
                                          <p:attrName>ppt_x</p:attrName>
                                        </p:attrNameLst>
                                      </p:cBhvr>
                                      <p:tavLst>
                                        <p:tav tm="0">
                                          <p:val>
                                            <p:strVal val="0-#ppt_w/2"/>
                                          </p:val>
                                        </p:tav>
                                        <p:tav tm="100000">
                                          <p:val>
                                            <p:strVal val="#ppt_x"/>
                                          </p:val>
                                        </p:tav>
                                      </p:tavLst>
                                    </p:anim>
                                    <p:anim calcmode="lin" valueType="num">
                                      <p:cBhvr additive="base">
                                        <p:cTn id="8" dur="500" fill="hold"/>
                                        <p:tgtEl>
                                          <p:spTgt spid="1433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p:bldP spid="11"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6096000" y="241194"/>
            <a:ext cx="609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s-ES_tradnl" b="1" dirty="0">
                <a:solidFill>
                  <a:schemeClr val="bg1"/>
                </a:solidFill>
                <a:latin typeface="Tahoma" pitchFamily="34" charset="0"/>
              </a:rPr>
              <a:t>Modelo</a:t>
            </a:r>
            <a:endParaRPr lang="es-ES" b="1" dirty="0">
              <a:solidFill>
                <a:schemeClr val="bg1"/>
              </a:solidFill>
              <a:latin typeface="Tahoma" pitchFamily="34" charset="0"/>
            </a:endParaRPr>
          </a:p>
        </p:txBody>
      </p:sp>
      <p:sp>
        <p:nvSpPr>
          <p:cNvPr id="16387" name="Text Box 3"/>
          <p:cNvSpPr txBox="1">
            <a:spLocks noChangeArrowheads="1"/>
          </p:cNvSpPr>
          <p:nvPr/>
        </p:nvSpPr>
        <p:spPr bwMode="auto">
          <a:xfrm>
            <a:off x="478465" y="1295400"/>
            <a:ext cx="546513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r>
              <a:rPr lang="es-ES" sz="2800" b="1" u="sng" dirty="0">
                <a:solidFill>
                  <a:srgbClr val="FF0000"/>
                </a:solidFill>
                <a:latin typeface="Arial Narrow" panose="020B0606020202030204" pitchFamily="34" charset="0"/>
                <a:cs typeface="Times New Roman" pitchFamily="18" charset="0"/>
              </a:rPr>
              <a:t>Identificación de la variables</a:t>
            </a:r>
          </a:p>
          <a:p>
            <a:pPr algn="just" eaLnBrk="1" hangingPunct="1"/>
            <a:r>
              <a:rPr lang="es-ES" sz="2800" b="1" dirty="0" err="1">
                <a:latin typeface="Arial Narrow" panose="020B0606020202030204" pitchFamily="34" charset="0"/>
                <a:cs typeface="Times New Roman" pitchFamily="18" charset="0"/>
              </a:rPr>
              <a:t>X1</a:t>
            </a:r>
            <a:r>
              <a:rPr lang="es-ES" sz="2800" b="1" dirty="0">
                <a:latin typeface="Arial Narrow" panose="020B0606020202030204" pitchFamily="34" charset="0"/>
                <a:cs typeface="Times New Roman" pitchFamily="18" charset="0"/>
              </a:rPr>
              <a:t> = número de días a la semana que la empresa 1 produce</a:t>
            </a:r>
          </a:p>
          <a:p>
            <a:pPr algn="just" eaLnBrk="1" hangingPunct="1"/>
            <a:r>
              <a:rPr lang="es-ES" sz="2800" b="1" dirty="0" err="1">
                <a:latin typeface="Arial Narrow" panose="020B0606020202030204" pitchFamily="34" charset="0"/>
                <a:cs typeface="Times New Roman" pitchFamily="18" charset="0"/>
              </a:rPr>
              <a:t>X2</a:t>
            </a:r>
            <a:r>
              <a:rPr lang="es-ES" sz="2800" b="1" dirty="0">
                <a:latin typeface="Arial Narrow" panose="020B0606020202030204" pitchFamily="34" charset="0"/>
                <a:cs typeface="Times New Roman" pitchFamily="18" charset="0"/>
              </a:rPr>
              <a:t>= número de días a la semana que la empresa 2 produce</a:t>
            </a:r>
          </a:p>
        </p:txBody>
      </p:sp>
      <p:sp>
        <p:nvSpPr>
          <p:cNvPr id="16388" name="Text Box 4"/>
          <p:cNvSpPr txBox="1">
            <a:spLocks noChangeArrowheads="1"/>
          </p:cNvSpPr>
          <p:nvPr/>
        </p:nvSpPr>
        <p:spPr bwMode="auto">
          <a:xfrm>
            <a:off x="6182261" y="1225690"/>
            <a:ext cx="6009733"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s-ES" sz="2800" b="1" u="sng" dirty="0">
                <a:solidFill>
                  <a:srgbClr val="FF0000"/>
                </a:solidFill>
                <a:latin typeface="Arial Narrow" panose="020B0606020202030204" pitchFamily="34" charset="0"/>
                <a:cs typeface="Times New Roman" pitchFamily="18" charset="0"/>
              </a:rPr>
              <a:t>Identificación de las restricciones</a:t>
            </a:r>
          </a:p>
          <a:p>
            <a:pPr algn="just" eaLnBrk="1" hangingPunct="1"/>
            <a:r>
              <a:rPr lang="es-ES" sz="2800" b="1" dirty="0">
                <a:latin typeface="Arial Narrow" pitchFamily="34" charset="0"/>
                <a:cs typeface="Times New Roman" pitchFamily="18" charset="0"/>
              </a:rPr>
              <a:t>Según el balance entre las limitaciones productivas de la fábrica y el contrato con la planta de fundición </a:t>
            </a:r>
          </a:p>
          <a:p>
            <a:pPr algn="just" eaLnBrk="1" hangingPunct="1"/>
            <a:r>
              <a:rPr lang="es-ES" sz="2800" b="1" dirty="0">
                <a:latin typeface="Arial Narrow" pitchFamily="34" charset="0"/>
                <a:cs typeface="Times New Roman" pitchFamily="18" charset="0"/>
              </a:rPr>
              <a:t>Alto		</a:t>
            </a:r>
            <a:r>
              <a:rPr lang="es-ES" sz="2800" b="1" dirty="0" err="1">
                <a:latin typeface="Arial Narrow" pitchFamily="34" charset="0"/>
                <a:cs typeface="Times New Roman" pitchFamily="18" charset="0"/>
              </a:rPr>
              <a:t>6X1+1X2</a:t>
            </a:r>
            <a:r>
              <a:rPr lang="es-ES" sz="2800" b="1" dirty="0" err="1">
                <a:latin typeface="Arial Narrow" pitchFamily="34" charset="0"/>
                <a:cs typeface="Times New Roman" pitchFamily="18" charset="0"/>
                <a:sym typeface="Symbol" pitchFamily="18" charset="2"/>
              </a:rPr>
              <a:t></a:t>
            </a:r>
            <a:r>
              <a:rPr lang="es-ES" sz="2800" b="1" dirty="0" err="1">
                <a:latin typeface="Arial Narrow" pitchFamily="34" charset="0"/>
                <a:cs typeface="Times New Roman" pitchFamily="18" charset="0"/>
              </a:rPr>
              <a:t>12</a:t>
            </a:r>
            <a:endParaRPr lang="es-ES" sz="2800" b="1" dirty="0">
              <a:latin typeface="Arial Narrow" pitchFamily="34" charset="0"/>
              <a:cs typeface="Times New Roman" pitchFamily="18" charset="0"/>
            </a:endParaRPr>
          </a:p>
          <a:p>
            <a:pPr algn="just" eaLnBrk="1" hangingPunct="1"/>
            <a:r>
              <a:rPr lang="es-ES" sz="2800" b="1" dirty="0">
                <a:latin typeface="Arial Narrow" pitchFamily="34" charset="0"/>
                <a:cs typeface="Times New Roman" pitchFamily="18" charset="0"/>
              </a:rPr>
              <a:t>Medio		</a:t>
            </a:r>
            <a:r>
              <a:rPr lang="es-ES" sz="2800" b="1" dirty="0" err="1">
                <a:latin typeface="Arial Narrow" pitchFamily="34" charset="0"/>
                <a:cs typeface="Times New Roman" pitchFamily="18" charset="0"/>
              </a:rPr>
              <a:t>3X1+1X2</a:t>
            </a:r>
            <a:r>
              <a:rPr lang="es-ES" sz="2800" b="1" dirty="0" err="1">
                <a:latin typeface="Arial Narrow" pitchFamily="34" charset="0"/>
                <a:cs typeface="Times New Roman" pitchFamily="18" charset="0"/>
                <a:sym typeface="Symbol" pitchFamily="18" charset="2"/>
              </a:rPr>
              <a:t></a:t>
            </a:r>
            <a:r>
              <a:rPr lang="es-ES" sz="2800" b="1" dirty="0" err="1">
                <a:latin typeface="Arial Narrow" pitchFamily="34" charset="0"/>
                <a:cs typeface="Times New Roman" pitchFamily="18" charset="0"/>
              </a:rPr>
              <a:t>8</a:t>
            </a:r>
            <a:endParaRPr lang="es-ES" sz="2800" b="1" dirty="0">
              <a:latin typeface="Arial Narrow" pitchFamily="34" charset="0"/>
              <a:cs typeface="Times New Roman" pitchFamily="18" charset="0"/>
            </a:endParaRPr>
          </a:p>
          <a:p>
            <a:pPr eaLnBrk="1" hangingPunct="1"/>
            <a:r>
              <a:rPr lang="es-ES" sz="2800" b="1" dirty="0">
                <a:latin typeface="Arial Narrow" pitchFamily="34" charset="0"/>
                <a:cs typeface="Times New Roman" pitchFamily="18" charset="0"/>
              </a:rPr>
              <a:t>Bajo 		</a:t>
            </a:r>
            <a:r>
              <a:rPr lang="es-ES" sz="2800" b="1" dirty="0" err="1">
                <a:latin typeface="Arial Narrow" pitchFamily="34" charset="0"/>
                <a:cs typeface="Times New Roman" pitchFamily="18" charset="0"/>
              </a:rPr>
              <a:t>4X1+6X2</a:t>
            </a:r>
            <a:r>
              <a:rPr lang="es-ES" sz="2800" b="1" dirty="0" err="1">
                <a:latin typeface="Arial Narrow" pitchFamily="34" charset="0"/>
                <a:cs typeface="Times New Roman" pitchFamily="18" charset="0"/>
                <a:sym typeface="Symbol" pitchFamily="18" charset="2"/>
              </a:rPr>
              <a:t></a:t>
            </a:r>
            <a:r>
              <a:rPr lang="es-ES" sz="2800" b="1" dirty="0" err="1">
                <a:latin typeface="Arial Narrow" pitchFamily="34" charset="0"/>
                <a:cs typeface="Times New Roman" pitchFamily="18" charset="0"/>
              </a:rPr>
              <a:t>24</a:t>
            </a:r>
            <a:endParaRPr lang="es-ES" sz="2800" b="1" dirty="0">
              <a:latin typeface="Arial Narrow" pitchFamily="34" charset="0"/>
              <a:cs typeface="Times New Roman" pitchFamily="18" charset="0"/>
            </a:endParaRPr>
          </a:p>
          <a:p>
            <a:pPr algn="just" eaLnBrk="1" hangingPunct="1"/>
            <a:r>
              <a:rPr lang="es-ES" sz="2800" b="1" dirty="0">
                <a:latin typeface="Arial Narrow" pitchFamily="34" charset="0"/>
                <a:cs typeface="Times New Roman" pitchFamily="18" charset="0"/>
              </a:rPr>
              <a:t>Según los días de trabajo disponibles a la semana</a:t>
            </a:r>
          </a:p>
          <a:p>
            <a:pPr algn="just" eaLnBrk="1" hangingPunct="1"/>
            <a:r>
              <a:rPr lang="es-ES" sz="2800" b="1" dirty="0" err="1">
                <a:latin typeface="Arial Narrow" pitchFamily="34" charset="0"/>
                <a:cs typeface="Times New Roman" pitchFamily="18" charset="0"/>
              </a:rPr>
              <a:t>X1</a:t>
            </a:r>
            <a:r>
              <a:rPr lang="es-ES" sz="2800" b="1" dirty="0" err="1">
                <a:latin typeface="Arial Narrow" pitchFamily="34" charset="0"/>
                <a:cs typeface="Times New Roman" pitchFamily="18" charset="0"/>
                <a:sym typeface="Symbol" pitchFamily="18" charset="2"/>
              </a:rPr>
              <a:t></a:t>
            </a:r>
            <a:r>
              <a:rPr lang="es-ES" sz="2800" b="1" dirty="0" err="1">
                <a:latin typeface="Arial Narrow" pitchFamily="34" charset="0"/>
                <a:cs typeface="Times New Roman" pitchFamily="18" charset="0"/>
              </a:rPr>
              <a:t>5</a:t>
            </a:r>
            <a:r>
              <a:rPr lang="es-ES" sz="2800" b="1" dirty="0">
                <a:latin typeface="Arial Narrow" pitchFamily="34" charset="0"/>
                <a:cs typeface="Times New Roman" pitchFamily="18" charset="0"/>
              </a:rPr>
              <a:t> </a:t>
            </a:r>
          </a:p>
          <a:p>
            <a:pPr algn="just" eaLnBrk="1" hangingPunct="1"/>
            <a:r>
              <a:rPr lang="es-ES" sz="2800" b="1" dirty="0" err="1">
                <a:latin typeface="Arial Narrow" pitchFamily="34" charset="0"/>
                <a:cs typeface="Times New Roman" pitchFamily="18" charset="0"/>
              </a:rPr>
              <a:t>X2</a:t>
            </a:r>
            <a:r>
              <a:rPr lang="es-ES" sz="2800" b="1" dirty="0" err="1">
                <a:latin typeface="Arial Narrow" pitchFamily="34" charset="0"/>
                <a:cs typeface="Times New Roman" pitchFamily="18" charset="0"/>
                <a:sym typeface="Symbol" pitchFamily="18" charset="2"/>
              </a:rPr>
              <a:t></a:t>
            </a:r>
            <a:r>
              <a:rPr lang="es-ES" sz="2800" b="1" dirty="0" err="1">
                <a:latin typeface="Arial Narrow" pitchFamily="34" charset="0"/>
                <a:cs typeface="Times New Roman" pitchFamily="18" charset="0"/>
              </a:rPr>
              <a:t>5</a:t>
            </a:r>
            <a:endParaRPr lang="es-ES" sz="2800" b="1" dirty="0">
              <a:latin typeface="Arial Narrow" pitchFamily="34" charset="0"/>
              <a:cs typeface="Times New Roman" pitchFamily="18" charset="0"/>
            </a:endParaRPr>
          </a:p>
          <a:p>
            <a:pPr algn="just" eaLnBrk="1" hangingPunct="1"/>
            <a:r>
              <a:rPr lang="es-ES" sz="2800" b="1" dirty="0" err="1">
                <a:latin typeface="Arial Narrow" panose="020B0606020202030204" pitchFamily="34" charset="0"/>
                <a:cs typeface="Times New Roman" pitchFamily="18" charset="0"/>
              </a:rPr>
              <a:t>X1</a:t>
            </a:r>
            <a:r>
              <a:rPr lang="es-ES" sz="2800" b="1" dirty="0">
                <a:latin typeface="Arial Narrow" panose="020B0606020202030204" pitchFamily="34" charset="0"/>
                <a:cs typeface="Times New Roman" pitchFamily="18" charset="0"/>
              </a:rPr>
              <a:t>, </a:t>
            </a:r>
            <a:r>
              <a:rPr lang="es-ES" sz="2800" b="1" dirty="0" err="1">
                <a:latin typeface="Arial Narrow" panose="020B0606020202030204" pitchFamily="34" charset="0"/>
                <a:cs typeface="Times New Roman" pitchFamily="18" charset="0"/>
              </a:rPr>
              <a:t>X2</a:t>
            </a:r>
            <a:r>
              <a:rPr lang="es-ES" sz="2800" b="1" dirty="0">
                <a:latin typeface="Arial Narrow" panose="020B0606020202030204" pitchFamily="34" charset="0"/>
                <a:cs typeface="Times New Roman" pitchFamily="18" charset="0"/>
              </a:rPr>
              <a:t> </a:t>
            </a:r>
            <a:r>
              <a:rPr lang="es-ES" sz="2800" b="1" dirty="0">
                <a:latin typeface="Arial Narrow" panose="020B0606020202030204" pitchFamily="34" charset="0"/>
                <a:cs typeface="Times New Roman" pitchFamily="18" charset="0"/>
                <a:sym typeface="Symbol" pitchFamily="18" charset="2"/>
              </a:rPr>
              <a:t></a:t>
            </a:r>
            <a:r>
              <a:rPr lang="es-ES" sz="2800" b="1" dirty="0">
                <a:latin typeface="Arial Narrow" panose="020B0606020202030204" pitchFamily="34" charset="0"/>
                <a:cs typeface="Times New Roman" pitchFamily="18" charset="0"/>
              </a:rPr>
              <a:t>0 , ENTERO</a:t>
            </a:r>
            <a:endParaRPr lang="es-ES" sz="2800" b="1" dirty="0">
              <a:latin typeface="Arial Narrow" pitchFamily="34" charset="0"/>
            </a:endParaRPr>
          </a:p>
        </p:txBody>
      </p:sp>
      <p:sp>
        <p:nvSpPr>
          <p:cNvPr id="16389" name="Text Box 5"/>
          <p:cNvSpPr txBox="1">
            <a:spLocks noChangeArrowheads="1"/>
          </p:cNvSpPr>
          <p:nvPr/>
        </p:nvSpPr>
        <p:spPr bwMode="auto">
          <a:xfrm>
            <a:off x="478465" y="3848101"/>
            <a:ext cx="546513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r>
              <a:rPr lang="es-ES" sz="2800" b="1" u="sng" dirty="0">
                <a:solidFill>
                  <a:srgbClr val="FF0000"/>
                </a:solidFill>
                <a:latin typeface="Arial Narrow" panose="020B0606020202030204" pitchFamily="34" charset="0"/>
                <a:cs typeface="Times New Roman" pitchFamily="18" charset="0"/>
              </a:rPr>
              <a:t>Identificación de la Función Objetivo</a:t>
            </a:r>
          </a:p>
          <a:p>
            <a:pPr eaLnBrk="1" hangingPunct="1"/>
            <a:r>
              <a:rPr lang="es-ES" sz="2800" b="1" dirty="0">
                <a:latin typeface="Arial Narrow" panose="020B0606020202030204" pitchFamily="34" charset="0"/>
                <a:cs typeface="Times New Roman" pitchFamily="18" charset="0"/>
              </a:rPr>
              <a:t>Como objetivo buscamos minimizar el coste</a:t>
            </a:r>
            <a:r>
              <a:rPr lang="es-ES" sz="2800" b="1" dirty="0">
                <a:latin typeface="Arial Narrow" panose="020B0606020202030204" pitchFamily="34" charset="0"/>
              </a:rPr>
              <a:t> </a:t>
            </a:r>
          </a:p>
          <a:p>
            <a:pPr eaLnBrk="1" hangingPunct="1"/>
            <a:r>
              <a:rPr lang="es-ES" sz="2800" b="1" dirty="0">
                <a:latin typeface="Arial Narrow" panose="020B0606020202030204" pitchFamily="34" charset="0"/>
                <a:cs typeface="Times New Roman" pitchFamily="18" charset="0"/>
              </a:rPr>
              <a:t>Minimizar </a:t>
            </a:r>
            <a:r>
              <a:rPr lang="es-ES" sz="2800" b="1" dirty="0" err="1">
                <a:latin typeface="Arial Narrow" panose="020B0606020202030204" pitchFamily="34" charset="0"/>
                <a:cs typeface="Times New Roman" pitchFamily="18" charset="0"/>
              </a:rPr>
              <a:t>180X1+160X2</a:t>
            </a:r>
            <a:endParaRPr lang="es-ES" sz="2800" b="1" dirty="0">
              <a:latin typeface="Arial Narrow" panose="020B0606020202030204" pitchFamily="34" charset="0"/>
              <a:cs typeface="Times New Roman" pitchFamily="18" charset="0"/>
            </a:endParaRPr>
          </a:p>
          <a:p>
            <a:pPr eaLnBrk="1" hangingPunct="1"/>
            <a:endParaRPr lang="es-ES" sz="2800" b="1" dirty="0">
              <a:latin typeface="Arial Narrow" panose="020B0606020202030204" pitchFamily="34" charset="0"/>
            </a:endParaRPr>
          </a:p>
        </p:txBody>
      </p:sp>
      <p:sp>
        <p:nvSpPr>
          <p:cNvPr id="16390" name="Line 6"/>
          <p:cNvSpPr>
            <a:spLocks noChangeShapeType="1"/>
          </p:cNvSpPr>
          <p:nvPr/>
        </p:nvSpPr>
        <p:spPr bwMode="auto">
          <a:xfrm flipV="1">
            <a:off x="464323" y="3573014"/>
            <a:ext cx="5631677" cy="50593"/>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es-PE" sz="2800" b="1"/>
          </a:p>
        </p:txBody>
      </p:sp>
      <p:sp>
        <p:nvSpPr>
          <p:cNvPr id="16391" name="Line 7"/>
          <p:cNvSpPr>
            <a:spLocks noChangeShapeType="1"/>
          </p:cNvSpPr>
          <p:nvPr/>
        </p:nvSpPr>
        <p:spPr bwMode="auto">
          <a:xfrm>
            <a:off x="6096000" y="1143000"/>
            <a:ext cx="0" cy="54102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es-PE" sz="2800" b="1"/>
          </a:p>
        </p:txBody>
      </p:sp>
      <p:pic>
        <p:nvPicPr>
          <p:cNvPr id="8" name="Picture 14" descr="https://encrypted-tbn2.gstatic.com/images?q=tbn:ANd9GcSVjqtfFnEa9fHGxuHf-o9LquGrVzD_j99021mjKwip7ZBJYH8y3Q">
            <a:extLst>
              <a:ext uri="{FF2B5EF4-FFF2-40B4-BE49-F238E27FC236}">
                <a16:creationId xmlns:a16="http://schemas.microsoft.com/office/drawing/2014/main" id="{69E67867-158C-4673-BB1D-66F72C8F2960}"/>
              </a:ext>
            </a:extLst>
          </p:cNvPr>
          <p:cNvPicPr>
            <a:picLocks noChangeAspect="1" noChangeArrowheads="1"/>
          </p:cNvPicPr>
          <p:nvPr/>
        </p:nvPicPr>
        <p:blipFill>
          <a:blip r:embed="rId2"/>
          <a:srcRect/>
          <a:stretch>
            <a:fillRect/>
          </a:stretch>
        </p:blipFill>
        <p:spPr bwMode="auto">
          <a:xfrm>
            <a:off x="9402962" y="4878646"/>
            <a:ext cx="2324716" cy="150732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948739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0-#ppt_w/2"/>
                                          </p:val>
                                        </p:tav>
                                        <p:tav tm="100000">
                                          <p:val>
                                            <p:strVal val="#ppt_x"/>
                                          </p:val>
                                        </p:tav>
                                      </p:tavLst>
                                    </p:anim>
                                    <p:anim calcmode="lin" valueType="num">
                                      <p:cBhvr additive="base">
                                        <p:cTn id="8" dur="500" fill="hold"/>
                                        <p:tgtEl>
                                          <p:spTgt spid="1638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7">
                                            <p:txEl>
                                              <p:pRg st="0" end="0"/>
                                            </p:txEl>
                                          </p:spTgt>
                                        </p:tgtEl>
                                        <p:attrNameLst>
                                          <p:attrName>style.visibility</p:attrName>
                                        </p:attrNameLst>
                                      </p:cBhvr>
                                      <p:to>
                                        <p:strVal val="visible"/>
                                      </p:to>
                                    </p:set>
                                    <p:anim calcmode="lin" valueType="num">
                                      <p:cBhvr additive="base">
                                        <p:cTn id="13" dur="500" fill="hold"/>
                                        <p:tgtEl>
                                          <p:spTgt spid="1638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7">
                                            <p:txEl>
                                              <p:pRg st="1" end="1"/>
                                            </p:txEl>
                                          </p:spTgt>
                                        </p:tgtEl>
                                        <p:attrNameLst>
                                          <p:attrName>style.visibility</p:attrName>
                                        </p:attrNameLst>
                                      </p:cBhvr>
                                      <p:to>
                                        <p:strVal val="visible"/>
                                      </p:to>
                                    </p:set>
                                    <p:anim calcmode="lin" valueType="num">
                                      <p:cBhvr additive="base">
                                        <p:cTn id="19" dur="500" fill="hold"/>
                                        <p:tgtEl>
                                          <p:spTgt spid="1638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87">
                                            <p:txEl>
                                              <p:pRg st="2" end="2"/>
                                            </p:txEl>
                                          </p:spTgt>
                                        </p:tgtEl>
                                        <p:attrNameLst>
                                          <p:attrName>style.visibility</p:attrName>
                                        </p:attrNameLst>
                                      </p:cBhvr>
                                      <p:to>
                                        <p:strVal val="visible"/>
                                      </p:to>
                                    </p:set>
                                    <p:anim calcmode="lin" valueType="num">
                                      <p:cBhvr additive="base">
                                        <p:cTn id="25" dur="500" fill="hold"/>
                                        <p:tgtEl>
                                          <p:spTgt spid="16387">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87">
                                            <p:txEl>
                                              <p:pRg st="2" end="2"/>
                                            </p:txEl>
                                          </p:spTgt>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2" presetClass="entr" presetSubtype="8" fill="hold" grpId="0" nodeType="afterEffect">
                                  <p:stCondLst>
                                    <p:cond delay="0"/>
                                  </p:stCondLst>
                                  <p:childTnLst>
                                    <p:set>
                                      <p:cBhvr>
                                        <p:cTn id="29" dur="1" fill="hold">
                                          <p:stCondLst>
                                            <p:cond delay="0"/>
                                          </p:stCondLst>
                                        </p:cTn>
                                        <p:tgtEl>
                                          <p:spTgt spid="16390"/>
                                        </p:tgtEl>
                                        <p:attrNameLst>
                                          <p:attrName>style.visibility</p:attrName>
                                        </p:attrNameLst>
                                      </p:cBhvr>
                                      <p:to>
                                        <p:strVal val="visible"/>
                                      </p:to>
                                    </p:set>
                                    <p:anim calcmode="lin" valueType="num">
                                      <p:cBhvr additive="base">
                                        <p:cTn id="30" dur="500" fill="hold"/>
                                        <p:tgtEl>
                                          <p:spTgt spid="16390"/>
                                        </p:tgtEl>
                                        <p:attrNameLst>
                                          <p:attrName>ppt_x</p:attrName>
                                        </p:attrNameLst>
                                      </p:cBhvr>
                                      <p:tavLst>
                                        <p:tav tm="0">
                                          <p:val>
                                            <p:strVal val="0-#ppt_w/2"/>
                                          </p:val>
                                        </p:tav>
                                        <p:tav tm="100000">
                                          <p:val>
                                            <p:strVal val="#ppt_x"/>
                                          </p:val>
                                        </p:tav>
                                      </p:tavLst>
                                    </p:anim>
                                    <p:anim calcmode="lin" valueType="num">
                                      <p:cBhvr additive="base">
                                        <p:cTn id="31" dur="500" fill="hold"/>
                                        <p:tgtEl>
                                          <p:spTgt spid="16390"/>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6389"/>
                                        </p:tgtEl>
                                        <p:attrNameLst>
                                          <p:attrName>style.visibility</p:attrName>
                                        </p:attrNameLst>
                                      </p:cBhvr>
                                      <p:to>
                                        <p:strVal val="visible"/>
                                      </p:to>
                                    </p:set>
                                    <p:anim calcmode="lin" valueType="num">
                                      <p:cBhvr additive="base">
                                        <p:cTn id="36" dur="500" fill="hold"/>
                                        <p:tgtEl>
                                          <p:spTgt spid="16389"/>
                                        </p:tgtEl>
                                        <p:attrNameLst>
                                          <p:attrName>ppt_x</p:attrName>
                                        </p:attrNameLst>
                                      </p:cBhvr>
                                      <p:tavLst>
                                        <p:tav tm="0">
                                          <p:val>
                                            <p:strVal val="0-#ppt_w/2"/>
                                          </p:val>
                                        </p:tav>
                                        <p:tav tm="100000">
                                          <p:val>
                                            <p:strVal val="#ppt_x"/>
                                          </p:val>
                                        </p:tav>
                                      </p:tavLst>
                                    </p:anim>
                                    <p:anim calcmode="lin" valueType="num">
                                      <p:cBhvr additive="base">
                                        <p:cTn id="37" dur="500" fill="hold"/>
                                        <p:tgtEl>
                                          <p:spTgt spid="16389"/>
                                        </p:tgtEl>
                                        <p:attrNameLst>
                                          <p:attrName>ppt_y</p:attrName>
                                        </p:attrNameLst>
                                      </p:cBhvr>
                                      <p:tavLst>
                                        <p:tav tm="0">
                                          <p:val>
                                            <p:strVal val="#ppt_y"/>
                                          </p:val>
                                        </p:tav>
                                        <p:tav tm="100000">
                                          <p:val>
                                            <p:strVal val="#ppt_y"/>
                                          </p:val>
                                        </p:tav>
                                      </p:tavLst>
                                    </p:anim>
                                  </p:childTnLst>
                                </p:cTn>
                              </p:par>
                            </p:childTnLst>
                          </p:cTn>
                        </p:par>
                        <p:par>
                          <p:cTn id="38" fill="hold" nodeType="afterGroup">
                            <p:stCondLst>
                              <p:cond delay="500"/>
                            </p:stCondLst>
                            <p:childTnLst>
                              <p:par>
                                <p:cTn id="39" presetID="2" presetClass="entr" presetSubtype="8" fill="hold" grpId="0" nodeType="afterEffect">
                                  <p:stCondLst>
                                    <p:cond delay="0"/>
                                  </p:stCondLst>
                                  <p:childTnLst>
                                    <p:set>
                                      <p:cBhvr>
                                        <p:cTn id="40" dur="1" fill="hold">
                                          <p:stCondLst>
                                            <p:cond delay="0"/>
                                          </p:stCondLst>
                                        </p:cTn>
                                        <p:tgtEl>
                                          <p:spTgt spid="16391"/>
                                        </p:tgtEl>
                                        <p:attrNameLst>
                                          <p:attrName>style.visibility</p:attrName>
                                        </p:attrNameLst>
                                      </p:cBhvr>
                                      <p:to>
                                        <p:strVal val="visible"/>
                                      </p:to>
                                    </p:set>
                                    <p:anim calcmode="lin" valueType="num">
                                      <p:cBhvr additive="base">
                                        <p:cTn id="41" dur="500" fill="hold"/>
                                        <p:tgtEl>
                                          <p:spTgt spid="16391"/>
                                        </p:tgtEl>
                                        <p:attrNameLst>
                                          <p:attrName>ppt_x</p:attrName>
                                        </p:attrNameLst>
                                      </p:cBhvr>
                                      <p:tavLst>
                                        <p:tav tm="0">
                                          <p:val>
                                            <p:strVal val="0-#ppt_w/2"/>
                                          </p:val>
                                        </p:tav>
                                        <p:tav tm="100000">
                                          <p:val>
                                            <p:strVal val="#ppt_x"/>
                                          </p:val>
                                        </p:tav>
                                      </p:tavLst>
                                    </p:anim>
                                    <p:anim calcmode="lin" valueType="num">
                                      <p:cBhvr additive="base">
                                        <p:cTn id="42" dur="500" fill="hold"/>
                                        <p:tgtEl>
                                          <p:spTgt spid="16391"/>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6388">
                                            <p:txEl>
                                              <p:pRg st="0" end="0"/>
                                            </p:txEl>
                                          </p:spTgt>
                                        </p:tgtEl>
                                        <p:attrNameLst>
                                          <p:attrName>style.visibility</p:attrName>
                                        </p:attrNameLst>
                                      </p:cBhvr>
                                      <p:to>
                                        <p:strVal val="visible"/>
                                      </p:to>
                                    </p:set>
                                    <p:anim calcmode="lin" valueType="num">
                                      <p:cBhvr additive="base">
                                        <p:cTn id="47" dur="500" fill="hold"/>
                                        <p:tgtEl>
                                          <p:spTgt spid="16388">
                                            <p:txEl>
                                              <p:pRg st="0" end="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1638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16388">
                                            <p:txEl>
                                              <p:pRg st="1" end="1"/>
                                            </p:txEl>
                                          </p:spTgt>
                                        </p:tgtEl>
                                        <p:attrNameLst>
                                          <p:attrName>style.visibility</p:attrName>
                                        </p:attrNameLst>
                                      </p:cBhvr>
                                      <p:to>
                                        <p:strVal val="visible"/>
                                      </p:to>
                                    </p:set>
                                    <p:anim calcmode="lin" valueType="num">
                                      <p:cBhvr additive="base">
                                        <p:cTn id="53" dur="500" fill="hold"/>
                                        <p:tgtEl>
                                          <p:spTgt spid="16388">
                                            <p:txEl>
                                              <p:pRg st="1" end="1"/>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1638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16388">
                                            <p:txEl>
                                              <p:pRg st="2" end="2"/>
                                            </p:txEl>
                                          </p:spTgt>
                                        </p:tgtEl>
                                        <p:attrNameLst>
                                          <p:attrName>style.visibility</p:attrName>
                                        </p:attrNameLst>
                                      </p:cBhvr>
                                      <p:to>
                                        <p:strVal val="visible"/>
                                      </p:to>
                                    </p:set>
                                    <p:anim calcmode="lin" valueType="num">
                                      <p:cBhvr additive="base">
                                        <p:cTn id="59" dur="500" fill="hold"/>
                                        <p:tgtEl>
                                          <p:spTgt spid="16388">
                                            <p:txEl>
                                              <p:pRg st="2" end="2"/>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1638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16388">
                                            <p:txEl>
                                              <p:pRg st="3" end="3"/>
                                            </p:txEl>
                                          </p:spTgt>
                                        </p:tgtEl>
                                        <p:attrNameLst>
                                          <p:attrName>style.visibility</p:attrName>
                                        </p:attrNameLst>
                                      </p:cBhvr>
                                      <p:to>
                                        <p:strVal val="visible"/>
                                      </p:to>
                                    </p:set>
                                    <p:anim calcmode="lin" valueType="num">
                                      <p:cBhvr additive="base">
                                        <p:cTn id="65" dur="500" fill="hold"/>
                                        <p:tgtEl>
                                          <p:spTgt spid="16388">
                                            <p:txEl>
                                              <p:pRg st="3" end="3"/>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1638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16388">
                                            <p:txEl>
                                              <p:pRg st="4" end="4"/>
                                            </p:txEl>
                                          </p:spTgt>
                                        </p:tgtEl>
                                        <p:attrNameLst>
                                          <p:attrName>style.visibility</p:attrName>
                                        </p:attrNameLst>
                                      </p:cBhvr>
                                      <p:to>
                                        <p:strVal val="visible"/>
                                      </p:to>
                                    </p:set>
                                    <p:anim calcmode="lin" valueType="num">
                                      <p:cBhvr additive="base">
                                        <p:cTn id="71" dur="500" fill="hold"/>
                                        <p:tgtEl>
                                          <p:spTgt spid="16388">
                                            <p:txEl>
                                              <p:pRg st="4" end="4"/>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1638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8" fill="hold" grpId="0" nodeType="clickEffect">
                                  <p:stCondLst>
                                    <p:cond delay="0"/>
                                  </p:stCondLst>
                                  <p:childTnLst>
                                    <p:set>
                                      <p:cBhvr>
                                        <p:cTn id="76" dur="1" fill="hold">
                                          <p:stCondLst>
                                            <p:cond delay="0"/>
                                          </p:stCondLst>
                                        </p:cTn>
                                        <p:tgtEl>
                                          <p:spTgt spid="16388">
                                            <p:txEl>
                                              <p:pRg st="5" end="5"/>
                                            </p:txEl>
                                          </p:spTgt>
                                        </p:tgtEl>
                                        <p:attrNameLst>
                                          <p:attrName>style.visibility</p:attrName>
                                        </p:attrNameLst>
                                      </p:cBhvr>
                                      <p:to>
                                        <p:strVal val="visible"/>
                                      </p:to>
                                    </p:set>
                                    <p:anim calcmode="lin" valueType="num">
                                      <p:cBhvr additive="base">
                                        <p:cTn id="77" dur="500" fill="hold"/>
                                        <p:tgtEl>
                                          <p:spTgt spid="16388">
                                            <p:txEl>
                                              <p:pRg st="5" end="5"/>
                                            </p:tx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1638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8" fill="hold" grpId="0" nodeType="clickEffect">
                                  <p:stCondLst>
                                    <p:cond delay="0"/>
                                  </p:stCondLst>
                                  <p:childTnLst>
                                    <p:set>
                                      <p:cBhvr>
                                        <p:cTn id="82" dur="1" fill="hold">
                                          <p:stCondLst>
                                            <p:cond delay="0"/>
                                          </p:stCondLst>
                                        </p:cTn>
                                        <p:tgtEl>
                                          <p:spTgt spid="16388">
                                            <p:txEl>
                                              <p:pRg st="6" end="6"/>
                                            </p:txEl>
                                          </p:spTgt>
                                        </p:tgtEl>
                                        <p:attrNameLst>
                                          <p:attrName>style.visibility</p:attrName>
                                        </p:attrNameLst>
                                      </p:cBhvr>
                                      <p:to>
                                        <p:strVal val="visible"/>
                                      </p:to>
                                    </p:set>
                                    <p:anim calcmode="lin" valueType="num">
                                      <p:cBhvr additive="base">
                                        <p:cTn id="83" dur="500" fill="hold"/>
                                        <p:tgtEl>
                                          <p:spTgt spid="16388">
                                            <p:txEl>
                                              <p:pRg st="6" end="6"/>
                                            </p:txEl>
                                          </p:spTgt>
                                        </p:tgtEl>
                                        <p:attrNameLst>
                                          <p:attrName>ppt_x</p:attrName>
                                        </p:attrNameLst>
                                      </p:cBhvr>
                                      <p:tavLst>
                                        <p:tav tm="0">
                                          <p:val>
                                            <p:strVal val="0-#ppt_w/2"/>
                                          </p:val>
                                        </p:tav>
                                        <p:tav tm="100000">
                                          <p:val>
                                            <p:strVal val="#ppt_x"/>
                                          </p:val>
                                        </p:tav>
                                      </p:tavLst>
                                    </p:anim>
                                    <p:anim calcmode="lin" valueType="num">
                                      <p:cBhvr additive="base">
                                        <p:cTn id="84" dur="500" fill="hold"/>
                                        <p:tgtEl>
                                          <p:spTgt spid="1638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8" fill="hold" grpId="0" nodeType="clickEffect">
                                  <p:stCondLst>
                                    <p:cond delay="0"/>
                                  </p:stCondLst>
                                  <p:childTnLst>
                                    <p:set>
                                      <p:cBhvr>
                                        <p:cTn id="88" dur="1" fill="hold">
                                          <p:stCondLst>
                                            <p:cond delay="0"/>
                                          </p:stCondLst>
                                        </p:cTn>
                                        <p:tgtEl>
                                          <p:spTgt spid="16388">
                                            <p:txEl>
                                              <p:pRg st="7" end="7"/>
                                            </p:txEl>
                                          </p:spTgt>
                                        </p:tgtEl>
                                        <p:attrNameLst>
                                          <p:attrName>style.visibility</p:attrName>
                                        </p:attrNameLst>
                                      </p:cBhvr>
                                      <p:to>
                                        <p:strVal val="visible"/>
                                      </p:to>
                                    </p:set>
                                    <p:anim calcmode="lin" valueType="num">
                                      <p:cBhvr additive="base">
                                        <p:cTn id="89" dur="500" fill="hold"/>
                                        <p:tgtEl>
                                          <p:spTgt spid="16388">
                                            <p:txEl>
                                              <p:pRg st="7" end="7"/>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1638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8" fill="hold" grpId="0" nodeType="clickEffect">
                                  <p:stCondLst>
                                    <p:cond delay="0"/>
                                  </p:stCondLst>
                                  <p:childTnLst>
                                    <p:set>
                                      <p:cBhvr>
                                        <p:cTn id="94" dur="1" fill="hold">
                                          <p:stCondLst>
                                            <p:cond delay="0"/>
                                          </p:stCondLst>
                                        </p:cTn>
                                        <p:tgtEl>
                                          <p:spTgt spid="16388">
                                            <p:txEl>
                                              <p:pRg st="8" end="8"/>
                                            </p:txEl>
                                          </p:spTgt>
                                        </p:tgtEl>
                                        <p:attrNameLst>
                                          <p:attrName>style.visibility</p:attrName>
                                        </p:attrNameLst>
                                      </p:cBhvr>
                                      <p:to>
                                        <p:strVal val="visible"/>
                                      </p:to>
                                    </p:set>
                                    <p:anim calcmode="lin" valueType="num">
                                      <p:cBhvr additive="base">
                                        <p:cTn id="95" dur="500" fill="hold"/>
                                        <p:tgtEl>
                                          <p:spTgt spid="16388">
                                            <p:txEl>
                                              <p:pRg st="8" end="8"/>
                                            </p:txEl>
                                          </p:spTgt>
                                        </p:tgtEl>
                                        <p:attrNameLst>
                                          <p:attrName>ppt_x</p:attrName>
                                        </p:attrNameLst>
                                      </p:cBhvr>
                                      <p:tavLst>
                                        <p:tav tm="0">
                                          <p:val>
                                            <p:strVal val="0-#ppt_w/2"/>
                                          </p:val>
                                        </p:tav>
                                        <p:tav tm="100000">
                                          <p:val>
                                            <p:strVal val="#ppt_x"/>
                                          </p:val>
                                        </p:tav>
                                      </p:tavLst>
                                    </p:anim>
                                    <p:anim calcmode="lin" valueType="num">
                                      <p:cBhvr additive="base">
                                        <p:cTn id="96" dur="500" fill="hold"/>
                                        <p:tgtEl>
                                          <p:spTgt spid="16388">
                                            <p:txEl>
                                              <p:pRg st="8" end="8"/>
                                            </p:txEl>
                                          </p:spTgt>
                                        </p:tgtEl>
                                        <p:attrNameLst>
                                          <p:attrName>ppt_y</p:attrName>
                                        </p:attrNameLst>
                                      </p:cBhvr>
                                      <p:tavLst>
                                        <p:tav tm="0">
                                          <p:val>
                                            <p:strVal val="#ppt_y"/>
                                          </p:val>
                                        </p:tav>
                                        <p:tav tm="100000">
                                          <p:val>
                                            <p:strVal val="#ppt_y"/>
                                          </p:val>
                                        </p:tav>
                                      </p:tavLst>
                                    </p:anim>
                                  </p:childTnLst>
                                </p:cTn>
                              </p:par>
                            </p:childTnLst>
                          </p:cTn>
                        </p:par>
                        <p:par>
                          <p:cTn id="97" fill="hold">
                            <p:stCondLst>
                              <p:cond delay="500"/>
                            </p:stCondLst>
                            <p:childTnLst>
                              <p:par>
                                <p:cTn id="98" presetID="4" presetClass="entr" presetSubtype="16" fill="hold" nodeType="afterEffect">
                                  <p:stCondLst>
                                    <p:cond delay="0"/>
                                  </p:stCondLst>
                                  <p:childTnLst>
                                    <p:set>
                                      <p:cBhvr>
                                        <p:cTn id="99" dur="1" fill="hold">
                                          <p:stCondLst>
                                            <p:cond delay="0"/>
                                          </p:stCondLst>
                                        </p:cTn>
                                        <p:tgtEl>
                                          <p:spTgt spid="8"/>
                                        </p:tgtEl>
                                        <p:attrNameLst>
                                          <p:attrName>style.visibility</p:attrName>
                                        </p:attrNameLst>
                                      </p:cBhvr>
                                      <p:to>
                                        <p:strVal val="visible"/>
                                      </p:to>
                                    </p:set>
                                    <p:animEffect transition="in" filter="box(in)">
                                      <p:cBhvr>
                                        <p:cTn id="10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build="p" autoUpdateAnimBg="0"/>
      <p:bldP spid="16388" grpId="0" build="p" autoUpdateAnimBg="0"/>
      <p:bldP spid="16389" grpId="0" autoUpdateAnimBg="0"/>
      <p:bldP spid="16390" grpId="0" animBg="1"/>
      <p:bldP spid="1639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70121" y="1353366"/>
            <a:ext cx="5404884" cy="4832092"/>
          </a:xfrm>
          <a:prstGeom prst="rect">
            <a:avLst/>
          </a:prstGeom>
          <a:solidFill>
            <a:srgbClr val="FFFF00"/>
          </a:solidFill>
        </p:spPr>
        <p:txBody>
          <a:bodyPr wrap="square">
            <a:spAutoFit/>
          </a:bodyPr>
          <a:lstStyle/>
          <a:p>
            <a:r>
              <a:rPr lang="es-ES" sz="2800" b="1" dirty="0">
                <a:latin typeface="Arial" pitchFamily="34" charset="0"/>
                <a:cs typeface="Arial" pitchFamily="34" charset="0"/>
              </a:rPr>
              <a:t>Min </a:t>
            </a:r>
            <a:r>
              <a:rPr lang="es-ES" sz="2800" b="1" dirty="0" err="1">
                <a:latin typeface="Arial" pitchFamily="34" charset="0"/>
                <a:cs typeface="Arial" pitchFamily="34" charset="0"/>
              </a:rPr>
              <a:t>180X1+160X2</a:t>
            </a:r>
            <a:endParaRPr lang="es-ES" sz="2800" b="1" dirty="0">
              <a:latin typeface="Arial" pitchFamily="34" charset="0"/>
              <a:cs typeface="Arial" pitchFamily="34" charset="0"/>
            </a:endParaRPr>
          </a:p>
          <a:p>
            <a:r>
              <a:rPr lang="es-ES" sz="2800" b="1" dirty="0" err="1">
                <a:solidFill>
                  <a:srgbClr val="FF0000"/>
                </a:solidFill>
                <a:latin typeface="Arial" pitchFamily="34" charset="0"/>
                <a:cs typeface="Arial" pitchFamily="34" charset="0"/>
              </a:rPr>
              <a:t>SUBJECT</a:t>
            </a:r>
            <a:r>
              <a:rPr lang="es-ES" sz="2800" b="1" dirty="0">
                <a:solidFill>
                  <a:srgbClr val="FF0000"/>
                </a:solidFill>
                <a:latin typeface="Arial" pitchFamily="34" charset="0"/>
                <a:cs typeface="Arial" pitchFamily="34" charset="0"/>
              </a:rPr>
              <a:t> </a:t>
            </a:r>
            <a:r>
              <a:rPr lang="es-ES" sz="2800" b="1" dirty="0" err="1">
                <a:solidFill>
                  <a:srgbClr val="FF0000"/>
                </a:solidFill>
                <a:latin typeface="Arial" pitchFamily="34" charset="0"/>
                <a:cs typeface="Arial" pitchFamily="34" charset="0"/>
              </a:rPr>
              <a:t>TO</a:t>
            </a:r>
            <a:endParaRPr lang="es-ES" sz="2800" b="1" dirty="0">
              <a:solidFill>
                <a:srgbClr val="FF0000"/>
              </a:solidFill>
              <a:latin typeface="Arial" pitchFamily="34" charset="0"/>
              <a:cs typeface="Arial" pitchFamily="34" charset="0"/>
            </a:endParaRPr>
          </a:p>
          <a:p>
            <a:pPr algn="just"/>
            <a:r>
              <a:rPr lang="es-ES" sz="2800" b="1" dirty="0" err="1">
                <a:latin typeface="Arial" pitchFamily="34" charset="0"/>
                <a:cs typeface="Arial" pitchFamily="34" charset="0"/>
              </a:rPr>
              <a:t>6X1+1X2</a:t>
            </a:r>
            <a:r>
              <a:rPr lang="es-ES" sz="2800" b="1" dirty="0">
                <a:latin typeface="Arial" pitchFamily="34" charset="0"/>
                <a:cs typeface="Arial" pitchFamily="34" charset="0"/>
              </a:rPr>
              <a:t>&gt;=12</a:t>
            </a:r>
          </a:p>
          <a:p>
            <a:pPr algn="just"/>
            <a:r>
              <a:rPr lang="es-ES" sz="2800" b="1" dirty="0" err="1">
                <a:latin typeface="Arial" pitchFamily="34" charset="0"/>
                <a:cs typeface="Arial" pitchFamily="34" charset="0"/>
              </a:rPr>
              <a:t>3X1+1X2</a:t>
            </a:r>
            <a:r>
              <a:rPr lang="es-ES" sz="2800" b="1" dirty="0">
                <a:latin typeface="Arial" pitchFamily="34" charset="0"/>
                <a:cs typeface="Arial" pitchFamily="34" charset="0"/>
              </a:rPr>
              <a:t>&gt;=8</a:t>
            </a:r>
          </a:p>
          <a:p>
            <a:r>
              <a:rPr lang="es-ES" sz="2800" b="1" dirty="0" err="1">
                <a:latin typeface="Arial" pitchFamily="34" charset="0"/>
                <a:cs typeface="Arial" pitchFamily="34" charset="0"/>
              </a:rPr>
              <a:t>4X1+6X2</a:t>
            </a:r>
            <a:r>
              <a:rPr lang="es-ES" sz="2800" b="1" dirty="0">
                <a:latin typeface="Arial" pitchFamily="34" charset="0"/>
                <a:cs typeface="Arial" pitchFamily="34" charset="0"/>
              </a:rPr>
              <a:t>&gt;=24</a:t>
            </a:r>
          </a:p>
          <a:p>
            <a:pPr algn="just"/>
            <a:r>
              <a:rPr lang="es-ES" sz="2800" b="1" dirty="0">
                <a:latin typeface="Arial" pitchFamily="34" charset="0"/>
                <a:cs typeface="Arial" pitchFamily="34" charset="0"/>
              </a:rPr>
              <a:t>!Según los días de trabajo</a:t>
            </a:r>
          </a:p>
          <a:p>
            <a:pPr algn="just"/>
            <a:r>
              <a:rPr lang="es-ES" sz="2800" b="1" dirty="0" err="1">
                <a:latin typeface="Arial" pitchFamily="34" charset="0"/>
                <a:cs typeface="Arial" pitchFamily="34" charset="0"/>
              </a:rPr>
              <a:t>X1</a:t>
            </a:r>
            <a:r>
              <a:rPr lang="es-ES" sz="2800" b="1" dirty="0">
                <a:latin typeface="Arial" pitchFamily="34" charset="0"/>
                <a:cs typeface="Arial" pitchFamily="34" charset="0"/>
              </a:rPr>
              <a:t>&lt;=5 </a:t>
            </a:r>
          </a:p>
          <a:p>
            <a:pPr algn="just"/>
            <a:r>
              <a:rPr lang="es-ES" sz="2800" b="1" dirty="0" err="1">
                <a:latin typeface="Arial" pitchFamily="34" charset="0"/>
                <a:cs typeface="Arial" pitchFamily="34" charset="0"/>
              </a:rPr>
              <a:t>X2</a:t>
            </a:r>
            <a:r>
              <a:rPr lang="es-ES" sz="2800" b="1" dirty="0">
                <a:latin typeface="Arial" pitchFamily="34" charset="0"/>
                <a:cs typeface="Arial" pitchFamily="34" charset="0"/>
              </a:rPr>
              <a:t>&lt;=5</a:t>
            </a:r>
          </a:p>
          <a:p>
            <a:pPr algn="just"/>
            <a:r>
              <a:rPr lang="es-ES" sz="2800" b="1" dirty="0" err="1">
                <a:solidFill>
                  <a:srgbClr val="FF0000"/>
                </a:solidFill>
                <a:latin typeface="Arial" pitchFamily="34" charset="0"/>
                <a:cs typeface="Arial" pitchFamily="34" charset="0"/>
              </a:rPr>
              <a:t>END</a:t>
            </a:r>
            <a:endParaRPr lang="es-ES" sz="2800" b="1" dirty="0">
              <a:solidFill>
                <a:srgbClr val="FF0000"/>
              </a:solidFill>
              <a:latin typeface="Arial" pitchFamily="34" charset="0"/>
              <a:cs typeface="Arial" pitchFamily="34" charset="0"/>
            </a:endParaRPr>
          </a:p>
          <a:p>
            <a:pPr algn="just"/>
            <a:r>
              <a:rPr lang="es-ES" sz="2800" b="1" dirty="0" err="1">
                <a:solidFill>
                  <a:srgbClr val="FF0000"/>
                </a:solidFill>
                <a:latin typeface="Arial" pitchFamily="34" charset="0"/>
                <a:cs typeface="Arial" pitchFamily="34" charset="0"/>
              </a:rPr>
              <a:t>GIN</a:t>
            </a:r>
            <a:r>
              <a:rPr lang="es-ES" sz="2800" b="1" dirty="0">
                <a:solidFill>
                  <a:srgbClr val="FF0000"/>
                </a:solidFill>
                <a:latin typeface="Arial" pitchFamily="34" charset="0"/>
                <a:cs typeface="Arial" pitchFamily="34" charset="0"/>
              </a:rPr>
              <a:t> </a:t>
            </a:r>
            <a:r>
              <a:rPr lang="es-ES" sz="2800" b="1" dirty="0" err="1">
                <a:solidFill>
                  <a:srgbClr val="FF0000"/>
                </a:solidFill>
                <a:latin typeface="Arial" pitchFamily="34" charset="0"/>
                <a:cs typeface="Arial" pitchFamily="34" charset="0"/>
              </a:rPr>
              <a:t>X1</a:t>
            </a:r>
            <a:endParaRPr lang="es-ES" sz="2800" b="1" dirty="0">
              <a:solidFill>
                <a:srgbClr val="FF0000"/>
              </a:solidFill>
              <a:latin typeface="Arial" pitchFamily="34" charset="0"/>
              <a:cs typeface="Arial" pitchFamily="34" charset="0"/>
            </a:endParaRPr>
          </a:p>
          <a:p>
            <a:pPr algn="just"/>
            <a:r>
              <a:rPr lang="es-ES" sz="2800" b="1" dirty="0">
                <a:solidFill>
                  <a:srgbClr val="FF0000"/>
                </a:solidFill>
                <a:latin typeface="Arial" pitchFamily="34" charset="0"/>
                <a:cs typeface="Arial" pitchFamily="34" charset="0"/>
              </a:rPr>
              <a:t>GIN </a:t>
            </a:r>
            <a:r>
              <a:rPr lang="es-ES" sz="2800" b="1" dirty="0" err="1">
                <a:solidFill>
                  <a:srgbClr val="FF0000"/>
                </a:solidFill>
                <a:latin typeface="Arial" pitchFamily="34" charset="0"/>
                <a:cs typeface="Arial" pitchFamily="34" charset="0"/>
              </a:rPr>
              <a:t>X2</a:t>
            </a:r>
            <a:endParaRPr lang="es-ES" sz="2800" b="1" dirty="0">
              <a:solidFill>
                <a:srgbClr val="FF0000"/>
              </a:solidFill>
              <a:latin typeface="Arial" pitchFamily="34" charset="0"/>
              <a:cs typeface="Arial" pitchFamily="34" charset="0"/>
            </a:endParaRPr>
          </a:p>
        </p:txBody>
      </p:sp>
      <p:sp>
        <p:nvSpPr>
          <p:cNvPr id="3" name="2 CuadroTexto"/>
          <p:cNvSpPr txBox="1"/>
          <p:nvPr/>
        </p:nvSpPr>
        <p:spPr>
          <a:xfrm>
            <a:off x="6096000" y="251573"/>
            <a:ext cx="6096000" cy="584775"/>
          </a:xfrm>
          <a:prstGeom prst="rect">
            <a:avLst/>
          </a:prstGeom>
          <a:noFill/>
        </p:spPr>
        <p:txBody>
          <a:bodyPr wrap="square" rtlCol="0">
            <a:spAutoFit/>
          </a:bodyPr>
          <a:lstStyle/>
          <a:p>
            <a:pPr algn="ctr"/>
            <a:r>
              <a:rPr lang="es-ES" sz="3200" dirty="0">
                <a:solidFill>
                  <a:schemeClr val="bg1"/>
                </a:solidFill>
              </a:rPr>
              <a:t>LINDO</a:t>
            </a:r>
            <a:endParaRPr lang="es-PE" sz="3200" dirty="0">
              <a:solidFill>
                <a:schemeClr val="bg1"/>
              </a:solidFill>
            </a:endParaRPr>
          </a:p>
        </p:txBody>
      </p:sp>
      <p:sp>
        <p:nvSpPr>
          <p:cNvPr id="5" name="4 Rectángulo"/>
          <p:cNvSpPr/>
          <p:nvPr/>
        </p:nvSpPr>
        <p:spPr>
          <a:xfrm>
            <a:off x="5575005" y="1151347"/>
            <a:ext cx="6616995" cy="5693866"/>
          </a:xfrm>
          <a:prstGeom prst="rect">
            <a:avLst/>
          </a:prstGeom>
        </p:spPr>
        <p:txBody>
          <a:bodyPr wrap="square">
            <a:spAutoFit/>
          </a:bodyPr>
          <a:lstStyle/>
          <a:p>
            <a:r>
              <a:rPr lang="en-US" sz="2800" dirty="0">
                <a:solidFill>
                  <a:srgbClr val="7030A0"/>
                </a:solidFill>
              </a:rPr>
              <a:t>        OBJECTIVE FUNCTION VALUE</a:t>
            </a:r>
          </a:p>
          <a:p>
            <a:r>
              <a:rPr lang="en-US" sz="2800" dirty="0">
                <a:solidFill>
                  <a:srgbClr val="7030A0"/>
                </a:solidFill>
              </a:rPr>
              <a:t>        1)      840.0000</a:t>
            </a:r>
          </a:p>
          <a:p>
            <a:r>
              <a:rPr lang="en-US" sz="2800" dirty="0">
                <a:solidFill>
                  <a:srgbClr val="7030A0"/>
                </a:solidFill>
              </a:rPr>
              <a:t>  VARIABLE        VALUE          REDUCED COST</a:t>
            </a:r>
          </a:p>
          <a:p>
            <a:r>
              <a:rPr lang="en-US" sz="2800" dirty="0">
                <a:solidFill>
                  <a:srgbClr val="7030A0"/>
                </a:solidFill>
              </a:rPr>
              <a:t>        </a:t>
            </a:r>
            <a:r>
              <a:rPr lang="en-US" sz="2800" dirty="0" err="1">
                <a:solidFill>
                  <a:srgbClr val="7030A0"/>
                </a:solidFill>
              </a:rPr>
              <a:t>X1</a:t>
            </a:r>
            <a:r>
              <a:rPr lang="en-US" sz="2800" dirty="0">
                <a:solidFill>
                  <a:srgbClr val="7030A0"/>
                </a:solidFill>
              </a:rPr>
              <a:t>         2.000000        180.000000</a:t>
            </a:r>
          </a:p>
          <a:p>
            <a:r>
              <a:rPr lang="en-US" sz="2800" dirty="0">
                <a:solidFill>
                  <a:srgbClr val="7030A0"/>
                </a:solidFill>
              </a:rPr>
              <a:t>        </a:t>
            </a:r>
            <a:r>
              <a:rPr lang="en-US" sz="2800" dirty="0" err="1">
                <a:solidFill>
                  <a:srgbClr val="7030A0"/>
                </a:solidFill>
              </a:rPr>
              <a:t>X2</a:t>
            </a:r>
            <a:r>
              <a:rPr lang="en-US" sz="2800" dirty="0">
                <a:solidFill>
                  <a:srgbClr val="7030A0"/>
                </a:solidFill>
              </a:rPr>
              <a:t>         3.000000        160.000000</a:t>
            </a:r>
          </a:p>
          <a:p>
            <a:r>
              <a:rPr lang="en-US" sz="2800" dirty="0">
                <a:solidFill>
                  <a:srgbClr val="7030A0"/>
                </a:solidFill>
              </a:rPr>
              <a:t>       ROW   SLACK OR SURPLUS  DUAL PRICES</a:t>
            </a:r>
          </a:p>
          <a:p>
            <a:r>
              <a:rPr lang="en-US" sz="2800" dirty="0">
                <a:solidFill>
                  <a:srgbClr val="7030A0"/>
                </a:solidFill>
              </a:rPr>
              <a:t>        2)         3.000000          0.000000</a:t>
            </a:r>
          </a:p>
          <a:p>
            <a:r>
              <a:rPr lang="en-US" sz="2800" dirty="0">
                <a:solidFill>
                  <a:srgbClr val="7030A0"/>
                </a:solidFill>
              </a:rPr>
              <a:t>        3)         1.000000          0.000000</a:t>
            </a:r>
          </a:p>
          <a:p>
            <a:r>
              <a:rPr lang="en-US" sz="2800" dirty="0">
                <a:solidFill>
                  <a:srgbClr val="7030A0"/>
                </a:solidFill>
              </a:rPr>
              <a:t>        4)         2.000000          0.000000</a:t>
            </a:r>
          </a:p>
          <a:p>
            <a:r>
              <a:rPr lang="en-US" sz="2800" dirty="0">
                <a:solidFill>
                  <a:srgbClr val="7030A0"/>
                </a:solidFill>
              </a:rPr>
              <a:t>        5)         3.000000          0.000000</a:t>
            </a:r>
          </a:p>
          <a:p>
            <a:r>
              <a:rPr lang="en-US" sz="2800" dirty="0">
                <a:solidFill>
                  <a:srgbClr val="7030A0"/>
                </a:solidFill>
              </a:rPr>
              <a:t>        6)         2.000000          0.000000</a:t>
            </a:r>
          </a:p>
          <a:p>
            <a:r>
              <a:rPr lang="en-US" sz="2800" dirty="0">
                <a:solidFill>
                  <a:srgbClr val="7030A0"/>
                </a:solidFill>
              </a:rPr>
              <a:t> NO. ITERATIONS=       3</a:t>
            </a:r>
          </a:p>
          <a:p>
            <a:r>
              <a:rPr lang="en-US" sz="2800" dirty="0">
                <a:solidFill>
                  <a:srgbClr val="7030A0"/>
                </a:solidFill>
              </a:rPr>
              <a:t> BRANCHES=    0 </a:t>
            </a:r>
            <a:r>
              <a:rPr lang="en-US" sz="2800" dirty="0" err="1">
                <a:solidFill>
                  <a:srgbClr val="7030A0"/>
                </a:solidFill>
              </a:rPr>
              <a:t>DETERM</a:t>
            </a:r>
            <a:r>
              <a:rPr lang="en-US" sz="2800" dirty="0">
                <a:solidFill>
                  <a:srgbClr val="7030A0"/>
                </a:solidFill>
              </a:rPr>
              <a:t>.=  </a:t>
            </a:r>
            <a:r>
              <a:rPr lang="en-US" sz="2800" dirty="0" err="1">
                <a:solidFill>
                  <a:srgbClr val="7030A0"/>
                </a:solidFill>
              </a:rPr>
              <a:t>1.000E</a:t>
            </a:r>
            <a:r>
              <a:rPr lang="en-US" sz="2800" dirty="0">
                <a:solidFill>
                  <a:srgbClr val="7030A0"/>
                </a:solidFill>
              </a:rPr>
              <a:t>    0</a:t>
            </a:r>
            <a:endParaRPr lang="es-PE" sz="2800" dirty="0">
              <a:solidFill>
                <a:srgbClr val="7030A0"/>
              </a:solidFill>
            </a:endParaRPr>
          </a:p>
        </p:txBody>
      </p:sp>
    </p:spTree>
    <p:extLst>
      <p:ext uri="{BB962C8B-B14F-4D97-AF65-F5344CB8AC3E}">
        <p14:creationId xmlns:p14="http://schemas.microsoft.com/office/powerpoint/2010/main" val="279509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4339578" y="4552656"/>
          <a:ext cx="6264695" cy="2277461"/>
        </p:xfrm>
        <a:graphic>
          <a:graphicData uri="http://schemas.openxmlformats.org/drawingml/2006/table">
            <a:tbl>
              <a:tblPr>
                <a:tableStyleId>{5C22544A-7EE6-4342-B048-85BDC9FD1C3A}</a:tableStyleId>
              </a:tblPr>
              <a:tblGrid>
                <a:gridCol w="1578135">
                  <a:extLst>
                    <a:ext uri="{9D8B030D-6E8A-4147-A177-3AD203B41FA5}">
                      <a16:colId xmlns:a16="http://schemas.microsoft.com/office/drawing/2014/main" val="20000"/>
                    </a:ext>
                  </a:extLst>
                </a:gridCol>
                <a:gridCol w="1515627">
                  <a:extLst>
                    <a:ext uri="{9D8B030D-6E8A-4147-A177-3AD203B41FA5}">
                      <a16:colId xmlns:a16="http://schemas.microsoft.com/office/drawing/2014/main" val="20001"/>
                    </a:ext>
                  </a:extLst>
                </a:gridCol>
                <a:gridCol w="1594341">
                  <a:extLst>
                    <a:ext uri="{9D8B030D-6E8A-4147-A177-3AD203B41FA5}">
                      <a16:colId xmlns:a16="http://schemas.microsoft.com/office/drawing/2014/main" val="20002"/>
                    </a:ext>
                  </a:extLst>
                </a:gridCol>
                <a:gridCol w="1576592">
                  <a:extLst>
                    <a:ext uri="{9D8B030D-6E8A-4147-A177-3AD203B41FA5}">
                      <a16:colId xmlns:a16="http://schemas.microsoft.com/office/drawing/2014/main" val="20003"/>
                    </a:ext>
                  </a:extLst>
                </a:gridCol>
              </a:tblGrid>
              <a:tr h="372252">
                <a:tc>
                  <a:txBody>
                    <a:bodyPr/>
                    <a:lstStyle/>
                    <a:p>
                      <a:pPr algn="ctr">
                        <a:lnSpc>
                          <a:spcPct val="150000"/>
                        </a:lnSpc>
                        <a:spcAft>
                          <a:spcPts val="0"/>
                        </a:spcAft>
                      </a:pPr>
                      <a:r>
                        <a:rPr lang="es-PE" sz="2000" b="1" dirty="0">
                          <a:effectLst/>
                        </a:rPr>
                        <a:t>	</a:t>
                      </a:r>
                      <a:endParaRPr lang="es-PE" sz="2000" b="1" dirty="0">
                        <a:effectLst/>
                        <a:latin typeface="Times New Roman"/>
                        <a:ea typeface="Calibri"/>
                      </a:endParaRPr>
                    </a:p>
                  </a:txBody>
                  <a:tcPr marL="44450" marR="44450" marT="0" marB="0"/>
                </a:tc>
                <a:tc gridSpan="3">
                  <a:txBody>
                    <a:bodyPr/>
                    <a:lstStyle/>
                    <a:p>
                      <a:pPr algn="ctr">
                        <a:lnSpc>
                          <a:spcPct val="150000"/>
                        </a:lnSpc>
                        <a:spcAft>
                          <a:spcPts val="0"/>
                        </a:spcAft>
                      </a:pPr>
                      <a:r>
                        <a:rPr lang="es-PE" sz="2000" b="1">
                          <a:effectLst/>
                        </a:rPr>
                        <a:t>HACIA</a:t>
                      </a:r>
                      <a:endParaRPr lang="es-PE" sz="2000" b="1">
                        <a:effectLst/>
                        <a:latin typeface="Times New Roman"/>
                        <a:ea typeface="Calibri"/>
                      </a:endParaRPr>
                    </a:p>
                  </a:txBody>
                  <a:tcPr marL="44450" marR="44450" marT="0" marB="0"/>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0"/>
                  </a:ext>
                </a:extLst>
              </a:tr>
              <a:tr h="372121">
                <a:tc>
                  <a:txBody>
                    <a:bodyPr/>
                    <a:lstStyle/>
                    <a:p>
                      <a:pPr algn="ctr">
                        <a:lnSpc>
                          <a:spcPct val="150000"/>
                        </a:lnSpc>
                        <a:spcAft>
                          <a:spcPts val="0"/>
                        </a:spcAft>
                      </a:pPr>
                      <a:r>
                        <a:rPr lang="es-PE" sz="2000" b="1">
                          <a:effectLst/>
                        </a:rPr>
                        <a:t>DESDE</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DALLAS</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DENVER</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PHOENIX</a:t>
                      </a:r>
                      <a:endParaRPr lang="es-PE" sz="2000" b="1">
                        <a:effectLst/>
                        <a:latin typeface="Times New Roman"/>
                        <a:ea typeface="Calibri"/>
                      </a:endParaRPr>
                    </a:p>
                  </a:txBody>
                  <a:tcPr marL="44450" marR="44450" marT="0" marB="0"/>
                </a:tc>
                <a:extLst>
                  <a:ext uri="{0D108BD9-81ED-4DB2-BD59-A6C34878D82A}">
                    <a16:rowId xmlns:a16="http://schemas.microsoft.com/office/drawing/2014/main" val="10001"/>
                  </a:ext>
                </a:extLst>
              </a:tr>
              <a:tr h="372121">
                <a:tc>
                  <a:txBody>
                    <a:bodyPr/>
                    <a:lstStyle/>
                    <a:p>
                      <a:pPr algn="ctr">
                        <a:lnSpc>
                          <a:spcPct val="150000"/>
                        </a:lnSpc>
                        <a:spcAft>
                          <a:spcPts val="0"/>
                        </a:spcAft>
                      </a:pPr>
                      <a:r>
                        <a:rPr lang="es-PE" sz="2000" b="1">
                          <a:effectLst/>
                        </a:rPr>
                        <a:t>Nueva York</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1600</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dirty="0">
                          <a:effectLst/>
                        </a:rPr>
                        <a:t>1800</a:t>
                      </a:r>
                      <a:endParaRPr lang="es-PE" sz="2000" b="1" dirty="0">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2500</a:t>
                      </a:r>
                      <a:endParaRPr lang="es-PE" sz="2000" b="1">
                        <a:effectLst/>
                        <a:latin typeface="Times New Roman"/>
                        <a:ea typeface="Calibri"/>
                      </a:endParaRPr>
                    </a:p>
                  </a:txBody>
                  <a:tcPr marL="44450" marR="44450" marT="0" marB="0"/>
                </a:tc>
                <a:extLst>
                  <a:ext uri="{0D108BD9-81ED-4DB2-BD59-A6C34878D82A}">
                    <a16:rowId xmlns:a16="http://schemas.microsoft.com/office/drawing/2014/main" val="10002"/>
                  </a:ext>
                </a:extLst>
              </a:tr>
              <a:tr h="372121">
                <a:tc>
                  <a:txBody>
                    <a:bodyPr/>
                    <a:lstStyle/>
                    <a:p>
                      <a:pPr algn="ctr">
                        <a:lnSpc>
                          <a:spcPct val="150000"/>
                        </a:lnSpc>
                        <a:spcAft>
                          <a:spcPts val="0"/>
                        </a:spcAft>
                      </a:pPr>
                      <a:r>
                        <a:rPr lang="es-PE" sz="2000" b="1">
                          <a:effectLst/>
                        </a:rPr>
                        <a:t>Chicago</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900</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1000</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1800</a:t>
                      </a:r>
                      <a:endParaRPr lang="es-PE" sz="2000" b="1">
                        <a:effectLst/>
                        <a:latin typeface="Times New Roman"/>
                        <a:ea typeface="Calibri"/>
                      </a:endParaRPr>
                    </a:p>
                  </a:txBody>
                  <a:tcPr marL="44450" marR="44450" marT="0" marB="0"/>
                </a:tc>
                <a:extLst>
                  <a:ext uri="{0D108BD9-81ED-4DB2-BD59-A6C34878D82A}">
                    <a16:rowId xmlns:a16="http://schemas.microsoft.com/office/drawing/2014/main" val="10003"/>
                  </a:ext>
                </a:extLst>
              </a:tr>
              <a:tr h="644241">
                <a:tc>
                  <a:txBody>
                    <a:bodyPr/>
                    <a:lstStyle/>
                    <a:p>
                      <a:pPr algn="ctr">
                        <a:lnSpc>
                          <a:spcPct val="150000"/>
                        </a:lnSpc>
                        <a:spcAft>
                          <a:spcPts val="0"/>
                        </a:spcAft>
                      </a:pPr>
                      <a:r>
                        <a:rPr lang="es-PE" sz="2000" b="1">
                          <a:effectLst/>
                        </a:rPr>
                        <a:t>Los Ángeles</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1400</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1000</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dirty="0">
                          <a:effectLst/>
                        </a:rPr>
                        <a:t>400</a:t>
                      </a:r>
                      <a:endParaRPr lang="es-PE" sz="2000" b="1" dirty="0">
                        <a:effectLst/>
                        <a:latin typeface="Times New Roman"/>
                        <a:ea typeface="Calibri"/>
                      </a:endParaRPr>
                    </a:p>
                  </a:txBody>
                  <a:tcPr marL="44450" marR="44450" marT="0" marB="0"/>
                </a:tc>
                <a:extLst>
                  <a:ext uri="{0D108BD9-81ED-4DB2-BD59-A6C34878D82A}">
                    <a16:rowId xmlns:a16="http://schemas.microsoft.com/office/drawing/2014/main" val="10004"/>
                  </a:ext>
                </a:extLst>
              </a:tr>
            </a:tbl>
          </a:graphicData>
        </a:graphic>
      </p:graphicFrame>
      <p:sp>
        <p:nvSpPr>
          <p:cNvPr id="3" name="Rectangle 1"/>
          <p:cNvSpPr>
            <a:spLocks noChangeArrowheads="1"/>
          </p:cNvSpPr>
          <p:nvPr/>
        </p:nvSpPr>
        <p:spPr bwMode="auto">
          <a:xfrm>
            <a:off x="338469" y="1166613"/>
            <a:ext cx="1151506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400" dirty="0">
                <a:latin typeface="Arial" pitchFamily="34" charset="0"/>
                <a:ea typeface="Calibri" pitchFamily="34" charset="0"/>
                <a:cs typeface="Arial" pitchFamily="34" charset="0"/>
              </a:rPr>
              <a:t>Medican, Inc., renta equipo especializado de rayos X a hospitales. Actualmente hay tres máquinas ubicadas en Nueva York, dos en Chicago y tres en Los Ángeles. Hay hospitales en Dallas que requieren cuatro máquinas. Los de Denver y Phoenix necesitan cada uno dos máquinas. El costo (en dólares) de enviar una máquina de cada ciudad a cada hospital se muestra en la siguiente tabla:</a:t>
            </a:r>
            <a:endParaRPr lang="es-PE" sz="2400" dirty="0">
              <a:latin typeface="Arial" pitchFamily="34" charset="0"/>
              <a:cs typeface="Arial" pitchFamily="34" charset="0"/>
            </a:endParaRPr>
          </a:p>
          <a:p>
            <a:pPr algn="just" eaLnBrk="0" fontAlgn="base" hangingPunct="0">
              <a:spcBef>
                <a:spcPct val="0"/>
              </a:spcBef>
              <a:spcAft>
                <a:spcPct val="0"/>
              </a:spcAft>
            </a:pPr>
            <a:r>
              <a:rPr lang="es-PE" sz="2400" dirty="0">
                <a:latin typeface="Arial" pitchFamily="34" charset="0"/>
                <a:ea typeface="Calibri" pitchFamily="34" charset="0"/>
                <a:cs typeface="Arial" pitchFamily="34" charset="0"/>
              </a:rPr>
              <a:t>Dibuje una red de distribución que indique los suministros, demandas y otros datos relevantes apropiados (cuando sea adecuado, añada nodos y arcos figurados para obtener un problema equilibrado). Formule un modelo matemático para determinar cuántas máquinas deberían enviarse desde cada ciudad a cada hospital para incurrir en el mínimo costo. </a:t>
            </a:r>
            <a:endParaRPr lang="es-PE" sz="2400" dirty="0">
              <a:latin typeface="Arial" pitchFamily="34" charset="0"/>
              <a:cs typeface="Arial" pitchFamily="34" charset="0"/>
            </a:endParaRPr>
          </a:p>
        </p:txBody>
      </p:sp>
      <p:sp>
        <p:nvSpPr>
          <p:cNvPr id="4" name="Text Box 7">
            <a:extLst>
              <a:ext uri="{FF2B5EF4-FFF2-40B4-BE49-F238E27FC236}">
                <a16:creationId xmlns:a16="http://schemas.microsoft.com/office/drawing/2014/main" id="{E3E04AFB-C963-45CF-A915-5E001CA55C05}"/>
              </a:ext>
            </a:extLst>
          </p:cNvPr>
          <p:cNvSpPr txBox="1">
            <a:spLocks noChangeArrowheads="1"/>
          </p:cNvSpPr>
          <p:nvPr/>
        </p:nvSpPr>
        <p:spPr bwMode="auto">
          <a:xfrm>
            <a:off x="6096000" y="268351"/>
            <a:ext cx="6096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s-ES_tradnl" sz="3200" b="1" dirty="0">
                <a:solidFill>
                  <a:schemeClr val="bg1"/>
                </a:solidFill>
                <a:latin typeface="Tahoma" pitchFamily="34" charset="0"/>
              </a:rPr>
              <a:t>Problema 3</a:t>
            </a:r>
            <a:endParaRPr lang="es-ES" sz="3200" b="1" dirty="0">
              <a:solidFill>
                <a:schemeClr val="bg1"/>
              </a:solidFill>
              <a:latin typeface="Tahoma" pitchFamily="34" charset="0"/>
            </a:endParaRPr>
          </a:p>
        </p:txBody>
      </p:sp>
    </p:spTree>
    <p:extLst>
      <p:ext uri="{BB962C8B-B14F-4D97-AF65-F5344CB8AC3E}">
        <p14:creationId xmlns:p14="http://schemas.microsoft.com/office/powerpoint/2010/main" val="117559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 Grupo"/>
          <p:cNvGrpSpPr/>
          <p:nvPr/>
        </p:nvGrpSpPr>
        <p:grpSpPr>
          <a:xfrm>
            <a:off x="1751847" y="1201593"/>
            <a:ext cx="8444190" cy="5304809"/>
            <a:chOff x="282022" y="1084634"/>
            <a:chExt cx="7243087" cy="5304809"/>
          </a:xfrm>
        </p:grpSpPr>
        <p:grpSp>
          <p:nvGrpSpPr>
            <p:cNvPr id="918" name="Group 1"/>
            <p:cNvGrpSpPr/>
            <p:nvPr/>
          </p:nvGrpSpPr>
          <p:grpSpPr>
            <a:xfrm>
              <a:off x="500040" y="1084634"/>
              <a:ext cx="7025069" cy="5279852"/>
              <a:chOff x="500040" y="1084634"/>
              <a:chExt cx="7025069" cy="5279852"/>
            </a:xfrm>
          </p:grpSpPr>
          <p:sp>
            <p:nvSpPr>
              <p:cNvPr id="919" name="CustomShape 2"/>
              <p:cNvSpPr/>
              <p:nvPr/>
            </p:nvSpPr>
            <p:spPr>
              <a:xfrm>
                <a:off x="500040" y="1866553"/>
                <a:ext cx="1927440" cy="95265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2800" b="1" i="1" spc="-1" dirty="0">
                    <a:latin typeface="Arial"/>
                    <a:ea typeface="ＭＳ 明朝"/>
                  </a:rPr>
                  <a:t>New York</a:t>
                </a:r>
                <a:endParaRPr lang="es-PE" sz="2800" spc="-1" dirty="0">
                  <a:latin typeface="Arial"/>
                </a:endParaRPr>
              </a:p>
              <a:p>
                <a:pPr algn="ctr">
                  <a:lnSpc>
                    <a:spcPct val="100000"/>
                  </a:lnSpc>
                </a:pPr>
                <a:r>
                  <a:rPr lang="es-PE" sz="2800" b="1" i="1" spc="-1" dirty="0">
                    <a:latin typeface="Arial"/>
                    <a:ea typeface="ＭＳ 明朝"/>
                  </a:rPr>
                  <a:t>(3)</a:t>
                </a:r>
                <a:endParaRPr lang="es-PE" sz="2800" spc="-1" dirty="0">
                  <a:latin typeface="Arial"/>
                </a:endParaRPr>
              </a:p>
            </p:txBody>
          </p:sp>
          <p:sp>
            <p:nvSpPr>
              <p:cNvPr id="920" name="CustomShape 3"/>
              <p:cNvSpPr/>
              <p:nvPr/>
            </p:nvSpPr>
            <p:spPr>
              <a:xfrm>
                <a:off x="635718" y="3706428"/>
                <a:ext cx="1537501" cy="95265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2800" b="1" i="1" spc="-1" dirty="0">
                    <a:latin typeface="Arial"/>
                    <a:ea typeface="ＭＳ 明朝"/>
                  </a:rPr>
                  <a:t>  Chicago</a:t>
                </a:r>
                <a:endParaRPr lang="es-PE" sz="2800" spc="-1" dirty="0">
                  <a:latin typeface="Arial"/>
                </a:endParaRPr>
              </a:p>
              <a:p>
                <a:pPr algn="ctr">
                  <a:lnSpc>
                    <a:spcPct val="100000"/>
                  </a:lnSpc>
                </a:pPr>
                <a:r>
                  <a:rPr lang="es-PE" sz="2800" b="1" i="1" spc="-1" dirty="0">
                    <a:latin typeface="Arial"/>
                    <a:ea typeface="ＭＳ 明朝"/>
                  </a:rPr>
                  <a:t>(2)</a:t>
                </a:r>
                <a:endParaRPr lang="es-PE" sz="2800" spc="-1" dirty="0">
                  <a:latin typeface="Arial"/>
                </a:endParaRPr>
              </a:p>
            </p:txBody>
          </p:sp>
          <p:grpSp>
            <p:nvGrpSpPr>
              <p:cNvPr id="921" name="Group 4"/>
              <p:cNvGrpSpPr/>
              <p:nvPr/>
            </p:nvGrpSpPr>
            <p:grpSpPr>
              <a:xfrm>
                <a:off x="1400040" y="1084634"/>
                <a:ext cx="6125069" cy="5279852"/>
                <a:chOff x="1400040" y="1084634"/>
                <a:chExt cx="6125069" cy="5279852"/>
              </a:xfrm>
            </p:grpSpPr>
            <p:sp>
              <p:nvSpPr>
                <p:cNvPr id="922" name="CustomShape 5"/>
                <p:cNvSpPr/>
                <p:nvPr/>
              </p:nvSpPr>
              <p:spPr>
                <a:xfrm>
                  <a:off x="2286000" y="38746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sp>
            <p:sp>
              <p:nvSpPr>
                <p:cNvPr id="923" name="CustomShape 6"/>
                <p:cNvSpPr/>
                <p:nvPr/>
              </p:nvSpPr>
              <p:spPr>
                <a:xfrm>
                  <a:off x="5597640" y="20062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sp>
            <p:sp>
              <p:nvSpPr>
                <p:cNvPr id="924" name="CustomShape 7"/>
                <p:cNvSpPr/>
                <p:nvPr/>
              </p:nvSpPr>
              <p:spPr>
                <a:xfrm>
                  <a:off x="2286000" y="20534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sp>
            <p:sp>
              <p:nvSpPr>
                <p:cNvPr id="925" name="CustomShape 8"/>
                <p:cNvSpPr/>
                <p:nvPr/>
              </p:nvSpPr>
              <p:spPr>
                <a:xfrm>
                  <a:off x="5643720" y="40262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sp>
            <p:sp>
              <p:nvSpPr>
                <p:cNvPr id="926" name="CustomShape 9"/>
                <p:cNvSpPr/>
                <p:nvPr/>
              </p:nvSpPr>
              <p:spPr>
                <a:xfrm>
                  <a:off x="5715000" y="571500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sp>
            <p:sp>
              <p:nvSpPr>
                <p:cNvPr id="927" name="Line 10"/>
                <p:cNvSpPr/>
                <p:nvPr/>
              </p:nvSpPr>
              <p:spPr>
                <a:xfrm flipV="1">
                  <a:off x="2711570" y="2311200"/>
                  <a:ext cx="2885710" cy="26557"/>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sp>
            <p:sp>
              <p:nvSpPr>
                <p:cNvPr id="928" name="Line 11"/>
                <p:cNvSpPr/>
                <p:nvPr/>
              </p:nvSpPr>
              <p:spPr>
                <a:xfrm>
                  <a:off x="2702942" y="2406769"/>
                  <a:ext cx="2940417" cy="1771031"/>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sp>
            <p:sp>
              <p:nvSpPr>
                <p:cNvPr id="929" name="Line 12"/>
                <p:cNvSpPr/>
                <p:nvPr/>
              </p:nvSpPr>
              <p:spPr>
                <a:xfrm>
                  <a:off x="2643120" y="2500200"/>
                  <a:ext cx="3143160" cy="335160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sp>
            <p:sp>
              <p:nvSpPr>
                <p:cNvPr id="930" name="Line 13"/>
                <p:cNvSpPr/>
                <p:nvPr/>
              </p:nvSpPr>
              <p:spPr>
                <a:xfrm flipV="1">
                  <a:off x="2714400" y="2388600"/>
                  <a:ext cx="2882880" cy="16376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sp>
            <p:sp>
              <p:nvSpPr>
                <p:cNvPr id="931" name="Line 14"/>
                <p:cNvSpPr/>
                <p:nvPr/>
              </p:nvSpPr>
              <p:spPr>
                <a:xfrm>
                  <a:off x="2714400" y="4177800"/>
                  <a:ext cx="2928960" cy="4860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sp>
            <p:sp>
              <p:nvSpPr>
                <p:cNvPr id="932" name="Line 15"/>
                <p:cNvSpPr/>
                <p:nvPr/>
              </p:nvSpPr>
              <p:spPr>
                <a:xfrm>
                  <a:off x="2643120" y="4329720"/>
                  <a:ext cx="3071880" cy="15278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sp>
            <p:sp>
              <p:nvSpPr>
                <p:cNvPr id="933" name="CustomShape 16"/>
                <p:cNvSpPr/>
                <p:nvPr/>
              </p:nvSpPr>
              <p:spPr>
                <a:xfrm>
                  <a:off x="1400040" y="1084634"/>
                  <a:ext cx="947900" cy="952653"/>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s-PE" sz="2800" b="1" i="1" spc="-1">
                      <a:latin typeface="Arial"/>
                      <a:ea typeface="ＭＳ 明朝"/>
                    </a:rPr>
                    <a:t>	</a:t>
                  </a:r>
                  <a:endParaRPr lang="es-PE" sz="2800" spc="-1">
                    <a:latin typeface="Arial"/>
                  </a:endParaRPr>
                </a:p>
                <a:p>
                  <a:pPr>
                    <a:lnSpc>
                      <a:spcPct val="100000"/>
                    </a:lnSpc>
                  </a:pPr>
                  <a:endParaRPr lang="es-PE" sz="2800" spc="-1">
                    <a:latin typeface="Arial"/>
                  </a:endParaRPr>
                </a:p>
              </p:txBody>
            </p:sp>
            <p:sp>
              <p:nvSpPr>
                <p:cNvPr id="934" name="CustomShape 17"/>
                <p:cNvSpPr/>
                <p:nvPr/>
              </p:nvSpPr>
              <p:spPr>
                <a:xfrm>
                  <a:off x="3214800" y="1842597"/>
                  <a:ext cx="914760" cy="521766"/>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800" b="1" spc="-1">
                      <a:latin typeface="Arial"/>
                      <a:ea typeface="ＭＳ 明朝"/>
                    </a:rPr>
                    <a:t>X11</a:t>
                  </a:r>
                  <a:endParaRPr lang="es-PE" sz="2800" spc="-1">
                    <a:latin typeface="Arial"/>
                  </a:endParaRPr>
                </a:p>
              </p:txBody>
            </p:sp>
            <p:sp>
              <p:nvSpPr>
                <p:cNvPr id="935" name="CustomShape 18"/>
                <p:cNvSpPr/>
                <p:nvPr/>
              </p:nvSpPr>
              <p:spPr>
                <a:xfrm>
                  <a:off x="6209046" y="3763393"/>
                  <a:ext cx="1304726" cy="95265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2800" b="1" i="1" spc="-1" dirty="0">
                      <a:latin typeface="Arial"/>
                      <a:ea typeface="ＭＳ 明朝"/>
                    </a:rPr>
                    <a:t> Denver</a:t>
                  </a:r>
                  <a:endParaRPr lang="es-PE" sz="2800" spc="-1" dirty="0">
                    <a:latin typeface="Arial"/>
                  </a:endParaRPr>
                </a:p>
                <a:p>
                  <a:pPr algn="ctr">
                    <a:lnSpc>
                      <a:spcPct val="100000"/>
                    </a:lnSpc>
                  </a:pPr>
                  <a:r>
                    <a:rPr lang="es-PE" sz="2800" b="1" i="1" spc="-1" dirty="0">
                      <a:latin typeface="Arial"/>
                      <a:ea typeface="ＭＳ 明朝"/>
                    </a:rPr>
                    <a:t>(2)</a:t>
                  </a:r>
                  <a:endParaRPr lang="es-PE" sz="2800" spc="-1" dirty="0">
                    <a:latin typeface="Arial"/>
                  </a:endParaRPr>
                </a:p>
              </p:txBody>
            </p:sp>
            <p:sp>
              <p:nvSpPr>
                <p:cNvPr id="936" name="CustomShape 19"/>
                <p:cNvSpPr/>
                <p:nvPr/>
              </p:nvSpPr>
              <p:spPr>
                <a:xfrm>
                  <a:off x="6120000" y="5411833"/>
                  <a:ext cx="1405109" cy="95265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2800" b="1" i="1" spc="-1" dirty="0">
                      <a:latin typeface="Arial"/>
                      <a:ea typeface="ＭＳ 明朝"/>
                    </a:rPr>
                    <a:t>Phoenix</a:t>
                  </a:r>
                  <a:endParaRPr lang="es-PE" sz="2800" spc="-1" dirty="0">
                    <a:latin typeface="Arial"/>
                  </a:endParaRPr>
                </a:p>
                <a:p>
                  <a:pPr algn="ctr">
                    <a:lnSpc>
                      <a:spcPct val="100000"/>
                    </a:lnSpc>
                  </a:pPr>
                  <a:r>
                    <a:rPr lang="es-PE" sz="2800" b="1" i="1" spc="-1" dirty="0">
                      <a:latin typeface="Arial"/>
                      <a:ea typeface="ＭＳ 明朝"/>
                    </a:rPr>
                    <a:t>(2)</a:t>
                  </a:r>
                  <a:endParaRPr lang="es-PE" sz="2800" spc="-1" dirty="0">
                    <a:latin typeface="Arial"/>
                  </a:endParaRPr>
                </a:p>
              </p:txBody>
            </p:sp>
            <p:sp>
              <p:nvSpPr>
                <p:cNvPr id="937" name="CustomShape 20"/>
                <p:cNvSpPr/>
                <p:nvPr/>
              </p:nvSpPr>
              <p:spPr>
                <a:xfrm>
                  <a:off x="6258650" y="1801225"/>
                  <a:ext cx="1060053" cy="138354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2800" b="1" i="1" spc="-1" dirty="0">
                      <a:latin typeface="Arial"/>
                      <a:ea typeface="ＭＳ 明朝"/>
                    </a:rPr>
                    <a:t>Dallas</a:t>
                  </a:r>
                  <a:endParaRPr lang="es-PE" sz="2800" spc="-1" dirty="0">
                    <a:latin typeface="Arial"/>
                  </a:endParaRPr>
                </a:p>
                <a:p>
                  <a:pPr algn="ctr">
                    <a:lnSpc>
                      <a:spcPct val="100000"/>
                    </a:lnSpc>
                  </a:pPr>
                  <a:r>
                    <a:rPr lang="es-PE" sz="2800" b="1" i="1" spc="-1" dirty="0">
                      <a:latin typeface="Arial"/>
                      <a:ea typeface="ＭＳ 明朝"/>
                    </a:rPr>
                    <a:t>(4)</a:t>
                  </a:r>
                  <a:endParaRPr lang="es-PE" sz="2800" spc="-1" dirty="0">
                    <a:latin typeface="Arial"/>
                  </a:endParaRPr>
                </a:p>
                <a:p>
                  <a:pPr algn="ctr">
                    <a:lnSpc>
                      <a:spcPct val="100000"/>
                    </a:lnSpc>
                  </a:pPr>
                  <a:endParaRPr lang="es-PE" sz="2800" spc="-1" dirty="0">
                    <a:latin typeface="Arial"/>
                  </a:endParaRPr>
                </a:p>
              </p:txBody>
            </p:sp>
            <p:sp>
              <p:nvSpPr>
                <p:cNvPr id="939" name="CustomShape 22"/>
                <p:cNvSpPr/>
                <p:nvPr/>
              </p:nvSpPr>
              <p:spPr>
                <a:xfrm>
                  <a:off x="3256200" y="2470437"/>
                  <a:ext cx="914760" cy="521766"/>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800" b="1" spc="-1">
                      <a:latin typeface="Arial"/>
                      <a:ea typeface="ＭＳ 明朝"/>
                    </a:rPr>
                    <a:t>X12</a:t>
                  </a:r>
                  <a:endParaRPr lang="es-PE" sz="2800" spc="-1">
                    <a:latin typeface="Arial"/>
                  </a:endParaRPr>
                </a:p>
              </p:txBody>
            </p:sp>
            <p:sp>
              <p:nvSpPr>
                <p:cNvPr id="940" name="CustomShape 23"/>
                <p:cNvSpPr/>
                <p:nvPr/>
              </p:nvSpPr>
              <p:spPr>
                <a:xfrm>
                  <a:off x="3267720" y="2946357"/>
                  <a:ext cx="946800" cy="521766"/>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800" b="1" spc="-1">
                      <a:latin typeface="Arial"/>
                      <a:ea typeface="ＭＳ 明朝"/>
                    </a:rPr>
                    <a:t>X13</a:t>
                  </a:r>
                  <a:endParaRPr lang="es-PE" sz="2800" spc="-1">
                    <a:latin typeface="Arial"/>
                  </a:endParaRPr>
                </a:p>
              </p:txBody>
            </p:sp>
            <p:sp>
              <p:nvSpPr>
                <p:cNvPr id="941" name="CustomShape 24"/>
                <p:cNvSpPr/>
                <p:nvPr/>
              </p:nvSpPr>
              <p:spPr>
                <a:xfrm>
                  <a:off x="2346120" y="2053440"/>
                  <a:ext cx="278169" cy="521766"/>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800" b="1" spc="-1">
                      <a:latin typeface="Garamond"/>
                    </a:rPr>
                    <a:t>1</a:t>
                  </a:r>
                  <a:endParaRPr lang="es-PE" sz="2800" spc="-1">
                    <a:latin typeface="Arial"/>
                  </a:endParaRPr>
                </a:p>
              </p:txBody>
            </p:sp>
            <p:sp>
              <p:nvSpPr>
                <p:cNvPr id="942" name="CustomShape 25"/>
                <p:cNvSpPr/>
                <p:nvPr/>
              </p:nvSpPr>
              <p:spPr>
                <a:xfrm>
                  <a:off x="5691353" y="3975840"/>
                  <a:ext cx="300169" cy="521766"/>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800" b="1" spc="-1" dirty="0">
                      <a:latin typeface="Garamond"/>
                    </a:rPr>
                    <a:t>2</a:t>
                  </a:r>
                  <a:endParaRPr lang="es-PE" sz="2800" spc="-1" dirty="0">
                    <a:latin typeface="Arial"/>
                  </a:endParaRPr>
                </a:p>
              </p:txBody>
            </p:sp>
            <p:sp>
              <p:nvSpPr>
                <p:cNvPr id="943" name="CustomShape 26"/>
                <p:cNvSpPr/>
                <p:nvPr/>
              </p:nvSpPr>
              <p:spPr>
                <a:xfrm>
                  <a:off x="2325948" y="3863677"/>
                  <a:ext cx="300169" cy="521766"/>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800" b="1" spc="-1" dirty="0">
                      <a:latin typeface="Garamond"/>
                    </a:rPr>
                    <a:t>2</a:t>
                  </a:r>
                  <a:endParaRPr lang="es-PE" sz="2800" spc="-1" dirty="0">
                    <a:latin typeface="Arial"/>
                  </a:endParaRPr>
                </a:p>
              </p:txBody>
            </p:sp>
            <p:sp>
              <p:nvSpPr>
                <p:cNvPr id="944" name="CustomShape 27"/>
                <p:cNvSpPr/>
                <p:nvPr/>
              </p:nvSpPr>
              <p:spPr>
                <a:xfrm>
                  <a:off x="5665352" y="2003232"/>
                  <a:ext cx="324296" cy="534184"/>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s-PE" sz="2800" b="1" spc="-1" dirty="0">
                      <a:latin typeface="Garamond"/>
                    </a:rPr>
                    <a:t>1</a:t>
                  </a:r>
                  <a:endParaRPr lang="es-PE" sz="2800" spc="-1" dirty="0">
                    <a:latin typeface="Arial"/>
                  </a:endParaRPr>
                </a:p>
              </p:txBody>
            </p:sp>
            <p:sp>
              <p:nvSpPr>
                <p:cNvPr id="945" name="CustomShape 28"/>
                <p:cNvSpPr/>
                <p:nvPr/>
              </p:nvSpPr>
              <p:spPr>
                <a:xfrm>
                  <a:off x="5776860" y="5704096"/>
                  <a:ext cx="300169" cy="521766"/>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800" b="1" spc="-1" dirty="0">
                      <a:latin typeface="Garamond"/>
                    </a:rPr>
                    <a:t>3</a:t>
                  </a:r>
                  <a:endParaRPr lang="es-PE" sz="2800" spc="-1" dirty="0">
                    <a:latin typeface="Arial"/>
                  </a:endParaRPr>
                </a:p>
              </p:txBody>
            </p:sp>
          </p:grpSp>
        </p:grpSp>
        <p:sp>
          <p:nvSpPr>
            <p:cNvPr id="946" name="CustomShape 29"/>
            <p:cNvSpPr/>
            <p:nvPr/>
          </p:nvSpPr>
          <p:spPr>
            <a:xfrm>
              <a:off x="2357280" y="5715000"/>
              <a:ext cx="41400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sp>
        <p:sp>
          <p:nvSpPr>
            <p:cNvPr id="947" name="CustomShape 30"/>
            <p:cNvSpPr/>
            <p:nvPr/>
          </p:nvSpPr>
          <p:spPr>
            <a:xfrm>
              <a:off x="2414530" y="5690627"/>
              <a:ext cx="300169" cy="521766"/>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800" b="1" spc="-1" dirty="0">
                  <a:latin typeface="Garamond"/>
                </a:rPr>
                <a:t>3</a:t>
              </a:r>
              <a:endParaRPr lang="es-PE" sz="2800" spc="-1" dirty="0">
                <a:latin typeface="Arial"/>
              </a:endParaRPr>
            </a:p>
          </p:txBody>
        </p:sp>
        <p:sp>
          <p:nvSpPr>
            <p:cNvPr id="948" name="CustomShape 31"/>
            <p:cNvSpPr/>
            <p:nvPr/>
          </p:nvSpPr>
          <p:spPr>
            <a:xfrm>
              <a:off x="282022" y="5436790"/>
              <a:ext cx="2179002" cy="95265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r>
                <a:rPr lang="es-PE" sz="2800" b="1" i="1" spc="-1" dirty="0">
                  <a:latin typeface="Arial"/>
                  <a:ea typeface="ＭＳ 明朝"/>
                </a:rPr>
                <a:t>  Los Ángeles</a:t>
              </a:r>
            </a:p>
            <a:p>
              <a:pPr algn="ctr"/>
              <a:r>
                <a:rPr lang="es-PE" sz="2800" b="1" i="1" spc="-1" dirty="0">
                  <a:latin typeface="Arial"/>
                  <a:ea typeface="ＭＳ 明朝"/>
                </a:rPr>
                <a:t>(3)</a:t>
              </a:r>
            </a:p>
          </p:txBody>
        </p:sp>
        <p:sp>
          <p:nvSpPr>
            <p:cNvPr id="949" name="Line 32"/>
            <p:cNvSpPr/>
            <p:nvPr/>
          </p:nvSpPr>
          <p:spPr>
            <a:xfrm flipV="1">
              <a:off x="2643120" y="2452094"/>
              <a:ext cx="3000960" cy="3262905"/>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sp>
        <p:sp>
          <p:nvSpPr>
            <p:cNvPr id="950" name="Line 33"/>
            <p:cNvSpPr/>
            <p:nvPr/>
          </p:nvSpPr>
          <p:spPr>
            <a:xfrm flipV="1">
              <a:off x="2742910" y="4391944"/>
              <a:ext cx="2928960" cy="143676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sp>
        <p:sp>
          <p:nvSpPr>
            <p:cNvPr id="951" name="Line 34"/>
            <p:cNvSpPr/>
            <p:nvPr/>
          </p:nvSpPr>
          <p:spPr>
            <a:xfrm flipV="1">
              <a:off x="2786040" y="5902200"/>
              <a:ext cx="2928960" cy="4428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sp>
      </p:grpSp>
      <p:sp>
        <p:nvSpPr>
          <p:cNvPr id="37" name="Text Box 7">
            <a:extLst>
              <a:ext uri="{FF2B5EF4-FFF2-40B4-BE49-F238E27FC236}">
                <a16:creationId xmlns:a16="http://schemas.microsoft.com/office/drawing/2014/main" id="{740763CF-9E7D-49D0-AC34-D77CFCF3264A}"/>
              </a:ext>
            </a:extLst>
          </p:cNvPr>
          <p:cNvSpPr txBox="1">
            <a:spLocks noChangeArrowheads="1"/>
          </p:cNvSpPr>
          <p:nvPr/>
        </p:nvSpPr>
        <p:spPr bwMode="auto">
          <a:xfrm>
            <a:off x="6096000" y="268351"/>
            <a:ext cx="6096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s-ES_tradnl" sz="3200" b="1" dirty="0">
                <a:solidFill>
                  <a:schemeClr val="bg1"/>
                </a:solidFill>
                <a:latin typeface="Tahoma" pitchFamily="34" charset="0"/>
              </a:rPr>
              <a:t>Red</a:t>
            </a:r>
            <a:endParaRPr lang="es-ES" sz="3200" b="1" dirty="0">
              <a:solidFill>
                <a:schemeClr val="bg1"/>
              </a:solidFill>
              <a:latin typeface="Tahoma" pitchFamily="34" charset="0"/>
            </a:endParaRPr>
          </a:p>
        </p:txBody>
      </p:sp>
      <p:sp>
        <p:nvSpPr>
          <p:cNvPr id="38" name="CustomShape 21">
            <a:extLst>
              <a:ext uri="{FF2B5EF4-FFF2-40B4-BE49-F238E27FC236}">
                <a16:creationId xmlns:a16="http://schemas.microsoft.com/office/drawing/2014/main" id="{9B31C84D-0AFC-4C53-9858-0B24B33FE326}"/>
              </a:ext>
            </a:extLst>
          </p:cNvPr>
          <p:cNvSpPr/>
          <p:nvPr/>
        </p:nvSpPr>
        <p:spPr>
          <a:xfrm>
            <a:off x="1436835" y="1367400"/>
            <a:ext cx="9318329" cy="6706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80000"/>
              </a:lnSpc>
            </a:pPr>
            <a:r>
              <a:rPr lang="es-PE" sz="2800" b="1" spc="-1" dirty="0">
                <a:latin typeface="Arial Black"/>
              </a:rPr>
              <a:t>ORIGEN 			     DESTINO </a:t>
            </a:r>
            <a:br>
              <a:rPr sz="2800" dirty="0"/>
            </a:br>
            <a:r>
              <a:rPr lang="es-PE" sz="2800" b="1" spc="-1" dirty="0">
                <a:latin typeface="Arial Black"/>
              </a:rPr>
              <a:t>(Ciudad)  	             (hospital)</a:t>
            </a:r>
            <a:endParaRPr lang="es-PE" sz="2800" spc="-1" dirty="0">
              <a:latin typeface="Arial"/>
            </a:endParaRPr>
          </a:p>
        </p:txBody>
      </p:sp>
    </p:spTree>
    <p:extLst>
      <p:ext uri="{BB962C8B-B14F-4D97-AF65-F5344CB8AC3E}">
        <p14:creationId xmlns:p14="http://schemas.microsoft.com/office/powerpoint/2010/main" val="2626666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0-#ppt_w/2"/>
                                          </p:val>
                                        </p:tav>
                                        <p:tav tm="100000">
                                          <p:val>
                                            <p:strVal val="#ppt_x"/>
                                          </p:val>
                                        </p:tav>
                                      </p:tavLst>
                                    </p:anim>
                                    <p:anim calcmode="lin" valueType="num">
                                      <p:cBhvr additive="base">
                                        <p:cTn id="8"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 name="TextShape 1"/>
          <p:cNvSpPr txBox="1"/>
          <p:nvPr/>
        </p:nvSpPr>
        <p:spPr>
          <a:xfrm>
            <a:off x="6096000" y="251573"/>
            <a:ext cx="6096000" cy="5234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s-ES"/>
              <a:t>Modelo matemático</a:t>
            </a:r>
          </a:p>
        </p:txBody>
      </p:sp>
      <p:sp>
        <p:nvSpPr>
          <p:cNvPr id="11" name="Forma libre: forma 10">
            <a:extLst>
              <a:ext uri="{FF2B5EF4-FFF2-40B4-BE49-F238E27FC236}">
                <a16:creationId xmlns:a16="http://schemas.microsoft.com/office/drawing/2014/main" id="{A225103A-662C-4851-A774-285AD42BCC2F}"/>
              </a:ext>
            </a:extLst>
          </p:cNvPr>
          <p:cNvSpPr/>
          <p:nvPr/>
        </p:nvSpPr>
        <p:spPr>
          <a:xfrm>
            <a:off x="2063639" y="4268576"/>
            <a:ext cx="9685337" cy="512430"/>
          </a:xfrm>
          <a:custGeom>
            <a:avLst/>
            <a:gdLst>
              <a:gd name="connsiteX0" fmla="*/ 0 w 8072280"/>
              <a:gd name="connsiteY0" fmla="*/ 123925 h 743535"/>
              <a:gd name="connsiteX1" fmla="*/ 123925 w 8072280"/>
              <a:gd name="connsiteY1" fmla="*/ 0 h 743535"/>
              <a:gd name="connsiteX2" fmla="*/ 7948355 w 8072280"/>
              <a:gd name="connsiteY2" fmla="*/ 0 h 743535"/>
              <a:gd name="connsiteX3" fmla="*/ 8072280 w 8072280"/>
              <a:gd name="connsiteY3" fmla="*/ 123925 h 743535"/>
              <a:gd name="connsiteX4" fmla="*/ 8072280 w 8072280"/>
              <a:gd name="connsiteY4" fmla="*/ 619610 h 743535"/>
              <a:gd name="connsiteX5" fmla="*/ 7948355 w 8072280"/>
              <a:gd name="connsiteY5" fmla="*/ 743535 h 743535"/>
              <a:gd name="connsiteX6" fmla="*/ 123925 w 8072280"/>
              <a:gd name="connsiteY6" fmla="*/ 743535 h 743535"/>
              <a:gd name="connsiteX7" fmla="*/ 0 w 8072280"/>
              <a:gd name="connsiteY7" fmla="*/ 619610 h 743535"/>
              <a:gd name="connsiteX8" fmla="*/ 0 w 8072280"/>
              <a:gd name="connsiteY8" fmla="*/ 123925 h 74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2280" h="743535">
                <a:moveTo>
                  <a:pt x="0" y="123925"/>
                </a:moveTo>
                <a:cubicBezTo>
                  <a:pt x="0" y="55483"/>
                  <a:pt x="55483" y="0"/>
                  <a:pt x="123925" y="0"/>
                </a:cubicBezTo>
                <a:lnTo>
                  <a:pt x="7948355" y="0"/>
                </a:lnTo>
                <a:cubicBezTo>
                  <a:pt x="8016797" y="0"/>
                  <a:pt x="8072280" y="55483"/>
                  <a:pt x="8072280" y="123925"/>
                </a:cubicBezTo>
                <a:lnTo>
                  <a:pt x="8072280" y="619610"/>
                </a:lnTo>
                <a:cubicBezTo>
                  <a:pt x="8072280" y="688052"/>
                  <a:pt x="8016797" y="743535"/>
                  <a:pt x="7948355" y="743535"/>
                </a:cubicBezTo>
                <a:lnTo>
                  <a:pt x="123925" y="743535"/>
                </a:lnTo>
                <a:cubicBezTo>
                  <a:pt x="55483" y="743535"/>
                  <a:pt x="0" y="688052"/>
                  <a:pt x="0" y="619610"/>
                </a:cubicBezTo>
                <a:lnTo>
                  <a:pt x="0" y="12392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406" tIns="154406" rIns="154406" bIns="154406" numCol="1" spcCol="1270" anchor="ctr" anchorCtr="0">
            <a:noAutofit/>
          </a:bodyPr>
          <a:lstStyle/>
          <a:p>
            <a:pPr marL="0" lvl="0" indent="0" algn="l" defTabSz="1377950" rtl="0">
              <a:lnSpc>
                <a:spcPct val="90000"/>
              </a:lnSpc>
              <a:spcBef>
                <a:spcPct val="0"/>
              </a:spcBef>
              <a:spcAft>
                <a:spcPct val="35000"/>
              </a:spcAft>
              <a:buNone/>
            </a:pPr>
            <a:r>
              <a:rPr lang="es-PE" sz="2800" b="0" kern="1200" noProof="0">
                <a:solidFill>
                  <a:schemeClr val="bg1"/>
                </a:solidFill>
              </a:rPr>
              <a:t>III	Identificación de Restricciones</a:t>
            </a:r>
            <a:endParaRPr lang="es-PE" sz="2800" kern="1200" noProof="0">
              <a:solidFill>
                <a:schemeClr val="bg1"/>
              </a:solidFill>
            </a:endParaRPr>
          </a:p>
        </p:txBody>
      </p:sp>
      <p:sp>
        <p:nvSpPr>
          <p:cNvPr id="12" name="Forma libre: forma 11">
            <a:extLst>
              <a:ext uri="{FF2B5EF4-FFF2-40B4-BE49-F238E27FC236}">
                <a16:creationId xmlns:a16="http://schemas.microsoft.com/office/drawing/2014/main" id="{84DF245C-81B6-4BA9-82F7-B5DA190B7932}"/>
              </a:ext>
            </a:extLst>
          </p:cNvPr>
          <p:cNvSpPr/>
          <p:nvPr/>
        </p:nvSpPr>
        <p:spPr>
          <a:xfrm>
            <a:off x="2063639" y="4907602"/>
            <a:ext cx="9685337" cy="1845889"/>
          </a:xfrm>
          <a:custGeom>
            <a:avLst/>
            <a:gdLst>
              <a:gd name="connsiteX0" fmla="*/ 0 w 8072280"/>
              <a:gd name="connsiteY0" fmla="*/ 0 h 1668420"/>
              <a:gd name="connsiteX1" fmla="*/ 8072280 w 8072280"/>
              <a:gd name="connsiteY1" fmla="*/ 0 h 1668420"/>
              <a:gd name="connsiteX2" fmla="*/ 8072280 w 8072280"/>
              <a:gd name="connsiteY2" fmla="*/ 1668420 h 1668420"/>
              <a:gd name="connsiteX3" fmla="*/ 0 w 8072280"/>
              <a:gd name="connsiteY3" fmla="*/ 1668420 h 1668420"/>
              <a:gd name="connsiteX4" fmla="*/ 0 w 8072280"/>
              <a:gd name="connsiteY4" fmla="*/ 0 h 166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280" h="1668420">
                <a:moveTo>
                  <a:pt x="0" y="0"/>
                </a:moveTo>
                <a:lnTo>
                  <a:pt x="8072280" y="0"/>
                </a:lnTo>
                <a:lnTo>
                  <a:pt x="8072280" y="1668420"/>
                </a:lnTo>
                <a:lnTo>
                  <a:pt x="0" y="166842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56295" tIns="39370" rIns="220472" bIns="39370" numCol="1" spcCol="1270" anchor="t" anchorCtr="0">
            <a:noAutofit/>
          </a:bodyPr>
          <a:lstStyle/>
          <a:p>
            <a:pPr marL="0" lvl="1" algn="l" defTabSz="1066800" rtl="0">
              <a:lnSpc>
                <a:spcPct val="90000"/>
              </a:lnSpc>
              <a:spcBef>
                <a:spcPct val="0"/>
              </a:spcBef>
              <a:spcAft>
                <a:spcPct val="20000"/>
              </a:spcAft>
            </a:pPr>
            <a:r>
              <a:rPr lang="es-PE" sz="2800" b="0" kern="1200" noProof="0" dirty="0" err="1">
                <a:solidFill>
                  <a:schemeClr val="bg2">
                    <a:lumMod val="25000"/>
                  </a:schemeClr>
                </a:solidFill>
              </a:rPr>
              <a:t>X11</a:t>
            </a:r>
            <a:r>
              <a:rPr lang="es-PE" sz="2800" b="0" kern="1200" noProof="0" dirty="0">
                <a:solidFill>
                  <a:schemeClr val="bg2">
                    <a:lumMod val="25000"/>
                  </a:schemeClr>
                </a:solidFill>
              </a:rPr>
              <a:t> + </a:t>
            </a:r>
            <a:r>
              <a:rPr lang="es-PE" sz="2800" b="0" kern="1200" noProof="0" dirty="0" err="1">
                <a:solidFill>
                  <a:schemeClr val="bg2">
                    <a:lumMod val="25000"/>
                  </a:schemeClr>
                </a:solidFill>
              </a:rPr>
              <a:t>X12</a:t>
            </a:r>
            <a:r>
              <a:rPr lang="es-PE" sz="2800" b="0" kern="1200" noProof="0" dirty="0">
                <a:solidFill>
                  <a:schemeClr val="bg2">
                    <a:lumMod val="25000"/>
                  </a:schemeClr>
                </a:solidFill>
              </a:rPr>
              <a:t> + </a:t>
            </a:r>
            <a:r>
              <a:rPr lang="es-PE" sz="2800" b="0" kern="1200" noProof="0" dirty="0" err="1">
                <a:solidFill>
                  <a:schemeClr val="bg2">
                    <a:lumMod val="25000"/>
                  </a:schemeClr>
                </a:solidFill>
              </a:rPr>
              <a:t>X13</a:t>
            </a:r>
            <a:r>
              <a:rPr lang="es-PE" sz="2800" b="0" kern="1200" noProof="0" dirty="0">
                <a:solidFill>
                  <a:schemeClr val="bg2">
                    <a:lumMod val="25000"/>
                  </a:schemeClr>
                </a:solidFill>
              </a:rPr>
              <a:t> ≤ 3		</a:t>
            </a:r>
            <a:r>
              <a:rPr lang="es-PE" sz="2800" b="0" kern="1200" noProof="0" dirty="0" err="1">
                <a:solidFill>
                  <a:schemeClr val="bg2">
                    <a:lumMod val="25000"/>
                  </a:schemeClr>
                </a:solidFill>
              </a:rPr>
              <a:t>X11</a:t>
            </a:r>
            <a:r>
              <a:rPr lang="es-PE" sz="2800" b="0" kern="1200" noProof="0" dirty="0">
                <a:solidFill>
                  <a:schemeClr val="bg2">
                    <a:lumMod val="25000"/>
                  </a:schemeClr>
                </a:solidFill>
              </a:rPr>
              <a:t>  + </a:t>
            </a:r>
            <a:r>
              <a:rPr lang="es-PE" sz="2800" b="0" kern="1200" noProof="0" dirty="0" err="1">
                <a:solidFill>
                  <a:schemeClr val="bg2">
                    <a:lumMod val="25000"/>
                  </a:schemeClr>
                </a:solidFill>
              </a:rPr>
              <a:t>X21</a:t>
            </a:r>
            <a:r>
              <a:rPr lang="es-PE" sz="2800" b="0" kern="1200" noProof="0" dirty="0">
                <a:solidFill>
                  <a:schemeClr val="bg2">
                    <a:lumMod val="25000"/>
                  </a:schemeClr>
                </a:solidFill>
              </a:rPr>
              <a:t>  + </a:t>
            </a:r>
            <a:r>
              <a:rPr lang="es-PE" sz="2800" b="0" kern="1200" noProof="0" dirty="0" err="1">
                <a:solidFill>
                  <a:schemeClr val="bg2">
                    <a:lumMod val="25000"/>
                  </a:schemeClr>
                </a:solidFill>
              </a:rPr>
              <a:t>X31</a:t>
            </a:r>
            <a:r>
              <a:rPr lang="es-PE" sz="2800" b="0" kern="1200" noProof="0" dirty="0">
                <a:solidFill>
                  <a:schemeClr val="bg2">
                    <a:lumMod val="25000"/>
                  </a:schemeClr>
                </a:solidFill>
              </a:rPr>
              <a:t> = 4</a:t>
            </a:r>
            <a:endParaRPr lang="es-PE" sz="2800" kern="1200" noProof="0" dirty="0">
              <a:solidFill>
                <a:schemeClr val="bg2">
                  <a:lumMod val="25000"/>
                </a:schemeClr>
              </a:solidFill>
            </a:endParaRPr>
          </a:p>
          <a:p>
            <a:pPr marL="0" lvl="1" algn="l" defTabSz="1066800" rtl="0">
              <a:lnSpc>
                <a:spcPct val="90000"/>
              </a:lnSpc>
              <a:spcBef>
                <a:spcPct val="0"/>
              </a:spcBef>
              <a:spcAft>
                <a:spcPct val="20000"/>
              </a:spcAft>
            </a:pPr>
            <a:r>
              <a:rPr lang="es-PE" sz="2800" b="0" kern="1200" noProof="0" dirty="0" err="1">
                <a:solidFill>
                  <a:schemeClr val="bg2">
                    <a:lumMod val="25000"/>
                  </a:schemeClr>
                </a:solidFill>
              </a:rPr>
              <a:t>X21</a:t>
            </a:r>
            <a:r>
              <a:rPr lang="es-PE" sz="2800" b="0" kern="1200" noProof="0" dirty="0">
                <a:solidFill>
                  <a:schemeClr val="bg2">
                    <a:lumMod val="25000"/>
                  </a:schemeClr>
                </a:solidFill>
              </a:rPr>
              <a:t> + </a:t>
            </a:r>
            <a:r>
              <a:rPr lang="es-PE" sz="2800" b="0" kern="1200" noProof="0" dirty="0" err="1">
                <a:solidFill>
                  <a:schemeClr val="bg2">
                    <a:lumMod val="25000"/>
                  </a:schemeClr>
                </a:solidFill>
              </a:rPr>
              <a:t>X22</a:t>
            </a:r>
            <a:r>
              <a:rPr lang="es-PE" sz="2800" b="0" kern="1200" noProof="0" dirty="0">
                <a:solidFill>
                  <a:schemeClr val="bg2">
                    <a:lumMod val="25000"/>
                  </a:schemeClr>
                </a:solidFill>
              </a:rPr>
              <a:t> + </a:t>
            </a:r>
            <a:r>
              <a:rPr lang="es-PE" sz="2800" b="0" kern="1200" noProof="0" dirty="0" err="1">
                <a:solidFill>
                  <a:schemeClr val="bg2">
                    <a:lumMod val="25000"/>
                  </a:schemeClr>
                </a:solidFill>
              </a:rPr>
              <a:t>X23</a:t>
            </a:r>
            <a:r>
              <a:rPr lang="es-PE" sz="2800" b="0" kern="1200" noProof="0" dirty="0">
                <a:solidFill>
                  <a:schemeClr val="bg2">
                    <a:lumMod val="25000"/>
                  </a:schemeClr>
                </a:solidFill>
              </a:rPr>
              <a:t> ≤ 2	 	</a:t>
            </a:r>
            <a:r>
              <a:rPr lang="es-PE" sz="2800" b="0" kern="1200" noProof="0" dirty="0" err="1">
                <a:solidFill>
                  <a:schemeClr val="bg2">
                    <a:lumMod val="25000"/>
                  </a:schemeClr>
                </a:solidFill>
              </a:rPr>
              <a:t>X12</a:t>
            </a:r>
            <a:r>
              <a:rPr lang="es-PE" sz="2800" b="0" kern="1200" noProof="0" dirty="0">
                <a:solidFill>
                  <a:schemeClr val="bg2">
                    <a:lumMod val="25000"/>
                  </a:schemeClr>
                </a:solidFill>
              </a:rPr>
              <a:t>  + </a:t>
            </a:r>
            <a:r>
              <a:rPr lang="es-PE" sz="2800" b="0" kern="1200" noProof="0" dirty="0" err="1">
                <a:solidFill>
                  <a:schemeClr val="bg2">
                    <a:lumMod val="25000"/>
                  </a:schemeClr>
                </a:solidFill>
              </a:rPr>
              <a:t>X22</a:t>
            </a:r>
            <a:r>
              <a:rPr lang="es-PE" sz="2800" b="0" kern="1200" noProof="0" dirty="0">
                <a:solidFill>
                  <a:schemeClr val="bg2">
                    <a:lumMod val="25000"/>
                  </a:schemeClr>
                </a:solidFill>
              </a:rPr>
              <a:t>  + </a:t>
            </a:r>
            <a:r>
              <a:rPr lang="es-PE" sz="2800" b="0" kern="1200" noProof="0" dirty="0" err="1">
                <a:solidFill>
                  <a:schemeClr val="bg2">
                    <a:lumMod val="25000"/>
                  </a:schemeClr>
                </a:solidFill>
              </a:rPr>
              <a:t>X32</a:t>
            </a:r>
            <a:r>
              <a:rPr lang="es-PE" sz="2800" b="0" kern="1200" noProof="0" dirty="0">
                <a:solidFill>
                  <a:schemeClr val="bg2">
                    <a:lumMod val="25000"/>
                  </a:schemeClr>
                </a:solidFill>
              </a:rPr>
              <a:t> = 2</a:t>
            </a:r>
            <a:endParaRPr lang="es-PE" sz="2800" kern="1200" noProof="0" dirty="0">
              <a:solidFill>
                <a:schemeClr val="bg2">
                  <a:lumMod val="25000"/>
                </a:schemeClr>
              </a:solidFill>
            </a:endParaRPr>
          </a:p>
          <a:p>
            <a:pPr marL="0" lvl="1" algn="l" defTabSz="1066800" rtl="0">
              <a:lnSpc>
                <a:spcPct val="90000"/>
              </a:lnSpc>
              <a:spcBef>
                <a:spcPct val="0"/>
              </a:spcBef>
              <a:spcAft>
                <a:spcPct val="20000"/>
              </a:spcAft>
            </a:pPr>
            <a:r>
              <a:rPr lang="es-PE" sz="2800" b="0" kern="1200" noProof="0" dirty="0" err="1">
                <a:solidFill>
                  <a:schemeClr val="bg2">
                    <a:lumMod val="25000"/>
                  </a:schemeClr>
                </a:solidFill>
              </a:rPr>
              <a:t>X31</a:t>
            </a:r>
            <a:r>
              <a:rPr lang="es-PE" sz="2800" b="0" kern="1200" noProof="0" dirty="0">
                <a:solidFill>
                  <a:schemeClr val="bg2">
                    <a:lumMod val="25000"/>
                  </a:schemeClr>
                </a:solidFill>
              </a:rPr>
              <a:t> + </a:t>
            </a:r>
            <a:r>
              <a:rPr lang="es-PE" sz="2800" b="0" kern="1200" noProof="0" dirty="0" err="1">
                <a:solidFill>
                  <a:schemeClr val="bg2">
                    <a:lumMod val="25000"/>
                  </a:schemeClr>
                </a:solidFill>
              </a:rPr>
              <a:t>X32</a:t>
            </a:r>
            <a:r>
              <a:rPr lang="es-PE" sz="2800" b="0" kern="1200" noProof="0" dirty="0">
                <a:solidFill>
                  <a:schemeClr val="bg2">
                    <a:lumMod val="25000"/>
                  </a:schemeClr>
                </a:solidFill>
              </a:rPr>
              <a:t> + </a:t>
            </a:r>
            <a:r>
              <a:rPr lang="es-PE" sz="2800" b="0" kern="1200" noProof="0" dirty="0" err="1">
                <a:solidFill>
                  <a:schemeClr val="bg2">
                    <a:lumMod val="25000"/>
                  </a:schemeClr>
                </a:solidFill>
              </a:rPr>
              <a:t>X33</a:t>
            </a:r>
            <a:r>
              <a:rPr lang="es-PE" sz="2800" b="0" kern="1200" noProof="0" dirty="0">
                <a:solidFill>
                  <a:schemeClr val="bg2">
                    <a:lumMod val="25000"/>
                  </a:schemeClr>
                </a:solidFill>
              </a:rPr>
              <a:t> ≤ 3	 	</a:t>
            </a:r>
            <a:r>
              <a:rPr lang="es-PE" sz="2800" b="0" kern="1200" noProof="0" dirty="0" err="1">
                <a:solidFill>
                  <a:schemeClr val="bg2">
                    <a:lumMod val="25000"/>
                  </a:schemeClr>
                </a:solidFill>
              </a:rPr>
              <a:t>X13</a:t>
            </a:r>
            <a:r>
              <a:rPr lang="es-PE" sz="2800" b="0" kern="1200" noProof="0" dirty="0">
                <a:solidFill>
                  <a:schemeClr val="bg2">
                    <a:lumMod val="25000"/>
                  </a:schemeClr>
                </a:solidFill>
              </a:rPr>
              <a:t>  + </a:t>
            </a:r>
            <a:r>
              <a:rPr lang="es-PE" sz="2800" b="0" kern="1200" noProof="0" dirty="0" err="1">
                <a:solidFill>
                  <a:schemeClr val="bg2">
                    <a:lumMod val="25000"/>
                  </a:schemeClr>
                </a:solidFill>
              </a:rPr>
              <a:t>X23</a:t>
            </a:r>
            <a:r>
              <a:rPr lang="es-PE" sz="2800" b="0" kern="1200" noProof="0" dirty="0">
                <a:solidFill>
                  <a:schemeClr val="bg2">
                    <a:lumMod val="25000"/>
                  </a:schemeClr>
                </a:solidFill>
              </a:rPr>
              <a:t>  + </a:t>
            </a:r>
            <a:r>
              <a:rPr lang="es-PE" sz="2800" b="0" kern="1200" noProof="0" dirty="0" err="1">
                <a:solidFill>
                  <a:schemeClr val="bg2">
                    <a:lumMod val="25000"/>
                  </a:schemeClr>
                </a:solidFill>
              </a:rPr>
              <a:t>X33</a:t>
            </a:r>
            <a:r>
              <a:rPr lang="es-PE" sz="2800" b="0" kern="1200" noProof="0" dirty="0">
                <a:solidFill>
                  <a:schemeClr val="bg2">
                    <a:lumMod val="25000"/>
                  </a:schemeClr>
                </a:solidFill>
              </a:rPr>
              <a:t> = 2</a:t>
            </a:r>
            <a:endParaRPr lang="es-PE" sz="2800" kern="1200" noProof="0" dirty="0">
              <a:solidFill>
                <a:schemeClr val="bg2">
                  <a:lumMod val="25000"/>
                </a:schemeClr>
              </a:solidFill>
            </a:endParaRPr>
          </a:p>
          <a:p>
            <a:pPr marL="228600" lvl="2" algn="l" defTabSz="1066800" rtl="0">
              <a:lnSpc>
                <a:spcPct val="90000"/>
              </a:lnSpc>
              <a:spcBef>
                <a:spcPct val="0"/>
              </a:spcBef>
              <a:spcAft>
                <a:spcPct val="20000"/>
              </a:spcAft>
            </a:pPr>
            <a:r>
              <a:rPr lang="es-PE" sz="2800" b="0" kern="1200" noProof="0" dirty="0">
                <a:solidFill>
                  <a:schemeClr val="bg2">
                    <a:lumMod val="25000"/>
                  </a:schemeClr>
                </a:solidFill>
              </a:rPr>
              <a:t>                      </a:t>
            </a:r>
            <a:r>
              <a:rPr lang="es-PE" sz="2800" b="0" kern="1200" noProof="0" dirty="0" err="1">
                <a:solidFill>
                  <a:schemeClr val="bg2">
                    <a:lumMod val="25000"/>
                  </a:schemeClr>
                </a:solidFill>
              </a:rPr>
              <a:t>Xij</a:t>
            </a:r>
            <a:r>
              <a:rPr lang="es-PE" sz="2800" b="0" kern="1200" noProof="0" dirty="0">
                <a:solidFill>
                  <a:schemeClr val="bg2">
                    <a:lumMod val="25000"/>
                  </a:schemeClr>
                </a:solidFill>
              </a:rPr>
              <a:t> ≥ 0, </a:t>
            </a:r>
            <a:r>
              <a:rPr lang="es-PE" sz="2800" b="1" kern="1200" noProof="0" dirty="0">
                <a:solidFill>
                  <a:srgbClr val="FF0000"/>
                </a:solidFill>
              </a:rPr>
              <a:t>ENTERO</a:t>
            </a:r>
          </a:p>
        </p:txBody>
      </p:sp>
      <p:sp>
        <p:nvSpPr>
          <p:cNvPr id="13" name="Forma libre: forma 12">
            <a:extLst>
              <a:ext uri="{FF2B5EF4-FFF2-40B4-BE49-F238E27FC236}">
                <a16:creationId xmlns:a16="http://schemas.microsoft.com/office/drawing/2014/main" id="{A7ED3C26-D498-4C1F-8E40-087DBA447626}"/>
              </a:ext>
            </a:extLst>
          </p:cNvPr>
          <p:cNvSpPr/>
          <p:nvPr/>
        </p:nvSpPr>
        <p:spPr>
          <a:xfrm>
            <a:off x="2063639" y="2771043"/>
            <a:ext cx="9685337" cy="512431"/>
          </a:xfrm>
          <a:custGeom>
            <a:avLst/>
            <a:gdLst>
              <a:gd name="connsiteX0" fmla="*/ 0 w 8072280"/>
              <a:gd name="connsiteY0" fmla="*/ 123925 h 743535"/>
              <a:gd name="connsiteX1" fmla="*/ 123925 w 8072280"/>
              <a:gd name="connsiteY1" fmla="*/ 0 h 743535"/>
              <a:gd name="connsiteX2" fmla="*/ 7948355 w 8072280"/>
              <a:gd name="connsiteY2" fmla="*/ 0 h 743535"/>
              <a:gd name="connsiteX3" fmla="*/ 8072280 w 8072280"/>
              <a:gd name="connsiteY3" fmla="*/ 123925 h 743535"/>
              <a:gd name="connsiteX4" fmla="*/ 8072280 w 8072280"/>
              <a:gd name="connsiteY4" fmla="*/ 619610 h 743535"/>
              <a:gd name="connsiteX5" fmla="*/ 7948355 w 8072280"/>
              <a:gd name="connsiteY5" fmla="*/ 743535 h 743535"/>
              <a:gd name="connsiteX6" fmla="*/ 123925 w 8072280"/>
              <a:gd name="connsiteY6" fmla="*/ 743535 h 743535"/>
              <a:gd name="connsiteX7" fmla="*/ 0 w 8072280"/>
              <a:gd name="connsiteY7" fmla="*/ 619610 h 743535"/>
              <a:gd name="connsiteX8" fmla="*/ 0 w 8072280"/>
              <a:gd name="connsiteY8" fmla="*/ 123925 h 74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2280" h="743535">
                <a:moveTo>
                  <a:pt x="0" y="123925"/>
                </a:moveTo>
                <a:cubicBezTo>
                  <a:pt x="0" y="55483"/>
                  <a:pt x="55483" y="0"/>
                  <a:pt x="123925" y="0"/>
                </a:cubicBezTo>
                <a:lnTo>
                  <a:pt x="7948355" y="0"/>
                </a:lnTo>
                <a:cubicBezTo>
                  <a:pt x="8016797" y="0"/>
                  <a:pt x="8072280" y="55483"/>
                  <a:pt x="8072280" y="123925"/>
                </a:cubicBezTo>
                <a:lnTo>
                  <a:pt x="8072280" y="619610"/>
                </a:lnTo>
                <a:cubicBezTo>
                  <a:pt x="8072280" y="688052"/>
                  <a:pt x="8016797" y="743535"/>
                  <a:pt x="7948355" y="743535"/>
                </a:cubicBezTo>
                <a:lnTo>
                  <a:pt x="123925" y="743535"/>
                </a:lnTo>
                <a:cubicBezTo>
                  <a:pt x="55483" y="743535"/>
                  <a:pt x="0" y="688052"/>
                  <a:pt x="0" y="619610"/>
                </a:cubicBezTo>
                <a:lnTo>
                  <a:pt x="0" y="12392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406" tIns="154406" rIns="154406" bIns="154406" numCol="1" spcCol="1270" anchor="ctr" anchorCtr="0">
            <a:noAutofit/>
          </a:bodyPr>
          <a:lstStyle/>
          <a:p>
            <a:pPr marL="0" lvl="0" indent="0" algn="l" defTabSz="1377950" rtl="0">
              <a:lnSpc>
                <a:spcPct val="90000"/>
              </a:lnSpc>
              <a:spcBef>
                <a:spcPct val="0"/>
              </a:spcBef>
              <a:spcAft>
                <a:spcPct val="35000"/>
              </a:spcAft>
              <a:buNone/>
            </a:pPr>
            <a:r>
              <a:rPr lang="es-PE" sz="2800" b="0" kern="1200" noProof="0" dirty="0">
                <a:solidFill>
                  <a:schemeClr val="bg1"/>
                </a:solidFill>
              </a:rPr>
              <a:t>II.	Identificación de la función objetivo</a:t>
            </a:r>
            <a:endParaRPr lang="es-PE" sz="2800" kern="1200" noProof="0" dirty="0">
              <a:solidFill>
                <a:schemeClr val="bg1"/>
              </a:solidFill>
            </a:endParaRPr>
          </a:p>
        </p:txBody>
      </p:sp>
      <p:sp>
        <p:nvSpPr>
          <p:cNvPr id="14" name="Forma libre: forma 13">
            <a:extLst>
              <a:ext uri="{FF2B5EF4-FFF2-40B4-BE49-F238E27FC236}">
                <a16:creationId xmlns:a16="http://schemas.microsoft.com/office/drawing/2014/main" id="{C90F3490-10A8-4A39-B4B6-B3607000CB0D}"/>
              </a:ext>
            </a:extLst>
          </p:cNvPr>
          <p:cNvSpPr/>
          <p:nvPr/>
        </p:nvSpPr>
        <p:spPr>
          <a:xfrm>
            <a:off x="2063639" y="3357816"/>
            <a:ext cx="9685337" cy="834199"/>
          </a:xfrm>
          <a:custGeom>
            <a:avLst/>
            <a:gdLst>
              <a:gd name="connsiteX0" fmla="*/ 0 w 8072280"/>
              <a:gd name="connsiteY0" fmla="*/ 0 h 753997"/>
              <a:gd name="connsiteX1" fmla="*/ 8072280 w 8072280"/>
              <a:gd name="connsiteY1" fmla="*/ 0 h 753997"/>
              <a:gd name="connsiteX2" fmla="*/ 8072280 w 8072280"/>
              <a:gd name="connsiteY2" fmla="*/ 753997 h 753997"/>
              <a:gd name="connsiteX3" fmla="*/ 0 w 8072280"/>
              <a:gd name="connsiteY3" fmla="*/ 753997 h 753997"/>
              <a:gd name="connsiteX4" fmla="*/ 0 w 8072280"/>
              <a:gd name="connsiteY4" fmla="*/ 0 h 753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280" h="753997">
                <a:moveTo>
                  <a:pt x="0" y="0"/>
                </a:moveTo>
                <a:lnTo>
                  <a:pt x="8072280" y="0"/>
                </a:lnTo>
                <a:lnTo>
                  <a:pt x="8072280" y="753997"/>
                </a:lnTo>
                <a:lnTo>
                  <a:pt x="0" y="7539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56295" tIns="39370" rIns="220472" bIns="39370" numCol="1" spcCol="1270" anchor="t" anchorCtr="0">
            <a:noAutofit/>
          </a:bodyPr>
          <a:lstStyle/>
          <a:p>
            <a:pPr marL="0" lvl="1" algn="l" defTabSz="1066800" rtl="0">
              <a:lnSpc>
                <a:spcPct val="90000"/>
              </a:lnSpc>
              <a:spcBef>
                <a:spcPct val="0"/>
              </a:spcBef>
              <a:spcAft>
                <a:spcPct val="20000"/>
              </a:spcAft>
            </a:pPr>
            <a:r>
              <a:rPr lang="es-PE" sz="2800" b="0" kern="1200" noProof="0" dirty="0">
                <a:solidFill>
                  <a:schemeClr val="bg2">
                    <a:lumMod val="25000"/>
                  </a:schemeClr>
                </a:solidFill>
              </a:rPr>
              <a:t>MIN   </a:t>
            </a:r>
            <a:r>
              <a:rPr lang="es-PE" sz="2800" b="0" kern="1200" noProof="0" dirty="0" err="1">
                <a:solidFill>
                  <a:schemeClr val="bg2">
                    <a:lumMod val="25000"/>
                  </a:schemeClr>
                </a:solidFill>
              </a:rPr>
              <a:t>1600X11</a:t>
            </a:r>
            <a:r>
              <a:rPr lang="es-PE" sz="2800" b="0" kern="1200" noProof="0" dirty="0">
                <a:solidFill>
                  <a:schemeClr val="bg2">
                    <a:lumMod val="25000"/>
                  </a:schemeClr>
                </a:solidFill>
              </a:rPr>
              <a:t> + </a:t>
            </a:r>
            <a:r>
              <a:rPr lang="es-PE" sz="2800" b="0" kern="1200" noProof="0" dirty="0" err="1">
                <a:solidFill>
                  <a:schemeClr val="bg2">
                    <a:lumMod val="25000"/>
                  </a:schemeClr>
                </a:solidFill>
              </a:rPr>
              <a:t>1800X12</a:t>
            </a:r>
            <a:r>
              <a:rPr lang="es-PE" sz="2800" b="0" kern="1200" noProof="0" dirty="0">
                <a:solidFill>
                  <a:schemeClr val="bg2">
                    <a:lumMod val="25000"/>
                  </a:schemeClr>
                </a:solidFill>
              </a:rPr>
              <a:t> + </a:t>
            </a:r>
            <a:r>
              <a:rPr lang="es-PE" sz="2800" b="0" kern="1200" noProof="0" dirty="0" err="1">
                <a:solidFill>
                  <a:schemeClr val="bg2">
                    <a:lumMod val="25000"/>
                  </a:schemeClr>
                </a:solidFill>
              </a:rPr>
              <a:t>2500X13</a:t>
            </a:r>
            <a:r>
              <a:rPr lang="es-PE" sz="2800" b="0" kern="1200" noProof="0" dirty="0">
                <a:solidFill>
                  <a:schemeClr val="bg2">
                    <a:lumMod val="25000"/>
                  </a:schemeClr>
                </a:solidFill>
              </a:rPr>
              <a:t> + </a:t>
            </a:r>
            <a:r>
              <a:rPr lang="es-PE" sz="2800" b="0" kern="1200" noProof="0" dirty="0" err="1">
                <a:solidFill>
                  <a:schemeClr val="bg2">
                    <a:lumMod val="25000"/>
                  </a:schemeClr>
                </a:solidFill>
              </a:rPr>
              <a:t>900X21</a:t>
            </a:r>
            <a:r>
              <a:rPr lang="es-PE" sz="2800" b="0" kern="1200" noProof="0" dirty="0">
                <a:solidFill>
                  <a:schemeClr val="bg2">
                    <a:lumMod val="25000"/>
                  </a:schemeClr>
                </a:solidFill>
              </a:rPr>
              <a:t> + </a:t>
            </a:r>
            <a:r>
              <a:rPr lang="es-PE" sz="2800" b="0" kern="1200" noProof="0" dirty="0" err="1">
                <a:solidFill>
                  <a:schemeClr val="bg2">
                    <a:lumMod val="25000"/>
                  </a:schemeClr>
                </a:solidFill>
              </a:rPr>
              <a:t>1000X22</a:t>
            </a:r>
            <a:r>
              <a:rPr lang="es-PE" sz="2800" b="0" kern="1200" noProof="0" dirty="0">
                <a:solidFill>
                  <a:schemeClr val="bg2">
                    <a:lumMod val="25000"/>
                  </a:schemeClr>
                </a:solidFill>
              </a:rPr>
              <a:t> +    </a:t>
            </a:r>
            <a:r>
              <a:rPr lang="es-PE" sz="2800" b="0" kern="1200" noProof="0" dirty="0" err="1">
                <a:solidFill>
                  <a:schemeClr val="bg2">
                    <a:lumMod val="25000"/>
                  </a:schemeClr>
                </a:solidFill>
              </a:rPr>
              <a:t>1800X23</a:t>
            </a:r>
            <a:r>
              <a:rPr lang="es-PE" sz="2800" b="0" kern="1200" noProof="0" dirty="0">
                <a:solidFill>
                  <a:schemeClr val="bg2">
                    <a:lumMod val="25000"/>
                  </a:schemeClr>
                </a:solidFill>
              </a:rPr>
              <a:t> +</a:t>
            </a:r>
            <a:r>
              <a:rPr lang="es-PE" sz="2800" b="0" kern="1200" noProof="0" dirty="0" err="1">
                <a:solidFill>
                  <a:schemeClr val="bg2">
                    <a:lumMod val="25000"/>
                  </a:schemeClr>
                </a:solidFill>
              </a:rPr>
              <a:t>1400X31</a:t>
            </a:r>
            <a:r>
              <a:rPr lang="es-PE" sz="2800" b="0" kern="1200" noProof="0" dirty="0">
                <a:solidFill>
                  <a:schemeClr val="bg2">
                    <a:lumMod val="25000"/>
                  </a:schemeClr>
                </a:solidFill>
              </a:rPr>
              <a:t> + </a:t>
            </a:r>
            <a:r>
              <a:rPr lang="es-PE" sz="2800" b="0" kern="1200" noProof="0" dirty="0" err="1">
                <a:solidFill>
                  <a:schemeClr val="bg2">
                    <a:lumMod val="25000"/>
                  </a:schemeClr>
                </a:solidFill>
              </a:rPr>
              <a:t>1000X32</a:t>
            </a:r>
            <a:r>
              <a:rPr lang="es-PE" sz="2800" b="0" kern="1200" noProof="0" dirty="0">
                <a:solidFill>
                  <a:schemeClr val="bg2">
                    <a:lumMod val="25000"/>
                  </a:schemeClr>
                </a:solidFill>
              </a:rPr>
              <a:t> + </a:t>
            </a:r>
            <a:r>
              <a:rPr lang="es-PE" sz="2800" b="0" kern="1200" noProof="0" dirty="0" err="1">
                <a:solidFill>
                  <a:schemeClr val="bg2">
                    <a:lumMod val="25000"/>
                  </a:schemeClr>
                </a:solidFill>
              </a:rPr>
              <a:t>400X33</a:t>
            </a:r>
            <a:endParaRPr lang="es-PE" sz="2800" kern="1200" noProof="0" dirty="0">
              <a:solidFill>
                <a:schemeClr val="bg2">
                  <a:lumMod val="25000"/>
                </a:schemeClr>
              </a:solidFill>
            </a:endParaRPr>
          </a:p>
        </p:txBody>
      </p:sp>
      <p:sp>
        <p:nvSpPr>
          <p:cNvPr id="15" name="Forma libre: forma 14">
            <a:extLst>
              <a:ext uri="{FF2B5EF4-FFF2-40B4-BE49-F238E27FC236}">
                <a16:creationId xmlns:a16="http://schemas.microsoft.com/office/drawing/2014/main" id="{1DB97FB7-C9D3-4112-AEDE-31BF7B5FC09A}"/>
              </a:ext>
            </a:extLst>
          </p:cNvPr>
          <p:cNvSpPr/>
          <p:nvPr/>
        </p:nvSpPr>
        <p:spPr>
          <a:xfrm>
            <a:off x="2063639" y="1514148"/>
            <a:ext cx="9685337" cy="490528"/>
          </a:xfrm>
          <a:custGeom>
            <a:avLst/>
            <a:gdLst>
              <a:gd name="connsiteX0" fmla="*/ 0 w 8072280"/>
              <a:gd name="connsiteY0" fmla="*/ 123925 h 743535"/>
              <a:gd name="connsiteX1" fmla="*/ 123925 w 8072280"/>
              <a:gd name="connsiteY1" fmla="*/ 0 h 743535"/>
              <a:gd name="connsiteX2" fmla="*/ 7948355 w 8072280"/>
              <a:gd name="connsiteY2" fmla="*/ 0 h 743535"/>
              <a:gd name="connsiteX3" fmla="*/ 8072280 w 8072280"/>
              <a:gd name="connsiteY3" fmla="*/ 123925 h 743535"/>
              <a:gd name="connsiteX4" fmla="*/ 8072280 w 8072280"/>
              <a:gd name="connsiteY4" fmla="*/ 619610 h 743535"/>
              <a:gd name="connsiteX5" fmla="*/ 7948355 w 8072280"/>
              <a:gd name="connsiteY5" fmla="*/ 743535 h 743535"/>
              <a:gd name="connsiteX6" fmla="*/ 123925 w 8072280"/>
              <a:gd name="connsiteY6" fmla="*/ 743535 h 743535"/>
              <a:gd name="connsiteX7" fmla="*/ 0 w 8072280"/>
              <a:gd name="connsiteY7" fmla="*/ 619610 h 743535"/>
              <a:gd name="connsiteX8" fmla="*/ 0 w 8072280"/>
              <a:gd name="connsiteY8" fmla="*/ 123925 h 74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2280" h="743535">
                <a:moveTo>
                  <a:pt x="0" y="123925"/>
                </a:moveTo>
                <a:cubicBezTo>
                  <a:pt x="0" y="55483"/>
                  <a:pt x="55483" y="0"/>
                  <a:pt x="123925" y="0"/>
                </a:cubicBezTo>
                <a:lnTo>
                  <a:pt x="7948355" y="0"/>
                </a:lnTo>
                <a:cubicBezTo>
                  <a:pt x="8016797" y="0"/>
                  <a:pt x="8072280" y="55483"/>
                  <a:pt x="8072280" y="123925"/>
                </a:cubicBezTo>
                <a:lnTo>
                  <a:pt x="8072280" y="619610"/>
                </a:lnTo>
                <a:cubicBezTo>
                  <a:pt x="8072280" y="688052"/>
                  <a:pt x="8016797" y="743535"/>
                  <a:pt x="7948355" y="743535"/>
                </a:cubicBezTo>
                <a:lnTo>
                  <a:pt x="123925" y="743535"/>
                </a:lnTo>
                <a:cubicBezTo>
                  <a:pt x="55483" y="743535"/>
                  <a:pt x="0" y="688052"/>
                  <a:pt x="0" y="619610"/>
                </a:cubicBezTo>
                <a:lnTo>
                  <a:pt x="0" y="12392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406" tIns="154406" rIns="154406" bIns="154406" numCol="1" spcCol="1270" anchor="ctr" anchorCtr="0">
            <a:noAutofit/>
          </a:bodyPr>
          <a:lstStyle/>
          <a:p>
            <a:pPr marL="0" lvl="0" indent="0" algn="l" defTabSz="1377950" rtl="0">
              <a:lnSpc>
                <a:spcPct val="90000"/>
              </a:lnSpc>
              <a:spcBef>
                <a:spcPct val="0"/>
              </a:spcBef>
              <a:spcAft>
                <a:spcPct val="35000"/>
              </a:spcAft>
              <a:buNone/>
            </a:pPr>
            <a:r>
              <a:rPr lang="es-PE" sz="2800" b="0" kern="1200" noProof="0" dirty="0">
                <a:solidFill>
                  <a:schemeClr val="bg1"/>
                </a:solidFill>
              </a:rPr>
              <a:t>I.	Identificación de variables</a:t>
            </a:r>
            <a:endParaRPr lang="es-PE" sz="2800" kern="1200" noProof="0" dirty="0">
              <a:solidFill>
                <a:schemeClr val="bg1"/>
              </a:solidFill>
            </a:endParaRPr>
          </a:p>
        </p:txBody>
      </p:sp>
      <p:sp>
        <p:nvSpPr>
          <p:cNvPr id="16" name="Forma libre: forma 15">
            <a:extLst>
              <a:ext uri="{FF2B5EF4-FFF2-40B4-BE49-F238E27FC236}">
                <a16:creationId xmlns:a16="http://schemas.microsoft.com/office/drawing/2014/main" id="{6C2F6511-F39D-4A96-8699-B8F5BB74CA62}"/>
              </a:ext>
            </a:extLst>
          </p:cNvPr>
          <p:cNvSpPr/>
          <p:nvPr/>
        </p:nvSpPr>
        <p:spPr>
          <a:xfrm>
            <a:off x="2063639" y="2182358"/>
            <a:ext cx="9685337" cy="338676"/>
          </a:xfrm>
          <a:custGeom>
            <a:avLst/>
            <a:gdLst>
              <a:gd name="connsiteX0" fmla="*/ 0 w 8072280"/>
              <a:gd name="connsiteY0" fmla="*/ 0 h 513360"/>
              <a:gd name="connsiteX1" fmla="*/ 8072280 w 8072280"/>
              <a:gd name="connsiteY1" fmla="*/ 0 h 513360"/>
              <a:gd name="connsiteX2" fmla="*/ 8072280 w 8072280"/>
              <a:gd name="connsiteY2" fmla="*/ 513360 h 513360"/>
              <a:gd name="connsiteX3" fmla="*/ 0 w 8072280"/>
              <a:gd name="connsiteY3" fmla="*/ 513360 h 513360"/>
              <a:gd name="connsiteX4" fmla="*/ 0 w 8072280"/>
              <a:gd name="connsiteY4" fmla="*/ 0 h 513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280" h="513360">
                <a:moveTo>
                  <a:pt x="0" y="0"/>
                </a:moveTo>
                <a:lnTo>
                  <a:pt x="8072280" y="0"/>
                </a:lnTo>
                <a:lnTo>
                  <a:pt x="8072280" y="513360"/>
                </a:lnTo>
                <a:lnTo>
                  <a:pt x="0" y="51336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56295" tIns="39370" rIns="220472" bIns="39370" numCol="1" spcCol="1270" anchor="t" anchorCtr="0">
            <a:noAutofit/>
          </a:bodyPr>
          <a:lstStyle/>
          <a:p>
            <a:pPr marL="0" lvl="1" algn="l" defTabSz="1066800" rtl="0">
              <a:lnSpc>
                <a:spcPct val="90000"/>
              </a:lnSpc>
              <a:spcBef>
                <a:spcPct val="0"/>
              </a:spcBef>
              <a:spcAft>
                <a:spcPct val="20000"/>
              </a:spcAft>
            </a:pPr>
            <a:r>
              <a:rPr lang="es-PE" sz="2800" b="0" kern="1200" noProof="0" dirty="0" err="1">
                <a:solidFill>
                  <a:schemeClr val="bg2">
                    <a:lumMod val="25000"/>
                  </a:schemeClr>
                </a:solidFill>
              </a:rPr>
              <a:t>Xij</a:t>
            </a:r>
            <a:r>
              <a:rPr lang="es-PE" sz="2800" b="0" kern="1200" noProof="0" dirty="0">
                <a:solidFill>
                  <a:schemeClr val="bg2">
                    <a:lumMod val="25000"/>
                  </a:schemeClr>
                </a:solidFill>
              </a:rPr>
              <a:t> = Número de máquinas a enviar del origen i al destino j</a:t>
            </a:r>
            <a:endParaRPr lang="es-PE" sz="2800" kern="1200" noProof="0" dirty="0">
              <a:solidFill>
                <a:schemeClr val="bg2">
                  <a:lumMod val="25000"/>
                </a:schemeClr>
              </a:solidFill>
            </a:endParaRPr>
          </a:p>
        </p:txBody>
      </p:sp>
    </p:spTree>
    <p:extLst>
      <p:ext uri="{BB962C8B-B14F-4D97-AF65-F5344CB8AC3E}">
        <p14:creationId xmlns:p14="http://schemas.microsoft.com/office/powerpoint/2010/main" val="4276014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 name="TextShape 1"/>
          <p:cNvSpPr txBox="1"/>
          <p:nvPr/>
        </p:nvSpPr>
        <p:spPr>
          <a:xfrm>
            <a:off x="6096000" y="281580"/>
            <a:ext cx="6096000" cy="523440"/>
          </a:xfrm>
          <a:prstGeom prst="rect">
            <a:avLst/>
          </a:prstGeom>
          <a:noFill/>
          <a:ln w="9360">
            <a:noFill/>
          </a:ln>
        </p:spPr>
        <p:txBody>
          <a:bodyPr>
            <a:noAutofit/>
          </a:bodyPr>
          <a:lstStyle/>
          <a:p>
            <a:pPr algn="ctr">
              <a:lnSpc>
                <a:spcPct val="100000"/>
              </a:lnSpc>
            </a:pPr>
            <a:r>
              <a:rPr lang="en-US" sz="2800" b="1" spc="-1" dirty="0">
                <a:solidFill>
                  <a:srgbClr val="FFFFFF"/>
                </a:solidFill>
                <a:latin typeface="Verdana"/>
              </a:rPr>
              <a:t>Lindo</a:t>
            </a:r>
            <a:endParaRPr lang="en-US" sz="2800" spc="-1" dirty="0">
              <a:solidFill>
                <a:srgbClr val="1D528D"/>
              </a:solidFill>
              <a:latin typeface="Arial"/>
            </a:endParaRPr>
          </a:p>
        </p:txBody>
      </p:sp>
      <p:sp>
        <p:nvSpPr>
          <p:cNvPr id="3" name="Rectángulo 2">
            <a:extLst>
              <a:ext uri="{FF2B5EF4-FFF2-40B4-BE49-F238E27FC236}">
                <a16:creationId xmlns:a16="http://schemas.microsoft.com/office/drawing/2014/main" id="{7FC5DCC3-958F-4FE4-992F-DF742368A9F3}"/>
              </a:ext>
            </a:extLst>
          </p:cNvPr>
          <p:cNvSpPr/>
          <p:nvPr/>
        </p:nvSpPr>
        <p:spPr>
          <a:xfrm>
            <a:off x="-1" y="927339"/>
            <a:ext cx="6096001" cy="5940088"/>
          </a:xfrm>
          <a:prstGeom prst="rect">
            <a:avLst/>
          </a:prstGeom>
          <a:solidFill>
            <a:srgbClr val="FFFF00"/>
          </a:solidFill>
        </p:spPr>
        <p:txBody>
          <a:bodyPr wrap="square">
            <a:spAutoFit/>
          </a:bodyPr>
          <a:lstStyle/>
          <a:p>
            <a:pPr lvl="0"/>
            <a:r>
              <a:rPr lang="en-US" sz="2000" b="1" dirty="0"/>
              <a:t>MIN </a:t>
            </a:r>
            <a:r>
              <a:rPr lang="en-US" sz="2000" b="1" dirty="0" err="1"/>
              <a:t>1600X11</a:t>
            </a:r>
            <a:r>
              <a:rPr lang="en-US" sz="2000" b="1" dirty="0"/>
              <a:t> + </a:t>
            </a:r>
            <a:r>
              <a:rPr lang="en-US" sz="2000" b="1" dirty="0" err="1"/>
              <a:t>1800X12</a:t>
            </a:r>
            <a:r>
              <a:rPr lang="en-US" sz="2000" b="1" dirty="0"/>
              <a:t> + </a:t>
            </a:r>
            <a:r>
              <a:rPr lang="en-US" sz="2000" b="1" dirty="0" err="1"/>
              <a:t>2500X13</a:t>
            </a:r>
            <a:r>
              <a:rPr lang="en-US" sz="2000" b="1" dirty="0"/>
              <a:t> + </a:t>
            </a:r>
            <a:r>
              <a:rPr lang="en-US" sz="2000" b="1" dirty="0" err="1"/>
              <a:t>900X21</a:t>
            </a:r>
            <a:r>
              <a:rPr lang="en-US" sz="2000" b="1" dirty="0"/>
              <a:t> + </a:t>
            </a:r>
            <a:r>
              <a:rPr lang="en-US" sz="2000" b="1" dirty="0" err="1"/>
              <a:t>1000X22</a:t>
            </a:r>
            <a:endParaRPr lang="en-US" sz="2000" b="1" dirty="0"/>
          </a:p>
          <a:p>
            <a:pPr lvl="0"/>
            <a:r>
              <a:rPr lang="en-US" sz="2000" b="1" dirty="0"/>
              <a:t>        +</a:t>
            </a:r>
            <a:r>
              <a:rPr lang="en-US" sz="2000" b="1" dirty="0" err="1"/>
              <a:t>1800X23</a:t>
            </a:r>
            <a:r>
              <a:rPr lang="en-US" sz="2000" b="1" dirty="0"/>
              <a:t> +   </a:t>
            </a:r>
            <a:r>
              <a:rPr lang="en-US" sz="2000" b="1" dirty="0" err="1"/>
              <a:t>1400X31</a:t>
            </a:r>
            <a:r>
              <a:rPr lang="en-US" sz="2000" b="1" dirty="0"/>
              <a:t> + </a:t>
            </a:r>
            <a:r>
              <a:rPr lang="en-US" sz="2000" b="1" dirty="0" err="1"/>
              <a:t>1000X32</a:t>
            </a:r>
            <a:r>
              <a:rPr lang="en-US" sz="2000" b="1" dirty="0"/>
              <a:t> + </a:t>
            </a:r>
            <a:r>
              <a:rPr lang="en-US" sz="2000" b="1" dirty="0" err="1"/>
              <a:t>400X33</a:t>
            </a:r>
            <a:endParaRPr lang="en-US" sz="2000" b="1" dirty="0"/>
          </a:p>
          <a:p>
            <a:pPr lvl="0"/>
            <a:r>
              <a:rPr lang="en-US" sz="2000" b="1" dirty="0">
                <a:solidFill>
                  <a:srgbClr val="FF0000"/>
                </a:solidFill>
              </a:rPr>
              <a:t>SUBJECT TO</a:t>
            </a:r>
          </a:p>
          <a:p>
            <a:pPr lvl="0"/>
            <a:r>
              <a:rPr lang="en-US" sz="2000" b="1" dirty="0" err="1"/>
              <a:t>X11</a:t>
            </a:r>
            <a:r>
              <a:rPr lang="en-US" sz="2000" b="1" dirty="0"/>
              <a:t>  + </a:t>
            </a:r>
            <a:r>
              <a:rPr lang="en-US" sz="2000" b="1" dirty="0" err="1"/>
              <a:t>X12</a:t>
            </a:r>
            <a:r>
              <a:rPr lang="en-US" sz="2000" b="1" dirty="0"/>
              <a:t> + </a:t>
            </a:r>
            <a:r>
              <a:rPr lang="en-US" sz="2000" b="1" dirty="0" err="1"/>
              <a:t>X13</a:t>
            </a:r>
            <a:r>
              <a:rPr lang="en-US" sz="2000" b="1" dirty="0"/>
              <a:t> 	&lt;= 3		</a:t>
            </a:r>
            <a:endParaRPr lang="es-PE" sz="2000" b="1" dirty="0"/>
          </a:p>
          <a:p>
            <a:pPr lvl="0"/>
            <a:r>
              <a:rPr lang="en-US" sz="2000" b="1" dirty="0" err="1"/>
              <a:t>X21</a:t>
            </a:r>
            <a:r>
              <a:rPr lang="en-US" sz="2000" b="1" dirty="0"/>
              <a:t>  + </a:t>
            </a:r>
            <a:r>
              <a:rPr lang="en-US" sz="2000" b="1" dirty="0" err="1"/>
              <a:t>X22</a:t>
            </a:r>
            <a:r>
              <a:rPr lang="en-US" sz="2000" b="1" dirty="0"/>
              <a:t> + </a:t>
            </a:r>
            <a:r>
              <a:rPr lang="en-US" sz="2000" b="1" dirty="0" err="1"/>
              <a:t>X23</a:t>
            </a:r>
            <a:r>
              <a:rPr lang="en-US" sz="2000" b="1" dirty="0"/>
              <a:t> 	&lt;= 2	 	</a:t>
            </a:r>
            <a:endParaRPr lang="es-PE" sz="2000" b="1" dirty="0"/>
          </a:p>
          <a:p>
            <a:pPr lvl="0"/>
            <a:r>
              <a:rPr lang="en-US" sz="2000" b="1" dirty="0" err="1"/>
              <a:t>X31</a:t>
            </a:r>
            <a:r>
              <a:rPr lang="en-US" sz="2000" b="1" dirty="0"/>
              <a:t>  + </a:t>
            </a:r>
            <a:r>
              <a:rPr lang="en-US" sz="2000" b="1" dirty="0" err="1"/>
              <a:t>X32</a:t>
            </a:r>
            <a:r>
              <a:rPr lang="en-US" sz="2000" b="1" dirty="0"/>
              <a:t> + </a:t>
            </a:r>
            <a:r>
              <a:rPr lang="en-US" sz="2000" b="1" dirty="0" err="1"/>
              <a:t>X33</a:t>
            </a:r>
            <a:r>
              <a:rPr lang="en-US" sz="2000" b="1" dirty="0"/>
              <a:t> 	&lt;= 3	 	</a:t>
            </a:r>
            <a:endParaRPr lang="es-PE" sz="2000" b="1" dirty="0"/>
          </a:p>
          <a:p>
            <a:pPr lvl="0"/>
            <a:r>
              <a:rPr lang="en-US" sz="2000" b="1" dirty="0" err="1"/>
              <a:t>X11</a:t>
            </a:r>
            <a:r>
              <a:rPr lang="en-US" sz="2000" b="1" dirty="0"/>
              <a:t>  + </a:t>
            </a:r>
            <a:r>
              <a:rPr lang="en-US" sz="2000" b="1" dirty="0" err="1"/>
              <a:t>X21</a:t>
            </a:r>
            <a:r>
              <a:rPr lang="en-US" sz="2000" b="1" dirty="0"/>
              <a:t>  + </a:t>
            </a:r>
            <a:r>
              <a:rPr lang="en-US" sz="2000" b="1" dirty="0" err="1"/>
              <a:t>X31</a:t>
            </a:r>
            <a:r>
              <a:rPr lang="en-US" sz="2000" b="1" dirty="0"/>
              <a:t> = 4</a:t>
            </a:r>
            <a:endParaRPr lang="es-PE" sz="2000" b="1" dirty="0"/>
          </a:p>
          <a:p>
            <a:pPr lvl="0"/>
            <a:r>
              <a:rPr lang="en-US" sz="2000" b="1" dirty="0" err="1"/>
              <a:t>X12</a:t>
            </a:r>
            <a:r>
              <a:rPr lang="en-US" sz="2000" b="1" dirty="0"/>
              <a:t>  + </a:t>
            </a:r>
            <a:r>
              <a:rPr lang="en-US" sz="2000" b="1" dirty="0" err="1"/>
              <a:t>X22</a:t>
            </a:r>
            <a:r>
              <a:rPr lang="en-US" sz="2000" b="1" dirty="0"/>
              <a:t>  + </a:t>
            </a:r>
            <a:r>
              <a:rPr lang="en-US" sz="2000" b="1" dirty="0" err="1"/>
              <a:t>X32</a:t>
            </a:r>
            <a:r>
              <a:rPr lang="en-US" sz="2000" b="1" dirty="0"/>
              <a:t> = 2</a:t>
            </a:r>
            <a:endParaRPr lang="es-PE" sz="2000" b="1" dirty="0"/>
          </a:p>
          <a:p>
            <a:pPr lvl="0"/>
            <a:r>
              <a:rPr lang="en-US" sz="2000" b="1" dirty="0" err="1"/>
              <a:t>X13</a:t>
            </a:r>
            <a:r>
              <a:rPr lang="en-US" sz="2000" b="1" dirty="0"/>
              <a:t>  + </a:t>
            </a:r>
            <a:r>
              <a:rPr lang="en-US" sz="2000" b="1" dirty="0" err="1"/>
              <a:t>X23</a:t>
            </a:r>
            <a:r>
              <a:rPr lang="en-US" sz="2000" b="1" dirty="0"/>
              <a:t>  + </a:t>
            </a:r>
            <a:r>
              <a:rPr lang="en-US" sz="2000" b="1" dirty="0" err="1"/>
              <a:t>X33</a:t>
            </a:r>
            <a:r>
              <a:rPr lang="en-US" sz="2000" b="1" dirty="0"/>
              <a:t>	= 2</a:t>
            </a:r>
          </a:p>
          <a:p>
            <a:pPr lvl="0"/>
            <a:r>
              <a:rPr lang="en-US" sz="2000" b="1" dirty="0">
                <a:solidFill>
                  <a:srgbClr val="FF0000"/>
                </a:solidFill>
              </a:rPr>
              <a:t>END</a:t>
            </a:r>
          </a:p>
          <a:p>
            <a:pPr lvl="0"/>
            <a:r>
              <a:rPr lang="en-US" sz="2000" b="1" dirty="0"/>
              <a:t>GIN </a:t>
            </a:r>
            <a:r>
              <a:rPr lang="en-US" sz="2000" b="1" dirty="0" err="1"/>
              <a:t>X11</a:t>
            </a:r>
            <a:r>
              <a:rPr lang="en-US" sz="2000" b="1" dirty="0"/>
              <a:t>	</a:t>
            </a:r>
          </a:p>
          <a:p>
            <a:pPr lvl="0"/>
            <a:r>
              <a:rPr lang="en-US" sz="2000" b="1" dirty="0"/>
              <a:t>GIN </a:t>
            </a:r>
            <a:r>
              <a:rPr lang="en-US" sz="2000" b="1" dirty="0" err="1"/>
              <a:t>X12</a:t>
            </a:r>
            <a:r>
              <a:rPr lang="en-US" sz="2000" b="1" dirty="0"/>
              <a:t>	</a:t>
            </a:r>
          </a:p>
          <a:p>
            <a:pPr lvl="0"/>
            <a:r>
              <a:rPr lang="en-US" sz="2000" b="1" dirty="0"/>
              <a:t>GIN </a:t>
            </a:r>
            <a:r>
              <a:rPr lang="en-US" sz="2000" b="1" dirty="0" err="1"/>
              <a:t>X13</a:t>
            </a:r>
            <a:endParaRPr lang="en-US" sz="2000" b="1" dirty="0"/>
          </a:p>
          <a:p>
            <a:pPr lvl="0"/>
            <a:r>
              <a:rPr lang="en-US" sz="2000" b="1" dirty="0"/>
              <a:t>GIN </a:t>
            </a:r>
            <a:r>
              <a:rPr lang="en-US" sz="2000" b="1" dirty="0" err="1"/>
              <a:t>X21</a:t>
            </a:r>
            <a:endParaRPr lang="en-US" sz="2000" b="1" dirty="0"/>
          </a:p>
          <a:p>
            <a:pPr lvl="0"/>
            <a:r>
              <a:rPr lang="en-US" sz="2000" b="1" dirty="0"/>
              <a:t>GIN </a:t>
            </a:r>
            <a:r>
              <a:rPr lang="en-US" sz="2000" b="1" dirty="0" err="1"/>
              <a:t>X22</a:t>
            </a:r>
            <a:endParaRPr lang="en-US" sz="2000" b="1" dirty="0"/>
          </a:p>
          <a:p>
            <a:pPr lvl="0"/>
            <a:r>
              <a:rPr lang="en-US" sz="2000" b="1" dirty="0"/>
              <a:t>GIN </a:t>
            </a:r>
            <a:r>
              <a:rPr lang="en-US" sz="2000" b="1" dirty="0" err="1"/>
              <a:t>X23</a:t>
            </a:r>
            <a:endParaRPr lang="en-US" sz="2000" b="1" dirty="0"/>
          </a:p>
          <a:p>
            <a:pPr lvl="0"/>
            <a:r>
              <a:rPr lang="en-US" sz="2000" b="1" dirty="0"/>
              <a:t>GIN </a:t>
            </a:r>
            <a:r>
              <a:rPr lang="en-US" sz="2000" b="1" dirty="0" err="1"/>
              <a:t>X31</a:t>
            </a:r>
            <a:endParaRPr lang="en-US" sz="2000" b="1" dirty="0"/>
          </a:p>
          <a:p>
            <a:pPr lvl="0"/>
            <a:r>
              <a:rPr lang="en-US" sz="2000" b="1" dirty="0"/>
              <a:t>GIN </a:t>
            </a:r>
            <a:r>
              <a:rPr lang="en-US" sz="2000" b="1" dirty="0" err="1"/>
              <a:t>X32</a:t>
            </a:r>
            <a:endParaRPr lang="en-US" sz="2000" b="1" dirty="0"/>
          </a:p>
          <a:p>
            <a:pPr lvl="0"/>
            <a:r>
              <a:rPr lang="en-US" sz="2000" b="1" dirty="0"/>
              <a:t>GIN </a:t>
            </a:r>
            <a:r>
              <a:rPr lang="en-US" sz="2000" b="1" dirty="0" err="1"/>
              <a:t>X33</a:t>
            </a:r>
            <a:endParaRPr lang="es-PE" sz="2000" b="1" dirty="0"/>
          </a:p>
        </p:txBody>
      </p:sp>
      <p:graphicFrame>
        <p:nvGraphicFramePr>
          <p:cNvPr id="5" name="1 Diagrama">
            <a:extLst>
              <a:ext uri="{FF2B5EF4-FFF2-40B4-BE49-F238E27FC236}">
                <a16:creationId xmlns:a16="http://schemas.microsoft.com/office/drawing/2014/main" id="{BDE2C259-ECF9-4C2A-BC71-B60724A46D1B}"/>
              </a:ext>
            </a:extLst>
          </p:cNvPr>
          <p:cNvGraphicFramePr/>
          <p:nvPr>
            <p:extLst>
              <p:ext uri="{D42A27DB-BD31-4B8C-83A1-F6EECF244321}">
                <p14:modId xmlns:p14="http://schemas.microsoft.com/office/powerpoint/2010/main" val="97294434"/>
              </p:ext>
            </p:extLst>
          </p:nvPr>
        </p:nvGraphicFramePr>
        <p:xfrm>
          <a:off x="6520207" y="1742585"/>
          <a:ext cx="5218947" cy="4623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486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096000" y="67112"/>
            <a:ext cx="6096000" cy="931177"/>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 sz="3200" dirty="0">
                <a:solidFill>
                  <a:schemeClr val="bg1"/>
                </a:solidFill>
                <a:latin typeface="Bauhaus 93" pitchFamily="82" charset="0"/>
                <a:ea typeface="+mn-ea"/>
                <a:cs typeface="+mn-cs"/>
              </a:rPr>
              <a:t>Problema 4</a:t>
            </a:r>
            <a:br>
              <a:rPr lang="es-ES" sz="3200" dirty="0">
                <a:solidFill>
                  <a:schemeClr val="bg1"/>
                </a:solidFill>
                <a:latin typeface="Bauhaus 93" pitchFamily="82" charset="0"/>
                <a:ea typeface="+mn-ea"/>
                <a:cs typeface="+mn-cs"/>
              </a:rPr>
            </a:br>
            <a:r>
              <a:rPr lang="es-ES" sz="3200" dirty="0">
                <a:solidFill>
                  <a:schemeClr val="bg1"/>
                </a:solidFill>
                <a:latin typeface="Bauhaus 93" pitchFamily="82" charset="0"/>
                <a:ea typeface="+mn-ea"/>
                <a:cs typeface="+mn-cs"/>
              </a:rPr>
              <a:t>Mezcla de productos</a:t>
            </a:r>
            <a:endParaRPr lang="es-PE" sz="3200" dirty="0">
              <a:solidFill>
                <a:schemeClr val="bg1"/>
              </a:solidFill>
              <a:latin typeface="Bauhaus 93" pitchFamily="82" charset="0"/>
              <a:ea typeface="+mn-ea"/>
              <a:cs typeface="+mn-cs"/>
            </a:endParaRPr>
          </a:p>
        </p:txBody>
      </p:sp>
      <p:graphicFrame>
        <p:nvGraphicFramePr>
          <p:cNvPr id="4" name="3 Diagrama"/>
          <p:cNvGraphicFramePr/>
          <p:nvPr>
            <p:extLst>
              <p:ext uri="{D42A27DB-BD31-4B8C-83A1-F6EECF244321}">
                <p14:modId xmlns:p14="http://schemas.microsoft.com/office/powerpoint/2010/main" val="1676734988"/>
              </p:ext>
            </p:extLst>
          </p:nvPr>
        </p:nvGraphicFramePr>
        <p:xfrm>
          <a:off x="1626665" y="3527112"/>
          <a:ext cx="8712968" cy="32129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3D9C503D-6A7D-5878-C039-8CD849FDBE57}"/>
              </a:ext>
            </a:extLst>
          </p:cNvPr>
          <p:cNvSpPr txBox="1"/>
          <p:nvPr/>
        </p:nvSpPr>
        <p:spPr>
          <a:xfrm>
            <a:off x="471629" y="1182231"/>
            <a:ext cx="11248741" cy="2246769"/>
          </a:xfrm>
          <a:prstGeom prst="rect">
            <a:avLst/>
          </a:prstGeom>
          <a:noFill/>
        </p:spPr>
        <p:txBody>
          <a:bodyPr wrap="square">
            <a:spAutoFit/>
          </a:bodyPr>
          <a:lstStyle/>
          <a:p>
            <a:pPr lvl="0" algn="just" rtl="0"/>
            <a:r>
              <a:rPr lang="es-ES" sz="2800" dirty="0"/>
              <a:t>Una Cía. produce tres productos de caucho: </a:t>
            </a:r>
            <a:r>
              <a:rPr lang="es-ES" sz="2800" dirty="0" err="1"/>
              <a:t>Airtex</a:t>
            </a:r>
            <a:r>
              <a:rPr lang="es-ES" sz="2800" dirty="0"/>
              <a:t> (esponjoso), </a:t>
            </a:r>
            <a:r>
              <a:rPr lang="es-ES" sz="2800" dirty="0" err="1"/>
              <a:t>Extendex</a:t>
            </a:r>
            <a:r>
              <a:rPr lang="es-ES" sz="2800" dirty="0"/>
              <a:t> (elástico) y </a:t>
            </a:r>
            <a:r>
              <a:rPr lang="es-ES" sz="2800" dirty="0" err="1"/>
              <a:t>Resistex</a:t>
            </a:r>
            <a:r>
              <a:rPr lang="es-ES" sz="2800" dirty="0"/>
              <a:t> (Rígido). Los tres productos requieren de los mismos polímeros A, B y C y una Base (oz. / lb.); la demanda para la próxima semana de los tres productos (lb.) y las ganancias respectivas ($ / lb.) se indica en la siguiente tabla. Se pide determinar un plan de producción para esta semana.</a:t>
            </a:r>
          </a:p>
        </p:txBody>
      </p:sp>
    </p:spTree>
    <p:extLst>
      <p:ext uri="{BB962C8B-B14F-4D97-AF65-F5344CB8AC3E}">
        <p14:creationId xmlns:p14="http://schemas.microsoft.com/office/powerpoint/2010/main" val="291307216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6096000" y="286757"/>
            <a:ext cx="6096000" cy="479425"/>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ctr">
              <a:lnSpc>
                <a:spcPts val="5800"/>
              </a:lnSpc>
              <a:spcBef>
                <a:spcPct val="0"/>
              </a:spcBef>
              <a:buNone/>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s-ES" dirty="0"/>
              <a:t>Modelo del Problema 2</a:t>
            </a:r>
            <a:endParaRPr lang="es-PE" dirty="0"/>
          </a:p>
        </p:txBody>
      </p:sp>
      <p:sp>
        <p:nvSpPr>
          <p:cNvPr id="11" name="Forma libre: forma 10">
            <a:extLst>
              <a:ext uri="{FF2B5EF4-FFF2-40B4-BE49-F238E27FC236}">
                <a16:creationId xmlns:a16="http://schemas.microsoft.com/office/drawing/2014/main" id="{A82D35E6-FF9D-4879-A6D4-FABC0AD1746C}"/>
              </a:ext>
            </a:extLst>
          </p:cNvPr>
          <p:cNvSpPr/>
          <p:nvPr/>
        </p:nvSpPr>
        <p:spPr>
          <a:xfrm>
            <a:off x="2673924" y="1270698"/>
            <a:ext cx="6575081" cy="1428327"/>
          </a:xfrm>
          <a:custGeom>
            <a:avLst/>
            <a:gdLst>
              <a:gd name="connsiteX0" fmla="*/ 218766 w 1312571"/>
              <a:gd name="connsiteY0" fmla="*/ 0 h 6313654"/>
              <a:gd name="connsiteX1" fmla="*/ 1093805 w 1312571"/>
              <a:gd name="connsiteY1" fmla="*/ 0 h 6313654"/>
              <a:gd name="connsiteX2" fmla="*/ 1312571 w 1312571"/>
              <a:gd name="connsiteY2" fmla="*/ 218766 h 6313654"/>
              <a:gd name="connsiteX3" fmla="*/ 1312571 w 1312571"/>
              <a:gd name="connsiteY3" fmla="*/ 6313654 h 6313654"/>
              <a:gd name="connsiteX4" fmla="*/ 1312571 w 1312571"/>
              <a:gd name="connsiteY4" fmla="*/ 6313654 h 6313654"/>
              <a:gd name="connsiteX5" fmla="*/ 0 w 1312571"/>
              <a:gd name="connsiteY5" fmla="*/ 6313654 h 6313654"/>
              <a:gd name="connsiteX6" fmla="*/ 0 w 1312571"/>
              <a:gd name="connsiteY6" fmla="*/ 6313654 h 6313654"/>
              <a:gd name="connsiteX7" fmla="*/ 0 w 1312571"/>
              <a:gd name="connsiteY7" fmla="*/ 218766 h 6313654"/>
              <a:gd name="connsiteX8" fmla="*/ 218766 w 1312571"/>
              <a:gd name="connsiteY8" fmla="*/ 0 h 6313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2571" h="6313654">
                <a:moveTo>
                  <a:pt x="1312571" y="1052297"/>
                </a:moveTo>
                <a:lnTo>
                  <a:pt x="1312571" y="5261357"/>
                </a:lnTo>
                <a:cubicBezTo>
                  <a:pt x="1312571" y="5842523"/>
                  <a:pt x="1292209" y="6313652"/>
                  <a:pt x="1267091" y="6313652"/>
                </a:cubicBezTo>
                <a:lnTo>
                  <a:pt x="0" y="6313652"/>
                </a:lnTo>
                <a:lnTo>
                  <a:pt x="0" y="6313652"/>
                </a:lnTo>
                <a:lnTo>
                  <a:pt x="0" y="2"/>
                </a:lnTo>
                <a:lnTo>
                  <a:pt x="0" y="2"/>
                </a:lnTo>
                <a:lnTo>
                  <a:pt x="1267091" y="2"/>
                </a:lnTo>
                <a:cubicBezTo>
                  <a:pt x="1292209" y="2"/>
                  <a:pt x="1312571" y="471131"/>
                  <a:pt x="1312571" y="1052297"/>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87899" rIns="311724" bIns="187900" numCol="1" spcCol="1270" anchor="ctr" anchorCtr="0">
            <a:noAutofit/>
          </a:bodyPr>
          <a:lstStyle/>
          <a:p>
            <a:pPr marL="228600" lvl="1" indent="-228600" algn="l" defTabSz="889000" rtl="0">
              <a:lnSpc>
                <a:spcPct val="90000"/>
              </a:lnSpc>
              <a:spcBef>
                <a:spcPct val="0"/>
              </a:spcBef>
              <a:spcAft>
                <a:spcPct val="15000"/>
              </a:spcAft>
              <a:buChar char="•"/>
            </a:pPr>
            <a:r>
              <a:rPr lang="es-ES" sz="2400" b="0" kern="1200" dirty="0">
                <a:latin typeface="Arial Narrow" panose="020B0606020202030204" pitchFamily="34" charset="0"/>
              </a:rPr>
              <a:t>A= Número de lb. de </a:t>
            </a:r>
            <a:r>
              <a:rPr lang="es-ES" sz="2400" b="0" kern="1200" dirty="0" err="1">
                <a:latin typeface="Arial Narrow" panose="020B0606020202030204" pitchFamily="34" charset="0"/>
              </a:rPr>
              <a:t>Airtex</a:t>
            </a:r>
            <a:r>
              <a:rPr lang="es-ES" sz="2400" b="0" kern="1200" dirty="0">
                <a:latin typeface="Arial Narrow" panose="020B0606020202030204" pitchFamily="34" charset="0"/>
              </a:rPr>
              <a:t> por producir </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a:latin typeface="Arial Narrow" panose="020B0606020202030204" pitchFamily="34" charset="0"/>
              </a:rPr>
              <a:t>E= Número de lb. de </a:t>
            </a:r>
            <a:r>
              <a:rPr lang="es-ES" sz="2400" b="0" kern="1200" dirty="0" err="1">
                <a:latin typeface="Arial Narrow" panose="020B0606020202030204" pitchFamily="34" charset="0"/>
              </a:rPr>
              <a:t>Extendex</a:t>
            </a:r>
            <a:r>
              <a:rPr lang="es-ES" sz="2400" b="0" kern="1200" dirty="0">
                <a:latin typeface="Arial Narrow" panose="020B0606020202030204" pitchFamily="34" charset="0"/>
              </a:rPr>
              <a:t> por producir </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a:latin typeface="Arial Narrow" panose="020B0606020202030204" pitchFamily="34" charset="0"/>
              </a:rPr>
              <a:t>R= Número de lb. de </a:t>
            </a:r>
            <a:r>
              <a:rPr lang="es-ES" sz="2400" b="0" kern="1200" dirty="0" err="1">
                <a:latin typeface="Arial Narrow" panose="020B0606020202030204" pitchFamily="34" charset="0"/>
              </a:rPr>
              <a:t>Resistex</a:t>
            </a:r>
            <a:r>
              <a:rPr lang="es-ES" sz="2400" b="0" kern="1200" dirty="0">
                <a:latin typeface="Arial Narrow" panose="020B0606020202030204" pitchFamily="34" charset="0"/>
              </a:rPr>
              <a:t> por producir </a:t>
            </a:r>
            <a:endParaRPr lang="es-ES" sz="2400" kern="1200" dirty="0">
              <a:latin typeface="Arial Narrow" panose="020B0606020202030204" pitchFamily="34" charset="0"/>
            </a:endParaRPr>
          </a:p>
        </p:txBody>
      </p:sp>
      <p:sp>
        <p:nvSpPr>
          <p:cNvPr id="12" name="Forma libre: forma 11">
            <a:extLst>
              <a:ext uri="{FF2B5EF4-FFF2-40B4-BE49-F238E27FC236}">
                <a16:creationId xmlns:a16="http://schemas.microsoft.com/office/drawing/2014/main" id="{6067805A-BF77-4A10-927D-B4EE15C19F5C}"/>
              </a:ext>
            </a:extLst>
          </p:cNvPr>
          <p:cNvSpPr/>
          <p:nvPr/>
        </p:nvSpPr>
        <p:spPr>
          <a:xfrm>
            <a:off x="12055" y="1519135"/>
            <a:ext cx="2623437" cy="887636"/>
          </a:xfrm>
          <a:custGeom>
            <a:avLst/>
            <a:gdLst>
              <a:gd name="connsiteX0" fmla="*/ 0 w 2542903"/>
              <a:gd name="connsiteY0" fmla="*/ 135953 h 815700"/>
              <a:gd name="connsiteX1" fmla="*/ 135953 w 2542903"/>
              <a:gd name="connsiteY1" fmla="*/ 0 h 815700"/>
              <a:gd name="connsiteX2" fmla="*/ 2406950 w 2542903"/>
              <a:gd name="connsiteY2" fmla="*/ 0 h 815700"/>
              <a:gd name="connsiteX3" fmla="*/ 2542903 w 2542903"/>
              <a:gd name="connsiteY3" fmla="*/ 135953 h 815700"/>
              <a:gd name="connsiteX4" fmla="*/ 2542903 w 2542903"/>
              <a:gd name="connsiteY4" fmla="*/ 679747 h 815700"/>
              <a:gd name="connsiteX5" fmla="*/ 2406950 w 2542903"/>
              <a:gd name="connsiteY5" fmla="*/ 815700 h 815700"/>
              <a:gd name="connsiteX6" fmla="*/ 135953 w 2542903"/>
              <a:gd name="connsiteY6" fmla="*/ 815700 h 815700"/>
              <a:gd name="connsiteX7" fmla="*/ 0 w 2542903"/>
              <a:gd name="connsiteY7" fmla="*/ 679747 h 815700"/>
              <a:gd name="connsiteX8" fmla="*/ 0 w 2542903"/>
              <a:gd name="connsiteY8" fmla="*/ 135953 h 81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2903" h="815700">
                <a:moveTo>
                  <a:pt x="0" y="135953"/>
                </a:moveTo>
                <a:cubicBezTo>
                  <a:pt x="0" y="60868"/>
                  <a:pt x="60868" y="0"/>
                  <a:pt x="135953" y="0"/>
                </a:cubicBezTo>
                <a:lnTo>
                  <a:pt x="2406950" y="0"/>
                </a:lnTo>
                <a:cubicBezTo>
                  <a:pt x="2482035" y="0"/>
                  <a:pt x="2542903" y="60868"/>
                  <a:pt x="2542903" y="135953"/>
                </a:cubicBezTo>
                <a:lnTo>
                  <a:pt x="2542903" y="679747"/>
                </a:lnTo>
                <a:cubicBezTo>
                  <a:pt x="2542903" y="754832"/>
                  <a:pt x="2482035" y="815700"/>
                  <a:pt x="2406950" y="815700"/>
                </a:cubicBezTo>
                <a:lnTo>
                  <a:pt x="135953" y="815700"/>
                </a:lnTo>
                <a:cubicBezTo>
                  <a:pt x="60868" y="815700"/>
                  <a:pt x="0" y="754832"/>
                  <a:pt x="0" y="679747"/>
                </a:cubicBezTo>
                <a:lnTo>
                  <a:pt x="0" y="135953"/>
                </a:lnTo>
                <a:close/>
              </a:path>
            </a:pathLst>
          </a:custGeom>
          <a:solidFill>
            <a:schemeClr val="accent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019" tIns="77919" rIns="116019" bIns="77919" numCol="1" spcCol="1270" anchor="ctr" anchorCtr="0">
            <a:noAutofit/>
          </a:bodyPr>
          <a:lstStyle/>
          <a:p>
            <a:pPr marL="0" lvl="0" indent="0" algn="ctr" defTabSz="889000" rtl="0">
              <a:lnSpc>
                <a:spcPct val="90000"/>
              </a:lnSpc>
              <a:spcBef>
                <a:spcPct val="0"/>
              </a:spcBef>
              <a:spcAft>
                <a:spcPct val="35000"/>
              </a:spcAft>
              <a:buNone/>
            </a:pPr>
            <a:r>
              <a:rPr lang="es-ES" sz="2400" b="0" kern="1200" dirty="0">
                <a:latin typeface="Arial Narrow" panose="020B0606020202030204" pitchFamily="34" charset="0"/>
              </a:rPr>
              <a:t>Identificación de las variables </a:t>
            </a:r>
            <a:endParaRPr lang="es-ES" sz="2400" kern="1200" dirty="0">
              <a:latin typeface="Arial Narrow" panose="020B0606020202030204" pitchFamily="34" charset="0"/>
            </a:endParaRPr>
          </a:p>
        </p:txBody>
      </p:sp>
      <p:sp>
        <p:nvSpPr>
          <p:cNvPr id="13" name="Forma libre: forma 12">
            <a:extLst>
              <a:ext uri="{FF2B5EF4-FFF2-40B4-BE49-F238E27FC236}">
                <a16:creationId xmlns:a16="http://schemas.microsoft.com/office/drawing/2014/main" id="{7F9B52C0-C5A2-4FF7-B0A2-D352D211C8E5}"/>
              </a:ext>
            </a:extLst>
          </p:cNvPr>
          <p:cNvSpPr/>
          <p:nvPr/>
        </p:nvSpPr>
        <p:spPr>
          <a:xfrm>
            <a:off x="2673925" y="2699025"/>
            <a:ext cx="6575082" cy="696074"/>
          </a:xfrm>
          <a:custGeom>
            <a:avLst/>
            <a:gdLst>
              <a:gd name="connsiteX0" fmla="*/ 85107 w 510630"/>
              <a:gd name="connsiteY0" fmla="*/ 0 h 6363298"/>
              <a:gd name="connsiteX1" fmla="*/ 425523 w 510630"/>
              <a:gd name="connsiteY1" fmla="*/ 0 h 6363298"/>
              <a:gd name="connsiteX2" fmla="*/ 510630 w 510630"/>
              <a:gd name="connsiteY2" fmla="*/ 85107 h 6363298"/>
              <a:gd name="connsiteX3" fmla="*/ 510630 w 510630"/>
              <a:gd name="connsiteY3" fmla="*/ 6363298 h 6363298"/>
              <a:gd name="connsiteX4" fmla="*/ 510630 w 510630"/>
              <a:gd name="connsiteY4" fmla="*/ 6363298 h 6363298"/>
              <a:gd name="connsiteX5" fmla="*/ 0 w 510630"/>
              <a:gd name="connsiteY5" fmla="*/ 6363298 h 6363298"/>
              <a:gd name="connsiteX6" fmla="*/ 0 w 510630"/>
              <a:gd name="connsiteY6" fmla="*/ 6363298 h 6363298"/>
              <a:gd name="connsiteX7" fmla="*/ 0 w 510630"/>
              <a:gd name="connsiteY7" fmla="*/ 85107 h 6363298"/>
              <a:gd name="connsiteX8" fmla="*/ 85107 w 510630"/>
              <a:gd name="connsiteY8" fmla="*/ 0 h 636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630" h="6363298">
                <a:moveTo>
                  <a:pt x="510630" y="1060579"/>
                </a:moveTo>
                <a:lnTo>
                  <a:pt x="510630" y="5302719"/>
                </a:lnTo>
                <a:cubicBezTo>
                  <a:pt x="510630" y="5888454"/>
                  <a:pt x="507572" y="6363292"/>
                  <a:pt x="503800" y="6363292"/>
                </a:cubicBezTo>
                <a:lnTo>
                  <a:pt x="0" y="6363292"/>
                </a:lnTo>
                <a:lnTo>
                  <a:pt x="0" y="6363292"/>
                </a:lnTo>
                <a:lnTo>
                  <a:pt x="0" y="6"/>
                </a:lnTo>
                <a:lnTo>
                  <a:pt x="0" y="6"/>
                </a:lnTo>
                <a:lnTo>
                  <a:pt x="503800" y="6"/>
                </a:lnTo>
                <a:cubicBezTo>
                  <a:pt x="507572" y="6"/>
                  <a:pt x="510630" y="474844"/>
                  <a:pt x="510630" y="106057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48751" rIns="272576" bIns="148753" numCol="1" spcCol="1270" anchor="ctr" anchorCtr="0">
            <a:noAutofit/>
          </a:bodyPr>
          <a:lstStyle/>
          <a:p>
            <a:pPr marL="228600" lvl="1" indent="-228600" algn="l" defTabSz="889000" rtl="0">
              <a:lnSpc>
                <a:spcPct val="90000"/>
              </a:lnSpc>
              <a:spcBef>
                <a:spcPct val="0"/>
              </a:spcBef>
              <a:spcAft>
                <a:spcPct val="15000"/>
              </a:spcAft>
              <a:buChar char="•"/>
            </a:pPr>
            <a:r>
              <a:rPr lang="es-ES" sz="2400" b="0" kern="1200" dirty="0">
                <a:latin typeface="Arial Narrow" panose="020B0606020202030204" pitchFamily="34" charset="0"/>
              </a:rPr>
              <a:t>MAX  </a:t>
            </a:r>
            <a:r>
              <a:rPr lang="es-ES" sz="2400" b="0" kern="1200" dirty="0" err="1">
                <a:latin typeface="Arial Narrow" panose="020B0606020202030204" pitchFamily="34" charset="0"/>
              </a:rPr>
              <a:t>7A</a:t>
            </a:r>
            <a:r>
              <a:rPr lang="es-ES" sz="2400" b="0" kern="1200" dirty="0">
                <a:latin typeface="Arial Narrow" panose="020B0606020202030204" pitchFamily="34" charset="0"/>
              </a:rPr>
              <a:t> + </a:t>
            </a:r>
            <a:r>
              <a:rPr lang="es-ES" sz="2400" b="0" kern="1200" dirty="0" err="1">
                <a:latin typeface="Arial Narrow" panose="020B0606020202030204" pitchFamily="34" charset="0"/>
              </a:rPr>
              <a:t>7E</a:t>
            </a:r>
            <a:r>
              <a:rPr lang="es-ES" sz="2400" b="0" kern="1200" dirty="0">
                <a:latin typeface="Arial Narrow" panose="020B0606020202030204" pitchFamily="34" charset="0"/>
              </a:rPr>
              <a:t> + </a:t>
            </a:r>
            <a:r>
              <a:rPr lang="es-ES" sz="2400" b="0" kern="1200" dirty="0" err="1">
                <a:latin typeface="Arial Narrow" panose="020B0606020202030204" pitchFamily="34" charset="0"/>
              </a:rPr>
              <a:t>6R</a:t>
            </a:r>
            <a:endParaRPr lang="es-ES" sz="2400" kern="1200" dirty="0">
              <a:latin typeface="Arial Narrow" panose="020B0606020202030204" pitchFamily="34" charset="0"/>
            </a:endParaRPr>
          </a:p>
        </p:txBody>
      </p:sp>
      <p:sp>
        <p:nvSpPr>
          <p:cNvPr id="14" name="Forma libre: forma 13">
            <a:extLst>
              <a:ext uri="{FF2B5EF4-FFF2-40B4-BE49-F238E27FC236}">
                <a16:creationId xmlns:a16="http://schemas.microsoft.com/office/drawing/2014/main" id="{DC3B3F72-710E-476A-BA5A-2FF68C7AC535}"/>
              </a:ext>
            </a:extLst>
          </p:cNvPr>
          <p:cNvSpPr/>
          <p:nvPr/>
        </p:nvSpPr>
        <p:spPr>
          <a:xfrm>
            <a:off x="21270" y="2699683"/>
            <a:ext cx="2572198" cy="859818"/>
          </a:xfrm>
          <a:custGeom>
            <a:avLst/>
            <a:gdLst>
              <a:gd name="connsiteX0" fmla="*/ 0 w 2493237"/>
              <a:gd name="connsiteY0" fmla="*/ 131692 h 790136"/>
              <a:gd name="connsiteX1" fmla="*/ 131692 w 2493237"/>
              <a:gd name="connsiteY1" fmla="*/ 0 h 790136"/>
              <a:gd name="connsiteX2" fmla="*/ 2361545 w 2493237"/>
              <a:gd name="connsiteY2" fmla="*/ 0 h 790136"/>
              <a:gd name="connsiteX3" fmla="*/ 2493237 w 2493237"/>
              <a:gd name="connsiteY3" fmla="*/ 131692 h 790136"/>
              <a:gd name="connsiteX4" fmla="*/ 2493237 w 2493237"/>
              <a:gd name="connsiteY4" fmla="*/ 658444 h 790136"/>
              <a:gd name="connsiteX5" fmla="*/ 2361545 w 2493237"/>
              <a:gd name="connsiteY5" fmla="*/ 790136 h 790136"/>
              <a:gd name="connsiteX6" fmla="*/ 131692 w 2493237"/>
              <a:gd name="connsiteY6" fmla="*/ 790136 h 790136"/>
              <a:gd name="connsiteX7" fmla="*/ 0 w 2493237"/>
              <a:gd name="connsiteY7" fmla="*/ 658444 h 790136"/>
              <a:gd name="connsiteX8" fmla="*/ 0 w 2493237"/>
              <a:gd name="connsiteY8" fmla="*/ 131692 h 79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3237" h="790136">
                <a:moveTo>
                  <a:pt x="0" y="131692"/>
                </a:moveTo>
                <a:cubicBezTo>
                  <a:pt x="0" y="58961"/>
                  <a:pt x="58961" y="0"/>
                  <a:pt x="131692" y="0"/>
                </a:cubicBezTo>
                <a:lnTo>
                  <a:pt x="2361545" y="0"/>
                </a:lnTo>
                <a:cubicBezTo>
                  <a:pt x="2434276" y="0"/>
                  <a:pt x="2493237" y="58961"/>
                  <a:pt x="2493237" y="131692"/>
                </a:cubicBezTo>
                <a:lnTo>
                  <a:pt x="2493237" y="658444"/>
                </a:lnTo>
                <a:cubicBezTo>
                  <a:pt x="2493237" y="731175"/>
                  <a:pt x="2434276" y="790136"/>
                  <a:pt x="2361545" y="790136"/>
                </a:cubicBezTo>
                <a:lnTo>
                  <a:pt x="131692" y="790136"/>
                </a:lnTo>
                <a:cubicBezTo>
                  <a:pt x="58961" y="790136"/>
                  <a:pt x="0" y="731175"/>
                  <a:pt x="0" y="658444"/>
                </a:cubicBezTo>
                <a:lnTo>
                  <a:pt x="0" y="131692"/>
                </a:lnTo>
                <a:close/>
              </a:path>
            </a:pathLst>
          </a:custGeom>
          <a:solidFill>
            <a:schemeClr val="accent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771" tIns="76671" rIns="114771" bIns="76671" numCol="1" spcCol="1270" anchor="ctr" anchorCtr="0">
            <a:noAutofit/>
          </a:bodyPr>
          <a:lstStyle/>
          <a:p>
            <a:pPr marL="0" lvl="0" indent="0" algn="ctr" defTabSz="889000" rtl="0">
              <a:lnSpc>
                <a:spcPct val="90000"/>
              </a:lnSpc>
              <a:spcBef>
                <a:spcPct val="0"/>
              </a:spcBef>
              <a:spcAft>
                <a:spcPct val="35000"/>
              </a:spcAft>
              <a:buNone/>
            </a:pPr>
            <a:r>
              <a:rPr lang="es-ES" sz="2400" b="0" kern="1200" dirty="0">
                <a:latin typeface="Arial Narrow" panose="020B0606020202030204" pitchFamily="34" charset="0"/>
              </a:rPr>
              <a:t>Identificación de la función objetivo</a:t>
            </a:r>
            <a:endParaRPr lang="es-ES" sz="2400" kern="1200" dirty="0">
              <a:latin typeface="Arial Narrow" panose="020B0606020202030204" pitchFamily="34" charset="0"/>
            </a:endParaRPr>
          </a:p>
        </p:txBody>
      </p:sp>
      <p:sp>
        <p:nvSpPr>
          <p:cNvPr id="15" name="Forma libre: forma 14">
            <a:extLst>
              <a:ext uri="{FF2B5EF4-FFF2-40B4-BE49-F238E27FC236}">
                <a16:creationId xmlns:a16="http://schemas.microsoft.com/office/drawing/2014/main" id="{4D2E6D85-4956-4AFE-8C5B-B54B6F25C206}"/>
              </a:ext>
            </a:extLst>
          </p:cNvPr>
          <p:cNvSpPr/>
          <p:nvPr/>
        </p:nvSpPr>
        <p:spPr>
          <a:xfrm>
            <a:off x="2675280" y="3395099"/>
            <a:ext cx="6575082" cy="3462901"/>
          </a:xfrm>
          <a:custGeom>
            <a:avLst/>
            <a:gdLst>
              <a:gd name="connsiteX0" fmla="*/ 498049 w 2988237"/>
              <a:gd name="connsiteY0" fmla="*/ 0 h 6292935"/>
              <a:gd name="connsiteX1" fmla="*/ 2490188 w 2988237"/>
              <a:gd name="connsiteY1" fmla="*/ 0 h 6292935"/>
              <a:gd name="connsiteX2" fmla="*/ 2988237 w 2988237"/>
              <a:gd name="connsiteY2" fmla="*/ 498049 h 6292935"/>
              <a:gd name="connsiteX3" fmla="*/ 2988237 w 2988237"/>
              <a:gd name="connsiteY3" fmla="*/ 6292935 h 6292935"/>
              <a:gd name="connsiteX4" fmla="*/ 2988237 w 2988237"/>
              <a:gd name="connsiteY4" fmla="*/ 6292935 h 6292935"/>
              <a:gd name="connsiteX5" fmla="*/ 0 w 2988237"/>
              <a:gd name="connsiteY5" fmla="*/ 6292935 h 6292935"/>
              <a:gd name="connsiteX6" fmla="*/ 0 w 2988237"/>
              <a:gd name="connsiteY6" fmla="*/ 6292935 h 6292935"/>
              <a:gd name="connsiteX7" fmla="*/ 0 w 2988237"/>
              <a:gd name="connsiteY7" fmla="*/ 498049 h 6292935"/>
              <a:gd name="connsiteX8" fmla="*/ 498049 w 2988237"/>
              <a:gd name="connsiteY8" fmla="*/ 0 h 6292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88237" h="6292935">
                <a:moveTo>
                  <a:pt x="2988237" y="1048843"/>
                </a:moveTo>
                <a:lnTo>
                  <a:pt x="2988237" y="5244092"/>
                </a:lnTo>
                <a:cubicBezTo>
                  <a:pt x="2988237" y="5823352"/>
                  <a:pt x="2882352" y="6292934"/>
                  <a:pt x="2751736" y="6292934"/>
                </a:cubicBezTo>
                <a:lnTo>
                  <a:pt x="0" y="6292934"/>
                </a:lnTo>
                <a:lnTo>
                  <a:pt x="0" y="6292934"/>
                </a:lnTo>
                <a:lnTo>
                  <a:pt x="0" y="1"/>
                </a:lnTo>
                <a:lnTo>
                  <a:pt x="0" y="1"/>
                </a:lnTo>
                <a:lnTo>
                  <a:pt x="2751736" y="1"/>
                </a:lnTo>
                <a:cubicBezTo>
                  <a:pt x="2882352" y="1"/>
                  <a:pt x="2988237" y="469583"/>
                  <a:pt x="2988237" y="1048843"/>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0" tIns="269699" rIns="393524" bIns="269699" numCol="1" spcCol="1270" anchor="ctr" anchorCtr="0">
            <a:noAutofit/>
          </a:bodyPr>
          <a:lstStyle/>
          <a:p>
            <a:pPr marL="228600" lvl="1" indent="-228600" algn="l" defTabSz="889000" rtl="0">
              <a:lnSpc>
                <a:spcPct val="90000"/>
              </a:lnSpc>
              <a:spcBef>
                <a:spcPct val="0"/>
              </a:spcBef>
              <a:spcAft>
                <a:spcPct val="15000"/>
              </a:spcAft>
              <a:buChar char="•"/>
            </a:pPr>
            <a:r>
              <a:rPr lang="es-ES" sz="2400" b="0" kern="1200" dirty="0" err="1">
                <a:latin typeface="Arial Narrow" panose="020B0606020202030204" pitchFamily="34" charset="0"/>
              </a:rPr>
              <a:t>4A</a:t>
            </a:r>
            <a:r>
              <a:rPr lang="es-ES" sz="2400" b="0" kern="1200" dirty="0">
                <a:latin typeface="Arial Narrow" panose="020B0606020202030204" pitchFamily="34" charset="0"/>
              </a:rPr>
              <a:t> + </a:t>
            </a:r>
            <a:r>
              <a:rPr lang="es-ES" sz="2400" b="0" kern="1200" dirty="0" err="1">
                <a:latin typeface="Arial Narrow" panose="020B0606020202030204" pitchFamily="34" charset="0"/>
              </a:rPr>
              <a:t>3E</a:t>
            </a:r>
            <a:r>
              <a:rPr lang="es-ES" sz="2400" b="0" kern="1200" dirty="0">
                <a:latin typeface="Arial Narrow" panose="020B0606020202030204" pitchFamily="34" charset="0"/>
              </a:rPr>
              <a:t> +  </a:t>
            </a:r>
            <a:r>
              <a:rPr lang="es-ES" sz="2400" b="0" kern="1200" dirty="0" err="1">
                <a:latin typeface="Arial Narrow" panose="020B0606020202030204" pitchFamily="34" charset="0"/>
              </a:rPr>
              <a:t>6R</a:t>
            </a:r>
            <a:r>
              <a:rPr lang="es-ES" sz="2400" b="0" kern="1200" dirty="0">
                <a:latin typeface="Arial Narrow" panose="020B0606020202030204" pitchFamily="34" charset="0"/>
              </a:rPr>
              <a:t> 	</a:t>
            </a:r>
            <a:r>
              <a:rPr lang="es-ES" sz="2400" b="0" kern="1200" dirty="0">
                <a:latin typeface="Arial Narrow" panose="020B0606020202030204" pitchFamily="34" charset="0"/>
                <a:sym typeface="Symbol"/>
              </a:rPr>
              <a:t></a:t>
            </a:r>
            <a:r>
              <a:rPr lang="es-ES" sz="2400" b="0" kern="1200" dirty="0">
                <a:latin typeface="Arial Narrow" panose="020B0606020202030204" pitchFamily="34" charset="0"/>
              </a:rPr>
              <a:t>   8000	(Polímero A)</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err="1">
                <a:latin typeface="Arial Narrow" panose="020B0606020202030204" pitchFamily="34" charset="0"/>
              </a:rPr>
              <a:t>2A</a:t>
            </a:r>
            <a:r>
              <a:rPr lang="es-ES" sz="2400" b="0" kern="1200" dirty="0">
                <a:latin typeface="Arial Narrow" panose="020B0606020202030204" pitchFamily="34" charset="0"/>
              </a:rPr>
              <a:t> + </a:t>
            </a:r>
            <a:r>
              <a:rPr lang="es-ES" sz="2400" b="0" kern="1200" dirty="0" err="1">
                <a:latin typeface="Arial Narrow" panose="020B0606020202030204" pitchFamily="34" charset="0"/>
              </a:rPr>
              <a:t>2E</a:t>
            </a:r>
            <a:r>
              <a:rPr lang="es-ES" sz="2400" b="0" kern="1200" dirty="0">
                <a:latin typeface="Arial Narrow" panose="020B0606020202030204" pitchFamily="34" charset="0"/>
              </a:rPr>
              <a:t> +  </a:t>
            </a:r>
            <a:r>
              <a:rPr lang="es-ES" sz="2400" b="0" kern="1200" dirty="0" err="1">
                <a:latin typeface="Arial Narrow" panose="020B0606020202030204" pitchFamily="34" charset="0"/>
              </a:rPr>
              <a:t>3R</a:t>
            </a:r>
            <a:r>
              <a:rPr lang="es-ES" sz="2400" b="0" kern="1200" dirty="0">
                <a:latin typeface="Arial Narrow" panose="020B0606020202030204" pitchFamily="34" charset="0"/>
              </a:rPr>
              <a:t> 	</a:t>
            </a:r>
            <a:r>
              <a:rPr lang="es-ES" sz="2400" b="0" kern="1200" dirty="0">
                <a:latin typeface="Arial Narrow" panose="020B0606020202030204" pitchFamily="34" charset="0"/>
                <a:sym typeface="Symbol"/>
              </a:rPr>
              <a:t></a:t>
            </a:r>
            <a:r>
              <a:rPr lang="es-ES" sz="2400" b="0" kern="1200" dirty="0">
                <a:latin typeface="Arial Narrow" panose="020B0606020202030204" pitchFamily="34" charset="0"/>
              </a:rPr>
              <a:t>   6800	(Polímero B)</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err="1">
                <a:latin typeface="Arial Narrow" panose="020B0606020202030204" pitchFamily="34" charset="0"/>
              </a:rPr>
              <a:t>4A</a:t>
            </a:r>
            <a:r>
              <a:rPr lang="es-ES" sz="2400" b="0" kern="1200" dirty="0">
                <a:latin typeface="Arial Narrow" panose="020B0606020202030204" pitchFamily="34" charset="0"/>
              </a:rPr>
              <a:t> + </a:t>
            </a:r>
            <a:r>
              <a:rPr lang="es-ES" sz="2400" b="0" kern="1200" dirty="0" err="1">
                <a:latin typeface="Arial Narrow" panose="020B0606020202030204" pitchFamily="34" charset="0"/>
              </a:rPr>
              <a:t>2E</a:t>
            </a:r>
            <a:r>
              <a:rPr lang="es-ES" sz="2400" b="0" kern="1200" dirty="0">
                <a:latin typeface="Arial Narrow" panose="020B0606020202030204" pitchFamily="34" charset="0"/>
              </a:rPr>
              <a:t> +  </a:t>
            </a:r>
            <a:r>
              <a:rPr lang="es-ES" sz="2400" b="0" kern="1200" dirty="0" err="1">
                <a:latin typeface="Arial Narrow" panose="020B0606020202030204" pitchFamily="34" charset="0"/>
              </a:rPr>
              <a:t>5R</a:t>
            </a:r>
            <a:r>
              <a:rPr lang="es-ES" sz="2400" b="0" kern="1200" dirty="0">
                <a:latin typeface="Arial Narrow" panose="020B0606020202030204" pitchFamily="34" charset="0"/>
              </a:rPr>
              <a:t> 	</a:t>
            </a:r>
            <a:r>
              <a:rPr lang="es-ES" sz="2400" b="0" kern="1200" dirty="0">
                <a:latin typeface="Arial Narrow" panose="020B0606020202030204" pitchFamily="34" charset="0"/>
                <a:sym typeface="Symbol"/>
              </a:rPr>
              <a:t></a:t>
            </a:r>
            <a:r>
              <a:rPr lang="es-ES" sz="2400" b="0" kern="1200" dirty="0">
                <a:latin typeface="Arial Narrow" panose="020B0606020202030204" pitchFamily="34" charset="0"/>
              </a:rPr>
              <a:t> 10400	(Polímero C)</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err="1">
                <a:latin typeface="Arial Narrow" panose="020B0606020202030204" pitchFamily="34" charset="0"/>
              </a:rPr>
              <a:t>6A</a:t>
            </a:r>
            <a:r>
              <a:rPr lang="es-ES" sz="2400" b="0" kern="1200" dirty="0">
                <a:latin typeface="Arial Narrow" panose="020B0606020202030204" pitchFamily="34" charset="0"/>
              </a:rPr>
              <a:t> + </a:t>
            </a:r>
            <a:r>
              <a:rPr lang="es-ES" sz="2400" b="0" kern="1200" dirty="0" err="1">
                <a:latin typeface="Arial Narrow" panose="020B0606020202030204" pitchFamily="34" charset="0"/>
              </a:rPr>
              <a:t>9E</a:t>
            </a:r>
            <a:r>
              <a:rPr lang="es-ES" sz="2400" b="0" kern="1200" dirty="0">
                <a:latin typeface="Arial Narrow" panose="020B0606020202030204" pitchFamily="34" charset="0"/>
              </a:rPr>
              <a:t> +  </a:t>
            </a:r>
            <a:r>
              <a:rPr lang="es-ES" sz="2400" b="0" kern="1200" dirty="0" err="1">
                <a:latin typeface="Arial Narrow" panose="020B0606020202030204" pitchFamily="34" charset="0"/>
              </a:rPr>
              <a:t>2R</a:t>
            </a:r>
            <a:r>
              <a:rPr lang="es-ES" sz="2400" b="0" kern="1200" dirty="0">
                <a:latin typeface="Arial Narrow" panose="020B0606020202030204" pitchFamily="34" charset="0"/>
              </a:rPr>
              <a:t> 	</a:t>
            </a:r>
            <a:r>
              <a:rPr lang="es-ES" sz="2400" b="0" kern="1200" dirty="0">
                <a:latin typeface="Arial Narrow" panose="020B0606020202030204" pitchFamily="34" charset="0"/>
                <a:sym typeface="Symbol"/>
              </a:rPr>
              <a:t></a:t>
            </a:r>
            <a:r>
              <a:rPr lang="es-ES" sz="2400" b="0" kern="1200" dirty="0">
                <a:latin typeface="Arial Narrow" panose="020B0606020202030204" pitchFamily="34" charset="0"/>
              </a:rPr>
              <a:t> 17600	(Base)</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a:latin typeface="Arial Narrow" panose="020B0606020202030204" pitchFamily="34" charset="0"/>
              </a:rPr>
              <a:t>A        </a:t>
            </a:r>
            <a:r>
              <a:rPr lang="es-ES" sz="2400" b="0" kern="1200" dirty="0">
                <a:latin typeface="Arial Narrow" panose="020B0606020202030204" pitchFamily="34" charset="0"/>
                <a:sym typeface="Symbol"/>
              </a:rPr>
              <a:t></a:t>
            </a:r>
            <a:r>
              <a:rPr lang="es-ES" sz="2400" b="0" kern="1200" dirty="0">
                <a:latin typeface="Arial Narrow" panose="020B0606020202030204" pitchFamily="34" charset="0"/>
              </a:rPr>
              <a:t>   1000	(</a:t>
            </a:r>
            <a:r>
              <a:rPr lang="es-ES" sz="2400" b="0" kern="1200" dirty="0" err="1">
                <a:latin typeface="Arial Narrow" panose="020B0606020202030204" pitchFamily="34" charset="0"/>
              </a:rPr>
              <a:t>Airtex</a:t>
            </a:r>
            <a:r>
              <a:rPr lang="es-ES" sz="2400" b="0" kern="1200" dirty="0">
                <a:latin typeface="Arial Narrow" panose="020B0606020202030204" pitchFamily="34" charset="0"/>
              </a:rPr>
              <a:t>)</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a:latin typeface="Arial Narrow" panose="020B0606020202030204" pitchFamily="34" charset="0"/>
              </a:rPr>
              <a:t>E       	</a:t>
            </a:r>
            <a:r>
              <a:rPr lang="es-ES" sz="2400" b="0" kern="1200" dirty="0">
                <a:latin typeface="Arial Narrow" panose="020B0606020202030204" pitchFamily="34" charset="0"/>
                <a:sym typeface="Symbol"/>
              </a:rPr>
              <a:t></a:t>
            </a:r>
            <a:r>
              <a:rPr lang="es-ES" sz="2400" b="0" kern="1200" dirty="0">
                <a:latin typeface="Arial Narrow" panose="020B0606020202030204" pitchFamily="34" charset="0"/>
              </a:rPr>
              <a:t>     500	(</a:t>
            </a:r>
            <a:r>
              <a:rPr lang="es-ES" sz="2400" b="0" kern="1200" dirty="0" err="1">
                <a:latin typeface="Arial Narrow" panose="020B0606020202030204" pitchFamily="34" charset="0"/>
              </a:rPr>
              <a:t>Extendex</a:t>
            </a:r>
            <a:r>
              <a:rPr lang="es-ES" sz="2400" b="0" kern="1200" dirty="0">
                <a:latin typeface="Arial Narrow" panose="020B0606020202030204" pitchFamily="34" charset="0"/>
              </a:rPr>
              <a:t>)</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a:latin typeface="Arial Narrow" panose="020B0606020202030204" pitchFamily="34" charset="0"/>
              </a:rPr>
              <a:t>R 	</a:t>
            </a:r>
            <a:r>
              <a:rPr lang="es-ES" sz="2400" b="0" kern="1200" dirty="0">
                <a:latin typeface="Arial Narrow" panose="020B0606020202030204" pitchFamily="34" charset="0"/>
                <a:sym typeface="Symbol"/>
              </a:rPr>
              <a:t></a:t>
            </a:r>
            <a:r>
              <a:rPr lang="es-ES" sz="2400" b="0" kern="1200" dirty="0">
                <a:latin typeface="Arial Narrow" panose="020B0606020202030204" pitchFamily="34" charset="0"/>
              </a:rPr>
              <a:t>     400	(</a:t>
            </a:r>
            <a:r>
              <a:rPr lang="es-ES" sz="2400" b="0" kern="1200" dirty="0" err="1">
                <a:latin typeface="Arial Narrow" panose="020B0606020202030204" pitchFamily="34" charset="0"/>
              </a:rPr>
              <a:t>Resistex</a:t>
            </a:r>
            <a:r>
              <a:rPr lang="es-ES" sz="2400" b="0" kern="1200" dirty="0">
                <a:latin typeface="Arial Narrow" panose="020B0606020202030204" pitchFamily="34" charset="0"/>
              </a:rPr>
              <a:t>)  </a:t>
            </a:r>
            <a:endParaRPr lang="es-ES" sz="2400" kern="1200" dirty="0">
              <a:latin typeface="Arial Narrow" panose="020B0606020202030204" pitchFamily="34" charset="0"/>
            </a:endParaRPr>
          </a:p>
          <a:p>
            <a:pPr marL="228600" lvl="1" indent="-228600" algn="l" defTabSz="889000" rtl="0">
              <a:lnSpc>
                <a:spcPct val="90000"/>
              </a:lnSpc>
              <a:spcBef>
                <a:spcPct val="0"/>
              </a:spcBef>
              <a:spcAft>
                <a:spcPct val="15000"/>
              </a:spcAft>
              <a:buChar char="•"/>
            </a:pPr>
            <a:r>
              <a:rPr lang="es-ES" sz="2400" b="0" kern="1200" dirty="0">
                <a:latin typeface="Arial Narrow" panose="020B0606020202030204" pitchFamily="34" charset="0"/>
              </a:rPr>
              <a:t>A,     E,      R 	</a:t>
            </a:r>
            <a:r>
              <a:rPr lang="es-ES" sz="2400" b="0" kern="1200" dirty="0">
                <a:latin typeface="Arial Narrow" panose="020B0606020202030204" pitchFamily="34" charset="0"/>
                <a:sym typeface="Symbol"/>
              </a:rPr>
              <a:t></a:t>
            </a:r>
            <a:r>
              <a:rPr lang="es-ES" sz="2400" b="0" kern="1200" dirty="0">
                <a:latin typeface="Arial Narrow" panose="020B0606020202030204" pitchFamily="34" charset="0"/>
              </a:rPr>
              <a:t>     0	  	(Lb.= 16 onzas)</a:t>
            </a:r>
            <a:endParaRPr lang="es-ES" sz="2400" kern="1200" dirty="0">
              <a:latin typeface="Arial Narrow" panose="020B0606020202030204" pitchFamily="34" charset="0"/>
            </a:endParaRPr>
          </a:p>
        </p:txBody>
      </p:sp>
      <p:sp>
        <p:nvSpPr>
          <p:cNvPr id="16" name="Forma libre: forma 15">
            <a:extLst>
              <a:ext uri="{FF2B5EF4-FFF2-40B4-BE49-F238E27FC236}">
                <a16:creationId xmlns:a16="http://schemas.microsoft.com/office/drawing/2014/main" id="{AB6DD194-41AB-44BF-B171-A87F2FF0D03B}"/>
              </a:ext>
            </a:extLst>
          </p:cNvPr>
          <p:cNvSpPr/>
          <p:nvPr/>
        </p:nvSpPr>
        <p:spPr>
          <a:xfrm>
            <a:off x="1886" y="4666424"/>
            <a:ext cx="2620876" cy="944388"/>
          </a:xfrm>
          <a:custGeom>
            <a:avLst/>
            <a:gdLst>
              <a:gd name="connsiteX0" fmla="*/ 0 w 2540420"/>
              <a:gd name="connsiteY0" fmla="*/ 144645 h 867853"/>
              <a:gd name="connsiteX1" fmla="*/ 144645 w 2540420"/>
              <a:gd name="connsiteY1" fmla="*/ 0 h 867853"/>
              <a:gd name="connsiteX2" fmla="*/ 2395775 w 2540420"/>
              <a:gd name="connsiteY2" fmla="*/ 0 h 867853"/>
              <a:gd name="connsiteX3" fmla="*/ 2540420 w 2540420"/>
              <a:gd name="connsiteY3" fmla="*/ 144645 h 867853"/>
              <a:gd name="connsiteX4" fmla="*/ 2540420 w 2540420"/>
              <a:gd name="connsiteY4" fmla="*/ 723208 h 867853"/>
              <a:gd name="connsiteX5" fmla="*/ 2395775 w 2540420"/>
              <a:gd name="connsiteY5" fmla="*/ 867853 h 867853"/>
              <a:gd name="connsiteX6" fmla="*/ 144645 w 2540420"/>
              <a:gd name="connsiteY6" fmla="*/ 867853 h 867853"/>
              <a:gd name="connsiteX7" fmla="*/ 0 w 2540420"/>
              <a:gd name="connsiteY7" fmla="*/ 723208 h 867853"/>
              <a:gd name="connsiteX8" fmla="*/ 0 w 2540420"/>
              <a:gd name="connsiteY8" fmla="*/ 144645 h 86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0420" h="867853">
                <a:moveTo>
                  <a:pt x="0" y="144645"/>
                </a:moveTo>
                <a:cubicBezTo>
                  <a:pt x="0" y="64760"/>
                  <a:pt x="64760" y="0"/>
                  <a:pt x="144645" y="0"/>
                </a:cubicBezTo>
                <a:lnTo>
                  <a:pt x="2395775" y="0"/>
                </a:lnTo>
                <a:cubicBezTo>
                  <a:pt x="2475660" y="0"/>
                  <a:pt x="2540420" y="64760"/>
                  <a:pt x="2540420" y="144645"/>
                </a:cubicBezTo>
                <a:lnTo>
                  <a:pt x="2540420" y="723208"/>
                </a:lnTo>
                <a:cubicBezTo>
                  <a:pt x="2540420" y="803093"/>
                  <a:pt x="2475660" y="867853"/>
                  <a:pt x="2395775" y="867853"/>
                </a:cubicBezTo>
                <a:lnTo>
                  <a:pt x="144645" y="867853"/>
                </a:lnTo>
                <a:cubicBezTo>
                  <a:pt x="64760" y="867853"/>
                  <a:pt x="0" y="803093"/>
                  <a:pt x="0" y="723208"/>
                </a:cubicBezTo>
                <a:lnTo>
                  <a:pt x="0" y="144645"/>
                </a:lnTo>
                <a:close/>
              </a:path>
            </a:pathLst>
          </a:custGeom>
          <a:solidFill>
            <a:schemeClr val="accent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8565" tIns="80465" rIns="118565" bIns="80465" numCol="1" spcCol="1270" anchor="ctr" anchorCtr="0">
            <a:noAutofit/>
          </a:bodyPr>
          <a:lstStyle/>
          <a:p>
            <a:pPr marL="0" lvl="0" indent="0" algn="ctr" defTabSz="889000" rtl="0">
              <a:lnSpc>
                <a:spcPct val="90000"/>
              </a:lnSpc>
              <a:spcBef>
                <a:spcPct val="0"/>
              </a:spcBef>
              <a:spcAft>
                <a:spcPct val="35000"/>
              </a:spcAft>
              <a:buNone/>
            </a:pPr>
            <a:r>
              <a:rPr lang="es-ES" sz="2400" b="0" kern="1200" dirty="0">
                <a:latin typeface="Arial Narrow" panose="020B0606020202030204" pitchFamily="34" charset="0"/>
              </a:rPr>
              <a:t>Identificación de las restricciones</a:t>
            </a:r>
            <a:endParaRPr lang="es-ES" sz="2400" kern="1200" dirty="0">
              <a:latin typeface="Arial Narrow" panose="020B0606020202030204" pitchFamily="34" charset="0"/>
            </a:endParaRPr>
          </a:p>
        </p:txBody>
      </p:sp>
      <p:sp>
        <p:nvSpPr>
          <p:cNvPr id="2" name="2 Marcador de contenido">
            <a:extLst>
              <a:ext uri="{FF2B5EF4-FFF2-40B4-BE49-F238E27FC236}">
                <a16:creationId xmlns:a16="http://schemas.microsoft.com/office/drawing/2014/main" id="{B31A53B4-D7B2-2FEA-0FA7-439447FCA823}"/>
              </a:ext>
            </a:extLst>
          </p:cNvPr>
          <p:cNvSpPr>
            <a:spLocks noGrp="1"/>
          </p:cNvSpPr>
          <p:nvPr>
            <p:ph idx="1"/>
          </p:nvPr>
        </p:nvSpPr>
        <p:spPr>
          <a:xfrm>
            <a:off x="9250362" y="1327801"/>
            <a:ext cx="2941638" cy="3144166"/>
          </a:xfrm>
          <a:solidFill>
            <a:srgbClr val="FFFF00"/>
          </a:solidFill>
          <a:ln w="9525">
            <a:noFill/>
            <a:miter lim="800000"/>
            <a:headEnd/>
            <a:tailEnd/>
          </a:ln>
          <a:effectLst/>
        </p:spPr>
        <p:txBody>
          <a:bodyPr vert="horz" wrap="square" lIns="91440" tIns="45720" rIns="91440" bIns="45720" numCol="1" rtlCol="0" anchor="t" anchorCtr="0" compatLnSpc="1">
            <a:prstTxWarp prst="textNoShape">
              <a:avLst/>
            </a:prstTxWarp>
            <a:normAutofit/>
          </a:bodyPr>
          <a:lstStyle/>
          <a:p>
            <a:pPr marL="0" indent="0">
              <a:lnSpc>
                <a:spcPct val="120000"/>
              </a:lnSpc>
              <a:spcBef>
                <a:spcPct val="0"/>
              </a:spcBef>
              <a:buNone/>
            </a:pPr>
            <a:r>
              <a:rPr lang="pt-BR" sz="1600" b="1" dirty="0">
                <a:latin typeface="Arial Narrow" pitchFamily="34" charset="0"/>
              </a:rPr>
              <a:t>MAX  7A + 7E + 6R</a:t>
            </a:r>
          </a:p>
          <a:p>
            <a:pPr marL="0" indent="0">
              <a:lnSpc>
                <a:spcPct val="120000"/>
              </a:lnSpc>
              <a:spcBef>
                <a:spcPct val="0"/>
              </a:spcBef>
              <a:buNone/>
            </a:pPr>
            <a:r>
              <a:rPr lang="pt-BR" sz="1600" b="1" dirty="0">
                <a:latin typeface="Arial Narrow" pitchFamily="34" charset="0"/>
              </a:rPr>
              <a:t>SUBJECT TO</a:t>
            </a:r>
          </a:p>
          <a:p>
            <a:pPr marL="0" indent="0">
              <a:lnSpc>
                <a:spcPct val="120000"/>
              </a:lnSpc>
              <a:spcBef>
                <a:spcPct val="0"/>
              </a:spcBef>
              <a:buNone/>
            </a:pPr>
            <a:r>
              <a:rPr lang="pt-BR" sz="1600" b="1" dirty="0" err="1">
                <a:latin typeface="Arial Narrow" pitchFamily="34" charset="0"/>
              </a:rPr>
              <a:t>4A</a:t>
            </a:r>
            <a:r>
              <a:rPr lang="pt-BR" sz="1600" b="1" dirty="0">
                <a:latin typeface="Arial Narrow" pitchFamily="34" charset="0"/>
              </a:rPr>
              <a:t> + 3E +  </a:t>
            </a:r>
            <a:r>
              <a:rPr lang="pt-BR" sz="1600" b="1" dirty="0" err="1">
                <a:latin typeface="Arial Narrow" pitchFamily="34" charset="0"/>
              </a:rPr>
              <a:t>6R</a:t>
            </a:r>
            <a:r>
              <a:rPr lang="pt-BR" sz="1600" b="1" dirty="0">
                <a:latin typeface="Arial Narrow" pitchFamily="34" charset="0"/>
              </a:rPr>
              <a:t> &lt;=  8000	</a:t>
            </a:r>
          </a:p>
          <a:p>
            <a:pPr marL="0" indent="0">
              <a:lnSpc>
                <a:spcPct val="120000"/>
              </a:lnSpc>
              <a:spcBef>
                <a:spcPct val="0"/>
              </a:spcBef>
              <a:buNone/>
            </a:pPr>
            <a:r>
              <a:rPr lang="pt-BR" sz="1600" b="1" dirty="0" err="1">
                <a:latin typeface="Arial Narrow" pitchFamily="34" charset="0"/>
              </a:rPr>
              <a:t>2A</a:t>
            </a:r>
            <a:r>
              <a:rPr lang="pt-BR" sz="1600" b="1" dirty="0">
                <a:latin typeface="Arial Narrow" pitchFamily="34" charset="0"/>
              </a:rPr>
              <a:t> + 2E +  </a:t>
            </a:r>
            <a:r>
              <a:rPr lang="pt-BR" sz="1600" b="1" dirty="0" err="1">
                <a:latin typeface="Arial Narrow" pitchFamily="34" charset="0"/>
              </a:rPr>
              <a:t>3R</a:t>
            </a:r>
            <a:r>
              <a:rPr lang="pt-BR" sz="1600" b="1" dirty="0">
                <a:latin typeface="Arial Narrow" pitchFamily="34" charset="0"/>
              </a:rPr>
              <a:t> &lt;=  6800	</a:t>
            </a:r>
          </a:p>
          <a:p>
            <a:pPr marL="0" indent="0">
              <a:lnSpc>
                <a:spcPct val="120000"/>
              </a:lnSpc>
              <a:spcBef>
                <a:spcPct val="0"/>
              </a:spcBef>
              <a:buNone/>
            </a:pPr>
            <a:r>
              <a:rPr lang="pt-BR" sz="1600" b="1" dirty="0" err="1">
                <a:latin typeface="Arial Narrow" pitchFamily="34" charset="0"/>
              </a:rPr>
              <a:t>4A</a:t>
            </a:r>
            <a:r>
              <a:rPr lang="pt-BR" sz="1600" b="1" dirty="0">
                <a:latin typeface="Arial Narrow" pitchFamily="34" charset="0"/>
              </a:rPr>
              <a:t> + 2E +  </a:t>
            </a:r>
            <a:r>
              <a:rPr lang="pt-BR" sz="1600" b="1" dirty="0" err="1">
                <a:latin typeface="Arial Narrow" pitchFamily="34" charset="0"/>
              </a:rPr>
              <a:t>5R</a:t>
            </a:r>
            <a:r>
              <a:rPr lang="pt-BR" sz="1600" b="1" dirty="0">
                <a:latin typeface="Arial Narrow" pitchFamily="34" charset="0"/>
              </a:rPr>
              <a:t> &lt;=10400	</a:t>
            </a:r>
          </a:p>
          <a:p>
            <a:pPr marL="0" indent="0">
              <a:lnSpc>
                <a:spcPct val="120000"/>
              </a:lnSpc>
              <a:spcBef>
                <a:spcPct val="0"/>
              </a:spcBef>
              <a:buNone/>
            </a:pPr>
            <a:r>
              <a:rPr lang="pt-BR" sz="1600" b="1" dirty="0" err="1">
                <a:latin typeface="Arial Narrow" pitchFamily="34" charset="0"/>
              </a:rPr>
              <a:t>6A</a:t>
            </a:r>
            <a:r>
              <a:rPr lang="pt-BR" sz="1600" b="1" dirty="0">
                <a:latin typeface="Arial Narrow" pitchFamily="34" charset="0"/>
              </a:rPr>
              <a:t> + 9E +  </a:t>
            </a:r>
            <a:r>
              <a:rPr lang="pt-BR" sz="1600" b="1" dirty="0" err="1">
                <a:latin typeface="Arial Narrow" pitchFamily="34" charset="0"/>
              </a:rPr>
              <a:t>2R</a:t>
            </a:r>
            <a:r>
              <a:rPr lang="pt-BR" sz="1600" b="1" dirty="0">
                <a:latin typeface="Arial Narrow" pitchFamily="34" charset="0"/>
              </a:rPr>
              <a:t> &lt;=17600	</a:t>
            </a:r>
          </a:p>
          <a:p>
            <a:pPr marL="0" indent="0">
              <a:lnSpc>
                <a:spcPct val="120000"/>
              </a:lnSpc>
              <a:spcBef>
                <a:spcPct val="0"/>
              </a:spcBef>
              <a:buNone/>
            </a:pPr>
            <a:r>
              <a:rPr lang="pt-BR" sz="1600" b="1" dirty="0">
                <a:latin typeface="Arial Narrow" pitchFamily="34" charset="0"/>
              </a:rPr>
              <a:t>	A&gt;=  1000		E&gt;=    500		R&gt;=    400	</a:t>
            </a:r>
          </a:p>
          <a:p>
            <a:pPr marL="363538" indent="0">
              <a:lnSpc>
                <a:spcPct val="120000"/>
              </a:lnSpc>
              <a:spcBef>
                <a:spcPct val="0"/>
              </a:spcBef>
              <a:buNone/>
            </a:pPr>
            <a:endParaRPr lang="es-PE" sz="1600" b="1" dirty="0">
              <a:latin typeface="Arial Narrow" pitchFamily="34" charset="0"/>
            </a:endParaRPr>
          </a:p>
        </p:txBody>
      </p:sp>
      <p:sp>
        <p:nvSpPr>
          <p:cNvPr id="3" name="Rectangle 3">
            <a:extLst>
              <a:ext uri="{FF2B5EF4-FFF2-40B4-BE49-F238E27FC236}">
                <a16:creationId xmlns:a16="http://schemas.microsoft.com/office/drawing/2014/main" id="{EE0389CC-C973-6B4A-F47E-F9DF57197F8F}"/>
              </a:ext>
            </a:extLst>
          </p:cNvPr>
          <p:cNvSpPr txBox="1">
            <a:spLocks noChangeArrowheads="1"/>
          </p:cNvSpPr>
          <p:nvPr/>
        </p:nvSpPr>
        <p:spPr bwMode="auto">
          <a:xfrm>
            <a:off x="9250362" y="4480675"/>
            <a:ext cx="2941638" cy="2386033"/>
          </a:xfrm>
          <a:prstGeom prst="rect">
            <a:avLst/>
          </a:prstGeom>
          <a:solidFill>
            <a:schemeClr val="accent4">
              <a:lumMod val="40000"/>
              <a:lumOff val="60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457200" indent="-457200">
              <a:spcBef>
                <a:spcPct val="0"/>
              </a:spcBef>
              <a:buAutoNum type="arabicParenR"/>
            </a:pPr>
            <a:r>
              <a:rPr lang="es-PE" sz="1600" b="1" kern="0" dirty="0">
                <a:solidFill>
                  <a:srgbClr val="7030A0"/>
                </a:solidFill>
                <a:latin typeface="Arial Narrow" pitchFamily="34" charset="0"/>
              </a:rPr>
              <a:t>13133.33</a:t>
            </a:r>
          </a:p>
          <a:p>
            <a:pPr marL="0" indent="0">
              <a:spcBef>
                <a:spcPct val="0"/>
              </a:spcBef>
              <a:buNone/>
            </a:pPr>
            <a:r>
              <a:rPr lang="es-PE" sz="1600" b="1" kern="0" dirty="0">
                <a:solidFill>
                  <a:srgbClr val="7030A0"/>
                </a:solidFill>
                <a:latin typeface="Arial Narrow" pitchFamily="34" charset="0"/>
              </a:rPr>
              <a:t>VARIABLE  </a:t>
            </a:r>
            <a:r>
              <a:rPr lang="es-PE" sz="1600" b="1" kern="0" dirty="0" err="1">
                <a:solidFill>
                  <a:srgbClr val="7030A0"/>
                </a:solidFill>
                <a:latin typeface="Arial Narrow" pitchFamily="34" charset="0"/>
              </a:rPr>
              <a:t>VALUE</a:t>
            </a:r>
            <a:r>
              <a:rPr lang="es-PE" sz="1600" b="1" kern="0" dirty="0">
                <a:solidFill>
                  <a:srgbClr val="7030A0"/>
                </a:solidFill>
                <a:latin typeface="Arial Narrow" pitchFamily="34" charset="0"/>
              </a:rPr>
              <a:t>  </a:t>
            </a:r>
            <a:r>
              <a:rPr lang="es-PE" sz="1600" b="1" kern="0" dirty="0" err="1">
                <a:solidFill>
                  <a:srgbClr val="7030A0"/>
                </a:solidFill>
                <a:latin typeface="Arial Narrow" pitchFamily="34" charset="0"/>
              </a:rPr>
              <a:t>REDUCED</a:t>
            </a:r>
            <a:r>
              <a:rPr lang="es-PE" sz="1600" b="1" kern="0" dirty="0">
                <a:solidFill>
                  <a:srgbClr val="7030A0"/>
                </a:solidFill>
                <a:latin typeface="Arial Narrow" pitchFamily="34" charset="0"/>
              </a:rPr>
              <a:t> </a:t>
            </a:r>
            <a:r>
              <a:rPr lang="es-PE" sz="1600" b="1" kern="0" dirty="0" err="1">
                <a:solidFill>
                  <a:srgbClr val="7030A0"/>
                </a:solidFill>
                <a:latin typeface="Arial Narrow" pitchFamily="34" charset="0"/>
              </a:rPr>
              <a:t>COST</a:t>
            </a:r>
            <a:endParaRPr lang="es-PE" sz="1600" b="1" kern="0" dirty="0">
              <a:solidFill>
                <a:srgbClr val="7030A0"/>
              </a:solidFill>
              <a:latin typeface="Arial Narrow" pitchFamily="34" charset="0"/>
            </a:endParaRPr>
          </a:p>
          <a:p>
            <a:pPr marL="363538" indent="0">
              <a:spcBef>
                <a:spcPct val="0"/>
              </a:spcBef>
              <a:buNone/>
            </a:pPr>
            <a:r>
              <a:rPr lang="es-PE" sz="1600" b="1" kern="0" dirty="0">
                <a:solidFill>
                  <a:srgbClr val="7030A0"/>
                </a:solidFill>
                <a:latin typeface="Arial Narrow" pitchFamily="34" charset="0"/>
              </a:rPr>
              <a:t> A      1000.00         	0.0000</a:t>
            </a:r>
          </a:p>
          <a:p>
            <a:pPr marL="363538" indent="0">
              <a:spcBef>
                <a:spcPct val="0"/>
              </a:spcBef>
              <a:buNone/>
            </a:pPr>
            <a:r>
              <a:rPr lang="es-PE" sz="1600" b="1" kern="0" dirty="0">
                <a:solidFill>
                  <a:srgbClr val="7030A0"/>
                </a:solidFill>
                <a:latin typeface="Arial Narrow" pitchFamily="34" charset="0"/>
              </a:rPr>
              <a:t> E         533.33        	0.0000</a:t>
            </a:r>
          </a:p>
          <a:p>
            <a:pPr marL="363538" indent="0">
              <a:spcBef>
                <a:spcPct val="0"/>
              </a:spcBef>
              <a:buNone/>
            </a:pPr>
            <a:r>
              <a:rPr lang="es-PE" sz="1600" b="1" kern="0" dirty="0">
                <a:solidFill>
                  <a:srgbClr val="7030A0"/>
                </a:solidFill>
                <a:latin typeface="Arial Narrow" pitchFamily="34" charset="0"/>
              </a:rPr>
              <a:t> R         400.00        	0.0000</a:t>
            </a:r>
          </a:p>
        </p:txBody>
      </p:sp>
    </p:spTree>
    <p:extLst>
      <p:ext uri="{BB962C8B-B14F-4D97-AF65-F5344CB8AC3E}">
        <p14:creationId xmlns:p14="http://schemas.microsoft.com/office/powerpoint/2010/main" val="35811974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2" grpId="0" build="p"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bwMode="auto">
          <a:xfrm>
            <a:off x="6096000" y="75501"/>
            <a:ext cx="6096000" cy="897622"/>
          </a:xfrm>
          <a:noFill/>
          <a:ln w="9525">
            <a:noFill/>
            <a:miter lim="800000"/>
            <a:headEnd/>
            <a:tailEnd/>
          </a:ln>
          <a:effectLst/>
        </p:spPr>
        <p:txBody>
          <a:bodyPr spcFirstLastPara="1" vert="horz" wrap="square" lIns="68580" tIns="34290" rIns="68580" bIns="34290" numCol="1" anchor="ctr" anchorCtr="0" compatLnSpc="1">
            <a:prstTxWarp prst="textNoShape">
              <a:avLst/>
            </a:prstTxWarp>
            <a:noAutofit/>
          </a:bodyPr>
          <a:lstStyle/>
          <a:p>
            <a:pPr algn="ctr"/>
            <a:r>
              <a:rPr lang="es-ES" sz="3200" dirty="0">
                <a:solidFill>
                  <a:schemeClr val="bg1"/>
                </a:solidFill>
                <a:latin typeface="Bauhaus 93" pitchFamily="82" charset="0"/>
                <a:ea typeface="+mn-ea"/>
                <a:cs typeface="+mn-cs"/>
              </a:rPr>
              <a:t>Problema </a:t>
            </a:r>
            <a:r>
              <a:rPr lang="es-ES" sz="3200" dirty="0" err="1">
                <a:solidFill>
                  <a:schemeClr val="bg1"/>
                </a:solidFill>
                <a:latin typeface="Bauhaus 93" pitchFamily="82" charset="0"/>
                <a:ea typeface="+mn-ea"/>
                <a:cs typeface="+mn-cs"/>
              </a:rPr>
              <a:t>N°3</a:t>
            </a:r>
            <a:r>
              <a:rPr lang="es-ES" sz="3200" dirty="0">
                <a:solidFill>
                  <a:schemeClr val="bg1"/>
                </a:solidFill>
                <a:latin typeface="Bauhaus 93" pitchFamily="82" charset="0"/>
                <a:ea typeface="+mn-ea"/>
                <a:cs typeface="+mn-cs"/>
              </a:rPr>
              <a:t> </a:t>
            </a:r>
            <a:br>
              <a:rPr lang="es-ES" sz="3200" dirty="0">
                <a:solidFill>
                  <a:schemeClr val="bg1"/>
                </a:solidFill>
                <a:latin typeface="Bauhaus 93" pitchFamily="82" charset="0"/>
                <a:ea typeface="+mn-ea"/>
                <a:cs typeface="+mn-cs"/>
              </a:rPr>
            </a:br>
            <a:r>
              <a:rPr lang="es-ES" sz="3200" dirty="0">
                <a:solidFill>
                  <a:schemeClr val="bg1"/>
                </a:solidFill>
                <a:latin typeface="Bauhaus 93" pitchFamily="82" charset="0"/>
                <a:ea typeface="+mn-ea"/>
                <a:cs typeface="+mn-cs"/>
              </a:rPr>
              <a:t>Mezcla de productos</a:t>
            </a:r>
            <a:endParaRPr lang="es-PE" sz="3200" dirty="0">
              <a:solidFill>
                <a:schemeClr val="bg1"/>
              </a:solidFill>
              <a:latin typeface="Bauhaus 93" pitchFamily="82" charset="0"/>
              <a:ea typeface="+mn-ea"/>
              <a:cs typeface="+mn-cs"/>
            </a:endParaRPr>
          </a:p>
        </p:txBody>
      </p:sp>
      <p:graphicFrame>
        <p:nvGraphicFramePr>
          <p:cNvPr id="4" name="7 Tabla"/>
          <p:cNvGraphicFramePr>
            <a:graphicFrameLocks noGrp="1"/>
          </p:cNvGraphicFramePr>
          <p:nvPr>
            <p:extLst>
              <p:ext uri="{D42A27DB-BD31-4B8C-83A1-F6EECF244321}">
                <p14:modId xmlns:p14="http://schemas.microsoft.com/office/powerpoint/2010/main" val="2401266496"/>
              </p:ext>
            </p:extLst>
          </p:nvPr>
        </p:nvGraphicFramePr>
        <p:xfrm>
          <a:off x="148898" y="4658319"/>
          <a:ext cx="5637753" cy="2199681"/>
        </p:xfrm>
        <a:graphic>
          <a:graphicData uri="http://schemas.openxmlformats.org/drawingml/2006/table">
            <a:tbl>
              <a:tblPr firstRow="1" bandRow="1">
                <a:tableStyleId>{5C22544A-7EE6-4342-B048-85BDC9FD1C3A}</a:tableStyleId>
              </a:tblPr>
              <a:tblGrid>
                <a:gridCol w="1229526">
                  <a:extLst>
                    <a:ext uri="{9D8B030D-6E8A-4147-A177-3AD203B41FA5}">
                      <a16:colId xmlns:a16="http://schemas.microsoft.com/office/drawing/2014/main" val="20000"/>
                    </a:ext>
                  </a:extLst>
                </a:gridCol>
                <a:gridCol w="1924334">
                  <a:extLst>
                    <a:ext uri="{9D8B030D-6E8A-4147-A177-3AD203B41FA5}">
                      <a16:colId xmlns:a16="http://schemas.microsoft.com/office/drawing/2014/main" val="20001"/>
                    </a:ext>
                  </a:extLst>
                </a:gridCol>
                <a:gridCol w="1446663">
                  <a:extLst>
                    <a:ext uri="{9D8B030D-6E8A-4147-A177-3AD203B41FA5}">
                      <a16:colId xmlns:a16="http://schemas.microsoft.com/office/drawing/2014/main" val="20002"/>
                    </a:ext>
                  </a:extLst>
                </a:gridCol>
                <a:gridCol w="1037230">
                  <a:extLst>
                    <a:ext uri="{9D8B030D-6E8A-4147-A177-3AD203B41FA5}">
                      <a16:colId xmlns:a16="http://schemas.microsoft.com/office/drawing/2014/main" val="20003"/>
                    </a:ext>
                  </a:extLst>
                </a:gridCol>
              </a:tblGrid>
              <a:tr h="458907">
                <a:tc>
                  <a:txBody>
                    <a:bodyPr/>
                    <a:lstStyle/>
                    <a:p>
                      <a:pPr algn="ctr"/>
                      <a:r>
                        <a:rPr lang="es-ES" sz="2400" b="0" dirty="0"/>
                        <a:t>TIPO</a:t>
                      </a:r>
                    </a:p>
                  </a:txBody>
                  <a:tcPr marL="68580" marR="68580"/>
                </a:tc>
                <a:tc>
                  <a:txBody>
                    <a:bodyPr/>
                    <a:lstStyle/>
                    <a:p>
                      <a:pPr algn="ctr"/>
                      <a:r>
                        <a:rPr lang="es-ES" sz="2400" b="0" dirty="0"/>
                        <a:t>Mano de obra</a:t>
                      </a:r>
                    </a:p>
                  </a:txBody>
                  <a:tcPr marL="68580" marR="68580"/>
                </a:tc>
                <a:tc>
                  <a:txBody>
                    <a:bodyPr/>
                    <a:lstStyle/>
                    <a:p>
                      <a:pPr algn="ctr"/>
                      <a:r>
                        <a:rPr lang="es-ES" sz="2400" b="0" dirty="0"/>
                        <a:t>Materia P.</a:t>
                      </a:r>
                    </a:p>
                  </a:txBody>
                  <a:tcPr marL="68580" marR="68580"/>
                </a:tc>
                <a:tc>
                  <a:txBody>
                    <a:bodyPr/>
                    <a:lstStyle/>
                    <a:p>
                      <a:pPr algn="ctr"/>
                      <a:r>
                        <a:rPr lang="es-ES" sz="2400" b="0" dirty="0"/>
                        <a:t>Precio</a:t>
                      </a:r>
                    </a:p>
                  </a:txBody>
                  <a:tcPr marL="68580" marR="68580"/>
                </a:tc>
                <a:extLst>
                  <a:ext uri="{0D108BD9-81ED-4DB2-BD59-A6C34878D82A}">
                    <a16:rowId xmlns:a16="http://schemas.microsoft.com/office/drawing/2014/main" val="10000"/>
                  </a:ext>
                </a:extLst>
              </a:tr>
              <a:tr h="458907">
                <a:tc>
                  <a:txBody>
                    <a:bodyPr/>
                    <a:lstStyle/>
                    <a:p>
                      <a:pPr algn="ctr"/>
                      <a:r>
                        <a:rPr lang="es-ES" sz="2400" b="0" dirty="0"/>
                        <a:t>Rubia</a:t>
                      </a:r>
                    </a:p>
                  </a:txBody>
                  <a:tcPr marL="68580" marR="68580"/>
                </a:tc>
                <a:tc>
                  <a:txBody>
                    <a:bodyPr/>
                    <a:lstStyle/>
                    <a:p>
                      <a:pPr algn="ctr"/>
                      <a:r>
                        <a:rPr lang="es-ES" sz="2400" b="0" dirty="0"/>
                        <a:t>3</a:t>
                      </a:r>
                    </a:p>
                  </a:txBody>
                  <a:tcPr marL="68580" marR="68580"/>
                </a:tc>
                <a:tc>
                  <a:txBody>
                    <a:bodyPr/>
                    <a:lstStyle/>
                    <a:p>
                      <a:pPr algn="ctr"/>
                      <a:r>
                        <a:rPr lang="es-ES" sz="2400" b="0" dirty="0"/>
                        <a:t>5000</a:t>
                      </a:r>
                    </a:p>
                  </a:txBody>
                  <a:tcPr marL="68580" marR="68580"/>
                </a:tc>
                <a:tc>
                  <a:txBody>
                    <a:bodyPr/>
                    <a:lstStyle/>
                    <a:p>
                      <a:pPr algn="ctr"/>
                      <a:r>
                        <a:rPr lang="es-ES" sz="2400" b="0" dirty="0">
                          <a:solidFill>
                            <a:srgbClr val="C00000"/>
                          </a:solidFill>
                        </a:rPr>
                        <a:t>5</a:t>
                      </a:r>
                    </a:p>
                  </a:txBody>
                  <a:tcPr marL="68580" marR="68580"/>
                </a:tc>
                <a:extLst>
                  <a:ext uri="{0D108BD9-81ED-4DB2-BD59-A6C34878D82A}">
                    <a16:rowId xmlns:a16="http://schemas.microsoft.com/office/drawing/2014/main" val="10001"/>
                  </a:ext>
                </a:extLst>
              </a:tr>
              <a:tr h="458907">
                <a:tc>
                  <a:txBody>
                    <a:bodyPr/>
                    <a:lstStyle/>
                    <a:p>
                      <a:pPr algn="ctr"/>
                      <a:r>
                        <a:rPr lang="es-ES" sz="2400" b="0" dirty="0"/>
                        <a:t>Negra</a:t>
                      </a:r>
                    </a:p>
                  </a:txBody>
                  <a:tcPr marL="68580" marR="68580"/>
                </a:tc>
                <a:tc>
                  <a:txBody>
                    <a:bodyPr/>
                    <a:lstStyle/>
                    <a:p>
                      <a:pPr algn="ctr"/>
                      <a:r>
                        <a:rPr lang="es-ES" sz="2400" b="0" dirty="0"/>
                        <a:t>5</a:t>
                      </a:r>
                    </a:p>
                  </a:txBody>
                  <a:tcPr marL="68580" marR="68580"/>
                </a:tc>
                <a:tc>
                  <a:txBody>
                    <a:bodyPr/>
                    <a:lstStyle/>
                    <a:p>
                      <a:pPr algn="ctr"/>
                      <a:r>
                        <a:rPr lang="es-ES" sz="2400" b="0" dirty="0"/>
                        <a:t>2000</a:t>
                      </a:r>
                    </a:p>
                  </a:txBody>
                  <a:tcPr marL="68580" marR="68580"/>
                </a:tc>
                <a:tc>
                  <a:txBody>
                    <a:bodyPr/>
                    <a:lstStyle/>
                    <a:p>
                      <a:pPr algn="ctr"/>
                      <a:r>
                        <a:rPr lang="es-ES" sz="2400" b="0" dirty="0">
                          <a:solidFill>
                            <a:srgbClr val="C00000"/>
                          </a:solidFill>
                        </a:rPr>
                        <a:t>3</a:t>
                      </a:r>
                    </a:p>
                  </a:txBody>
                  <a:tcPr marL="68580" marR="68580"/>
                </a:tc>
                <a:extLst>
                  <a:ext uri="{0D108BD9-81ED-4DB2-BD59-A6C34878D82A}">
                    <a16:rowId xmlns:a16="http://schemas.microsoft.com/office/drawing/2014/main" val="10002"/>
                  </a:ext>
                </a:extLst>
              </a:tr>
              <a:tr h="735724">
                <a:tc>
                  <a:txBody>
                    <a:bodyPr/>
                    <a:lstStyle/>
                    <a:p>
                      <a:pPr algn="ctr"/>
                      <a:r>
                        <a:rPr lang="es-ES" sz="2400" b="0" dirty="0" err="1"/>
                        <a:t>Disponi</a:t>
                      </a:r>
                      <a:r>
                        <a:rPr lang="es-ES" sz="2400" b="0" dirty="0"/>
                        <a:t>- </a:t>
                      </a:r>
                      <a:r>
                        <a:rPr lang="es-ES" sz="2400" b="0" dirty="0" err="1"/>
                        <a:t>bilidad</a:t>
                      </a:r>
                      <a:endParaRPr lang="es-ES" sz="2400" b="0" dirty="0"/>
                    </a:p>
                  </a:txBody>
                  <a:tcPr marL="68580" marR="68580"/>
                </a:tc>
                <a:tc>
                  <a:txBody>
                    <a:bodyPr/>
                    <a:lstStyle/>
                    <a:p>
                      <a:pPr algn="ctr"/>
                      <a:r>
                        <a:rPr lang="es-ES" sz="2400" b="0" dirty="0">
                          <a:solidFill>
                            <a:srgbClr val="C00000"/>
                          </a:solidFill>
                        </a:rPr>
                        <a:t>15</a:t>
                      </a:r>
                    </a:p>
                  </a:txBody>
                  <a:tcPr marL="68580" marR="68580"/>
                </a:tc>
                <a:tc>
                  <a:txBody>
                    <a:bodyPr/>
                    <a:lstStyle/>
                    <a:p>
                      <a:pPr algn="ctr"/>
                      <a:r>
                        <a:rPr lang="es-ES" sz="2400" b="0" dirty="0">
                          <a:solidFill>
                            <a:srgbClr val="C00000"/>
                          </a:solidFill>
                        </a:rPr>
                        <a:t>10000</a:t>
                      </a:r>
                    </a:p>
                  </a:txBody>
                  <a:tcPr marL="68580" marR="68580"/>
                </a:tc>
                <a:tc>
                  <a:txBody>
                    <a:bodyPr/>
                    <a:lstStyle/>
                    <a:p>
                      <a:endParaRPr lang="es-ES" sz="2400" b="0" dirty="0"/>
                    </a:p>
                  </a:txBody>
                  <a:tcPr marL="68580" marR="68580"/>
                </a:tc>
                <a:extLst>
                  <a:ext uri="{0D108BD9-81ED-4DB2-BD59-A6C34878D82A}">
                    <a16:rowId xmlns:a16="http://schemas.microsoft.com/office/drawing/2014/main" val="10003"/>
                  </a:ext>
                </a:extLst>
              </a:tr>
            </a:tbl>
          </a:graphicData>
        </a:graphic>
      </p:graphicFrame>
      <p:sp>
        <p:nvSpPr>
          <p:cNvPr id="5" name="Rectangle 1">
            <a:extLst>
              <a:ext uri="{FF2B5EF4-FFF2-40B4-BE49-F238E27FC236}">
                <a16:creationId xmlns:a16="http://schemas.microsoft.com/office/drawing/2014/main" id="{F31E94F4-9DE8-40FB-852A-EE72EC04FA57}"/>
              </a:ext>
            </a:extLst>
          </p:cNvPr>
          <p:cNvSpPr>
            <a:spLocks noChangeArrowheads="1"/>
          </p:cNvSpPr>
          <p:nvPr/>
        </p:nvSpPr>
        <p:spPr bwMode="auto">
          <a:xfrm>
            <a:off x="7242704" y="1232509"/>
            <a:ext cx="482737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200" b="1" dirty="0">
                <a:solidFill>
                  <a:srgbClr val="FF0000"/>
                </a:solidFill>
                <a:latin typeface="Arial Narrow" pitchFamily="34" charset="0"/>
                <a:ea typeface="Calibri" pitchFamily="34" charset="0"/>
                <a:cs typeface="Arial" panose="020B0604020202020204" pitchFamily="34" charset="0"/>
              </a:rPr>
              <a:t>I.     Identificación de variables</a:t>
            </a:r>
            <a:endParaRPr lang="es-PE" sz="2200" b="1" dirty="0">
              <a:solidFill>
                <a:srgbClr val="FF0000"/>
              </a:solidFill>
              <a:latin typeface="Arial Narrow" pitchFamily="34" charset="0"/>
              <a:cs typeface="Arial" pitchFamily="34" charset="0"/>
            </a:endParaRPr>
          </a:p>
          <a:p>
            <a:pPr algn="just" eaLnBrk="0" fontAlgn="base" hangingPunct="0">
              <a:spcBef>
                <a:spcPct val="0"/>
              </a:spcBef>
              <a:spcAft>
                <a:spcPct val="0"/>
              </a:spcAft>
            </a:pPr>
            <a:r>
              <a:rPr lang="es-PE" sz="2200" b="1" dirty="0">
                <a:solidFill>
                  <a:srgbClr val="FF0000"/>
                </a:solidFill>
                <a:latin typeface="Arial Narrow" pitchFamily="34" charset="0"/>
                <a:ea typeface="Calibri" pitchFamily="34" charset="0"/>
                <a:cs typeface="Arial" panose="020B0604020202020204" pitchFamily="34" charset="0"/>
              </a:rPr>
              <a:t>       </a:t>
            </a:r>
            <a:r>
              <a:rPr lang="es-PE" sz="2200" b="1" dirty="0">
                <a:latin typeface="Arial Narrow" pitchFamily="34" charset="0"/>
                <a:ea typeface="Calibri" pitchFamily="34" charset="0"/>
                <a:cs typeface="Arial" panose="020B0604020202020204" pitchFamily="34" charset="0"/>
              </a:rPr>
              <a:t>R=Cantidad de litros de cerveza Rubia</a:t>
            </a:r>
          </a:p>
          <a:p>
            <a:pPr algn="just" eaLnBrk="0" fontAlgn="base" hangingPunct="0">
              <a:spcBef>
                <a:spcPct val="0"/>
              </a:spcBef>
              <a:spcAft>
                <a:spcPct val="0"/>
              </a:spcAft>
            </a:pPr>
            <a:r>
              <a:rPr lang="es-PE" sz="2200" b="1" dirty="0">
                <a:solidFill>
                  <a:srgbClr val="FF0000"/>
                </a:solidFill>
                <a:latin typeface="Arial Narrow" pitchFamily="34" charset="0"/>
                <a:ea typeface="Calibri" pitchFamily="34" charset="0"/>
                <a:cs typeface="Arial" panose="020B0604020202020204" pitchFamily="34" charset="0"/>
              </a:rPr>
              <a:t>       </a:t>
            </a:r>
            <a:r>
              <a:rPr lang="es-PE" sz="2200" b="1" dirty="0">
                <a:latin typeface="Arial Narrow" pitchFamily="34" charset="0"/>
                <a:ea typeface="Calibri" pitchFamily="34" charset="0"/>
                <a:cs typeface="Arial" panose="020B0604020202020204" pitchFamily="34" charset="0"/>
              </a:rPr>
              <a:t>N=Cantidad de litros de cerveza Negra</a:t>
            </a:r>
            <a:endParaRPr lang="es-ES" sz="2000" b="1" dirty="0">
              <a:latin typeface="Arial Narrow" pitchFamily="34" charset="0"/>
            </a:endParaRPr>
          </a:p>
        </p:txBody>
      </p:sp>
      <p:sp>
        <p:nvSpPr>
          <p:cNvPr id="3" name="CuadroTexto 2">
            <a:extLst>
              <a:ext uri="{FF2B5EF4-FFF2-40B4-BE49-F238E27FC236}">
                <a16:creationId xmlns:a16="http://schemas.microsoft.com/office/drawing/2014/main" id="{D0C0A4F1-1FE2-456D-AEDD-B22E2E26A281}"/>
              </a:ext>
            </a:extLst>
          </p:cNvPr>
          <p:cNvSpPr txBox="1"/>
          <p:nvPr/>
        </p:nvSpPr>
        <p:spPr>
          <a:xfrm>
            <a:off x="1046557" y="159389"/>
            <a:ext cx="4425003" cy="707886"/>
          </a:xfrm>
          <a:prstGeom prst="rect">
            <a:avLst/>
          </a:prstGeom>
          <a:noFill/>
        </p:spPr>
        <p:txBody>
          <a:bodyPr wrap="square" rtlCol="0">
            <a:spAutoFit/>
          </a:bodyPr>
          <a:lstStyle/>
          <a:p>
            <a:r>
              <a:rPr lang="es-ES" sz="2000" b="1" dirty="0">
                <a:solidFill>
                  <a:srgbClr val="8A0000"/>
                </a:solidFill>
              </a:rPr>
              <a:t>Beneficio=Utilidad = Ingreso - Costo</a:t>
            </a:r>
          </a:p>
          <a:p>
            <a:r>
              <a:rPr lang="es-ES" sz="2000" b="1" dirty="0">
                <a:solidFill>
                  <a:srgbClr val="8A0000"/>
                </a:solidFill>
              </a:rPr>
              <a:t>Ingreso = Precio * Cantidad</a:t>
            </a:r>
          </a:p>
        </p:txBody>
      </p:sp>
      <p:sp>
        <p:nvSpPr>
          <p:cNvPr id="6" name="CuadroTexto 5">
            <a:extLst>
              <a:ext uri="{FF2B5EF4-FFF2-40B4-BE49-F238E27FC236}">
                <a16:creationId xmlns:a16="http://schemas.microsoft.com/office/drawing/2014/main" id="{0DC5182B-407C-48BE-9D76-72D0A3AAC1E4}"/>
              </a:ext>
            </a:extLst>
          </p:cNvPr>
          <p:cNvSpPr txBox="1"/>
          <p:nvPr/>
        </p:nvSpPr>
        <p:spPr>
          <a:xfrm>
            <a:off x="270347" y="4214196"/>
            <a:ext cx="2027582" cy="461665"/>
          </a:xfrm>
          <a:prstGeom prst="rect">
            <a:avLst/>
          </a:prstGeom>
          <a:noFill/>
        </p:spPr>
        <p:txBody>
          <a:bodyPr wrap="square" rtlCol="0">
            <a:spAutoFit/>
          </a:bodyPr>
          <a:lstStyle/>
          <a:p>
            <a:r>
              <a:rPr lang="es-ES" sz="2400" dirty="0">
                <a:solidFill>
                  <a:srgbClr val="FF0000"/>
                </a:solidFill>
              </a:rPr>
              <a:t>SOLUCIÓN</a:t>
            </a:r>
            <a:endParaRPr lang="es-PE" sz="2400" dirty="0">
              <a:solidFill>
                <a:srgbClr val="FF0000"/>
              </a:solidFill>
            </a:endParaRPr>
          </a:p>
        </p:txBody>
      </p:sp>
      <p:sp>
        <p:nvSpPr>
          <p:cNvPr id="7" name="Rectángulo 6">
            <a:extLst>
              <a:ext uri="{FF2B5EF4-FFF2-40B4-BE49-F238E27FC236}">
                <a16:creationId xmlns:a16="http://schemas.microsoft.com/office/drawing/2014/main" id="{16A72521-4360-4451-B89C-3EB7A7C7EFC8}"/>
              </a:ext>
            </a:extLst>
          </p:cNvPr>
          <p:cNvSpPr/>
          <p:nvPr/>
        </p:nvSpPr>
        <p:spPr>
          <a:xfrm>
            <a:off x="7136923" y="3105600"/>
            <a:ext cx="4981704" cy="1446550"/>
          </a:xfrm>
          <a:prstGeom prst="rect">
            <a:avLst/>
          </a:prstGeom>
        </p:spPr>
        <p:txBody>
          <a:bodyPr wrap="square">
            <a:spAutoFit/>
          </a:bodyPr>
          <a:lstStyle/>
          <a:p>
            <a:pPr marL="571500" indent="-571500" algn="just" eaLnBrk="0" fontAlgn="base" hangingPunct="0">
              <a:spcBef>
                <a:spcPct val="0"/>
              </a:spcBef>
              <a:spcAft>
                <a:spcPct val="0"/>
              </a:spcAft>
              <a:buFontTx/>
              <a:buAutoNum type="romanUcPeriod" startAt="3"/>
            </a:pPr>
            <a:r>
              <a:rPr lang="es-PE" sz="2200" b="1" dirty="0">
                <a:solidFill>
                  <a:srgbClr val="FF0000"/>
                </a:solidFill>
                <a:latin typeface="Arial Narrow" pitchFamily="34" charset="0"/>
                <a:ea typeface="Calibri" pitchFamily="34" charset="0"/>
                <a:cs typeface="Arial" panose="020B0604020202020204" pitchFamily="34" charset="0"/>
              </a:rPr>
              <a:t>Identificación de las restricciones</a:t>
            </a:r>
          </a:p>
          <a:p>
            <a:pPr lvl="0"/>
            <a:r>
              <a:rPr lang="es-ES" sz="2200" b="1" dirty="0">
                <a:latin typeface="Arial Narrow" pitchFamily="34" charset="0"/>
              </a:rPr>
              <a:t>         (3/10000)R+(5/10000)N&lt;=15</a:t>
            </a:r>
          </a:p>
          <a:p>
            <a:pPr lvl="0"/>
            <a:r>
              <a:rPr lang="es-ES" sz="2200" b="1" dirty="0">
                <a:latin typeface="Arial Narrow" pitchFamily="34" charset="0"/>
              </a:rPr>
              <a:t>         (5000/10000)R+(2000/10000)N&lt;=10000</a:t>
            </a:r>
          </a:p>
          <a:p>
            <a:pPr lvl="0"/>
            <a:r>
              <a:rPr lang="es-ES" sz="2200" b="1" dirty="0">
                <a:latin typeface="Arial Narrow" pitchFamily="34" charset="0"/>
              </a:rPr>
              <a:t>		R, N &gt;= 0</a:t>
            </a:r>
          </a:p>
        </p:txBody>
      </p:sp>
      <p:sp>
        <p:nvSpPr>
          <p:cNvPr id="8" name="Rectángulo 7">
            <a:extLst>
              <a:ext uri="{FF2B5EF4-FFF2-40B4-BE49-F238E27FC236}">
                <a16:creationId xmlns:a16="http://schemas.microsoft.com/office/drawing/2014/main" id="{9835206F-7AA5-4C27-845F-A94E7A12E4A3}"/>
              </a:ext>
            </a:extLst>
          </p:cNvPr>
          <p:cNvSpPr/>
          <p:nvPr/>
        </p:nvSpPr>
        <p:spPr>
          <a:xfrm>
            <a:off x="7231814" y="2364676"/>
            <a:ext cx="4917386" cy="769441"/>
          </a:xfrm>
          <a:prstGeom prst="rect">
            <a:avLst/>
          </a:prstGeom>
        </p:spPr>
        <p:txBody>
          <a:bodyPr wrap="square">
            <a:spAutoFit/>
          </a:bodyPr>
          <a:lstStyle/>
          <a:p>
            <a:pPr algn="just" eaLnBrk="0" fontAlgn="base" hangingPunct="0">
              <a:spcBef>
                <a:spcPct val="0"/>
              </a:spcBef>
              <a:spcAft>
                <a:spcPct val="0"/>
              </a:spcAft>
            </a:pPr>
            <a:r>
              <a:rPr lang="es-PE" sz="2200" b="1"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200" b="1"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PE" sz="2200" b="1" dirty="0">
                <a:latin typeface="Arial Narrow" pitchFamily="34" charset="0"/>
                <a:cs typeface="Arial" panose="020B0604020202020204" pitchFamily="34" charset="0"/>
              </a:rPr>
              <a:t>MAX </a:t>
            </a:r>
            <a:r>
              <a:rPr lang="es-PE" sz="2200" b="1" dirty="0" err="1">
                <a:latin typeface="Arial Narrow" pitchFamily="34" charset="0"/>
                <a:cs typeface="Arial" panose="020B0604020202020204" pitchFamily="34" charset="0"/>
              </a:rPr>
              <a:t>5R+3N</a:t>
            </a:r>
            <a:endParaRPr lang="es-ES" sz="2200" b="1" dirty="0">
              <a:latin typeface="Arial Narrow" pitchFamily="34" charset="0"/>
            </a:endParaRPr>
          </a:p>
        </p:txBody>
      </p:sp>
      <p:sp>
        <p:nvSpPr>
          <p:cNvPr id="10" name="Rectángulo 9">
            <a:extLst>
              <a:ext uri="{FF2B5EF4-FFF2-40B4-BE49-F238E27FC236}">
                <a16:creationId xmlns:a16="http://schemas.microsoft.com/office/drawing/2014/main" id="{2DFAEAA1-30B3-4AF1-A928-92B7FB367EF8}"/>
              </a:ext>
            </a:extLst>
          </p:cNvPr>
          <p:cNvSpPr/>
          <p:nvPr/>
        </p:nvSpPr>
        <p:spPr>
          <a:xfrm>
            <a:off x="5786651" y="5114967"/>
            <a:ext cx="3387623" cy="1569660"/>
          </a:xfrm>
          <a:prstGeom prst="rect">
            <a:avLst/>
          </a:prstGeom>
          <a:solidFill>
            <a:srgbClr val="FFFF00"/>
          </a:solidFill>
        </p:spPr>
        <p:txBody>
          <a:bodyPr wrap="square">
            <a:spAutoFit/>
          </a:bodyPr>
          <a:lstStyle/>
          <a:p>
            <a:pPr lvl="0"/>
            <a:r>
              <a:rPr lang="es-PE" sz="2400" b="1" dirty="0">
                <a:latin typeface="Arial Narrow" panose="020B0606020202030204" pitchFamily="34" charset="0"/>
              </a:rPr>
              <a:t>MAX </a:t>
            </a:r>
            <a:r>
              <a:rPr lang="es-PE" sz="2400" b="1" dirty="0" err="1">
                <a:latin typeface="Arial Narrow" panose="020B0606020202030204" pitchFamily="34" charset="0"/>
              </a:rPr>
              <a:t>5R+3N</a:t>
            </a:r>
            <a:endParaRPr lang="es-PE" sz="2400" b="1" dirty="0">
              <a:latin typeface="Arial Narrow" panose="020B0606020202030204" pitchFamily="34" charset="0"/>
            </a:endParaRPr>
          </a:p>
          <a:p>
            <a:pPr lvl="0"/>
            <a:r>
              <a:rPr lang="es-PE" sz="2400" b="1" dirty="0" err="1">
                <a:solidFill>
                  <a:srgbClr val="FF0000"/>
                </a:solidFill>
                <a:latin typeface="Arial Narrow" panose="020B0606020202030204" pitchFamily="34" charset="0"/>
              </a:rPr>
              <a:t>SUBJECT</a:t>
            </a:r>
            <a:r>
              <a:rPr lang="es-PE" sz="2400" b="1" dirty="0">
                <a:solidFill>
                  <a:srgbClr val="FF0000"/>
                </a:solidFill>
                <a:latin typeface="Arial Narrow" panose="020B0606020202030204" pitchFamily="34" charset="0"/>
              </a:rPr>
              <a:t> </a:t>
            </a:r>
            <a:r>
              <a:rPr lang="es-PE" sz="2400" b="1" dirty="0" err="1">
                <a:solidFill>
                  <a:srgbClr val="FF0000"/>
                </a:solidFill>
                <a:latin typeface="Arial Narrow" panose="020B0606020202030204" pitchFamily="34" charset="0"/>
              </a:rPr>
              <a:t>TO</a:t>
            </a:r>
            <a:endParaRPr lang="es-PE" sz="2400" b="1" dirty="0">
              <a:solidFill>
                <a:srgbClr val="FF0000"/>
              </a:solidFill>
              <a:latin typeface="Arial Narrow" panose="020B0606020202030204" pitchFamily="34" charset="0"/>
            </a:endParaRPr>
          </a:p>
          <a:p>
            <a:pPr lvl="0"/>
            <a:r>
              <a:rPr lang="es-PE" sz="2400" b="1" dirty="0" err="1">
                <a:latin typeface="Arial Narrow" panose="020B0606020202030204" pitchFamily="34" charset="0"/>
              </a:rPr>
              <a:t>3R</a:t>
            </a:r>
            <a:r>
              <a:rPr lang="es-PE" sz="2400" b="1" dirty="0">
                <a:latin typeface="Arial Narrow" panose="020B0606020202030204" pitchFamily="34" charset="0"/>
              </a:rPr>
              <a:t>  + </a:t>
            </a:r>
            <a:r>
              <a:rPr lang="es-PE" sz="2400" b="1" dirty="0" err="1">
                <a:latin typeface="Arial Narrow" panose="020B0606020202030204" pitchFamily="34" charset="0"/>
              </a:rPr>
              <a:t>5N</a:t>
            </a:r>
            <a:r>
              <a:rPr lang="es-PE" sz="2400" b="1" dirty="0">
                <a:latin typeface="Arial Narrow" panose="020B0606020202030204" pitchFamily="34" charset="0"/>
              </a:rPr>
              <a:t> &lt;= 150000</a:t>
            </a:r>
          </a:p>
          <a:p>
            <a:pPr lvl="0"/>
            <a:r>
              <a:rPr lang="es-PE" sz="2400" b="1" dirty="0" err="1">
                <a:latin typeface="Arial Narrow" panose="020B0606020202030204" pitchFamily="34" charset="0"/>
              </a:rPr>
              <a:t>5000R+2000N</a:t>
            </a:r>
            <a:r>
              <a:rPr lang="es-PE" sz="2400" b="1" dirty="0">
                <a:latin typeface="Arial Narrow" panose="020B0606020202030204" pitchFamily="34" charset="0"/>
              </a:rPr>
              <a:t>&lt;=100000000</a:t>
            </a:r>
          </a:p>
        </p:txBody>
      </p:sp>
      <p:sp>
        <p:nvSpPr>
          <p:cNvPr id="11" name="Rectángulo 10">
            <a:extLst>
              <a:ext uri="{FF2B5EF4-FFF2-40B4-BE49-F238E27FC236}">
                <a16:creationId xmlns:a16="http://schemas.microsoft.com/office/drawing/2014/main" id="{917B147D-11D1-4400-8279-FA56D8D2C0AE}"/>
              </a:ext>
            </a:extLst>
          </p:cNvPr>
          <p:cNvSpPr/>
          <p:nvPr/>
        </p:nvSpPr>
        <p:spPr>
          <a:xfrm>
            <a:off x="8428174" y="4675861"/>
            <a:ext cx="3763826" cy="1554272"/>
          </a:xfrm>
          <a:prstGeom prst="rect">
            <a:avLst/>
          </a:prstGeom>
          <a:solidFill>
            <a:schemeClr val="accent3">
              <a:lumMod val="60000"/>
              <a:lumOff val="40000"/>
            </a:schemeClr>
          </a:solidFill>
        </p:spPr>
        <p:txBody>
          <a:bodyPr wrap="square">
            <a:spAutoFit/>
          </a:bodyPr>
          <a:lstStyle/>
          <a:p>
            <a:r>
              <a:rPr lang="es-PE" sz="1900" b="1" dirty="0">
                <a:solidFill>
                  <a:srgbClr val="FF0000"/>
                </a:solidFill>
                <a:latin typeface="Arial Narrow" panose="020B0606020202030204" pitchFamily="34" charset="0"/>
              </a:rPr>
              <a:t>OBJECTIVE FUNCTION VALUE</a:t>
            </a:r>
          </a:p>
          <a:p>
            <a:r>
              <a:rPr lang="es-PE" sz="1900" b="1" dirty="0">
                <a:solidFill>
                  <a:srgbClr val="FF0000"/>
                </a:solidFill>
                <a:latin typeface="Arial Narrow" panose="020B0606020202030204" pitchFamily="34" charset="0"/>
              </a:rPr>
              <a:t>        1)      123684.2</a:t>
            </a:r>
          </a:p>
          <a:p>
            <a:r>
              <a:rPr lang="es-PE" sz="1900" b="1" dirty="0">
                <a:solidFill>
                  <a:srgbClr val="FF0000"/>
                </a:solidFill>
                <a:latin typeface="Arial Narrow" panose="020B0606020202030204" pitchFamily="34" charset="0"/>
              </a:rPr>
              <a:t>VARIABLE  </a:t>
            </a:r>
            <a:r>
              <a:rPr lang="es-PE" sz="1900" b="1" dirty="0" err="1">
                <a:solidFill>
                  <a:srgbClr val="FF0000"/>
                </a:solidFill>
                <a:latin typeface="Arial Narrow" panose="020B0606020202030204" pitchFamily="34" charset="0"/>
              </a:rPr>
              <a:t>VALUE</a:t>
            </a:r>
            <a:r>
              <a:rPr lang="es-PE" sz="1900" b="1" dirty="0">
                <a:solidFill>
                  <a:srgbClr val="FF0000"/>
                </a:solidFill>
                <a:latin typeface="Arial Narrow" panose="020B0606020202030204" pitchFamily="34" charset="0"/>
              </a:rPr>
              <a:t> </a:t>
            </a:r>
            <a:r>
              <a:rPr lang="es-PE" sz="1900" b="1" dirty="0" err="1">
                <a:solidFill>
                  <a:srgbClr val="FF0000"/>
                </a:solidFill>
                <a:latin typeface="Arial Narrow" panose="020B0606020202030204" pitchFamily="34" charset="0"/>
              </a:rPr>
              <a:t>REDUCED</a:t>
            </a:r>
            <a:r>
              <a:rPr lang="es-PE" sz="1900" b="1" dirty="0">
                <a:solidFill>
                  <a:srgbClr val="FF0000"/>
                </a:solidFill>
                <a:latin typeface="Arial Narrow" panose="020B0606020202030204" pitchFamily="34" charset="0"/>
              </a:rPr>
              <a:t> </a:t>
            </a:r>
            <a:r>
              <a:rPr lang="es-PE" sz="1900" b="1" dirty="0" err="1">
                <a:solidFill>
                  <a:srgbClr val="FF0000"/>
                </a:solidFill>
                <a:latin typeface="Arial Narrow" panose="020B0606020202030204" pitchFamily="34" charset="0"/>
              </a:rPr>
              <a:t>COST</a:t>
            </a:r>
            <a:endParaRPr lang="es-PE" sz="1900" b="1" dirty="0">
              <a:solidFill>
                <a:srgbClr val="FF0000"/>
              </a:solidFill>
              <a:latin typeface="Arial Narrow" panose="020B0606020202030204" pitchFamily="34" charset="0"/>
            </a:endParaRPr>
          </a:p>
          <a:p>
            <a:r>
              <a:rPr lang="es-PE" sz="1900" b="1" dirty="0">
                <a:solidFill>
                  <a:srgbClr val="FF0000"/>
                </a:solidFill>
                <a:latin typeface="Arial Narrow" panose="020B0606020202030204" pitchFamily="34" charset="0"/>
              </a:rPr>
              <a:t>         R     10526.315430    0.0000</a:t>
            </a:r>
          </a:p>
          <a:p>
            <a:r>
              <a:rPr lang="es-PE" sz="1900" b="1" dirty="0">
                <a:solidFill>
                  <a:srgbClr val="FF0000"/>
                </a:solidFill>
                <a:latin typeface="Arial Narrow" panose="020B0606020202030204" pitchFamily="34" charset="0"/>
              </a:rPr>
              <a:t>         N     23684.210938    0.0000</a:t>
            </a:r>
          </a:p>
        </p:txBody>
      </p:sp>
      <p:sp>
        <p:nvSpPr>
          <p:cNvPr id="12" name="CuadroTexto 11">
            <a:extLst>
              <a:ext uri="{FF2B5EF4-FFF2-40B4-BE49-F238E27FC236}">
                <a16:creationId xmlns:a16="http://schemas.microsoft.com/office/drawing/2014/main" id="{D152CCE8-9FB0-34D3-B208-03EE0B3AD4CC}"/>
              </a:ext>
            </a:extLst>
          </p:cNvPr>
          <p:cNvSpPr txBox="1"/>
          <p:nvPr/>
        </p:nvSpPr>
        <p:spPr>
          <a:xfrm>
            <a:off x="12737" y="1254594"/>
            <a:ext cx="6579132" cy="3046988"/>
          </a:xfrm>
          <a:prstGeom prst="rect">
            <a:avLst/>
          </a:prstGeom>
          <a:noFill/>
        </p:spPr>
        <p:txBody>
          <a:bodyPr wrap="square">
            <a:spAutoFit/>
          </a:bodyPr>
          <a:lstStyle/>
          <a:p>
            <a:pPr lvl="0" algn="just" rtl="0"/>
            <a:r>
              <a:rPr lang="es-ES_tradnl" sz="2400" b="1" dirty="0">
                <a:latin typeface="Arial Narrow" pitchFamily="34" charset="0"/>
              </a:rPr>
              <a:t>En una fábrica de cerveza se producen dos tipos: rubia y negra. Su precio de venta es de 5 soles/l y 3 soles/l, respectivamente. Sus necesidades de mano de obra son de 3 y 5 empleados, y de 5000 y 2000 soles de materias primas por cada 10000 litros. La empresa dispone semanalmente de 15 empleados y 10000 soles para materias primas, y desea maximizar su beneficio. ¿Cuántos litros debe producir?</a:t>
            </a:r>
            <a:endParaRPr lang="es-ES" sz="2400" b="1" dirty="0">
              <a:latin typeface="Arial Narrow" pitchFamily="34" charset="0"/>
            </a:endParaRPr>
          </a:p>
        </p:txBody>
      </p:sp>
    </p:spTree>
    <p:extLst>
      <p:ext uri="{BB962C8B-B14F-4D97-AF65-F5344CB8AC3E}">
        <p14:creationId xmlns:p14="http://schemas.microsoft.com/office/powerpoint/2010/main" val="39311669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6" grpId="0"/>
      <p:bldP spid="7" grpId="0"/>
      <p:bldP spid="8" grpId="0"/>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6096000" y="251573"/>
            <a:ext cx="6096000" cy="576064"/>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6 </a:t>
            </a:r>
            <a:br>
              <a:rPr lang="es-ES" sz="3200" dirty="0">
                <a:solidFill>
                  <a:schemeClr val="bg1"/>
                </a:solidFill>
                <a:latin typeface="Bauhaus 93" pitchFamily="82" charset="0"/>
                <a:ea typeface="+mn-ea"/>
                <a:cs typeface="+mn-cs"/>
              </a:rPr>
            </a:br>
            <a:r>
              <a:rPr lang="es-ES" sz="3200" dirty="0">
                <a:solidFill>
                  <a:schemeClr val="bg1"/>
                </a:solidFill>
                <a:latin typeface="Bauhaus 93" pitchFamily="82" charset="0"/>
                <a:ea typeface="+mn-ea"/>
                <a:cs typeface="+mn-cs"/>
              </a:rPr>
              <a:t>Subestaciones</a:t>
            </a:r>
            <a:endParaRPr lang="es-PE" sz="3200" dirty="0">
              <a:solidFill>
                <a:schemeClr val="bg1"/>
              </a:solidFill>
              <a:latin typeface="Bauhaus 93" pitchFamily="82" charset="0"/>
              <a:ea typeface="+mn-ea"/>
              <a:cs typeface="+mn-cs"/>
            </a:endParaRPr>
          </a:p>
        </p:txBody>
      </p:sp>
      <p:graphicFrame>
        <p:nvGraphicFramePr>
          <p:cNvPr id="7" name="3 Marcador de contenido">
            <a:extLst>
              <a:ext uri="{FF2B5EF4-FFF2-40B4-BE49-F238E27FC236}">
                <a16:creationId xmlns:a16="http://schemas.microsoft.com/office/drawing/2014/main" id="{D2F11A80-21B9-4536-9193-11AC6DB45328}"/>
              </a:ext>
            </a:extLst>
          </p:cNvPr>
          <p:cNvGraphicFramePr>
            <a:graphicFrameLocks noGrp="1"/>
          </p:cNvGraphicFramePr>
          <p:nvPr>
            <p:ph idx="1"/>
            <p:extLst>
              <p:ext uri="{D42A27DB-BD31-4B8C-83A1-F6EECF244321}">
                <p14:modId xmlns:p14="http://schemas.microsoft.com/office/powerpoint/2010/main" val="212513628"/>
              </p:ext>
            </p:extLst>
          </p:nvPr>
        </p:nvGraphicFramePr>
        <p:xfrm>
          <a:off x="219912" y="4918124"/>
          <a:ext cx="5450322" cy="1828800"/>
        </p:xfrm>
        <a:graphic>
          <a:graphicData uri="http://schemas.openxmlformats.org/drawingml/2006/table">
            <a:tbl>
              <a:tblPr>
                <a:tableStyleId>{5C22544A-7EE6-4342-B048-85BDC9FD1C3A}</a:tableStyleId>
              </a:tblPr>
              <a:tblGrid>
                <a:gridCol w="1749993">
                  <a:extLst>
                    <a:ext uri="{9D8B030D-6E8A-4147-A177-3AD203B41FA5}">
                      <a16:colId xmlns:a16="http://schemas.microsoft.com/office/drawing/2014/main" val="20000"/>
                    </a:ext>
                  </a:extLst>
                </a:gridCol>
                <a:gridCol w="3700329">
                  <a:extLst>
                    <a:ext uri="{9D8B030D-6E8A-4147-A177-3AD203B41FA5}">
                      <a16:colId xmlns:a16="http://schemas.microsoft.com/office/drawing/2014/main" val="20001"/>
                    </a:ext>
                  </a:extLst>
                </a:gridCol>
              </a:tblGrid>
              <a:tr h="172085">
                <a:tc>
                  <a:txBody>
                    <a:bodyPr/>
                    <a:lstStyle/>
                    <a:p>
                      <a:pPr algn="ctr">
                        <a:spcAft>
                          <a:spcPts val="0"/>
                        </a:spcAft>
                      </a:pPr>
                      <a:r>
                        <a:rPr lang="es-PE" sz="2000" b="1" dirty="0">
                          <a:effectLst/>
                        </a:rPr>
                        <a:t>UBICACIÓN</a:t>
                      </a:r>
                      <a:endParaRPr lang="es-PE" sz="2000" b="1" dirty="0">
                        <a:effectLst/>
                        <a:latin typeface="Times New Roman"/>
                        <a:ea typeface="Calibri"/>
                      </a:endParaRPr>
                    </a:p>
                  </a:txBody>
                  <a:tcPr marL="44450" marR="44450" marT="0" marB="0"/>
                </a:tc>
                <a:tc>
                  <a:txBody>
                    <a:bodyPr/>
                    <a:lstStyle/>
                    <a:p>
                      <a:pPr algn="ctr">
                        <a:spcAft>
                          <a:spcPts val="0"/>
                        </a:spcAft>
                      </a:pPr>
                      <a:r>
                        <a:rPr lang="es-PE" sz="2000" b="1">
                          <a:effectLst/>
                        </a:rPr>
                        <a:t>ZONAS QUE SE PUEDEN ATENDER</a:t>
                      </a:r>
                      <a:endParaRPr lang="es-PE" sz="2000" b="1">
                        <a:effectLst/>
                        <a:latin typeface="Times New Roman"/>
                        <a:ea typeface="Calibri"/>
                      </a:endParaRPr>
                    </a:p>
                  </a:txBody>
                  <a:tcPr marL="44450" marR="44450" marT="0" marB="0"/>
                </a:tc>
                <a:extLst>
                  <a:ext uri="{0D108BD9-81ED-4DB2-BD59-A6C34878D82A}">
                    <a16:rowId xmlns:a16="http://schemas.microsoft.com/office/drawing/2014/main" val="10000"/>
                  </a:ext>
                </a:extLst>
              </a:tr>
              <a:tr h="812165">
                <a:tc>
                  <a:txBody>
                    <a:bodyPr/>
                    <a:lstStyle/>
                    <a:p>
                      <a:pPr algn="ctr">
                        <a:spcAft>
                          <a:spcPts val="0"/>
                        </a:spcAft>
                      </a:pPr>
                      <a:r>
                        <a:rPr lang="es-PE" sz="2000" b="1" dirty="0">
                          <a:effectLst/>
                        </a:rPr>
                        <a:t>1</a:t>
                      </a:r>
                    </a:p>
                    <a:p>
                      <a:pPr algn="ctr">
                        <a:spcAft>
                          <a:spcPts val="0"/>
                        </a:spcAft>
                      </a:pPr>
                      <a:r>
                        <a:rPr lang="es-PE" sz="2000" b="1" dirty="0">
                          <a:effectLst/>
                        </a:rPr>
                        <a:t>2</a:t>
                      </a:r>
                    </a:p>
                    <a:p>
                      <a:pPr algn="ctr">
                        <a:spcAft>
                          <a:spcPts val="0"/>
                        </a:spcAft>
                      </a:pPr>
                      <a:r>
                        <a:rPr lang="es-PE" sz="2000" b="1" dirty="0">
                          <a:effectLst/>
                        </a:rPr>
                        <a:t>3</a:t>
                      </a:r>
                    </a:p>
                    <a:p>
                      <a:pPr algn="ctr">
                        <a:spcAft>
                          <a:spcPts val="0"/>
                        </a:spcAft>
                      </a:pPr>
                      <a:r>
                        <a:rPr lang="es-PE" sz="2000" b="1" dirty="0">
                          <a:effectLst/>
                        </a:rPr>
                        <a:t>4</a:t>
                      </a:r>
                    </a:p>
                    <a:p>
                      <a:pPr algn="ctr">
                        <a:spcAft>
                          <a:spcPts val="0"/>
                        </a:spcAft>
                      </a:pPr>
                      <a:r>
                        <a:rPr lang="es-PE" sz="2000" b="1" dirty="0">
                          <a:effectLst/>
                        </a:rPr>
                        <a:t>5</a:t>
                      </a:r>
                      <a:endParaRPr lang="es-PE" sz="2000" b="1" dirty="0">
                        <a:effectLst/>
                        <a:latin typeface="Times New Roman"/>
                        <a:ea typeface="Calibri"/>
                      </a:endParaRPr>
                    </a:p>
                  </a:txBody>
                  <a:tcPr marL="44450" marR="44450" marT="0" marB="0"/>
                </a:tc>
                <a:tc>
                  <a:txBody>
                    <a:bodyPr/>
                    <a:lstStyle/>
                    <a:p>
                      <a:pPr algn="ctr">
                        <a:spcAft>
                          <a:spcPts val="0"/>
                        </a:spcAft>
                      </a:pPr>
                      <a:r>
                        <a:rPr lang="es-PE" sz="2000" b="1" dirty="0">
                          <a:effectLst/>
                        </a:rPr>
                        <a:t>1, 2, 3</a:t>
                      </a:r>
                    </a:p>
                    <a:p>
                      <a:pPr algn="ctr">
                        <a:spcAft>
                          <a:spcPts val="0"/>
                        </a:spcAft>
                      </a:pPr>
                      <a:r>
                        <a:rPr lang="es-PE" sz="2000" b="1" dirty="0">
                          <a:effectLst/>
                        </a:rPr>
                        <a:t>1, 4, 5</a:t>
                      </a:r>
                    </a:p>
                    <a:p>
                      <a:pPr algn="ctr">
                        <a:spcAft>
                          <a:spcPts val="0"/>
                        </a:spcAft>
                      </a:pPr>
                      <a:r>
                        <a:rPr lang="es-PE" sz="2000" b="1" dirty="0">
                          <a:effectLst/>
                        </a:rPr>
                        <a:t>2, 4, 5, 8</a:t>
                      </a:r>
                    </a:p>
                    <a:p>
                      <a:pPr algn="ctr">
                        <a:spcAft>
                          <a:spcPts val="0"/>
                        </a:spcAft>
                      </a:pPr>
                      <a:r>
                        <a:rPr lang="es-PE" sz="2000" b="1" dirty="0">
                          <a:effectLst/>
                        </a:rPr>
                        <a:t>3, 5, 6, 7</a:t>
                      </a:r>
                    </a:p>
                    <a:p>
                      <a:pPr algn="ctr">
                        <a:spcAft>
                          <a:spcPts val="0"/>
                        </a:spcAft>
                      </a:pPr>
                      <a:r>
                        <a:rPr lang="es-PE" sz="2000" b="1" dirty="0">
                          <a:effectLst/>
                        </a:rPr>
                        <a:t>6, 7, 8</a:t>
                      </a:r>
                      <a:endParaRPr lang="es-PE" sz="2000" b="1" dirty="0">
                        <a:effectLst/>
                        <a:latin typeface="Times New Roman"/>
                        <a:ea typeface="Calibri"/>
                      </a:endParaRPr>
                    </a:p>
                  </a:txBody>
                  <a:tcPr marL="44450" marR="44450" marT="0" marB="0"/>
                </a:tc>
                <a:extLst>
                  <a:ext uri="{0D108BD9-81ED-4DB2-BD59-A6C34878D82A}">
                    <a16:rowId xmlns:a16="http://schemas.microsoft.com/office/drawing/2014/main" val="10001"/>
                  </a:ext>
                </a:extLst>
              </a:tr>
            </a:tbl>
          </a:graphicData>
        </a:graphic>
      </p:graphicFrame>
      <p:cxnSp>
        <p:nvCxnSpPr>
          <p:cNvPr id="6" name="5 Conector recto de flecha">
            <a:extLst>
              <a:ext uri="{FF2B5EF4-FFF2-40B4-BE49-F238E27FC236}">
                <a16:creationId xmlns:a16="http://schemas.microsoft.com/office/drawing/2014/main" id="{1F00CA22-D87E-47FE-A330-EAF1A8763CEB}"/>
              </a:ext>
            </a:extLst>
          </p:cNvPr>
          <p:cNvCxnSpPr>
            <a:cxnSpLocks/>
          </p:cNvCxnSpPr>
          <p:nvPr/>
        </p:nvCxnSpPr>
        <p:spPr>
          <a:xfrm flipV="1">
            <a:off x="6760208" y="2519326"/>
            <a:ext cx="0" cy="364412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8 CuadroTexto">
            <a:extLst>
              <a:ext uri="{FF2B5EF4-FFF2-40B4-BE49-F238E27FC236}">
                <a16:creationId xmlns:a16="http://schemas.microsoft.com/office/drawing/2014/main" id="{47B3F2F1-AC7D-4031-A886-E545FB886584}"/>
              </a:ext>
            </a:extLst>
          </p:cNvPr>
          <p:cNvSpPr txBox="1"/>
          <p:nvPr/>
        </p:nvSpPr>
        <p:spPr>
          <a:xfrm>
            <a:off x="8707458" y="6494700"/>
            <a:ext cx="1336560" cy="369332"/>
          </a:xfrm>
          <a:prstGeom prst="rect">
            <a:avLst/>
          </a:prstGeom>
          <a:noFill/>
        </p:spPr>
        <p:txBody>
          <a:bodyPr wrap="square" rtlCol="0">
            <a:spAutoFit/>
          </a:bodyPr>
          <a:lstStyle>
            <a:defPPr>
              <a:defRPr lang="es-PE"/>
            </a:defPPr>
            <a:lvl1pPr>
              <a:defRPr b="1">
                <a:solidFill>
                  <a:srgbClr val="FF0000"/>
                </a:solidFill>
              </a:defRPr>
            </a:lvl1pPr>
          </a:lstStyle>
          <a:p>
            <a:r>
              <a:rPr lang="es-ES" dirty="0"/>
              <a:t>Ubicaciones</a:t>
            </a:r>
          </a:p>
        </p:txBody>
      </p:sp>
      <p:sp>
        <p:nvSpPr>
          <p:cNvPr id="9" name="9 CuadroTexto">
            <a:extLst>
              <a:ext uri="{FF2B5EF4-FFF2-40B4-BE49-F238E27FC236}">
                <a16:creationId xmlns:a16="http://schemas.microsoft.com/office/drawing/2014/main" id="{99466B70-7B5D-49C6-868D-C8B389DE366A}"/>
              </a:ext>
            </a:extLst>
          </p:cNvPr>
          <p:cNvSpPr txBox="1"/>
          <p:nvPr/>
        </p:nvSpPr>
        <p:spPr>
          <a:xfrm>
            <a:off x="6067065" y="2115700"/>
            <a:ext cx="879558" cy="369332"/>
          </a:xfrm>
          <a:prstGeom prst="rect">
            <a:avLst/>
          </a:prstGeom>
          <a:noFill/>
        </p:spPr>
        <p:txBody>
          <a:bodyPr wrap="square" rtlCol="0">
            <a:spAutoFit/>
          </a:bodyPr>
          <a:lstStyle/>
          <a:p>
            <a:r>
              <a:rPr lang="es-ES" b="1" dirty="0">
                <a:solidFill>
                  <a:srgbClr val="FF0000"/>
                </a:solidFill>
              </a:rPr>
              <a:t>ZONAS</a:t>
            </a:r>
          </a:p>
        </p:txBody>
      </p:sp>
      <p:sp>
        <p:nvSpPr>
          <p:cNvPr id="10" name="10 CuadroTexto">
            <a:extLst>
              <a:ext uri="{FF2B5EF4-FFF2-40B4-BE49-F238E27FC236}">
                <a16:creationId xmlns:a16="http://schemas.microsoft.com/office/drawing/2014/main" id="{CF1CD735-CCBE-4E9A-94D5-FAAB7D5D6854}"/>
              </a:ext>
            </a:extLst>
          </p:cNvPr>
          <p:cNvSpPr txBox="1"/>
          <p:nvPr/>
        </p:nvSpPr>
        <p:spPr>
          <a:xfrm>
            <a:off x="6718704" y="6203543"/>
            <a:ext cx="5211609" cy="369332"/>
          </a:xfrm>
          <a:prstGeom prst="rect">
            <a:avLst/>
          </a:prstGeom>
          <a:noFill/>
        </p:spPr>
        <p:txBody>
          <a:bodyPr wrap="square" rtlCol="0">
            <a:spAutoFit/>
          </a:bodyPr>
          <a:lstStyle/>
          <a:p>
            <a:r>
              <a:rPr lang="es-ES" b="1" dirty="0">
                <a:solidFill>
                  <a:srgbClr val="FF0000"/>
                </a:solidFill>
              </a:rPr>
              <a:t>       </a:t>
            </a:r>
            <a:r>
              <a:rPr lang="es-ES" b="1" dirty="0" err="1">
                <a:solidFill>
                  <a:srgbClr val="FF0000"/>
                </a:solidFill>
              </a:rPr>
              <a:t>U1</a:t>
            </a:r>
            <a:r>
              <a:rPr lang="es-ES" b="1" dirty="0">
                <a:solidFill>
                  <a:srgbClr val="FF0000"/>
                </a:solidFill>
              </a:rPr>
              <a:t>               </a:t>
            </a:r>
            <a:r>
              <a:rPr lang="es-ES" b="1" dirty="0" err="1">
                <a:solidFill>
                  <a:srgbClr val="FF0000"/>
                </a:solidFill>
              </a:rPr>
              <a:t>U2</a:t>
            </a:r>
            <a:r>
              <a:rPr lang="es-ES" b="1" dirty="0">
                <a:solidFill>
                  <a:srgbClr val="FF0000"/>
                </a:solidFill>
              </a:rPr>
              <a:t>              </a:t>
            </a:r>
            <a:r>
              <a:rPr lang="es-ES" b="1" dirty="0" err="1">
                <a:solidFill>
                  <a:srgbClr val="FF0000"/>
                </a:solidFill>
              </a:rPr>
              <a:t>U3</a:t>
            </a:r>
            <a:r>
              <a:rPr lang="es-ES" b="1" dirty="0">
                <a:solidFill>
                  <a:srgbClr val="FF0000"/>
                </a:solidFill>
              </a:rPr>
              <a:t>              </a:t>
            </a:r>
            <a:r>
              <a:rPr lang="es-ES" b="1" dirty="0" err="1">
                <a:solidFill>
                  <a:srgbClr val="FF0000"/>
                </a:solidFill>
              </a:rPr>
              <a:t>U4</a:t>
            </a:r>
            <a:r>
              <a:rPr lang="es-ES" b="1" dirty="0">
                <a:solidFill>
                  <a:srgbClr val="FF0000"/>
                </a:solidFill>
              </a:rPr>
              <a:t>              </a:t>
            </a:r>
            <a:r>
              <a:rPr lang="es-ES" b="1" dirty="0" err="1">
                <a:solidFill>
                  <a:srgbClr val="FF0000"/>
                </a:solidFill>
              </a:rPr>
              <a:t>U5</a:t>
            </a:r>
            <a:endParaRPr lang="es-ES" b="1" dirty="0">
              <a:solidFill>
                <a:srgbClr val="FF0000"/>
              </a:solidFill>
            </a:endParaRPr>
          </a:p>
        </p:txBody>
      </p:sp>
      <p:graphicFrame>
        <p:nvGraphicFramePr>
          <p:cNvPr id="11" name="16 Tabla">
            <a:extLst>
              <a:ext uri="{FF2B5EF4-FFF2-40B4-BE49-F238E27FC236}">
                <a16:creationId xmlns:a16="http://schemas.microsoft.com/office/drawing/2014/main" id="{BD6F193C-ABB7-4CC3-A858-F0858DEF81AB}"/>
              </a:ext>
            </a:extLst>
          </p:cNvPr>
          <p:cNvGraphicFramePr>
            <a:graphicFrameLocks noGrp="1"/>
          </p:cNvGraphicFramePr>
          <p:nvPr>
            <p:extLst>
              <p:ext uri="{D42A27DB-BD31-4B8C-83A1-F6EECF244321}">
                <p14:modId xmlns:p14="http://schemas.microsoft.com/office/powerpoint/2010/main" val="1775134323"/>
              </p:ext>
            </p:extLst>
          </p:nvPr>
        </p:nvGraphicFramePr>
        <p:xfrm>
          <a:off x="6786086" y="2708368"/>
          <a:ext cx="5040705" cy="3451080"/>
        </p:xfrm>
        <a:graphic>
          <a:graphicData uri="http://schemas.openxmlformats.org/drawingml/2006/table">
            <a:tbl>
              <a:tblPr firstRow="1" bandRow="1">
                <a:tableStyleId>{5C22544A-7EE6-4342-B048-85BDC9FD1C3A}</a:tableStyleId>
              </a:tblPr>
              <a:tblGrid>
                <a:gridCol w="1008141">
                  <a:extLst>
                    <a:ext uri="{9D8B030D-6E8A-4147-A177-3AD203B41FA5}">
                      <a16:colId xmlns:a16="http://schemas.microsoft.com/office/drawing/2014/main" val="20000"/>
                    </a:ext>
                  </a:extLst>
                </a:gridCol>
                <a:gridCol w="1008141">
                  <a:extLst>
                    <a:ext uri="{9D8B030D-6E8A-4147-A177-3AD203B41FA5}">
                      <a16:colId xmlns:a16="http://schemas.microsoft.com/office/drawing/2014/main" val="20001"/>
                    </a:ext>
                  </a:extLst>
                </a:gridCol>
                <a:gridCol w="1008141">
                  <a:extLst>
                    <a:ext uri="{9D8B030D-6E8A-4147-A177-3AD203B41FA5}">
                      <a16:colId xmlns:a16="http://schemas.microsoft.com/office/drawing/2014/main" val="20002"/>
                    </a:ext>
                  </a:extLst>
                </a:gridCol>
                <a:gridCol w="1008141">
                  <a:extLst>
                    <a:ext uri="{9D8B030D-6E8A-4147-A177-3AD203B41FA5}">
                      <a16:colId xmlns:a16="http://schemas.microsoft.com/office/drawing/2014/main" val="20003"/>
                    </a:ext>
                  </a:extLst>
                </a:gridCol>
                <a:gridCol w="1008141">
                  <a:extLst>
                    <a:ext uri="{9D8B030D-6E8A-4147-A177-3AD203B41FA5}">
                      <a16:colId xmlns:a16="http://schemas.microsoft.com/office/drawing/2014/main" val="20004"/>
                    </a:ext>
                  </a:extLst>
                </a:gridCol>
              </a:tblGrid>
              <a:tr h="855298">
                <a:tc>
                  <a:txBody>
                    <a:bodyPr/>
                    <a:lstStyle/>
                    <a:p>
                      <a:pPr marL="0" algn="l" defTabSz="914400" rtl="0" eaLnBrk="1" latinLnBrk="0" hangingPunct="1"/>
                      <a:endParaRPr lang="es-ES" sz="1800" kern="1200" dirty="0">
                        <a:solidFill>
                          <a:schemeClr val="dk1"/>
                        </a:solidFill>
                        <a:latin typeface="+mn-lt"/>
                        <a:ea typeface="+mn-ea"/>
                        <a:cs typeface="+mn-cs"/>
                      </a:endParaRPr>
                    </a:p>
                  </a:txBody>
                  <a:tcPr>
                    <a:solidFill>
                      <a:schemeClr val="accent1">
                        <a:lumMod val="40000"/>
                        <a:lumOff val="60000"/>
                      </a:schemeClr>
                    </a:solidFill>
                  </a:tcPr>
                </a:tc>
                <a:tc>
                  <a:txBody>
                    <a:bodyPr/>
                    <a:lstStyle/>
                    <a:p>
                      <a:pPr marL="0" algn="l" defTabSz="914400" rtl="0" eaLnBrk="1" latinLnBrk="0" hangingPunct="1"/>
                      <a:endParaRPr lang="es-ES" sz="1800" kern="1200" dirty="0">
                        <a:solidFill>
                          <a:schemeClr val="dk1"/>
                        </a:solidFill>
                        <a:latin typeface="+mn-lt"/>
                        <a:ea typeface="+mn-ea"/>
                        <a:cs typeface="+mn-cs"/>
                      </a:endParaRPr>
                    </a:p>
                  </a:txBody>
                  <a:tcPr>
                    <a:solidFill>
                      <a:schemeClr val="accent1">
                        <a:lumMod val="40000"/>
                        <a:lumOff val="60000"/>
                      </a:schemeClr>
                    </a:solidFill>
                  </a:tcPr>
                </a:tc>
                <a:tc>
                  <a:txBody>
                    <a:bodyPr/>
                    <a:lstStyle/>
                    <a:p>
                      <a:pPr marL="0" algn="l" defTabSz="914400" rtl="0" eaLnBrk="1" latinLnBrk="0" hangingPunct="1"/>
                      <a:endParaRPr lang="es-ES" sz="1800" kern="1200" dirty="0">
                        <a:solidFill>
                          <a:schemeClr val="dk1"/>
                        </a:solidFill>
                        <a:latin typeface="+mn-lt"/>
                        <a:ea typeface="+mn-ea"/>
                        <a:cs typeface="+mn-cs"/>
                      </a:endParaRPr>
                    </a:p>
                  </a:txBody>
                  <a:tcPr>
                    <a:solidFill>
                      <a:schemeClr val="accent1">
                        <a:lumMod val="40000"/>
                        <a:lumOff val="60000"/>
                      </a:schemeClr>
                    </a:solidFill>
                  </a:tcPr>
                </a:tc>
                <a:tc>
                  <a:txBody>
                    <a:bodyPr/>
                    <a:lstStyle/>
                    <a:p>
                      <a:pPr marL="0" algn="l" defTabSz="914400" rtl="0" eaLnBrk="1" latinLnBrk="0" hangingPunct="1"/>
                      <a:endParaRPr lang="es-ES" sz="1800" kern="1200" dirty="0">
                        <a:solidFill>
                          <a:schemeClr val="dk1"/>
                        </a:solidFill>
                        <a:latin typeface="+mn-lt"/>
                        <a:ea typeface="+mn-ea"/>
                        <a:cs typeface="+mn-cs"/>
                      </a:endParaRPr>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extLst>
                  <a:ext uri="{0D108BD9-81ED-4DB2-BD59-A6C34878D82A}">
                    <a16:rowId xmlns:a16="http://schemas.microsoft.com/office/drawing/2014/main" val="10000"/>
                  </a:ext>
                </a:extLst>
              </a:tr>
              <a:tr h="370826">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extLst>
                  <a:ext uri="{0D108BD9-81ED-4DB2-BD59-A6C34878D82A}">
                    <a16:rowId xmlns:a16="http://schemas.microsoft.com/office/drawing/2014/main" val="10001"/>
                  </a:ext>
                </a:extLst>
              </a:tr>
              <a:tr h="370826">
                <a:tc>
                  <a:txBody>
                    <a:bodyPr/>
                    <a:lstStyle/>
                    <a:p>
                      <a:endParaRPr lang="es-ES" dirty="0"/>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extLst>
                  <a:ext uri="{0D108BD9-81ED-4DB2-BD59-A6C34878D82A}">
                    <a16:rowId xmlns:a16="http://schemas.microsoft.com/office/drawing/2014/main" val="10002"/>
                  </a:ext>
                </a:extLst>
              </a:tr>
              <a:tr h="370826">
                <a:tc>
                  <a:txBody>
                    <a:bodyPr/>
                    <a:lstStyle/>
                    <a:p>
                      <a:endParaRPr lang="es-ES" dirty="0"/>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extLst>
                  <a:ext uri="{0D108BD9-81ED-4DB2-BD59-A6C34878D82A}">
                    <a16:rowId xmlns:a16="http://schemas.microsoft.com/office/drawing/2014/main" val="10003"/>
                  </a:ext>
                </a:extLst>
              </a:tr>
              <a:tr h="370826">
                <a:tc>
                  <a:txBody>
                    <a:bodyPr/>
                    <a:lstStyle/>
                    <a:p>
                      <a:endParaRPr lang="es-ES" dirty="0"/>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extLst>
                  <a:ext uri="{0D108BD9-81ED-4DB2-BD59-A6C34878D82A}">
                    <a16:rowId xmlns:a16="http://schemas.microsoft.com/office/drawing/2014/main" val="10004"/>
                  </a:ext>
                </a:extLst>
              </a:tr>
              <a:tr h="370826">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extLst>
                  <a:ext uri="{0D108BD9-81ED-4DB2-BD59-A6C34878D82A}">
                    <a16:rowId xmlns:a16="http://schemas.microsoft.com/office/drawing/2014/main" val="10005"/>
                  </a:ext>
                </a:extLst>
              </a:tr>
              <a:tr h="370826">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extLst>
                  <a:ext uri="{0D108BD9-81ED-4DB2-BD59-A6C34878D82A}">
                    <a16:rowId xmlns:a16="http://schemas.microsoft.com/office/drawing/2014/main" val="10006"/>
                  </a:ext>
                </a:extLst>
              </a:tr>
              <a:tr h="370826">
                <a:tc>
                  <a:txBody>
                    <a:bodyPr/>
                    <a:lstStyle/>
                    <a:p>
                      <a:endParaRPr lang="es-ES" dirty="0"/>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a:p>
                  </a:txBody>
                  <a:tcPr>
                    <a:solidFill>
                      <a:schemeClr val="accent1">
                        <a:lumMod val="40000"/>
                        <a:lumOff val="60000"/>
                      </a:schemeClr>
                    </a:solidFill>
                  </a:tcPr>
                </a:tc>
                <a:tc>
                  <a:txBody>
                    <a:bodyPr/>
                    <a:lstStyle/>
                    <a:p>
                      <a:endParaRPr lang="es-ES" dirty="0"/>
                    </a:p>
                  </a:txBody>
                  <a:tcPr>
                    <a:solidFill>
                      <a:schemeClr val="accent1">
                        <a:lumMod val="40000"/>
                        <a:lumOff val="60000"/>
                      </a:schemeClr>
                    </a:solidFill>
                  </a:tcPr>
                </a:tc>
                <a:extLst>
                  <a:ext uri="{0D108BD9-81ED-4DB2-BD59-A6C34878D82A}">
                    <a16:rowId xmlns:a16="http://schemas.microsoft.com/office/drawing/2014/main" val="10007"/>
                  </a:ext>
                </a:extLst>
              </a:tr>
            </a:tbl>
          </a:graphicData>
        </a:graphic>
      </p:graphicFrame>
      <p:sp>
        <p:nvSpPr>
          <p:cNvPr id="12" name="17 CuadroTexto">
            <a:extLst>
              <a:ext uri="{FF2B5EF4-FFF2-40B4-BE49-F238E27FC236}">
                <a16:creationId xmlns:a16="http://schemas.microsoft.com/office/drawing/2014/main" id="{8924D06F-476C-45A4-9167-A24C44BDD71C}"/>
              </a:ext>
            </a:extLst>
          </p:cNvPr>
          <p:cNvSpPr txBox="1"/>
          <p:nvPr/>
        </p:nvSpPr>
        <p:spPr>
          <a:xfrm>
            <a:off x="6149778" y="2870018"/>
            <a:ext cx="504056" cy="3378104"/>
          </a:xfrm>
          <a:prstGeom prst="rect">
            <a:avLst/>
          </a:prstGeom>
          <a:noFill/>
        </p:spPr>
        <p:txBody>
          <a:bodyPr wrap="square" rtlCol="0">
            <a:spAutoFit/>
          </a:bodyPr>
          <a:lstStyle/>
          <a:p>
            <a:pPr>
              <a:lnSpc>
                <a:spcPct val="150000"/>
              </a:lnSpc>
            </a:pPr>
            <a:r>
              <a:rPr lang="es-ES" sz="1600" b="1" dirty="0" err="1">
                <a:solidFill>
                  <a:srgbClr val="FF0000"/>
                </a:solidFill>
              </a:rPr>
              <a:t>Z8</a:t>
            </a:r>
            <a:endParaRPr lang="es-ES" sz="1600" b="1" dirty="0">
              <a:solidFill>
                <a:srgbClr val="FF0000"/>
              </a:solidFill>
            </a:endParaRPr>
          </a:p>
          <a:p>
            <a:pPr>
              <a:lnSpc>
                <a:spcPct val="150000"/>
              </a:lnSpc>
            </a:pPr>
            <a:r>
              <a:rPr lang="es-ES" sz="1600" b="1" dirty="0" err="1">
                <a:solidFill>
                  <a:srgbClr val="FF0000"/>
                </a:solidFill>
              </a:rPr>
              <a:t>Z7</a:t>
            </a:r>
            <a:endParaRPr lang="es-ES" sz="1600" b="1" dirty="0">
              <a:solidFill>
                <a:srgbClr val="FF0000"/>
              </a:solidFill>
            </a:endParaRPr>
          </a:p>
          <a:p>
            <a:pPr>
              <a:lnSpc>
                <a:spcPct val="150000"/>
              </a:lnSpc>
            </a:pPr>
            <a:r>
              <a:rPr lang="es-ES" sz="1600" b="1" dirty="0" err="1">
                <a:solidFill>
                  <a:srgbClr val="FF0000"/>
                </a:solidFill>
              </a:rPr>
              <a:t>Z6</a:t>
            </a:r>
            <a:endParaRPr lang="es-ES" sz="1600" b="1" dirty="0">
              <a:solidFill>
                <a:srgbClr val="FF0000"/>
              </a:solidFill>
            </a:endParaRPr>
          </a:p>
          <a:p>
            <a:pPr>
              <a:lnSpc>
                <a:spcPct val="150000"/>
              </a:lnSpc>
            </a:pPr>
            <a:r>
              <a:rPr lang="es-ES" sz="1600" b="1" dirty="0" err="1">
                <a:solidFill>
                  <a:srgbClr val="FF0000"/>
                </a:solidFill>
              </a:rPr>
              <a:t>Z5</a:t>
            </a:r>
            <a:endParaRPr lang="es-ES" sz="1600" b="1" dirty="0">
              <a:solidFill>
                <a:srgbClr val="FF0000"/>
              </a:solidFill>
            </a:endParaRPr>
          </a:p>
          <a:p>
            <a:pPr>
              <a:lnSpc>
                <a:spcPct val="150000"/>
              </a:lnSpc>
            </a:pPr>
            <a:r>
              <a:rPr lang="es-ES" sz="1600" b="1" dirty="0" err="1">
                <a:solidFill>
                  <a:srgbClr val="FF0000"/>
                </a:solidFill>
              </a:rPr>
              <a:t>Z4</a:t>
            </a:r>
            <a:endParaRPr lang="es-ES" sz="1600" b="1" dirty="0">
              <a:solidFill>
                <a:srgbClr val="FF0000"/>
              </a:solidFill>
            </a:endParaRPr>
          </a:p>
          <a:p>
            <a:pPr>
              <a:lnSpc>
                <a:spcPct val="150000"/>
              </a:lnSpc>
            </a:pPr>
            <a:r>
              <a:rPr lang="es-ES" sz="1600" b="1" dirty="0" err="1">
                <a:solidFill>
                  <a:srgbClr val="FF0000"/>
                </a:solidFill>
              </a:rPr>
              <a:t>Z3</a:t>
            </a:r>
            <a:endParaRPr lang="es-ES" sz="1600" b="1" dirty="0">
              <a:solidFill>
                <a:srgbClr val="FF0000"/>
              </a:solidFill>
            </a:endParaRPr>
          </a:p>
          <a:p>
            <a:pPr>
              <a:lnSpc>
                <a:spcPct val="150000"/>
              </a:lnSpc>
            </a:pPr>
            <a:r>
              <a:rPr lang="es-ES" sz="1600" b="1" dirty="0" err="1">
                <a:solidFill>
                  <a:srgbClr val="FF0000"/>
                </a:solidFill>
              </a:rPr>
              <a:t>Z2</a:t>
            </a:r>
            <a:endParaRPr lang="es-ES" sz="1600" b="1" dirty="0">
              <a:solidFill>
                <a:srgbClr val="FF0000"/>
              </a:solidFill>
            </a:endParaRPr>
          </a:p>
          <a:p>
            <a:pPr>
              <a:lnSpc>
                <a:spcPct val="150000"/>
              </a:lnSpc>
            </a:pPr>
            <a:r>
              <a:rPr lang="es-ES" sz="1600" b="1" dirty="0" err="1">
                <a:solidFill>
                  <a:srgbClr val="FF0000"/>
                </a:solidFill>
              </a:rPr>
              <a:t>Z1</a:t>
            </a:r>
            <a:endParaRPr lang="es-ES" sz="1600" b="1" dirty="0">
              <a:solidFill>
                <a:srgbClr val="FF0000"/>
              </a:solidFill>
            </a:endParaRPr>
          </a:p>
          <a:p>
            <a:pPr>
              <a:lnSpc>
                <a:spcPct val="150000"/>
              </a:lnSpc>
            </a:pPr>
            <a:endParaRPr lang="es-ES" sz="1600" b="1" dirty="0">
              <a:solidFill>
                <a:srgbClr val="FF0000"/>
              </a:solidFill>
            </a:endParaRPr>
          </a:p>
        </p:txBody>
      </p:sp>
      <p:cxnSp>
        <p:nvCxnSpPr>
          <p:cNvPr id="13" name="19 Conector recto">
            <a:extLst>
              <a:ext uri="{FF2B5EF4-FFF2-40B4-BE49-F238E27FC236}">
                <a16:creationId xmlns:a16="http://schemas.microsoft.com/office/drawing/2014/main" id="{F492004D-03DF-4920-98F9-7E7BDDA7535B}"/>
              </a:ext>
            </a:extLst>
          </p:cNvPr>
          <p:cNvCxnSpPr>
            <a:cxnSpLocks/>
          </p:cNvCxnSpPr>
          <p:nvPr/>
        </p:nvCxnSpPr>
        <p:spPr>
          <a:xfrm>
            <a:off x="6760208" y="5756870"/>
            <a:ext cx="100148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20 Conector recto">
            <a:extLst>
              <a:ext uri="{FF2B5EF4-FFF2-40B4-BE49-F238E27FC236}">
                <a16:creationId xmlns:a16="http://schemas.microsoft.com/office/drawing/2014/main" id="{381F79FF-5FB3-41F3-A336-96B0F54E1CB1}"/>
              </a:ext>
            </a:extLst>
          </p:cNvPr>
          <p:cNvCxnSpPr>
            <a:cxnSpLocks/>
          </p:cNvCxnSpPr>
          <p:nvPr/>
        </p:nvCxnSpPr>
        <p:spPr>
          <a:xfrm>
            <a:off x="6760208" y="5002759"/>
            <a:ext cx="100148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21 Conector recto">
            <a:extLst>
              <a:ext uri="{FF2B5EF4-FFF2-40B4-BE49-F238E27FC236}">
                <a16:creationId xmlns:a16="http://schemas.microsoft.com/office/drawing/2014/main" id="{7DF7FF0B-5344-4B05-9429-7F74EE1CD630}"/>
              </a:ext>
            </a:extLst>
          </p:cNvPr>
          <p:cNvCxnSpPr>
            <a:cxnSpLocks/>
          </p:cNvCxnSpPr>
          <p:nvPr/>
        </p:nvCxnSpPr>
        <p:spPr>
          <a:xfrm>
            <a:off x="6760208" y="5362324"/>
            <a:ext cx="101011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22 Conector recto">
            <a:extLst>
              <a:ext uri="{FF2B5EF4-FFF2-40B4-BE49-F238E27FC236}">
                <a16:creationId xmlns:a16="http://schemas.microsoft.com/office/drawing/2014/main" id="{B66AA1B0-B6DF-476D-AEB2-934E2B5231F0}"/>
              </a:ext>
            </a:extLst>
          </p:cNvPr>
          <p:cNvCxnSpPr>
            <a:cxnSpLocks/>
          </p:cNvCxnSpPr>
          <p:nvPr/>
        </p:nvCxnSpPr>
        <p:spPr>
          <a:xfrm>
            <a:off x="7780999" y="5756870"/>
            <a:ext cx="99708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23 Conector recto">
            <a:extLst>
              <a:ext uri="{FF2B5EF4-FFF2-40B4-BE49-F238E27FC236}">
                <a16:creationId xmlns:a16="http://schemas.microsoft.com/office/drawing/2014/main" id="{D0CC48EF-AA4D-43DE-9B03-BD48B1285139}"/>
              </a:ext>
            </a:extLst>
          </p:cNvPr>
          <p:cNvCxnSpPr>
            <a:cxnSpLocks/>
          </p:cNvCxnSpPr>
          <p:nvPr/>
        </p:nvCxnSpPr>
        <p:spPr>
          <a:xfrm>
            <a:off x="7789625" y="4595431"/>
            <a:ext cx="98007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24 Conector recto">
            <a:extLst>
              <a:ext uri="{FF2B5EF4-FFF2-40B4-BE49-F238E27FC236}">
                <a16:creationId xmlns:a16="http://schemas.microsoft.com/office/drawing/2014/main" id="{F1C9B72F-C466-4808-BCA1-82E798EFC873}"/>
              </a:ext>
            </a:extLst>
          </p:cNvPr>
          <p:cNvCxnSpPr>
            <a:cxnSpLocks/>
          </p:cNvCxnSpPr>
          <p:nvPr/>
        </p:nvCxnSpPr>
        <p:spPr>
          <a:xfrm>
            <a:off x="7781000" y="4218823"/>
            <a:ext cx="96329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25 Conector recto">
            <a:extLst>
              <a:ext uri="{FF2B5EF4-FFF2-40B4-BE49-F238E27FC236}">
                <a16:creationId xmlns:a16="http://schemas.microsoft.com/office/drawing/2014/main" id="{C0E6D263-C110-47C9-B69E-08DF13E38FEF}"/>
              </a:ext>
            </a:extLst>
          </p:cNvPr>
          <p:cNvCxnSpPr>
            <a:cxnSpLocks/>
          </p:cNvCxnSpPr>
          <p:nvPr/>
        </p:nvCxnSpPr>
        <p:spPr>
          <a:xfrm>
            <a:off x="8773038" y="4607126"/>
            <a:ext cx="101497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26 Conector recto">
            <a:extLst>
              <a:ext uri="{FF2B5EF4-FFF2-40B4-BE49-F238E27FC236}">
                <a16:creationId xmlns:a16="http://schemas.microsoft.com/office/drawing/2014/main" id="{4C3B71C8-5FB7-4A46-9937-071EBD709B55}"/>
              </a:ext>
            </a:extLst>
          </p:cNvPr>
          <p:cNvCxnSpPr>
            <a:cxnSpLocks/>
          </p:cNvCxnSpPr>
          <p:nvPr/>
        </p:nvCxnSpPr>
        <p:spPr>
          <a:xfrm>
            <a:off x="8773038" y="5362187"/>
            <a:ext cx="1009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27 Conector recto">
            <a:extLst>
              <a:ext uri="{FF2B5EF4-FFF2-40B4-BE49-F238E27FC236}">
                <a16:creationId xmlns:a16="http://schemas.microsoft.com/office/drawing/2014/main" id="{1F1600C0-C273-4E4A-B7FB-5F76D88C47EB}"/>
              </a:ext>
            </a:extLst>
          </p:cNvPr>
          <p:cNvCxnSpPr>
            <a:cxnSpLocks/>
          </p:cNvCxnSpPr>
          <p:nvPr/>
        </p:nvCxnSpPr>
        <p:spPr>
          <a:xfrm>
            <a:off x="8747159" y="4218823"/>
            <a:ext cx="10056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28 Conector recto">
            <a:extLst>
              <a:ext uri="{FF2B5EF4-FFF2-40B4-BE49-F238E27FC236}">
                <a16:creationId xmlns:a16="http://schemas.microsoft.com/office/drawing/2014/main" id="{86090463-3865-410D-9172-CA0A7140C0C9}"/>
              </a:ext>
            </a:extLst>
          </p:cNvPr>
          <p:cNvCxnSpPr>
            <a:cxnSpLocks/>
          </p:cNvCxnSpPr>
          <p:nvPr/>
        </p:nvCxnSpPr>
        <p:spPr>
          <a:xfrm>
            <a:off x="8764412" y="3138703"/>
            <a:ext cx="102758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29 Conector recto">
            <a:extLst>
              <a:ext uri="{FF2B5EF4-FFF2-40B4-BE49-F238E27FC236}">
                <a16:creationId xmlns:a16="http://schemas.microsoft.com/office/drawing/2014/main" id="{EDB26CC0-C12C-4A4A-88FE-D2C318E5C09F}"/>
              </a:ext>
            </a:extLst>
          </p:cNvPr>
          <p:cNvCxnSpPr>
            <a:cxnSpLocks/>
          </p:cNvCxnSpPr>
          <p:nvPr/>
        </p:nvCxnSpPr>
        <p:spPr>
          <a:xfrm>
            <a:off x="9808207" y="3480756"/>
            <a:ext cx="996167"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30 Conector recto">
            <a:extLst>
              <a:ext uri="{FF2B5EF4-FFF2-40B4-BE49-F238E27FC236}">
                <a16:creationId xmlns:a16="http://schemas.microsoft.com/office/drawing/2014/main" id="{A1E51853-7EF2-4189-B58D-4744039334B1}"/>
              </a:ext>
            </a:extLst>
          </p:cNvPr>
          <p:cNvCxnSpPr>
            <a:cxnSpLocks/>
          </p:cNvCxnSpPr>
          <p:nvPr/>
        </p:nvCxnSpPr>
        <p:spPr>
          <a:xfrm>
            <a:off x="9799580" y="3875798"/>
            <a:ext cx="100408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31 Conector recto">
            <a:extLst>
              <a:ext uri="{FF2B5EF4-FFF2-40B4-BE49-F238E27FC236}">
                <a16:creationId xmlns:a16="http://schemas.microsoft.com/office/drawing/2014/main" id="{18CD19E1-F0E2-4DB2-8CD4-C52FE3C0EF47}"/>
              </a:ext>
            </a:extLst>
          </p:cNvPr>
          <p:cNvCxnSpPr>
            <a:cxnSpLocks/>
          </p:cNvCxnSpPr>
          <p:nvPr/>
        </p:nvCxnSpPr>
        <p:spPr>
          <a:xfrm>
            <a:off x="9790954" y="4218823"/>
            <a:ext cx="101000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32 Conector recto">
            <a:extLst>
              <a:ext uri="{FF2B5EF4-FFF2-40B4-BE49-F238E27FC236}">
                <a16:creationId xmlns:a16="http://schemas.microsoft.com/office/drawing/2014/main" id="{09D7CE1D-8D10-4F26-9102-FE8E9AD3EB5A}"/>
              </a:ext>
            </a:extLst>
          </p:cNvPr>
          <p:cNvCxnSpPr>
            <a:cxnSpLocks/>
          </p:cNvCxnSpPr>
          <p:nvPr/>
        </p:nvCxnSpPr>
        <p:spPr>
          <a:xfrm>
            <a:off x="9799580" y="5005300"/>
            <a:ext cx="1009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33 Conector recto">
            <a:extLst>
              <a:ext uri="{FF2B5EF4-FFF2-40B4-BE49-F238E27FC236}">
                <a16:creationId xmlns:a16="http://schemas.microsoft.com/office/drawing/2014/main" id="{5E8694A8-ED14-44B9-A412-5CDEBF873947}"/>
              </a:ext>
            </a:extLst>
          </p:cNvPr>
          <p:cNvCxnSpPr>
            <a:cxnSpLocks/>
          </p:cNvCxnSpPr>
          <p:nvPr/>
        </p:nvCxnSpPr>
        <p:spPr>
          <a:xfrm>
            <a:off x="10808870" y="3138703"/>
            <a:ext cx="100920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34 Conector recto">
            <a:extLst>
              <a:ext uri="{FF2B5EF4-FFF2-40B4-BE49-F238E27FC236}">
                <a16:creationId xmlns:a16="http://schemas.microsoft.com/office/drawing/2014/main" id="{ABC325A5-A9DB-4EB0-9AFB-491B5B18E16B}"/>
              </a:ext>
            </a:extLst>
          </p:cNvPr>
          <p:cNvCxnSpPr>
            <a:cxnSpLocks/>
          </p:cNvCxnSpPr>
          <p:nvPr/>
        </p:nvCxnSpPr>
        <p:spPr>
          <a:xfrm>
            <a:off x="10808871" y="3472799"/>
            <a:ext cx="991936"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35 Conector recto">
            <a:extLst>
              <a:ext uri="{FF2B5EF4-FFF2-40B4-BE49-F238E27FC236}">
                <a16:creationId xmlns:a16="http://schemas.microsoft.com/office/drawing/2014/main" id="{64F86845-2C57-449C-AD80-DCB61C507285}"/>
              </a:ext>
            </a:extLst>
          </p:cNvPr>
          <p:cNvCxnSpPr>
            <a:cxnSpLocks/>
          </p:cNvCxnSpPr>
          <p:nvPr/>
        </p:nvCxnSpPr>
        <p:spPr>
          <a:xfrm>
            <a:off x="10808871" y="3865405"/>
            <a:ext cx="991936"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4 Conector recto">
            <a:extLst>
              <a:ext uri="{FF2B5EF4-FFF2-40B4-BE49-F238E27FC236}">
                <a16:creationId xmlns:a16="http://schemas.microsoft.com/office/drawing/2014/main" id="{0A274F86-DB41-4502-AFB5-DD5F15A45F90}"/>
              </a:ext>
            </a:extLst>
          </p:cNvPr>
          <p:cNvCxnSpPr>
            <a:cxnSpLocks/>
          </p:cNvCxnSpPr>
          <p:nvPr/>
        </p:nvCxnSpPr>
        <p:spPr>
          <a:xfrm flipV="1">
            <a:off x="7787223" y="2380891"/>
            <a:ext cx="0" cy="376973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36 Conector recto">
            <a:extLst>
              <a:ext uri="{FF2B5EF4-FFF2-40B4-BE49-F238E27FC236}">
                <a16:creationId xmlns:a16="http://schemas.microsoft.com/office/drawing/2014/main" id="{FF72E64D-EE72-4BA5-9D00-AF8E93F76EF9}"/>
              </a:ext>
            </a:extLst>
          </p:cNvPr>
          <p:cNvCxnSpPr>
            <a:cxnSpLocks/>
          </p:cNvCxnSpPr>
          <p:nvPr/>
        </p:nvCxnSpPr>
        <p:spPr>
          <a:xfrm flipV="1">
            <a:off x="11796814" y="2409049"/>
            <a:ext cx="4012" cy="375214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37 Conector recto">
            <a:extLst>
              <a:ext uri="{FF2B5EF4-FFF2-40B4-BE49-F238E27FC236}">
                <a16:creationId xmlns:a16="http://schemas.microsoft.com/office/drawing/2014/main" id="{C746BE1D-26CC-457C-B682-EEFE817D244A}"/>
              </a:ext>
            </a:extLst>
          </p:cNvPr>
          <p:cNvCxnSpPr>
            <a:cxnSpLocks/>
          </p:cNvCxnSpPr>
          <p:nvPr/>
        </p:nvCxnSpPr>
        <p:spPr>
          <a:xfrm flipH="1" flipV="1">
            <a:off x="8786692" y="2417675"/>
            <a:ext cx="10928" cy="375171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38 Conector recto">
            <a:extLst>
              <a:ext uri="{FF2B5EF4-FFF2-40B4-BE49-F238E27FC236}">
                <a16:creationId xmlns:a16="http://schemas.microsoft.com/office/drawing/2014/main" id="{29FFEFA6-D3F8-4DE8-A33B-8EC6DBFE7D16}"/>
              </a:ext>
            </a:extLst>
          </p:cNvPr>
          <p:cNvCxnSpPr>
            <a:cxnSpLocks/>
          </p:cNvCxnSpPr>
          <p:nvPr/>
        </p:nvCxnSpPr>
        <p:spPr>
          <a:xfrm flipH="1" flipV="1">
            <a:off x="9811511" y="2415396"/>
            <a:ext cx="1" cy="374764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39 Conector recto">
            <a:extLst>
              <a:ext uri="{FF2B5EF4-FFF2-40B4-BE49-F238E27FC236}">
                <a16:creationId xmlns:a16="http://schemas.microsoft.com/office/drawing/2014/main" id="{165E7189-C3AF-4EFA-BB94-6E0D11CC3044}"/>
              </a:ext>
            </a:extLst>
          </p:cNvPr>
          <p:cNvCxnSpPr>
            <a:cxnSpLocks/>
          </p:cNvCxnSpPr>
          <p:nvPr/>
        </p:nvCxnSpPr>
        <p:spPr>
          <a:xfrm flipV="1">
            <a:off x="10818207" y="2417675"/>
            <a:ext cx="0" cy="375214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7 Conector recto de flecha">
            <a:extLst>
              <a:ext uri="{FF2B5EF4-FFF2-40B4-BE49-F238E27FC236}">
                <a16:creationId xmlns:a16="http://schemas.microsoft.com/office/drawing/2014/main" id="{819D9A67-2C9E-4097-9CC6-DD354067980C}"/>
              </a:ext>
            </a:extLst>
          </p:cNvPr>
          <p:cNvCxnSpPr>
            <a:cxnSpLocks/>
          </p:cNvCxnSpPr>
          <p:nvPr/>
        </p:nvCxnSpPr>
        <p:spPr>
          <a:xfrm>
            <a:off x="6760208" y="6163039"/>
            <a:ext cx="5325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38DDA6A8-58CC-5E69-8BB4-3F15A9DCD62F}"/>
              </a:ext>
            </a:extLst>
          </p:cNvPr>
          <p:cNvSpPr txBox="1"/>
          <p:nvPr/>
        </p:nvSpPr>
        <p:spPr>
          <a:xfrm>
            <a:off x="110741" y="1178111"/>
            <a:ext cx="5875408" cy="3785652"/>
          </a:xfrm>
          <a:prstGeom prst="rect">
            <a:avLst/>
          </a:prstGeom>
          <a:noFill/>
        </p:spPr>
        <p:txBody>
          <a:bodyPr wrap="square">
            <a:spAutoFit/>
          </a:bodyPr>
          <a:lstStyle/>
          <a:p>
            <a:pPr lvl="0" algn="just" rtl="0"/>
            <a:r>
              <a:rPr lang="es-PE" sz="2400" b="1" dirty="0">
                <a:latin typeface="Arial Narrow" pitchFamily="34" charset="0"/>
              </a:rPr>
              <a:t>Scotiabank desea determinar cuántos cajeros se requieren para dar servicio a la población de Arequipa. La ciudad ha sido dividida en ocho zonas. Se han identificado cinco ubicaciones posibles para los cajeros. Cada ubicación puede dar servicio a un número diferente de zonas, como se indica en la siguiente tabla. Formule un modelo para determinar el menor número de cajeros y sus ubicaciones necesarias para dar servicio a las ocho zonas. </a:t>
            </a:r>
            <a:endParaRPr lang="es-ES" sz="2400" b="1" dirty="0">
              <a:latin typeface="Arial Narrow" pitchFamily="34" charset="0"/>
            </a:endParaRPr>
          </a:p>
        </p:txBody>
      </p:sp>
    </p:spTree>
    <p:extLst>
      <p:ext uri="{BB962C8B-B14F-4D97-AF65-F5344CB8AC3E}">
        <p14:creationId xmlns:p14="http://schemas.microsoft.com/office/powerpoint/2010/main" val="314897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096000" y="254252"/>
            <a:ext cx="6096000" cy="635571"/>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PE" sz="3200" dirty="0">
                <a:solidFill>
                  <a:schemeClr val="bg1"/>
                </a:solidFill>
                <a:latin typeface="Bauhaus 93" pitchFamily="82" charset="0"/>
                <a:ea typeface="+mn-ea"/>
                <a:cs typeface="+mn-cs"/>
              </a:rPr>
              <a:t>Modelo Matemático</a:t>
            </a:r>
          </a:p>
        </p:txBody>
      </p:sp>
      <p:sp>
        <p:nvSpPr>
          <p:cNvPr id="5" name="Rectangle 1"/>
          <p:cNvSpPr>
            <a:spLocks noChangeArrowheads="1"/>
          </p:cNvSpPr>
          <p:nvPr/>
        </p:nvSpPr>
        <p:spPr bwMode="auto">
          <a:xfrm>
            <a:off x="624" y="1192260"/>
            <a:ext cx="518683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     Identificación de variables</a:t>
            </a:r>
            <a:endParaRPr lang="es-PE" sz="2400"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PE" sz="2400" dirty="0">
                <a:latin typeface="Arial Narrow" pitchFamily="34" charset="0"/>
                <a:ea typeface="Calibri" pitchFamily="34" charset="0"/>
                <a:cs typeface="Arial" panose="020B0604020202020204" pitchFamily="34" charset="0"/>
              </a:rPr>
              <a:t> </a:t>
            </a:r>
            <a:r>
              <a:rPr lang="es-PE" sz="2400" dirty="0" err="1">
                <a:latin typeface="Arial Narrow" pitchFamily="34" charset="0"/>
                <a:ea typeface="Calibri" pitchFamily="34" charset="0"/>
                <a:cs typeface="Arial" panose="020B0604020202020204" pitchFamily="34" charset="0"/>
              </a:rPr>
              <a:t>Ui</a:t>
            </a:r>
            <a:r>
              <a:rPr lang="es-PE" sz="2400" dirty="0">
                <a:latin typeface="Arial Narrow" pitchFamily="34" charset="0"/>
                <a:ea typeface="Calibri" pitchFamily="34" charset="0"/>
                <a:cs typeface="Arial" panose="020B0604020202020204" pitchFamily="34" charset="0"/>
              </a:rPr>
              <a:t> =Ubicación en el punto i (i=1,2,3,4,5)</a:t>
            </a:r>
          </a:p>
          <a:p>
            <a:pPr indent="449263" algn="just" eaLnBrk="0" fontAlgn="base" hangingPunct="0">
              <a:spcBef>
                <a:spcPct val="0"/>
              </a:spcBef>
              <a:spcAft>
                <a:spcPct val="0"/>
              </a:spcAft>
            </a:pPr>
            <a:r>
              <a:rPr lang="es-PE" sz="2400" dirty="0">
                <a:latin typeface="Arial Narrow" pitchFamily="34" charset="0"/>
                <a:ea typeface="Calibri" pitchFamily="34" charset="0"/>
                <a:cs typeface="Arial" panose="020B0604020202020204" pitchFamily="34" charset="0"/>
              </a:rPr>
              <a:t> </a:t>
            </a:r>
            <a:r>
              <a:rPr lang="es-PE" sz="2400" dirty="0" err="1">
                <a:latin typeface="Arial Narrow" pitchFamily="34" charset="0"/>
                <a:ea typeface="Calibri" pitchFamily="34" charset="0"/>
                <a:cs typeface="Arial" panose="020B0604020202020204" pitchFamily="34" charset="0"/>
              </a:rPr>
              <a:t>Ui</a:t>
            </a:r>
            <a:r>
              <a:rPr lang="es-PE" sz="2400" dirty="0">
                <a:latin typeface="Arial Narrow" pitchFamily="34" charset="0"/>
                <a:ea typeface="Calibri" pitchFamily="34" charset="0"/>
                <a:cs typeface="Arial" panose="020B0604020202020204" pitchFamily="34" charset="0"/>
              </a:rPr>
              <a:t> =  1 Se instala en el punto i</a:t>
            </a:r>
          </a:p>
          <a:p>
            <a:pPr indent="449263" algn="just" eaLnBrk="0" fontAlgn="base" hangingPunct="0">
              <a:spcBef>
                <a:spcPct val="0"/>
              </a:spcBef>
              <a:spcAft>
                <a:spcPct val="0"/>
              </a:spcAft>
            </a:pPr>
            <a:r>
              <a:rPr lang="es-PE" sz="2400" dirty="0">
                <a:latin typeface="Arial Narrow" pitchFamily="34" charset="0"/>
                <a:cs typeface="Arial" pitchFamily="34" charset="0"/>
              </a:rPr>
              <a:t>         0 No s</a:t>
            </a:r>
            <a:r>
              <a:rPr lang="es-PE" sz="2400" dirty="0">
                <a:latin typeface="Arial Narrow" pitchFamily="34" charset="0"/>
                <a:ea typeface="Calibri" pitchFamily="34" charset="0"/>
                <a:cs typeface="Arial" panose="020B0604020202020204" pitchFamily="34" charset="0"/>
              </a:rPr>
              <a:t>e instala en el punto i</a:t>
            </a:r>
          </a:p>
          <a:p>
            <a:pPr algn="just" eaLnBrk="0" fontAlgn="base" hangingPunct="0">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400"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PE" sz="2400" dirty="0">
                <a:latin typeface="Arial Narrow" pitchFamily="34" charset="0"/>
                <a:ea typeface="Calibri" pitchFamily="34" charset="0"/>
                <a:cs typeface="Arial" panose="020B0604020202020204" pitchFamily="34" charset="0"/>
              </a:rPr>
              <a:t> MIN </a:t>
            </a:r>
            <a:r>
              <a:rPr lang="es-PE" sz="2400" dirty="0" err="1">
                <a:latin typeface="Arial Narrow" pitchFamily="34" charset="0"/>
                <a:ea typeface="Calibri" pitchFamily="34" charset="0"/>
                <a:cs typeface="Arial" panose="020B0604020202020204" pitchFamily="34" charset="0"/>
              </a:rPr>
              <a:t>U1</a:t>
            </a:r>
            <a:r>
              <a:rPr lang="es-PE" sz="2400" dirty="0">
                <a:latin typeface="Arial Narrow" pitchFamily="34" charset="0"/>
                <a:ea typeface="Calibri" pitchFamily="34" charset="0"/>
                <a:cs typeface="Arial" panose="020B0604020202020204" pitchFamily="34" charset="0"/>
              </a:rPr>
              <a:t> + U2 + U3 + U4 + U5</a:t>
            </a:r>
            <a:endParaRPr lang="es-PE" sz="2400" dirty="0">
              <a:latin typeface="Arial Narrow" pitchFamily="34" charset="0"/>
              <a:cs typeface="Arial" pitchFamily="34" charset="0"/>
            </a:endParaRPr>
          </a:p>
          <a:p>
            <a:pPr marL="571500" indent="-571500" algn="just" eaLnBrk="0" fontAlgn="base" hangingPunct="0">
              <a:spcBef>
                <a:spcPct val="0"/>
              </a:spcBef>
              <a:spcAft>
                <a:spcPct val="0"/>
              </a:spcAft>
              <a:buFontTx/>
              <a:buAutoNum type="romanUcPeriod" startAt="3"/>
            </a:pPr>
            <a:r>
              <a:rPr lang="es-PE" sz="2400" dirty="0">
                <a:solidFill>
                  <a:srgbClr val="FF0000"/>
                </a:solidFill>
                <a:latin typeface="Arial Narrow" pitchFamily="34" charset="0"/>
                <a:ea typeface="Calibri" pitchFamily="34" charset="0"/>
                <a:cs typeface="Arial" panose="020B0604020202020204" pitchFamily="34" charset="0"/>
              </a:rPr>
              <a:t>Identificación de las restricciones</a:t>
            </a:r>
          </a:p>
          <a:p>
            <a:pPr algn="just"/>
            <a:r>
              <a:rPr lang="es-ES" sz="2400" dirty="0">
                <a:latin typeface="Arial Narrow" pitchFamily="34" charset="0"/>
              </a:rPr>
              <a:t>	U1 + U2 	≥ 1</a:t>
            </a:r>
            <a:endParaRPr lang="es-PE" sz="2400" dirty="0">
              <a:latin typeface="Arial Narrow" pitchFamily="34" charset="0"/>
            </a:endParaRPr>
          </a:p>
          <a:p>
            <a:pPr algn="just"/>
            <a:r>
              <a:rPr lang="es-ES" sz="2400" dirty="0">
                <a:latin typeface="Arial Narrow" pitchFamily="34" charset="0"/>
              </a:rPr>
              <a:t>	U1 + U3 	≥ 1 </a:t>
            </a:r>
            <a:endParaRPr lang="es-PE" sz="2400" dirty="0">
              <a:latin typeface="Arial Narrow" pitchFamily="34" charset="0"/>
            </a:endParaRPr>
          </a:p>
          <a:p>
            <a:pPr algn="just"/>
            <a:r>
              <a:rPr lang="es-ES" sz="2400" dirty="0">
                <a:latin typeface="Arial Narrow" pitchFamily="34" charset="0"/>
              </a:rPr>
              <a:t>	U1 + U4 	≥ 1 </a:t>
            </a:r>
            <a:endParaRPr lang="es-PE" sz="2400" dirty="0">
              <a:latin typeface="Arial Narrow" pitchFamily="34" charset="0"/>
            </a:endParaRPr>
          </a:p>
          <a:p>
            <a:pPr algn="just"/>
            <a:r>
              <a:rPr lang="es-ES" sz="2400" dirty="0">
                <a:latin typeface="Arial Narrow" pitchFamily="34" charset="0"/>
              </a:rPr>
              <a:t>	U2 + U3 	≥ 1</a:t>
            </a:r>
          </a:p>
          <a:p>
            <a:pPr marL="449580" indent="449580" algn="just"/>
            <a:r>
              <a:rPr lang="es-ES" sz="2400" dirty="0">
                <a:latin typeface="Arial Narrow" pitchFamily="34" charset="0"/>
              </a:rPr>
              <a:t>U2 + U3 + </a:t>
            </a:r>
            <a:r>
              <a:rPr lang="es-ES" sz="2400" dirty="0" err="1">
                <a:latin typeface="Arial Narrow" pitchFamily="34" charset="0"/>
              </a:rPr>
              <a:t>U4</a:t>
            </a:r>
            <a:r>
              <a:rPr lang="es-ES" sz="2400" dirty="0">
                <a:latin typeface="Arial Narrow" pitchFamily="34" charset="0"/>
              </a:rPr>
              <a:t>    ≥ 1 </a:t>
            </a:r>
            <a:endParaRPr lang="es-PE" sz="2400" dirty="0">
              <a:latin typeface="Arial Narrow" pitchFamily="34" charset="0"/>
            </a:endParaRPr>
          </a:p>
          <a:p>
            <a:pPr marL="449580" indent="449580" algn="just"/>
            <a:r>
              <a:rPr lang="es-ES" sz="2400" dirty="0">
                <a:latin typeface="Arial Narrow" pitchFamily="34" charset="0"/>
              </a:rPr>
              <a:t>U4 + U5 	≥ 1</a:t>
            </a:r>
            <a:endParaRPr lang="es-PE" sz="2400" dirty="0">
              <a:latin typeface="Arial Narrow" pitchFamily="34" charset="0"/>
            </a:endParaRPr>
          </a:p>
          <a:p>
            <a:pPr marL="449580" indent="449580" algn="just"/>
            <a:r>
              <a:rPr lang="es-ES" sz="2400" dirty="0">
                <a:latin typeface="Arial Narrow" pitchFamily="34" charset="0"/>
              </a:rPr>
              <a:t>U3 + U5 	≥ 1</a:t>
            </a:r>
          </a:p>
          <a:p>
            <a:pPr marL="449580" indent="449580" algn="just"/>
            <a:r>
              <a:rPr lang="es-ES" sz="2400" dirty="0">
                <a:latin typeface="Arial Narrow" pitchFamily="34" charset="0"/>
              </a:rPr>
              <a:t>		</a:t>
            </a:r>
            <a:r>
              <a:rPr lang="es-ES" sz="2400" dirty="0" err="1">
                <a:latin typeface="Arial Narrow" pitchFamily="34" charset="0"/>
              </a:rPr>
              <a:t>Ui</a:t>
            </a:r>
            <a:r>
              <a:rPr lang="es-ES" sz="2400" dirty="0">
                <a:latin typeface="Arial Narrow" pitchFamily="34" charset="0"/>
              </a:rPr>
              <a:t>	≥ 0,  </a:t>
            </a:r>
            <a:r>
              <a:rPr lang="es-ES" sz="2400" b="1" dirty="0">
                <a:solidFill>
                  <a:srgbClr val="FF0000"/>
                </a:solidFill>
                <a:latin typeface="Arial Narrow" pitchFamily="34" charset="0"/>
              </a:rPr>
              <a:t>binario</a:t>
            </a:r>
            <a:endParaRPr lang="es-PE" sz="2400" b="1" dirty="0">
              <a:solidFill>
                <a:srgbClr val="FF0000"/>
              </a:solidFill>
              <a:latin typeface="Arial Narrow" pitchFamily="34" charset="0"/>
              <a:cs typeface="Arial" pitchFamily="34" charset="0"/>
            </a:endParaRPr>
          </a:p>
        </p:txBody>
      </p:sp>
      <p:sp>
        <p:nvSpPr>
          <p:cNvPr id="4" name="Rectangle 1">
            <a:extLst>
              <a:ext uri="{FF2B5EF4-FFF2-40B4-BE49-F238E27FC236}">
                <a16:creationId xmlns:a16="http://schemas.microsoft.com/office/drawing/2014/main" id="{B27618E7-6BB2-450E-B642-3F9458635055}"/>
              </a:ext>
            </a:extLst>
          </p:cNvPr>
          <p:cNvSpPr>
            <a:spLocks noChangeArrowheads="1"/>
          </p:cNvSpPr>
          <p:nvPr/>
        </p:nvSpPr>
        <p:spPr bwMode="auto">
          <a:xfrm>
            <a:off x="6096000" y="1454388"/>
            <a:ext cx="3376953" cy="4708981"/>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s-PE" sz="2000" dirty="0">
                <a:latin typeface="Arial Narrow" panose="020B0606020202030204" pitchFamily="34" charset="0"/>
                <a:ea typeface="Calibri" pitchFamily="34" charset="0"/>
                <a:cs typeface="Times New Roman" pitchFamily="18" charset="0"/>
              </a:rPr>
              <a:t>MIN	U1 + U2 + U3 + U4 + U5</a:t>
            </a:r>
            <a:endParaRPr lang="es-PE" sz="2000" dirty="0">
              <a:latin typeface="Arial Narrow" panose="020B0606020202030204" pitchFamily="34" charset="0"/>
              <a:cs typeface="Arial" pitchFamily="34" charset="0"/>
            </a:endParaRPr>
          </a:p>
          <a:p>
            <a:pPr algn="just" eaLnBrk="0" fontAlgn="base" hangingPunct="0">
              <a:spcBef>
                <a:spcPct val="0"/>
              </a:spcBef>
              <a:spcAft>
                <a:spcPct val="0"/>
              </a:spcAft>
            </a:pPr>
            <a:r>
              <a:rPr lang="es-PE" sz="2000" dirty="0" err="1">
                <a:solidFill>
                  <a:srgbClr val="FF0000"/>
                </a:solidFill>
                <a:latin typeface="Arial Narrow" panose="020B0606020202030204" pitchFamily="34" charset="0"/>
                <a:cs typeface="Times New Roman" pitchFamily="18" charset="0"/>
              </a:rPr>
              <a:t>SUBJECT</a:t>
            </a:r>
            <a:r>
              <a:rPr lang="es-PE" sz="2000" dirty="0">
                <a:solidFill>
                  <a:srgbClr val="FF0000"/>
                </a:solidFill>
                <a:latin typeface="Arial Narrow" panose="020B0606020202030204" pitchFamily="34" charset="0"/>
                <a:cs typeface="Times New Roman" pitchFamily="18" charset="0"/>
              </a:rPr>
              <a:t> TO</a:t>
            </a:r>
          </a:p>
          <a:p>
            <a:pPr algn="just" eaLnBrk="0" fontAlgn="base" hangingPunct="0">
              <a:spcBef>
                <a:spcPct val="0"/>
              </a:spcBef>
              <a:spcAft>
                <a:spcPct val="0"/>
              </a:spcAft>
            </a:pPr>
            <a:r>
              <a:rPr lang="es-ES" sz="2000" dirty="0">
                <a:latin typeface="Arial Narrow" panose="020B0606020202030204" pitchFamily="34" charset="0"/>
              </a:rPr>
              <a:t>	U1 + U2 &gt;= 1</a:t>
            </a:r>
            <a:endParaRPr lang="es-PE" sz="2000" dirty="0">
              <a:latin typeface="Arial Narrow" panose="020B0606020202030204" pitchFamily="34" charset="0"/>
            </a:endParaRPr>
          </a:p>
          <a:p>
            <a:pPr algn="just"/>
            <a:r>
              <a:rPr lang="es-ES" sz="2000" dirty="0">
                <a:latin typeface="Arial Narrow" panose="020B0606020202030204" pitchFamily="34" charset="0"/>
              </a:rPr>
              <a:t>	U1 + U3 &gt;= 1 </a:t>
            </a:r>
            <a:endParaRPr lang="es-PE" sz="2000" dirty="0">
              <a:latin typeface="Arial Narrow" panose="020B0606020202030204" pitchFamily="34" charset="0"/>
            </a:endParaRPr>
          </a:p>
          <a:p>
            <a:pPr algn="just"/>
            <a:r>
              <a:rPr lang="es-ES" sz="2000" dirty="0">
                <a:latin typeface="Arial Narrow" panose="020B0606020202030204" pitchFamily="34" charset="0"/>
              </a:rPr>
              <a:t>	U1 + U4 &gt;= 1 </a:t>
            </a:r>
            <a:endParaRPr lang="es-PE" sz="2000" dirty="0">
              <a:latin typeface="Arial Narrow" panose="020B0606020202030204" pitchFamily="34" charset="0"/>
            </a:endParaRPr>
          </a:p>
          <a:p>
            <a:pPr algn="just"/>
            <a:r>
              <a:rPr lang="es-ES" sz="2000" dirty="0">
                <a:latin typeface="Arial Narrow" panose="020B0606020202030204" pitchFamily="34" charset="0"/>
              </a:rPr>
              <a:t>	U2 + U3 &gt;= 1</a:t>
            </a:r>
          </a:p>
          <a:p>
            <a:pPr algn="just"/>
            <a:r>
              <a:rPr lang="es-ES" sz="2000" dirty="0">
                <a:latin typeface="Arial Narrow" panose="020B0606020202030204" pitchFamily="34" charset="0"/>
              </a:rPr>
              <a:t>    </a:t>
            </a:r>
            <a:r>
              <a:rPr lang="es-ES" sz="2000" dirty="0" err="1">
                <a:latin typeface="Arial Narrow" panose="020B0606020202030204" pitchFamily="34" charset="0"/>
              </a:rPr>
              <a:t>U2</a:t>
            </a:r>
            <a:r>
              <a:rPr lang="es-ES" sz="2000" dirty="0">
                <a:latin typeface="Arial Narrow" panose="020B0606020202030204" pitchFamily="34" charset="0"/>
              </a:rPr>
              <a:t> + U3 + </a:t>
            </a:r>
            <a:r>
              <a:rPr lang="es-ES" sz="2000" dirty="0" err="1">
                <a:latin typeface="Arial Narrow" panose="020B0606020202030204" pitchFamily="34" charset="0"/>
              </a:rPr>
              <a:t>U4</a:t>
            </a:r>
            <a:r>
              <a:rPr lang="es-ES" sz="2000" dirty="0">
                <a:latin typeface="Arial Narrow" panose="020B0606020202030204" pitchFamily="34" charset="0"/>
              </a:rPr>
              <a:t>    &gt;= 1 </a:t>
            </a:r>
            <a:endParaRPr lang="es-PE" sz="2000" dirty="0">
              <a:latin typeface="Arial Narrow" panose="020B0606020202030204" pitchFamily="34" charset="0"/>
            </a:endParaRPr>
          </a:p>
          <a:p>
            <a:pPr algn="just"/>
            <a:r>
              <a:rPr lang="es-ES" sz="2000" dirty="0">
                <a:latin typeface="Arial Narrow" panose="020B0606020202030204" pitchFamily="34" charset="0"/>
              </a:rPr>
              <a:t>	U4 + U5 &gt;= 1</a:t>
            </a:r>
            <a:endParaRPr lang="es-PE" sz="2000" dirty="0">
              <a:latin typeface="Arial Narrow" panose="020B0606020202030204" pitchFamily="34" charset="0"/>
            </a:endParaRPr>
          </a:p>
          <a:p>
            <a:pPr algn="just"/>
            <a:r>
              <a:rPr lang="es-ES" sz="2000" dirty="0">
                <a:latin typeface="Arial Narrow" panose="020B0606020202030204" pitchFamily="34" charset="0"/>
              </a:rPr>
              <a:t>	U3 + U5 &gt;= 1</a:t>
            </a:r>
          </a:p>
          <a:p>
            <a:pPr algn="just"/>
            <a:r>
              <a:rPr lang="es-ES" sz="2000" dirty="0">
                <a:solidFill>
                  <a:srgbClr val="FF0000"/>
                </a:solidFill>
                <a:latin typeface="Arial Narrow" panose="020B0606020202030204" pitchFamily="34" charset="0"/>
                <a:cs typeface="Arial" pitchFamily="34" charset="0"/>
              </a:rPr>
              <a:t>END</a:t>
            </a:r>
          </a:p>
          <a:p>
            <a:pPr algn="just"/>
            <a:r>
              <a:rPr lang="es-ES" sz="2000" dirty="0">
                <a:latin typeface="Arial Narrow" panose="020B0606020202030204" pitchFamily="34" charset="0"/>
                <a:cs typeface="Arial" pitchFamily="34" charset="0"/>
              </a:rPr>
              <a:t>INT U1</a:t>
            </a:r>
          </a:p>
          <a:p>
            <a:pPr algn="just"/>
            <a:r>
              <a:rPr lang="es-ES" sz="2000" dirty="0">
                <a:latin typeface="Arial Narrow" panose="020B0606020202030204" pitchFamily="34" charset="0"/>
                <a:cs typeface="Arial" pitchFamily="34" charset="0"/>
              </a:rPr>
              <a:t>INT U2</a:t>
            </a:r>
          </a:p>
          <a:p>
            <a:pPr algn="just"/>
            <a:r>
              <a:rPr lang="es-ES" sz="2000" dirty="0">
                <a:latin typeface="Arial Narrow" panose="020B0606020202030204" pitchFamily="34" charset="0"/>
                <a:cs typeface="Arial" pitchFamily="34" charset="0"/>
              </a:rPr>
              <a:t>INT U3</a:t>
            </a:r>
          </a:p>
          <a:p>
            <a:pPr algn="just"/>
            <a:r>
              <a:rPr lang="es-ES" sz="2000" dirty="0">
                <a:latin typeface="Arial Narrow" panose="020B0606020202030204" pitchFamily="34" charset="0"/>
                <a:cs typeface="Arial" pitchFamily="34" charset="0"/>
              </a:rPr>
              <a:t>INT U4</a:t>
            </a:r>
          </a:p>
          <a:p>
            <a:pPr algn="just"/>
            <a:r>
              <a:rPr lang="es-ES" sz="2000" dirty="0">
                <a:latin typeface="Arial Narrow" panose="020B0606020202030204" pitchFamily="34" charset="0"/>
                <a:cs typeface="Arial" pitchFamily="34" charset="0"/>
              </a:rPr>
              <a:t>INT U5</a:t>
            </a:r>
            <a:endParaRPr lang="es-PE" sz="2000" dirty="0">
              <a:latin typeface="Arial Narrow" panose="020B0606020202030204" pitchFamily="34" charset="0"/>
              <a:cs typeface="Arial" pitchFamily="34" charset="0"/>
            </a:endParaRPr>
          </a:p>
        </p:txBody>
      </p:sp>
      <p:sp>
        <p:nvSpPr>
          <p:cNvPr id="3" name="Rectángulo 2">
            <a:extLst>
              <a:ext uri="{FF2B5EF4-FFF2-40B4-BE49-F238E27FC236}">
                <a16:creationId xmlns:a16="http://schemas.microsoft.com/office/drawing/2014/main" id="{3124A2E5-B824-4D5A-8DDD-EDEBCC9327DE}"/>
              </a:ext>
            </a:extLst>
          </p:cNvPr>
          <p:cNvSpPr/>
          <p:nvPr/>
        </p:nvSpPr>
        <p:spPr>
          <a:xfrm>
            <a:off x="8515579" y="3608824"/>
            <a:ext cx="3675797" cy="2554545"/>
          </a:xfrm>
          <a:prstGeom prst="rect">
            <a:avLst/>
          </a:prstGeom>
          <a:solidFill>
            <a:schemeClr val="accent5">
              <a:lumMod val="40000"/>
              <a:lumOff val="60000"/>
            </a:schemeClr>
          </a:solidFill>
        </p:spPr>
        <p:txBody>
          <a:bodyPr wrap="square">
            <a:spAutoFit/>
          </a:bodyPr>
          <a:lstStyle/>
          <a:p>
            <a:r>
              <a:rPr lang="en-US" sz="2000" b="1" dirty="0">
                <a:latin typeface="Arial Narrow" pitchFamily="34" charset="0"/>
              </a:rPr>
              <a:t>OBJECTIVE FUNCTION VALUE</a:t>
            </a:r>
          </a:p>
          <a:p>
            <a:r>
              <a:rPr lang="en-US" sz="2000" b="1" dirty="0">
                <a:latin typeface="Arial Narrow" pitchFamily="34" charset="0"/>
              </a:rPr>
              <a:t>        1)      3.000000</a:t>
            </a:r>
          </a:p>
          <a:p>
            <a:r>
              <a:rPr lang="en-US" sz="2000" b="1" dirty="0">
                <a:latin typeface="Arial Narrow" pitchFamily="34" charset="0"/>
              </a:rPr>
              <a:t>Variable        Value     Reduced cost</a:t>
            </a:r>
          </a:p>
          <a:p>
            <a:r>
              <a:rPr lang="en-US" sz="2000" b="1" dirty="0">
                <a:latin typeface="Arial Narrow" pitchFamily="34" charset="0"/>
              </a:rPr>
              <a:t>        </a:t>
            </a:r>
            <a:r>
              <a:rPr lang="en-US" sz="2000" b="1" dirty="0" err="1">
                <a:latin typeface="Arial Narrow" pitchFamily="34" charset="0"/>
              </a:rPr>
              <a:t>U1</a:t>
            </a:r>
            <a:r>
              <a:rPr lang="en-US" sz="2000" b="1" dirty="0">
                <a:latin typeface="Arial Narrow" pitchFamily="34" charset="0"/>
              </a:rPr>
              <a:t>         1.000000      1.000000</a:t>
            </a:r>
          </a:p>
          <a:p>
            <a:r>
              <a:rPr lang="en-US" sz="2000" b="1" dirty="0">
                <a:latin typeface="Arial Narrow" pitchFamily="34" charset="0"/>
              </a:rPr>
              <a:t>        </a:t>
            </a:r>
            <a:r>
              <a:rPr lang="en-US" sz="2000" b="1" dirty="0" err="1">
                <a:latin typeface="Arial Narrow" pitchFamily="34" charset="0"/>
              </a:rPr>
              <a:t>U2</a:t>
            </a:r>
            <a:r>
              <a:rPr lang="en-US" sz="2000" b="1" dirty="0">
                <a:latin typeface="Arial Narrow" pitchFamily="34" charset="0"/>
              </a:rPr>
              <a:t>         0.000000      1.000000</a:t>
            </a:r>
          </a:p>
          <a:p>
            <a:r>
              <a:rPr lang="en-US" sz="2000" b="1" dirty="0">
                <a:latin typeface="Arial Narrow" pitchFamily="34" charset="0"/>
              </a:rPr>
              <a:t>        </a:t>
            </a:r>
            <a:r>
              <a:rPr lang="en-US" sz="2000" b="1" dirty="0" err="1">
                <a:latin typeface="Arial Narrow" pitchFamily="34" charset="0"/>
              </a:rPr>
              <a:t>U3</a:t>
            </a:r>
            <a:r>
              <a:rPr lang="en-US" sz="2000" b="1" dirty="0">
                <a:latin typeface="Arial Narrow" pitchFamily="34" charset="0"/>
              </a:rPr>
              <a:t>         1.000000      1.000000</a:t>
            </a:r>
          </a:p>
          <a:p>
            <a:r>
              <a:rPr lang="en-US" sz="2000" b="1" dirty="0">
                <a:latin typeface="Arial Narrow" pitchFamily="34" charset="0"/>
              </a:rPr>
              <a:t>        </a:t>
            </a:r>
            <a:r>
              <a:rPr lang="en-US" sz="2000" b="1" dirty="0" err="1">
                <a:latin typeface="Arial Narrow" pitchFamily="34" charset="0"/>
              </a:rPr>
              <a:t>U4</a:t>
            </a:r>
            <a:r>
              <a:rPr lang="en-US" sz="2000" b="1" dirty="0">
                <a:latin typeface="Arial Narrow" pitchFamily="34" charset="0"/>
              </a:rPr>
              <a:t>         0.000000      1.000000</a:t>
            </a:r>
          </a:p>
          <a:p>
            <a:r>
              <a:rPr lang="en-US" sz="2000" b="1" dirty="0">
                <a:latin typeface="Arial Narrow" pitchFamily="34" charset="0"/>
              </a:rPr>
              <a:t>        </a:t>
            </a:r>
            <a:r>
              <a:rPr lang="en-US" sz="2000" b="1" dirty="0" err="1">
                <a:latin typeface="Arial Narrow" pitchFamily="34" charset="0"/>
              </a:rPr>
              <a:t>U5</a:t>
            </a:r>
            <a:r>
              <a:rPr lang="en-US" sz="2000" b="1" dirty="0">
                <a:latin typeface="Arial Narrow" pitchFamily="34" charset="0"/>
              </a:rPr>
              <a:t>         1.000000      1.000000</a:t>
            </a:r>
          </a:p>
        </p:txBody>
      </p:sp>
      <p:sp>
        <p:nvSpPr>
          <p:cNvPr id="6" name="Abrir llave 5">
            <a:extLst>
              <a:ext uri="{FF2B5EF4-FFF2-40B4-BE49-F238E27FC236}">
                <a16:creationId xmlns:a16="http://schemas.microsoft.com/office/drawing/2014/main" id="{B16BE532-53F8-4B93-B840-8D9009AFA83C}"/>
              </a:ext>
            </a:extLst>
          </p:cNvPr>
          <p:cNvSpPr/>
          <p:nvPr/>
        </p:nvSpPr>
        <p:spPr>
          <a:xfrm>
            <a:off x="1044157" y="2098765"/>
            <a:ext cx="166333" cy="500307"/>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PE"/>
          </a:p>
        </p:txBody>
      </p:sp>
    </p:spTree>
    <p:extLst>
      <p:ext uri="{BB962C8B-B14F-4D97-AF65-F5344CB8AC3E}">
        <p14:creationId xmlns:p14="http://schemas.microsoft.com/office/powerpoint/2010/main" val="739780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096000" y="157301"/>
            <a:ext cx="6096000" cy="757099"/>
          </a:xfrm>
          <a:noFill/>
          <a:ln w="9525">
            <a:noFill/>
            <a:miter lim="800000"/>
            <a:headEnd/>
            <a:tailEnd/>
          </a:ln>
          <a:effectLst/>
        </p:spPr>
        <p:txBody>
          <a:bodyPr spcFirstLastPara="1" vert="horz" wrap="square" lIns="68580" tIns="34290" rIns="68580" bIns="34290" numCol="1"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Problema 7 </a:t>
            </a:r>
            <a:br>
              <a:rPr lang="es-ES_tradnl" sz="3200" dirty="0">
                <a:solidFill>
                  <a:schemeClr val="bg1"/>
                </a:solidFill>
                <a:latin typeface="Bauhaus 93" pitchFamily="82" charset="0"/>
                <a:ea typeface="+mn-ea"/>
                <a:cs typeface="+mn-cs"/>
              </a:rPr>
            </a:br>
            <a:r>
              <a:rPr lang="es-ES_tradnl" sz="3200" dirty="0">
                <a:solidFill>
                  <a:schemeClr val="bg1"/>
                </a:solidFill>
                <a:latin typeface="Bauhaus 93" pitchFamily="82" charset="0"/>
                <a:ea typeface="+mn-ea"/>
                <a:cs typeface="+mn-cs"/>
              </a:rPr>
              <a:t>Industria de juguetes </a:t>
            </a:r>
          </a:p>
        </p:txBody>
      </p:sp>
      <p:sp>
        <p:nvSpPr>
          <p:cNvPr id="3" name="CuadroTexto 2">
            <a:extLst>
              <a:ext uri="{FF2B5EF4-FFF2-40B4-BE49-F238E27FC236}">
                <a16:creationId xmlns:a16="http://schemas.microsoft.com/office/drawing/2014/main" id="{78A0A069-1837-461E-88A5-67FE3569F682}"/>
              </a:ext>
            </a:extLst>
          </p:cNvPr>
          <p:cNvSpPr txBox="1"/>
          <p:nvPr/>
        </p:nvSpPr>
        <p:spPr>
          <a:xfrm>
            <a:off x="6944273" y="1191499"/>
            <a:ext cx="1682142" cy="461665"/>
          </a:xfrm>
          <a:prstGeom prst="rect">
            <a:avLst/>
          </a:prstGeom>
          <a:noFill/>
        </p:spPr>
        <p:txBody>
          <a:bodyPr wrap="square" rtlCol="0">
            <a:spAutoFit/>
          </a:bodyPr>
          <a:lstStyle/>
          <a:p>
            <a:r>
              <a:rPr lang="es-ES" sz="2400" dirty="0">
                <a:solidFill>
                  <a:srgbClr val="FF0000"/>
                </a:solidFill>
              </a:rPr>
              <a:t>SOLUCIÓN</a:t>
            </a:r>
            <a:endParaRPr lang="es-PE" sz="2400" dirty="0">
              <a:solidFill>
                <a:srgbClr val="FF0000"/>
              </a:solidFill>
            </a:endParaRPr>
          </a:p>
        </p:txBody>
      </p:sp>
      <p:sp>
        <p:nvSpPr>
          <p:cNvPr id="8" name="CuadroTexto 7">
            <a:extLst>
              <a:ext uri="{FF2B5EF4-FFF2-40B4-BE49-F238E27FC236}">
                <a16:creationId xmlns:a16="http://schemas.microsoft.com/office/drawing/2014/main" id="{4373C03A-297C-A315-FB03-20BDD0888B1E}"/>
              </a:ext>
            </a:extLst>
          </p:cNvPr>
          <p:cNvSpPr txBox="1"/>
          <p:nvPr/>
        </p:nvSpPr>
        <p:spPr>
          <a:xfrm>
            <a:off x="27034" y="1191499"/>
            <a:ext cx="6321512" cy="5509200"/>
          </a:xfrm>
          <a:prstGeom prst="rect">
            <a:avLst/>
          </a:prstGeom>
          <a:noFill/>
        </p:spPr>
        <p:txBody>
          <a:bodyPr wrap="square">
            <a:spAutoFit/>
          </a:bodyPr>
          <a:lstStyle/>
          <a:p>
            <a:pPr lvl="0" algn="just" rtl="0"/>
            <a:r>
              <a:rPr lang="es-ES_tradnl" sz="2200" b="1" dirty="0"/>
              <a:t>Galaxia produce dos tipos de juguetes: </a:t>
            </a:r>
            <a:r>
              <a:rPr lang="es-ES_tradnl" sz="2200" b="1" dirty="0" err="1"/>
              <a:t>Space</a:t>
            </a:r>
            <a:r>
              <a:rPr lang="es-ES_tradnl" sz="2200" b="1" dirty="0"/>
              <a:t> Ray y </a:t>
            </a:r>
            <a:r>
              <a:rPr lang="es-ES_tradnl" sz="2200" b="1" dirty="0" err="1"/>
              <a:t>Zapper</a:t>
            </a:r>
            <a:r>
              <a:rPr lang="es-ES_tradnl" sz="2200" b="1" dirty="0"/>
              <a:t>. Los recursos están limitados a 1200 libras de plástico especial y 40 horas de producción semanalmente. Los requerimientos de Marketing indica que la producción total no puede exceder de 800 docenas. El número de docenas de </a:t>
            </a:r>
            <a:r>
              <a:rPr lang="es-ES_tradnl" sz="2200" b="1" dirty="0" err="1"/>
              <a:t>Space</a:t>
            </a:r>
            <a:r>
              <a:rPr lang="es-ES_tradnl" sz="2200" b="1" dirty="0"/>
              <a:t> Rays no debe exceder al número de docenas de </a:t>
            </a:r>
            <a:r>
              <a:rPr lang="es-ES_tradnl" sz="2200" b="1" dirty="0" err="1"/>
              <a:t>Zappers</a:t>
            </a:r>
            <a:r>
              <a:rPr lang="es-ES_tradnl" sz="2200" b="1" dirty="0"/>
              <a:t> por más de 450. </a:t>
            </a:r>
            <a:r>
              <a:rPr lang="es-ES_tradnl" sz="2200" b="1" dirty="0" err="1"/>
              <a:t>Space</a:t>
            </a:r>
            <a:r>
              <a:rPr lang="es-ES_tradnl" sz="2200" b="1" dirty="0"/>
              <a:t> Rays requiere 2 libras de plástico y 3 minutos de producción por docena. </a:t>
            </a:r>
            <a:r>
              <a:rPr lang="es-ES_tradnl" sz="2200" b="1" dirty="0" err="1"/>
              <a:t>Zappers</a:t>
            </a:r>
            <a:r>
              <a:rPr lang="es-ES_tradnl" sz="2200" b="1" dirty="0"/>
              <a:t> requiere 1 libra de plástico y 4 minutos de producción  por docena. El plan común de producción es fabricar la mayor cantidad del producto que deje mejores ganancias, el cual corresponde a </a:t>
            </a:r>
            <a:r>
              <a:rPr lang="es-ES_tradnl" sz="2200" b="1" dirty="0" err="1"/>
              <a:t>Space</a:t>
            </a:r>
            <a:r>
              <a:rPr lang="es-ES_tradnl" sz="2200" b="1" dirty="0"/>
              <a:t> Ray  (8 $/docena). Usar la menor cantidad de recursos para producir </a:t>
            </a:r>
            <a:r>
              <a:rPr lang="es-ES_tradnl" sz="2200" b="1" dirty="0" err="1"/>
              <a:t>Zappers</a:t>
            </a:r>
            <a:r>
              <a:rPr lang="es-ES_tradnl" sz="2200" b="1" dirty="0"/>
              <a:t>, porque estos dejan una menor utilidad (5 $/docena). </a:t>
            </a:r>
            <a:endParaRPr lang="es-ES" sz="2200" b="1" dirty="0"/>
          </a:p>
        </p:txBody>
      </p:sp>
      <p:graphicFrame>
        <p:nvGraphicFramePr>
          <p:cNvPr id="5" name="7 Tabla">
            <a:extLst>
              <a:ext uri="{FF2B5EF4-FFF2-40B4-BE49-F238E27FC236}">
                <a16:creationId xmlns:a16="http://schemas.microsoft.com/office/drawing/2014/main" id="{247F38E0-247C-C214-927D-4E1B8581179D}"/>
              </a:ext>
            </a:extLst>
          </p:cNvPr>
          <p:cNvGraphicFramePr>
            <a:graphicFrameLocks noGrp="1"/>
          </p:cNvGraphicFramePr>
          <p:nvPr>
            <p:extLst>
              <p:ext uri="{D42A27DB-BD31-4B8C-83A1-F6EECF244321}">
                <p14:modId xmlns:p14="http://schemas.microsoft.com/office/powerpoint/2010/main" val="1661759985"/>
              </p:ext>
            </p:extLst>
          </p:nvPr>
        </p:nvGraphicFramePr>
        <p:xfrm>
          <a:off x="6604640" y="1561371"/>
          <a:ext cx="5135591" cy="2277289"/>
        </p:xfrm>
        <a:graphic>
          <a:graphicData uri="http://schemas.openxmlformats.org/drawingml/2006/table">
            <a:tbl>
              <a:tblPr firstRow="1" bandRow="1">
                <a:tableStyleId>{5C22544A-7EE6-4342-B048-85BDC9FD1C3A}</a:tableStyleId>
              </a:tblPr>
              <a:tblGrid>
                <a:gridCol w="1026543">
                  <a:extLst>
                    <a:ext uri="{9D8B030D-6E8A-4147-A177-3AD203B41FA5}">
                      <a16:colId xmlns:a16="http://schemas.microsoft.com/office/drawing/2014/main" val="20000"/>
                    </a:ext>
                  </a:extLst>
                </a:gridCol>
                <a:gridCol w="1544377">
                  <a:extLst>
                    <a:ext uri="{9D8B030D-6E8A-4147-A177-3AD203B41FA5}">
                      <a16:colId xmlns:a16="http://schemas.microsoft.com/office/drawing/2014/main" val="20001"/>
                    </a:ext>
                  </a:extLst>
                </a:gridCol>
                <a:gridCol w="1495810">
                  <a:extLst>
                    <a:ext uri="{9D8B030D-6E8A-4147-A177-3AD203B41FA5}">
                      <a16:colId xmlns:a16="http://schemas.microsoft.com/office/drawing/2014/main" val="20002"/>
                    </a:ext>
                  </a:extLst>
                </a:gridCol>
                <a:gridCol w="1068861">
                  <a:extLst>
                    <a:ext uri="{9D8B030D-6E8A-4147-A177-3AD203B41FA5}">
                      <a16:colId xmlns:a16="http://schemas.microsoft.com/office/drawing/2014/main" val="20003"/>
                    </a:ext>
                  </a:extLst>
                </a:gridCol>
              </a:tblGrid>
              <a:tr h="672636">
                <a:tc>
                  <a:txBody>
                    <a:bodyPr/>
                    <a:lstStyle/>
                    <a:p>
                      <a:pPr algn="ctr"/>
                      <a:r>
                        <a:rPr lang="es-ES" sz="2000" b="0" dirty="0">
                          <a:latin typeface="Arial Narrow" panose="020B0606020202030204" pitchFamily="34" charset="0"/>
                        </a:rPr>
                        <a:t>TIPO</a:t>
                      </a:r>
                    </a:p>
                  </a:txBody>
                  <a:tcPr marL="68580" marR="68580"/>
                </a:tc>
                <a:tc>
                  <a:txBody>
                    <a:bodyPr/>
                    <a:lstStyle/>
                    <a:p>
                      <a:pPr algn="ctr"/>
                      <a:r>
                        <a:rPr lang="es-ES" sz="2000" b="0" dirty="0">
                          <a:latin typeface="Arial Narrow" panose="020B0606020202030204" pitchFamily="34" charset="0"/>
                        </a:rPr>
                        <a:t>Plástico</a:t>
                      </a:r>
                    </a:p>
                    <a:p>
                      <a:pPr algn="ctr"/>
                      <a:r>
                        <a:rPr lang="es-ES" sz="2000" b="0" dirty="0">
                          <a:latin typeface="Arial Narrow" panose="020B0606020202030204" pitchFamily="34" charset="0"/>
                        </a:rPr>
                        <a:t>(libras/docena)</a:t>
                      </a:r>
                    </a:p>
                  </a:txBody>
                  <a:tcPr marL="68580" marR="68580"/>
                </a:tc>
                <a:tc>
                  <a:txBody>
                    <a:bodyPr/>
                    <a:lstStyle/>
                    <a:p>
                      <a:pPr algn="ctr"/>
                      <a:r>
                        <a:rPr lang="es-ES" sz="2000" b="0" dirty="0">
                          <a:latin typeface="Arial Narrow" panose="020B0606020202030204" pitchFamily="34" charset="0"/>
                        </a:rPr>
                        <a:t>Producción</a:t>
                      </a:r>
                    </a:p>
                    <a:p>
                      <a:pPr algn="ctr"/>
                      <a:r>
                        <a:rPr lang="es-ES" sz="2000" b="0" dirty="0">
                          <a:latin typeface="Arial Narrow" panose="020B0606020202030204" pitchFamily="34" charset="0"/>
                        </a:rPr>
                        <a:t>(min./docena)</a:t>
                      </a:r>
                    </a:p>
                  </a:txBody>
                  <a:tcPr marL="68580" marR="68580"/>
                </a:tc>
                <a:tc>
                  <a:txBody>
                    <a:bodyPr/>
                    <a:lstStyle/>
                    <a:p>
                      <a:pPr algn="ctr"/>
                      <a:r>
                        <a:rPr lang="es-ES" sz="2000" b="0" dirty="0">
                          <a:latin typeface="Arial Narrow" panose="020B0606020202030204" pitchFamily="34" charset="0"/>
                        </a:rPr>
                        <a:t>Utilidad</a:t>
                      </a:r>
                    </a:p>
                    <a:p>
                      <a:pPr algn="ctr"/>
                      <a:r>
                        <a:rPr lang="es-ES" sz="2000" b="0" dirty="0">
                          <a:latin typeface="Arial Narrow" panose="020B0606020202030204" pitchFamily="34" charset="0"/>
                        </a:rPr>
                        <a:t>$/docena</a:t>
                      </a:r>
                    </a:p>
                  </a:txBody>
                  <a:tcPr marL="68580" marR="68580"/>
                </a:tc>
                <a:extLst>
                  <a:ext uri="{0D108BD9-81ED-4DB2-BD59-A6C34878D82A}">
                    <a16:rowId xmlns:a16="http://schemas.microsoft.com/office/drawing/2014/main" val="10000"/>
                  </a:ext>
                </a:extLst>
              </a:tr>
              <a:tr h="672636">
                <a:tc>
                  <a:txBody>
                    <a:bodyPr/>
                    <a:lstStyle/>
                    <a:p>
                      <a:pPr lvl="0"/>
                      <a:r>
                        <a:rPr lang="es-ES_tradnl" sz="2000" dirty="0" err="1">
                          <a:latin typeface="Arial Narrow" panose="020B0606020202030204" pitchFamily="34" charset="0"/>
                        </a:rPr>
                        <a:t>Space</a:t>
                      </a:r>
                      <a:r>
                        <a:rPr lang="es-ES_tradnl" sz="2000" dirty="0">
                          <a:latin typeface="Arial Narrow" panose="020B0606020202030204" pitchFamily="34" charset="0"/>
                        </a:rPr>
                        <a:t> </a:t>
                      </a:r>
                      <a:r>
                        <a:rPr lang="es-ES_tradnl" sz="2000" dirty="0" err="1">
                          <a:latin typeface="Arial Narrow" panose="020B0606020202030204" pitchFamily="34" charset="0"/>
                        </a:rPr>
                        <a:t>Ray</a:t>
                      </a:r>
                      <a:endParaRPr lang="es-ES" sz="2000" dirty="0">
                        <a:latin typeface="Arial Narrow" panose="020B0606020202030204" pitchFamily="34" charset="0"/>
                      </a:endParaRPr>
                    </a:p>
                  </a:txBody>
                  <a:tcPr marL="68580" marR="68580"/>
                </a:tc>
                <a:tc>
                  <a:txBody>
                    <a:bodyPr/>
                    <a:lstStyle/>
                    <a:p>
                      <a:pPr algn="ctr"/>
                      <a:r>
                        <a:rPr lang="es-ES" sz="2000" b="0" dirty="0">
                          <a:latin typeface="Arial Narrow" panose="020B0606020202030204" pitchFamily="34" charset="0"/>
                        </a:rPr>
                        <a:t>2</a:t>
                      </a:r>
                    </a:p>
                  </a:txBody>
                  <a:tcPr marL="68580" marR="68580"/>
                </a:tc>
                <a:tc>
                  <a:txBody>
                    <a:bodyPr/>
                    <a:lstStyle/>
                    <a:p>
                      <a:pPr algn="ctr"/>
                      <a:r>
                        <a:rPr lang="es-ES" sz="2000" b="0" dirty="0">
                          <a:latin typeface="Arial Narrow" panose="020B0606020202030204" pitchFamily="34" charset="0"/>
                        </a:rPr>
                        <a:t>3</a:t>
                      </a:r>
                    </a:p>
                  </a:txBody>
                  <a:tcPr marL="68580" marR="68580"/>
                </a:tc>
                <a:tc>
                  <a:txBody>
                    <a:bodyPr/>
                    <a:lstStyle/>
                    <a:p>
                      <a:pPr algn="ctr"/>
                      <a:r>
                        <a:rPr lang="es-ES" sz="2000" b="0" dirty="0">
                          <a:solidFill>
                            <a:srgbClr val="C00000"/>
                          </a:solidFill>
                          <a:latin typeface="Arial Narrow" panose="020B0606020202030204" pitchFamily="34" charset="0"/>
                        </a:rPr>
                        <a:t>8</a:t>
                      </a:r>
                    </a:p>
                  </a:txBody>
                  <a:tcPr marL="68580" marR="68580"/>
                </a:tc>
                <a:extLst>
                  <a:ext uri="{0D108BD9-81ED-4DB2-BD59-A6C34878D82A}">
                    <a16:rowId xmlns:a16="http://schemas.microsoft.com/office/drawing/2014/main" val="10001"/>
                  </a:ext>
                </a:extLst>
              </a:tr>
              <a:tr h="380186">
                <a:tc>
                  <a:txBody>
                    <a:bodyPr/>
                    <a:lstStyle/>
                    <a:p>
                      <a:pPr lvl="0"/>
                      <a:r>
                        <a:rPr lang="es-ES_tradnl" sz="2000" dirty="0" err="1">
                          <a:latin typeface="Arial Narrow" panose="020B0606020202030204" pitchFamily="34" charset="0"/>
                        </a:rPr>
                        <a:t>Zapper</a:t>
                      </a:r>
                      <a:endParaRPr lang="es-ES" sz="2000" dirty="0">
                        <a:latin typeface="Arial Narrow" panose="020B0606020202030204" pitchFamily="34" charset="0"/>
                      </a:endParaRPr>
                    </a:p>
                  </a:txBody>
                  <a:tcPr marL="68580" marR="68580"/>
                </a:tc>
                <a:tc>
                  <a:txBody>
                    <a:bodyPr/>
                    <a:lstStyle/>
                    <a:p>
                      <a:pPr algn="ctr"/>
                      <a:r>
                        <a:rPr lang="es-ES" sz="2000" b="0" dirty="0">
                          <a:latin typeface="Arial Narrow" panose="020B0606020202030204" pitchFamily="34" charset="0"/>
                        </a:rPr>
                        <a:t>1</a:t>
                      </a:r>
                    </a:p>
                  </a:txBody>
                  <a:tcPr marL="68580" marR="68580"/>
                </a:tc>
                <a:tc>
                  <a:txBody>
                    <a:bodyPr/>
                    <a:lstStyle/>
                    <a:p>
                      <a:pPr algn="ctr"/>
                      <a:r>
                        <a:rPr lang="es-ES" sz="2000" b="0" dirty="0">
                          <a:latin typeface="Arial Narrow" panose="020B0606020202030204" pitchFamily="34" charset="0"/>
                        </a:rPr>
                        <a:t>4</a:t>
                      </a:r>
                    </a:p>
                  </a:txBody>
                  <a:tcPr marL="68580" marR="68580"/>
                </a:tc>
                <a:tc>
                  <a:txBody>
                    <a:bodyPr/>
                    <a:lstStyle/>
                    <a:p>
                      <a:pPr algn="ctr"/>
                      <a:r>
                        <a:rPr lang="es-ES" sz="2000" b="0" dirty="0">
                          <a:solidFill>
                            <a:srgbClr val="C00000"/>
                          </a:solidFill>
                          <a:latin typeface="Arial Narrow" panose="020B0606020202030204" pitchFamily="34" charset="0"/>
                        </a:rPr>
                        <a:t>5</a:t>
                      </a:r>
                    </a:p>
                  </a:txBody>
                  <a:tcPr marL="68580" marR="68580"/>
                </a:tc>
                <a:extLst>
                  <a:ext uri="{0D108BD9-81ED-4DB2-BD59-A6C34878D82A}">
                    <a16:rowId xmlns:a16="http://schemas.microsoft.com/office/drawing/2014/main" val="10002"/>
                  </a:ext>
                </a:extLst>
              </a:tr>
              <a:tr h="478969">
                <a:tc>
                  <a:txBody>
                    <a:bodyPr/>
                    <a:lstStyle/>
                    <a:p>
                      <a:r>
                        <a:rPr lang="es-ES" sz="2000" b="0" dirty="0">
                          <a:latin typeface="Arial Narrow" panose="020B0606020202030204" pitchFamily="34" charset="0"/>
                        </a:rPr>
                        <a:t>Recursos</a:t>
                      </a:r>
                    </a:p>
                  </a:txBody>
                  <a:tcPr marL="68580" marR="68580"/>
                </a:tc>
                <a:tc>
                  <a:txBody>
                    <a:bodyPr/>
                    <a:lstStyle/>
                    <a:p>
                      <a:pPr algn="ctr"/>
                      <a:r>
                        <a:rPr lang="es-ES" sz="2000" b="0" dirty="0">
                          <a:solidFill>
                            <a:srgbClr val="C00000"/>
                          </a:solidFill>
                          <a:latin typeface="Arial Narrow" panose="020B0606020202030204" pitchFamily="34" charset="0"/>
                        </a:rPr>
                        <a:t>1200 Libras</a:t>
                      </a:r>
                    </a:p>
                  </a:txBody>
                  <a:tcPr marL="68580" marR="68580"/>
                </a:tc>
                <a:tc>
                  <a:txBody>
                    <a:bodyPr/>
                    <a:lstStyle/>
                    <a:p>
                      <a:pPr algn="ctr"/>
                      <a:r>
                        <a:rPr lang="es-ES" sz="2000" b="0" dirty="0">
                          <a:solidFill>
                            <a:srgbClr val="C00000"/>
                          </a:solidFill>
                          <a:latin typeface="Arial Narrow" panose="020B0606020202030204" pitchFamily="34" charset="0"/>
                        </a:rPr>
                        <a:t>40 Horas</a:t>
                      </a:r>
                    </a:p>
                  </a:txBody>
                  <a:tcPr marL="68580" marR="68580"/>
                </a:tc>
                <a:tc>
                  <a:txBody>
                    <a:bodyPr/>
                    <a:lstStyle/>
                    <a:p>
                      <a:endParaRPr lang="es-ES" sz="2000" b="0" dirty="0">
                        <a:latin typeface="Arial Narrow" panose="020B0606020202030204" pitchFamily="34" charset="0"/>
                      </a:endParaRPr>
                    </a:p>
                  </a:txBody>
                  <a:tcPr marL="68580" marR="6858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93049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6096000" y="130635"/>
            <a:ext cx="6096000" cy="800543"/>
          </a:xfrm>
          <a:noFill/>
          <a:ln w="9525">
            <a:noFill/>
            <a:miter lim="800000"/>
            <a:headEnd/>
            <a:tailEnd/>
          </a:ln>
          <a:effectLst/>
        </p:spPr>
        <p:txBody>
          <a:bodyPr spcFirstLastPara="1" vert="horz" wrap="square" lIns="68580" tIns="34290" rIns="68580" bIns="34290" numCol="1"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Solución Industria de juguetes </a:t>
            </a:r>
          </a:p>
        </p:txBody>
      </p:sp>
      <p:sp>
        <p:nvSpPr>
          <p:cNvPr id="7" name="Rectangle 1">
            <a:extLst>
              <a:ext uri="{FF2B5EF4-FFF2-40B4-BE49-F238E27FC236}">
                <a16:creationId xmlns:a16="http://schemas.microsoft.com/office/drawing/2014/main" id="{ADF216C1-BB9C-4A03-BEFB-BB923F135B00}"/>
              </a:ext>
            </a:extLst>
          </p:cNvPr>
          <p:cNvSpPr>
            <a:spLocks noChangeArrowheads="1"/>
          </p:cNvSpPr>
          <p:nvPr/>
        </p:nvSpPr>
        <p:spPr bwMode="auto">
          <a:xfrm>
            <a:off x="0" y="1329723"/>
            <a:ext cx="671935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     Identificación de variables</a:t>
            </a:r>
            <a:endParaRPr lang="es-PE" sz="2400" dirty="0">
              <a:solidFill>
                <a:srgbClr val="FF0000"/>
              </a:solidFill>
              <a:latin typeface="Arial Narrow" pitchFamily="34" charset="0"/>
              <a:cs typeface="Arial" pitchFamily="34" charset="0"/>
            </a:endParaRPr>
          </a:p>
          <a:p>
            <a:pPr algn="just" eaLnBrk="0" fontAlgn="base" hangingPunct="0">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       </a:t>
            </a:r>
            <a:r>
              <a:rPr lang="es-PE" sz="2400" dirty="0" err="1">
                <a:latin typeface="Arial Narrow" pitchFamily="34" charset="0"/>
                <a:ea typeface="Calibri" pitchFamily="34" charset="0"/>
                <a:cs typeface="Arial" panose="020B0604020202020204" pitchFamily="34" charset="0"/>
              </a:rPr>
              <a:t>X1</a:t>
            </a:r>
            <a:r>
              <a:rPr lang="es-PE" sz="2400" dirty="0">
                <a:latin typeface="Arial Narrow" pitchFamily="34" charset="0"/>
                <a:ea typeface="Calibri" pitchFamily="34" charset="0"/>
                <a:cs typeface="Arial" panose="020B0604020202020204" pitchFamily="34" charset="0"/>
              </a:rPr>
              <a:t> = Cantidad de docenas de </a:t>
            </a:r>
            <a:r>
              <a:rPr lang="es-PE" sz="2400" dirty="0" err="1">
                <a:latin typeface="Arial Narrow" pitchFamily="34" charset="0"/>
                <a:ea typeface="Calibri" pitchFamily="34" charset="0"/>
                <a:cs typeface="Arial" panose="020B0604020202020204" pitchFamily="34" charset="0"/>
              </a:rPr>
              <a:t>Space</a:t>
            </a:r>
            <a:r>
              <a:rPr lang="es-PE" sz="2400" dirty="0">
                <a:latin typeface="Arial Narrow" pitchFamily="34" charset="0"/>
                <a:ea typeface="Calibri" pitchFamily="34" charset="0"/>
                <a:cs typeface="Arial" panose="020B0604020202020204" pitchFamily="34" charset="0"/>
              </a:rPr>
              <a:t> a producir</a:t>
            </a:r>
          </a:p>
          <a:p>
            <a:pPr algn="just" eaLnBrk="0" fontAlgn="base" hangingPunct="0">
              <a:spcBef>
                <a:spcPct val="0"/>
              </a:spcBef>
              <a:spcAft>
                <a:spcPct val="0"/>
              </a:spcAft>
            </a:pPr>
            <a:r>
              <a:rPr lang="es-PE" sz="2400" dirty="0">
                <a:latin typeface="Arial Narrow" pitchFamily="34" charset="0"/>
                <a:ea typeface="Calibri" pitchFamily="34" charset="0"/>
                <a:cs typeface="Arial" panose="020B0604020202020204" pitchFamily="34" charset="0"/>
              </a:rPr>
              <a:t>       </a:t>
            </a:r>
            <a:r>
              <a:rPr lang="es-PE" sz="2400" dirty="0" err="1">
                <a:latin typeface="Arial Narrow" pitchFamily="34" charset="0"/>
                <a:ea typeface="Calibri" pitchFamily="34" charset="0"/>
                <a:cs typeface="Arial" panose="020B0604020202020204" pitchFamily="34" charset="0"/>
              </a:rPr>
              <a:t>X2</a:t>
            </a:r>
            <a:r>
              <a:rPr lang="es-PE" sz="2400" dirty="0">
                <a:latin typeface="Arial Narrow" pitchFamily="34" charset="0"/>
                <a:ea typeface="Calibri" pitchFamily="34" charset="0"/>
                <a:cs typeface="Arial" panose="020B0604020202020204" pitchFamily="34" charset="0"/>
              </a:rPr>
              <a:t> = Cantidad de docenas de </a:t>
            </a:r>
            <a:r>
              <a:rPr lang="es-PE" sz="2400" dirty="0" err="1">
                <a:latin typeface="Arial Narrow" pitchFamily="34" charset="0"/>
                <a:ea typeface="Calibri" pitchFamily="34" charset="0"/>
                <a:cs typeface="Arial" panose="020B0604020202020204" pitchFamily="34" charset="0"/>
              </a:rPr>
              <a:t>Zaper</a:t>
            </a:r>
            <a:r>
              <a:rPr lang="es-PE" sz="2400" dirty="0">
                <a:latin typeface="Arial Narrow" pitchFamily="34" charset="0"/>
                <a:ea typeface="Calibri" pitchFamily="34" charset="0"/>
                <a:cs typeface="Arial" panose="020B0604020202020204" pitchFamily="34" charset="0"/>
              </a:rPr>
              <a:t> a producir</a:t>
            </a:r>
            <a:endParaRPr lang="es-PE" sz="2400" dirty="0">
              <a:solidFill>
                <a:srgbClr val="FF0000"/>
              </a:solidFill>
              <a:latin typeface="Arial Narrow" pitchFamily="34" charset="0"/>
              <a:ea typeface="Calibri" pitchFamily="34" charset="0"/>
              <a:cs typeface="Arial" panose="020B0604020202020204" pitchFamily="34" charset="0"/>
            </a:endParaRPr>
          </a:p>
          <a:p>
            <a:pPr algn="just" eaLnBrk="0" fontAlgn="base" hangingPunct="0">
              <a:spcBef>
                <a:spcPct val="0"/>
              </a:spcBef>
              <a:spcAft>
                <a:spcPct val="0"/>
              </a:spcAft>
            </a:pPr>
            <a:endParaRPr lang="es-PE" sz="2400" b="1" dirty="0">
              <a:solidFill>
                <a:srgbClr val="FF0000"/>
              </a:solidFill>
              <a:latin typeface="Arial Narrow" pitchFamily="34" charset="0"/>
              <a:cs typeface="Arial" pitchFamily="34" charset="0"/>
            </a:endParaRPr>
          </a:p>
        </p:txBody>
      </p:sp>
      <p:sp>
        <p:nvSpPr>
          <p:cNvPr id="6" name="Rectangle 1">
            <a:extLst>
              <a:ext uri="{FF2B5EF4-FFF2-40B4-BE49-F238E27FC236}">
                <a16:creationId xmlns:a16="http://schemas.microsoft.com/office/drawing/2014/main" id="{E1C4AB43-4EC2-40E8-8D3B-84E9CD5C6522}"/>
              </a:ext>
            </a:extLst>
          </p:cNvPr>
          <p:cNvSpPr>
            <a:spLocks noChangeArrowheads="1"/>
          </p:cNvSpPr>
          <p:nvPr/>
        </p:nvSpPr>
        <p:spPr bwMode="auto">
          <a:xfrm>
            <a:off x="0" y="3583068"/>
            <a:ext cx="671935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III.    Identificación de las restricciones</a:t>
            </a:r>
          </a:p>
          <a:p>
            <a:pPr algn="just" eaLnBrk="0" fontAlgn="base" hangingPunct="0">
              <a:spcBef>
                <a:spcPct val="0"/>
              </a:spcBef>
              <a:spcAft>
                <a:spcPct val="0"/>
              </a:spcAft>
            </a:pPr>
            <a:r>
              <a:rPr lang="es-ES_tradnl" sz="2400" dirty="0">
                <a:latin typeface="Arial Narrow" panose="020B0606020202030204" pitchFamily="34" charset="0"/>
              </a:rPr>
              <a:t>              </a:t>
            </a:r>
            <a:r>
              <a:rPr lang="es-ES_tradnl" sz="2400" dirty="0" err="1">
                <a:latin typeface="Arial Narrow" panose="020B0606020202030204" pitchFamily="34" charset="0"/>
              </a:rPr>
              <a:t>2X1</a:t>
            </a:r>
            <a:r>
              <a:rPr lang="es-ES_tradnl" sz="2400" dirty="0">
                <a:latin typeface="Arial Narrow" panose="020B0606020202030204" pitchFamily="34" charset="0"/>
              </a:rPr>
              <a:t> + </a:t>
            </a:r>
            <a:r>
              <a:rPr lang="es-ES_tradnl" sz="2400" dirty="0" err="1">
                <a:latin typeface="Arial Narrow" panose="020B0606020202030204" pitchFamily="34" charset="0"/>
              </a:rPr>
              <a:t>1X2</a:t>
            </a:r>
            <a:r>
              <a:rPr lang="es-ES_tradnl" sz="2400" dirty="0">
                <a:latin typeface="Arial Narrow" panose="020B0606020202030204" pitchFamily="34" charset="0"/>
              </a:rPr>
              <a:t> &lt;= 1200  (cantidad de plástico)</a:t>
            </a:r>
            <a:endParaRPr lang="es-ES" sz="2400" dirty="0">
              <a:latin typeface="Arial Narrow" panose="020B0606020202030204" pitchFamily="34" charset="0"/>
            </a:endParaRPr>
          </a:p>
          <a:p>
            <a:pPr lvl="0"/>
            <a:r>
              <a:rPr lang="es-ES_tradnl" sz="2400" dirty="0">
                <a:latin typeface="Arial Narrow" panose="020B0606020202030204" pitchFamily="34" charset="0"/>
              </a:rPr>
              <a:t>        </a:t>
            </a:r>
            <a:r>
              <a:rPr lang="es-ES_tradnl" sz="2400" dirty="0" err="1">
                <a:latin typeface="Arial Narrow" panose="020B0606020202030204" pitchFamily="34" charset="0"/>
              </a:rPr>
              <a:t>3X1</a:t>
            </a:r>
            <a:r>
              <a:rPr lang="es-ES_tradnl" sz="2400" dirty="0">
                <a:latin typeface="Arial Narrow" panose="020B0606020202030204" pitchFamily="34" charset="0"/>
              </a:rPr>
              <a:t> + </a:t>
            </a:r>
            <a:r>
              <a:rPr lang="es-ES_tradnl" sz="2400" dirty="0" err="1">
                <a:latin typeface="Arial Narrow" panose="020B0606020202030204" pitchFamily="34" charset="0"/>
              </a:rPr>
              <a:t>4X2</a:t>
            </a:r>
            <a:r>
              <a:rPr lang="es-ES_tradnl" sz="2400" dirty="0">
                <a:latin typeface="Arial Narrow" panose="020B0606020202030204" pitchFamily="34" charset="0"/>
              </a:rPr>
              <a:t> &lt;= 2400  (tiempo de producción)</a:t>
            </a:r>
            <a:endParaRPr lang="es-ES" sz="2400" dirty="0">
              <a:latin typeface="Arial Narrow" panose="020B0606020202030204" pitchFamily="34" charset="0"/>
            </a:endParaRPr>
          </a:p>
          <a:p>
            <a:pPr lvl="0"/>
            <a:r>
              <a:rPr lang="es-ES_tradnl" sz="2400" dirty="0">
                <a:latin typeface="Arial Narrow" panose="020B0606020202030204" pitchFamily="34" charset="0"/>
              </a:rPr>
              <a:t>          </a:t>
            </a:r>
            <a:r>
              <a:rPr lang="es-ES_tradnl" sz="2400" dirty="0" err="1">
                <a:latin typeface="Arial Narrow" panose="020B0606020202030204" pitchFamily="34" charset="0"/>
              </a:rPr>
              <a:t>X1</a:t>
            </a:r>
            <a:r>
              <a:rPr lang="es-ES_tradnl" sz="2400" dirty="0">
                <a:latin typeface="Arial Narrow" panose="020B0606020202030204" pitchFamily="34" charset="0"/>
              </a:rPr>
              <a:t>  +  </a:t>
            </a:r>
            <a:r>
              <a:rPr lang="es-ES_tradnl" sz="2400" dirty="0" err="1">
                <a:latin typeface="Arial Narrow" panose="020B0606020202030204" pitchFamily="34" charset="0"/>
              </a:rPr>
              <a:t>X2</a:t>
            </a:r>
            <a:r>
              <a:rPr lang="es-ES_tradnl" sz="2400" dirty="0">
                <a:latin typeface="Arial Narrow" panose="020B0606020202030204" pitchFamily="34" charset="0"/>
              </a:rPr>
              <a:t>  &lt;=  800    (limite producción total)</a:t>
            </a:r>
            <a:endParaRPr lang="es-ES" sz="2400" dirty="0">
              <a:latin typeface="Arial Narrow" panose="020B0606020202030204" pitchFamily="34" charset="0"/>
            </a:endParaRPr>
          </a:p>
          <a:p>
            <a:pPr lvl="0"/>
            <a:r>
              <a:rPr lang="es-ES_tradnl" sz="2400" dirty="0">
                <a:latin typeface="Arial Narrow" panose="020B0606020202030204" pitchFamily="34" charset="0"/>
              </a:rPr>
              <a:t>          </a:t>
            </a:r>
            <a:r>
              <a:rPr lang="es-ES_tradnl" sz="2400" dirty="0" err="1">
                <a:latin typeface="Arial Narrow" panose="020B0606020202030204" pitchFamily="34" charset="0"/>
              </a:rPr>
              <a:t>X1</a:t>
            </a:r>
            <a:r>
              <a:rPr lang="es-ES_tradnl" sz="2400" dirty="0">
                <a:latin typeface="Arial Narrow" panose="020B0606020202030204" pitchFamily="34" charset="0"/>
              </a:rPr>
              <a:t>   -  </a:t>
            </a:r>
            <a:r>
              <a:rPr lang="es-ES_tradnl" sz="2400" dirty="0" err="1">
                <a:latin typeface="Arial Narrow" panose="020B0606020202030204" pitchFamily="34" charset="0"/>
              </a:rPr>
              <a:t>X2</a:t>
            </a:r>
            <a:r>
              <a:rPr lang="es-ES_tradnl" sz="2400" dirty="0">
                <a:latin typeface="Arial Narrow" panose="020B0606020202030204" pitchFamily="34" charset="0"/>
              </a:rPr>
              <a:t>  &lt;=  450    (producción en exceso)</a:t>
            </a:r>
            <a:endParaRPr lang="es-ES" sz="2400" dirty="0">
              <a:latin typeface="Arial Narrow" panose="020B0606020202030204" pitchFamily="34" charset="0"/>
            </a:endParaRPr>
          </a:p>
          <a:p>
            <a:pPr lvl="0"/>
            <a:r>
              <a:rPr lang="es-ES_tradnl" sz="2400" dirty="0">
                <a:latin typeface="Arial Narrow" panose="020B0606020202030204" pitchFamily="34" charset="0"/>
              </a:rPr>
              <a:t>	       Xi    &gt;= 0, </a:t>
            </a:r>
            <a:r>
              <a:rPr lang="es-ES_tradnl" sz="2400" dirty="0">
                <a:solidFill>
                  <a:srgbClr val="FF0000"/>
                </a:solidFill>
                <a:latin typeface="Arial Narrow" panose="020B0606020202030204" pitchFamily="34" charset="0"/>
              </a:rPr>
              <a:t>Entero </a:t>
            </a:r>
            <a:r>
              <a:rPr lang="es-ES_tradnl" sz="2400" dirty="0">
                <a:latin typeface="Arial Narrow" panose="020B0606020202030204" pitchFamily="34" charset="0"/>
              </a:rPr>
              <a:t>(resultados positivos)</a:t>
            </a:r>
            <a:endParaRPr lang="es-PE" sz="2400" b="1" dirty="0">
              <a:solidFill>
                <a:srgbClr val="FF0000"/>
              </a:solidFill>
              <a:latin typeface="Arial Narrow" pitchFamily="34" charset="0"/>
              <a:cs typeface="Arial" pitchFamily="34" charset="0"/>
            </a:endParaRPr>
          </a:p>
        </p:txBody>
      </p:sp>
      <p:sp>
        <p:nvSpPr>
          <p:cNvPr id="8" name="Rectangle 1">
            <a:extLst>
              <a:ext uri="{FF2B5EF4-FFF2-40B4-BE49-F238E27FC236}">
                <a16:creationId xmlns:a16="http://schemas.microsoft.com/office/drawing/2014/main" id="{D642D776-F98E-4904-A70F-AA8CCFBCDFC3}"/>
              </a:ext>
            </a:extLst>
          </p:cNvPr>
          <p:cNvSpPr>
            <a:spLocks noChangeArrowheads="1"/>
          </p:cNvSpPr>
          <p:nvPr/>
        </p:nvSpPr>
        <p:spPr bwMode="auto">
          <a:xfrm>
            <a:off x="-1" y="2617978"/>
            <a:ext cx="671935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400"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ES" sz="2400" dirty="0">
                <a:latin typeface="Arial Narrow" pitchFamily="34" charset="0"/>
                <a:ea typeface="Calibri" pitchFamily="34" charset="0"/>
                <a:cs typeface="Arial" panose="020B0604020202020204" pitchFamily="34" charset="0"/>
              </a:rPr>
              <a:t> MAX </a:t>
            </a:r>
            <a:r>
              <a:rPr lang="es-ES" sz="2400" dirty="0" err="1">
                <a:latin typeface="Arial Narrow" pitchFamily="34" charset="0"/>
                <a:ea typeface="Calibri" pitchFamily="34" charset="0"/>
                <a:cs typeface="Arial" panose="020B0604020202020204" pitchFamily="34" charset="0"/>
              </a:rPr>
              <a:t>8X1</a:t>
            </a:r>
            <a:r>
              <a:rPr lang="es-ES" sz="2400" dirty="0">
                <a:latin typeface="Arial Narrow" pitchFamily="34" charset="0"/>
                <a:ea typeface="Calibri" pitchFamily="34" charset="0"/>
                <a:cs typeface="Arial" panose="020B0604020202020204" pitchFamily="34" charset="0"/>
              </a:rPr>
              <a:t> + </a:t>
            </a:r>
            <a:r>
              <a:rPr lang="es-ES" sz="2400" dirty="0" err="1">
                <a:latin typeface="Arial Narrow" pitchFamily="34" charset="0"/>
                <a:ea typeface="Calibri" pitchFamily="34" charset="0"/>
                <a:cs typeface="Arial" panose="020B0604020202020204" pitchFamily="34" charset="0"/>
              </a:rPr>
              <a:t>5X2</a:t>
            </a:r>
            <a:endParaRPr lang="es-PE" sz="2400" dirty="0">
              <a:latin typeface="Arial Narrow" panose="020B0606020202030204" pitchFamily="34" charset="0"/>
            </a:endParaRPr>
          </a:p>
        </p:txBody>
      </p:sp>
      <p:sp>
        <p:nvSpPr>
          <p:cNvPr id="4" name="CuadroTexto 3">
            <a:extLst>
              <a:ext uri="{FF2B5EF4-FFF2-40B4-BE49-F238E27FC236}">
                <a16:creationId xmlns:a16="http://schemas.microsoft.com/office/drawing/2014/main" id="{3EE779C3-5344-76B4-0946-D0244F868C14}"/>
              </a:ext>
            </a:extLst>
          </p:cNvPr>
          <p:cNvSpPr txBox="1"/>
          <p:nvPr/>
        </p:nvSpPr>
        <p:spPr>
          <a:xfrm>
            <a:off x="6944273" y="1191499"/>
            <a:ext cx="1682142" cy="461665"/>
          </a:xfrm>
          <a:prstGeom prst="rect">
            <a:avLst/>
          </a:prstGeom>
          <a:noFill/>
        </p:spPr>
        <p:txBody>
          <a:bodyPr wrap="square" rtlCol="0">
            <a:spAutoFit/>
          </a:bodyPr>
          <a:lstStyle/>
          <a:p>
            <a:r>
              <a:rPr lang="es-ES" sz="2400" dirty="0">
                <a:solidFill>
                  <a:srgbClr val="FF0000"/>
                </a:solidFill>
              </a:rPr>
              <a:t>SOLUCIÓN</a:t>
            </a:r>
            <a:endParaRPr lang="es-PE" sz="2400" dirty="0">
              <a:solidFill>
                <a:srgbClr val="FF0000"/>
              </a:solidFill>
            </a:endParaRPr>
          </a:p>
        </p:txBody>
      </p:sp>
      <p:sp>
        <p:nvSpPr>
          <p:cNvPr id="9" name="4 Rectángulo">
            <a:extLst>
              <a:ext uri="{FF2B5EF4-FFF2-40B4-BE49-F238E27FC236}">
                <a16:creationId xmlns:a16="http://schemas.microsoft.com/office/drawing/2014/main" id="{E587D3F8-3FD9-FDC8-6A79-8B56DD63FAF4}"/>
              </a:ext>
            </a:extLst>
          </p:cNvPr>
          <p:cNvSpPr/>
          <p:nvPr/>
        </p:nvSpPr>
        <p:spPr>
          <a:xfrm>
            <a:off x="6148909" y="3939242"/>
            <a:ext cx="2019730" cy="2862322"/>
          </a:xfrm>
          <a:prstGeom prst="rect">
            <a:avLst/>
          </a:prstGeom>
          <a:solidFill>
            <a:srgbClr val="FFFF00"/>
          </a:solidFill>
        </p:spPr>
        <p:txBody>
          <a:bodyPr wrap="square">
            <a:spAutoFit/>
          </a:bodyPr>
          <a:lstStyle/>
          <a:p>
            <a:r>
              <a:rPr lang="es-PE" sz="2000" dirty="0">
                <a:latin typeface="Arial Narrow" panose="020B0606020202030204" pitchFamily="34" charset="0"/>
              </a:rPr>
              <a:t>Max </a:t>
            </a:r>
            <a:r>
              <a:rPr lang="es-PE" sz="2000" dirty="0" err="1">
                <a:latin typeface="Arial Narrow" panose="020B0606020202030204" pitchFamily="34" charset="0"/>
              </a:rPr>
              <a:t>8X1+5X2</a:t>
            </a:r>
            <a:r>
              <a:rPr lang="es-PE" sz="2000" dirty="0">
                <a:latin typeface="Arial Narrow" panose="020B0606020202030204" pitchFamily="34" charset="0"/>
              </a:rPr>
              <a:t>   </a:t>
            </a:r>
          </a:p>
          <a:p>
            <a:r>
              <a:rPr lang="es-PE" sz="2000" dirty="0" err="1">
                <a:solidFill>
                  <a:srgbClr val="FF0000"/>
                </a:solidFill>
                <a:latin typeface="Arial Narrow" panose="020B0606020202030204" pitchFamily="34" charset="0"/>
              </a:rPr>
              <a:t>SUBJECT</a:t>
            </a:r>
            <a:r>
              <a:rPr lang="es-PE" sz="2000" dirty="0">
                <a:solidFill>
                  <a:srgbClr val="FF0000"/>
                </a:solidFill>
                <a:latin typeface="Arial Narrow" panose="020B0606020202030204" pitchFamily="34" charset="0"/>
              </a:rPr>
              <a:t> </a:t>
            </a:r>
            <a:r>
              <a:rPr lang="es-PE" sz="2000" dirty="0" err="1">
                <a:solidFill>
                  <a:srgbClr val="FF0000"/>
                </a:solidFill>
                <a:latin typeface="Arial Narrow" panose="020B0606020202030204" pitchFamily="34" charset="0"/>
              </a:rPr>
              <a:t>TO</a:t>
            </a:r>
            <a:endParaRPr lang="es-PE" sz="2000" dirty="0">
              <a:solidFill>
                <a:srgbClr val="FF0000"/>
              </a:solidFill>
              <a:latin typeface="Arial Narrow" panose="020B0606020202030204" pitchFamily="34" charset="0"/>
            </a:endParaRPr>
          </a:p>
          <a:p>
            <a:r>
              <a:rPr lang="es-PE" sz="2000" dirty="0" err="1">
                <a:latin typeface="Arial Narrow" panose="020B0606020202030204" pitchFamily="34" charset="0"/>
              </a:rPr>
              <a:t>2X1</a:t>
            </a:r>
            <a:r>
              <a:rPr lang="es-PE" sz="2000" dirty="0">
                <a:latin typeface="Arial Narrow" panose="020B0606020202030204" pitchFamily="34" charset="0"/>
              </a:rPr>
              <a:t> + </a:t>
            </a:r>
            <a:r>
              <a:rPr lang="es-PE" sz="2000" dirty="0" err="1">
                <a:latin typeface="Arial Narrow" panose="020B0606020202030204" pitchFamily="34" charset="0"/>
              </a:rPr>
              <a:t>1X2</a:t>
            </a:r>
            <a:r>
              <a:rPr lang="es-PE" sz="2000" dirty="0">
                <a:latin typeface="Arial Narrow" panose="020B0606020202030204" pitchFamily="34" charset="0"/>
              </a:rPr>
              <a:t> &lt;= 1200</a:t>
            </a:r>
          </a:p>
          <a:p>
            <a:r>
              <a:rPr lang="es-PE" sz="2000" dirty="0" err="1">
                <a:latin typeface="Arial Narrow" panose="020B0606020202030204" pitchFamily="34" charset="0"/>
              </a:rPr>
              <a:t>3X1</a:t>
            </a:r>
            <a:r>
              <a:rPr lang="es-PE" sz="2000" dirty="0">
                <a:latin typeface="Arial Narrow" panose="020B0606020202030204" pitchFamily="34" charset="0"/>
              </a:rPr>
              <a:t> + </a:t>
            </a:r>
            <a:r>
              <a:rPr lang="es-PE" sz="2000" dirty="0" err="1">
                <a:latin typeface="Arial Narrow" panose="020B0606020202030204" pitchFamily="34" charset="0"/>
              </a:rPr>
              <a:t>4X2</a:t>
            </a:r>
            <a:r>
              <a:rPr lang="es-PE" sz="2000" dirty="0">
                <a:latin typeface="Arial Narrow" panose="020B0606020202030204" pitchFamily="34" charset="0"/>
              </a:rPr>
              <a:t> &lt;= 2400</a:t>
            </a:r>
          </a:p>
          <a:p>
            <a:r>
              <a:rPr lang="es-PE" sz="2000" dirty="0" err="1">
                <a:latin typeface="Arial Narrow" panose="020B0606020202030204" pitchFamily="34" charset="0"/>
              </a:rPr>
              <a:t>X1</a:t>
            </a:r>
            <a:r>
              <a:rPr lang="es-PE" sz="2000" dirty="0">
                <a:latin typeface="Arial Narrow" panose="020B0606020202030204" pitchFamily="34" charset="0"/>
              </a:rPr>
              <a:t>  +  </a:t>
            </a:r>
            <a:r>
              <a:rPr lang="es-PE" sz="2000" dirty="0" err="1">
                <a:latin typeface="Arial Narrow" panose="020B0606020202030204" pitchFamily="34" charset="0"/>
              </a:rPr>
              <a:t>X2</a:t>
            </a:r>
            <a:r>
              <a:rPr lang="es-PE" sz="2000" dirty="0">
                <a:latin typeface="Arial Narrow" panose="020B0606020202030204" pitchFamily="34" charset="0"/>
              </a:rPr>
              <a:t> &lt;=  800</a:t>
            </a:r>
          </a:p>
          <a:p>
            <a:r>
              <a:rPr lang="es-PE" sz="2000" dirty="0" err="1">
                <a:latin typeface="Arial Narrow" panose="020B0606020202030204" pitchFamily="34" charset="0"/>
              </a:rPr>
              <a:t>X1</a:t>
            </a:r>
            <a:r>
              <a:rPr lang="es-PE" sz="2000" dirty="0">
                <a:latin typeface="Arial Narrow" panose="020B0606020202030204" pitchFamily="34" charset="0"/>
              </a:rPr>
              <a:t>  -  </a:t>
            </a:r>
            <a:r>
              <a:rPr lang="es-PE" sz="2000" dirty="0" err="1">
                <a:latin typeface="Arial Narrow" panose="020B0606020202030204" pitchFamily="34" charset="0"/>
              </a:rPr>
              <a:t>X2</a:t>
            </a:r>
            <a:r>
              <a:rPr lang="es-PE" sz="2000" dirty="0">
                <a:latin typeface="Arial Narrow" panose="020B0606020202030204" pitchFamily="34" charset="0"/>
              </a:rPr>
              <a:t> &lt;=  450</a:t>
            </a:r>
            <a:endParaRPr lang="es-ES_tradnl" sz="2000" dirty="0">
              <a:latin typeface="Arial Narrow" panose="020B0606020202030204" pitchFamily="34" charset="0"/>
            </a:endParaRPr>
          </a:p>
          <a:p>
            <a:r>
              <a:rPr lang="es-PE" sz="2000" dirty="0" err="1">
                <a:solidFill>
                  <a:srgbClr val="FF0000"/>
                </a:solidFill>
                <a:latin typeface="Arial Narrow" panose="020B0606020202030204" pitchFamily="34" charset="0"/>
              </a:rPr>
              <a:t>END</a:t>
            </a:r>
            <a:endParaRPr lang="es-PE" sz="2000" dirty="0">
              <a:solidFill>
                <a:srgbClr val="FF0000"/>
              </a:solidFill>
              <a:latin typeface="Arial Narrow" panose="020B0606020202030204" pitchFamily="34" charset="0"/>
            </a:endParaRPr>
          </a:p>
          <a:p>
            <a:r>
              <a:rPr lang="es-PE" sz="2000" dirty="0" err="1">
                <a:latin typeface="Arial Narrow" panose="020B0606020202030204" pitchFamily="34" charset="0"/>
              </a:rPr>
              <a:t>GIN</a:t>
            </a:r>
            <a:r>
              <a:rPr lang="es-PE" sz="2000" dirty="0">
                <a:latin typeface="Arial Narrow" panose="020B0606020202030204" pitchFamily="34" charset="0"/>
              </a:rPr>
              <a:t> </a:t>
            </a:r>
            <a:r>
              <a:rPr lang="es-PE" sz="2000" dirty="0" err="1">
                <a:latin typeface="Arial Narrow" panose="020B0606020202030204" pitchFamily="34" charset="0"/>
              </a:rPr>
              <a:t>X1</a:t>
            </a:r>
            <a:endParaRPr lang="es-PE" sz="2000" dirty="0">
              <a:latin typeface="Arial Narrow" panose="020B0606020202030204" pitchFamily="34" charset="0"/>
            </a:endParaRPr>
          </a:p>
          <a:p>
            <a:r>
              <a:rPr lang="es-PE" sz="2000" dirty="0" err="1">
                <a:latin typeface="Arial Narrow" panose="020B0606020202030204" pitchFamily="34" charset="0"/>
              </a:rPr>
              <a:t>GIN</a:t>
            </a:r>
            <a:r>
              <a:rPr lang="es-PE" sz="2000" dirty="0">
                <a:latin typeface="Arial Narrow" panose="020B0606020202030204" pitchFamily="34" charset="0"/>
              </a:rPr>
              <a:t> </a:t>
            </a:r>
            <a:r>
              <a:rPr lang="es-PE" sz="2000" dirty="0" err="1">
                <a:latin typeface="Arial Narrow" panose="020B0606020202030204" pitchFamily="34" charset="0"/>
              </a:rPr>
              <a:t>X2</a:t>
            </a:r>
            <a:endParaRPr lang="es-PE" sz="2000" dirty="0">
              <a:latin typeface="Arial Narrow" panose="020B0606020202030204" pitchFamily="34" charset="0"/>
            </a:endParaRPr>
          </a:p>
        </p:txBody>
      </p:sp>
      <p:sp>
        <p:nvSpPr>
          <p:cNvPr id="10" name="Rectángulo 9">
            <a:extLst>
              <a:ext uri="{FF2B5EF4-FFF2-40B4-BE49-F238E27FC236}">
                <a16:creationId xmlns:a16="http://schemas.microsoft.com/office/drawing/2014/main" id="{1A3F4939-BF9C-2500-1488-FFBE6A027252}"/>
              </a:ext>
            </a:extLst>
          </p:cNvPr>
          <p:cNvSpPr/>
          <p:nvPr/>
        </p:nvSpPr>
        <p:spPr>
          <a:xfrm>
            <a:off x="8194762" y="3948523"/>
            <a:ext cx="3910158" cy="1477328"/>
          </a:xfrm>
          <a:prstGeom prst="rect">
            <a:avLst/>
          </a:prstGeom>
          <a:solidFill>
            <a:schemeClr val="tx2">
              <a:lumMod val="20000"/>
              <a:lumOff val="80000"/>
            </a:schemeClr>
          </a:solidFill>
        </p:spPr>
        <p:txBody>
          <a:bodyPr wrap="square">
            <a:spAutoFit/>
          </a:bodyPr>
          <a:lstStyle/>
          <a:p>
            <a:r>
              <a:rPr lang="en-US" b="1" dirty="0"/>
              <a:t>OBJECTIVE FUNCTION VALUE</a:t>
            </a:r>
          </a:p>
          <a:p>
            <a:r>
              <a:rPr lang="en-US" b="1" dirty="0"/>
              <a:t>        1)      5040.000</a:t>
            </a:r>
          </a:p>
          <a:p>
            <a:r>
              <a:rPr lang="en-US" b="1" dirty="0"/>
              <a:t>  VARIABLE        VALUE   REDUCED COST</a:t>
            </a:r>
          </a:p>
          <a:p>
            <a:r>
              <a:rPr lang="en-US" b="1" dirty="0"/>
              <a:t>        </a:t>
            </a:r>
            <a:r>
              <a:rPr lang="en-US" b="1" dirty="0" err="1"/>
              <a:t>X1</a:t>
            </a:r>
            <a:r>
              <a:rPr lang="en-US" b="1" dirty="0"/>
              <a:t>       480.000000         -8.000000</a:t>
            </a:r>
          </a:p>
          <a:p>
            <a:r>
              <a:rPr lang="en-US" b="1" dirty="0"/>
              <a:t>        </a:t>
            </a:r>
            <a:r>
              <a:rPr lang="en-US" b="1" dirty="0" err="1"/>
              <a:t>X2</a:t>
            </a:r>
            <a:r>
              <a:rPr lang="en-US" b="1" dirty="0"/>
              <a:t>       240.000000         -5.000000</a:t>
            </a:r>
          </a:p>
        </p:txBody>
      </p:sp>
      <p:graphicFrame>
        <p:nvGraphicFramePr>
          <p:cNvPr id="11" name="7 Tabla">
            <a:extLst>
              <a:ext uri="{FF2B5EF4-FFF2-40B4-BE49-F238E27FC236}">
                <a16:creationId xmlns:a16="http://schemas.microsoft.com/office/drawing/2014/main" id="{4428FC64-1185-8FC8-57AD-CA2861CE9953}"/>
              </a:ext>
            </a:extLst>
          </p:cNvPr>
          <p:cNvGraphicFramePr>
            <a:graphicFrameLocks noGrp="1"/>
          </p:cNvGraphicFramePr>
          <p:nvPr>
            <p:extLst>
              <p:ext uri="{D42A27DB-BD31-4B8C-83A1-F6EECF244321}">
                <p14:modId xmlns:p14="http://schemas.microsoft.com/office/powerpoint/2010/main" val="4229511229"/>
              </p:ext>
            </p:extLst>
          </p:nvPr>
        </p:nvGraphicFramePr>
        <p:xfrm>
          <a:off x="6604640" y="1561371"/>
          <a:ext cx="5135591" cy="2277289"/>
        </p:xfrm>
        <a:graphic>
          <a:graphicData uri="http://schemas.openxmlformats.org/drawingml/2006/table">
            <a:tbl>
              <a:tblPr firstRow="1" bandRow="1">
                <a:tableStyleId>{5C22544A-7EE6-4342-B048-85BDC9FD1C3A}</a:tableStyleId>
              </a:tblPr>
              <a:tblGrid>
                <a:gridCol w="1026543">
                  <a:extLst>
                    <a:ext uri="{9D8B030D-6E8A-4147-A177-3AD203B41FA5}">
                      <a16:colId xmlns:a16="http://schemas.microsoft.com/office/drawing/2014/main" val="20000"/>
                    </a:ext>
                  </a:extLst>
                </a:gridCol>
                <a:gridCol w="1544377">
                  <a:extLst>
                    <a:ext uri="{9D8B030D-6E8A-4147-A177-3AD203B41FA5}">
                      <a16:colId xmlns:a16="http://schemas.microsoft.com/office/drawing/2014/main" val="20001"/>
                    </a:ext>
                  </a:extLst>
                </a:gridCol>
                <a:gridCol w="1495810">
                  <a:extLst>
                    <a:ext uri="{9D8B030D-6E8A-4147-A177-3AD203B41FA5}">
                      <a16:colId xmlns:a16="http://schemas.microsoft.com/office/drawing/2014/main" val="20002"/>
                    </a:ext>
                  </a:extLst>
                </a:gridCol>
                <a:gridCol w="1068861">
                  <a:extLst>
                    <a:ext uri="{9D8B030D-6E8A-4147-A177-3AD203B41FA5}">
                      <a16:colId xmlns:a16="http://schemas.microsoft.com/office/drawing/2014/main" val="20003"/>
                    </a:ext>
                  </a:extLst>
                </a:gridCol>
              </a:tblGrid>
              <a:tr h="672636">
                <a:tc>
                  <a:txBody>
                    <a:bodyPr/>
                    <a:lstStyle/>
                    <a:p>
                      <a:pPr algn="ctr"/>
                      <a:r>
                        <a:rPr lang="es-ES" sz="2000" b="0" dirty="0">
                          <a:latin typeface="Arial Narrow" panose="020B0606020202030204" pitchFamily="34" charset="0"/>
                        </a:rPr>
                        <a:t>TIPO</a:t>
                      </a:r>
                    </a:p>
                  </a:txBody>
                  <a:tcPr marL="68580" marR="68580"/>
                </a:tc>
                <a:tc>
                  <a:txBody>
                    <a:bodyPr/>
                    <a:lstStyle/>
                    <a:p>
                      <a:pPr algn="ctr"/>
                      <a:r>
                        <a:rPr lang="es-ES" sz="2000" b="0" dirty="0">
                          <a:latin typeface="Arial Narrow" panose="020B0606020202030204" pitchFamily="34" charset="0"/>
                        </a:rPr>
                        <a:t>Plástico</a:t>
                      </a:r>
                    </a:p>
                    <a:p>
                      <a:pPr algn="ctr"/>
                      <a:r>
                        <a:rPr lang="es-ES" sz="2000" b="0" dirty="0">
                          <a:latin typeface="Arial Narrow" panose="020B0606020202030204" pitchFamily="34" charset="0"/>
                        </a:rPr>
                        <a:t>(libras/docena)</a:t>
                      </a:r>
                    </a:p>
                  </a:txBody>
                  <a:tcPr marL="68580" marR="68580"/>
                </a:tc>
                <a:tc>
                  <a:txBody>
                    <a:bodyPr/>
                    <a:lstStyle/>
                    <a:p>
                      <a:pPr algn="ctr"/>
                      <a:r>
                        <a:rPr lang="es-ES" sz="2000" b="0" dirty="0">
                          <a:latin typeface="Arial Narrow" panose="020B0606020202030204" pitchFamily="34" charset="0"/>
                        </a:rPr>
                        <a:t>Producción</a:t>
                      </a:r>
                    </a:p>
                    <a:p>
                      <a:pPr algn="ctr"/>
                      <a:r>
                        <a:rPr lang="es-ES" sz="2000" b="0" dirty="0">
                          <a:latin typeface="Arial Narrow" panose="020B0606020202030204" pitchFamily="34" charset="0"/>
                        </a:rPr>
                        <a:t>(min./docena)</a:t>
                      </a:r>
                    </a:p>
                  </a:txBody>
                  <a:tcPr marL="68580" marR="68580"/>
                </a:tc>
                <a:tc>
                  <a:txBody>
                    <a:bodyPr/>
                    <a:lstStyle/>
                    <a:p>
                      <a:pPr algn="ctr"/>
                      <a:r>
                        <a:rPr lang="es-ES" sz="2000" b="0" dirty="0">
                          <a:latin typeface="Arial Narrow" panose="020B0606020202030204" pitchFamily="34" charset="0"/>
                        </a:rPr>
                        <a:t>Utilidad</a:t>
                      </a:r>
                    </a:p>
                    <a:p>
                      <a:pPr algn="ctr"/>
                      <a:r>
                        <a:rPr lang="es-ES" sz="2000" b="0" dirty="0">
                          <a:latin typeface="Arial Narrow" panose="020B0606020202030204" pitchFamily="34" charset="0"/>
                        </a:rPr>
                        <a:t>$/docena</a:t>
                      </a:r>
                    </a:p>
                  </a:txBody>
                  <a:tcPr marL="68580" marR="68580"/>
                </a:tc>
                <a:extLst>
                  <a:ext uri="{0D108BD9-81ED-4DB2-BD59-A6C34878D82A}">
                    <a16:rowId xmlns:a16="http://schemas.microsoft.com/office/drawing/2014/main" val="10000"/>
                  </a:ext>
                </a:extLst>
              </a:tr>
              <a:tr h="672636">
                <a:tc>
                  <a:txBody>
                    <a:bodyPr/>
                    <a:lstStyle/>
                    <a:p>
                      <a:pPr lvl="0"/>
                      <a:r>
                        <a:rPr lang="es-ES_tradnl" sz="2000" dirty="0" err="1">
                          <a:latin typeface="Arial Narrow" panose="020B0606020202030204" pitchFamily="34" charset="0"/>
                        </a:rPr>
                        <a:t>Space</a:t>
                      </a:r>
                      <a:r>
                        <a:rPr lang="es-ES_tradnl" sz="2000" dirty="0">
                          <a:latin typeface="Arial Narrow" panose="020B0606020202030204" pitchFamily="34" charset="0"/>
                        </a:rPr>
                        <a:t> </a:t>
                      </a:r>
                      <a:r>
                        <a:rPr lang="es-ES_tradnl" sz="2000" dirty="0" err="1">
                          <a:latin typeface="Arial Narrow" panose="020B0606020202030204" pitchFamily="34" charset="0"/>
                        </a:rPr>
                        <a:t>Ray</a:t>
                      </a:r>
                      <a:endParaRPr lang="es-ES" sz="2000" dirty="0">
                        <a:latin typeface="Arial Narrow" panose="020B0606020202030204" pitchFamily="34" charset="0"/>
                      </a:endParaRPr>
                    </a:p>
                  </a:txBody>
                  <a:tcPr marL="68580" marR="68580"/>
                </a:tc>
                <a:tc>
                  <a:txBody>
                    <a:bodyPr/>
                    <a:lstStyle/>
                    <a:p>
                      <a:pPr algn="ctr"/>
                      <a:r>
                        <a:rPr lang="es-ES" sz="2000" b="0" dirty="0">
                          <a:latin typeface="Arial Narrow" panose="020B0606020202030204" pitchFamily="34" charset="0"/>
                        </a:rPr>
                        <a:t>2</a:t>
                      </a:r>
                    </a:p>
                  </a:txBody>
                  <a:tcPr marL="68580" marR="68580"/>
                </a:tc>
                <a:tc>
                  <a:txBody>
                    <a:bodyPr/>
                    <a:lstStyle/>
                    <a:p>
                      <a:pPr algn="ctr"/>
                      <a:r>
                        <a:rPr lang="es-ES" sz="2000" b="0" dirty="0">
                          <a:latin typeface="Arial Narrow" panose="020B0606020202030204" pitchFamily="34" charset="0"/>
                        </a:rPr>
                        <a:t>3</a:t>
                      </a:r>
                    </a:p>
                  </a:txBody>
                  <a:tcPr marL="68580" marR="68580"/>
                </a:tc>
                <a:tc>
                  <a:txBody>
                    <a:bodyPr/>
                    <a:lstStyle/>
                    <a:p>
                      <a:pPr algn="ctr"/>
                      <a:r>
                        <a:rPr lang="es-ES" sz="2000" b="0" dirty="0">
                          <a:solidFill>
                            <a:srgbClr val="C00000"/>
                          </a:solidFill>
                          <a:latin typeface="Arial Narrow" panose="020B0606020202030204" pitchFamily="34" charset="0"/>
                        </a:rPr>
                        <a:t>8</a:t>
                      </a:r>
                    </a:p>
                  </a:txBody>
                  <a:tcPr marL="68580" marR="68580"/>
                </a:tc>
                <a:extLst>
                  <a:ext uri="{0D108BD9-81ED-4DB2-BD59-A6C34878D82A}">
                    <a16:rowId xmlns:a16="http://schemas.microsoft.com/office/drawing/2014/main" val="10001"/>
                  </a:ext>
                </a:extLst>
              </a:tr>
              <a:tr h="380186">
                <a:tc>
                  <a:txBody>
                    <a:bodyPr/>
                    <a:lstStyle/>
                    <a:p>
                      <a:pPr lvl="0"/>
                      <a:r>
                        <a:rPr lang="es-ES_tradnl" sz="2000" dirty="0" err="1">
                          <a:latin typeface="Arial Narrow" panose="020B0606020202030204" pitchFamily="34" charset="0"/>
                        </a:rPr>
                        <a:t>Zapper</a:t>
                      </a:r>
                      <a:endParaRPr lang="es-ES" sz="2000" dirty="0">
                        <a:latin typeface="Arial Narrow" panose="020B0606020202030204" pitchFamily="34" charset="0"/>
                      </a:endParaRPr>
                    </a:p>
                  </a:txBody>
                  <a:tcPr marL="68580" marR="68580"/>
                </a:tc>
                <a:tc>
                  <a:txBody>
                    <a:bodyPr/>
                    <a:lstStyle/>
                    <a:p>
                      <a:pPr algn="ctr"/>
                      <a:r>
                        <a:rPr lang="es-ES" sz="2000" b="0" dirty="0">
                          <a:latin typeface="Arial Narrow" panose="020B0606020202030204" pitchFamily="34" charset="0"/>
                        </a:rPr>
                        <a:t>1</a:t>
                      </a:r>
                    </a:p>
                  </a:txBody>
                  <a:tcPr marL="68580" marR="68580"/>
                </a:tc>
                <a:tc>
                  <a:txBody>
                    <a:bodyPr/>
                    <a:lstStyle/>
                    <a:p>
                      <a:pPr algn="ctr"/>
                      <a:r>
                        <a:rPr lang="es-ES" sz="2000" b="0" dirty="0">
                          <a:latin typeface="Arial Narrow" panose="020B0606020202030204" pitchFamily="34" charset="0"/>
                        </a:rPr>
                        <a:t>4</a:t>
                      </a:r>
                    </a:p>
                  </a:txBody>
                  <a:tcPr marL="68580" marR="68580"/>
                </a:tc>
                <a:tc>
                  <a:txBody>
                    <a:bodyPr/>
                    <a:lstStyle/>
                    <a:p>
                      <a:pPr algn="ctr"/>
                      <a:r>
                        <a:rPr lang="es-ES" sz="2000" b="0" dirty="0">
                          <a:solidFill>
                            <a:srgbClr val="C00000"/>
                          </a:solidFill>
                          <a:latin typeface="Arial Narrow" panose="020B0606020202030204" pitchFamily="34" charset="0"/>
                        </a:rPr>
                        <a:t>5</a:t>
                      </a:r>
                    </a:p>
                  </a:txBody>
                  <a:tcPr marL="68580" marR="68580"/>
                </a:tc>
                <a:extLst>
                  <a:ext uri="{0D108BD9-81ED-4DB2-BD59-A6C34878D82A}">
                    <a16:rowId xmlns:a16="http://schemas.microsoft.com/office/drawing/2014/main" val="10002"/>
                  </a:ext>
                </a:extLst>
              </a:tr>
              <a:tr h="478969">
                <a:tc>
                  <a:txBody>
                    <a:bodyPr/>
                    <a:lstStyle/>
                    <a:p>
                      <a:r>
                        <a:rPr lang="es-ES" sz="2000" b="0" dirty="0">
                          <a:latin typeface="Arial Narrow" panose="020B0606020202030204" pitchFamily="34" charset="0"/>
                        </a:rPr>
                        <a:t>Recursos</a:t>
                      </a:r>
                    </a:p>
                  </a:txBody>
                  <a:tcPr marL="68580" marR="68580"/>
                </a:tc>
                <a:tc>
                  <a:txBody>
                    <a:bodyPr/>
                    <a:lstStyle/>
                    <a:p>
                      <a:pPr algn="ctr"/>
                      <a:r>
                        <a:rPr lang="es-ES" sz="2000" b="0" dirty="0">
                          <a:solidFill>
                            <a:srgbClr val="C00000"/>
                          </a:solidFill>
                          <a:latin typeface="Arial Narrow" panose="020B0606020202030204" pitchFamily="34" charset="0"/>
                        </a:rPr>
                        <a:t>1200 Libras</a:t>
                      </a:r>
                    </a:p>
                  </a:txBody>
                  <a:tcPr marL="68580" marR="68580"/>
                </a:tc>
                <a:tc>
                  <a:txBody>
                    <a:bodyPr/>
                    <a:lstStyle/>
                    <a:p>
                      <a:pPr algn="ctr"/>
                      <a:r>
                        <a:rPr lang="es-ES" sz="2000" b="0" dirty="0">
                          <a:solidFill>
                            <a:srgbClr val="C00000"/>
                          </a:solidFill>
                          <a:latin typeface="Arial Narrow" panose="020B0606020202030204" pitchFamily="34" charset="0"/>
                        </a:rPr>
                        <a:t>40 Horas</a:t>
                      </a:r>
                    </a:p>
                  </a:txBody>
                  <a:tcPr marL="68580" marR="68580"/>
                </a:tc>
                <a:tc>
                  <a:txBody>
                    <a:bodyPr/>
                    <a:lstStyle/>
                    <a:p>
                      <a:endParaRPr lang="es-ES" sz="2000" b="0" dirty="0">
                        <a:latin typeface="Arial Narrow" panose="020B0606020202030204" pitchFamily="34" charset="0"/>
                      </a:endParaRPr>
                    </a:p>
                  </a:txBody>
                  <a:tcPr marL="68580" marR="6858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2129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par>
                                <p:cTn id="32" presetID="1"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4" grpId="0"/>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black">
          <a:xfrm>
            <a:off x="6096000" y="105469"/>
            <a:ext cx="6096000" cy="850876"/>
          </a:xfrm>
          <a:prstGeom prst="rect">
            <a:avLst/>
          </a:prstGeom>
          <a:noFill/>
          <a:ln w="9525">
            <a:noFill/>
            <a:miter lim="800000"/>
            <a:headEnd/>
            <a:tailEnd/>
          </a:ln>
          <a:effectLst/>
        </p:spPr>
        <p:txBody>
          <a:bodyPr spcFirstLastPara="1" vert="horz" wrap="square" lIns="68580" tIns="34290" rIns="68580" bIns="34290" numCol="1" rtlCol="0" anchor="ctr" anchorCtr="0" compatLnSpc="1">
            <a:prstTxWarp prst="textNoShape">
              <a:avLst/>
            </a:prstTxWarp>
            <a:noAutofit/>
          </a:bodyPr>
          <a:lstStyle>
            <a:lvl1pPr algn="ctr">
              <a:spcBef>
                <a:spcPct val="0"/>
              </a:spcBef>
              <a:buNone/>
              <a:defRPr sz="3200" b="0">
                <a:solidFill>
                  <a:schemeClr val="accent5">
                    <a:lumMod val="20000"/>
                    <a:lumOff val="80000"/>
                  </a:schemeClr>
                </a:solidFill>
                <a:latin typeface="Bauhaus 93" pitchFamily="82" charset="0"/>
              </a:defRPr>
            </a:lvl1pPr>
          </a:lstStyle>
          <a:p>
            <a:r>
              <a:rPr lang="es-ES_tradnl" dirty="0">
                <a:solidFill>
                  <a:schemeClr val="bg1"/>
                </a:solidFill>
              </a:rPr>
              <a:t>Problema 8</a:t>
            </a:r>
          </a:p>
          <a:p>
            <a:r>
              <a:rPr lang="es-ES_tradnl" dirty="0" err="1">
                <a:solidFill>
                  <a:schemeClr val="bg1"/>
                </a:solidFill>
              </a:rPr>
              <a:t>Health</a:t>
            </a:r>
            <a:r>
              <a:rPr lang="es-ES_tradnl" dirty="0">
                <a:solidFill>
                  <a:schemeClr val="bg1"/>
                </a:solidFill>
              </a:rPr>
              <a:t> </a:t>
            </a:r>
            <a:r>
              <a:rPr lang="es-ES_tradnl" dirty="0" err="1">
                <a:solidFill>
                  <a:schemeClr val="bg1"/>
                </a:solidFill>
              </a:rPr>
              <a:t>Nut</a:t>
            </a:r>
            <a:r>
              <a:rPr lang="es-ES_tradnl" dirty="0">
                <a:solidFill>
                  <a:schemeClr val="bg1"/>
                </a:solidFill>
              </a:rPr>
              <a:t> Company</a:t>
            </a:r>
          </a:p>
        </p:txBody>
      </p:sp>
      <p:sp>
        <p:nvSpPr>
          <p:cNvPr id="5" name="Rectangle 1">
            <a:extLst>
              <a:ext uri="{FF2B5EF4-FFF2-40B4-BE49-F238E27FC236}">
                <a16:creationId xmlns:a16="http://schemas.microsoft.com/office/drawing/2014/main" id="{622ED527-5A41-49FE-8E26-926FCC68EDB1}"/>
              </a:ext>
            </a:extLst>
          </p:cNvPr>
          <p:cNvSpPr>
            <a:spLocks noChangeArrowheads="1"/>
          </p:cNvSpPr>
          <p:nvPr/>
        </p:nvSpPr>
        <p:spPr bwMode="auto">
          <a:xfrm>
            <a:off x="6650961" y="1402734"/>
            <a:ext cx="464389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I.     Identificación de variables</a:t>
            </a:r>
            <a:endParaRPr lang="es-PE" sz="2000" b="1" dirty="0">
              <a:solidFill>
                <a:srgbClr val="FF0000"/>
              </a:solidFill>
              <a:latin typeface="Arial Narrow" pitchFamily="34" charset="0"/>
              <a:cs typeface="Arial" pitchFamily="34" charset="0"/>
            </a:endParaRPr>
          </a:p>
          <a:p>
            <a:pPr algn="just" eaLnBrk="0" fontAlgn="base" hangingPunct="0">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       </a:t>
            </a:r>
            <a:r>
              <a:rPr lang="es-PE" sz="2000" b="1" dirty="0" err="1">
                <a:latin typeface="Arial Narrow" pitchFamily="34" charset="0"/>
                <a:ea typeface="Calibri" pitchFamily="34" charset="0"/>
                <a:cs typeface="Arial" panose="020B0604020202020204" pitchFamily="34" charset="0"/>
              </a:rPr>
              <a:t>X1</a:t>
            </a:r>
            <a:r>
              <a:rPr lang="es-PE" sz="2000" b="1" dirty="0">
                <a:latin typeface="Arial Narrow" pitchFamily="34" charset="0"/>
                <a:ea typeface="Calibri" pitchFamily="34" charset="0"/>
                <a:cs typeface="Arial" panose="020B0604020202020204" pitchFamily="34" charset="0"/>
              </a:rPr>
              <a:t> = Cantidad de onzas de mantequilla</a:t>
            </a:r>
          </a:p>
          <a:p>
            <a:pPr algn="just" eaLnBrk="0" fontAlgn="base" hangingPunct="0">
              <a:spcBef>
                <a:spcPct val="0"/>
              </a:spcBef>
              <a:spcAft>
                <a:spcPct val="0"/>
              </a:spcAft>
            </a:pPr>
            <a:r>
              <a:rPr lang="es-PE" sz="2000" b="1" dirty="0">
                <a:latin typeface="Arial Narrow" pitchFamily="34" charset="0"/>
                <a:ea typeface="Calibri" pitchFamily="34" charset="0"/>
                <a:cs typeface="Arial" panose="020B0604020202020204" pitchFamily="34" charset="0"/>
              </a:rPr>
              <a:t>       </a:t>
            </a:r>
            <a:r>
              <a:rPr lang="es-PE" sz="2000" b="1" dirty="0" err="1">
                <a:latin typeface="Arial Narrow" pitchFamily="34" charset="0"/>
                <a:ea typeface="Calibri" pitchFamily="34" charset="0"/>
                <a:cs typeface="Arial" panose="020B0604020202020204" pitchFamily="34" charset="0"/>
              </a:rPr>
              <a:t>X2</a:t>
            </a:r>
            <a:r>
              <a:rPr lang="es-PE" sz="2000" b="1" dirty="0">
                <a:latin typeface="Arial Narrow" pitchFamily="34" charset="0"/>
                <a:ea typeface="Calibri" pitchFamily="34" charset="0"/>
                <a:cs typeface="Arial" panose="020B0604020202020204" pitchFamily="34" charset="0"/>
              </a:rPr>
              <a:t> = Cantidad de onzas de chocolate</a:t>
            </a:r>
            <a:endParaRPr lang="es-PE" sz="2000" b="1" dirty="0">
              <a:solidFill>
                <a:srgbClr val="FF0000"/>
              </a:solidFill>
              <a:latin typeface="Arial Narrow" pitchFamily="34" charset="0"/>
              <a:cs typeface="Arial" pitchFamily="34" charset="0"/>
            </a:endParaRPr>
          </a:p>
        </p:txBody>
      </p:sp>
      <p:sp>
        <p:nvSpPr>
          <p:cNvPr id="3" name="Rectángulo 2">
            <a:extLst>
              <a:ext uri="{FF2B5EF4-FFF2-40B4-BE49-F238E27FC236}">
                <a16:creationId xmlns:a16="http://schemas.microsoft.com/office/drawing/2014/main" id="{2821E81B-84F3-4EA2-BC4A-D4070FFD922F}"/>
              </a:ext>
            </a:extLst>
          </p:cNvPr>
          <p:cNvSpPr/>
          <p:nvPr/>
        </p:nvSpPr>
        <p:spPr>
          <a:xfrm>
            <a:off x="6498559" y="3221833"/>
            <a:ext cx="4448354" cy="1631216"/>
          </a:xfrm>
          <a:prstGeom prst="rect">
            <a:avLst/>
          </a:prstGeom>
        </p:spPr>
        <p:txBody>
          <a:bodyPr wrap="square">
            <a:spAutoFit/>
          </a:bodyPr>
          <a:lstStyle/>
          <a:p>
            <a:pPr marL="514350" indent="-514350" algn="just" eaLnBrk="0" fontAlgn="base" hangingPunct="0">
              <a:spcBef>
                <a:spcPct val="0"/>
              </a:spcBef>
              <a:spcAft>
                <a:spcPct val="0"/>
              </a:spcAft>
              <a:buAutoNum type="romanUcPeriod" startAt="3"/>
            </a:pPr>
            <a:r>
              <a:rPr lang="es-PE" sz="2000" b="1" dirty="0">
                <a:solidFill>
                  <a:srgbClr val="FF0000"/>
                </a:solidFill>
                <a:latin typeface="Arial Narrow" pitchFamily="34" charset="0"/>
                <a:ea typeface="Calibri" pitchFamily="34" charset="0"/>
                <a:cs typeface="Arial" panose="020B0604020202020204" pitchFamily="34" charset="0"/>
              </a:rPr>
              <a:t>Identificación de las restricciones</a:t>
            </a:r>
          </a:p>
          <a:p>
            <a:pPr algn="just" eaLnBrk="0" fontAlgn="base" hangingPunct="0">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           </a:t>
            </a:r>
            <a:r>
              <a:rPr lang="es-PE" sz="2000" b="1" dirty="0" err="1">
                <a:latin typeface="Arial Narrow" pitchFamily="34" charset="0"/>
                <a:ea typeface="Calibri" pitchFamily="34" charset="0"/>
                <a:cs typeface="Arial" panose="020B0604020202020204" pitchFamily="34" charset="0"/>
              </a:rPr>
              <a:t>4X1+0,80X2</a:t>
            </a:r>
            <a:r>
              <a:rPr lang="es-PE" sz="2000" b="1" dirty="0">
                <a:latin typeface="Arial Narrow" pitchFamily="34" charset="0"/>
                <a:ea typeface="Calibri" pitchFamily="34" charset="0"/>
                <a:cs typeface="Arial" panose="020B0604020202020204" pitchFamily="34" charset="0"/>
              </a:rPr>
              <a:t>&gt;=5</a:t>
            </a:r>
          </a:p>
          <a:p>
            <a:pPr algn="just" eaLnBrk="0" fontAlgn="base" hangingPunct="0">
              <a:spcBef>
                <a:spcPct val="0"/>
              </a:spcBef>
              <a:spcAft>
                <a:spcPct val="0"/>
              </a:spcAft>
            </a:pPr>
            <a:r>
              <a:rPr lang="es-PE" sz="2000" b="1" dirty="0">
                <a:latin typeface="Arial Narrow" pitchFamily="34" charset="0"/>
                <a:ea typeface="Calibri" pitchFamily="34" charset="0"/>
                <a:cs typeface="Arial" panose="020B0604020202020204" pitchFamily="34" charset="0"/>
              </a:rPr>
              <a:t>        </a:t>
            </a:r>
            <a:r>
              <a:rPr lang="es-PE" sz="2000" b="1" dirty="0" err="1">
                <a:latin typeface="Arial Narrow" pitchFamily="34" charset="0"/>
                <a:ea typeface="Calibri" pitchFamily="34" charset="0"/>
                <a:cs typeface="Arial" panose="020B0604020202020204" pitchFamily="34" charset="0"/>
              </a:rPr>
              <a:t>2,5X1</a:t>
            </a:r>
            <a:r>
              <a:rPr lang="es-PE" sz="2000" b="1" dirty="0">
                <a:latin typeface="Arial Narrow" pitchFamily="34" charset="0"/>
                <a:ea typeface="Calibri" pitchFamily="34" charset="0"/>
                <a:cs typeface="Arial" panose="020B0604020202020204" pitchFamily="34" charset="0"/>
              </a:rPr>
              <a:t>+    </a:t>
            </a:r>
            <a:r>
              <a:rPr lang="es-PE" sz="2000" b="1" dirty="0" err="1">
                <a:latin typeface="Arial Narrow" pitchFamily="34" charset="0"/>
                <a:ea typeface="Calibri" pitchFamily="34" charset="0"/>
                <a:cs typeface="Arial" panose="020B0604020202020204" pitchFamily="34" charset="0"/>
              </a:rPr>
              <a:t>1X2</a:t>
            </a:r>
            <a:r>
              <a:rPr lang="es-PE" sz="2000" b="1" dirty="0">
                <a:latin typeface="Arial Narrow" pitchFamily="34" charset="0"/>
                <a:ea typeface="Calibri" pitchFamily="34" charset="0"/>
                <a:cs typeface="Arial" panose="020B0604020202020204" pitchFamily="34" charset="0"/>
              </a:rPr>
              <a:t> &lt;=5</a:t>
            </a:r>
          </a:p>
          <a:p>
            <a:pPr algn="just" eaLnBrk="0" fontAlgn="base" hangingPunct="0">
              <a:spcBef>
                <a:spcPct val="0"/>
              </a:spcBef>
              <a:spcAft>
                <a:spcPct val="0"/>
              </a:spcAft>
            </a:pPr>
            <a:r>
              <a:rPr lang="es-PE" sz="2000" b="1" dirty="0">
                <a:latin typeface="Arial Narrow" pitchFamily="34" charset="0"/>
                <a:ea typeface="Calibri" pitchFamily="34" charset="0"/>
                <a:cs typeface="Arial" panose="020B0604020202020204" pitchFamily="34" charset="0"/>
              </a:rPr>
              <a:t>           </a:t>
            </a:r>
            <a:r>
              <a:rPr lang="es-PE" sz="2000" b="1" dirty="0" err="1">
                <a:latin typeface="Arial Narrow" pitchFamily="34" charset="0"/>
                <a:ea typeface="Calibri" pitchFamily="34" charset="0"/>
                <a:cs typeface="Arial" panose="020B0604020202020204" pitchFamily="34" charset="0"/>
              </a:rPr>
              <a:t>2X1+0,50X2</a:t>
            </a:r>
            <a:r>
              <a:rPr lang="es-PE" sz="2000" b="1" dirty="0">
                <a:latin typeface="Arial Narrow" pitchFamily="34" charset="0"/>
                <a:ea typeface="Calibri" pitchFamily="34" charset="0"/>
                <a:cs typeface="Arial" panose="020B0604020202020204" pitchFamily="34" charset="0"/>
              </a:rPr>
              <a:t>&lt;=3</a:t>
            </a:r>
          </a:p>
          <a:p>
            <a:pPr algn="just" eaLnBrk="0" fontAlgn="base" hangingPunct="0">
              <a:spcBef>
                <a:spcPct val="0"/>
              </a:spcBef>
              <a:spcAft>
                <a:spcPct val="0"/>
              </a:spcAft>
            </a:pPr>
            <a:r>
              <a:rPr lang="es-PE" sz="2000" b="1" dirty="0">
                <a:latin typeface="Arial Narrow" pitchFamily="34" charset="0"/>
                <a:ea typeface="Calibri" pitchFamily="34" charset="0"/>
                <a:cs typeface="Arial" panose="020B0604020202020204" pitchFamily="34" charset="0"/>
              </a:rPr>
              <a:t>	   </a:t>
            </a:r>
            <a:r>
              <a:rPr lang="es-PE" sz="2000" b="1" dirty="0" err="1">
                <a:latin typeface="Arial Narrow" pitchFamily="34" charset="0"/>
                <a:ea typeface="Calibri" pitchFamily="34" charset="0"/>
                <a:cs typeface="Arial" panose="020B0604020202020204" pitchFamily="34" charset="0"/>
              </a:rPr>
              <a:t>X1,X2</a:t>
            </a:r>
            <a:r>
              <a:rPr lang="es-PE" sz="2000" b="1" dirty="0">
                <a:latin typeface="Arial Narrow" pitchFamily="34" charset="0"/>
                <a:ea typeface="Calibri" pitchFamily="34" charset="0"/>
                <a:cs typeface="Arial" panose="020B0604020202020204" pitchFamily="34" charset="0"/>
              </a:rPr>
              <a:t>  &gt;=0</a:t>
            </a:r>
          </a:p>
        </p:txBody>
      </p:sp>
      <p:sp>
        <p:nvSpPr>
          <p:cNvPr id="6" name="Rectángulo 5">
            <a:extLst>
              <a:ext uri="{FF2B5EF4-FFF2-40B4-BE49-F238E27FC236}">
                <a16:creationId xmlns:a16="http://schemas.microsoft.com/office/drawing/2014/main" id="{B4091DAE-E182-44A5-87EA-BAF30BDA06E6}"/>
              </a:ext>
            </a:extLst>
          </p:cNvPr>
          <p:cNvSpPr/>
          <p:nvPr/>
        </p:nvSpPr>
        <p:spPr>
          <a:xfrm>
            <a:off x="6627955" y="2458618"/>
            <a:ext cx="4310332" cy="707886"/>
          </a:xfrm>
          <a:prstGeom prst="rect">
            <a:avLst/>
          </a:prstGeom>
        </p:spPr>
        <p:txBody>
          <a:bodyPr wrap="square">
            <a:spAutoFit/>
          </a:bodyPr>
          <a:lstStyle/>
          <a:p>
            <a:pPr algn="just" eaLnBrk="0" fontAlgn="base" hangingPunct="0">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000" b="1" dirty="0">
              <a:solidFill>
                <a:srgbClr val="FF0000"/>
              </a:solidFill>
              <a:latin typeface="Arial Narrow" pitchFamily="34" charset="0"/>
              <a:cs typeface="Arial" pitchFamily="34" charset="0"/>
            </a:endParaRPr>
          </a:p>
          <a:p>
            <a:pPr algn="just" eaLnBrk="0" fontAlgn="base" hangingPunct="0">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       </a:t>
            </a:r>
            <a:r>
              <a:rPr lang="es-PE" sz="2000" b="1" dirty="0">
                <a:latin typeface="Arial Narrow" pitchFamily="34" charset="0"/>
                <a:ea typeface="Calibri" pitchFamily="34" charset="0"/>
                <a:cs typeface="Arial" panose="020B0604020202020204" pitchFamily="34" charset="0"/>
              </a:rPr>
              <a:t>Min </a:t>
            </a:r>
            <a:r>
              <a:rPr lang="es-PE" sz="2000" b="1" dirty="0" err="1">
                <a:latin typeface="Arial Narrow" pitchFamily="34" charset="0"/>
                <a:ea typeface="Calibri" pitchFamily="34" charset="0"/>
                <a:cs typeface="Arial" panose="020B0604020202020204" pitchFamily="34" charset="0"/>
              </a:rPr>
              <a:t>0,10X1+0,18X2</a:t>
            </a:r>
            <a:endParaRPr lang="es-PE" sz="2000" b="1" dirty="0">
              <a:latin typeface="Arial Narrow" pitchFamily="34" charset="0"/>
              <a:ea typeface="Calibri" pitchFamily="34" charset="0"/>
              <a:cs typeface="Arial" panose="020B0604020202020204" pitchFamily="34" charset="0"/>
            </a:endParaRPr>
          </a:p>
        </p:txBody>
      </p:sp>
      <p:sp>
        <p:nvSpPr>
          <p:cNvPr id="7" name="2 Marcador de contenido">
            <a:extLst>
              <a:ext uri="{FF2B5EF4-FFF2-40B4-BE49-F238E27FC236}">
                <a16:creationId xmlns:a16="http://schemas.microsoft.com/office/drawing/2014/main" id="{3F0F900E-950C-48BE-9047-B4192F7D167E}"/>
              </a:ext>
            </a:extLst>
          </p:cNvPr>
          <p:cNvSpPr txBox="1">
            <a:spLocks/>
          </p:cNvSpPr>
          <p:nvPr/>
        </p:nvSpPr>
        <p:spPr>
          <a:xfrm>
            <a:off x="6354788" y="5056213"/>
            <a:ext cx="2063246" cy="1477071"/>
          </a:xfrm>
          <a:prstGeom prst="rect">
            <a:avLst/>
          </a:prstGeom>
          <a:solidFill>
            <a:srgbClr val="FFFF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s-ES" sz="1800" dirty="0">
                <a:latin typeface="Arial Narrow" pitchFamily="34" charset="0"/>
              </a:rPr>
              <a:t>MIN </a:t>
            </a:r>
            <a:r>
              <a:rPr lang="es-ES" sz="1800" dirty="0" err="1">
                <a:latin typeface="Arial Narrow" pitchFamily="34" charset="0"/>
              </a:rPr>
              <a:t>0.10X1</a:t>
            </a:r>
            <a:r>
              <a:rPr lang="es-ES" sz="1800" dirty="0">
                <a:latin typeface="Arial Narrow" pitchFamily="34" charset="0"/>
              </a:rPr>
              <a:t> + </a:t>
            </a:r>
            <a:r>
              <a:rPr lang="es-ES" sz="1800" dirty="0" err="1">
                <a:latin typeface="Arial Narrow" pitchFamily="34" charset="0"/>
              </a:rPr>
              <a:t>0.18X2</a:t>
            </a:r>
            <a:endParaRPr lang="es-ES" sz="1800" dirty="0">
              <a:latin typeface="Arial Narrow" pitchFamily="34" charset="0"/>
            </a:endParaRPr>
          </a:p>
          <a:p>
            <a:pPr marL="0" indent="0">
              <a:lnSpc>
                <a:spcPct val="100000"/>
              </a:lnSpc>
              <a:spcBef>
                <a:spcPts val="0"/>
              </a:spcBef>
              <a:buFont typeface="Arial" panose="020B0604020202020204" pitchFamily="34" charset="0"/>
              <a:buNone/>
            </a:pPr>
            <a:r>
              <a:rPr lang="es-ES" sz="1800" dirty="0" err="1">
                <a:solidFill>
                  <a:srgbClr val="FF0000"/>
                </a:solidFill>
                <a:latin typeface="Arial Narrow" pitchFamily="34" charset="0"/>
              </a:rPr>
              <a:t>SUBJECT</a:t>
            </a:r>
            <a:r>
              <a:rPr lang="es-ES" sz="1800" dirty="0">
                <a:solidFill>
                  <a:srgbClr val="FF0000"/>
                </a:solidFill>
                <a:latin typeface="Arial Narrow" pitchFamily="34" charset="0"/>
              </a:rPr>
              <a:t> </a:t>
            </a:r>
            <a:r>
              <a:rPr lang="es-ES" sz="1800" dirty="0" err="1">
                <a:solidFill>
                  <a:srgbClr val="FF0000"/>
                </a:solidFill>
                <a:latin typeface="Arial Narrow" pitchFamily="34" charset="0"/>
              </a:rPr>
              <a:t>TO</a:t>
            </a:r>
            <a:endParaRPr lang="es-ES" sz="1800" dirty="0">
              <a:solidFill>
                <a:srgbClr val="FF0000"/>
              </a:solidFill>
              <a:latin typeface="Arial Narrow" pitchFamily="34" charset="0"/>
            </a:endParaRPr>
          </a:p>
          <a:p>
            <a:pPr marL="0" indent="0">
              <a:lnSpc>
                <a:spcPct val="100000"/>
              </a:lnSpc>
              <a:spcBef>
                <a:spcPts val="0"/>
              </a:spcBef>
              <a:buFont typeface="Arial" panose="020B0604020202020204" pitchFamily="34" charset="0"/>
              <a:buNone/>
            </a:pPr>
            <a:r>
              <a:rPr lang="es-ES" sz="1800" dirty="0">
                <a:latin typeface="Arial Narrow" pitchFamily="34" charset="0"/>
              </a:rPr>
              <a:t>   </a:t>
            </a:r>
            <a:r>
              <a:rPr lang="es-ES" sz="1800" dirty="0" err="1">
                <a:latin typeface="Arial Narrow" pitchFamily="34" charset="0"/>
              </a:rPr>
              <a:t>4X1</a:t>
            </a:r>
            <a:r>
              <a:rPr lang="es-ES" sz="1800" dirty="0">
                <a:latin typeface="Arial Narrow" pitchFamily="34" charset="0"/>
              </a:rPr>
              <a:t> + </a:t>
            </a:r>
            <a:r>
              <a:rPr lang="es-ES" sz="1800" dirty="0" err="1">
                <a:latin typeface="Arial Narrow" pitchFamily="34" charset="0"/>
              </a:rPr>
              <a:t>0.8X2</a:t>
            </a:r>
            <a:r>
              <a:rPr lang="es-ES" sz="1800" dirty="0">
                <a:latin typeface="Arial Narrow" pitchFamily="34" charset="0"/>
              </a:rPr>
              <a:t> &gt;= 5</a:t>
            </a:r>
          </a:p>
          <a:p>
            <a:pPr marL="0" indent="0">
              <a:lnSpc>
                <a:spcPct val="100000"/>
              </a:lnSpc>
              <a:spcBef>
                <a:spcPts val="0"/>
              </a:spcBef>
              <a:buFont typeface="Arial" panose="020B0604020202020204" pitchFamily="34" charset="0"/>
              <a:buNone/>
            </a:pPr>
            <a:r>
              <a:rPr lang="es-ES" sz="1800" dirty="0" err="1">
                <a:latin typeface="Arial Narrow" pitchFamily="34" charset="0"/>
              </a:rPr>
              <a:t>2.5X1</a:t>
            </a:r>
            <a:r>
              <a:rPr lang="es-ES" sz="1800" dirty="0">
                <a:latin typeface="Arial Narrow" pitchFamily="34" charset="0"/>
              </a:rPr>
              <a:t> + </a:t>
            </a:r>
            <a:r>
              <a:rPr lang="es-ES" sz="1800" dirty="0" err="1">
                <a:latin typeface="Arial Narrow" pitchFamily="34" charset="0"/>
              </a:rPr>
              <a:t>1.0X2</a:t>
            </a:r>
            <a:r>
              <a:rPr lang="es-ES" sz="1800" dirty="0">
                <a:latin typeface="Arial Narrow" pitchFamily="34" charset="0"/>
              </a:rPr>
              <a:t> &lt;= 5</a:t>
            </a:r>
          </a:p>
          <a:p>
            <a:pPr marL="0" indent="0">
              <a:lnSpc>
                <a:spcPct val="100000"/>
              </a:lnSpc>
              <a:spcBef>
                <a:spcPts val="0"/>
              </a:spcBef>
              <a:buFont typeface="Arial" panose="020B0604020202020204" pitchFamily="34" charset="0"/>
              <a:buNone/>
            </a:pPr>
            <a:r>
              <a:rPr lang="es-ES" sz="1800" dirty="0">
                <a:latin typeface="Arial Narrow" pitchFamily="34" charset="0"/>
              </a:rPr>
              <a:t>   </a:t>
            </a:r>
            <a:r>
              <a:rPr lang="es-ES" sz="1800" dirty="0" err="1">
                <a:latin typeface="Arial Narrow" pitchFamily="34" charset="0"/>
              </a:rPr>
              <a:t>2X1</a:t>
            </a:r>
            <a:r>
              <a:rPr lang="es-ES" sz="1800" dirty="0">
                <a:latin typeface="Arial Narrow" pitchFamily="34" charset="0"/>
              </a:rPr>
              <a:t> + </a:t>
            </a:r>
            <a:r>
              <a:rPr lang="es-ES" sz="1800" dirty="0" err="1">
                <a:latin typeface="Arial Narrow" pitchFamily="34" charset="0"/>
              </a:rPr>
              <a:t>0.5X2</a:t>
            </a:r>
            <a:r>
              <a:rPr lang="es-ES" sz="1800" dirty="0">
                <a:latin typeface="Arial Narrow" pitchFamily="34" charset="0"/>
              </a:rPr>
              <a:t> &lt;= 3</a:t>
            </a:r>
            <a:endParaRPr lang="es-ES" sz="1800" dirty="0">
              <a:solidFill>
                <a:srgbClr val="FF0000"/>
              </a:solidFill>
              <a:latin typeface="Arial Narrow" pitchFamily="34" charset="0"/>
            </a:endParaRPr>
          </a:p>
        </p:txBody>
      </p:sp>
      <p:sp>
        <p:nvSpPr>
          <p:cNvPr id="8" name="Rectángulo 7">
            <a:extLst>
              <a:ext uri="{FF2B5EF4-FFF2-40B4-BE49-F238E27FC236}">
                <a16:creationId xmlns:a16="http://schemas.microsoft.com/office/drawing/2014/main" id="{0D4723B0-6A57-466B-BEB8-0CE8146FA9D4}"/>
              </a:ext>
            </a:extLst>
          </p:cNvPr>
          <p:cNvSpPr/>
          <p:nvPr/>
        </p:nvSpPr>
        <p:spPr>
          <a:xfrm>
            <a:off x="8489739" y="5055956"/>
            <a:ext cx="3641879" cy="1477328"/>
          </a:xfrm>
          <a:prstGeom prst="rect">
            <a:avLst/>
          </a:prstGeom>
          <a:solidFill>
            <a:schemeClr val="tx2">
              <a:lumMod val="20000"/>
              <a:lumOff val="80000"/>
            </a:schemeClr>
          </a:solidFill>
        </p:spPr>
        <p:txBody>
          <a:bodyPr wrap="square">
            <a:spAutoFit/>
          </a:bodyPr>
          <a:lstStyle/>
          <a:p>
            <a:r>
              <a:rPr lang="en-US" dirty="0">
                <a:solidFill>
                  <a:srgbClr val="FF0000"/>
                </a:solidFill>
                <a:latin typeface="Arial Narrow" pitchFamily="34" charset="0"/>
              </a:rPr>
              <a:t>OBJECTIVE FUNCTION VALUE</a:t>
            </a:r>
          </a:p>
          <a:p>
            <a:r>
              <a:rPr lang="en-US" dirty="0">
                <a:solidFill>
                  <a:srgbClr val="FF0000"/>
                </a:solidFill>
                <a:latin typeface="Arial Narrow" pitchFamily="34" charset="0"/>
              </a:rPr>
              <a:t>        1)     0.1250000</a:t>
            </a:r>
          </a:p>
          <a:p>
            <a:r>
              <a:rPr lang="en-US" dirty="0">
                <a:solidFill>
                  <a:srgbClr val="FF0000"/>
                </a:solidFill>
                <a:latin typeface="Arial Narrow" pitchFamily="34" charset="0"/>
              </a:rPr>
              <a:t>  VARIABLE   VALUE   REDUCED COST</a:t>
            </a:r>
          </a:p>
          <a:p>
            <a:r>
              <a:rPr lang="en-US" dirty="0">
                <a:solidFill>
                  <a:srgbClr val="FF0000"/>
                </a:solidFill>
                <a:latin typeface="Arial Narrow" pitchFamily="34" charset="0"/>
              </a:rPr>
              <a:t>         </a:t>
            </a:r>
            <a:r>
              <a:rPr lang="en-US" dirty="0" err="1">
                <a:solidFill>
                  <a:srgbClr val="FF0000"/>
                </a:solidFill>
                <a:latin typeface="Arial Narrow" pitchFamily="34" charset="0"/>
              </a:rPr>
              <a:t>X1</a:t>
            </a:r>
            <a:r>
              <a:rPr lang="en-US" dirty="0">
                <a:solidFill>
                  <a:srgbClr val="FF0000"/>
                </a:solidFill>
                <a:latin typeface="Arial Narrow" pitchFamily="34" charset="0"/>
              </a:rPr>
              <a:t>         1.250000    0.000000</a:t>
            </a:r>
          </a:p>
          <a:p>
            <a:r>
              <a:rPr lang="en-US" dirty="0">
                <a:solidFill>
                  <a:srgbClr val="FF0000"/>
                </a:solidFill>
                <a:latin typeface="Arial Narrow" pitchFamily="34" charset="0"/>
              </a:rPr>
              <a:t>         </a:t>
            </a:r>
            <a:r>
              <a:rPr lang="en-US" dirty="0" err="1">
                <a:solidFill>
                  <a:srgbClr val="FF0000"/>
                </a:solidFill>
                <a:latin typeface="Arial Narrow" pitchFamily="34" charset="0"/>
              </a:rPr>
              <a:t>X2</a:t>
            </a:r>
            <a:r>
              <a:rPr lang="en-US" dirty="0">
                <a:solidFill>
                  <a:srgbClr val="FF0000"/>
                </a:solidFill>
                <a:latin typeface="Arial Narrow" pitchFamily="34" charset="0"/>
              </a:rPr>
              <a:t>         0.000000    0.160000</a:t>
            </a:r>
          </a:p>
        </p:txBody>
      </p:sp>
      <p:sp>
        <p:nvSpPr>
          <p:cNvPr id="12" name="CuadroTexto 11">
            <a:extLst>
              <a:ext uri="{FF2B5EF4-FFF2-40B4-BE49-F238E27FC236}">
                <a16:creationId xmlns:a16="http://schemas.microsoft.com/office/drawing/2014/main" id="{A6DE0414-056B-B2D9-2B19-F7C8A8329A84}"/>
              </a:ext>
            </a:extLst>
          </p:cNvPr>
          <p:cNvSpPr txBox="1"/>
          <p:nvPr/>
        </p:nvSpPr>
        <p:spPr>
          <a:xfrm>
            <a:off x="116006" y="1225689"/>
            <a:ext cx="6238782" cy="5632311"/>
          </a:xfrm>
          <a:prstGeom prst="rect">
            <a:avLst/>
          </a:prstGeom>
          <a:noFill/>
        </p:spPr>
        <p:txBody>
          <a:bodyPr wrap="square">
            <a:spAutoFit/>
          </a:bodyPr>
          <a:lstStyle/>
          <a:p>
            <a:pPr lvl="0" algn="just" rtl="0"/>
            <a:r>
              <a:rPr lang="es-ES" sz="2400" dirty="0" err="1"/>
              <a:t>Health</a:t>
            </a:r>
            <a:r>
              <a:rPr lang="es-ES" sz="2400" dirty="0"/>
              <a:t> </a:t>
            </a:r>
            <a:r>
              <a:rPr lang="es-ES" sz="2400" dirty="0" err="1"/>
              <a:t>Nut</a:t>
            </a:r>
            <a:r>
              <a:rPr lang="es-ES" sz="2400" dirty="0"/>
              <a:t> Company esta desarrollando una nueva barra de mantequilla de cacahuate y chocolate. El dulce debe tener al menos 5 gramos de proteínas, pero no más de 5 gramos de carbohidratos y 3 gramos de grasas saturadas. Desarrolle un programa lineal para determinar la  cantidad de cada  ingrediente  por utilizar que satisfaga los requerimientos nutricionales a un costo total mínimo, basándose en los siguientes datos:</a:t>
            </a:r>
          </a:p>
          <a:p>
            <a:pPr lvl="0" algn="just" rtl="0"/>
            <a:r>
              <a:rPr lang="es-ES" sz="2400" b="1" dirty="0"/>
              <a:t>             Mantequilla de cacahuate   Chocolate</a:t>
            </a:r>
          </a:p>
          <a:p>
            <a:pPr lvl="0" algn="just" rtl="0"/>
            <a:r>
              <a:rPr lang="es-ES" sz="2400" dirty="0"/>
              <a:t>Costo   ($/oz.)    	       0.10        	  0.18</a:t>
            </a:r>
          </a:p>
          <a:p>
            <a:pPr lvl="0" algn="just" rtl="0"/>
            <a:r>
              <a:rPr lang="es-ES" sz="2400" dirty="0"/>
              <a:t>Proteínas (g/oz.) 	       4.00        	  0.80</a:t>
            </a:r>
          </a:p>
          <a:p>
            <a:pPr lvl="0" algn="just" rtl="0"/>
            <a:r>
              <a:rPr lang="es-ES" sz="2400" dirty="0"/>
              <a:t>Carbohidratos (g/oz.)         2.50         	  1.00</a:t>
            </a:r>
          </a:p>
          <a:p>
            <a:pPr lvl="0" algn="just" rtl="0"/>
            <a:r>
              <a:rPr lang="es-ES" sz="2400" dirty="0"/>
              <a:t>Grasas saturadas (g/oz.)    2.00	  0.50          </a:t>
            </a:r>
          </a:p>
        </p:txBody>
      </p:sp>
    </p:spTree>
    <p:extLst>
      <p:ext uri="{BB962C8B-B14F-4D97-AF65-F5344CB8AC3E}">
        <p14:creationId xmlns:p14="http://schemas.microsoft.com/office/powerpoint/2010/main" val="365296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6" grpId="0"/>
      <p:bldP spid="7"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black">
          <a:xfrm>
            <a:off x="6096000" y="306805"/>
            <a:ext cx="6096000" cy="482377"/>
          </a:xfrm>
          <a:prstGeom prst="rect">
            <a:avLst/>
          </a:prstGeom>
          <a:noFill/>
          <a:ln w="9525">
            <a:noFill/>
            <a:miter lim="800000"/>
            <a:headEnd/>
            <a:tailEnd/>
          </a:ln>
          <a:effectLst/>
        </p:spPr>
        <p:txBody>
          <a:bodyPr spcFirstLastPara="1" vert="horz" wrap="square" lIns="68580" tIns="34290" rIns="68580" bIns="34290" numCol="1" rtlCol="0" anchor="ctr" anchorCtr="0" compatLnSpc="1">
            <a:prstTxWarp prst="textNoShape">
              <a:avLst/>
            </a:prstTxWarp>
            <a:noAutofit/>
          </a:bodyPr>
          <a:lstStyle>
            <a:lvl1pPr algn="ctr">
              <a:spcBef>
                <a:spcPct val="0"/>
              </a:spcBef>
              <a:buNone/>
              <a:defRPr sz="3200" b="0">
                <a:solidFill>
                  <a:schemeClr val="bg1"/>
                </a:solidFill>
                <a:latin typeface="Bauhaus 93" pitchFamily="82" charset="0"/>
              </a:defRPr>
            </a:lvl1pPr>
          </a:lstStyle>
          <a:p>
            <a:r>
              <a:rPr lang="es-ES_tradnl" dirty="0"/>
              <a:t>Problema 9</a:t>
            </a:r>
          </a:p>
          <a:p>
            <a:r>
              <a:rPr lang="es-ES_tradnl" dirty="0" err="1"/>
              <a:t>FMR</a:t>
            </a:r>
            <a:r>
              <a:rPr lang="es-ES_tradnl" dirty="0"/>
              <a:t> Company</a:t>
            </a:r>
          </a:p>
        </p:txBody>
      </p:sp>
      <p:sp>
        <p:nvSpPr>
          <p:cNvPr id="7" name="CuadroTexto 6">
            <a:extLst>
              <a:ext uri="{FF2B5EF4-FFF2-40B4-BE49-F238E27FC236}">
                <a16:creationId xmlns:a16="http://schemas.microsoft.com/office/drawing/2014/main" id="{119B4834-538C-25DA-3280-D8C141053A5C}"/>
              </a:ext>
            </a:extLst>
          </p:cNvPr>
          <p:cNvSpPr txBox="1"/>
          <p:nvPr/>
        </p:nvSpPr>
        <p:spPr>
          <a:xfrm>
            <a:off x="217226" y="1164134"/>
            <a:ext cx="11757547" cy="5693866"/>
          </a:xfrm>
          <a:prstGeom prst="rect">
            <a:avLst/>
          </a:prstGeom>
          <a:noFill/>
        </p:spPr>
        <p:txBody>
          <a:bodyPr wrap="square">
            <a:spAutoFit/>
          </a:bodyPr>
          <a:lstStyle/>
          <a:p>
            <a:pPr lvl="0" algn="just" rtl="0"/>
            <a:r>
              <a:rPr lang="es-ES" sz="2800" b="1" dirty="0"/>
              <a:t>FMR Company tiene una máquina capaz de fabricar tubos de diámetros grandes y pequeños para contratistas de plomería. Los tubos grandes se producen a una velocidad de 200 pies por hora y los pequeños a unos 300 pies por hora. Cada hora que la maquina es utilizada para producir tubos grandes, generalmente ocasiona 1.5 atascamientos y cuando se producen tubos pequeños resultan 3 atascamientos por hora. Cada atascamiento requiere aproximadamente 5 minutos  de restablecimiento durante los cuales la máquina no puede  producir tubos. La gerencia desea un número igual de pies de ambos tamaños de tubos y la mayor cantidad total de tubos posible. Formule un modelo para determinar cuanto tiempo de un día de 8 horas debe asignarse a la producción de tubos grandes y cuanto a la de tubos pequeños. Para las variables de decisión, use el número de horas de tiempo de máquina por dedicar a la fabricación de tubos pequeños y grandes.</a:t>
            </a:r>
          </a:p>
        </p:txBody>
      </p:sp>
    </p:spTree>
    <p:extLst>
      <p:ext uri="{BB962C8B-B14F-4D97-AF65-F5344CB8AC3E}">
        <p14:creationId xmlns:p14="http://schemas.microsoft.com/office/powerpoint/2010/main" val="252072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extLst>
              <p:ext uri="{D42A27DB-BD31-4B8C-83A1-F6EECF244321}">
                <p14:modId xmlns:p14="http://schemas.microsoft.com/office/powerpoint/2010/main" val="2938569872"/>
              </p:ext>
            </p:extLst>
          </p:nvPr>
        </p:nvGraphicFramePr>
        <p:xfrm>
          <a:off x="1198083" y="1379484"/>
          <a:ext cx="7975547" cy="1351008"/>
        </p:xfrm>
        <a:graphic>
          <a:graphicData uri="http://schemas.openxmlformats.org/drawingml/2006/table">
            <a:tbl>
              <a:tblPr>
                <a:tableStyleId>{5C22544A-7EE6-4342-B048-85BDC9FD1C3A}</a:tableStyleId>
              </a:tblPr>
              <a:tblGrid>
                <a:gridCol w="1357540">
                  <a:extLst>
                    <a:ext uri="{9D8B030D-6E8A-4147-A177-3AD203B41FA5}">
                      <a16:colId xmlns:a16="http://schemas.microsoft.com/office/drawing/2014/main" val="20000"/>
                    </a:ext>
                  </a:extLst>
                </a:gridCol>
                <a:gridCol w="1866617">
                  <a:extLst>
                    <a:ext uri="{9D8B030D-6E8A-4147-A177-3AD203B41FA5}">
                      <a16:colId xmlns:a16="http://schemas.microsoft.com/office/drawing/2014/main" val="20001"/>
                    </a:ext>
                  </a:extLst>
                </a:gridCol>
                <a:gridCol w="2036310">
                  <a:extLst>
                    <a:ext uri="{9D8B030D-6E8A-4147-A177-3AD203B41FA5}">
                      <a16:colId xmlns:a16="http://schemas.microsoft.com/office/drawing/2014/main" val="20002"/>
                    </a:ext>
                  </a:extLst>
                </a:gridCol>
                <a:gridCol w="1527232">
                  <a:extLst>
                    <a:ext uri="{9D8B030D-6E8A-4147-A177-3AD203B41FA5}">
                      <a16:colId xmlns:a16="http://schemas.microsoft.com/office/drawing/2014/main" val="20003"/>
                    </a:ext>
                  </a:extLst>
                </a:gridCol>
                <a:gridCol w="1187848">
                  <a:extLst>
                    <a:ext uri="{9D8B030D-6E8A-4147-A177-3AD203B41FA5}">
                      <a16:colId xmlns:a16="http://schemas.microsoft.com/office/drawing/2014/main" val="20004"/>
                    </a:ext>
                  </a:extLst>
                </a:gridCol>
              </a:tblGrid>
              <a:tr h="304800">
                <a:tc>
                  <a:txBody>
                    <a:bodyPr/>
                    <a:lstStyle/>
                    <a:p>
                      <a:pPr algn="ctr">
                        <a:spcAft>
                          <a:spcPts val="0"/>
                        </a:spcAft>
                      </a:pPr>
                      <a:r>
                        <a:rPr lang="es-PE" sz="2400" b="1" dirty="0">
                          <a:effectLst/>
                          <a:latin typeface="Arial Narrow" pitchFamily="34" charset="0"/>
                        </a:rPr>
                        <a:t>Tubos</a:t>
                      </a:r>
                      <a:endParaRPr lang="es-PE" sz="2400" b="1" dirty="0">
                        <a:effectLst/>
                        <a:latin typeface="Arial Narrow" pitchFamily="34" charset="0"/>
                        <a:ea typeface="Calibri"/>
                      </a:endParaRPr>
                    </a:p>
                  </a:txBody>
                  <a:tcPr marL="33338" marR="33338" marT="0" marB="0"/>
                </a:tc>
                <a:tc>
                  <a:txBody>
                    <a:bodyPr/>
                    <a:lstStyle/>
                    <a:p>
                      <a:pPr algn="ctr">
                        <a:spcAft>
                          <a:spcPts val="0"/>
                        </a:spcAft>
                      </a:pPr>
                      <a:r>
                        <a:rPr lang="es-PE" sz="2400" b="1" dirty="0">
                          <a:effectLst/>
                          <a:latin typeface="Arial Narrow" pitchFamily="34" charset="0"/>
                        </a:rPr>
                        <a:t>Velocidad in</a:t>
                      </a:r>
                      <a:endParaRPr lang="es-PE" sz="2400" b="1" dirty="0">
                        <a:effectLst/>
                        <a:latin typeface="Arial Narrow" pitchFamily="34" charset="0"/>
                        <a:ea typeface="Calibri"/>
                      </a:endParaRPr>
                    </a:p>
                  </a:txBody>
                  <a:tcPr marL="33338" marR="33338" marT="0" marB="0"/>
                </a:tc>
                <a:tc>
                  <a:txBody>
                    <a:bodyPr/>
                    <a:lstStyle/>
                    <a:p>
                      <a:pPr algn="ctr">
                        <a:spcAft>
                          <a:spcPts val="0"/>
                        </a:spcAft>
                      </a:pPr>
                      <a:r>
                        <a:rPr lang="es-PE" sz="2400" b="1" dirty="0">
                          <a:effectLst/>
                          <a:latin typeface="Arial Narrow" pitchFamily="34" charset="0"/>
                        </a:rPr>
                        <a:t>Atascamientos</a:t>
                      </a:r>
                      <a:endParaRPr lang="es-PE" sz="2400" b="1" dirty="0">
                        <a:effectLst/>
                        <a:latin typeface="Arial Narrow" pitchFamily="34" charset="0"/>
                        <a:ea typeface="Calibri"/>
                      </a:endParaRPr>
                    </a:p>
                  </a:txBody>
                  <a:tcPr marL="33338" marR="33338" marT="0" marB="0"/>
                </a:tc>
                <a:tc>
                  <a:txBody>
                    <a:bodyPr/>
                    <a:lstStyle/>
                    <a:p>
                      <a:pPr algn="ctr">
                        <a:spcAft>
                          <a:spcPts val="0"/>
                        </a:spcAft>
                      </a:pPr>
                      <a:r>
                        <a:rPr lang="es-PE" sz="2400" b="1" dirty="0">
                          <a:effectLst/>
                          <a:latin typeface="Arial Narrow" pitchFamily="34" charset="0"/>
                        </a:rPr>
                        <a:t>Tiempo</a:t>
                      </a:r>
                      <a:endParaRPr lang="es-PE" sz="2400" b="1" dirty="0">
                        <a:effectLst/>
                        <a:latin typeface="Arial Narrow" pitchFamily="34" charset="0"/>
                        <a:ea typeface="Calibri"/>
                      </a:endParaRPr>
                    </a:p>
                  </a:txBody>
                  <a:tcPr marL="33338" marR="33338" marT="0" marB="0"/>
                </a:tc>
                <a:tc>
                  <a:txBody>
                    <a:bodyPr/>
                    <a:lstStyle/>
                    <a:p>
                      <a:pPr algn="ctr">
                        <a:spcAft>
                          <a:spcPts val="0"/>
                        </a:spcAft>
                      </a:pPr>
                      <a:r>
                        <a:rPr lang="es-PE" sz="2400" b="1" dirty="0">
                          <a:effectLst/>
                          <a:latin typeface="Arial Narrow" pitchFamily="34" charset="0"/>
                          <a:ea typeface="Calibri"/>
                        </a:rPr>
                        <a:t>Pérdida</a:t>
                      </a:r>
                    </a:p>
                  </a:txBody>
                  <a:tcPr marL="33338" marR="33338" marT="0" marB="0"/>
                </a:tc>
                <a:extLst>
                  <a:ext uri="{0D108BD9-81ED-4DB2-BD59-A6C34878D82A}">
                    <a16:rowId xmlns:a16="http://schemas.microsoft.com/office/drawing/2014/main" val="10000"/>
                  </a:ext>
                </a:extLst>
              </a:tr>
              <a:tr h="492624">
                <a:tc>
                  <a:txBody>
                    <a:bodyPr/>
                    <a:lstStyle/>
                    <a:p>
                      <a:pPr algn="ctr">
                        <a:spcAft>
                          <a:spcPts val="0"/>
                        </a:spcAft>
                      </a:pPr>
                      <a:r>
                        <a:rPr lang="es-PE" sz="2400" dirty="0">
                          <a:effectLst/>
                          <a:latin typeface="Arial Narrow" pitchFamily="34" charset="0"/>
                        </a:rPr>
                        <a:t>Grandes</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200 pies / hora</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1.5 atas / hora</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5 min/</a:t>
                      </a:r>
                      <a:r>
                        <a:rPr lang="es-PE" sz="2400" dirty="0" err="1">
                          <a:effectLst/>
                          <a:latin typeface="Arial Narrow" pitchFamily="34" charset="0"/>
                        </a:rPr>
                        <a:t>atasc</a:t>
                      </a:r>
                      <a:r>
                        <a:rPr lang="es-PE" sz="2400" dirty="0">
                          <a:effectLst/>
                          <a:latin typeface="Arial Narrow" pitchFamily="34" charset="0"/>
                        </a:rPr>
                        <a:t>.</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err="1">
                          <a:effectLst/>
                          <a:latin typeface="Arial Narrow" pitchFamily="34" charset="0"/>
                          <a:ea typeface="Calibri"/>
                        </a:rPr>
                        <a:t>7.5min</a:t>
                      </a:r>
                      <a:r>
                        <a:rPr lang="es-PE" sz="2400" dirty="0">
                          <a:effectLst/>
                          <a:latin typeface="Arial Narrow" pitchFamily="34" charset="0"/>
                          <a:ea typeface="Calibri"/>
                        </a:rPr>
                        <a:t>/h</a:t>
                      </a:r>
                    </a:p>
                  </a:txBody>
                  <a:tcPr marL="33338" marR="33338" marT="0" marB="0"/>
                </a:tc>
                <a:extLst>
                  <a:ext uri="{0D108BD9-81ED-4DB2-BD59-A6C34878D82A}">
                    <a16:rowId xmlns:a16="http://schemas.microsoft.com/office/drawing/2014/main" val="10001"/>
                  </a:ext>
                </a:extLst>
              </a:tr>
              <a:tr h="492624">
                <a:tc>
                  <a:txBody>
                    <a:bodyPr/>
                    <a:lstStyle/>
                    <a:p>
                      <a:pPr algn="ctr">
                        <a:spcAft>
                          <a:spcPts val="0"/>
                        </a:spcAft>
                      </a:pPr>
                      <a:r>
                        <a:rPr lang="es-PE" sz="2400" dirty="0">
                          <a:effectLst/>
                          <a:latin typeface="Arial Narrow" pitchFamily="34" charset="0"/>
                        </a:rPr>
                        <a:t>Pequeños</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a:effectLst/>
                          <a:latin typeface="Arial Narrow" pitchFamily="34" charset="0"/>
                        </a:rPr>
                        <a:t>300 pies / hora</a:t>
                      </a:r>
                      <a:endParaRPr lang="es-PE" sz="240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3.0 atas / hora</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5 min/</a:t>
                      </a:r>
                      <a:r>
                        <a:rPr lang="es-PE" sz="2400" dirty="0" err="1">
                          <a:effectLst/>
                          <a:latin typeface="Arial Narrow" pitchFamily="34" charset="0"/>
                        </a:rPr>
                        <a:t>atasc</a:t>
                      </a:r>
                      <a:r>
                        <a:rPr lang="es-PE" sz="2400" dirty="0">
                          <a:effectLst/>
                          <a:latin typeface="Arial Narrow" pitchFamily="34" charset="0"/>
                        </a:rPr>
                        <a:t>.</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err="1">
                          <a:effectLst/>
                          <a:latin typeface="Arial Narrow" pitchFamily="34" charset="0"/>
                          <a:ea typeface="Calibri"/>
                        </a:rPr>
                        <a:t>15min</a:t>
                      </a:r>
                      <a:r>
                        <a:rPr lang="es-PE" sz="2400" dirty="0">
                          <a:effectLst/>
                          <a:latin typeface="Arial Narrow" pitchFamily="34" charset="0"/>
                          <a:ea typeface="Calibri"/>
                        </a:rPr>
                        <a:t>/h</a:t>
                      </a:r>
                    </a:p>
                  </a:txBody>
                  <a:tcPr marL="33338" marR="33338" marT="0" marB="0"/>
                </a:tc>
                <a:extLst>
                  <a:ext uri="{0D108BD9-81ED-4DB2-BD59-A6C34878D82A}">
                    <a16:rowId xmlns:a16="http://schemas.microsoft.com/office/drawing/2014/main" val="10002"/>
                  </a:ext>
                </a:extLst>
              </a:tr>
            </a:tbl>
          </a:graphicData>
        </a:graphic>
      </p:graphicFrame>
      <p:sp>
        <p:nvSpPr>
          <p:cNvPr id="6" name="1 Título"/>
          <p:cNvSpPr>
            <a:spLocks noGrp="1"/>
          </p:cNvSpPr>
          <p:nvPr>
            <p:ph type="title"/>
          </p:nvPr>
        </p:nvSpPr>
        <p:spPr>
          <a:xfrm>
            <a:off x="2063552" y="620688"/>
            <a:ext cx="8064896" cy="610084"/>
          </a:xfrm>
          <a:noFill/>
          <a:ln w="9525">
            <a:noFill/>
            <a:miter lim="800000"/>
            <a:headEnd/>
            <a:tailEnd/>
          </a:ln>
          <a:effectLst/>
        </p:spPr>
        <p:txBody>
          <a:bodyPr spcFirstLastPara="1" vert="horz" wrap="square" lIns="68580" tIns="34290" rIns="68580" bIns="34290" numCol="1" rtlCol="0" anchor="ctr" anchorCtr="0" compatLnSpc="1">
            <a:prstTxWarp prst="textNoShape">
              <a:avLst/>
            </a:prstTxWarp>
            <a:noAutofit/>
          </a:bodyPr>
          <a:lstStyle/>
          <a:p>
            <a:r>
              <a:rPr lang="es-ES" sz="3200" dirty="0">
                <a:solidFill>
                  <a:schemeClr val="bg1"/>
                </a:solidFill>
                <a:latin typeface="Bauhaus 93" pitchFamily="82" charset="0"/>
                <a:ea typeface="+mn-ea"/>
                <a:cs typeface="+mn-cs"/>
              </a:rPr>
              <a:t>Solución</a:t>
            </a:r>
          </a:p>
        </p:txBody>
      </p:sp>
      <p:sp>
        <p:nvSpPr>
          <p:cNvPr id="5" name="4 Flecha derecha"/>
          <p:cNvSpPr/>
          <p:nvPr/>
        </p:nvSpPr>
        <p:spPr>
          <a:xfrm>
            <a:off x="1198083" y="3130090"/>
            <a:ext cx="4148495"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dirty="0"/>
              <a:t>TUBOS GRANDES</a:t>
            </a:r>
          </a:p>
        </p:txBody>
      </p:sp>
      <p:sp>
        <p:nvSpPr>
          <p:cNvPr id="8" name="7 Flecha derecha"/>
          <p:cNvSpPr/>
          <p:nvPr/>
        </p:nvSpPr>
        <p:spPr>
          <a:xfrm>
            <a:off x="1198083" y="4205002"/>
            <a:ext cx="4148495"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dirty="0"/>
              <a:t>TUBOS PEQUEÑOS</a:t>
            </a:r>
          </a:p>
        </p:txBody>
      </p:sp>
      <p:sp>
        <p:nvSpPr>
          <p:cNvPr id="9" name="8 Flecha derecha"/>
          <p:cNvSpPr/>
          <p:nvPr/>
        </p:nvSpPr>
        <p:spPr>
          <a:xfrm>
            <a:off x="7258381" y="4202944"/>
            <a:ext cx="3096344"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10" name="9 Flecha derecha"/>
          <p:cNvSpPr/>
          <p:nvPr/>
        </p:nvSpPr>
        <p:spPr>
          <a:xfrm>
            <a:off x="7248128" y="3139432"/>
            <a:ext cx="3096344"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11" name="10 Proceso alternativo"/>
          <p:cNvSpPr/>
          <p:nvPr/>
        </p:nvSpPr>
        <p:spPr>
          <a:xfrm>
            <a:off x="5375920" y="3130090"/>
            <a:ext cx="1656184" cy="172298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dirty="0"/>
              <a:t>MÁQUINA</a:t>
            </a:r>
          </a:p>
        </p:txBody>
      </p:sp>
      <p:sp>
        <p:nvSpPr>
          <p:cNvPr id="12" name="11 CuadroTexto"/>
          <p:cNvSpPr txBox="1"/>
          <p:nvPr/>
        </p:nvSpPr>
        <p:spPr>
          <a:xfrm>
            <a:off x="736979" y="5146315"/>
            <a:ext cx="4134885" cy="1569660"/>
          </a:xfrm>
          <a:prstGeom prst="rect">
            <a:avLst/>
          </a:prstGeom>
          <a:noFill/>
        </p:spPr>
        <p:txBody>
          <a:bodyPr wrap="square" rtlCol="0">
            <a:spAutoFit/>
          </a:bodyPr>
          <a:lstStyle/>
          <a:p>
            <a:r>
              <a:rPr lang="es-PE" sz="2400" b="1" dirty="0"/>
              <a:t>200 pies--------------60 min</a:t>
            </a:r>
          </a:p>
          <a:p>
            <a:r>
              <a:rPr lang="es-PE" sz="2400" b="1" dirty="0"/>
              <a:t>X  pies---------------</a:t>
            </a:r>
            <a:r>
              <a:rPr lang="es-PE" sz="2400" b="1" dirty="0" err="1"/>
              <a:t>52.5min</a:t>
            </a:r>
            <a:endParaRPr lang="es-PE" sz="2400" b="1" dirty="0"/>
          </a:p>
          <a:p>
            <a:endParaRPr lang="es-PE" sz="2400" b="1" dirty="0"/>
          </a:p>
          <a:p>
            <a:r>
              <a:rPr lang="es-PE" sz="2400" b="1" dirty="0"/>
              <a:t>X=(200)(52.5)/60=</a:t>
            </a:r>
            <a:r>
              <a:rPr lang="es-PE" sz="2400" b="1" dirty="0">
                <a:solidFill>
                  <a:srgbClr val="FF0000"/>
                </a:solidFill>
              </a:rPr>
              <a:t>175</a:t>
            </a:r>
            <a:r>
              <a:rPr lang="es-PE" sz="2400" b="1" dirty="0"/>
              <a:t> pies/h</a:t>
            </a:r>
          </a:p>
        </p:txBody>
      </p:sp>
      <p:sp>
        <p:nvSpPr>
          <p:cNvPr id="13" name="12 CuadroTexto"/>
          <p:cNvSpPr txBox="1"/>
          <p:nvPr/>
        </p:nvSpPr>
        <p:spPr>
          <a:xfrm>
            <a:off x="7320135" y="5146667"/>
            <a:ext cx="3598073" cy="1569660"/>
          </a:xfrm>
          <a:prstGeom prst="rect">
            <a:avLst/>
          </a:prstGeom>
          <a:noFill/>
        </p:spPr>
        <p:txBody>
          <a:bodyPr wrap="square" rtlCol="0">
            <a:spAutoFit/>
          </a:bodyPr>
          <a:lstStyle/>
          <a:p>
            <a:r>
              <a:rPr lang="es-PE" sz="2400" b="1" dirty="0"/>
              <a:t>300 pies--------------60 min</a:t>
            </a:r>
          </a:p>
          <a:p>
            <a:r>
              <a:rPr lang="es-PE" sz="2400" b="1" dirty="0"/>
              <a:t>X  pies---------------</a:t>
            </a:r>
            <a:r>
              <a:rPr lang="es-PE" sz="2400" b="1" dirty="0" err="1"/>
              <a:t>45min</a:t>
            </a:r>
            <a:endParaRPr lang="es-PE" sz="2400" b="1" dirty="0"/>
          </a:p>
          <a:p>
            <a:endParaRPr lang="es-PE" sz="2400" b="1" dirty="0"/>
          </a:p>
          <a:p>
            <a:r>
              <a:rPr lang="es-PE" sz="2400" b="1" dirty="0"/>
              <a:t>X=(300)(45)/60=</a:t>
            </a:r>
            <a:r>
              <a:rPr lang="es-PE" sz="2400" b="1" dirty="0">
                <a:solidFill>
                  <a:srgbClr val="FF0000"/>
                </a:solidFill>
              </a:rPr>
              <a:t>225</a:t>
            </a:r>
            <a:r>
              <a:rPr lang="es-PE" sz="2400" b="1" dirty="0"/>
              <a:t> pies/h</a:t>
            </a:r>
          </a:p>
        </p:txBody>
      </p:sp>
      <p:sp>
        <p:nvSpPr>
          <p:cNvPr id="2" name="Rectángulo 1">
            <a:extLst>
              <a:ext uri="{FF2B5EF4-FFF2-40B4-BE49-F238E27FC236}">
                <a16:creationId xmlns:a16="http://schemas.microsoft.com/office/drawing/2014/main" id="{27A8088D-A81A-431F-9465-A7B8639ED1A7}"/>
              </a:ext>
            </a:extLst>
          </p:cNvPr>
          <p:cNvSpPr/>
          <p:nvPr/>
        </p:nvSpPr>
        <p:spPr>
          <a:xfrm>
            <a:off x="3502519" y="3235885"/>
            <a:ext cx="2060083" cy="461665"/>
          </a:xfrm>
          <a:prstGeom prst="rect">
            <a:avLst/>
          </a:prstGeom>
        </p:spPr>
        <p:txBody>
          <a:bodyPr wrap="square">
            <a:spAutoFit/>
          </a:bodyPr>
          <a:lstStyle/>
          <a:p>
            <a:r>
              <a:rPr lang="es-PE" sz="2400" b="1" dirty="0"/>
              <a:t>200 pies/h</a:t>
            </a:r>
          </a:p>
        </p:txBody>
      </p:sp>
      <p:sp>
        <p:nvSpPr>
          <p:cNvPr id="14" name="Rectángulo 13">
            <a:extLst>
              <a:ext uri="{FF2B5EF4-FFF2-40B4-BE49-F238E27FC236}">
                <a16:creationId xmlns:a16="http://schemas.microsoft.com/office/drawing/2014/main" id="{7783D232-FAB3-4323-AFFE-2E6117A72FAB}"/>
              </a:ext>
            </a:extLst>
          </p:cNvPr>
          <p:cNvSpPr/>
          <p:nvPr/>
        </p:nvSpPr>
        <p:spPr>
          <a:xfrm>
            <a:off x="7461561" y="3223293"/>
            <a:ext cx="1537600" cy="461665"/>
          </a:xfrm>
          <a:prstGeom prst="rect">
            <a:avLst/>
          </a:prstGeom>
        </p:spPr>
        <p:txBody>
          <a:bodyPr wrap="none">
            <a:spAutoFit/>
          </a:bodyPr>
          <a:lstStyle/>
          <a:p>
            <a:r>
              <a:rPr lang="es-PE" sz="2400" b="1" dirty="0"/>
              <a:t>175 pies/h</a:t>
            </a:r>
          </a:p>
        </p:txBody>
      </p:sp>
      <p:sp>
        <p:nvSpPr>
          <p:cNvPr id="15" name="Rectángulo 14">
            <a:extLst>
              <a:ext uri="{FF2B5EF4-FFF2-40B4-BE49-F238E27FC236}">
                <a16:creationId xmlns:a16="http://schemas.microsoft.com/office/drawing/2014/main" id="{2E40ECC5-81E4-4D22-BD31-BB5AD51488A6}"/>
              </a:ext>
            </a:extLst>
          </p:cNvPr>
          <p:cNvSpPr/>
          <p:nvPr/>
        </p:nvSpPr>
        <p:spPr>
          <a:xfrm>
            <a:off x="3585236" y="4283555"/>
            <a:ext cx="2060083" cy="461665"/>
          </a:xfrm>
          <a:prstGeom prst="rect">
            <a:avLst/>
          </a:prstGeom>
        </p:spPr>
        <p:txBody>
          <a:bodyPr wrap="square">
            <a:spAutoFit/>
          </a:bodyPr>
          <a:lstStyle/>
          <a:p>
            <a:r>
              <a:rPr lang="es-PE" sz="2400" b="1" dirty="0"/>
              <a:t>300 pies/h</a:t>
            </a:r>
          </a:p>
        </p:txBody>
      </p:sp>
      <p:sp>
        <p:nvSpPr>
          <p:cNvPr id="16" name="Rectángulo 15">
            <a:extLst>
              <a:ext uri="{FF2B5EF4-FFF2-40B4-BE49-F238E27FC236}">
                <a16:creationId xmlns:a16="http://schemas.microsoft.com/office/drawing/2014/main" id="{860D6036-2F5C-43D7-9190-DF4D9A961055}"/>
              </a:ext>
            </a:extLst>
          </p:cNvPr>
          <p:cNvSpPr/>
          <p:nvPr/>
        </p:nvSpPr>
        <p:spPr>
          <a:xfrm>
            <a:off x="7461561" y="4306344"/>
            <a:ext cx="1537600" cy="461665"/>
          </a:xfrm>
          <a:prstGeom prst="rect">
            <a:avLst/>
          </a:prstGeom>
        </p:spPr>
        <p:txBody>
          <a:bodyPr wrap="none">
            <a:spAutoFit/>
          </a:bodyPr>
          <a:lstStyle/>
          <a:p>
            <a:r>
              <a:rPr lang="es-PE" sz="2400" b="1" dirty="0"/>
              <a:t>225 pies/h</a:t>
            </a:r>
          </a:p>
        </p:txBody>
      </p:sp>
      <p:graphicFrame>
        <p:nvGraphicFramePr>
          <p:cNvPr id="3" name="Tabla 2">
            <a:extLst>
              <a:ext uri="{FF2B5EF4-FFF2-40B4-BE49-F238E27FC236}">
                <a16:creationId xmlns:a16="http://schemas.microsoft.com/office/drawing/2014/main" id="{6DE0F907-8500-BFF6-0CA3-6309185C9E3D}"/>
              </a:ext>
            </a:extLst>
          </p:cNvPr>
          <p:cNvGraphicFramePr>
            <a:graphicFrameLocks noGrp="1"/>
          </p:cNvGraphicFramePr>
          <p:nvPr>
            <p:extLst>
              <p:ext uri="{D42A27DB-BD31-4B8C-83A1-F6EECF244321}">
                <p14:modId xmlns:p14="http://schemas.microsoft.com/office/powerpoint/2010/main" val="1918050805"/>
              </p:ext>
            </p:extLst>
          </p:nvPr>
        </p:nvGraphicFramePr>
        <p:xfrm>
          <a:off x="9173630" y="1372984"/>
          <a:ext cx="2036311" cy="1351008"/>
        </p:xfrm>
        <a:graphic>
          <a:graphicData uri="http://schemas.openxmlformats.org/drawingml/2006/table">
            <a:tbl>
              <a:tblPr>
                <a:tableStyleId>{5C22544A-7EE6-4342-B048-85BDC9FD1C3A}</a:tableStyleId>
              </a:tblPr>
              <a:tblGrid>
                <a:gridCol w="2036311">
                  <a:extLst>
                    <a:ext uri="{9D8B030D-6E8A-4147-A177-3AD203B41FA5}">
                      <a16:colId xmlns:a16="http://schemas.microsoft.com/office/drawing/2014/main" val="639383824"/>
                    </a:ext>
                  </a:extLst>
                </a:gridCol>
              </a:tblGrid>
              <a:tr h="304800">
                <a:tc>
                  <a:txBody>
                    <a:bodyPr/>
                    <a:lstStyle/>
                    <a:p>
                      <a:pPr algn="ctr">
                        <a:spcAft>
                          <a:spcPts val="0"/>
                        </a:spcAft>
                      </a:pPr>
                      <a:r>
                        <a:rPr lang="es-PE" sz="2400" b="1" dirty="0">
                          <a:effectLst/>
                          <a:latin typeface="Arial Narrow" pitchFamily="34" charset="0"/>
                          <a:ea typeface="Calibri"/>
                        </a:rPr>
                        <a:t>Velocidad</a:t>
                      </a:r>
                      <a:r>
                        <a:rPr lang="es-PE" sz="2400" b="1" baseline="0" dirty="0">
                          <a:effectLst/>
                          <a:latin typeface="Arial Narrow" pitchFamily="34" charset="0"/>
                          <a:ea typeface="Calibri"/>
                        </a:rPr>
                        <a:t> </a:t>
                      </a:r>
                      <a:r>
                        <a:rPr lang="es-PE" sz="2400" b="1" baseline="0" dirty="0" err="1">
                          <a:effectLst/>
                          <a:latin typeface="Arial Narrow" pitchFamily="34" charset="0"/>
                          <a:ea typeface="Calibri"/>
                        </a:rPr>
                        <a:t>out</a:t>
                      </a:r>
                      <a:endParaRPr lang="es-PE" sz="2400" b="1" dirty="0">
                        <a:effectLst/>
                        <a:latin typeface="Arial Narrow" pitchFamily="34" charset="0"/>
                        <a:ea typeface="Calibri"/>
                      </a:endParaRPr>
                    </a:p>
                  </a:txBody>
                  <a:tcPr marL="33338" marR="33338" marT="0" marB="0"/>
                </a:tc>
                <a:extLst>
                  <a:ext uri="{0D108BD9-81ED-4DB2-BD59-A6C34878D82A}">
                    <a16:rowId xmlns:a16="http://schemas.microsoft.com/office/drawing/2014/main" val="596515239"/>
                  </a:ext>
                </a:extLst>
              </a:tr>
              <a:tr h="492624">
                <a:tc>
                  <a:txBody>
                    <a:bodyPr/>
                    <a:lstStyle/>
                    <a:p>
                      <a:pPr algn="ctr">
                        <a:spcAft>
                          <a:spcPts val="0"/>
                        </a:spcAft>
                      </a:pPr>
                      <a:r>
                        <a:rPr lang="es-PE" sz="2400" b="1" dirty="0">
                          <a:solidFill>
                            <a:srgbClr val="FF0000"/>
                          </a:solidFill>
                          <a:effectLst/>
                          <a:latin typeface="Arial Narrow" pitchFamily="34" charset="0"/>
                          <a:ea typeface="Calibri"/>
                        </a:rPr>
                        <a:t>175 </a:t>
                      </a:r>
                      <a:r>
                        <a:rPr lang="es-PE" sz="2400" b="1" dirty="0">
                          <a:solidFill>
                            <a:srgbClr val="FF0000"/>
                          </a:solidFill>
                          <a:effectLst/>
                          <a:latin typeface="Arial Narrow" pitchFamily="34" charset="0"/>
                        </a:rPr>
                        <a:t>pies / hora</a:t>
                      </a:r>
                      <a:endParaRPr lang="es-PE" sz="2400" b="1" dirty="0">
                        <a:solidFill>
                          <a:srgbClr val="FF0000"/>
                        </a:solidFill>
                        <a:effectLst/>
                        <a:latin typeface="Arial Narrow" pitchFamily="34" charset="0"/>
                        <a:ea typeface="Calibri"/>
                      </a:endParaRPr>
                    </a:p>
                  </a:txBody>
                  <a:tcPr marL="33338" marR="33338" marT="0" marB="0"/>
                </a:tc>
                <a:extLst>
                  <a:ext uri="{0D108BD9-81ED-4DB2-BD59-A6C34878D82A}">
                    <a16:rowId xmlns:a16="http://schemas.microsoft.com/office/drawing/2014/main" val="832007671"/>
                  </a:ext>
                </a:extLst>
              </a:tr>
              <a:tr h="492624">
                <a:tc>
                  <a:txBody>
                    <a:bodyPr/>
                    <a:lstStyle/>
                    <a:p>
                      <a:pPr algn="ctr">
                        <a:spcAft>
                          <a:spcPts val="0"/>
                        </a:spcAft>
                      </a:pPr>
                      <a:r>
                        <a:rPr lang="es-PE" sz="2400" b="1" dirty="0">
                          <a:solidFill>
                            <a:srgbClr val="FF0000"/>
                          </a:solidFill>
                          <a:effectLst/>
                          <a:latin typeface="Arial Narrow" pitchFamily="34" charset="0"/>
                          <a:ea typeface="Calibri"/>
                        </a:rPr>
                        <a:t>225 </a:t>
                      </a:r>
                      <a:r>
                        <a:rPr lang="es-PE" sz="2400" b="1" dirty="0">
                          <a:solidFill>
                            <a:srgbClr val="FF0000"/>
                          </a:solidFill>
                          <a:effectLst/>
                          <a:latin typeface="Arial Narrow" pitchFamily="34" charset="0"/>
                        </a:rPr>
                        <a:t>pies / hora</a:t>
                      </a:r>
                      <a:endParaRPr lang="es-PE" sz="2400" b="1" dirty="0">
                        <a:solidFill>
                          <a:srgbClr val="FF0000"/>
                        </a:solidFill>
                        <a:effectLst/>
                        <a:latin typeface="Arial Narrow" pitchFamily="34" charset="0"/>
                        <a:ea typeface="Calibri"/>
                      </a:endParaRPr>
                    </a:p>
                  </a:txBody>
                  <a:tcPr marL="33338" marR="33338" marT="0" marB="0"/>
                </a:tc>
                <a:extLst>
                  <a:ext uri="{0D108BD9-81ED-4DB2-BD59-A6C34878D82A}">
                    <a16:rowId xmlns:a16="http://schemas.microsoft.com/office/drawing/2014/main" val="336869075"/>
                  </a:ext>
                </a:extLst>
              </a:tr>
            </a:tbl>
          </a:graphicData>
        </a:graphic>
      </p:graphicFrame>
    </p:spTree>
    <p:extLst>
      <p:ext uri="{BB962C8B-B14F-4D97-AF65-F5344CB8AC3E}">
        <p14:creationId xmlns:p14="http://schemas.microsoft.com/office/powerpoint/2010/main" val="341888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1" grpId="0" animBg="1"/>
      <p:bldP spid="12" grpId="0"/>
      <p:bldP spid="13" grpId="0"/>
      <p:bldP spid="2" grpId="0"/>
      <p:bldP spid="14" grpId="0"/>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2063552" y="620688"/>
            <a:ext cx="8064896" cy="610084"/>
          </a:xfrm>
          <a:noFill/>
          <a:ln w="9525">
            <a:noFill/>
            <a:miter lim="800000"/>
            <a:headEnd/>
            <a:tailEnd/>
          </a:ln>
          <a:effectLst/>
        </p:spPr>
        <p:txBody>
          <a:bodyPr spcFirstLastPara="1" vert="horz" wrap="square" lIns="68580" tIns="34290" rIns="68580" bIns="34290" numCol="1" rtlCol="0" anchor="ctr" anchorCtr="0" compatLnSpc="1">
            <a:prstTxWarp prst="textNoShape">
              <a:avLst/>
            </a:prstTxWarp>
            <a:noAutofit/>
          </a:bodyPr>
          <a:lstStyle/>
          <a:p>
            <a:r>
              <a:rPr lang="es-ES" sz="3200" dirty="0">
                <a:solidFill>
                  <a:schemeClr val="bg1"/>
                </a:solidFill>
                <a:latin typeface="Bauhaus 93" pitchFamily="82" charset="0"/>
                <a:ea typeface="+mn-ea"/>
                <a:cs typeface="+mn-cs"/>
              </a:rPr>
              <a:t>Solución</a:t>
            </a:r>
          </a:p>
        </p:txBody>
      </p:sp>
      <p:sp>
        <p:nvSpPr>
          <p:cNvPr id="4" name="Rectangle 1">
            <a:extLst>
              <a:ext uri="{FF2B5EF4-FFF2-40B4-BE49-F238E27FC236}">
                <a16:creationId xmlns:a16="http://schemas.microsoft.com/office/drawing/2014/main" id="{F2500C7D-CB99-4BDA-872E-9909A81A373D}"/>
              </a:ext>
            </a:extLst>
          </p:cNvPr>
          <p:cNvSpPr>
            <a:spLocks noChangeArrowheads="1"/>
          </p:cNvSpPr>
          <p:nvPr/>
        </p:nvSpPr>
        <p:spPr bwMode="auto">
          <a:xfrm>
            <a:off x="371356" y="1615464"/>
            <a:ext cx="5604293" cy="1938992"/>
          </a:xfrm>
          <a:prstGeom prst="rect">
            <a:avLst/>
          </a:prstGeom>
          <a:solidFill>
            <a:schemeClr val="accent3">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     Identificación de variables</a:t>
            </a:r>
            <a:endParaRPr lang="es-PE" sz="2400" dirty="0">
              <a:solidFill>
                <a:srgbClr val="FF0000"/>
              </a:solidFill>
              <a:latin typeface="Arial Narrow" pitchFamily="34" charset="0"/>
              <a:cs typeface="Arial" pitchFamily="34" charset="0"/>
            </a:endParaRPr>
          </a:p>
          <a:p>
            <a:pPr lvl="0"/>
            <a:r>
              <a:rPr lang="es-PE" sz="2400" dirty="0">
                <a:solidFill>
                  <a:srgbClr val="FF0000"/>
                </a:solidFill>
                <a:latin typeface="Arial Narrow" pitchFamily="34" charset="0"/>
                <a:ea typeface="Calibri" pitchFamily="34" charset="0"/>
                <a:cs typeface="Arial" panose="020B0604020202020204" pitchFamily="34" charset="0"/>
              </a:rPr>
              <a:t>       </a:t>
            </a:r>
            <a:r>
              <a:rPr lang="es-PE" sz="2400" dirty="0">
                <a:latin typeface="Arial Narrow" panose="020B0606020202030204" pitchFamily="34" charset="0"/>
              </a:rPr>
              <a:t>G = Número de horas máquina para 	fabricar tubos grandes</a:t>
            </a:r>
            <a:endParaRPr lang="es-ES" sz="2400" dirty="0">
              <a:latin typeface="Arial Narrow" panose="020B0606020202030204" pitchFamily="34" charset="0"/>
            </a:endParaRPr>
          </a:p>
          <a:p>
            <a:pPr lvl="0"/>
            <a:r>
              <a:rPr lang="es-PE" sz="2400" dirty="0">
                <a:latin typeface="Arial Narrow" panose="020B0606020202030204" pitchFamily="34" charset="0"/>
              </a:rPr>
              <a:t>       P = Número de horas máquina para 	</a:t>
            </a:r>
          </a:p>
          <a:p>
            <a:pPr lvl="0"/>
            <a:r>
              <a:rPr lang="es-PE" sz="2400" dirty="0">
                <a:latin typeface="Arial Narrow" panose="020B0606020202030204" pitchFamily="34" charset="0"/>
              </a:rPr>
              <a:t>	fabricar tubos pequeños</a:t>
            </a:r>
            <a:r>
              <a:rPr lang="es-ES" sz="2400" dirty="0">
                <a:latin typeface="Arial Narrow" panose="020B0606020202030204" pitchFamily="34" charset="0"/>
              </a:rPr>
              <a:t>.</a:t>
            </a:r>
            <a:endParaRPr lang="es-PE" sz="2400" b="1" dirty="0">
              <a:solidFill>
                <a:srgbClr val="FF0000"/>
              </a:solidFill>
              <a:latin typeface="Arial Narrow" pitchFamily="34" charset="0"/>
              <a:cs typeface="Arial" pitchFamily="34" charset="0"/>
            </a:endParaRPr>
          </a:p>
        </p:txBody>
      </p:sp>
      <p:sp>
        <p:nvSpPr>
          <p:cNvPr id="8" name="Rectángulo 7">
            <a:extLst>
              <a:ext uri="{FF2B5EF4-FFF2-40B4-BE49-F238E27FC236}">
                <a16:creationId xmlns:a16="http://schemas.microsoft.com/office/drawing/2014/main" id="{F8E77432-E2DA-4C58-B418-D013B5ACC9F0}"/>
              </a:ext>
            </a:extLst>
          </p:cNvPr>
          <p:cNvSpPr/>
          <p:nvPr/>
        </p:nvSpPr>
        <p:spPr>
          <a:xfrm>
            <a:off x="6311650" y="1887762"/>
            <a:ext cx="5604293" cy="1569660"/>
          </a:xfrm>
          <a:prstGeom prst="rect">
            <a:avLst/>
          </a:prstGeom>
          <a:solidFill>
            <a:srgbClr val="FFFF00"/>
          </a:solidFill>
        </p:spPr>
        <p:txBody>
          <a:bodyPr wrap="square">
            <a:spAutoFit/>
          </a:bodyPr>
          <a:lstStyle/>
          <a:p>
            <a:pPr lvl="0"/>
            <a:r>
              <a:rPr lang="es-PE" sz="2400" dirty="0">
                <a:latin typeface="Arial Narrow" panose="020B0606020202030204" pitchFamily="34" charset="0"/>
              </a:rPr>
              <a:t>MAX  </a:t>
            </a:r>
            <a:r>
              <a:rPr lang="es-PE" sz="2400" dirty="0" err="1">
                <a:latin typeface="Arial Narrow" panose="020B0606020202030204" pitchFamily="34" charset="0"/>
              </a:rPr>
              <a:t>175G</a:t>
            </a:r>
            <a:endParaRPr lang="es-PE" sz="2400" dirty="0">
              <a:latin typeface="Arial Narrow" panose="020B0606020202030204" pitchFamily="34" charset="0"/>
            </a:endParaRPr>
          </a:p>
          <a:p>
            <a:pPr lvl="0"/>
            <a:r>
              <a:rPr lang="es-PE" sz="2400" dirty="0" err="1">
                <a:solidFill>
                  <a:srgbClr val="FF0000"/>
                </a:solidFill>
                <a:latin typeface="Arial Narrow" panose="020B0606020202030204" pitchFamily="34" charset="0"/>
              </a:rPr>
              <a:t>SUBJECT</a:t>
            </a:r>
            <a:r>
              <a:rPr lang="es-PE" sz="2400" dirty="0">
                <a:solidFill>
                  <a:srgbClr val="FF0000"/>
                </a:solidFill>
                <a:latin typeface="Arial Narrow" panose="020B0606020202030204" pitchFamily="34" charset="0"/>
              </a:rPr>
              <a:t> </a:t>
            </a:r>
            <a:r>
              <a:rPr lang="es-PE" sz="2400" dirty="0" err="1">
                <a:solidFill>
                  <a:srgbClr val="FF0000"/>
                </a:solidFill>
                <a:latin typeface="Arial Narrow" panose="020B0606020202030204" pitchFamily="34" charset="0"/>
              </a:rPr>
              <a:t>TO</a:t>
            </a:r>
            <a:endParaRPr lang="es-PE" sz="2400" dirty="0">
              <a:solidFill>
                <a:srgbClr val="FF0000"/>
              </a:solidFill>
              <a:latin typeface="Arial Narrow" panose="020B0606020202030204" pitchFamily="34" charset="0"/>
            </a:endParaRPr>
          </a:p>
          <a:p>
            <a:pPr lvl="0"/>
            <a:r>
              <a:rPr lang="es-PE" sz="2400" dirty="0">
                <a:latin typeface="Arial Narrow" panose="020B0606020202030204" pitchFamily="34" charset="0"/>
              </a:rPr>
              <a:t>G + P 	  = 8	   !Respecto al tiempo en horas</a:t>
            </a:r>
          </a:p>
          <a:p>
            <a:pPr lvl="0"/>
            <a:r>
              <a:rPr lang="es-PE" sz="2400" dirty="0" err="1">
                <a:latin typeface="Arial Narrow" panose="020B0606020202030204" pitchFamily="34" charset="0"/>
              </a:rPr>
              <a:t>175G</a:t>
            </a:r>
            <a:r>
              <a:rPr lang="es-PE" sz="2400" dirty="0">
                <a:latin typeface="Arial Narrow" panose="020B0606020202030204" pitchFamily="34" charset="0"/>
              </a:rPr>
              <a:t> - </a:t>
            </a:r>
            <a:r>
              <a:rPr lang="es-PE" sz="2400" dirty="0" err="1">
                <a:latin typeface="Arial Narrow" panose="020B0606020202030204" pitchFamily="34" charset="0"/>
              </a:rPr>
              <a:t>225P</a:t>
            </a:r>
            <a:r>
              <a:rPr lang="es-PE" sz="2400" dirty="0">
                <a:latin typeface="Arial Narrow" panose="020B0606020202030204" pitchFamily="34" charset="0"/>
              </a:rPr>
              <a:t> = 0   !Respecto a la producción</a:t>
            </a:r>
            <a:endParaRPr lang="es-ES" sz="2400" dirty="0">
              <a:latin typeface="Arial Narrow" panose="020B0606020202030204" pitchFamily="34" charset="0"/>
            </a:endParaRPr>
          </a:p>
        </p:txBody>
      </p:sp>
      <p:sp>
        <p:nvSpPr>
          <p:cNvPr id="5" name="Rectángulo 4">
            <a:extLst>
              <a:ext uri="{FF2B5EF4-FFF2-40B4-BE49-F238E27FC236}">
                <a16:creationId xmlns:a16="http://schemas.microsoft.com/office/drawing/2014/main" id="{277A823C-7728-47B4-AF53-4B55A746D14F}"/>
              </a:ext>
            </a:extLst>
          </p:cNvPr>
          <p:cNvSpPr/>
          <p:nvPr/>
        </p:nvSpPr>
        <p:spPr>
          <a:xfrm>
            <a:off x="6311650" y="4484630"/>
            <a:ext cx="5604293" cy="1938992"/>
          </a:xfrm>
          <a:prstGeom prst="rect">
            <a:avLst/>
          </a:prstGeom>
          <a:solidFill>
            <a:schemeClr val="accent5">
              <a:lumMod val="60000"/>
              <a:lumOff val="40000"/>
            </a:schemeClr>
          </a:solidFill>
        </p:spPr>
        <p:txBody>
          <a:bodyPr wrap="square">
            <a:spAutoFit/>
          </a:bodyPr>
          <a:lstStyle/>
          <a:p>
            <a:pPr lvl="0"/>
            <a:r>
              <a:rPr lang="en-US" sz="2400" dirty="0">
                <a:latin typeface="Arial Narrow" panose="020B0606020202030204" pitchFamily="34" charset="0"/>
              </a:rPr>
              <a:t>OBJECTIVE FUNCTION VALUE</a:t>
            </a:r>
          </a:p>
          <a:p>
            <a:pPr lvl="0"/>
            <a:r>
              <a:rPr lang="en-US" sz="2400" dirty="0">
                <a:latin typeface="Arial Narrow" panose="020B0606020202030204" pitchFamily="34" charset="0"/>
              </a:rPr>
              <a:t>1)      787.5000</a:t>
            </a:r>
          </a:p>
          <a:p>
            <a:pPr lvl="0"/>
            <a:r>
              <a:rPr lang="en-US" sz="2400" dirty="0">
                <a:latin typeface="Arial Narrow" panose="020B0606020202030204" pitchFamily="34" charset="0"/>
              </a:rPr>
              <a:t>VARIABLE        VALUE          REDUCED COST</a:t>
            </a:r>
          </a:p>
          <a:p>
            <a:pPr lvl="0"/>
            <a:r>
              <a:rPr lang="es-PE" sz="2400" dirty="0">
                <a:latin typeface="Arial Narrow" panose="020B0606020202030204" pitchFamily="34" charset="0"/>
              </a:rPr>
              <a:t>G         4.500000          0.000000</a:t>
            </a:r>
          </a:p>
          <a:p>
            <a:pPr lvl="0"/>
            <a:r>
              <a:rPr lang="en-US" sz="2400" dirty="0">
                <a:latin typeface="Arial Narrow" panose="020B0606020202030204" pitchFamily="34" charset="0"/>
              </a:rPr>
              <a:t>P         3.500000          0.000000</a:t>
            </a:r>
            <a:endParaRPr lang="es-ES" sz="2400" dirty="0">
              <a:latin typeface="Arial Narrow" panose="020B0606020202030204" pitchFamily="34" charset="0"/>
            </a:endParaRPr>
          </a:p>
        </p:txBody>
      </p:sp>
      <p:sp>
        <p:nvSpPr>
          <p:cNvPr id="3" name="CuadroTexto 2">
            <a:extLst>
              <a:ext uri="{FF2B5EF4-FFF2-40B4-BE49-F238E27FC236}">
                <a16:creationId xmlns:a16="http://schemas.microsoft.com/office/drawing/2014/main" id="{6D92A3C5-607C-FA76-C52F-8A92D7FD5A60}"/>
              </a:ext>
            </a:extLst>
          </p:cNvPr>
          <p:cNvSpPr txBox="1"/>
          <p:nvPr/>
        </p:nvSpPr>
        <p:spPr>
          <a:xfrm>
            <a:off x="371356" y="4422485"/>
            <a:ext cx="5604293" cy="1569660"/>
          </a:xfrm>
          <a:prstGeom prst="rect">
            <a:avLst/>
          </a:prstGeom>
          <a:solidFill>
            <a:schemeClr val="accent3">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defPPr>
              <a:defRPr lang="es-PE"/>
            </a:defPPr>
            <a:lvl1pPr algn="just" fontAlgn="base">
              <a:spcBef>
                <a:spcPct val="0"/>
              </a:spcBef>
              <a:spcAft>
                <a:spcPct val="0"/>
              </a:spcAft>
              <a:defRPr sz="2400">
                <a:solidFill>
                  <a:srgbClr val="FF0000"/>
                </a:solidFill>
                <a:latin typeface="Arial Narrow" pitchFamily="34" charset="0"/>
                <a:ea typeface="Calibri" pitchFamily="34" charset="0"/>
                <a:cs typeface="Arial" panose="020B0604020202020204" pitchFamily="34" charset="0"/>
              </a:defRPr>
            </a:lvl1pPr>
          </a:lstStyle>
          <a:p>
            <a:r>
              <a:rPr lang="es-PE" dirty="0"/>
              <a:t>III.   Identificación de las restricciones</a:t>
            </a:r>
          </a:p>
          <a:p>
            <a:r>
              <a:rPr lang="es-PE" dirty="0"/>
              <a:t>       </a:t>
            </a:r>
            <a:r>
              <a:rPr lang="es-PE" dirty="0">
                <a:solidFill>
                  <a:schemeClr val="tx1"/>
                </a:solidFill>
              </a:rPr>
              <a:t>G + P  = 8	       Respecto al tiempo</a:t>
            </a:r>
            <a:endParaRPr lang="es-ES" dirty="0">
              <a:solidFill>
                <a:schemeClr val="tx1"/>
              </a:solidFill>
            </a:endParaRPr>
          </a:p>
          <a:p>
            <a:r>
              <a:rPr lang="es-PE" dirty="0">
                <a:solidFill>
                  <a:schemeClr val="tx1"/>
                </a:solidFill>
              </a:rPr>
              <a:t>       </a:t>
            </a:r>
            <a:r>
              <a:rPr lang="es-PE" dirty="0" err="1">
                <a:solidFill>
                  <a:schemeClr val="tx1"/>
                </a:solidFill>
              </a:rPr>
              <a:t>175G</a:t>
            </a:r>
            <a:r>
              <a:rPr lang="es-PE" dirty="0">
                <a:solidFill>
                  <a:schemeClr val="tx1"/>
                </a:solidFill>
              </a:rPr>
              <a:t>  = </a:t>
            </a:r>
            <a:r>
              <a:rPr lang="es-PE" dirty="0" err="1">
                <a:solidFill>
                  <a:schemeClr val="tx1"/>
                </a:solidFill>
              </a:rPr>
              <a:t>225P</a:t>
            </a:r>
            <a:r>
              <a:rPr lang="es-PE" dirty="0">
                <a:solidFill>
                  <a:schemeClr val="tx1"/>
                </a:solidFill>
              </a:rPr>
              <a:t>   Respecto a la producción</a:t>
            </a:r>
            <a:endParaRPr lang="es-ES" dirty="0">
              <a:solidFill>
                <a:schemeClr val="tx1"/>
              </a:solidFill>
            </a:endParaRPr>
          </a:p>
          <a:p>
            <a:r>
              <a:rPr lang="es-PE" dirty="0">
                <a:solidFill>
                  <a:schemeClr val="tx1"/>
                </a:solidFill>
              </a:rPr>
              <a:t>       G,   P   ≥ 0	       Respecto a la no </a:t>
            </a:r>
            <a:r>
              <a:rPr lang="es-PE" dirty="0" err="1">
                <a:solidFill>
                  <a:schemeClr val="tx1"/>
                </a:solidFill>
              </a:rPr>
              <a:t>negativ</a:t>
            </a:r>
            <a:r>
              <a:rPr lang="es-PE" dirty="0">
                <a:solidFill>
                  <a:schemeClr val="tx1"/>
                </a:solidFill>
              </a:rPr>
              <a:t>.</a:t>
            </a:r>
            <a:endParaRPr lang="es-ES" dirty="0">
              <a:solidFill>
                <a:schemeClr val="tx1"/>
              </a:solidFill>
            </a:endParaRPr>
          </a:p>
        </p:txBody>
      </p:sp>
      <p:sp>
        <p:nvSpPr>
          <p:cNvPr id="9" name="CuadroTexto 8">
            <a:extLst>
              <a:ext uri="{FF2B5EF4-FFF2-40B4-BE49-F238E27FC236}">
                <a16:creationId xmlns:a16="http://schemas.microsoft.com/office/drawing/2014/main" id="{A1D1A0A9-E2C1-0042-11A0-3891A68F1746}"/>
              </a:ext>
            </a:extLst>
          </p:cNvPr>
          <p:cNvSpPr txBox="1"/>
          <p:nvPr/>
        </p:nvSpPr>
        <p:spPr>
          <a:xfrm>
            <a:off x="371356" y="3561684"/>
            <a:ext cx="5604291" cy="461665"/>
          </a:xfrm>
          <a:prstGeom prst="rect">
            <a:avLst/>
          </a:prstGeom>
          <a:solidFill>
            <a:schemeClr val="accent3">
              <a:lumMod val="40000"/>
              <a:lumOff val="60000"/>
            </a:schemeClr>
          </a:solidFill>
        </p:spPr>
        <p:txBody>
          <a:bodyPr wrap="square">
            <a:spAutoFit/>
          </a:bodyPr>
          <a:lstStyle/>
          <a:p>
            <a:pPr algn="just" eaLnBrk="0" fontAlgn="base" hangingPunct="0">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400" dirty="0">
              <a:solidFill>
                <a:srgbClr val="FF0000"/>
              </a:solidFill>
              <a:latin typeface="Arial Narrow" pitchFamily="34" charset="0"/>
              <a:cs typeface="Arial" pitchFamily="34" charset="0"/>
            </a:endParaRPr>
          </a:p>
        </p:txBody>
      </p:sp>
      <p:sp>
        <p:nvSpPr>
          <p:cNvPr id="11" name="CuadroTexto 10">
            <a:extLst>
              <a:ext uri="{FF2B5EF4-FFF2-40B4-BE49-F238E27FC236}">
                <a16:creationId xmlns:a16="http://schemas.microsoft.com/office/drawing/2014/main" id="{FA0304FA-FD5B-88D5-D053-2DA26E5BC21C}"/>
              </a:ext>
            </a:extLst>
          </p:cNvPr>
          <p:cNvSpPr txBox="1"/>
          <p:nvPr/>
        </p:nvSpPr>
        <p:spPr>
          <a:xfrm>
            <a:off x="371356" y="4034140"/>
            <a:ext cx="5604292" cy="461665"/>
          </a:xfrm>
          <a:prstGeom prst="rect">
            <a:avLst/>
          </a:prstGeom>
          <a:solidFill>
            <a:schemeClr val="accent3">
              <a:lumMod val="40000"/>
              <a:lumOff val="60000"/>
            </a:schemeClr>
          </a:solidFill>
        </p:spPr>
        <p:txBody>
          <a:bodyPr wrap="square">
            <a:spAutoFit/>
          </a:bodyPr>
          <a:lstStyle/>
          <a:p>
            <a:r>
              <a:rPr lang="es-PE" sz="2400" dirty="0">
                <a:latin typeface="Arial Narrow" panose="020B0606020202030204" pitchFamily="34" charset="0"/>
              </a:rPr>
              <a:t>       MAX </a:t>
            </a:r>
            <a:r>
              <a:rPr lang="es-PE" sz="2400" dirty="0" err="1">
                <a:latin typeface="Arial Narrow" panose="020B0606020202030204" pitchFamily="34" charset="0"/>
              </a:rPr>
              <a:t>175G</a:t>
            </a:r>
            <a:endParaRPr lang="es-PE" sz="2400" dirty="0"/>
          </a:p>
        </p:txBody>
      </p:sp>
    </p:spTree>
    <p:extLst>
      <p:ext uri="{BB962C8B-B14F-4D97-AF65-F5344CB8AC3E}">
        <p14:creationId xmlns:p14="http://schemas.microsoft.com/office/powerpoint/2010/main" val="181836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P spid="3" grpId="0" animBg="1"/>
      <p:bldP spid="9"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nvGraphicFramePr>
        <p:xfrm>
          <a:off x="293298" y="1319842"/>
          <a:ext cx="5779698" cy="2389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6627" name="Object 2"/>
          <p:cNvGraphicFramePr>
            <a:graphicFrameLocks noChangeAspect="1"/>
          </p:cNvGraphicFramePr>
          <p:nvPr/>
        </p:nvGraphicFramePr>
        <p:xfrm>
          <a:off x="310551" y="3799305"/>
          <a:ext cx="5753818" cy="1195390"/>
        </p:xfrm>
        <a:graphic>
          <a:graphicData uri="http://schemas.openxmlformats.org/presentationml/2006/ole">
            <mc:AlternateContent xmlns:mc="http://schemas.openxmlformats.org/markup-compatibility/2006">
              <mc:Choice xmlns:v="urn:schemas-microsoft-com:vml" Requires="v">
                <p:oleObj name="Hoja de cálculo" r:id="rId7" imgW="3886208" imgH="819302" progId="Excel.Sheet.8">
                  <p:embed/>
                </p:oleObj>
              </mc:Choice>
              <mc:Fallback>
                <p:oleObj name="Hoja de cálculo" r:id="rId7" imgW="3886208" imgH="819302" progId="Excel.Sheet.8">
                  <p:embed/>
                  <p:pic>
                    <p:nvPicPr>
                      <p:cNvPr id="26627"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551" y="3799305"/>
                        <a:ext cx="5753818" cy="1195390"/>
                      </a:xfrm>
                      <a:prstGeom prst="rect">
                        <a:avLst/>
                      </a:prstGeom>
                      <a:solidFill>
                        <a:schemeClr val="bg2">
                          <a:lumMod val="90000"/>
                        </a:schemeClr>
                      </a:solidFill>
                      <a:ln>
                        <a:solidFill>
                          <a:schemeClr val="accent1"/>
                        </a:solidFill>
                      </a:ln>
                    </p:spPr>
                  </p:pic>
                </p:oleObj>
              </mc:Fallback>
            </mc:AlternateContent>
          </a:graphicData>
        </a:graphic>
      </p:graphicFrame>
      <p:sp>
        <p:nvSpPr>
          <p:cNvPr id="26629" name="Rectángulo 1"/>
          <p:cNvSpPr>
            <a:spLocks noChangeArrowheads="1"/>
          </p:cNvSpPr>
          <p:nvPr/>
        </p:nvSpPr>
        <p:spPr bwMode="auto">
          <a:xfrm>
            <a:off x="6096000" y="151972"/>
            <a:ext cx="6096000" cy="751552"/>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accent5">
                    <a:lumMod val="20000"/>
                    <a:lumOff val="80000"/>
                  </a:schemeClr>
                </a:solidFill>
                <a:effectLst>
                  <a:outerShdw blurRad="63500" dist="38100" dir="5400000" algn="t" rotWithShape="0">
                    <a:prstClr val="black">
                      <a:alpha val="25000"/>
                    </a:prstClr>
                  </a:outerShdw>
                </a:effectLst>
                <a:latin typeface="Bauhaus 93" pitchFamily="82" charset="0"/>
              </a:rPr>
              <a:t>Problema 10 Pintura</a:t>
            </a:r>
          </a:p>
        </p:txBody>
      </p:sp>
      <p:grpSp>
        <p:nvGrpSpPr>
          <p:cNvPr id="6" name="Grupo 5">
            <a:extLst>
              <a:ext uri="{FF2B5EF4-FFF2-40B4-BE49-F238E27FC236}">
                <a16:creationId xmlns:a16="http://schemas.microsoft.com/office/drawing/2014/main" id="{826A2D32-1848-4D45-B9C1-9326815C82C1}"/>
              </a:ext>
            </a:extLst>
          </p:cNvPr>
          <p:cNvGrpSpPr/>
          <p:nvPr/>
        </p:nvGrpSpPr>
        <p:grpSpPr>
          <a:xfrm>
            <a:off x="6169363" y="1388860"/>
            <a:ext cx="5916246" cy="2294619"/>
            <a:chOff x="0" y="510399"/>
            <a:chExt cx="8496944" cy="2433600"/>
          </a:xfrm>
        </p:grpSpPr>
        <p:sp>
          <p:nvSpPr>
            <p:cNvPr id="7" name="Rectángulo: esquinas redondeadas 6">
              <a:extLst>
                <a:ext uri="{FF2B5EF4-FFF2-40B4-BE49-F238E27FC236}">
                  <a16:creationId xmlns:a16="http://schemas.microsoft.com/office/drawing/2014/main" id="{5A9C3E74-8436-4374-8CE9-ABE5FB7CD0CD}"/>
                </a:ext>
              </a:extLst>
            </p:cNvPr>
            <p:cNvSpPr/>
            <p:nvPr/>
          </p:nvSpPr>
          <p:spPr>
            <a:xfrm>
              <a:off x="0" y="510399"/>
              <a:ext cx="8496944" cy="243360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8" name="Rectángulo: esquinas redondeadas 4">
              <a:extLst>
                <a:ext uri="{FF2B5EF4-FFF2-40B4-BE49-F238E27FC236}">
                  <a16:creationId xmlns:a16="http://schemas.microsoft.com/office/drawing/2014/main" id="{D10AF217-6B14-409F-9116-B79B5484FA8A}"/>
                </a:ext>
              </a:extLst>
            </p:cNvPr>
            <p:cNvSpPr txBox="1"/>
            <p:nvPr/>
          </p:nvSpPr>
          <p:spPr>
            <a:xfrm>
              <a:off x="118799" y="629198"/>
              <a:ext cx="8259346" cy="21960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ES_tradnl" sz="2000" kern="1200" dirty="0">
                  <a:solidFill>
                    <a:srgbClr val="FFFF00"/>
                  </a:solidFill>
                </a:rPr>
                <a:t>Un estudio de mercado ha establecido que la demanda diaria de pintura para interiores no puede ser mayor que las pinturas para exteriores en más de una tonelada. Asimismo, el estudio señala que la demanda máxima de pintura para interiores está limitada a dos toneladas diarias. El precio al mayoreo es de $3000 para la pintura de exteriores y $2000 para la de interiores. </a:t>
              </a:r>
              <a:endParaRPr lang="es-ES" sz="2000" kern="1200" dirty="0">
                <a:solidFill>
                  <a:srgbClr val="FFFF00"/>
                </a:solidFill>
              </a:endParaRPr>
            </a:p>
          </p:txBody>
        </p:sp>
      </p:grpSp>
      <p:sp>
        <p:nvSpPr>
          <p:cNvPr id="9" name="5 Rectángulo redondeado">
            <a:extLst>
              <a:ext uri="{FF2B5EF4-FFF2-40B4-BE49-F238E27FC236}">
                <a16:creationId xmlns:a16="http://schemas.microsoft.com/office/drawing/2014/main" id="{5C7991A1-7E11-472B-9E65-D9B8BB6AF2C0}"/>
              </a:ext>
            </a:extLst>
          </p:cNvPr>
          <p:cNvSpPr/>
          <p:nvPr/>
        </p:nvSpPr>
        <p:spPr>
          <a:xfrm>
            <a:off x="310550" y="5141343"/>
            <a:ext cx="5788325" cy="1224951"/>
          </a:xfrm>
          <a:prstGeom prst="roundRect">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p:spPr>
        <p:txBody>
          <a:bodyPr spcFirstLastPara="0" vert="horz" wrap="square" lIns="91440" tIns="91440" rIns="91440" bIns="91440" numCol="1" spcCol="1270" anchor="ctr" anchorCtr="0">
            <a:noAutofit/>
          </a:bodyPr>
          <a:lstStyle/>
          <a:p>
            <a:pPr algn="just"/>
            <a:r>
              <a:rPr lang="es-ES_tradnl" sz="2000" dirty="0">
                <a:solidFill>
                  <a:srgbClr val="FFFF00"/>
                </a:solidFill>
              </a:rPr>
              <a:t>¿Cuánta pintura para exteriores e interiores debe producir la fábrica de pinturas </a:t>
            </a:r>
            <a:r>
              <a:rPr lang="es-ES_tradnl" sz="2000" dirty="0" err="1">
                <a:solidFill>
                  <a:srgbClr val="FFFF00"/>
                </a:solidFill>
              </a:rPr>
              <a:t>RMC</a:t>
            </a:r>
            <a:r>
              <a:rPr lang="es-ES_tradnl" sz="2000" dirty="0">
                <a:solidFill>
                  <a:srgbClr val="FFFF00"/>
                </a:solidFill>
              </a:rPr>
              <a:t> todos los días para maximizar el ingreso bruto?</a:t>
            </a:r>
            <a:endParaRPr lang="es-ES" sz="2000" dirty="0">
              <a:solidFill>
                <a:srgbClr val="FFFF00"/>
              </a:solidFill>
            </a:endParaRPr>
          </a:p>
        </p:txBody>
      </p:sp>
      <p:pic>
        <p:nvPicPr>
          <p:cNvPr id="10" name="Imagen 9">
            <a:extLst>
              <a:ext uri="{FF2B5EF4-FFF2-40B4-BE49-F238E27FC236}">
                <a16:creationId xmlns:a16="http://schemas.microsoft.com/office/drawing/2014/main" id="{1442989E-EC10-482C-9481-ADF16BF7A1CF}"/>
              </a:ext>
            </a:extLst>
          </p:cNvPr>
          <p:cNvPicPr>
            <a:picLocks noChangeAspect="1"/>
          </p:cNvPicPr>
          <p:nvPr/>
        </p:nvPicPr>
        <p:blipFill>
          <a:blip r:embed="rId9"/>
          <a:stretch>
            <a:fillRect/>
          </a:stretch>
        </p:blipFill>
        <p:spPr>
          <a:xfrm>
            <a:off x="9023230" y="4450568"/>
            <a:ext cx="3028904" cy="1752460"/>
          </a:xfrm>
          <a:prstGeom prst="rect">
            <a:avLst/>
          </a:prstGeom>
          <a:ln>
            <a:noFill/>
          </a:ln>
          <a:effectLst>
            <a:softEdge rad="112500"/>
          </a:effectLst>
        </p:spPr>
      </p:pic>
      <p:pic>
        <p:nvPicPr>
          <p:cNvPr id="11" name="Picture 6">
            <a:extLst>
              <a:ext uri="{FF2B5EF4-FFF2-40B4-BE49-F238E27FC236}">
                <a16:creationId xmlns:a16="http://schemas.microsoft.com/office/drawing/2014/main" id="{5406120B-DAF1-4FC6-87E2-013CB84BDDF2}"/>
              </a:ext>
            </a:extLst>
          </p:cNvPr>
          <p:cNvPicPr>
            <a:picLocks noChangeAspect="1" noChangeArrowheads="1"/>
          </p:cNvPicPr>
          <p:nvPr/>
        </p:nvPicPr>
        <p:blipFill>
          <a:blip r:embed="rId10"/>
          <a:srcRect/>
          <a:stretch>
            <a:fillRect/>
          </a:stretch>
        </p:blipFill>
        <p:spPr bwMode="auto">
          <a:xfrm>
            <a:off x="6473425" y="3890513"/>
            <a:ext cx="2442108" cy="247859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31898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46012" y="1320519"/>
            <a:ext cx="409085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algn="just" eaLnBrk="1" hangingPunct="1"/>
            <a:r>
              <a:rPr lang="es-ES_tradnl" altLang="es-PE" dirty="0">
                <a:solidFill>
                  <a:schemeClr val="accent2"/>
                </a:solidFill>
                <a:latin typeface="Gill Sans MT" pitchFamily="34" charset="0"/>
              </a:rPr>
              <a:t>1. Variables de decisión</a:t>
            </a:r>
          </a:p>
          <a:p>
            <a:pPr algn="just" eaLnBrk="1" hangingPunct="1"/>
            <a:r>
              <a:rPr lang="es-ES_tradnl" altLang="es-PE" dirty="0">
                <a:latin typeface="Gill Sans MT" pitchFamily="34" charset="0"/>
              </a:rPr>
              <a:t>   </a:t>
            </a:r>
            <a:r>
              <a:rPr lang="es-ES_tradnl" altLang="es-PE" dirty="0" err="1">
                <a:latin typeface="Gill Sans MT" pitchFamily="34" charset="0"/>
              </a:rPr>
              <a:t>X</a:t>
            </a:r>
            <a:r>
              <a:rPr lang="es-ES_tradnl" altLang="es-PE" baseline="-25000" dirty="0" err="1">
                <a:latin typeface="Gill Sans MT" pitchFamily="34" charset="0"/>
              </a:rPr>
              <a:t>1</a:t>
            </a:r>
            <a:r>
              <a:rPr lang="es-ES_tradnl" altLang="es-PE" dirty="0">
                <a:latin typeface="Gill Sans MT" pitchFamily="34" charset="0"/>
              </a:rPr>
              <a:t> : Toneladas de pintura de exteriores producidas por día.</a:t>
            </a:r>
          </a:p>
          <a:p>
            <a:pPr algn="just" eaLnBrk="1" hangingPunct="1"/>
            <a:r>
              <a:rPr lang="es-ES_tradnl" altLang="es-PE" dirty="0">
                <a:latin typeface="Gill Sans MT" pitchFamily="34" charset="0"/>
              </a:rPr>
              <a:t>   </a:t>
            </a:r>
            <a:r>
              <a:rPr lang="es-ES_tradnl" altLang="es-PE" dirty="0" err="1">
                <a:latin typeface="Gill Sans MT" pitchFamily="34" charset="0"/>
              </a:rPr>
              <a:t>X</a:t>
            </a:r>
            <a:r>
              <a:rPr lang="es-ES_tradnl" altLang="es-PE" baseline="-25000" dirty="0" err="1">
                <a:latin typeface="Gill Sans MT" pitchFamily="34" charset="0"/>
              </a:rPr>
              <a:t>2</a:t>
            </a:r>
            <a:r>
              <a:rPr lang="es-ES_tradnl" altLang="es-PE" dirty="0">
                <a:latin typeface="Gill Sans MT" pitchFamily="34" charset="0"/>
              </a:rPr>
              <a:t> : Toneladas de pintura para interiores producidas por día. </a:t>
            </a:r>
          </a:p>
        </p:txBody>
      </p:sp>
      <p:sp>
        <p:nvSpPr>
          <p:cNvPr id="28675" name="Text Box 4"/>
          <p:cNvSpPr txBox="1">
            <a:spLocks noChangeArrowheads="1"/>
          </p:cNvSpPr>
          <p:nvPr/>
        </p:nvSpPr>
        <p:spPr bwMode="auto">
          <a:xfrm>
            <a:off x="147357" y="4404103"/>
            <a:ext cx="411480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algn="just">
              <a:lnSpc>
                <a:spcPct val="80000"/>
              </a:lnSpc>
            </a:pPr>
            <a:r>
              <a:rPr lang="es-ES_tradnl" altLang="es-PE" dirty="0">
                <a:latin typeface="Gill Sans MT" pitchFamily="34" charset="0"/>
              </a:rPr>
              <a:t> </a:t>
            </a:r>
            <a:r>
              <a:rPr lang="es-ES_tradnl" altLang="es-PE" dirty="0">
                <a:solidFill>
                  <a:schemeClr val="accent2"/>
                </a:solidFill>
                <a:latin typeface="Gill Sans MT" pitchFamily="34" charset="0"/>
              </a:rPr>
              <a:t>3. Restricciones</a:t>
            </a:r>
          </a:p>
          <a:p>
            <a:pPr algn="just" eaLnBrk="1" hangingPunct="1">
              <a:lnSpc>
                <a:spcPct val="80000"/>
              </a:lnSpc>
            </a:pPr>
            <a:r>
              <a:rPr lang="es-ES_tradnl" altLang="es-PE" dirty="0">
                <a:latin typeface="Gill Sans MT" pitchFamily="34" charset="0"/>
              </a:rPr>
              <a:t>       </a:t>
            </a:r>
            <a:r>
              <a:rPr lang="es-ES_tradnl" altLang="es-PE" dirty="0" err="1">
                <a:latin typeface="Gill Sans MT" pitchFamily="34" charset="0"/>
              </a:rPr>
              <a:t>X</a:t>
            </a:r>
            <a:r>
              <a:rPr lang="es-ES_tradnl" altLang="es-PE" baseline="-25000" dirty="0" err="1">
                <a:latin typeface="Gill Sans MT" pitchFamily="34" charset="0"/>
              </a:rPr>
              <a:t>1</a:t>
            </a:r>
            <a:r>
              <a:rPr lang="es-ES_tradnl" altLang="es-PE" baseline="-25000" dirty="0">
                <a:latin typeface="Gill Sans MT" pitchFamily="34" charset="0"/>
              </a:rPr>
              <a:t> </a:t>
            </a:r>
            <a:r>
              <a:rPr lang="es-ES_tradnl" altLang="es-PE" dirty="0">
                <a:latin typeface="Gill Sans MT" pitchFamily="34" charset="0"/>
              </a:rPr>
              <a:t> +   2 </a:t>
            </a:r>
            <a:r>
              <a:rPr lang="es-ES_tradnl" altLang="es-PE" dirty="0" err="1">
                <a:latin typeface="Gill Sans MT" pitchFamily="34" charset="0"/>
              </a:rPr>
              <a:t>X</a:t>
            </a:r>
            <a:r>
              <a:rPr lang="es-ES_tradnl" altLang="es-PE" baseline="-25000" dirty="0" err="1">
                <a:latin typeface="Gill Sans MT" pitchFamily="34" charset="0"/>
              </a:rPr>
              <a:t>2</a:t>
            </a:r>
            <a:r>
              <a:rPr lang="es-ES_tradnl" altLang="es-PE" dirty="0">
                <a:latin typeface="Gill Sans MT" pitchFamily="34" charset="0"/>
              </a:rPr>
              <a:t>   </a:t>
            </a:r>
            <a:r>
              <a:rPr lang="es-CL" altLang="es-PE" dirty="0">
                <a:latin typeface="Gill Sans MT" pitchFamily="34" charset="0"/>
                <a:sym typeface="Symbol" pitchFamily="18" charset="2"/>
              </a:rPr>
              <a:t>  6</a:t>
            </a:r>
          </a:p>
          <a:p>
            <a:pPr algn="just" eaLnBrk="1" hangingPunct="1">
              <a:lnSpc>
                <a:spcPct val="80000"/>
              </a:lnSpc>
            </a:pPr>
            <a:r>
              <a:rPr lang="es-CL" altLang="es-PE" dirty="0">
                <a:latin typeface="Gill Sans MT" pitchFamily="34" charset="0"/>
                <a:sym typeface="Symbol" pitchFamily="18" charset="2"/>
              </a:rPr>
              <a:t>    2 </a:t>
            </a:r>
            <a:r>
              <a:rPr lang="es-CL" altLang="es-PE" dirty="0" err="1">
                <a:latin typeface="Gill Sans MT" pitchFamily="34" charset="0"/>
                <a:sym typeface="Symbol" pitchFamily="18" charset="2"/>
              </a:rPr>
              <a:t>X</a:t>
            </a:r>
            <a:r>
              <a:rPr lang="es-CL" altLang="es-PE" baseline="-25000" dirty="0" err="1">
                <a:latin typeface="Gill Sans MT" pitchFamily="34" charset="0"/>
                <a:sym typeface="Symbol" pitchFamily="18" charset="2"/>
              </a:rPr>
              <a:t>1</a:t>
            </a:r>
            <a:r>
              <a:rPr lang="es-CL" altLang="es-PE" dirty="0">
                <a:latin typeface="Gill Sans MT" pitchFamily="34" charset="0"/>
                <a:sym typeface="Symbol" pitchFamily="18" charset="2"/>
              </a:rPr>
              <a:t>  +      </a:t>
            </a:r>
            <a:r>
              <a:rPr lang="es-CL" altLang="es-PE" dirty="0" err="1">
                <a:latin typeface="Gill Sans MT" pitchFamily="34" charset="0"/>
                <a:sym typeface="Symbol" pitchFamily="18" charset="2"/>
              </a:rPr>
              <a:t>X</a:t>
            </a:r>
            <a:r>
              <a:rPr lang="es-CL" altLang="es-PE" baseline="-25000" dirty="0" err="1">
                <a:latin typeface="Gill Sans MT" pitchFamily="34" charset="0"/>
                <a:sym typeface="Symbol" pitchFamily="18" charset="2"/>
              </a:rPr>
              <a:t>2</a:t>
            </a:r>
            <a:r>
              <a:rPr lang="es-CL" altLang="es-PE" baseline="-25000" dirty="0">
                <a:latin typeface="Gill Sans MT" pitchFamily="34" charset="0"/>
                <a:sym typeface="Symbol" pitchFamily="18" charset="2"/>
              </a:rPr>
              <a:t>    </a:t>
            </a:r>
            <a:r>
              <a:rPr lang="es-CL" altLang="es-PE" dirty="0">
                <a:latin typeface="Gill Sans MT" pitchFamily="34" charset="0"/>
                <a:sym typeface="Symbol" pitchFamily="18" charset="2"/>
              </a:rPr>
              <a:t>  8</a:t>
            </a:r>
          </a:p>
          <a:p>
            <a:pPr algn="just" eaLnBrk="1" hangingPunct="1">
              <a:lnSpc>
                <a:spcPct val="80000"/>
              </a:lnSpc>
            </a:pPr>
            <a:r>
              <a:rPr lang="es-ES_tradnl" altLang="es-PE" dirty="0">
                <a:latin typeface="Gill Sans MT" pitchFamily="34" charset="0"/>
                <a:sym typeface="Symbol" pitchFamily="18" charset="2"/>
              </a:rPr>
              <a:t>     -</a:t>
            </a:r>
            <a:r>
              <a:rPr lang="es-ES_tradnl" altLang="es-PE" dirty="0">
                <a:latin typeface="Gill Sans MT" pitchFamily="34" charset="0"/>
              </a:rPr>
              <a:t> </a:t>
            </a:r>
            <a:r>
              <a:rPr lang="es-ES_tradnl" altLang="es-PE" dirty="0" err="1">
                <a:latin typeface="Gill Sans MT" pitchFamily="34" charset="0"/>
              </a:rPr>
              <a:t>X</a:t>
            </a:r>
            <a:r>
              <a:rPr lang="es-ES_tradnl" altLang="es-PE" baseline="-25000" dirty="0" err="1">
                <a:latin typeface="Gill Sans MT" pitchFamily="34" charset="0"/>
              </a:rPr>
              <a:t>1</a:t>
            </a:r>
            <a:r>
              <a:rPr lang="es-ES_tradnl" altLang="es-PE" dirty="0">
                <a:latin typeface="Gill Sans MT" pitchFamily="34" charset="0"/>
              </a:rPr>
              <a:t>  +     </a:t>
            </a:r>
            <a:r>
              <a:rPr lang="es-ES_tradnl" altLang="es-PE" dirty="0" err="1">
                <a:latin typeface="Gill Sans MT" pitchFamily="34" charset="0"/>
              </a:rPr>
              <a:t>X</a:t>
            </a:r>
            <a:r>
              <a:rPr lang="es-ES_tradnl" altLang="es-PE" baseline="-25000" dirty="0" err="1">
                <a:latin typeface="Gill Sans MT" pitchFamily="34" charset="0"/>
              </a:rPr>
              <a:t>2</a:t>
            </a:r>
            <a:r>
              <a:rPr lang="es-ES_tradnl" altLang="es-PE" dirty="0">
                <a:latin typeface="Gill Sans MT" pitchFamily="34" charset="0"/>
              </a:rPr>
              <a:t>   </a:t>
            </a:r>
            <a:r>
              <a:rPr lang="es-CL" altLang="es-PE" dirty="0">
                <a:latin typeface="Gill Sans MT" pitchFamily="34" charset="0"/>
                <a:sym typeface="Symbol" pitchFamily="18" charset="2"/>
              </a:rPr>
              <a:t>  1</a:t>
            </a:r>
          </a:p>
          <a:p>
            <a:pPr algn="just" eaLnBrk="1" hangingPunct="1">
              <a:lnSpc>
                <a:spcPct val="80000"/>
              </a:lnSpc>
            </a:pPr>
            <a:r>
              <a:rPr lang="es-ES_tradnl" altLang="es-PE" dirty="0">
                <a:latin typeface="Gill Sans MT" pitchFamily="34" charset="0"/>
              </a:rPr>
              <a:t>                    </a:t>
            </a:r>
            <a:r>
              <a:rPr lang="es-ES_tradnl" altLang="es-PE" dirty="0" err="1">
                <a:latin typeface="Gill Sans MT" pitchFamily="34" charset="0"/>
              </a:rPr>
              <a:t>X</a:t>
            </a:r>
            <a:r>
              <a:rPr lang="es-ES_tradnl" altLang="es-PE" baseline="-25000" dirty="0" err="1">
                <a:latin typeface="Gill Sans MT" pitchFamily="34" charset="0"/>
              </a:rPr>
              <a:t>2</a:t>
            </a:r>
            <a:r>
              <a:rPr lang="es-ES_tradnl" altLang="es-PE" dirty="0">
                <a:latin typeface="Gill Sans MT" pitchFamily="34" charset="0"/>
              </a:rPr>
              <a:t>   </a:t>
            </a:r>
            <a:r>
              <a:rPr lang="es-CL" altLang="es-PE" dirty="0">
                <a:latin typeface="Gill Sans MT" pitchFamily="34" charset="0"/>
                <a:sym typeface="Symbol" pitchFamily="18" charset="2"/>
              </a:rPr>
              <a:t>  2</a:t>
            </a:r>
          </a:p>
          <a:p>
            <a:pPr algn="just" eaLnBrk="1" hangingPunct="1">
              <a:lnSpc>
                <a:spcPct val="80000"/>
              </a:lnSpc>
            </a:pPr>
            <a:r>
              <a:rPr lang="es-CL" altLang="es-PE" dirty="0">
                <a:latin typeface="Gill Sans MT" pitchFamily="34" charset="0"/>
                <a:sym typeface="Symbol" pitchFamily="18" charset="2"/>
              </a:rPr>
              <a:t>  </a:t>
            </a:r>
            <a:r>
              <a:rPr lang="es-ES_tradnl" altLang="es-PE" dirty="0">
                <a:latin typeface="Gill Sans MT" pitchFamily="34" charset="0"/>
                <a:sym typeface="Symbol" pitchFamily="18" charset="2"/>
              </a:rPr>
              <a:t>           </a:t>
            </a:r>
            <a:r>
              <a:rPr lang="es-ES_tradnl" altLang="es-PE" dirty="0">
                <a:latin typeface="Gill Sans MT" pitchFamily="34" charset="0"/>
              </a:rPr>
              <a:t> </a:t>
            </a:r>
            <a:r>
              <a:rPr lang="es-ES_tradnl" altLang="es-PE" dirty="0" err="1">
                <a:latin typeface="Gill Sans MT" pitchFamily="34" charset="0"/>
              </a:rPr>
              <a:t>X</a:t>
            </a:r>
            <a:r>
              <a:rPr lang="es-ES_tradnl" altLang="es-PE" baseline="-25000" dirty="0" err="1">
                <a:latin typeface="Gill Sans MT" pitchFamily="34" charset="0"/>
              </a:rPr>
              <a:t>1</a:t>
            </a:r>
            <a:r>
              <a:rPr lang="es-ES_tradnl" altLang="es-PE" dirty="0">
                <a:latin typeface="Gill Sans MT" pitchFamily="34" charset="0"/>
              </a:rPr>
              <a:t> , </a:t>
            </a:r>
            <a:r>
              <a:rPr lang="es-ES_tradnl" altLang="es-PE" dirty="0" err="1">
                <a:latin typeface="Gill Sans MT" pitchFamily="34" charset="0"/>
              </a:rPr>
              <a:t>X</a:t>
            </a:r>
            <a:r>
              <a:rPr lang="es-ES_tradnl" altLang="es-PE" baseline="-25000" dirty="0" err="1">
                <a:latin typeface="Gill Sans MT" pitchFamily="34" charset="0"/>
              </a:rPr>
              <a:t>2</a:t>
            </a:r>
            <a:r>
              <a:rPr lang="es-ES_tradnl" altLang="es-PE" dirty="0">
                <a:latin typeface="Gill Sans MT" pitchFamily="34" charset="0"/>
              </a:rPr>
              <a:t>   </a:t>
            </a:r>
            <a:r>
              <a:rPr lang="es-CL" altLang="es-PE" dirty="0">
                <a:latin typeface="Gill Sans MT" pitchFamily="34" charset="0"/>
                <a:sym typeface="Symbol" pitchFamily="18" charset="2"/>
              </a:rPr>
              <a:t>  0</a:t>
            </a:r>
            <a:endParaRPr lang="es-ES_tradnl" altLang="es-PE" dirty="0">
              <a:latin typeface="Gill Sans MT" pitchFamily="34" charset="0"/>
              <a:sym typeface="Symbol" pitchFamily="18" charset="2"/>
            </a:endParaRPr>
          </a:p>
        </p:txBody>
      </p:sp>
      <p:pic>
        <p:nvPicPr>
          <p:cNvPr id="36869" name="Picture 5"/>
          <p:cNvPicPr>
            <a:picLocks noChangeAspect="1" noChangeArrowheads="1"/>
          </p:cNvPicPr>
          <p:nvPr/>
        </p:nvPicPr>
        <p:blipFill>
          <a:blip r:embed="rId2"/>
          <a:srcRect/>
          <a:stretch>
            <a:fillRect/>
          </a:stretch>
        </p:blipFill>
        <p:spPr bwMode="auto">
          <a:xfrm>
            <a:off x="5276905" y="1400760"/>
            <a:ext cx="2055441" cy="159554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6870" name="Picture 6"/>
          <p:cNvPicPr>
            <a:picLocks noChangeAspect="1" noChangeArrowheads="1"/>
          </p:cNvPicPr>
          <p:nvPr/>
        </p:nvPicPr>
        <p:blipFill>
          <a:blip r:embed="rId3"/>
          <a:srcRect/>
          <a:stretch>
            <a:fillRect/>
          </a:stretch>
        </p:blipFill>
        <p:spPr bwMode="auto">
          <a:xfrm>
            <a:off x="5276905" y="3280847"/>
            <a:ext cx="2055441" cy="15415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Rectangle 3"/>
          <p:cNvSpPr>
            <a:spLocks noChangeArrowheads="1"/>
          </p:cNvSpPr>
          <p:nvPr/>
        </p:nvSpPr>
        <p:spPr bwMode="auto">
          <a:xfrm>
            <a:off x="6096000" y="263141"/>
            <a:ext cx="6096000" cy="571500"/>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accent5">
                    <a:lumMod val="20000"/>
                    <a:lumOff val="80000"/>
                  </a:schemeClr>
                </a:solidFill>
                <a:effectLst>
                  <a:outerShdw blurRad="63500" dist="38100" dir="5400000" algn="t" rotWithShape="0">
                    <a:prstClr val="black">
                      <a:alpha val="25000"/>
                    </a:prstClr>
                  </a:outerShdw>
                </a:effectLst>
                <a:latin typeface="Bauhaus 93" pitchFamily="82" charset="0"/>
              </a:rPr>
              <a:t>Solución:</a:t>
            </a:r>
          </a:p>
        </p:txBody>
      </p:sp>
      <p:sp>
        <p:nvSpPr>
          <p:cNvPr id="2" name="Rectángulo 1">
            <a:extLst>
              <a:ext uri="{FF2B5EF4-FFF2-40B4-BE49-F238E27FC236}">
                <a16:creationId xmlns:a16="http://schemas.microsoft.com/office/drawing/2014/main" id="{162A1088-4ACA-4F49-952F-78AE0EC23F34}"/>
              </a:ext>
            </a:extLst>
          </p:cNvPr>
          <p:cNvSpPr/>
          <p:nvPr/>
        </p:nvSpPr>
        <p:spPr>
          <a:xfrm>
            <a:off x="208625" y="3410131"/>
            <a:ext cx="6096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s-ES_tradnl" altLang="es-PE" sz="2400" dirty="0">
                <a:solidFill>
                  <a:schemeClr val="accent2"/>
                </a:solidFill>
                <a:latin typeface="Gill Sans MT" pitchFamily="34" charset="0"/>
              </a:rPr>
              <a:t>2. Función Objetivo: Maximizar ingreso</a:t>
            </a:r>
          </a:p>
          <a:p>
            <a:pPr algn="just"/>
            <a:r>
              <a:rPr lang="es-ES_tradnl" altLang="es-PE" sz="2400" dirty="0">
                <a:solidFill>
                  <a:schemeClr val="accent2"/>
                </a:solidFill>
                <a:latin typeface="Gill Sans MT" pitchFamily="34" charset="0"/>
              </a:rPr>
              <a:t>	</a:t>
            </a:r>
            <a:r>
              <a:rPr lang="es-ES_tradnl" altLang="es-PE" sz="2400" dirty="0">
                <a:latin typeface="Gill Sans MT" pitchFamily="34" charset="0"/>
              </a:rPr>
              <a:t>MAX 3000 </a:t>
            </a:r>
            <a:r>
              <a:rPr lang="es-ES_tradnl" altLang="es-PE" sz="2400" dirty="0" err="1">
                <a:latin typeface="Gill Sans MT" pitchFamily="34" charset="0"/>
              </a:rPr>
              <a:t>X1</a:t>
            </a:r>
            <a:r>
              <a:rPr lang="es-ES_tradnl" altLang="es-PE" sz="2400" dirty="0">
                <a:latin typeface="Gill Sans MT" pitchFamily="34" charset="0"/>
              </a:rPr>
              <a:t> + 2000 </a:t>
            </a:r>
            <a:r>
              <a:rPr lang="es-ES_tradnl" altLang="es-PE" sz="2400" dirty="0" err="1">
                <a:latin typeface="Gill Sans MT" pitchFamily="34" charset="0"/>
              </a:rPr>
              <a:t>X2</a:t>
            </a:r>
            <a:r>
              <a:rPr lang="es-ES_tradnl" altLang="es-PE" sz="2400" dirty="0">
                <a:latin typeface="Gill Sans MT" pitchFamily="34" charset="0"/>
              </a:rPr>
              <a:t>  </a:t>
            </a:r>
          </a:p>
        </p:txBody>
      </p:sp>
      <p:sp>
        <p:nvSpPr>
          <p:cNvPr id="3" name="1 Rectángulo">
            <a:extLst>
              <a:ext uri="{FF2B5EF4-FFF2-40B4-BE49-F238E27FC236}">
                <a16:creationId xmlns:a16="http://schemas.microsoft.com/office/drawing/2014/main" id="{6E9C6CE9-7220-0A40-98C7-8F059054597A}"/>
              </a:ext>
            </a:extLst>
          </p:cNvPr>
          <p:cNvSpPr/>
          <p:nvPr/>
        </p:nvSpPr>
        <p:spPr>
          <a:xfrm>
            <a:off x="7831128" y="3611597"/>
            <a:ext cx="4213515" cy="1631216"/>
          </a:xfrm>
          <a:prstGeom prst="rect">
            <a:avLst/>
          </a:prstGeom>
          <a:solidFill>
            <a:schemeClr val="accent4">
              <a:lumMod val="40000"/>
              <a:lumOff val="60000"/>
            </a:schemeClr>
          </a:solidFill>
        </p:spPr>
        <p:txBody>
          <a:bodyPr wrap="square">
            <a:spAutoFit/>
          </a:bodyPr>
          <a:lstStyle/>
          <a:p>
            <a:r>
              <a:rPr lang="en-US" sz="2000" dirty="0">
                <a:solidFill>
                  <a:srgbClr val="FF0000"/>
                </a:solidFill>
                <a:latin typeface="Arial Narrow" panose="020B0606020202030204" pitchFamily="34" charset="0"/>
              </a:rPr>
              <a:t> OBJECTIVE FUNCTION VALUE</a:t>
            </a:r>
          </a:p>
          <a:p>
            <a:r>
              <a:rPr lang="en-US" sz="2000" dirty="0">
                <a:solidFill>
                  <a:srgbClr val="FF0000"/>
                </a:solidFill>
                <a:latin typeface="Arial Narrow" panose="020B0606020202030204" pitchFamily="34" charset="0"/>
              </a:rPr>
              <a:t>        1)      12666.67</a:t>
            </a:r>
          </a:p>
          <a:p>
            <a:r>
              <a:rPr lang="en-US" sz="2000" dirty="0">
                <a:solidFill>
                  <a:srgbClr val="FF0000"/>
                </a:solidFill>
                <a:latin typeface="Arial Narrow" panose="020B0606020202030204" pitchFamily="34" charset="0"/>
              </a:rPr>
              <a:t>  VARIABLE     VALUE    REDUCED COST</a:t>
            </a:r>
          </a:p>
          <a:p>
            <a:r>
              <a:rPr lang="en-US" sz="2000" dirty="0">
                <a:solidFill>
                  <a:srgbClr val="FF0000"/>
                </a:solidFill>
                <a:latin typeface="Arial Narrow" panose="020B0606020202030204" pitchFamily="34" charset="0"/>
              </a:rPr>
              <a:t>        </a:t>
            </a:r>
            <a:r>
              <a:rPr lang="en-US" sz="2000" dirty="0" err="1">
                <a:solidFill>
                  <a:srgbClr val="FF0000"/>
                </a:solidFill>
                <a:latin typeface="Arial Narrow" panose="020B0606020202030204" pitchFamily="34" charset="0"/>
              </a:rPr>
              <a:t>X1</a:t>
            </a:r>
            <a:r>
              <a:rPr lang="en-US" sz="2000" dirty="0">
                <a:solidFill>
                  <a:srgbClr val="FF0000"/>
                </a:solidFill>
                <a:latin typeface="Arial Narrow" panose="020B0606020202030204" pitchFamily="34" charset="0"/>
              </a:rPr>
              <a:t>         3.333333          0.000000</a:t>
            </a:r>
          </a:p>
          <a:p>
            <a:r>
              <a:rPr lang="en-US" sz="2000" dirty="0">
                <a:solidFill>
                  <a:srgbClr val="FF0000"/>
                </a:solidFill>
                <a:latin typeface="Arial Narrow" panose="020B0606020202030204" pitchFamily="34" charset="0"/>
              </a:rPr>
              <a:t>        </a:t>
            </a:r>
            <a:r>
              <a:rPr lang="en-US" sz="2000" dirty="0" err="1">
                <a:solidFill>
                  <a:srgbClr val="FF0000"/>
                </a:solidFill>
                <a:latin typeface="Arial Narrow" panose="020B0606020202030204" pitchFamily="34" charset="0"/>
              </a:rPr>
              <a:t>X2</a:t>
            </a:r>
            <a:r>
              <a:rPr lang="en-US" sz="2000" dirty="0">
                <a:solidFill>
                  <a:srgbClr val="FF0000"/>
                </a:solidFill>
                <a:latin typeface="Arial Narrow" panose="020B0606020202030204" pitchFamily="34" charset="0"/>
              </a:rPr>
              <a:t>         1.333333          0.000000</a:t>
            </a:r>
          </a:p>
        </p:txBody>
      </p:sp>
      <p:sp>
        <p:nvSpPr>
          <p:cNvPr id="4" name="2 Rectángulo">
            <a:extLst>
              <a:ext uri="{FF2B5EF4-FFF2-40B4-BE49-F238E27FC236}">
                <a16:creationId xmlns:a16="http://schemas.microsoft.com/office/drawing/2014/main" id="{2911404C-5BF5-A653-98F7-E29472396F5B}"/>
              </a:ext>
            </a:extLst>
          </p:cNvPr>
          <p:cNvSpPr/>
          <p:nvPr/>
        </p:nvSpPr>
        <p:spPr>
          <a:xfrm>
            <a:off x="7821730" y="1303273"/>
            <a:ext cx="3212030" cy="1938992"/>
          </a:xfrm>
          <a:prstGeom prst="rect">
            <a:avLst/>
          </a:prstGeom>
          <a:solidFill>
            <a:srgbClr val="FFFF00"/>
          </a:solidFill>
        </p:spPr>
        <p:txBody>
          <a:bodyPr wrap="square">
            <a:spAutoFit/>
          </a:bodyPr>
          <a:lstStyle/>
          <a:p>
            <a:r>
              <a:rPr lang="en-US" sz="2000" b="1" dirty="0">
                <a:latin typeface="Arial Narrow" panose="020B0606020202030204" pitchFamily="34" charset="0"/>
              </a:rPr>
              <a:t>MAX </a:t>
            </a:r>
            <a:r>
              <a:rPr lang="en-US" sz="2000" b="1" dirty="0" err="1">
                <a:latin typeface="Arial Narrow" panose="020B0606020202030204" pitchFamily="34" charset="0"/>
              </a:rPr>
              <a:t>3000X1</a:t>
            </a:r>
            <a:r>
              <a:rPr lang="en-US" sz="2000" b="1" dirty="0">
                <a:latin typeface="Arial Narrow" panose="020B0606020202030204" pitchFamily="34" charset="0"/>
              </a:rPr>
              <a:t> + </a:t>
            </a:r>
            <a:r>
              <a:rPr lang="en-US" sz="2000" b="1" dirty="0" err="1">
                <a:latin typeface="Arial Narrow" panose="020B0606020202030204" pitchFamily="34" charset="0"/>
              </a:rPr>
              <a:t>2000X2</a:t>
            </a:r>
            <a:r>
              <a:rPr lang="en-US" sz="2000" b="1" dirty="0">
                <a:latin typeface="Arial Narrow" panose="020B0606020202030204" pitchFamily="34" charset="0"/>
              </a:rPr>
              <a:t>  </a:t>
            </a:r>
          </a:p>
          <a:p>
            <a:r>
              <a:rPr lang="en-US" sz="2000" b="1" dirty="0">
                <a:latin typeface="Arial Narrow" panose="020B0606020202030204" pitchFamily="34" charset="0"/>
              </a:rPr>
              <a:t>ST</a:t>
            </a:r>
          </a:p>
          <a:p>
            <a:r>
              <a:rPr lang="en-US" sz="2000" b="1" dirty="0" err="1">
                <a:latin typeface="Arial Narrow" panose="020B0606020202030204" pitchFamily="34" charset="0"/>
              </a:rPr>
              <a:t>X1</a:t>
            </a:r>
            <a:r>
              <a:rPr lang="en-US" sz="2000" b="1" dirty="0">
                <a:latin typeface="Arial Narrow" panose="020B0606020202030204" pitchFamily="34" charset="0"/>
              </a:rPr>
              <a:t>   +   </a:t>
            </a:r>
            <a:r>
              <a:rPr lang="en-US" sz="2000" b="1" dirty="0" err="1">
                <a:latin typeface="Arial Narrow" panose="020B0606020202030204" pitchFamily="34" charset="0"/>
              </a:rPr>
              <a:t>2X2</a:t>
            </a:r>
            <a:r>
              <a:rPr lang="en-US" sz="2000" b="1" dirty="0">
                <a:latin typeface="Arial Narrow" panose="020B0606020202030204" pitchFamily="34" charset="0"/>
              </a:rPr>
              <a:t> &lt;=  6</a:t>
            </a:r>
          </a:p>
          <a:p>
            <a:r>
              <a:rPr lang="en-US" sz="2000" b="1" dirty="0" err="1">
                <a:latin typeface="Arial Narrow" panose="020B0606020202030204" pitchFamily="34" charset="0"/>
              </a:rPr>
              <a:t>2X1</a:t>
            </a:r>
            <a:r>
              <a:rPr lang="en-US" sz="2000" b="1" dirty="0">
                <a:latin typeface="Arial Narrow" panose="020B0606020202030204" pitchFamily="34" charset="0"/>
              </a:rPr>
              <a:t>  +    </a:t>
            </a:r>
            <a:r>
              <a:rPr lang="en-US" sz="2000" b="1" dirty="0" err="1">
                <a:latin typeface="Arial Narrow" panose="020B0606020202030204" pitchFamily="34" charset="0"/>
              </a:rPr>
              <a:t>X2</a:t>
            </a:r>
            <a:r>
              <a:rPr lang="en-US" sz="2000" b="1" dirty="0">
                <a:latin typeface="Arial Narrow" panose="020B0606020202030204" pitchFamily="34" charset="0"/>
              </a:rPr>
              <a:t> &lt;=  8</a:t>
            </a:r>
          </a:p>
          <a:p>
            <a:r>
              <a:rPr lang="en-US" sz="2000" b="1" dirty="0">
                <a:latin typeface="Arial Narrow" panose="020B0606020202030204" pitchFamily="34" charset="0"/>
              </a:rPr>
              <a:t>-</a:t>
            </a:r>
            <a:r>
              <a:rPr lang="en-US" sz="2000" b="1" dirty="0" err="1">
                <a:latin typeface="Arial Narrow" panose="020B0606020202030204" pitchFamily="34" charset="0"/>
              </a:rPr>
              <a:t>X1</a:t>
            </a:r>
            <a:r>
              <a:rPr lang="en-US" sz="2000" b="1" dirty="0">
                <a:latin typeface="Arial Narrow" panose="020B0606020202030204" pitchFamily="34" charset="0"/>
              </a:rPr>
              <a:t>  +    </a:t>
            </a:r>
            <a:r>
              <a:rPr lang="en-US" sz="2000" b="1" dirty="0" err="1">
                <a:latin typeface="Arial Narrow" panose="020B0606020202030204" pitchFamily="34" charset="0"/>
              </a:rPr>
              <a:t>X2</a:t>
            </a:r>
            <a:r>
              <a:rPr lang="en-US" sz="2000" b="1" dirty="0">
                <a:latin typeface="Arial Narrow" panose="020B0606020202030204" pitchFamily="34" charset="0"/>
              </a:rPr>
              <a:t> &lt;=  1</a:t>
            </a:r>
          </a:p>
          <a:p>
            <a:r>
              <a:rPr lang="en-US" sz="2000" b="1" dirty="0">
                <a:latin typeface="Arial Narrow" panose="020B0606020202030204" pitchFamily="34" charset="0"/>
              </a:rPr>
              <a:t>              </a:t>
            </a:r>
            <a:r>
              <a:rPr lang="en-US" sz="2000" b="1" dirty="0" err="1">
                <a:latin typeface="Arial Narrow" panose="020B0606020202030204" pitchFamily="34" charset="0"/>
              </a:rPr>
              <a:t>X2</a:t>
            </a:r>
            <a:r>
              <a:rPr lang="en-US" sz="2000" b="1" dirty="0">
                <a:latin typeface="Arial Narrow" panose="020B0606020202030204" pitchFamily="34" charset="0"/>
              </a:rPr>
              <a:t> &lt;=  2</a:t>
            </a:r>
            <a:endParaRPr lang="es-ES" sz="2000" b="1" dirty="0">
              <a:latin typeface="Arial Narrow" panose="020B0606020202030204" pitchFamily="34" charset="0"/>
            </a:endParaRPr>
          </a:p>
        </p:txBody>
      </p:sp>
    </p:spTree>
    <p:extLst>
      <p:ext uri="{BB962C8B-B14F-4D97-AF65-F5344CB8AC3E}">
        <p14:creationId xmlns:p14="http://schemas.microsoft.com/office/powerpoint/2010/main" val="3228390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8675"/>
                                        </p:tgtEl>
                                        <p:attrNameLst>
                                          <p:attrName>style.visibility</p:attrName>
                                        </p:attrNameLst>
                                      </p:cBhvr>
                                      <p:to>
                                        <p:strVal val="visible"/>
                                      </p:to>
                                    </p:set>
                                    <p:anim calcmode="lin" valueType="num">
                                      <p:cBhvr additive="base">
                                        <p:cTn id="17" dur="500" fill="hold"/>
                                        <p:tgtEl>
                                          <p:spTgt spid="28675"/>
                                        </p:tgtEl>
                                        <p:attrNameLst>
                                          <p:attrName>ppt_x</p:attrName>
                                        </p:attrNameLst>
                                      </p:cBhvr>
                                      <p:tavLst>
                                        <p:tav tm="0">
                                          <p:val>
                                            <p:strVal val="#ppt_x"/>
                                          </p:val>
                                        </p:tav>
                                        <p:tav tm="100000">
                                          <p:val>
                                            <p:strVal val="#ppt_x"/>
                                          </p:val>
                                        </p:tav>
                                      </p:tavLst>
                                    </p:anim>
                                    <p:anim calcmode="lin" valueType="num">
                                      <p:cBhvr additive="base">
                                        <p:cTn id="18" dur="500" fill="hold"/>
                                        <p:tgtEl>
                                          <p:spTgt spid="2867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5" grpId="0"/>
      <p:bldP spid="2" grpId="0"/>
      <p:bldP spid="3" grpId="0" animBg="1"/>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3 Marcador de número de diapositiva"/>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fld id="{93345455-3BF2-4FCB-AC56-15BA0D45BF55}" type="slidenum">
              <a:rPr lang="es-ES_tradnl" altLang="es-PE" sz="1400"/>
              <a:pPr/>
              <a:t>26</a:t>
            </a:fld>
            <a:endParaRPr lang="es-ES_tradnl" altLang="es-PE" sz="1400"/>
          </a:p>
        </p:txBody>
      </p:sp>
      <p:graphicFrame>
        <p:nvGraphicFramePr>
          <p:cNvPr id="2" name="1 Diagrama"/>
          <p:cNvGraphicFramePr/>
          <p:nvPr/>
        </p:nvGraphicFramePr>
        <p:xfrm>
          <a:off x="292780" y="1233910"/>
          <a:ext cx="5702578" cy="5122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700" name="Rectángulo 1"/>
          <p:cNvSpPr>
            <a:spLocks noChangeArrowheads="1"/>
          </p:cNvSpPr>
          <p:nvPr/>
        </p:nvSpPr>
        <p:spPr bwMode="auto">
          <a:xfrm>
            <a:off x="6095999" y="158800"/>
            <a:ext cx="6096001" cy="751552"/>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11 Frutas</a:t>
            </a:r>
          </a:p>
        </p:txBody>
      </p:sp>
      <p:pic>
        <p:nvPicPr>
          <p:cNvPr id="64514" name="Picture 2" descr="http://www.fotosdigitalesgratis.com/noticias/fotos/Fruta-FDG.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8011" y="4010325"/>
            <a:ext cx="2102423" cy="172819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aphicFrame>
        <p:nvGraphicFramePr>
          <p:cNvPr id="7" name="1 Tabla">
            <a:extLst>
              <a:ext uri="{FF2B5EF4-FFF2-40B4-BE49-F238E27FC236}">
                <a16:creationId xmlns:a16="http://schemas.microsoft.com/office/drawing/2014/main" id="{7746433C-A417-4927-8771-4FF6F4B6E3DC}"/>
              </a:ext>
            </a:extLst>
          </p:cNvPr>
          <p:cNvGraphicFramePr>
            <a:graphicFrameLocks noGrp="1"/>
          </p:cNvGraphicFramePr>
          <p:nvPr>
            <p:extLst>
              <p:ext uri="{D42A27DB-BD31-4B8C-83A1-F6EECF244321}">
                <p14:modId xmlns:p14="http://schemas.microsoft.com/office/powerpoint/2010/main" val="1893985569"/>
              </p:ext>
            </p:extLst>
          </p:nvPr>
        </p:nvGraphicFramePr>
        <p:xfrm>
          <a:off x="6093803" y="1432346"/>
          <a:ext cx="5600023" cy="1874829"/>
        </p:xfrm>
        <a:graphic>
          <a:graphicData uri="http://schemas.openxmlformats.org/drawingml/2006/table">
            <a:tbl>
              <a:tblPr firstRow="1" bandRow="1">
                <a:tableStyleId>{5C22544A-7EE6-4342-B048-85BDC9FD1C3A}</a:tableStyleId>
              </a:tblPr>
              <a:tblGrid>
                <a:gridCol w="1337094">
                  <a:extLst>
                    <a:ext uri="{9D8B030D-6E8A-4147-A177-3AD203B41FA5}">
                      <a16:colId xmlns:a16="http://schemas.microsoft.com/office/drawing/2014/main" val="20000"/>
                    </a:ext>
                  </a:extLst>
                </a:gridCol>
                <a:gridCol w="1101203">
                  <a:extLst>
                    <a:ext uri="{9D8B030D-6E8A-4147-A177-3AD203B41FA5}">
                      <a16:colId xmlns:a16="http://schemas.microsoft.com/office/drawing/2014/main" val="20001"/>
                    </a:ext>
                  </a:extLst>
                </a:gridCol>
                <a:gridCol w="1064027">
                  <a:extLst>
                    <a:ext uri="{9D8B030D-6E8A-4147-A177-3AD203B41FA5}">
                      <a16:colId xmlns:a16="http://schemas.microsoft.com/office/drawing/2014/main" val="20002"/>
                    </a:ext>
                  </a:extLst>
                </a:gridCol>
                <a:gridCol w="2097699">
                  <a:extLst>
                    <a:ext uri="{9D8B030D-6E8A-4147-A177-3AD203B41FA5}">
                      <a16:colId xmlns:a16="http://schemas.microsoft.com/office/drawing/2014/main" val="20003"/>
                    </a:ext>
                  </a:extLst>
                </a:gridCol>
              </a:tblGrid>
              <a:tr h="472543">
                <a:tc>
                  <a:txBody>
                    <a:bodyPr/>
                    <a:lstStyle/>
                    <a:p>
                      <a:pPr algn="ct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Lote</a:t>
                      </a:r>
                      <a:r>
                        <a:rPr lang="es-ES" sz="2400" baseline="0" dirty="0">
                          <a:latin typeface="Arial Narrow" panose="020B0606020202030204" pitchFamily="34" charset="0"/>
                        </a:rPr>
                        <a:t> A</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Lote B</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Disponibilidad</a:t>
                      </a:r>
                      <a:endParaRPr lang="es-PE" sz="2400" dirty="0">
                        <a:latin typeface="Arial Narrow" panose="020B0606020202030204" pitchFamily="34" charset="0"/>
                      </a:endParaRPr>
                    </a:p>
                  </a:txBody>
                  <a:tcPr/>
                </a:tc>
                <a:extLst>
                  <a:ext uri="{0D108BD9-81ED-4DB2-BD59-A6C34878D82A}">
                    <a16:rowId xmlns:a16="http://schemas.microsoft.com/office/drawing/2014/main" val="10000"/>
                  </a:ext>
                </a:extLst>
              </a:tr>
              <a:tr h="472543">
                <a:tc>
                  <a:txBody>
                    <a:bodyPr/>
                    <a:lstStyle/>
                    <a:p>
                      <a:pPr algn="ctr"/>
                      <a:r>
                        <a:rPr lang="es-ES" sz="2400" dirty="0">
                          <a:latin typeface="Arial Narrow" panose="020B0606020202030204" pitchFamily="34" charset="0"/>
                        </a:rPr>
                        <a:t>Naranja</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2</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800</a:t>
                      </a:r>
                      <a:endParaRPr lang="es-PE" sz="2400" dirty="0">
                        <a:latin typeface="Arial Narrow" panose="020B0606020202030204" pitchFamily="34" charset="0"/>
                      </a:endParaRPr>
                    </a:p>
                  </a:txBody>
                  <a:tcPr/>
                </a:tc>
                <a:extLst>
                  <a:ext uri="{0D108BD9-81ED-4DB2-BD59-A6C34878D82A}">
                    <a16:rowId xmlns:a16="http://schemas.microsoft.com/office/drawing/2014/main" val="10001"/>
                  </a:ext>
                </a:extLst>
              </a:tr>
              <a:tr h="449376">
                <a:tc>
                  <a:txBody>
                    <a:bodyPr/>
                    <a:lstStyle/>
                    <a:p>
                      <a:pPr algn="ctr"/>
                      <a:r>
                        <a:rPr lang="es-ES" sz="2400" dirty="0">
                          <a:latin typeface="Arial Narrow" panose="020B0606020202030204" pitchFamily="34" charset="0"/>
                        </a:rPr>
                        <a:t>Manzana</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2</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800</a:t>
                      </a:r>
                      <a:endParaRPr lang="es-PE" sz="2400" dirty="0">
                        <a:latin typeface="Arial Narrow" panose="020B0606020202030204" pitchFamily="34" charset="0"/>
                      </a:endParaRPr>
                    </a:p>
                  </a:txBody>
                  <a:tcPr/>
                </a:tc>
                <a:extLst>
                  <a:ext uri="{0D108BD9-81ED-4DB2-BD59-A6C34878D82A}">
                    <a16:rowId xmlns:a16="http://schemas.microsoft.com/office/drawing/2014/main" val="10002"/>
                  </a:ext>
                </a:extLst>
              </a:tr>
              <a:tr h="472543">
                <a:tc>
                  <a:txBody>
                    <a:bodyPr/>
                    <a:lstStyle/>
                    <a:p>
                      <a:pPr algn="ctr"/>
                      <a:r>
                        <a:rPr lang="es-ES" sz="2400" dirty="0">
                          <a:latin typeface="Arial Narrow" panose="020B0606020202030204" pitchFamily="34" charset="0"/>
                        </a:rPr>
                        <a:t>Plátano</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500</a:t>
                      </a:r>
                      <a:endParaRPr lang="es-PE" sz="2400" dirty="0">
                        <a:latin typeface="Arial Narrow" panose="020B0606020202030204" pitchFamily="34" charset="0"/>
                      </a:endParaRPr>
                    </a:p>
                  </a:txBody>
                  <a:tcPr/>
                </a:tc>
                <a:extLst>
                  <a:ext uri="{0D108BD9-81ED-4DB2-BD59-A6C34878D82A}">
                    <a16:rowId xmlns:a16="http://schemas.microsoft.com/office/drawing/2014/main" val="10003"/>
                  </a:ext>
                </a:extLst>
              </a:tr>
            </a:tbl>
          </a:graphicData>
        </a:graphic>
      </p:graphicFrame>
      <p:sp>
        <p:nvSpPr>
          <p:cNvPr id="3" name="CuadroTexto 2">
            <a:extLst>
              <a:ext uri="{FF2B5EF4-FFF2-40B4-BE49-F238E27FC236}">
                <a16:creationId xmlns:a16="http://schemas.microsoft.com/office/drawing/2014/main" id="{4901FBF6-E881-47BA-A67F-4B49F09DB009}"/>
              </a:ext>
            </a:extLst>
          </p:cNvPr>
          <p:cNvSpPr txBox="1"/>
          <p:nvPr/>
        </p:nvSpPr>
        <p:spPr>
          <a:xfrm>
            <a:off x="7418717" y="3429000"/>
            <a:ext cx="2277373" cy="461665"/>
          </a:xfrm>
          <a:prstGeom prst="rect">
            <a:avLst/>
          </a:prstGeom>
          <a:noFill/>
        </p:spPr>
        <p:txBody>
          <a:bodyPr wrap="square" rtlCol="0">
            <a:spAutoFit/>
          </a:bodyPr>
          <a:lstStyle/>
          <a:p>
            <a:pPr algn="ctr"/>
            <a:r>
              <a:rPr lang="es-ES" sz="2400" dirty="0">
                <a:solidFill>
                  <a:schemeClr val="dk1"/>
                </a:solidFill>
                <a:latin typeface="Arial Narrow" panose="020B0606020202030204" pitchFamily="34" charset="0"/>
              </a:rPr>
              <a:t>1200         1400</a:t>
            </a:r>
            <a:endParaRPr lang="es-PE" sz="2400" dirty="0">
              <a:solidFill>
                <a:schemeClr val="dk1"/>
              </a:solidFill>
              <a:latin typeface="Arial Narrow" panose="020B0606020202030204" pitchFamily="34" charset="0"/>
            </a:endParaRPr>
          </a:p>
        </p:txBody>
      </p:sp>
    </p:spTree>
    <p:extLst>
      <p:ext uri="{BB962C8B-B14F-4D97-AF65-F5344CB8AC3E}">
        <p14:creationId xmlns:p14="http://schemas.microsoft.com/office/powerpoint/2010/main" val="18857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7D3DDCA3-6BB3-45D1-9C6E-1CAED0309D0B}"/>
              </a:ext>
            </a:extLst>
          </p:cNvPr>
          <p:cNvSpPr txBox="1">
            <a:spLocks noChangeArrowheads="1"/>
          </p:cNvSpPr>
          <p:nvPr/>
        </p:nvSpPr>
        <p:spPr bwMode="auto">
          <a:xfrm>
            <a:off x="232838" y="1458810"/>
            <a:ext cx="505516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marL="457200" indent="-457200" algn="just" eaLnBrk="1" hangingPunct="1">
              <a:buAutoNum type="arabicPeriod"/>
            </a:pPr>
            <a:r>
              <a:rPr lang="es-ES_tradnl" altLang="es-PE" dirty="0">
                <a:solidFill>
                  <a:schemeClr val="accent2"/>
                </a:solidFill>
                <a:latin typeface="Arial" pitchFamily="34" charset="0"/>
                <a:cs typeface="Arial" pitchFamily="34" charset="0"/>
              </a:rPr>
              <a:t>Identificación de las variables</a:t>
            </a:r>
          </a:p>
          <a:p>
            <a:pPr algn="just" eaLnBrk="1" hangingPunct="1"/>
            <a:r>
              <a:rPr lang="es-ES_tradnl" altLang="es-PE" dirty="0">
                <a:latin typeface="Arial" pitchFamily="34" charset="0"/>
                <a:cs typeface="Arial" pitchFamily="34" charset="0"/>
              </a:rPr>
              <a:t>    </a:t>
            </a:r>
            <a:r>
              <a:rPr lang="es-ES_tradnl" altLang="es-PE" dirty="0" err="1">
                <a:latin typeface="Arial" pitchFamily="34" charset="0"/>
                <a:cs typeface="Arial" pitchFamily="34" charset="0"/>
              </a:rPr>
              <a:t>X1</a:t>
            </a:r>
            <a:r>
              <a:rPr lang="es-ES_tradnl" altLang="es-PE" dirty="0">
                <a:latin typeface="Arial" pitchFamily="34" charset="0"/>
                <a:cs typeface="Arial" pitchFamily="34" charset="0"/>
              </a:rPr>
              <a:t> : N° de lotes de tipo A </a:t>
            </a:r>
          </a:p>
          <a:p>
            <a:pPr algn="just" eaLnBrk="1" hangingPunct="1"/>
            <a:r>
              <a:rPr lang="es-ES_tradnl" altLang="es-PE" dirty="0">
                <a:latin typeface="Arial" pitchFamily="34" charset="0"/>
                <a:cs typeface="Arial" pitchFamily="34" charset="0"/>
              </a:rPr>
              <a:t>    </a:t>
            </a:r>
            <a:r>
              <a:rPr lang="es-ES_tradnl" altLang="es-PE" dirty="0" err="1">
                <a:latin typeface="Arial" pitchFamily="34" charset="0"/>
                <a:cs typeface="Arial" pitchFamily="34" charset="0"/>
              </a:rPr>
              <a:t>X2</a:t>
            </a:r>
            <a:r>
              <a:rPr lang="es-ES_tradnl" altLang="es-PE" dirty="0">
                <a:latin typeface="Arial" pitchFamily="34" charset="0"/>
                <a:cs typeface="Arial" pitchFamily="34" charset="0"/>
              </a:rPr>
              <a:t> : N° de lotes de tipo B </a:t>
            </a:r>
          </a:p>
          <a:p>
            <a:pPr algn="just"/>
            <a:endParaRPr lang="es-ES_tradnl" altLang="es-PE" dirty="0">
              <a:solidFill>
                <a:schemeClr val="accent2"/>
              </a:solidFill>
              <a:latin typeface="Arial" pitchFamily="34" charset="0"/>
              <a:cs typeface="Arial" pitchFamily="34" charset="0"/>
            </a:endParaRPr>
          </a:p>
        </p:txBody>
      </p:sp>
      <p:sp>
        <p:nvSpPr>
          <p:cNvPr id="6" name="4 Rectángulo">
            <a:extLst>
              <a:ext uri="{FF2B5EF4-FFF2-40B4-BE49-F238E27FC236}">
                <a16:creationId xmlns:a16="http://schemas.microsoft.com/office/drawing/2014/main" id="{4EB7324E-0670-4F99-B851-F6CA582086CC}"/>
              </a:ext>
            </a:extLst>
          </p:cNvPr>
          <p:cNvSpPr/>
          <p:nvPr/>
        </p:nvSpPr>
        <p:spPr>
          <a:xfrm>
            <a:off x="6102447" y="3671590"/>
            <a:ext cx="3013844" cy="3046988"/>
          </a:xfrm>
          <a:prstGeom prst="rect">
            <a:avLst/>
          </a:prstGeom>
          <a:solidFill>
            <a:srgbClr val="FFFF00"/>
          </a:solidFill>
        </p:spPr>
        <p:txBody>
          <a:bodyPr wrap="square">
            <a:spAutoFit/>
          </a:bodyPr>
          <a:lstStyle/>
          <a:p>
            <a:r>
              <a:rPr lang="es-ES_tradnl" altLang="es-PE" sz="2400" b="1" dirty="0">
                <a:latin typeface="Arial Narrow" panose="020B0606020202030204" pitchFamily="34" charset="0"/>
              </a:rPr>
              <a:t>MAX </a:t>
            </a:r>
            <a:r>
              <a:rPr lang="es-ES_tradnl" altLang="es-PE" sz="2400" b="1" dirty="0" err="1">
                <a:latin typeface="Arial Narrow" panose="020B0606020202030204" pitchFamily="34" charset="0"/>
              </a:rPr>
              <a:t>1200X1</a:t>
            </a:r>
            <a:r>
              <a:rPr lang="es-ES_tradnl" altLang="es-PE" sz="2400" b="1" dirty="0">
                <a:latin typeface="Arial Narrow" panose="020B0606020202030204" pitchFamily="34" charset="0"/>
              </a:rPr>
              <a:t> + </a:t>
            </a:r>
            <a:r>
              <a:rPr lang="es-ES_tradnl" altLang="es-PE" sz="2400" b="1" dirty="0" err="1">
                <a:latin typeface="Arial Narrow" panose="020B0606020202030204" pitchFamily="34" charset="0"/>
              </a:rPr>
              <a:t>1400X2</a:t>
            </a:r>
            <a:r>
              <a:rPr lang="es-ES_tradnl" altLang="es-PE" sz="2400" b="1" baseline="-25000" dirty="0">
                <a:latin typeface="Arial Narrow" panose="020B0606020202030204" pitchFamily="34" charset="0"/>
              </a:rPr>
              <a:t> </a:t>
            </a:r>
            <a:r>
              <a:rPr lang="es-ES" sz="2400" b="1" dirty="0" err="1">
                <a:solidFill>
                  <a:srgbClr val="FF0000"/>
                </a:solidFill>
                <a:latin typeface="Arial Narrow" panose="020B0606020202030204" pitchFamily="34" charset="0"/>
              </a:rPr>
              <a:t>ST</a:t>
            </a:r>
            <a:endParaRPr lang="es-ES" sz="2400" b="1" dirty="0">
              <a:solidFill>
                <a:srgbClr val="FF0000"/>
              </a:solidFill>
              <a:latin typeface="Arial Narrow" panose="020B0606020202030204" pitchFamily="34" charset="0"/>
            </a:endParaRPr>
          </a:p>
          <a:p>
            <a:r>
              <a:rPr lang="es-ES" sz="2400" b="1" dirty="0" err="1">
                <a:latin typeface="Arial Narrow" panose="020B0606020202030204" pitchFamily="34" charset="0"/>
                <a:cs typeface="Arial" panose="020B0604020202020204" pitchFamily="34" charset="0"/>
              </a:rPr>
              <a:t>X1+2X2</a:t>
            </a:r>
            <a:r>
              <a:rPr lang="es-ES" sz="2400" b="1" dirty="0">
                <a:latin typeface="Arial Narrow" panose="020B0606020202030204" pitchFamily="34" charset="0"/>
                <a:cs typeface="Arial" panose="020B0604020202020204" pitchFamily="34" charset="0"/>
              </a:rPr>
              <a:t>&lt;=800</a:t>
            </a:r>
          </a:p>
          <a:p>
            <a:r>
              <a:rPr lang="es-ES" sz="2400" b="1" dirty="0" err="1">
                <a:latin typeface="Arial Narrow" panose="020B0606020202030204" pitchFamily="34" charset="0"/>
                <a:cs typeface="Arial" panose="020B0604020202020204" pitchFamily="34" charset="0"/>
              </a:rPr>
              <a:t>2X1+X2</a:t>
            </a:r>
            <a:r>
              <a:rPr lang="es-ES" sz="2400" b="1" dirty="0">
                <a:latin typeface="Arial Narrow" panose="020B0606020202030204" pitchFamily="34" charset="0"/>
                <a:cs typeface="Arial" panose="020B0604020202020204" pitchFamily="34" charset="0"/>
              </a:rPr>
              <a:t>&lt;=800</a:t>
            </a:r>
          </a:p>
          <a:p>
            <a:r>
              <a:rPr lang="es-ES" sz="2400" b="1" dirty="0">
                <a:latin typeface="Arial Narrow" panose="020B0606020202030204" pitchFamily="34" charset="0"/>
                <a:cs typeface="Arial" panose="020B0604020202020204" pitchFamily="34" charset="0"/>
              </a:rPr>
              <a:t>X1+X2&lt;=500 </a:t>
            </a:r>
          </a:p>
          <a:p>
            <a:r>
              <a:rPr lang="es-ES" sz="2400" b="1" dirty="0">
                <a:solidFill>
                  <a:srgbClr val="FF0000"/>
                </a:solidFill>
                <a:latin typeface="Arial Narrow" panose="020B0606020202030204" pitchFamily="34" charset="0"/>
              </a:rPr>
              <a:t>END</a:t>
            </a:r>
          </a:p>
          <a:p>
            <a:r>
              <a:rPr lang="es-ES" sz="2400" b="1" dirty="0" err="1">
                <a:latin typeface="Arial Narrow" panose="020B0606020202030204" pitchFamily="34" charset="0"/>
              </a:rPr>
              <a:t>GIN</a:t>
            </a:r>
            <a:r>
              <a:rPr lang="es-ES" sz="2400" b="1" dirty="0">
                <a:latin typeface="Arial Narrow" panose="020B0606020202030204" pitchFamily="34" charset="0"/>
              </a:rPr>
              <a:t> </a:t>
            </a:r>
            <a:r>
              <a:rPr lang="es-ES" sz="2400" b="1" dirty="0" err="1">
                <a:latin typeface="Arial Narrow" panose="020B0606020202030204" pitchFamily="34" charset="0"/>
              </a:rPr>
              <a:t>X1</a:t>
            </a:r>
            <a:endParaRPr lang="es-ES" sz="2400" b="1" dirty="0">
              <a:latin typeface="Arial Narrow" panose="020B0606020202030204" pitchFamily="34" charset="0"/>
            </a:endParaRPr>
          </a:p>
          <a:p>
            <a:r>
              <a:rPr lang="es-ES" sz="2400" b="1" dirty="0" err="1">
                <a:latin typeface="Arial Narrow" panose="020B0606020202030204" pitchFamily="34" charset="0"/>
              </a:rPr>
              <a:t>GIN</a:t>
            </a:r>
            <a:r>
              <a:rPr lang="es-ES" sz="2400" b="1" dirty="0">
                <a:latin typeface="Arial Narrow" panose="020B0606020202030204" pitchFamily="34" charset="0"/>
              </a:rPr>
              <a:t> </a:t>
            </a:r>
            <a:r>
              <a:rPr lang="es-ES" sz="2400" b="1" dirty="0" err="1">
                <a:latin typeface="Arial Narrow" panose="020B0606020202030204" pitchFamily="34" charset="0"/>
              </a:rPr>
              <a:t>X2</a:t>
            </a:r>
            <a:endParaRPr lang="es-ES" sz="2400" b="1" dirty="0">
              <a:latin typeface="Arial Narrow" panose="020B0606020202030204" pitchFamily="34" charset="0"/>
            </a:endParaRPr>
          </a:p>
        </p:txBody>
      </p:sp>
      <p:sp>
        <p:nvSpPr>
          <p:cNvPr id="7" name="Rectángulo 6">
            <a:extLst>
              <a:ext uri="{FF2B5EF4-FFF2-40B4-BE49-F238E27FC236}">
                <a16:creationId xmlns:a16="http://schemas.microsoft.com/office/drawing/2014/main" id="{D080427E-1C4E-4A78-B8F0-F9ECD6E0774B}"/>
              </a:ext>
            </a:extLst>
          </p:cNvPr>
          <p:cNvSpPr/>
          <p:nvPr/>
        </p:nvSpPr>
        <p:spPr>
          <a:xfrm>
            <a:off x="8029304" y="4855174"/>
            <a:ext cx="4162696" cy="1877437"/>
          </a:xfrm>
          <a:prstGeom prst="rect">
            <a:avLst/>
          </a:prstGeom>
          <a:solidFill>
            <a:schemeClr val="accent3">
              <a:lumMod val="40000"/>
              <a:lumOff val="60000"/>
            </a:schemeClr>
          </a:solidFill>
        </p:spPr>
        <p:txBody>
          <a:bodyPr wrap="square">
            <a:spAutoFit/>
          </a:bodyPr>
          <a:lstStyle/>
          <a:p>
            <a:r>
              <a:rPr lang="en-US" sz="2400" b="1" dirty="0">
                <a:latin typeface="Arial Narrow" panose="020B0606020202030204" pitchFamily="34" charset="0"/>
              </a:rPr>
              <a:t>OBJECTIVE FUNCTION VALUE</a:t>
            </a:r>
          </a:p>
          <a:p>
            <a:r>
              <a:rPr lang="en-US" sz="2400" b="1" dirty="0">
                <a:latin typeface="Arial Narrow" panose="020B0606020202030204" pitchFamily="34" charset="0"/>
              </a:rPr>
              <a:t>        1)      660000.0</a:t>
            </a:r>
          </a:p>
          <a:p>
            <a:r>
              <a:rPr lang="en-US" sz="2000" b="1" dirty="0">
                <a:latin typeface="Arial Narrow" panose="020B0606020202030204" pitchFamily="34" charset="0"/>
              </a:rPr>
              <a:t>VARIABLE  VALUE  REDUCED COST</a:t>
            </a:r>
          </a:p>
          <a:p>
            <a:r>
              <a:rPr lang="en-US" sz="2400" b="1" dirty="0">
                <a:latin typeface="Arial Narrow" panose="020B0606020202030204" pitchFamily="34" charset="0"/>
              </a:rPr>
              <a:t>   X1       200.00     -1200.0000</a:t>
            </a:r>
          </a:p>
          <a:p>
            <a:r>
              <a:rPr lang="en-US" sz="2400" b="1" dirty="0">
                <a:latin typeface="Arial Narrow" panose="020B0606020202030204" pitchFamily="34" charset="0"/>
              </a:rPr>
              <a:t>   X2       300.00     -1400.0000</a:t>
            </a:r>
          </a:p>
        </p:txBody>
      </p:sp>
      <p:graphicFrame>
        <p:nvGraphicFramePr>
          <p:cNvPr id="8" name="1 Tabla">
            <a:extLst>
              <a:ext uri="{FF2B5EF4-FFF2-40B4-BE49-F238E27FC236}">
                <a16:creationId xmlns:a16="http://schemas.microsoft.com/office/drawing/2014/main" id="{1745EE09-5C6A-4F3A-8578-7A5EEC9ADF87}"/>
              </a:ext>
            </a:extLst>
          </p:cNvPr>
          <p:cNvGraphicFramePr>
            <a:graphicFrameLocks noGrp="1"/>
          </p:cNvGraphicFramePr>
          <p:nvPr/>
        </p:nvGraphicFramePr>
        <p:xfrm>
          <a:off x="6093803" y="1432346"/>
          <a:ext cx="5600023" cy="1874829"/>
        </p:xfrm>
        <a:graphic>
          <a:graphicData uri="http://schemas.openxmlformats.org/drawingml/2006/table">
            <a:tbl>
              <a:tblPr firstRow="1" bandRow="1">
                <a:tableStyleId>{5C22544A-7EE6-4342-B048-85BDC9FD1C3A}</a:tableStyleId>
              </a:tblPr>
              <a:tblGrid>
                <a:gridCol w="1337094">
                  <a:extLst>
                    <a:ext uri="{9D8B030D-6E8A-4147-A177-3AD203B41FA5}">
                      <a16:colId xmlns:a16="http://schemas.microsoft.com/office/drawing/2014/main" val="20000"/>
                    </a:ext>
                  </a:extLst>
                </a:gridCol>
                <a:gridCol w="1101203">
                  <a:extLst>
                    <a:ext uri="{9D8B030D-6E8A-4147-A177-3AD203B41FA5}">
                      <a16:colId xmlns:a16="http://schemas.microsoft.com/office/drawing/2014/main" val="20001"/>
                    </a:ext>
                  </a:extLst>
                </a:gridCol>
                <a:gridCol w="1064027">
                  <a:extLst>
                    <a:ext uri="{9D8B030D-6E8A-4147-A177-3AD203B41FA5}">
                      <a16:colId xmlns:a16="http://schemas.microsoft.com/office/drawing/2014/main" val="20002"/>
                    </a:ext>
                  </a:extLst>
                </a:gridCol>
                <a:gridCol w="2097699">
                  <a:extLst>
                    <a:ext uri="{9D8B030D-6E8A-4147-A177-3AD203B41FA5}">
                      <a16:colId xmlns:a16="http://schemas.microsoft.com/office/drawing/2014/main" val="20003"/>
                    </a:ext>
                  </a:extLst>
                </a:gridCol>
              </a:tblGrid>
              <a:tr h="472543">
                <a:tc>
                  <a:txBody>
                    <a:bodyPr/>
                    <a:lstStyle/>
                    <a:p>
                      <a:pPr algn="ct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Lote</a:t>
                      </a:r>
                      <a:r>
                        <a:rPr lang="es-ES" sz="2400" baseline="0" dirty="0">
                          <a:latin typeface="Arial Narrow" panose="020B0606020202030204" pitchFamily="34" charset="0"/>
                        </a:rPr>
                        <a:t> A</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Lote B</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Disponibilidad</a:t>
                      </a:r>
                      <a:endParaRPr lang="es-PE" sz="2400" dirty="0">
                        <a:latin typeface="Arial Narrow" panose="020B0606020202030204" pitchFamily="34" charset="0"/>
                      </a:endParaRPr>
                    </a:p>
                  </a:txBody>
                  <a:tcPr/>
                </a:tc>
                <a:extLst>
                  <a:ext uri="{0D108BD9-81ED-4DB2-BD59-A6C34878D82A}">
                    <a16:rowId xmlns:a16="http://schemas.microsoft.com/office/drawing/2014/main" val="10000"/>
                  </a:ext>
                </a:extLst>
              </a:tr>
              <a:tr h="472543">
                <a:tc>
                  <a:txBody>
                    <a:bodyPr/>
                    <a:lstStyle/>
                    <a:p>
                      <a:pPr algn="ctr"/>
                      <a:r>
                        <a:rPr lang="es-ES" sz="2400" dirty="0">
                          <a:latin typeface="Arial Narrow" panose="020B0606020202030204" pitchFamily="34" charset="0"/>
                        </a:rPr>
                        <a:t>Naranja</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2</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800</a:t>
                      </a:r>
                      <a:endParaRPr lang="es-PE" sz="2400" dirty="0">
                        <a:latin typeface="Arial Narrow" panose="020B0606020202030204" pitchFamily="34" charset="0"/>
                      </a:endParaRPr>
                    </a:p>
                  </a:txBody>
                  <a:tcPr/>
                </a:tc>
                <a:extLst>
                  <a:ext uri="{0D108BD9-81ED-4DB2-BD59-A6C34878D82A}">
                    <a16:rowId xmlns:a16="http://schemas.microsoft.com/office/drawing/2014/main" val="10001"/>
                  </a:ext>
                </a:extLst>
              </a:tr>
              <a:tr h="449376">
                <a:tc>
                  <a:txBody>
                    <a:bodyPr/>
                    <a:lstStyle/>
                    <a:p>
                      <a:pPr algn="ctr"/>
                      <a:r>
                        <a:rPr lang="es-ES" sz="2400" dirty="0">
                          <a:latin typeface="Arial Narrow" panose="020B0606020202030204" pitchFamily="34" charset="0"/>
                        </a:rPr>
                        <a:t>Manzana</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2</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800</a:t>
                      </a:r>
                      <a:endParaRPr lang="es-PE" sz="2400" dirty="0">
                        <a:latin typeface="Arial Narrow" panose="020B0606020202030204" pitchFamily="34" charset="0"/>
                      </a:endParaRPr>
                    </a:p>
                  </a:txBody>
                  <a:tcPr/>
                </a:tc>
                <a:extLst>
                  <a:ext uri="{0D108BD9-81ED-4DB2-BD59-A6C34878D82A}">
                    <a16:rowId xmlns:a16="http://schemas.microsoft.com/office/drawing/2014/main" val="10002"/>
                  </a:ext>
                </a:extLst>
              </a:tr>
              <a:tr h="472543">
                <a:tc>
                  <a:txBody>
                    <a:bodyPr/>
                    <a:lstStyle/>
                    <a:p>
                      <a:pPr algn="ctr"/>
                      <a:r>
                        <a:rPr lang="es-ES" sz="2400" dirty="0">
                          <a:latin typeface="Arial Narrow" panose="020B0606020202030204" pitchFamily="34" charset="0"/>
                        </a:rPr>
                        <a:t>Plátano</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500</a:t>
                      </a:r>
                      <a:endParaRPr lang="es-PE" sz="2400" dirty="0">
                        <a:latin typeface="Arial Narrow" panose="020B0606020202030204" pitchFamily="34" charset="0"/>
                      </a:endParaRPr>
                    </a:p>
                  </a:txBody>
                  <a:tcPr/>
                </a:tc>
                <a:extLst>
                  <a:ext uri="{0D108BD9-81ED-4DB2-BD59-A6C34878D82A}">
                    <a16:rowId xmlns:a16="http://schemas.microsoft.com/office/drawing/2014/main" val="10003"/>
                  </a:ext>
                </a:extLst>
              </a:tr>
            </a:tbl>
          </a:graphicData>
        </a:graphic>
      </p:graphicFrame>
      <p:sp>
        <p:nvSpPr>
          <p:cNvPr id="2" name="Rectángulo 1">
            <a:extLst>
              <a:ext uri="{FF2B5EF4-FFF2-40B4-BE49-F238E27FC236}">
                <a16:creationId xmlns:a16="http://schemas.microsoft.com/office/drawing/2014/main" id="{924B321D-FEF6-42A9-8430-96FDEA4118A3}"/>
              </a:ext>
            </a:extLst>
          </p:cNvPr>
          <p:cNvSpPr/>
          <p:nvPr/>
        </p:nvSpPr>
        <p:spPr>
          <a:xfrm>
            <a:off x="261669" y="3854901"/>
            <a:ext cx="5147093" cy="1938992"/>
          </a:xfrm>
          <a:prstGeom prst="rect">
            <a:avLst/>
          </a:prstGeom>
        </p:spPr>
        <p:txBody>
          <a:bodyPr wrap="square">
            <a:spAutoFit/>
          </a:bodyPr>
          <a:lstStyle/>
          <a:p>
            <a:pPr algn="just"/>
            <a:r>
              <a:rPr lang="es-ES_tradnl" altLang="es-PE" sz="2400" dirty="0">
                <a:solidFill>
                  <a:schemeClr val="accent2"/>
                </a:solidFill>
                <a:latin typeface="Arial" pitchFamily="34" charset="0"/>
                <a:cs typeface="Arial" pitchFamily="34" charset="0"/>
              </a:rPr>
              <a:t>3. Identificación de las restricciones</a:t>
            </a:r>
          </a:p>
          <a:p>
            <a:r>
              <a:rPr lang="es-ES" sz="2400" dirty="0">
                <a:latin typeface="Arial" panose="020B0604020202020204" pitchFamily="34" charset="0"/>
                <a:cs typeface="Arial" panose="020B0604020202020204" pitchFamily="34" charset="0"/>
              </a:rPr>
              <a:t>    </a:t>
            </a:r>
            <a:r>
              <a:rPr lang="es-ES" sz="2400" dirty="0" err="1">
                <a:latin typeface="Arial" panose="020B0604020202020204" pitchFamily="34" charset="0"/>
                <a:cs typeface="Arial" panose="020B0604020202020204" pitchFamily="34" charset="0"/>
              </a:rPr>
              <a:t>X1+2X2</a:t>
            </a:r>
            <a:r>
              <a:rPr lang="es-ES" sz="2400" dirty="0">
                <a:latin typeface="Arial" panose="020B0604020202020204" pitchFamily="34" charset="0"/>
                <a:cs typeface="Arial" panose="020B0604020202020204" pitchFamily="34" charset="0"/>
              </a:rPr>
              <a:t>&lt;=800</a:t>
            </a:r>
          </a:p>
          <a:p>
            <a:r>
              <a:rPr lang="es-ES" sz="2400" dirty="0">
                <a:latin typeface="Arial" panose="020B0604020202020204" pitchFamily="34" charset="0"/>
                <a:cs typeface="Arial" panose="020B0604020202020204" pitchFamily="34" charset="0"/>
              </a:rPr>
              <a:t>    </a:t>
            </a:r>
            <a:r>
              <a:rPr lang="es-ES" sz="2400" dirty="0" err="1">
                <a:latin typeface="Arial" panose="020B0604020202020204" pitchFamily="34" charset="0"/>
                <a:cs typeface="Arial" panose="020B0604020202020204" pitchFamily="34" charset="0"/>
              </a:rPr>
              <a:t>2X1+X2</a:t>
            </a:r>
            <a:r>
              <a:rPr lang="es-ES" sz="2400" dirty="0">
                <a:latin typeface="Arial" panose="020B0604020202020204" pitchFamily="34" charset="0"/>
                <a:cs typeface="Arial" panose="020B0604020202020204" pitchFamily="34" charset="0"/>
              </a:rPr>
              <a:t>&lt;=800</a:t>
            </a:r>
          </a:p>
          <a:p>
            <a:r>
              <a:rPr lang="es-ES" sz="2400" dirty="0">
                <a:latin typeface="Arial" panose="020B0604020202020204" pitchFamily="34" charset="0"/>
                <a:cs typeface="Arial" panose="020B0604020202020204" pitchFamily="34" charset="0"/>
              </a:rPr>
              <a:t>    </a:t>
            </a:r>
            <a:r>
              <a:rPr lang="es-ES" sz="2400" dirty="0" err="1">
                <a:latin typeface="Arial" panose="020B0604020202020204" pitchFamily="34" charset="0"/>
                <a:cs typeface="Arial" panose="020B0604020202020204" pitchFamily="34" charset="0"/>
              </a:rPr>
              <a:t>X1</a:t>
            </a:r>
            <a:r>
              <a:rPr lang="es-ES" sz="2400" dirty="0">
                <a:latin typeface="Arial" panose="020B0604020202020204" pitchFamily="34" charset="0"/>
                <a:cs typeface="Arial" panose="020B0604020202020204" pitchFamily="34" charset="0"/>
              </a:rPr>
              <a:t> +</a:t>
            </a:r>
            <a:r>
              <a:rPr lang="es-ES" sz="2400" dirty="0" err="1">
                <a:latin typeface="Arial" panose="020B0604020202020204" pitchFamily="34" charset="0"/>
                <a:cs typeface="Arial" panose="020B0604020202020204" pitchFamily="34" charset="0"/>
              </a:rPr>
              <a:t>X2</a:t>
            </a:r>
            <a:r>
              <a:rPr lang="es-ES" sz="2400" dirty="0">
                <a:latin typeface="Arial" panose="020B0604020202020204" pitchFamily="34" charset="0"/>
                <a:cs typeface="Arial" panose="020B0604020202020204" pitchFamily="34" charset="0"/>
              </a:rPr>
              <a:t> &lt;=500</a:t>
            </a:r>
          </a:p>
          <a:p>
            <a:r>
              <a:rPr lang="es-ES" sz="2400" dirty="0">
                <a:latin typeface="Arial" panose="020B0604020202020204" pitchFamily="34" charset="0"/>
                <a:cs typeface="Arial" panose="020B0604020202020204" pitchFamily="34" charset="0"/>
              </a:rPr>
              <a:t>    </a:t>
            </a:r>
            <a:r>
              <a:rPr lang="es-ES" sz="2400" dirty="0" err="1">
                <a:latin typeface="Arial" panose="020B0604020202020204" pitchFamily="34" charset="0"/>
                <a:cs typeface="Arial" panose="020B0604020202020204" pitchFamily="34" charset="0"/>
              </a:rPr>
              <a:t>X1</a:t>
            </a:r>
            <a:r>
              <a:rPr lang="es-ES" sz="2400" dirty="0">
                <a:latin typeface="Arial" panose="020B0604020202020204" pitchFamily="34" charset="0"/>
                <a:cs typeface="Arial" panose="020B0604020202020204" pitchFamily="34" charset="0"/>
              </a:rPr>
              <a:t>,  </a:t>
            </a:r>
            <a:r>
              <a:rPr lang="es-ES" sz="2400" dirty="0" err="1">
                <a:latin typeface="Arial" panose="020B0604020202020204" pitchFamily="34" charset="0"/>
                <a:cs typeface="Arial" panose="020B0604020202020204" pitchFamily="34" charset="0"/>
              </a:rPr>
              <a:t>X2</a:t>
            </a:r>
            <a:r>
              <a:rPr lang="es-ES" sz="2400" dirty="0">
                <a:latin typeface="Arial" panose="020B0604020202020204" pitchFamily="34" charset="0"/>
                <a:cs typeface="Arial" panose="020B0604020202020204" pitchFamily="34" charset="0"/>
              </a:rPr>
              <a:t> &gt;=0, entero</a:t>
            </a:r>
            <a:endParaRPr lang="es-PE" sz="2400" dirty="0"/>
          </a:p>
        </p:txBody>
      </p:sp>
      <p:sp>
        <p:nvSpPr>
          <p:cNvPr id="3" name="Rectángulo 2">
            <a:extLst>
              <a:ext uri="{FF2B5EF4-FFF2-40B4-BE49-F238E27FC236}">
                <a16:creationId xmlns:a16="http://schemas.microsoft.com/office/drawing/2014/main" id="{44E7350C-FF35-4909-B6FD-D2C71A220513}"/>
              </a:ext>
            </a:extLst>
          </p:cNvPr>
          <p:cNvSpPr/>
          <p:nvPr/>
        </p:nvSpPr>
        <p:spPr>
          <a:xfrm>
            <a:off x="253042" y="2928407"/>
            <a:ext cx="5043577" cy="830997"/>
          </a:xfrm>
          <a:prstGeom prst="rect">
            <a:avLst/>
          </a:prstGeom>
        </p:spPr>
        <p:txBody>
          <a:bodyPr wrap="square">
            <a:spAutoFit/>
          </a:bodyPr>
          <a:lstStyle/>
          <a:p>
            <a:pPr algn="just"/>
            <a:r>
              <a:rPr lang="es-ES_tradnl" altLang="es-PE" sz="2400" dirty="0">
                <a:solidFill>
                  <a:schemeClr val="accent2"/>
                </a:solidFill>
                <a:latin typeface="Arial" pitchFamily="34" charset="0"/>
                <a:cs typeface="Arial" pitchFamily="34" charset="0"/>
              </a:rPr>
              <a:t>2. Identificación de la </a:t>
            </a:r>
            <a:r>
              <a:rPr lang="es-ES_tradnl" altLang="es-PE" sz="2400" dirty="0" err="1">
                <a:solidFill>
                  <a:schemeClr val="accent2"/>
                </a:solidFill>
                <a:latin typeface="Arial" pitchFamily="34" charset="0"/>
                <a:cs typeface="Arial" pitchFamily="34" charset="0"/>
              </a:rPr>
              <a:t>F.O</a:t>
            </a:r>
            <a:r>
              <a:rPr lang="es-ES_tradnl" altLang="es-PE" sz="2400" dirty="0">
                <a:solidFill>
                  <a:schemeClr val="accent2"/>
                </a:solidFill>
                <a:latin typeface="Arial" pitchFamily="34" charset="0"/>
                <a:cs typeface="Arial" pitchFamily="34" charset="0"/>
              </a:rPr>
              <a:t>.</a:t>
            </a:r>
            <a:endParaRPr lang="es-ES_tradnl" altLang="es-PE" sz="2400" dirty="0">
              <a:latin typeface="Arial" pitchFamily="34" charset="0"/>
              <a:cs typeface="Arial" pitchFamily="34" charset="0"/>
            </a:endParaRPr>
          </a:p>
          <a:p>
            <a:pPr algn="just"/>
            <a:r>
              <a:rPr lang="es-ES_tradnl" altLang="es-PE" sz="2400" dirty="0">
                <a:latin typeface="Arial" pitchFamily="34" charset="0"/>
                <a:cs typeface="Arial" pitchFamily="34" charset="0"/>
              </a:rPr>
              <a:t>    MAX </a:t>
            </a:r>
            <a:r>
              <a:rPr lang="es-ES_tradnl" altLang="es-PE" sz="2400" dirty="0" err="1">
                <a:latin typeface="Arial" pitchFamily="34" charset="0"/>
                <a:cs typeface="Arial" pitchFamily="34" charset="0"/>
              </a:rPr>
              <a:t>1200X1</a:t>
            </a:r>
            <a:r>
              <a:rPr lang="es-ES_tradnl" altLang="es-PE" sz="2400" dirty="0">
                <a:latin typeface="Arial" pitchFamily="34" charset="0"/>
                <a:cs typeface="Arial" pitchFamily="34" charset="0"/>
              </a:rPr>
              <a:t> + </a:t>
            </a:r>
            <a:r>
              <a:rPr lang="es-ES_tradnl" altLang="es-PE" sz="2400" dirty="0" err="1">
                <a:latin typeface="Arial" pitchFamily="34" charset="0"/>
                <a:cs typeface="Arial" pitchFamily="34" charset="0"/>
              </a:rPr>
              <a:t>1400X2</a:t>
            </a:r>
            <a:r>
              <a:rPr lang="es-ES_tradnl" altLang="es-PE" sz="2400" baseline="-25000" dirty="0">
                <a:latin typeface="Arial" pitchFamily="34" charset="0"/>
                <a:cs typeface="Arial" pitchFamily="34" charset="0"/>
              </a:rPr>
              <a:t>  </a:t>
            </a:r>
            <a:endParaRPr lang="es-ES_tradnl" altLang="es-PE" sz="2400" dirty="0">
              <a:latin typeface="Arial" pitchFamily="34" charset="0"/>
              <a:cs typeface="Arial" pitchFamily="34" charset="0"/>
            </a:endParaRPr>
          </a:p>
        </p:txBody>
      </p:sp>
    </p:spTree>
    <p:extLst>
      <p:ext uri="{BB962C8B-B14F-4D97-AF65-F5344CB8AC3E}">
        <p14:creationId xmlns:p14="http://schemas.microsoft.com/office/powerpoint/2010/main" val="33817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2"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1"/>
          <p:cNvSpPr>
            <a:spLocks noChangeArrowheads="1"/>
          </p:cNvSpPr>
          <p:nvPr/>
        </p:nvSpPr>
        <p:spPr bwMode="auto">
          <a:xfrm>
            <a:off x="6096000" y="138560"/>
            <a:ext cx="6096000" cy="751552"/>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12 Universitario</a:t>
            </a:r>
          </a:p>
        </p:txBody>
      </p:sp>
      <p:sp>
        <p:nvSpPr>
          <p:cNvPr id="5" name="CuadroTexto 4">
            <a:extLst>
              <a:ext uri="{FF2B5EF4-FFF2-40B4-BE49-F238E27FC236}">
                <a16:creationId xmlns:a16="http://schemas.microsoft.com/office/drawing/2014/main" id="{5259A418-AF26-7CE8-C358-B51E9591E2E0}"/>
              </a:ext>
            </a:extLst>
          </p:cNvPr>
          <p:cNvSpPr txBox="1"/>
          <p:nvPr/>
        </p:nvSpPr>
        <p:spPr>
          <a:xfrm>
            <a:off x="439783" y="1164134"/>
            <a:ext cx="11312434" cy="5693866"/>
          </a:xfrm>
          <a:prstGeom prst="rect">
            <a:avLst/>
          </a:prstGeom>
          <a:noFill/>
        </p:spPr>
        <p:txBody>
          <a:bodyPr wrap="square">
            <a:spAutoFit/>
          </a:bodyPr>
          <a:lstStyle/>
          <a:p>
            <a:pPr lvl="0" algn="just" rtl="0"/>
            <a:r>
              <a:rPr lang="es-PE" sz="2800" b="1" dirty="0"/>
              <a:t>Miguel Ángel, debe trabajar por lo menos 20 horas a la semana para complementar su ingreso mientras asiste a la Universidad. Tiene la oportunidad de trabajar en dos tiendas al detalle: en la tienda 1 puede trabajar entre 5 y 12 horas a la semana y en la tienda 2 le permiten trabajar entre 6 y 10 horas a la semana. Ambas tiendas pagan el mismo salario por hora. De manera que Miguel Ángel quiere basar su decisión acerca de cuántas horas debe trabajar en cada tienda en un criterio diferente: el factor del estrés en el trabajo. Basándose en entrevistas con los empleados actuales, Miguel Ángel calcula que, en una escala de 1 a 10, los factores del estrés son de 8 y 6 en las tiendas 1 y 2 respectivamente. Debido a que el estrés aumenta por hora, el supone que el estrés total al final de la semana es proporcional al número de horas que trabaja en la tienda. ¿Cuántas horas debe trabajar en la cada tienda? Use el método gráfico.</a:t>
            </a:r>
            <a:endParaRPr lang="es-ES" sz="2800" b="1" dirty="0"/>
          </a:p>
        </p:txBody>
      </p:sp>
    </p:spTree>
    <p:extLst>
      <p:ext uri="{BB962C8B-B14F-4D97-AF65-F5344CB8AC3E}">
        <p14:creationId xmlns:p14="http://schemas.microsoft.com/office/powerpoint/2010/main" val="2900856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68E1DB15-F330-E119-86CE-BC1DCBC8AAF2}"/>
              </a:ext>
            </a:extLst>
          </p:cNvPr>
          <p:cNvSpPr/>
          <p:nvPr/>
        </p:nvSpPr>
        <p:spPr>
          <a:xfrm>
            <a:off x="190503" y="1946487"/>
            <a:ext cx="5776699" cy="949353"/>
          </a:xfrm>
          <a:custGeom>
            <a:avLst/>
            <a:gdLst>
              <a:gd name="connsiteX0" fmla="*/ 274654 w 1647892"/>
              <a:gd name="connsiteY0" fmla="*/ 0 h 3741997"/>
              <a:gd name="connsiteX1" fmla="*/ 1373238 w 1647892"/>
              <a:gd name="connsiteY1" fmla="*/ 0 h 3741997"/>
              <a:gd name="connsiteX2" fmla="*/ 1647892 w 1647892"/>
              <a:gd name="connsiteY2" fmla="*/ 274654 h 3741997"/>
              <a:gd name="connsiteX3" fmla="*/ 1647892 w 1647892"/>
              <a:gd name="connsiteY3" fmla="*/ 3741997 h 3741997"/>
              <a:gd name="connsiteX4" fmla="*/ 1647892 w 1647892"/>
              <a:gd name="connsiteY4" fmla="*/ 3741997 h 3741997"/>
              <a:gd name="connsiteX5" fmla="*/ 0 w 1647892"/>
              <a:gd name="connsiteY5" fmla="*/ 3741997 h 3741997"/>
              <a:gd name="connsiteX6" fmla="*/ 0 w 1647892"/>
              <a:gd name="connsiteY6" fmla="*/ 3741997 h 3741997"/>
              <a:gd name="connsiteX7" fmla="*/ 0 w 1647892"/>
              <a:gd name="connsiteY7" fmla="*/ 274654 h 3741997"/>
              <a:gd name="connsiteX8" fmla="*/ 274654 w 1647892"/>
              <a:gd name="connsiteY8" fmla="*/ 0 h 3741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892" h="3741997">
                <a:moveTo>
                  <a:pt x="1647892" y="623679"/>
                </a:moveTo>
                <a:lnTo>
                  <a:pt x="1647892" y="3118318"/>
                </a:lnTo>
                <a:cubicBezTo>
                  <a:pt x="1647892" y="3462765"/>
                  <a:pt x="1593740" y="3741996"/>
                  <a:pt x="1526940" y="3741996"/>
                </a:cubicBezTo>
                <a:lnTo>
                  <a:pt x="0" y="3741996"/>
                </a:lnTo>
                <a:lnTo>
                  <a:pt x="0" y="3741996"/>
                </a:lnTo>
                <a:lnTo>
                  <a:pt x="0" y="1"/>
                </a:lnTo>
                <a:lnTo>
                  <a:pt x="0" y="1"/>
                </a:lnTo>
                <a:lnTo>
                  <a:pt x="1526940" y="1"/>
                </a:lnTo>
                <a:cubicBezTo>
                  <a:pt x="1593740" y="1"/>
                  <a:pt x="1647892" y="279232"/>
                  <a:pt x="1647892" y="62367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204268" rIns="328093" bIns="204269" numCol="1" spcCol="1270" anchor="ctr" anchorCtr="0">
            <a:noAutofit/>
          </a:bodyPr>
          <a:lstStyle/>
          <a:p>
            <a:pPr marL="228600" lvl="1" indent="-228600" algn="l" defTabSz="1066800" rtl="0">
              <a:lnSpc>
                <a:spcPct val="90000"/>
              </a:lnSpc>
              <a:spcBef>
                <a:spcPct val="0"/>
              </a:spcBef>
              <a:spcAft>
                <a:spcPct val="15000"/>
              </a:spcAft>
              <a:buChar char="•"/>
            </a:pPr>
            <a:r>
              <a:rPr lang="es-PE" sz="2400" kern="1200"/>
              <a:t>Xi= Número de horas en la tienda i </a:t>
            </a:r>
            <a:endParaRPr lang="es-ES" sz="2400" kern="1200"/>
          </a:p>
        </p:txBody>
      </p:sp>
      <p:sp>
        <p:nvSpPr>
          <p:cNvPr id="3" name="Rectangle 3"/>
          <p:cNvSpPr>
            <a:spLocks noChangeArrowheads="1"/>
          </p:cNvSpPr>
          <p:nvPr/>
        </p:nvSpPr>
        <p:spPr bwMode="auto">
          <a:xfrm>
            <a:off x="6096000" y="257045"/>
            <a:ext cx="6096000" cy="571500"/>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accent5">
                    <a:lumMod val="20000"/>
                    <a:lumOff val="80000"/>
                  </a:schemeClr>
                </a:solidFill>
                <a:effectLst>
                  <a:outerShdw blurRad="63500" dist="38100" dir="5400000" algn="t" rotWithShape="0">
                    <a:prstClr val="black">
                      <a:alpha val="25000"/>
                    </a:prstClr>
                  </a:outerShdw>
                </a:effectLst>
                <a:latin typeface="Bauhaus 93" pitchFamily="82" charset="0"/>
              </a:rPr>
              <a:t>Solución:</a:t>
            </a:r>
          </a:p>
        </p:txBody>
      </p:sp>
      <p:sp>
        <p:nvSpPr>
          <p:cNvPr id="4" name="4 Rectángulo">
            <a:extLst>
              <a:ext uri="{FF2B5EF4-FFF2-40B4-BE49-F238E27FC236}">
                <a16:creationId xmlns:a16="http://schemas.microsoft.com/office/drawing/2014/main" id="{2B32965C-0CE1-4E95-A575-12E59BFAA704}"/>
              </a:ext>
            </a:extLst>
          </p:cNvPr>
          <p:cNvSpPr/>
          <p:nvPr/>
        </p:nvSpPr>
        <p:spPr>
          <a:xfrm>
            <a:off x="6170151" y="1284767"/>
            <a:ext cx="1874785" cy="2677656"/>
          </a:xfrm>
          <a:prstGeom prst="rect">
            <a:avLst/>
          </a:prstGeom>
          <a:solidFill>
            <a:srgbClr val="FFFF00"/>
          </a:solidFill>
        </p:spPr>
        <p:txBody>
          <a:bodyPr wrap="square">
            <a:spAutoFit/>
          </a:bodyPr>
          <a:lstStyle/>
          <a:p>
            <a:r>
              <a:rPr lang="es-ES" sz="2400" dirty="0"/>
              <a:t>MIN </a:t>
            </a:r>
            <a:r>
              <a:rPr lang="es-ES" sz="2400" dirty="0" err="1"/>
              <a:t>8X1+6X2</a:t>
            </a:r>
            <a:endParaRPr lang="es-ES" sz="2400" dirty="0"/>
          </a:p>
          <a:p>
            <a:r>
              <a:rPr lang="es-ES" sz="2400" dirty="0" err="1"/>
              <a:t>ST</a:t>
            </a:r>
            <a:endParaRPr lang="es-ES" sz="2400" dirty="0"/>
          </a:p>
          <a:p>
            <a:r>
              <a:rPr lang="es-ES" sz="2400" dirty="0" err="1"/>
              <a:t>X1+X2</a:t>
            </a:r>
            <a:r>
              <a:rPr lang="es-ES" sz="2400" dirty="0"/>
              <a:t> &gt;=20</a:t>
            </a:r>
          </a:p>
          <a:p>
            <a:r>
              <a:rPr lang="es-ES" sz="2400" dirty="0" err="1"/>
              <a:t>X1</a:t>
            </a:r>
            <a:r>
              <a:rPr lang="es-ES" sz="2400" dirty="0"/>
              <a:t>&gt;=5</a:t>
            </a:r>
          </a:p>
          <a:p>
            <a:r>
              <a:rPr lang="es-ES" sz="2400" dirty="0" err="1"/>
              <a:t>X1</a:t>
            </a:r>
            <a:r>
              <a:rPr lang="es-ES" sz="2400" dirty="0"/>
              <a:t>&lt;=12</a:t>
            </a:r>
          </a:p>
          <a:p>
            <a:r>
              <a:rPr lang="es-ES" sz="2400" dirty="0" err="1"/>
              <a:t>X2</a:t>
            </a:r>
            <a:r>
              <a:rPr lang="es-ES" sz="2400" dirty="0"/>
              <a:t>&gt;=6</a:t>
            </a:r>
          </a:p>
          <a:p>
            <a:r>
              <a:rPr lang="es-ES" sz="2400" dirty="0" err="1"/>
              <a:t>X2</a:t>
            </a:r>
            <a:r>
              <a:rPr lang="es-ES" sz="2400" dirty="0"/>
              <a:t>&lt;=10</a:t>
            </a:r>
          </a:p>
        </p:txBody>
      </p:sp>
      <p:sp>
        <p:nvSpPr>
          <p:cNvPr id="5" name="3 Rectángulo">
            <a:extLst>
              <a:ext uri="{FF2B5EF4-FFF2-40B4-BE49-F238E27FC236}">
                <a16:creationId xmlns:a16="http://schemas.microsoft.com/office/drawing/2014/main" id="{D0792BD6-4C01-4408-9DCE-7C0702D853A2}"/>
              </a:ext>
            </a:extLst>
          </p:cNvPr>
          <p:cNvSpPr/>
          <p:nvPr/>
        </p:nvSpPr>
        <p:spPr>
          <a:xfrm>
            <a:off x="8099585" y="1284767"/>
            <a:ext cx="4092415" cy="1323439"/>
          </a:xfrm>
          <a:prstGeom prst="rect">
            <a:avLst/>
          </a:prstGeom>
          <a:solidFill>
            <a:schemeClr val="accent4">
              <a:lumMod val="40000"/>
              <a:lumOff val="60000"/>
            </a:schemeClr>
          </a:solidFill>
        </p:spPr>
        <p:txBody>
          <a:bodyPr wrap="square">
            <a:spAutoFit/>
          </a:bodyPr>
          <a:lstStyle/>
          <a:p>
            <a:r>
              <a:rPr lang="en-US" sz="2000" b="1" dirty="0">
                <a:latin typeface="Arial Narrow" panose="020B0606020202030204" pitchFamily="34" charset="0"/>
              </a:rPr>
              <a:t>1)      140.0000</a:t>
            </a:r>
          </a:p>
          <a:p>
            <a:r>
              <a:rPr lang="en-US" sz="2000" b="1" dirty="0">
                <a:latin typeface="Arial Narrow" panose="020B0606020202030204" pitchFamily="34" charset="0"/>
              </a:rPr>
              <a:t>  VARIABLE   VALUE   REDUCED COST</a:t>
            </a:r>
          </a:p>
          <a:p>
            <a:r>
              <a:rPr lang="en-US" sz="2000" b="1" dirty="0">
                <a:latin typeface="Arial Narrow" panose="020B0606020202030204" pitchFamily="34" charset="0"/>
              </a:rPr>
              <a:t>        </a:t>
            </a:r>
            <a:r>
              <a:rPr lang="en-US" sz="2000" b="1" dirty="0" err="1">
                <a:latin typeface="Arial Narrow" panose="020B0606020202030204" pitchFamily="34" charset="0"/>
              </a:rPr>
              <a:t>X1</a:t>
            </a:r>
            <a:r>
              <a:rPr lang="en-US" sz="2000" b="1" dirty="0">
                <a:latin typeface="Arial Narrow" panose="020B0606020202030204" pitchFamily="34" charset="0"/>
              </a:rPr>
              <a:t>        10.000000          0.000000</a:t>
            </a:r>
          </a:p>
          <a:p>
            <a:r>
              <a:rPr lang="en-US" sz="2000" b="1" dirty="0">
                <a:latin typeface="Arial Narrow" panose="020B0606020202030204" pitchFamily="34" charset="0"/>
              </a:rPr>
              <a:t>        </a:t>
            </a:r>
            <a:r>
              <a:rPr lang="en-US" sz="2000" b="1" dirty="0" err="1">
                <a:latin typeface="Arial Narrow" panose="020B0606020202030204" pitchFamily="34" charset="0"/>
              </a:rPr>
              <a:t>X2</a:t>
            </a:r>
            <a:r>
              <a:rPr lang="en-US" sz="2000" b="1" dirty="0">
                <a:latin typeface="Arial Narrow" panose="020B0606020202030204" pitchFamily="34" charset="0"/>
              </a:rPr>
              <a:t>        10.000000          0.000000</a:t>
            </a:r>
          </a:p>
        </p:txBody>
      </p:sp>
      <p:grpSp>
        <p:nvGrpSpPr>
          <p:cNvPr id="6" name="Grupo 5">
            <a:extLst>
              <a:ext uri="{FF2B5EF4-FFF2-40B4-BE49-F238E27FC236}">
                <a16:creationId xmlns:a16="http://schemas.microsoft.com/office/drawing/2014/main" id="{25D77713-4A80-4C35-AE00-3C6A6CF395DB}"/>
              </a:ext>
            </a:extLst>
          </p:cNvPr>
          <p:cNvGrpSpPr/>
          <p:nvPr/>
        </p:nvGrpSpPr>
        <p:grpSpPr>
          <a:xfrm>
            <a:off x="158274" y="4902479"/>
            <a:ext cx="5770052" cy="1676790"/>
            <a:chOff x="2102817" y="3204967"/>
            <a:chExt cx="3738343" cy="1676790"/>
          </a:xfrm>
        </p:grpSpPr>
        <p:sp>
          <p:nvSpPr>
            <p:cNvPr id="10" name="Rectángulo: esquinas superiores redondeadas 9">
              <a:extLst>
                <a:ext uri="{FF2B5EF4-FFF2-40B4-BE49-F238E27FC236}">
                  <a16:creationId xmlns:a16="http://schemas.microsoft.com/office/drawing/2014/main" id="{5C1E050C-D929-42BF-A6C7-4CF614B7B15A}"/>
                </a:ext>
              </a:extLst>
            </p:cNvPr>
            <p:cNvSpPr/>
            <p:nvPr/>
          </p:nvSpPr>
          <p:spPr>
            <a:xfrm rot="5400000">
              <a:off x="3133594" y="2174190"/>
              <a:ext cx="1676790" cy="3738343"/>
            </a:xfrm>
            <a:prstGeom prst="round2Same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s-PE"/>
            </a:p>
          </p:txBody>
        </p:sp>
        <p:sp>
          <p:nvSpPr>
            <p:cNvPr id="11" name="Rectángulo: esquinas superiores redondeadas 4">
              <a:extLst>
                <a:ext uri="{FF2B5EF4-FFF2-40B4-BE49-F238E27FC236}">
                  <a16:creationId xmlns:a16="http://schemas.microsoft.com/office/drawing/2014/main" id="{387FAA16-9A00-432D-9F46-D1B5D589283A}"/>
                </a:ext>
              </a:extLst>
            </p:cNvPr>
            <p:cNvSpPr txBox="1"/>
            <p:nvPr/>
          </p:nvSpPr>
          <p:spPr>
            <a:xfrm>
              <a:off x="2102818" y="3286820"/>
              <a:ext cx="3656489" cy="151308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s-PE" sz="2400" kern="1200" dirty="0" err="1"/>
                <a:t>X1+X2</a:t>
              </a:r>
              <a:r>
                <a:rPr lang="es-PE" sz="2400" kern="1200" dirty="0"/>
                <a:t> ≥20</a:t>
              </a:r>
              <a:endParaRPr lang="es-ES" sz="2400" kern="1200" dirty="0"/>
            </a:p>
            <a:p>
              <a:pPr marL="228600" lvl="1" indent="-228600" algn="l" defTabSz="1066800" rtl="0">
                <a:lnSpc>
                  <a:spcPct val="90000"/>
                </a:lnSpc>
                <a:spcBef>
                  <a:spcPct val="0"/>
                </a:spcBef>
                <a:spcAft>
                  <a:spcPct val="15000"/>
                </a:spcAft>
                <a:buChar char="•"/>
              </a:pPr>
              <a:r>
                <a:rPr lang="es-PE" sz="2400" kern="1200" dirty="0"/>
                <a:t>5≤ </a:t>
              </a:r>
              <a:r>
                <a:rPr lang="es-PE" sz="2400" kern="1200" dirty="0" err="1"/>
                <a:t>X1≤12</a:t>
              </a:r>
              <a:endParaRPr lang="es-ES" sz="2400" kern="1200" dirty="0"/>
            </a:p>
            <a:p>
              <a:pPr marL="228600" lvl="1" indent="-228600" algn="l" defTabSz="1066800" rtl="0">
                <a:lnSpc>
                  <a:spcPct val="90000"/>
                </a:lnSpc>
                <a:spcBef>
                  <a:spcPct val="0"/>
                </a:spcBef>
                <a:spcAft>
                  <a:spcPct val="15000"/>
                </a:spcAft>
                <a:buChar char="•"/>
              </a:pPr>
              <a:r>
                <a:rPr lang="es-PE" sz="2400" kern="1200" dirty="0"/>
                <a:t>6≤ </a:t>
              </a:r>
              <a:r>
                <a:rPr lang="es-PE" sz="2400" kern="1200" dirty="0" err="1"/>
                <a:t>X2≤10</a:t>
              </a:r>
              <a:endParaRPr lang="es-ES" sz="2400" kern="1200" dirty="0"/>
            </a:p>
            <a:p>
              <a:pPr marL="228600" lvl="1" indent="-228600" algn="l" defTabSz="1066800" rtl="0">
                <a:lnSpc>
                  <a:spcPct val="90000"/>
                </a:lnSpc>
                <a:spcBef>
                  <a:spcPct val="0"/>
                </a:spcBef>
                <a:spcAft>
                  <a:spcPct val="15000"/>
                </a:spcAft>
                <a:buChar char="•"/>
              </a:pPr>
              <a:r>
                <a:rPr lang="es-PE" sz="2400" kern="1200" dirty="0"/>
                <a:t>Xi ≥0	</a:t>
              </a:r>
              <a:endParaRPr lang="es-ES" sz="2400" kern="1200" dirty="0"/>
            </a:p>
          </p:txBody>
        </p:sp>
      </p:grpSp>
      <p:grpSp>
        <p:nvGrpSpPr>
          <p:cNvPr id="7" name="Grupo 6">
            <a:extLst>
              <a:ext uri="{FF2B5EF4-FFF2-40B4-BE49-F238E27FC236}">
                <a16:creationId xmlns:a16="http://schemas.microsoft.com/office/drawing/2014/main" id="{A1FB982F-17B9-46DD-98E7-083C24D65F96}"/>
              </a:ext>
            </a:extLst>
          </p:cNvPr>
          <p:cNvGrpSpPr/>
          <p:nvPr/>
        </p:nvGrpSpPr>
        <p:grpSpPr>
          <a:xfrm>
            <a:off x="158273" y="4345855"/>
            <a:ext cx="5808929" cy="471282"/>
            <a:chOff x="0" y="3280463"/>
            <a:chExt cx="2102818" cy="1525797"/>
          </a:xfrm>
        </p:grpSpPr>
        <p:sp>
          <p:nvSpPr>
            <p:cNvPr id="8" name="Rectángulo: esquinas redondeadas 7">
              <a:extLst>
                <a:ext uri="{FF2B5EF4-FFF2-40B4-BE49-F238E27FC236}">
                  <a16:creationId xmlns:a16="http://schemas.microsoft.com/office/drawing/2014/main" id="{12A0ACD4-D86F-405A-8F53-9E390EFD338E}"/>
                </a:ext>
              </a:extLst>
            </p:cNvPr>
            <p:cNvSpPr/>
            <p:nvPr/>
          </p:nvSpPr>
          <p:spPr>
            <a:xfrm>
              <a:off x="0" y="3280463"/>
              <a:ext cx="2102818" cy="1525797"/>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9" name="Rectángulo: esquinas redondeadas 6">
              <a:extLst>
                <a:ext uri="{FF2B5EF4-FFF2-40B4-BE49-F238E27FC236}">
                  <a16:creationId xmlns:a16="http://schemas.microsoft.com/office/drawing/2014/main" id="{3843D06F-61C5-4F6E-AF3D-83EC93A7F906}"/>
                </a:ext>
              </a:extLst>
            </p:cNvPr>
            <p:cNvSpPr txBox="1"/>
            <p:nvPr/>
          </p:nvSpPr>
          <p:spPr>
            <a:xfrm>
              <a:off x="74483" y="3354946"/>
              <a:ext cx="1953852" cy="13768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s-PE" sz="2400" kern="1200" dirty="0"/>
                <a:t>III. Identificación de las Restricciones</a:t>
              </a:r>
              <a:endParaRPr lang="es-ES" sz="2400" kern="1200" dirty="0"/>
            </a:p>
          </p:txBody>
        </p:sp>
      </p:grpSp>
      <p:grpSp>
        <p:nvGrpSpPr>
          <p:cNvPr id="12" name="Grupo 11">
            <a:extLst>
              <a:ext uri="{FF2B5EF4-FFF2-40B4-BE49-F238E27FC236}">
                <a16:creationId xmlns:a16="http://schemas.microsoft.com/office/drawing/2014/main" id="{0D955CE9-F035-47FC-94D2-ED1C3FC25C75}"/>
              </a:ext>
            </a:extLst>
          </p:cNvPr>
          <p:cNvGrpSpPr/>
          <p:nvPr/>
        </p:nvGrpSpPr>
        <p:grpSpPr>
          <a:xfrm>
            <a:off x="158781" y="3528769"/>
            <a:ext cx="5769546" cy="685039"/>
            <a:chOff x="2104872" y="1626504"/>
            <a:chExt cx="3741997" cy="1443090"/>
          </a:xfrm>
        </p:grpSpPr>
        <p:sp>
          <p:nvSpPr>
            <p:cNvPr id="16" name="Rectángulo: esquinas superiores redondeadas 15">
              <a:extLst>
                <a:ext uri="{FF2B5EF4-FFF2-40B4-BE49-F238E27FC236}">
                  <a16:creationId xmlns:a16="http://schemas.microsoft.com/office/drawing/2014/main" id="{31E920D2-FCE1-40E1-B053-58F2CD44B5BC}"/>
                </a:ext>
              </a:extLst>
            </p:cNvPr>
            <p:cNvSpPr/>
            <p:nvPr/>
          </p:nvSpPr>
          <p:spPr>
            <a:xfrm rot="5400000">
              <a:off x="3254326" y="477050"/>
              <a:ext cx="1443090" cy="3741997"/>
            </a:xfrm>
            <a:prstGeom prst="round2Same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s-PE"/>
            </a:p>
          </p:txBody>
        </p:sp>
        <p:sp>
          <p:nvSpPr>
            <p:cNvPr id="17" name="Rectángulo: esquinas superiores redondeadas 4">
              <a:extLst>
                <a:ext uri="{FF2B5EF4-FFF2-40B4-BE49-F238E27FC236}">
                  <a16:creationId xmlns:a16="http://schemas.microsoft.com/office/drawing/2014/main" id="{9437E458-F003-4CC6-8453-AB89A44DB251}"/>
                </a:ext>
              </a:extLst>
            </p:cNvPr>
            <p:cNvSpPr txBox="1"/>
            <p:nvPr/>
          </p:nvSpPr>
          <p:spPr>
            <a:xfrm>
              <a:off x="2104873" y="1696949"/>
              <a:ext cx="3671551" cy="13021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s-PE" sz="2400" kern="1200" dirty="0"/>
                <a:t>MIN </a:t>
              </a:r>
              <a:r>
                <a:rPr lang="es-PE" sz="2400" kern="1200" dirty="0" err="1"/>
                <a:t>8X1+6X2</a:t>
              </a:r>
              <a:endParaRPr lang="es-ES" sz="2400" kern="1200" dirty="0"/>
            </a:p>
          </p:txBody>
        </p:sp>
      </p:grpSp>
      <p:grpSp>
        <p:nvGrpSpPr>
          <p:cNvPr id="13" name="Grupo 12">
            <a:extLst>
              <a:ext uri="{FF2B5EF4-FFF2-40B4-BE49-F238E27FC236}">
                <a16:creationId xmlns:a16="http://schemas.microsoft.com/office/drawing/2014/main" id="{01404B20-470C-4A14-93AB-AC685D2681FE}"/>
              </a:ext>
            </a:extLst>
          </p:cNvPr>
          <p:cNvGrpSpPr/>
          <p:nvPr/>
        </p:nvGrpSpPr>
        <p:grpSpPr>
          <a:xfrm>
            <a:off x="151628" y="3004845"/>
            <a:ext cx="5776699" cy="472022"/>
            <a:chOff x="0" y="1590626"/>
            <a:chExt cx="2104873" cy="1514845"/>
          </a:xfrm>
        </p:grpSpPr>
        <p:sp>
          <p:nvSpPr>
            <p:cNvPr id="14" name="Rectángulo: esquinas redondeadas 13">
              <a:extLst>
                <a:ext uri="{FF2B5EF4-FFF2-40B4-BE49-F238E27FC236}">
                  <a16:creationId xmlns:a16="http://schemas.microsoft.com/office/drawing/2014/main" id="{D961335C-2916-405C-8214-B857F19369A1}"/>
                </a:ext>
              </a:extLst>
            </p:cNvPr>
            <p:cNvSpPr/>
            <p:nvPr/>
          </p:nvSpPr>
          <p:spPr>
            <a:xfrm>
              <a:off x="0" y="1590626"/>
              <a:ext cx="2104873" cy="151484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5" name="Rectángulo: esquinas redondeadas 6">
              <a:extLst>
                <a:ext uri="{FF2B5EF4-FFF2-40B4-BE49-F238E27FC236}">
                  <a16:creationId xmlns:a16="http://schemas.microsoft.com/office/drawing/2014/main" id="{9B305A79-B10F-4209-992C-360F7DC90763}"/>
                </a:ext>
              </a:extLst>
            </p:cNvPr>
            <p:cNvSpPr txBox="1"/>
            <p:nvPr/>
          </p:nvSpPr>
          <p:spPr>
            <a:xfrm>
              <a:off x="73949" y="1664575"/>
              <a:ext cx="1956975" cy="136694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s-PE" sz="2400" kern="1200" dirty="0"/>
                <a:t>II. Identificación de la Función Objetivo</a:t>
              </a:r>
              <a:endParaRPr lang="es-ES" sz="2400" kern="1200" dirty="0"/>
            </a:p>
          </p:txBody>
        </p:sp>
      </p:grpSp>
      <p:sp>
        <p:nvSpPr>
          <p:cNvPr id="21" name="Forma libre: forma 20">
            <a:extLst>
              <a:ext uri="{FF2B5EF4-FFF2-40B4-BE49-F238E27FC236}">
                <a16:creationId xmlns:a16="http://schemas.microsoft.com/office/drawing/2014/main" id="{13CC9271-4112-AB98-EEC8-157AB7B331EA}"/>
              </a:ext>
            </a:extLst>
          </p:cNvPr>
          <p:cNvSpPr/>
          <p:nvPr/>
        </p:nvSpPr>
        <p:spPr>
          <a:xfrm>
            <a:off x="151627" y="1420703"/>
            <a:ext cx="5776699" cy="471282"/>
          </a:xfrm>
          <a:custGeom>
            <a:avLst/>
            <a:gdLst>
              <a:gd name="connsiteX0" fmla="*/ 0 w 2104873"/>
              <a:gd name="connsiteY0" fmla="*/ 287553 h 1725282"/>
              <a:gd name="connsiteX1" fmla="*/ 287553 w 2104873"/>
              <a:gd name="connsiteY1" fmla="*/ 0 h 1725282"/>
              <a:gd name="connsiteX2" fmla="*/ 1817320 w 2104873"/>
              <a:gd name="connsiteY2" fmla="*/ 0 h 1725282"/>
              <a:gd name="connsiteX3" fmla="*/ 2104873 w 2104873"/>
              <a:gd name="connsiteY3" fmla="*/ 287553 h 1725282"/>
              <a:gd name="connsiteX4" fmla="*/ 2104873 w 2104873"/>
              <a:gd name="connsiteY4" fmla="*/ 1437729 h 1725282"/>
              <a:gd name="connsiteX5" fmla="*/ 1817320 w 2104873"/>
              <a:gd name="connsiteY5" fmla="*/ 1725282 h 1725282"/>
              <a:gd name="connsiteX6" fmla="*/ 287553 w 2104873"/>
              <a:gd name="connsiteY6" fmla="*/ 1725282 h 1725282"/>
              <a:gd name="connsiteX7" fmla="*/ 0 w 2104873"/>
              <a:gd name="connsiteY7" fmla="*/ 1437729 h 1725282"/>
              <a:gd name="connsiteX8" fmla="*/ 0 w 2104873"/>
              <a:gd name="connsiteY8" fmla="*/ 287553 h 172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4873" h="1725282">
                <a:moveTo>
                  <a:pt x="0" y="287553"/>
                </a:moveTo>
                <a:cubicBezTo>
                  <a:pt x="0" y="128742"/>
                  <a:pt x="128742" y="0"/>
                  <a:pt x="287553" y="0"/>
                </a:cubicBezTo>
                <a:lnTo>
                  <a:pt x="1817320" y="0"/>
                </a:lnTo>
                <a:cubicBezTo>
                  <a:pt x="1976131" y="0"/>
                  <a:pt x="2104873" y="128742"/>
                  <a:pt x="2104873" y="287553"/>
                </a:cubicBezTo>
                <a:lnTo>
                  <a:pt x="2104873" y="1437729"/>
                </a:lnTo>
                <a:cubicBezTo>
                  <a:pt x="2104873" y="1596540"/>
                  <a:pt x="1976131" y="1725282"/>
                  <a:pt x="1817320" y="1725282"/>
                </a:cubicBezTo>
                <a:lnTo>
                  <a:pt x="287553" y="1725282"/>
                </a:lnTo>
                <a:cubicBezTo>
                  <a:pt x="128742" y="1725282"/>
                  <a:pt x="0" y="1596540"/>
                  <a:pt x="0" y="1437729"/>
                </a:cubicBezTo>
                <a:lnTo>
                  <a:pt x="0" y="28755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5661" tIns="129941" rIns="175661" bIns="129941" numCol="1" spcCol="1270" anchor="ctr" anchorCtr="0">
            <a:noAutofit/>
          </a:bodyPr>
          <a:lstStyle/>
          <a:p>
            <a:pPr marL="0" lvl="0" indent="0" algn="ctr" defTabSz="1066800" rtl="0">
              <a:lnSpc>
                <a:spcPct val="90000"/>
              </a:lnSpc>
              <a:spcBef>
                <a:spcPct val="0"/>
              </a:spcBef>
              <a:spcAft>
                <a:spcPct val="35000"/>
              </a:spcAft>
              <a:buNone/>
            </a:pPr>
            <a:r>
              <a:rPr lang="es-PE" sz="2400" kern="1200" dirty="0"/>
              <a:t>I. Identificación de las Variables</a:t>
            </a:r>
            <a:endParaRPr lang="es-ES" sz="2400" kern="1200" dirty="0"/>
          </a:p>
        </p:txBody>
      </p:sp>
      <p:pic>
        <p:nvPicPr>
          <p:cNvPr id="2" name="Imagen 1">
            <a:extLst>
              <a:ext uri="{FF2B5EF4-FFF2-40B4-BE49-F238E27FC236}">
                <a16:creationId xmlns:a16="http://schemas.microsoft.com/office/drawing/2014/main" id="{EAF13E9D-8A6C-A93B-7CBF-9FCAE7FFBDBA}"/>
              </a:ext>
            </a:extLst>
          </p:cNvPr>
          <p:cNvPicPr/>
          <p:nvPr/>
        </p:nvPicPr>
        <p:blipFill>
          <a:blip r:embed="rId2" cstate="print"/>
          <a:srcRect/>
          <a:stretch>
            <a:fillRect/>
          </a:stretch>
        </p:blipFill>
        <p:spPr bwMode="auto">
          <a:xfrm>
            <a:off x="6683542" y="3946358"/>
            <a:ext cx="4990782" cy="2911642"/>
          </a:xfrm>
          <a:prstGeom prst="rect">
            <a:avLst/>
          </a:prstGeom>
          <a:noFill/>
          <a:ln w="9525">
            <a:noFill/>
            <a:miter lim="800000"/>
            <a:headEnd/>
            <a:tailEnd/>
          </a:ln>
        </p:spPr>
      </p:pic>
    </p:spTree>
    <p:extLst>
      <p:ext uri="{BB962C8B-B14F-4D97-AF65-F5344CB8AC3E}">
        <p14:creationId xmlns:p14="http://schemas.microsoft.com/office/powerpoint/2010/main" val="4122861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black">
          <a:xfrm>
            <a:off x="6096000" y="117446"/>
            <a:ext cx="6096000" cy="838899"/>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Problema 13 </a:t>
            </a:r>
          </a:p>
          <a:p>
            <a:pPr algn="ctr"/>
            <a:r>
              <a:rPr lang="es-ES_tradnl" sz="3200" b="0" i="0" dirty="0">
                <a:solidFill>
                  <a:schemeClr val="bg1"/>
                </a:solidFill>
                <a:latin typeface="Bauhaus 93" pitchFamily="82" charset="0"/>
                <a:ea typeface="+mn-ea"/>
                <a:cs typeface="+mn-cs"/>
              </a:rPr>
              <a:t>Florida Citrus </a:t>
            </a:r>
            <a:r>
              <a:rPr lang="es-ES_tradnl" sz="3200" b="0" i="0" dirty="0" err="1">
                <a:solidFill>
                  <a:schemeClr val="bg1"/>
                </a:solidFill>
                <a:latin typeface="Bauhaus 93" pitchFamily="82" charset="0"/>
                <a:ea typeface="+mn-ea"/>
                <a:cs typeface="+mn-cs"/>
              </a:rPr>
              <a:t>Inc</a:t>
            </a:r>
            <a:endParaRPr lang="es-ES_tradnl" sz="3200" b="0" i="0" dirty="0">
              <a:solidFill>
                <a:schemeClr val="bg1"/>
              </a:solidFill>
              <a:latin typeface="Bauhaus 93" pitchFamily="82" charset="0"/>
              <a:ea typeface="+mn-ea"/>
              <a:cs typeface="+mn-cs"/>
            </a:endParaRPr>
          </a:p>
        </p:txBody>
      </p:sp>
      <p:sp>
        <p:nvSpPr>
          <p:cNvPr id="7" name="CuadroTexto 6">
            <a:extLst>
              <a:ext uri="{FF2B5EF4-FFF2-40B4-BE49-F238E27FC236}">
                <a16:creationId xmlns:a16="http://schemas.microsoft.com/office/drawing/2014/main" id="{8693D6D1-B810-DA1A-EFBF-B2BC9FDA315F}"/>
              </a:ext>
            </a:extLst>
          </p:cNvPr>
          <p:cNvSpPr txBox="1"/>
          <p:nvPr/>
        </p:nvSpPr>
        <p:spPr>
          <a:xfrm>
            <a:off x="0" y="1164134"/>
            <a:ext cx="12192000" cy="5693866"/>
          </a:xfrm>
          <a:prstGeom prst="rect">
            <a:avLst/>
          </a:prstGeom>
          <a:noFill/>
        </p:spPr>
        <p:txBody>
          <a:bodyPr wrap="square">
            <a:spAutoFit/>
          </a:bodyPr>
          <a:lstStyle/>
          <a:p>
            <a:pPr lvl="0" algn="just" rtl="0"/>
            <a:r>
              <a:rPr lang="es-ES" sz="2800" b="1" dirty="0"/>
              <a:t>Cada semana, Florida Citrus, </a:t>
            </a:r>
            <a:r>
              <a:rPr lang="es-ES" sz="2800" b="1" dirty="0" err="1"/>
              <a:t>Inc</a:t>
            </a:r>
            <a:r>
              <a:rPr lang="es-ES" sz="2800" b="1" dirty="0"/>
              <a:t>, usa una sola máquina durante 150 horas para destilar jugo de naranja y  de toronja en concentrados almacenados en dos tanques separados de 1000 galones c/u. antes de congelarlos. La máquina puede procesar 25 galones de jugo de naranja por hora, pero solo 20 galones de jugo de toronja. Cada galón de jugo de naranja cuesta $1,50 y pierde 30% de contenido de agua al destilarse en concentrado. El concentrado de jugo de naranja después se vende en $6,00  por galón. Cada galón de jugo de toronja cuesta $2,00 y pierde 25% de  contenido de agua al destilarse en concentrado. El concentrado de jugo de toronja se vende después en $8,00 por galón. Formule un modelo de programación lineal para determinar un plan de producción que maximice la ganancia para la siguiente semana usando las variables: </a:t>
            </a:r>
          </a:p>
          <a:p>
            <a:pPr lvl="0" algn="just" rtl="0"/>
            <a:r>
              <a:rPr lang="es-ES" sz="2800" b="1" dirty="0"/>
              <a:t>JN = El número de gal. de jugo de naranja por utilizar esta semana. </a:t>
            </a:r>
          </a:p>
          <a:p>
            <a:pPr lvl="0" algn="just" rtl="0"/>
            <a:r>
              <a:rPr lang="es-ES" sz="2800" b="1" dirty="0"/>
              <a:t>JT = El número de gal. de jugo de toronja por utilizar esta semana.</a:t>
            </a:r>
          </a:p>
        </p:txBody>
      </p:sp>
    </p:spTree>
    <p:extLst>
      <p:ext uri="{BB962C8B-B14F-4D97-AF65-F5344CB8AC3E}">
        <p14:creationId xmlns:p14="http://schemas.microsoft.com/office/powerpoint/2010/main" val="420020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extLst>
              <p:ext uri="{D42A27DB-BD31-4B8C-83A1-F6EECF244321}">
                <p14:modId xmlns:p14="http://schemas.microsoft.com/office/powerpoint/2010/main" val="3335907258"/>
              </p:ext>
            </p:extLst>
          </p:nvPr>
        </p:nvGraphicFramePr>
        <p:xfrm>
          <a:off x="714103" y="1449023"/>
          <a:ext cx="8699672" cy="1673462"/>
        </p:xfrm>
        <a:graphic>
          <a:graphicData uri="http://schemas.openxmlformats.org/drawingml/2006/table">
            <a:tbl>
              <a:tblPr>
                <a:tableStyleId>{5C22544A-7EE6-4342-B048-85BDC9FD1C3A}</a:tableStyleId>
              </a:tblPr>
              <a:tblGrid>
                <a:gridCol w="1229913">
                  <a:extLst>
                    <a:ext uri="{9D8B030D-6E8A-4147-A177-3AD203B41FA5}">
                      <a16:colId xmlns:a16="http://schemas.microsoft.com/office/drawing/2014/main" val="20000"/>
                    </a:ext>
                  </a:extLst>
                </a:gridCol>
                <a:gridCol w="1805993">
                  <a:extLst>
                    <a:ext uri="{9D8B030D-6E8A-4147-A177-3AD203B41FA5}">
                      <a16:colId xmlns:a16="http://schemas.microsoft.com/office/drawing/2014/main" val="20001"/>
                    </a:ext>
                  </a:extLst>
                </a:gridCol>
                <a:gridCol w="1164812">
                  <a:extLst>
                    <a:ext uri="{9D8B030D-6E8A-4147-A177-3AD203B41FA5}">
                      <a16:colId xmlns:a16="http://schemas.microsoft.com/office/drawing/2014/main" val="20002"/>
                    </a:ext>
                  </a:extLst>
                </a:gridCol>
                <a:gridCol w="1592267">
                  <a:extLst>
                    <a:ext uri="{9D8B030D-6E8A-4147-A177-3AD203B41FA5}">
                      <a16:colId xmlns:a16="http://schemas.microsoft.com/office/drawing/2014/main" val="20003"/>
                    </a:ext>
                  </a:extLst>
                </a:gridCol>
                <a:gridCol w="1303735">
                  <a:extLst>
                    <a:ext uri="{9D8B030D-6E8A-4147-A177-3AD203B41FA5}">
                      <a16:colId xmlns:a16="http://schemas.microsoft.com/office/drawing/2014/main" val="20004"/>
                    </a:ext>
                  </a:extLst>
                </a:gridCol>
                <a:gridCol w="1602952">
                  <a:extLst>
                    <a:ext uri="{9D8B030D-6E8A-4147-A177-3AD203B41FA5}">
                      <a16:colId xmlns:a16="http://schemas.microsoft.com/office/drawing/2014/main" val="577831420"/>
                    </a:ext>
                  </a:extLst>
                </a:gridCol>
              </a:tblGrid>
              <a:tr h="533980">
                <a:tc>
                  <a:txBody>
                    <a:bodyPr/>
                    <a:lstStyle/>
                    <a:p>
                      <a:pPr algn="ctr">
                        <a:spcAft>
                          <a:spcPts val="0"/>
                        </a:spcAft>
                      </a:pPr>
                      <a:r>
                        <a:rPr lang="es-PE" sz="2400" dirty="0">
                          <a:effectLst/>
                          <a:latin typeface="Arial Narrow" pitchFamily="34" charset="0"/>
                        </a:rPr>
                        <a:t> Jugo</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a:effectLst/>
                          <a:latin typeface="Arial Narrow" pitchFamily="34" charset="0"/>
                        </a:rPr>
                        <a:t>Máquina</a:t>
                      </a:r>
                      <a:endParaRPr lang="es-PE" sz="240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Costo</a:t>
                      </a:r>
                    </a:p>
                    <a:p>
                      <a:pPr algn="ctr">
                        <a:spcAft>
                          <a:spcPts val="0"/>
                        </a:spcAft>
                      </a:pPr>
                      <a:r>
                        <a:rPr lang="es-ES" sz="2400" dirty="0">
                          <a:effectLst/>
                          <a:latin typeface="Arial Narrow" pitchFamily="34" charset="0"/>
                          <a:ea typeface="Calibri"/>
                        </a:rPr>
                        <a:t>Jugo</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Precio</a:t>
                      </a:r>
                    </a:p>
                    <a:p>
                      <a:pPr algn="ctr">
                        <a:spcAft>
                          <a:spcPts val="0"/>
                        </a:spcAft>
                      </a:pPr>
                      <a:r>
                        <a:rPr lang="es-ES" sz="2400" dirty="0">
                          <a:effectLst/>
                          <a:latin typeface="Arial Narrow" pitchFamily="34" charset="0"/>
                          <a:ea typeface="Calibri"/>
                        </a:rPr>
                        <a:t>Concentrado</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Pérdida</a:t>
                      </a:r>
                    </a:p>
                    <a:p>
                      <a:pPr algn="ctr">
                        <a:spcAft>
                          <a:spcPts val="0"/>
                        </a:spcAft>
                      </a:pPr>
                      <a:r>
                        <a:rPr lang="es-PE" sz="2400" dirty="0">
                          <a:effectLst/>
                          <a:latin typeface="Arial Narrow" pitchFamily="34" charset="0"/>
                          <a:ea typeface="Calibri"/>
                        </a:rPr>
                        <a:t>Volumen</a:t>
                      </a:r>
                    </a:p>
                  </a:txBody>
                  <a:tcPr marL="33338" marR="33338" marT="0" marB="0"/>
                </a:tc>
                <a:tc>
                  <a:txBody>
                    <a:bodyPr/>
                    <a:lstStyle/>
                    <a:p>
                      <a:pPr algn="ctr">
                        <a:spcAft>
                          <a:spcPts val="0"/>
                        </a:spcAft>
                      </a:pPr>
                      <a:r>
                        <a:rPr lang="es-ES" sz="2400" dirty="0">
                          <a:effectLst/>
                          <a:latin typeface="Arial Narrow" pitchFamily="34" charset="0"/>
                          <a:ea typeface="Calibri"/>
                        </a:rPr>
                        <a:t>Concentrado</a:t>
                      </a:r>
                    </a:p>
                    <a:p>
                      <a:pPr algn="ctr">
                        <a:spcAft>
                          <a:spcPts val="0"/>
                        </a:spcAft>
                      </a:pPr>
                      <a:r>
                        <a:rPr lang="es-ES" sz="2400" dirty="0">
                          <a:effectLst/>
                          <a:latin typeface="Arial Narrow" pitchFamily="34" charset="0"/>
                          <a:ea typeface="Calibri"/>
                        </a:rPr>
                        <a:t>Volumen</a:t>
                      </a:r>
                      <a:endParaRPr lang="es-PE" sz="2400" dirty="0">
                        <a:effectLst/>
                        <a:latin typeface="Arial Narrow" pitchFamily="34" charset="0"/>
                        <a:ea typeface="Calibri"/>
                      </a:endParaRPr>
                    </a:p>
                  </a:txBody>
                  <a:tcPr marL="33338" marR="33338" marT="0" marB="0"/>
                </a:tc>
                <a:extLst>
                  <a:ext uri="{0D108BD9-81ED-4DB2-BD59-A6C34878D82A}">
                    <a16:rowId xmlns:a16="http://schemas.microsoft.com/office/drawing/2014/main" val="10000"/>
                  </a:ext>
                </a:extLst>
              </a:tr>
              <a:tr h="470971">
                <a:tc>
                  <a:txBody>
                    <a:bodyPr/>
                    <a:lstStyle/>
                    <a:p>
                      <a:pPr algn="ctr">
                        <a:spcAft>
                          <a:spcPts val="0"/>
                        </a:spcAft>
                      </a:pPr>
                      <a:r>
                        <a:rPr lang="es-PE" sz="2400" dirty="0">
                          <a:effectLst/>
                          <a:latin typeface="Arial Narrow" pitchFamily="34" charset="0"/>
                        </a:rPr>
                        <a:t>Naranja</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a:effectLst/>
                          <a:latin typeface="Arial Narrow" pitchFamily="34" charset="0"/>
                        </a:rPr>
                        <a:t>25 gal /hrs.</a:t>
                      </a:r>
                      <a:endParaRPr lang="es-PE" sz="240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1,5</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6,00</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0,30 gal</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err="1">
                          <a:latin typeface="Arial Narrow" pitchFamily="34" charset="0"/>
                        </a:rPr>
                        <a:t>0,70JN</a:t>
                      </a:r>
                      <a:endParaRPr lang="es-PE" sz="2400" dirty="0">
                        <a:effectLst/>
                        <a:latin typeface="Arial Narrow" pitchFamily="34" charset="0"/>
                        <a:ea typeface="Calibri"/>
                      </a:endParaRPr>
                    </a:p>
                  </a:txBody>
                  <a:tcPr marL="33338" marR="33338" marT="0" marB="0"/>
                </a:tc>
                <a:extLst>
                  <a:ext uri="{0D108BD9-81ED-4DB2-BD59-A6C34878D82A}">
                    <a16:rowId xmlns:a16="http://schemas.microsoft.com/office/drawing/2014/main" val="10001"/>
                  </a:ext>
                </a:extLst>
              </a:tr>
              <a:tr h="470971">
                <a:tc>
                  <a:txBody>
                    <a:bodyPr/>
                    <a:lstStyle/>
                    <a:p>
                      <a:pPr algn="ctr">
                        <a:spcAft>
                          <a:spcPts val="0"/>
                        </a:spcAft>
                      </a:pPr>
                      <a:r>
                        <a:rPr lang="es-PE" sz="2400" dirty="0">
                          <a:effectLst/>
                          <a:latin typeface="Arial Narrow" pitchFamily="34" charset="0"/>
                        </a:rPr>
                        <a:t>Toronja</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20 gal /</a:t>
                      </a:r>
                      <a:r>
                        <a:rPr lang="es-PE" sz="2400" dirty="0" err="1">
                          <a:effectLst/>
                          <a:latin typeface="Arial Narrow" pitchFamily="34" charset="0"/>
                        </a:rPr>
                        <a:t>hrs</a:t>
                      </a:r>
                      <a:r>
                        <a:rPr lang="es-PE" sz="2400" dirty="0">
                          <a:effectLst/>
                          <a:latin typeface="Arial Narrow" pitchFamily="34" charset="0"/>
                        </a:rPr>
                        <a:t>.</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2,0</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8,00</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a:effectLst/>
                          <a:latin typeface="Arial Narrow" pitchFamily="34" charset="0"/>
                        </a:rPr>
                        <a:t>0,25 gal</a:t>
                      </a:r>
                      <a:endParaRPr lang="es-PE" sz="2400" dirty="0">
                        <a:effectLst/>
                        <a:latin typeface="Arial Narrow" pitchFamily="34" charset="0"/>
                        <a:ea typeface="Calibri"/>
                      </a:endParaRPr>
                    </a:p>
                  </a:txBody>
                  <a:tcPr marL="33338" marR="33338" marT="0" marB="0"/>
                </a:tc>
                <a:tc>
                  <a:txBody>
                    <a:bodyPr/>
                    <a:lstStyle/>
                    <a:p>
                      <a:pPr algn="ctr">
                        <a:spcAft>
                          <a:spcPts val="0"/>
                        </a:spcAft>
                      </a:pPr>
                      <a:r>
                        <a:rPr lang="es-PE" sz="2400" dirty="0" err="1"/>
                        <a:t>0,75JT</a:t>
                      </a:r>
                      <a:endParaRPr lang="es-PE" sz="2400" dirty="0">
                        <a:effectLst/>
                        <a:latin typeface="Arial Narrow" pitchFamily="34" charset="0"/>
                        <a:ea typeface="Calibri"/>
                      </a:endParaRPr>
                    </a:p>
                  </a:txBody>
                  <a:tcPr marL="33338" marR="33338" marT="0" marB="0"/>
                </a:tc>
                <a:extLst>
                  <a:ext uri="{0D108BD9-81ED-4DB2-BD59-A6C34878D82A}">
                    <a16:rowId xmlns:a16="http://schemas.microsoft.com/office/drawing/2014/main" val="10002"/>
                  </a:ext>
                </a:extLst>
              </a:tr>
            </a:tbl>
          </a:graphicData>
        </a:graphic>
      </p:graphicFrame>
      <p:sp>
        <p:nvSpPr>
          <p:cNvPr id="5" name="4 CuadroTexto"/>
          <p:cNvSpPr txBox="1"/>
          <p:nvPr/>
        </p:nvSpPr>
        <p:spPr>
          <a:xfrm>
            <a:off x="1114694" y="3514897"/>
            <a:ext cx="3381008" cy="830997"/>
          </a:xfrm>
          <a:prstGeom prst="rect">
            <a:avLst/>
          </a:prstGeom>
          <a:solidFill>
            <a:schemeClr val="bg2">
              <a:lumMod val="90000"/>
            </a:schemeClr>
          </a:solidFill>
        </p:spPr>
        <p:txBody>
          <a:bodyPr wrap="square" rtlCol="0">
            <a:spAutoFit/>
          </a:bodyPr>
          <a:lstStyle/>
          <a:p>
            <a:r>
              <a:rPr lang="es-PE" sz="2400" dirty="0">
                <a:latin typeface="Arial Narrow" pitchFamily="34" charset="0"/>
              </a:rPr>
              <a:t>Ingreso = (0,70)(6)=4.2</a:t>
            </a:r>
          </a:p>
          <a:p>
            <a:r>
              <a:rPr lang="es-ES" sz="2400" dirty="0">
                <a:latin typeface="Arial Narrow" pitchFamily="34" charset="0"/>
              </a:rPr>
              <a:t>Utilidad = 4.2- 1.5=2,7 $/gal</a:t>
            </a:r>
            <a:endParaRPr lang="es-PE" sz="2400" dirty="0">
              <a:latin typeface="Arial Narrow" pitchFamily="34" charset="0"/>
            </a:endParaRPr>
          </a:p>
        </p:txBody>
      </p:sp>
      <p:sp>
        <p:nvSpPr>
          <p:cNvPr id="8" name="7 CuadroTexto"/>
          <p:cNvSpPr txBox="1"/>
          <p:nvPr/>
        </p:nvSpPr>
        <p:spPr>
          <a:xfrm>
            <a:off x="1114694" y="4495748"/>
            <a:ext cx="3381008" cy="830997"/>
          </a:xfrm>
          <a:prstGeom prst="rect">
            <a:avLst/>
          </a:prstGeom>
          <a:solidFill>
            <a:schemeClr val="bg2">
              <a:lumMod val="90000"/>
            </a:schemeClr>
          </a:solidFill>
        </p:spPr>
        <p:txBody>
          <a:bodyPr wrap="square" rtlCol="0">
            <a:spAutoFit/>
          </a:bodyPr>
          <a:lstStyle>
            <a:defPPr>
              <a:defRPr lang="es-ES"/>
            </a:defPPr>
            <a:lvl1pPr>
              <a:defRPr sz="2000">
                <a:latin typeface="Arial Narrow" pitchFamily="34" charset="0"/>
              </a:defRPr>
            </a:lvl1pPr>
          </a:lstStyle>
          <a:p>
            <a:r>
              <a:rPr lang="es-PE" sz="2400" dirty="0"/>
              <a:t>Ingreso=(0,75)(8)=6,0</a:t>
            </a:r>
          </a:p>
          <a:p>
            <a:r>
              <a:rPr lang="es-ES" sz="2400" dirty="0"/>
              <a:t>Utilidad=6,0- 2.0=4 $/gal</a:t>
            </a:r>
            <a:endParaRPr lang="es-PE" sz="2400" dirty="0"/>
          </a:p>
        </p:txBody>
      </p:sp>
      <p:sp>
        <p:nvSpPr>
          <p:cNvPr id="3" name="2 Cilindro"/>
          <p:cNvSpPr/>
          <p:nvPr/>
        </p:nvSpPr>
        <p:spPr>
          <a:xfrm>
            <a:off x="8099865" y="3501008"/>
            <a:ext cx="2376264" cy="71195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8 Cilindro"/>
          <p:cNvSpPr/>
          <p:nvPr/>
        </p:nvSpPr>
        <p:spPr>
          <a:xfrm>
            <a:off x="8099864" y="4380465"/>
            <a:ext cx="2376271" cy="71195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10" name="9 CuadroTexto"/>
          <p:cNvSpPr txBox="1"/>
          <p:nvPr/>
        </p:nvSpPr>
        <p:spPr>
          <a:xfrm>
            <a:off x="8263407" y="3724790"/>
            <a:ext cx="1901817" cy="461665"/>
          </a:xfrm>
          <a:prstGeom prst="rect">
            <a:avLst/>
          </a:prstGeom>
          <a:noFill/>
        </p:spPr>
        <p:txBody>
          <a:bodyPr wrap="square" rtlCol="0">
            <a:spAutoFit/>
          </a:bodyPr>
          <a:lstStyle/>
          <a:p>
            <a:pPr algn="ctr"/>
            <a:r>
              <a:rPr lang="es-ES" sz="2400" dirty="0" err="1"/>
              <a:t>CN</a:t>
            </a:r>
            <a:r>
              <a:rPr lang="es-ES" sz="2400" dirty="0"/>
              <a:t>&lt;1000 gal</a:t>
            </a:r>
            <a:endParaRPr lang="es-PE" sz="2400" dirty="0"/>
          </a:p>
        </p:txBody>
      </p:sp>
      <p:sp>
        <p:nvSpPr>
          <p:cNvPr id="12" name="11 CuadroTexto"/>
          <p:cNvSpPr txBox="1"/>
          <p:nvPr/>
        </p:nvSpPr>
        <p:spPr>
          <a:xfrm>
            <a:off x="8337088" y="4588691"/>
            <a:ext cx="1901817" cy="461665"/>
          </a:xfrm>
          <a:prstGeom prst="rect">
            <a:avLst/>
          </a:prstGeom>
          <a:noFill/>
        </p:spPr>
        <p:txBody>
          <a:bodyPr wrap="square" rtlCol="0">
            <a:spAutoFit/>
          </a:bodyPr>
          <a:lstStyle/>
          <a:p>
            <a:pPr algn="ctr"/>
            <a:r>
              <a:rPr lang="es-ES" sz="2400" dirty="0" err="1"/>
              <a:t>CT</a:t>
            </a:r>
            <a:r>
              <a:rPr lang="es-ES" sz="2400" dirty="0"/>
              <a:t>&lt;1000 gal</a:t>
            </a:r>
            <a:endParaRPr lang="es-PE" sz="2400" dirty="0"/>
          </a:p>
        </p:txBody>
      </p:sp>
      <p:sp>
        <p:nvSpPr>
          <p:cNvPr id="13" name="12 CuadroTexto"/>
          <p:cNvSpPr txBox="1"/>
          <p:nvPr/>
        </p:nvSpPr>
        <p:spPr>
          <a:xfrm>
            <a:off x="699977" y="5651906"/>
            <a:ext cx="5335063" cy="830997"/>
          </a:xfrm>
          <a:prstGeom prst="rect">
            <a:avLst/>
          </a:prstGeom>
          <a:solidFill>
            <a:schemeClr val="accent5">
              <a:lumMod val="20000"/>
              <a:lumOff val="80000"/>
            </a:schemeClr>
          </a:solidFill>
        </p:spPr>
        <p:txBody>
          <a:bodyPr wrap="square" rtlCol="0">
            <a:spAutoFit/>
          </a:bodyPr>
          <a:lstStyle/>
          <a:p>
            <a:r>
              <a:rPr lang="es-ES" sz="2400" dirty="0" err="1"/>
              <a:t>25gal</a:t>
            </a:r>
            <a:r>
              <a:rPr lang="es-ES" sz="2400" dirty="0"/>
              <a:t>---------------</a:t>
            </a:r>
            <a:r>
              <a:rPr lang="es-ES" sz="2400" dirty="0" err="1"/>
              <a:t>1h</a:t>
            </a:r>
            <a:endParaRPr lang="es-ES" sz="2400" dirty="0"/>
          </a:p>
          <a:p>
            <a:r>
              <a:rPr lang="es-ES" sz="2400" dirty="0"/>
              <a:t>1 gal----------------x h     x=1/25 =</a:t>
            </a:r>
            <a:r>
              <a:rPr lang="es-ES" sz="2400" dirty="0">
                <a:solidFill>
                  <a:srgbClr val="FF0000"/>
                </a:solidFill>
              </a:rPr>
              <a:t>0,04</a:t>
            </a:r>
            <a:r>
              <a:rPr lang="es-ES" sz="2400" dirty="0"/>
              <a:t> h/gal</a:t>
            </a:r>
            <a:endParaRPr lang="es-PE" sz="2400" dirty="0"/>
          </a:p>
        </p:txBody>
      </p:sp>
      <p:sp>
        <p:nvSpPr>
          <p:cNvPr id="14" name="13 CuadroTexto"/>
          <p:cNvSpPr txBox="1"/>
          <p:nvPr/>
        </p:nvSpPr>
        <p:spPr>
          <a:xfrm>
            <a:off x="6251459" y="5657671"/>
            <a:ext cx="5139351" cy="830997"/>
          </a:xfrm>
          <a:prstGeom prst="rect">
            <a:avLst/>
          </a:prstGeom>
          <a:solidFill>
            <a:schemeClr val="accent5">
              <a:lumMod val="20000"/>
              <a:lumOff val="80000"/>
            </a:schemeClr>
          </a:solidFill>
        </p:spPr>
        <p:txBody>
          <a:bodyPr wrap="square" rtlCol="0">
            <a:spAutoFit/>
          </a:bodyPr>
          <a:lstStyle/>
          <a:p>
            <a:r>
              <a:rPr lang="es-ES" sz="2400" dirty="0" err="1"/>
              <a:t>20gal</a:t>
            </a:r>
            <a:r>
              <a:rPr lang="es-ES" sz="2400" dirty="0"/>
              <a:t>---------------</a:t>
            </a:r>
            <a:r>
              <a:rPr lang="es-ES" sz="2400" dirty="0" err="1"/>
              <a:t>1h</a:t>
            </a:r>
            <a:endParaRPr lang="es-ES" sz="2400" dirty="0"/>
          </a:p>
          <a:p>
            <a:r>
              <a:rPr lang="es-ES" sz="2400" dirty="0"/>
              <a:t>1 gal----------------x h   x=1/20 =</a:t>
            </a:r>
            <a:r>
              <a:rPr lang="es-ES" sz="2400" dirty="0">
                <a:solidFill>
                  <a:srgbClr val="FF0000"/>
                </a:solidFill>
              </a:rPr>
              <a:t>0,05</a:t>
            </a:r>
            <a:r>
              <a:rPr lang="es-ES" sz="2400" dirty="0"/>
              <a:t> h/gal</a:t>
            </a:r>
            <a:endParaRPr lang="es-PE" sz="2400" dirty="0"/>
          </a:p>
        </p:txBody>
      </p:sp>
      <p:sp>
        <p:nvSpPr>
          <p:cNvPr id="15" name="14 Proceso alternativo"/>
          <p:cNvSpPr/>
          <p:nvPr/>
        </p:nvSpPr>
        <p:spPr>
          <a:xfrm>
            <a:off x="5088024" y="3501008"/>
            <a:ext cx="1944080" cy="172298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dirty="0"/>
              <a:t>MAQUINA</a:t>
            </a:r>
          </a:p>
        </p:txBody>
      </p:sp>
      <p:sp>
        <p:nvSpPr>
          <p:cNvPr id="16" name="15 Flecha derecha"/>
          <p:cNvSpPr/>
          <p:nvPr/>
        </p:nvSpPr>
        <p:spPr>
          <a:xfrm>
            <a:off x="7199377" y="3510350"/>
            <a:ext cx="676202"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17" name="16 Flecha derecha"/>
          <p:cNvSpPr/>
          <p:nvPr/>
        </p:nvSpPr>
        <p:spPr>
          <a:xfrm>
            <a:off x="7199372" y="4581128"/>
            <a:ext cx="676202"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400"/>
          </a:p>
        </p:txBody>
      </p:sp>
      <p:sp>
        <p:nvSpPr>
          <p:cNvPr id="18" name="1 Título">
            <a:extLst>
              <a:ext uri="{FF2B5EF4-FFF2-40B4-BE49-F238E27FC236}">
                <a16:creationId xmlns:a16="http://schemas.microsoft.com/office/drawing/2014/main" id="{58F47A52-5DD1-4026-BA75-EA08BD5D51B2}"/>
              </a:ext>
            </a:extLst>
          </p:cNvPr>
          <p:cNvSpPr txBox="1">
            <a:spLocks/>
          </p:cNvSpPr>
          <p:nvPr/>
        </p:nvSpPr>
        <p:spPr>
          <a:xfrm>
            <a:off x="6096000" y="228171"/>
            <a:ext cx="6096000" cy="490066"/>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PE" sz="3200">
                <a:solidFill>
                  <a:schemeClr val="bg1"/>
                </a:solidFill>
                <a:latin typeface="Bauhaus 93" pitchFamily="82" charset="0"/>
                <a:ea typeface="+mn-ea"/>
                <a:cs typeface="+mn-cs"/>
              </a:rPr>
              <a:t>Solución</a:t>
            </a:r>
            <a:endParaRPr lang="es-PE" sz="3200" dirty="0">
              <a:solidFill>
                <a:schemeClr val="bg1"/>
              </a:solidFill>
              <a:latin typeface="Bauhaus 93" pitchFamily="82" charset="0"/>
              <a:ea typeface="+mn-ea"/>
              <a:cs typeface="+mn-cs"/>
            </a:endParaRPr>
          </a:p>
        </p:txBody>
      </p:sp>
      <p:graphicFrame>
        <p:nvGraphicFramePr>
          <p:cNvPr id="2" name="Tabla 1">
            <a:extLst>
              <a:ext uri="{FF2B5EF4-FFF2-40B4-BE49-F238E27FC236}">
                <a16:creationId xmlns:a16="http://schemas.microsoft.com/office/drawing/2014/main" id="{02A0D348-B210-FE4E-0B24-3EEAB9762F76}"/>
              </a:ext>
            </a:extLst>
          </p:cNvPr>
          <p:cNvGraphicFramePr>
            <a:graphicFrameLocks noGrp="1"/>
          </p:cNvGraphicFramePr>
          <p:nvPr>
            <p:extLst>
              <p:ext uri="{D42A27DB-BD31-4B8C-83A1-F6EECF244321}">
                <p14:modId xmlns:p14="http://schemas.microsoft.com/office/powerpoint/2010/main" val="997619780"/>
              </p:ext>
            </p:extLst>
          </p:nvPr>
        </p:nvGraphicFramePr>
        <p:xfrm>
          <a:off x="9413775" y="1449024"/>
          <a:ext cx="1977035" cy="1673460"/>
        </p:xfrm>
        <a:graphic>
          <a:graphicData uri="http://schemas.openxmlformats.org/drawingml/2006/table">
            <a:tbl>
              <a:tblPr>
                <a:tableStyleId>{5C22544A-7EE6-4342-B048-85BDC9FD1C3A}</a:tableStyleId>
              </a:tblPr>
              <a:tblGrid>
                <a:gridCol w="1977035">
                  <a:extLst>
                    <a:ext uri="{9D8B030D-6E8A-4147-A177-3AD203B41FA5}">
                      <a16:colId xmlns:a16="http://schemas.microsoft.com/office/drawing/2014/main" val="1268803894"/>
                    </a:ext>
                  </a:extLst>
                </a:gridCol>
              </a:tblGrid>
              <a:tr h="605448">
                <a:tc>
                  <a:txBody>
                    <a:bodyPr/>
                    <a:lstStyle/>
                    <a:p>
                      <a:pPr algn="ctr">
                        <a:spcAft>
                          <a:spcPts val="0"/>
                        </a:spcAft>
                      </a:pPr>
                      <a:r>
                        <a:rPr lang="es-PE" sz="2400" dirty="0">
                          <a:effectLst/>
                          <a:latin typeface="Arial Narrow" pitchFamily="34" charset="0"/>
                        </a:rPr>
                        <a:t>Tiempo</a:t>
                      </a:r>
                      <a:endParaRPr lang="es-PE" sz="2400" dirty="0">
                        <a:effectLst/>
                        <a:latin typeface="Arial Narrow" pitchFamily="34" charset="0"/>
                        <a:ea typeface="Calibri"/>
                      </a:endParaRPr>
                    </a:p>
                  </a:txBody>
                  <a:tcPr marL="33338" marR="33338" marT="0" marB="0"/>
                </a:tc>
                <a:extLst>
                  <a:ext uri="{0D108BD9-81ED-4DB2-BD59-A6C34878D82A}">
                    <a16:rowId xmlns:a16="http://schemas.microsoft.com/office/drawing/2014/main" val="2658395215"/>
                  </a:ext>
                </a:extLst>
              </a:tr>
              <a:tr h="534006">
                <a:tc>
                  <a:txBody>
                    <a:bodyPr/>
                    <a:lstStyle/>
                    <a:p>
                      <a:pPr algn="ctr">
                        <a:spcAft>
                          <a:spcPts val="0"/>
                        </a:spcAft>
                      </a:pPr>
                      <a:r>
                        <a:rPr lang="es-PE" sz="2400" dirty="0">
                          <a:solidFill>
                            <a:srgbClr val="FF0000"/>
                          </a:solidFill>
                          <a:effectLst/>
                          <a:latin typeface="Arial Narrow" pitchFamily="34" charset="0"/>
                        </a:rPr>
                        <a:t>0.04</a:t>
                      </a:r>
                      <a:r>
                        <a:rPr lang="es-PE" sz="2400" dirty="0">
                          <a:effectLst/>
                          <a:latin typeface="Arial Narrow" pitchFamily="34" charset="0"/>
                        </a:rPr>
                        <a:t> h /gal</a:t>
                      </a:r>
                      <a:endParaRPr lang="es-PE" sz="2400" dirty="0">
                        <a:effectLst/>
                        <a:latin typeface="Arial Narrow" pitchFamily="34" charset="0"/>
                        <a:ea typeface="Calibri"/>
                      </a:endParaRPr>
                    </a:p>
                  </a:txBody>
                  <a:tcPr marL="33338" marR="33338" marT="0" marB="0"/>
                </a:tc>
                <a:extLst>
                  <a:ext uri="{0D108BD9-81ED-4DB2-BD59-A6C34878D82A}">
                    <a16:rowId xmlns:a16="http://schemas.microsoft.com/office/drawing/2014/main" val="2581056312"/>
                  </a:ext>
                </a:extLst>
              </a:tr>
              <a:tr h="534006">
                <a:tc>
                  <a:txBody>
                    <a:bodyPr/>
                    <a:lstStyle/>
                    <a:p>
                      <a:pPr algn="ctr">
                        <a:spcAft>
                          <a:spcPts val="0"/>
                        </a:spcAft>
                      </a:pPr>
                      <a:r>
                        <a:rPr lang="es-PE" sz="2400" dirty="0">
                          <a:solidFill>
                            <a:srgbClr val="FF0000"/>
                          </a:solidFill>
                          <a:effectLst/>
                          <a:latin typeface="Arial Narrow" pitchFamily="34" charset="0"/>
                        </a:rPr>
                        <a:t>0.05</a:t>
                      </a:r>
                      <a:r>
                        <a:rPr lang="es-PE" sz="2400" dirty="0">
                          <a:effectLst/>
                          <a:latin typeface="Arial Narrow" pitchFamily="34" charset="0"/>
                        </a:rPr>
                        <a:t> h /gal</a:t>
                      </a:r>
                      <a:endParaRPr lang="es-PE" sz="2400" dirty="0">
                        <a:effectLst/>
                        <a:latin typeface="Arial Narrow" pitchFamily="34" charset="0"/>
                        <a:ea typeface="Calibri"/>
                      </a:endParaRPr>
                    </a:p>
                  </a:txBody>
                  <a:tcPr marL="33338" marR="33338" marT="0" marB="0"/>
                </a:tc>
                <a:extLst>
                  <a:ext uri="{0D108BD9-81ED-4DB2-BD59-A6C34878D82A}">
                    <a16:rowId xmlns:a16="http://schemas.microsoft.com/office/drawing/2014/main" val="2180770604"/>
                  </a:ext>
                </a:extLst>
              </a:tr>
            </a:tbl>
          </a:graphicData>
        </a:graphic>
      </p:graphicFrame>
    </p:spTree>
    <p:extLst>
      <p:ext uri="{BB962C8B-B14F-4D97-AF65-F5344CB8AC3E}">
        <p14:creationId xmlns:p14="http://schemas.microsoft.com/office/powerpoint/2010/main" val="229385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3" grpId="0" animBg="1"/>
      <p:bldP spid="9" grpId="0" animBg="1"/>
      <p:bldP spid="10" grpId="0"/>
      <p:bldP spid="12" grpId="0"/>
      <p:bldP spid="13" grpId="0" animBg="1"/>
      <p:bldP spid="14" grpId="0" animBg="1"/>
      <p:bldP spid="15"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096000" y="228171"/>
            <a:ext cx="6096000" cy="490066"/>
          </a:xfrm>
          <a:noFill/>
          <a:ln w="9525">
            <a:noFill/>
            <a:miter lim="800000"/>
            <a:headEnd/>
            <a:tailEnd/>
          </a:ln>
          <a:effectLst/>
        </p:spPr>
        <p:txBody>
          <a:bodyPr vert="horz" wrap="square" lIns="68580" tIns="34290" rIns="68580" bIns="34290" numCol="1" anchor="ctr" anchorCtr="0" compatLnSpc="1">
            <a:prstTxWarp prst="textNoShape">
              <a:avLst/>
            </a:prstTxWarp>
          </a:bodyPr>
          <a:lstStyle/>
          <a:p>
            <a:pPr algn="ctr" fontAlgn="base">
              <a:spcAft>
                <a:spcPct val="0"/>
              </a:spcAft>
            </a:pPr>
            <a:r>
              <a:rPr lang="es-PE" sz="3200" dirty="0">
                <a:solidFill>
                  <a:schemeClr val="bg1"/>
                </a:solidFill>
                <a:latin typeface="Bauhaus 93" pitchFamily="82" charset="0"/>
                <a:ea typeface="+mn-ea"/>
                <a:cs typeface="+mn-cs"/>
              </a:rPr>
              <a:t>Solución</a:t>
            </a:r>
          </a:p>
        </p:txBody>
      </p:sp>
      <p:sp>
        <p:nvSpPr>
          <p:cNvPr id="4" name="Rectangle 1">
            <a:extLst>
              <a:ext uri="{FF2B5EF4-FFF2-40B4-BE49-F238E27FC236}">
                <a16:creationId xmlns:a16="http://schemas.microsoft.com/office/drawing/2014/main" id="{86C30F83-518C-423F-A132-B2A355CA9A87}"/>
              </a:ext>
            </a:extLst>
          </p:cNvPr>
          <p:cNvSpPr>
            <a:spLocks noChangeArrowheads="1"/>
          </p:cNvSpPr>
          <p:nvPr/>
        </p:nvSpPr>
        <p:spPr bwMode="auto">
          <a:xfrm>
            <a:off x="327813" y="1633021"/>
            <a:ext cx="725480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     Identificación de variables</a:t>
            </a:r>
            <a:endParaRPr lang="es-PE" sz="2400" dirty="0">
              <a:solidFill>
                <a:srgbClr val="FF0000"/>
              </a:solidFill>
              <a:latin typeface="Arial Narrow" pitchFamily="34" charset="0"/>
              <a:cs typeface="Arial" pitchFamily="34" charset="0"/>
            </a:endParaRPr>
          </a:p>
          <a:p>
            <a:pPr lvl="0"/>
            <a:r>
              <a:rPr lang="es-PE" sz="2400" dirty="0">
                <a:solidFill>
                  <a:srgbClr val="FF0000"/>
                </a:solidFill>
                <a:latin typeface="Arial Narrow" pitchFamily="34" charset="0"/>
                <a:ea typeface="Calibri" pitchFamily="34" charset="0"/>
                <a:cs typeface="Arial" panose="020B0604020202020204" pitchFamily="34" charset="0"/>
              </a:rPr>
              <a:t>       </a:t>
            </a:r>
            <a:r>
              <a:rPr lang="es-PE" sz="2400" dirty="0" err="1">
                <a:latin typeface="Arial Narrow" pitchFamily="34" charset="0"/>
              </a:rPr>
              <a:t>JN</a:t>
            </a:r>
            <a:r>
              <a:rPr lang="es-PE" sz="2400" dirty="0">
                <a:latin typeface="Arial Narrow" pitchFamily="34" charset="0"/>
              </a:rPr>
              <a:t> = El número de galones de jugo de naranja por utilizar.</a:t>
            </a:r>
            <a:endParaRPr lang="es-ES" sz="2400" dirty="0">
              <a:latin typeface="Arial Narrow" pitchFamily="34" charset="0"/>
            </a:endParaRPr>
          </a:p>
          <a:p>
            <a:pPr lvl="0"/>
            <a:r>
              <a:rPr lang="es-PE" sz="2400" dirty="0">
                <a:latin typeface="Arial Narrow" pitchFamily="34" charset="0"/>
              </a:rPr>
              <a:t>       </a:t>
            </a:r>
            <a:r>
              <a:rPr lang="es-PE" sz="2400" dirty="0" err="1">
                <a:latin typeface="Arial Narrow" pitchFamily="34" charset="0"/>
              </a:rPr>
              <a:t>JT</a:t>
            </a:r>
            <a:r>
              <a:rPr lang="es-PE" sz="2400" dirty="0">
                <a:latin typeface="Arial Narrow" pitchFamily="34" charset="0"/>
              </a:rPr>
              <a:t> = El número de galones de jugo de toronja por utilizar.</a:t>
            </a:r>
            <a:endParaRPr lang="es-ES" sz="2400" dirty="0">
              <a:latin typeface="Arial Narrow" pitchFamily="34" charset="0"/>
            </a:endParaRPr>
          </a:p>
          <a:p>
            <a:pPr lvl="0"/>
            <a:r>
              <a:rPr lang="es-PE" sz="2400"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400" dirty="0">
              <a:solidFill>
                <a:srgbClr val="FF0000"/>
              </a:solidFill>
              <a:latin typeface="Arial Narrow" pitchFamily="34" charset="0"/>
              <a:cs typeface="Arial" pitchFamily="34" charset="0"/>
            </a:endParaRPr>
          </a:p>
          <a:p>
            <a:pPr lvl="0"/>
            <a:r>
              <a:rPr lang="es-PE" sz="2400" dirty="0">
                <a:solidFill>
                  <a:srgbClr val="FF0000"/>
                </a:solidFill>
                <a:latin typeface="Arial Narrow" pitchFamily="34" charset="0"/>
                <a:ea typeface="Calibri" pitchFamily="34" charset="0"/>
                <a:cs typeface="Arial" panose="020B0604020202020204" pitchFamily="34" charset="0"/>
              </a:rPr>
              <a:t>       </a:t>
            </a:r>
            <a:r>
              <a:rPr lang="es-PE" sz="2400" dirty="0">
                <a:latin typeface="Arial Narrow" pitchFamily="34" charset="0"/>
              </a:rPr>
              <a:t>MAX </a:t>
            </a:r>
            <a:r>
              <a:rPr lang="es-PE" sz="2400" dirty="0" err="1">
                <a:latin typeface="Arial Narrow" pitchFamily="34" charset="0"/>
              </a:rPr>
              <a:t>2.7JN</a:t>
            </a:r>
            <a:r>
              <a:rPr lang="es-PE" sz="2400" dirty="0">
                <a:latin typeface="Arial Narrow" pitchFamily="34" charset="0"/>
              </a:rPr>
              <a:t> + </a:t>
            </a:r>
            <a:r>
              <a:rPr lang="es-PE" sz="2400" dirty="0" err="1">
                <a:latin typeface="Arial Narrow" pitchFamily="34" charset="0"/>
              </a:rPr>
              <a:t>4JT</a:t>
            </a:r>
            <a:endParaRPr lang="es-ES" sz="2400" dirty="0">
              <a:latin typeface="Arial Narrow" pitchFamily="34" charset="0"/>
            </a:endParaRPr>
          </a:p>
          <a:p>
            <a:pPr algn="just" eaLnBrk="0" fontAlgn="base" hangingPunct="0">
              <a:spcBef>
                <a:spcPct val="0"/>
              </a:spcBef>
              <a:spcAft>
                <a:spcPct val="0"/>
              </a:spcAft>
            </a:pPr>
            <a:r>
              <a:rPr lang="es-PE" sz="2400" dirty="0">
                <a:solidFill>
                  <a:srgbClr val="FF0000"/>
                </a:solidFill>
                <a:latin typeface="Arial Narrow" pitchFamily="34" charset="0"/>
                <a:ea typeface="Calibri" pitchFamily="34" charset="0"/>
                <a:cs typeface="Arial" panose="020B0604020202020204" pitchFamily="34" charset="0"/>
              </a:rPr>
              <a:t>III.   Identificación de las restricciones</a:t>
            </a:r>
          </a:p>
          <a:p>
            <a:pPr lvl="0"/>
            <a:r>
              <a:rPr lang="es-PE" sz="2400" b="1" dirty="0">
                <a:solidFill>
                  <a:srgbClr val="FF0000"/>
                </a:solidFill>
                <a:latin typeface="Arial Narrow" pitchFamily="34" charset="0"/>
                <a:cs typeface="Arial" pitchFamily="34" charset="0"/>
              </a:rPr>
              <a:t>       </a:t>
            </a:r>
            <a:r>
              <a:rPr lang="es-PE" sz="2400" dirty="0" err="1">
                <a:latin typeface="Arial Narrow" pitchFamily="34" charset="0"/>
              </a:rPr>
              <a:t>0.04JN+0.05JT</a:t>
            </a:r>
            <a:r>
              <a:rPr lang="es-PE" sz="2400" dirty="0">
                <a:latin typeface="Arial Narrow" pitchFamily="34" charset="0"/>
              </a:rPr>
              <a:t> ≤150         !Respecto al tiempo</a:t>
            </a:r>
            <a:endParaRPr lang="es-ES" sz="2400" dirty="0">
              <a:latin typeface="Arial Narrow" pitchFamily="34" charset="0"/>
            </a:endParaRPr>
          </a:p>
          <a:p>
            <a:pPr lvl="0"/>
            <a:r>
              <a:rPr lang="es-PE" sz="2400" dirty="0">
                <a:latin typeface="Arial Narrow" pitchFamily="34" charset="0"/>
              </a:rPr>
              <a:t>       </a:t>
            </a:r>
            <a:r>
              <a:rPr lang="es-PE" sz="2400" dirty="0" err="1">
                <a:latin typeface="Arial Narrow" pitchFamily="34" charset="0"/>
              </a:rPr>
              <a:t>0.70JN</a:t>
            </a:r>
            <a:r>
              <a:rPr lang="es-PE" sz="2400" dirty="0">
                <a:latin typeface="Arial Narrow" pitchFamily="34" charset="0"/>
              </a:rPr>
              <a:t>	≤1000	           !Respecto a la disponibilidad</a:t>
            </a:r>
            <a:endParaRPr lang="es-ES" sz="2400" dirty="0">
              <a:latin typeface="Arial Narrow" pitchFamily="34" charset="0"/>
            </a:endParaRPr>
          </a:p>
          <a:p>
            <a:pPr lvl="0"/>
            <a:r>
              <a:rPr lang="es-PE" sz="2400" dirty="0">
                <a:latin typeface="Arial Narrow" pitchFamily="34" charset="0"/>
              </a:rPr>
              <a:t>       </a:t>
            </a:r>
            <a:r>
              <a:rPr lang="es-PE" sz="2400" dirty="0" err="1">
                <a:latin typeface="Arial Narrow" pitchFamily="34" charset="0"/>
              </a:rPr>
              <a:t>0.75JT</a:t>
            </a:r>
            <a:r>
              <a:rPr lang="es-PE" sz="2400" dirty="0">
                <a:latin typeface="Arial Narrow" pitchFamily="34" charset="0"/>
              </a:rPr>
              <a:t>	≤1000	           !Respecto a la disponibilidad</a:t>
            </a:r>
            <a:endParaRPr lang="es-ES" sz="2400" dirty="0">
              <a:latin typeface="Arial Narrow" pitchFamily="34" charset="0"/>
            </a:endParaRPr>
          </a:p>
          <a:p>
            <a:pPr lvl="0"/>
            <a:r>
              <a:rPr lang="es-PE" sz="2400" dirty="0">
                <a:latin typeface="Arial Narrow" pitchFamily="34" charset="0"/>
              </a:rPr>
              <a:t>        </a:t>
            </a:r>
            <a:r>
              <a:rPr lang="es-PE" sz="2400" dirty="0" err="1">
                <a:latin typeface="Arial Narrow" pitchFamily="34" charset="0"/>
              </a:rPr>
              <a:t>JN</a:t>
            </a:r>
            <a:r>
              <a:rPr lang="es-PE" sz="2400" dirty="0">
                <a:latin typeface="Arial Narrow" pitchFamily="34" charset="0"/>
              </a:rPr>
              <a:t>, </a:t>
            </a:r>
            <a:r>
              <a:rPr lang="es-PE" sz="2400" dirty="0" err="1">
                <a:latin typeface="Arial Narrow" pitchFamily="34" charset="0"/>
              </a:rPr>
              <a:t>JT</a:t>
            </a:r>
            <a:r>
              <a:rPr lang="es-PE" sz="2400" dirty="0">
                <a:latin typeface="Arial Narrow" pitchFamily="34" charset="0"/>
              </a:rPr>
              <a:t>	≥0	           ! Restricción de no negatividad</a:t>
            </a:r>
            <a:endParaRPr lang="es-ES" sz="2400" dirty="0">
              <a:latin typeface="Arial Narrow" pitchFamily="34" charset="0"/>
            </a:endParaRPr>
          </a:p>
          <a:p>
            <a:pPr algn="just"/>
            <a:endParaRPr lang="es-PE" sz="2400" b="1" dirty="0">
              <a:solidFill>
                <a:srgbClr val="FF0000"/>
              </a:solidFill>
              <a:latin typeface="Arial Narrow" pitchFamily="34" charset="0"/>
              <a:cs typeface="Arial" pitchFamily="34" charset="0"/>
            </a:endParaRPr>
          </a:p>
        </p:txBody>
      </p:sp>
      <p:sp>
        <p:nvSpPr>
          <p:cNvPr id="5" name="4 Rectángulo">
            <a:extLst>
              <a:ext uri="{FF2B5EF4-FFF2-40B4-BE49-F238E27FC236}">
                <a16:creationId xmlns:a16="http://schemas.microsoft.com/office/drawing/2014/main" id="{747B03E7-0A24-48DD-BC73-73775320E101}"/>
              </a:ext>
            </a:extLst>
          </p:cNvPr>
          <p:cNvSpPr/>
          <p:nvPr/>
        </p:nvSpPr>
        <p:spPr>
          <a:xfrm>
            <a:off x="7875917" y="1663296"/>
            <a:ext cx="3854311" cy="1938992"/>
          </a:xfrm>
          <a:prstGeom prst="rect">
            <a:avLst/>
          </a:prstGeom>
          <a:solidFill>
            <a:srgbClr val="FFFF00"/>
          </a:solidFill>
        </p:spPr>
        <p:txBody>
          <a:bodyPr wrap="square">
            <a:spAutoFit/>
          </a:bodyPr>
          <a:lstStyle/>
          <a:p>
            <a:pPr lvl="0"/>
            <a:r>
              <a:rPr lang="es-PE" sz="2400" dirty="0"/>
              <a:t>MAX </a:t>
            </a:r>
            <a:r>
              <a:rPr lang="es-PE" sz="2400" dirty="0" err="1"/>
              <a:t>2.7JN</a:t>
            </a:r>
            <a:r>
              <a:rPr lang="es-PE" sz="2400" dirty="0"/>
              <a:t> + </a:t>
            </a:r>
            <a:r>
              <a:rPr lang="es-PE" sz="2400" dirty="0" err="1"/>
              <a:t>4JT</a:t>
            </a:r>
            <a:endParaRPr lang="es-ES" sz="2400" dirty="0"/>
          </a:p>
          <a:p>
            <a:r>
              <a:rPr lang="es-ES" sz="2400" dirty="0" err="1"/>
              <a:t>ST</a:t>
            </a:r>
            <a:endParaRPr lang="es-ES" sz="2400" dirty="0"/>
          </a:p>
          <a:p>
            <a:pPr lvl="0"/>
            <a:r>
              <a:rPr lang="es-PE" sz="2400" dirty="0" err="1"/>
              <a:t>0.04JN</a:t>
            </a:r>
            <a:r>
              <a:rPr lang="es-PE" sz="2400" dirty="0"/>
              <a:t> + </a:t>
            </a:r>
            <a:r>
              <a:rPr lang="es-PE" sz="2400" dirty="0" err="1"/>
              <a:t>0.05JT</a:t>
            </a:r>
            <a:r>
              <a:rPr lang="es-PE" sz="2400" dirty="0"/>
              <a:t> &lt;=150</a:t>
            </a:r>
          </a:p>
          <a:p>
            <a:pPr lvl="0"/>
            <a:r>
              <a:rPr lang="es-PE" sz="2400" dirty="0" err="1"/>
              <a:t>0.70JN</a:t>
            </a:r>
            <a:r>
              <a:rPr lang="es-PE" sz="2400" dirty="0"/>
              <a:t>	   &lt;=1000</a:t>
            </a:r>
          </a:p>
          <a:p>
            <a:pPr lvl="0"/>
            <a:r>
              <a:rPr lang="es-PE" sz="2400" dirty="0" err="1"/>
              <a:t>0.75JT</a:t>
            </a:r>
            <a:r>
              <a:rPr lang="es-PE" sz="2400" dirty="0"/>
              <a:t>	   &lt;=1000</a:t>
            </a:r>
          </a:p>
        </p:txBody>
      </p:sp>
      <p:sp>
        <p:nvSpPr>
          <p:cNvPr id="7" name="3 Rectángulo">
            <a:extLst>
              <a:ext uri="{FF2B5EF4-FFF2-40B4-BE49-F238E27FC236}">
                <a16:creationId xmlns:a16="http://schemas.microsoft.com/office/drawing/2014/main" id="{CF5C9809-FE18-4610-B132-D15B8E858D6D}"/>
              </a:ext>
            </a:extLst>
          </p:cNvPr>
          <p:cNvSpPr/>
          <p:nvPr/>
        </p:nvSpPr>
        <p:spPr>
          <a:xfrm>
            <a:off x="7875916" y="4121824"/>
            <a:ext cx="4316084" cy="1323439"/>
          </a:xfrm>
          <a:prstGeom prst="rect">
            <a:avLst/>
          </a:prstGeom>
          <a:solidFill>
            <a:schemeClr val="accent4">
              <a:lumMod val="40000"/>
              <a:lumOff val="60000"/>
            </a:schemeClr>
          </a:solidFill>
        </p:spPr>
        <p:txBody>
          <a:bodyPr wrap="square">
            <a:spAutoFit/>
          </a:bodyPr>
          <a:lstStyle/>
          <a:p>
            <a:pPr lvl="0"/>
            <a:r>
              <a:rPr lang="en-US" sz="2000" dirty="0">
                <a:solidFill>
                  <a:srgbClr val="FF0000"/>
                </a:solidFill>
                <a:latin typeface="Arial Narrow" pitchFamily="34" charset="0"/>
              </a:rPr>
              <a:t> 01)      9190.477</a:t>
            </a:r>
            <a:endParaRPr lang="es-ES" sz="2000" dirty="0">
              <a:solidFill>
                <a:srgbClr val="FF0000"/>
              </a:solidFill>
              <a:latin typeface="Arial Narrow" pitchFamily="34" charset="0"/>
            </a:endParaRPr>
          </a:p>
          <a:p>
            <a:r>
              <a:rPr lang="en-US" sz="2000" dirty="0">
                <a:solidFill>
                  <a:srgbClr val="FF0000"/>
                </a:solidFill>
                <a:latin typeface="Arial Narrow" pitchFamily="34" charset="0"/>
              </a:rPr>
              <a:t>  VARIABLE   VALUE       REDUCED COST</a:t>
            </a:r>
          </a:p>
          <a:p>
            <a:pPr lvl="0"/>
            <a:r>
              <a:rPr lang="en-US" sz="2000" dirty="0">
                <a:solidFill>
                  <a:srgbClr val="FF0000"/>
                </a:solidFill>
                <a:latin typeface="Arial Narrow" pitchFamily="34" charset="0"/>
              </a:rPr>
              <a:t>  JN      1428.571411          0.000000</a:t>
            </a:r>
          </a:p>
          <a:p>
            <a:pPr lvl="0"/>
            <a:r>
              <a:rPr lang="en-US" sz="2000" dirty="0">
                <a:solidFill>
                  <a:srgbClr val="FF0000"/>
                </a:solidFill>
                <a:latin typeface="Arial Narrow" pitchFamily="34" charset="0"/>
              </a:rPr>
              <a:t>   JT      1333.333374          0.00000       </a:t>
            </a:r>
            <a:endParaRPr lang="es-ES" sz="2000" dirty="0">
              <a:solidFill>
                <a:srgbClr val="FF0000"/>
              </a:solidFill>
              <a:latin typeface="Arial Narrow" pitchFamily="34" charset="0"/>
            </a:endParaRPr>
          </a:p>
        </p:txBody>
      </p:sp>
    </p:spTree>
    <p:extLst>
      <p:ext uri="{BB962C8B-B14F-4D97-AF65-F5344CB8AC3E}">
        <p14:creationId xmlns:p14="http://schemas.microsoft.com/office/powerpoint/2010/main" val="33735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3 Marcador de número de diapositiva"/>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fld id="{ADA88B80-B7AF-4421-8195-5719E6BED4A0}" type="slidenum">
              <a:rPr lang="es-ES_tradnl" altLang="es-PE" sz="1400"/>
              <a:pPr/>
              <a:t>33</a:t>
            </a:fld>
            <a:endParaRPr lang="es-ES_tradnl" altLang="es-PE" sz="1400"/>
          </a:p>
        </p:txBody>
      </p:sp>
      <p:graphicFrame>
        <p:nvGraphicFramePr>
          <p:cNvPr id="3" name="2 Diagrama"/>
          <p:cNvGraphicFramePr/>
          <p:nvPr>
            <p:extLst>
              <p:ext uri="{D42A27DB-BD31-4B8C-83A1-F6EECF244321}">
                <p14:modId xmlns:p14="http://schemas.microsoft.com/office/powerpoint/2010/main" val="101640395"/>
              </p:ext>
            </p:extLst>
          </p:nvPr>
        </p:nvGraphicFramePr>
        <p:xfrm>
          <a:off x="66943" y="1412776"/>
          <a:ext cx="6029057" cy="23928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3 Diagrama"/>
          <p:cNvGraphicFramePr/>
          <p:nvPr>
            <p:extLst>
              <p:ext uri="{D42A27DB-BD31-4B8C-83A1-F6EECF244321}">
                <p14:modId xmlns:p14="http://schemas.microsoft.com/office/powerpoint/2010/main" val="2871786758"/>
              </p:ext>
            </p:extLst>
          </p:nvPr>
        </p:nvGraphicFramePr>
        <p:xfrm>
          <a:off x="66943" y="3625850"/>
          <a:ext cx="6029057" cy="32321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1 Rectángulo"/>
          <p:cNvSpPr/>
          <p:nvPr/>
        </p:nvSpPr>
        <p:spPr>
          <a:xfrm>
            <a:off x="6096000" y="166280"/>
            <a:ext cx="6095426" cy="750847"/>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14</a:t>
            </a:r>
          </a:p>
          <a:p>
            <a:pPr algn="ctr" fontAlgn="base">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 Mueblería</a:t>
            </a:r>
          </a:p>
        </p:txBody>
      </p:sp>
      <p:graphicFrame>
        <p:nvGraphicFramePr>
          <p:cNvPr id="5" name="Object 2">
            <a:extLst>
              <a:ext uri="{FF2B5EF4-FFF2-40B4-BE49-F238E27FC236}">
                <a16:creationId xmlns:a16="http://schemas.microsoft.com/office/drawing/2014/main" id="{2A1548A6-98DC-9DF3-58A7-C6789F1C434E}"/>
              </a:ext>
            </a:extLst>
          </p:cNvPr>
          <p:cNvGraphicFramePr>
            <a:graphicFrameLocks noChangeAspect="1"/>
          </p:cNvGraphicFramePr>
          <p:nvPr>
            <p:extLst>
              <p:ext uri="{D42A27DB-BD31-4B8C-83A1-F6EECF244321}">
                <p14:modId xmlns:p14="http://schemas.microsoft.com/office/powerpoint/2010/main" val="3522434565"/>
              </p:ext>
            </p:extLst>
          </p:nvPr>
        </p:nvGraphicFramePr>
        <p:xfrm>
          <a:off x="6096000" y="1279401"/>
          <a:ext cx="6096000" cy="2982504"/>
        </p:xfrm>
        <a:graphic>
          <a:graphicData uri="http://schemas.openxmlformats.org/presentationml/2006/ole">
            <mc:AlternateContent xmlns:mc="http://schemas.openxmlformats.org/markup-compatibility/2006">
              <mc:Choice xmlns:v="urn:schemas-microsoft-com:vml" Requires="v">
                <p:oleObj name="Document" r:id="rId12" imgW="7730434" imgH="3789964" progId="Word.Document.8">
                  <p:embed/>
                </p:oleObj>
              </mc:Choice>
              <mc:Fallback>
                <p:oleObj name="Document" r:id="rId12" imgW="7730434" imgH="3789964" progId="Word.Document.8">
                  <p:embed/>
                  <p:pic>
                    <p:nvPicPr>
                      <p:cNvPr id="22530" name="Object 2"/>
                      <p:cNvPicPr>
                        <a:picLocks noChangeAspect="1" noChangeArrowheads="1"/>
                      </p:cNvPicPr>
                      <p:nvPr/>
                    </p:nvPicPr>
                    <p:blipFill>
                      <a:blip r:embed="rId13"/>
                      <a:srcRect/>
                      <a:stretch>
                        <a:fillRect/>
                      </a:stretch>
                    </p:blipFill>
                    <p:spPr bwMode="auto">
                      <a:xfrm>
                        <a:off x="6096000" y="1279401"/>
                        <a:ext cx="6096000" cy="2982504"/>
                      </a:xfrm>
                      <a:prstGeom prst="rect">
                        <a:avLst/>
                      </a:prstGeom>
                      <a:solidFill>
                        <a:schemeClr val="bg2">
                          <a:lumMod val="90000"/>
                        </a:schemeClr>
                      </a:solidFill>
                      <a:ln>
                        <a:noFill/>
                      </a:ln>
                    </p:spPr>
                  </p:pic>
                </p:oleObj>
              </mc:Fallback>
            </mc:AlternateContent>
          </a:graphicData>
        </a:graphic>
      </p:graphicFrame>
      <p:pic>
        <p:nvPicPr>
          <p:cNvPr id="6" name="Picture 13">
            <a:extLst>
              <a:ext uri="{FF2B5EF4-FFF2-40B4-BE49-F238E27FC236}">
                <a16:creationId xmlns:a16="http://schemas.microsoft.com/office/drawing/2014/main" id="{639F5C13-28A8-0174-E746-6D2F23AF2530}"/>
              </a:ext>
            </a:extLst>
          </p:cNvPr>
          <p:cNvPicPr>
            <a:picLocks noChangeAspect="1" noChangeArrowheads="1"/>
          </p:cNvPicPr>
          <p:nvPr/>
        </p:nvPicPr>
        <p:blipFill>
          <a:blip r:embed="rId14"/>
          <a:srcRect/>
          <a:stretch>
            <a:fillRect/>
          </a:stretch>
        </p:blipFill>
        <p:spPr bwMode="auto">
          <a:xfrm>
            <a:off x="6638789" y="4728754"/>
            <a:ext cx="2117496" cy="198155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14">
            <a:extLst>
              <a:ext uri="{FF2B5EF4-FFF2-40B4-BE49-F238E27FC236}">
                <a16:creationId xmlns:a16="http://schemas.microsoft.com/office/drawing/2014/main" id="{140A92E2-718A-31E8-1674-AF2FC7C71CB3}"/>
              </a:ext>
            </a:extLst>
          </p:cNvPr>
          <p:cNvPicPr>
            <a:picLocks noChangeAspect="1" noChangeArrowheads="1"/>
          </p:cNvPicPr>
          <p:nvPr/>
        </p:nvPicPr>
        <p:blipFill>
          <a:blip r:embed="rId15"/>
          <a:srcRect/>
          <a:stretch>
            <a:fillRect/>
          </a:stretch>
        </p:blipFill>
        <p:spPr bwMode="auto">
          <a:xfrm>
            <a:off x="9502912" y="4898928"/>
            <a:ext cx="2117496" cy="176209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7991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3 Marcador de número de diapositiva"/>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fld id="{8A0056FA-57F8-4ED7-9E3D-AF6B6C0F5297}" type="slidenum">
              <a:rPr lang="es-ES_tradnl" altLang="es-PE"/>
              <a:pPr/>
              <a:t>34</a:t>
            </a:fld>
            <a:endParaRPr lang="es-ES_tradnl" altLang="es-PE"/>
          </a:p>
        </p:txBody>
      </p:sp>
      <p:sp>
        <p:nvSpPr>
          <p:cNvPr id="23555" name="Rectangle 3"/>
          <p:cNvSpPr>
            <a:spLocks noChangeArrowheads="1"/>
          </p:cNvSpPr>
          <p:nvPr/>
        </p:nvSpPr>
        <p:spPr bwMode="auto">
          <a:xfrm>
            <a:off x="6096000" y="247661"/>
            <a:ext cx="6096000" cy="571500"/>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Modelo</a:t>
            </a:r>
          </a:p>
        </p:txBody>
      </p:sp>
      <p:sp>
        <p:nvSpPr>
          <p:cNvPr id="23556" name="Text Box 4"/>
          <p:cNvSpPr txBox="1">
            <a:spLocks noChangeArrowheads="1"/>
          </p:cNvSpPr>
          <p:nvPr/>
        </p:nvSpPr>
        <p:spPr bwMode="auto">
          <a:xfrm>
            <a:off x="425880" y="1327151"/>
            <a:ext cx="55601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eaLnBrk="1" hangingPunct="1">
              <a:spcBef>
                <a:spcPct val="50000"/>
              </a:spcBef>
            </a:pPr>
            <a:r>
              <a:rPr lang="es-ES_tradnl" altLang="es-PE" b="1" dirty="0">
                <a:solidFill>
                  <a:srgbClr val="FF0000"/>
                </a:solidFill>
                <a:latin typeface="Gill Sans MT" pitchFamily="34" charset="0"/>
              </a:rPr>
              <a:t>I   Identificación de las variables</a:t>
            </a:r>
          </a:p>
        </p:txBody>
      </p:sp>
      <p:sp>
        <p:nvSpPr>
          <p:cNvPr id="11269" name="Text Box 5"/>
          <p:cNvSpPr txBox="1">
            <a:spLocks noChangeArrowheads="1"/>
          </p:cNvSpPr>
          <p:nvPr/>
        </p:nvSpPr>
        <p:spPr bwMode="auto">
          <a:xfrm>
            <a:off x="873480" y="1839913"/>
            <a:ext cx="6567562"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eaLnBrk="1" hangingPunct="1">
              <a:lnSpc>
                <a:spcPct val="80000"/>
              </a:lnSpc>
              <a:spcBef>
                <a:spcPct val="50000"/>
              </a:spcBef>
            </a:pPr>
            <a:r>
              <a:rPr lang="es-ES_tradnl" altLang="es-PE" i="1" dirty="0" err="1">
                <a:latin typeface="Gill Sans MT" pitchFamily="34" charset="0"/>
              </a:rPr>
              <a:t>X</a:t>
            </a:r>
            <a:r>
              <a:rPr lang="es-ES_tradnl" altLang="es-PE" i="1" baseline="-25000" dirty="0" err="1">
                <a:latin typeface="Gill Sans MT" pitchFamily="34" charset="0"/>
              </a:rPr>
              <a:t>1</a:t>
            </a:r>
            <a:r>
              <a:rPr lang="es-ES_tradnl" altLang="es-PE" i="1" dirty="0">
                <a:latin typeface="Gill Sans MT" pitchFamily="34" charset="0"/>
              </a:rPr>
              <a:t> </a:t>
            </a:r>
            <a:r>
              <a:rPr lang="es-ES_tradnl" altLang="es-PE" dirty="0">
                <a:latin typeface="Gill Sans MT" pitchFamily="34" charset="0"/>
              </a:rPr>
              <a:t>: Número de unidades de sillas a producir</a:t>
            </a:r>
          </a:p>
          <a:p>
            <a:pPr>
              <a:lnSpc>
                <a:spcPct val="80000"/>
              </a:lnSpc>
              <a:spcBef>
                <a:spcPct val="50000"/>
              </a:spcBef>
            </a:pPr>
            <a:r>
              <a:rPr lang="es-ES_tradnl" altLang="es-PE" i="1" dirty="0" err="1">
                <a:latin typeface="Gill Sans MT" pitchFamily="34" charset="0"/>
              </a:rPr>
              <a:t>X</a:t>
            </a:r>
            <a:r>
              <a:rPr lang="es-ES_tradnl" altLang="es-PE" i="1" baseline="-25000" dirty="0" err="1">
                <a:latin typeface="Gill Sans MT" pitchFamily="34" charset="0"/>
              </a:rPr>
              <a:t>2</a:t>
            </a:r>
            <a:r>
              <a:rPr lang="es-ES_tradnl" altLang="es-PE" i="1" dirty="0">
                <a:latin typeface="Gill Sans MT" pitchFamily="34" charset="0"/>
              </a:rPr>
              <a:t> </a:t>
            </a:r>
            <a:r>
              <a:rPr lang="es-ES_tradnl" altLang="es-PE" dirty="0">
                <a:latin typeface="Gill Sans MT" pitchFamily="34" charset="0"/>
              </a:rPr>
              <a:t>: Número de unidades de mesas a producir</a:t>
            </a:r>
            <a:endParaRPr lang="es-ES_tradnl" altLang="es-PE" i="1" dirty="0">
              <a:latin typeface="Gill Sans MT" pitchFamily="34" charset="0"/>
            </a:endParaRPr>
          </a:p>
        </p:txBody>
      </p:sp>
      <p:sp>
        <p:nvSpPr>
          <p:cNvPr id="23558" name="Text Box 6"/>
          <p:cNvSpPr txBox="1">
            <a:spLocks noChangeArrowheads="1"/>
          </p:cNvSpPr>
          <p:nvPr/>
        </p:nvSpPr>
        <p:spPr bwMode="auto">
          <a:xfrm>
            <a:off x="425880" y="2744368"/>
            <a:ext cx="52001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a:spcBef>
                <a:spcPct val="50000"/>
              </a:spcBef>
            </a:pPr>
            <a:r>
              <a:rPr lang="es-ES_tradnl" altLang="es-PE" b="1" dirty="0">
                <a:solidFill>
                  <a:srgbClr val="FF0000"/>
                </a:solidFill>
                <a:latin typeface="Gill Sans MT" pitchFamily="34" charset="0"/>
              </a:rPr>
              <a:t>II  Identificación Función Objetivo</a:t>
            </a:r>
          </a:p>
        </p:txBody>
      </p:sp>
      <p:sp>
        <p:nvSpPr>
          <p:cNvPr id="11271" name="Text Box 7"/>
          <p:cNvSpPr txBox="1">
            <a:spLocks noChangeArrowheads="1"/>
          </p:cNvSpPr>
          <p:nvPr/>
        </p:nvSpPr>
        <p:spPr bwMode="auto">
          <a:xfrm>
            <a:off x="873480" y="3247480"/>
            <a:ext cx="316612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eaLnBrk="1" hangingPunct="1">
              <a:spcBef>
                <a:spcPct val="50000"/>
              </a:spcBef>
            </a:pPr>
            <a:r>
              <a:rPr lang="es-ES_tradnl" altLang="es-PE" i="1" dirty="0">
                <a:latin typeface="Gill Sans MT" pitchFamily="34" charset="0"/>
              </a:rPr>
              <a:t>Max </a:t>
            </a:r>
            <a:r>
              <a:rPr lang="es-ES_tradnl" altLang="es-PE" i="1" dirty="0" err="1">
                <a:latin typeface="Gill Sans MT" pitchFamily="34" charset="0"/>
              </a:rPr>
              <a:t>8X</a:t>
            </a:r>
            <a:r>
              <a:rPr lang="es-ES_tradnl" altLang="es-PE" i="1" baseline="-25000" dirty="0" err="1">
                <a:latin typeface="Gill Sans MT" pitchFamily="34" charset="0"/>
              </a:rPr>
              <a:t>1</a:t>
            </a:r>
            <a:r>
              <a:rPr lang="es-ES_tradnl" altLang="es-PE" i="1" dirty="0">
                <a:latin typeface="Gill Sans MT" pitchFamily="34" charset="0"/>
              </a:rPr>
              <a:t> + </a:t>
            </a:r>
            <a:r>
              <a:rPr lang="es-ES_tradnl" altLang="es-PE" i="1" dirty="0" err="1">
                <a:latin typeface="Gill Sans MT" pitchFamily="34" charset="0"/>
              </a:rPr>
              <a:t>10X</a:t>
            </a:r>
            <a:r>
              <a:rPr lang="es-ES_tradnl" altLang="es-PE" i="1" baseline="-25000" dirty="0" err="1">
                <a:latin typeface="Gill Sans MT" pitchFamily="34" charset="0"/>
              </a:rPr>
              <a:t>2</a:t>
            </a:r>
            <a:r>
              <a:rPr lang="es-ES_tradnl" altLang="es-PE" i="1" dirty="0">
                <a:latin typeface="Gill Sans MT" pitchFamily="34" charset="0"/>
              </a:rPr>
              <a:t> </a:t>
            </a:r>
            <a:endParaRPr lang="es-ES_tradnl" altLang="es-PE" i="1" baseline="-25000" dirty="0">
              <a:latin typeface="Gill Sans MT" pitchFamily="34" charset="0"/>
            </a:endParaRPr>
          </a:p>
        </p:txBody>
      </p:sp>
      <p:sp>
        <p:nvSpPr>
          <p:cNvPr id="11273" name="Text Box 9"/>
          <p:cNvSpPr txBox="1">
            <a:spLocks noChangeArrowheads="1"/>
          </p:cNvSpPr>
          <p:nvPr/>
        </p:nvSpPr>
        <p:spPr bwMode="auto">
          <a:xfrm>
            <a:off x="801670" y="4437112"/>
            <a:ext cx="6984578" cy="1189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algn="just" eaLnBrk="1" hangingPunct="1">
              <a:lnSpc>
                <a:spcPct val="70000"/>
              </a:lnSpc>
              <a:spcBef>
                <a:spcPct val="50000"/>
              </a:spcBef>
            </a:pPr>
            <a:r>
              <a:rPr lang="es-ES_tradnl" altLang="es-PE" i="1" dirty="0" err="1">
                <a:latin typeface="Gill Sans MT" pitchFamily="34" charset="0"/>
              </a:rPr>
              <a:t>8X</a:t>
            </a:r>
            <a:r>
              <a:rPr lang="es-ES_tradnl" altLang="es-PE" i="1" baseline="-25000" dirty="0" err="1">
                <a:latin typeface="Gill Sans MT" pitchFamily="34" charset="0"/>
              </a:rPr>
              <a:t>1</a:t>
            </a:r>
            <a:r>
              <a:rPr lang="es-ES_tradnl" altLang="es-PE" i="1" dirty="0">
                <a:latin typeface="Gill Sans MT" pitchFamily="34" charset="0"/>
              </a:rPr>
              <a:t> + </a:t>
            </a:r>
            <a:r>
              <a:rPr lang="es-ES_tradnl" altLang="es-PE" i="1" dirty="0" err="1">
                <a:latin typeface="Gill Sans MT" pitchFamily="34" charset="0"/>
              </a:rPr>
              <a:t>6X</a:t>
            </a:r>
            <a:r>
              <a:rPr lang="es-ES_tradnl" altLang="es-PE" i="1" baseline="-25000" dirty="0" err="1">
                <a:latin typeface="Gill Sans MT" pitchFamily="34" charset="0"/>
              </a:rPr>
              <a:t>2</a:t>
            </a:r>
            <a:r>
              <a:rPr lang="es-ES_tradnl" altLang="es-PE" i="1" dirty="0">
                <a:latin typeface="Gill Sans MT" pitchFamily="34" charset="0"/>
              </a:rPr>
              <a:t>  </a:t>
            </a:r>
            <a:r>
              <a:rPr lang="es-ES_tradnl" altLang="es-PE" dirty="0">
                <a:latin typeface="Gill Sans MT" pitchFamily="34" charset="0"/>
                <a:sym typeface="Symbol" pitchFamily="18" charset="2"/>
              </a:rPr>
              <a:t> 6</a:t>
            </a:r>
            <a:r>
              <a:rPr lang="es-ES_tradnl" altLang="es-PE" i="1" dirty="0">
                <a:latin typeface="Gill Sans MT" pitchFamily="34" charset="0"/>
              </a:rPr>
              <a:t>0       		(horas hombre)</a:t>
            </a:r>
          </a:p>
          <a:p>
            <a:pPr algn="just" eaLnBrk="1" hangingPunct="1">
              <a:lnSpc>
                <a:spcPct val="70000"/>
              </a:lnSpc>
              <a:spcBef>
                <a:spcPct val="50000"/>
              </a:spcBef>
            </a:pPr>
            <a:r>
              <a:rPr lang="es-ES_tradnl" altLang="es-PE" i="1" dirty="0" err="1">
                <a:latin typeface="Gill Sans MT" pitchFamily="34" charset="0"/>
              </a:rPr>
              <a:t>2X</a:t>
            </a:r>
            <a:r>
              <a:rPr lang="es-ES_tradnl" altLang="es-PE" i="1" baseline="-25000" dirty="0" err="1">
                <a:latin typeface="Gill Sans MT" pitchFamily="34" charset="0"/>
              </a:rPr>
              <a:t>1</a:t>
            </a:r>
            <a:r>
              <a:rPr lang="es-ES_tradnl" altLang="es-PE" i="1" dirty="0">
                <a:latin typeface="Gill Sans MT" pitchFamily="34" charset="0"/>
              </a:rPr>
              <a:t> + </a:t>
            </a:r>
            <a:r>
              <a:rPr lang="es-ES_tradnl" altLang="es-PE" i="1" dirty="0" err="1">
                <a:latin typeface="Gill Sans MT" pitchFamily="34" charset="0"/>
              </a:rPr>
              <a:t>4X</a:t>
            </a:r>
            <a:r>
              <a:rPr lang="es-ES_tradnl" altLang="es-PE" i="1" baseline="-25000" dirty="0" err="1">
                <a:latin typeface="Gill Sans MT" pitchFamily="34" charset="0"/>
              </a:rPr>
              <a:t>2</a:t>
            </a:r>
            <a:r>
              <a:rPr lang="es-ES_tradnl" altLang="es-PE" i="1" dirty="0">
                <a:latin typeface="Gill Sans MT" pitchFamily="34" charset="0"/>
              </a:rPr>
              <a:t> </a:t>
            </a:r>
            <a:r>
              <a:rPr lang="es-ES_tradnl" altLang="es-PE" dirty="0">
                <a:latin typeface="Gill Sans MT" pitchFamily="34" charset="0"/>
                <a:sym typeface="Symbol" pitchFamily="18" charset="2"/>
              </a:rPr>
              <a:t> 2</a:t>
            </a:r>
            <a:r>
              <a:rPr lang="es-ES_tradnl" altLang="es-PE" i="1" dirty="0">
                <a:latin typeface="Gill Sans MT" pitchFamily="34" charset="0"/>
              </a:rPr>
              <a:t>0        		(unidades de madera)</a:t>
            </a:r>
            <a:endParaRPr lang="es-ES_tradnl" altLang="es-PE" dirty="0">
              <a:latin typeface="Gill Sans MT" pitchFamily="34" charset="0"/>
            </a:endParaRPr>
          </a:p>
          <a:p>
            <a:pPr algn="just" eaLnBrk="1" hangingPunct="1">
              <a:lnSpc>
                <a:spcPct val="50000"/>
              </a:lnSpc>
              <a:spcBef>
                <a:spcPct val="50000"/>
              </a:spcBef>
            </a:pPr>
            <a:r>
              <a:rPr lang="es-ES_tradnl" altLang="es-PE" dirty="0">
                <a:latin typeface="Gill Sans MT" pitchFamily="34" charset="0"/>
              </a:rPr>
              <a:t> </a:t>
            </a:r>
            <a:r>
              <a:rPr lang="es-ES_tradnl" altLang="es-PE" i="1" dirty="0" err="1">
                <a:latin typeface="Gill Sans MT" pitchFamily="34" charset="0"/>
              </a:rPr>
              <a:t>X</a:t>
            </a:r>
            <a:r>
              <a:rPr lang="es-ES_tradnl" altLang="es-PE" i="1" baseline="-25000" dirty="0" err="1">
                <a:latin typeface="Gill Sans MT" pitchFamily="34" charset="0"/>
              </a:rPr>
              <a:t>1</a:t>
            </a:r>
            <a:r>
              <a:rPr lang="es-ES_tradnl" altLang="es-PE" i="1" dirty="0">
                <a:latin typeface="Gill Sans MT" pitchFamily="34" charset="0"/>
              </a:rPr>
              <a:t> </a:t>
            </a:r>
            <a:r>
              <a:rPr lang="es-ES_tradnl" altLang="es-PE" dirty="0">
                <a:latin typeface="Gill Sans MT" pitchFamily="34" charset="0"/>
                <a:sym typeface="Symbol" pitchFamily="18" charset="2"/>
              </a:rPr>
              <a:t> 0 y </a:t>
            </a:r>
            <a:r>
              <a:rPr lang="es-ES_tradnl" altLang="es-PE" i="1" dirty="0" err="1">
                <a:latin typeface="Gill Sans MT" pitchFamily="34" charset="0"/>
              </a:rPr>
              <a:t>X</a:t>
            </a:r>
            <a:r>
              <a:rPr lang="es-ES_tradnl" altLang="es-PE" i="1" baseline="-25000" dirty="0" err="1">
                <a:latin typeface="Gill Sans MT" pitchFamily="34" charset="0"/>
              </a:rPr>
              <a:t>2</a:t>
            </a:r>
            <a:r>
              <a:rPr lang="es-ES_tradnl" altLang="es-PE" i="1" dirty="0">
                <a:latin typeface="Gill Sans MT" pitchFamily="34" charset="0"/>
              </a:rPr>
              <a:t> </a:t>
            </a:r>
            <a:r>
              <a:rPr lang="es-ES_tradnl" altLang="es-PE" dirty="0">
                <a:latin typeface="Gill Sans MT" pitchFamily="34" charset="0"/>
                <a:sym typeface="Symbol" pitchFamily="18" charset="2"/>
              </a:rPr>
              <a:t> 0, </a:t>
            </a:r>
            <a:r>
              <a:rPr lang="es-ES_tradnl" altLang="es-PE" dirty="0">
                <a:solidFill>
                  <a:srgbClr val="FF0000"/>
                </a:solidFill>
                <a:latin typeface="Gill Sans MT" pitchFamily="34" charset="0"/>
                <a:sym typeface="Symbol" pitchFamily="18" charset="2"/>
              </a:rPr>
              <a:t>ENTERO</a:t>
            </a:r>
            <a:r>
              <a:rPr lang="es-ES_tradnl" altLang="es-PE" i="1" dirty="0">
                <a:latin typeface="Gill Sans MT" pitchFamily="34" charset="0"/>
              </a:rPr>
              <a:t>     (no negatividad)</a:t>
            </a:r>
            <a:endParaRPr lang="es-ES_tradnl" altLang="es-PE" dirty="0">
              <a:latin typeface="Gill Sans MT" pitchFamily="34" charset="0"/>
            </a:endParaRPr>
          </a:p>
        </p:txBody>
      </p:sp>
      <p:sp>
        <p:nvSpPr>
          <p:cNvPr id="23562" name="AutoShape 11" descr="data:image/jpeg;base64,/9j/4AAQSkZJRgABAQAAAQABAAD/2wCEAAkGBwgHBgkIBwgKCgkLDRYPDQwMDRsUFRAWIB0iIiAdHx8kKDQsJCYxJx8fLT0tMTU3Ojo6Iys/RD84QzQ5OjcBCgoKDQwNGg8PGjclHyU3Nzc3Nzc3Nzc3Nzc3Nzc3Nzc3Nzc3Nzc3Nzc3Nzc3Nzc3Nzc3Nzc3Nzc3Nzc3Nzc3N//AABEIAFoAhwMBIgACEQEDEQH/xAAcAAAABwEBAAAAAAAAAAAAAAAAAQIDBQYHBAj/xAA6EAABAwMBBQMKAwkBAAAAAAABAAIDBAUREgYhMUFRE2FxByIjUoGRobHB0UJykxUkMkVigpLh8BT/xAAYAQEBAQEBAAAAAAAAAAAAAAAAAgMBBP/EACARAAICAQUBAQEAAAAAAAAAAAABAhEDEhMhMUFRkQT/2gAMAwEAAhEDEQA/ANv9qGUjUhqQDiC5aqrp6OLtamVsbe88fDqq9Xbb0cGW01NLMRzcQwfUrjaXZ1Rb6LWgs7n27uDyRDT00Y7wXH5hR0u2N7e44q2sH9MTfqFG5E0WKRqqCyN+0l4fxuU/sIHyTRvd0cd9xrP1nLm6juxI2FBY8Lzcx/Mqv9Z33S2326t/huNV7ZCU3UNhmvILJ2bS3pvC4SnxAPzC6YtsL0w7545PzxD6YTdQ2JGn5RZVCptua0H94pIH9dBLfupui2toanDZ45YHHqNQ94+ytTTIeOS8LFqQymo5WSsD43tcw8C05CVqVEC8oJvUjQDOpGHJjKMOUgrG3UL2mGrDiWhugt5Dnn/uio01RG87pBnoVr08MNVC6GojbJG7i1wyCqndPJ3bqol9FVT0rj+E+kYPYd/xWc0/D0YskVxIo5PekE71LVnk2vkJJpKmlnbyxI6Nx9hGPioifZHaynzm31Lseo9snyJWLUl4epPG+pDgIRgjqo2S2bRxDzrdcG/mpH/ZcVS69UzS58U0bRxL4cY94Ut0UoX6WDBPAhFqcCqoLrdCdLXtJPDDASnmzbRSHzIZnflpSfouaitDLMJCltk8FXGUe1059HQXA55st7/nhd0Ox22tYBmkrGg85JWRD4kFVz8JdLtomhIBvJA8Sn6SrgfIGiojJ7jn5Lmt/kou8zg65VtPD/e6Z3u3D4q72LYW1WgBxMlVJ1kw1v8AiPqSrjGfwylPEvfwlNlDqtnagu0SOJbqGM43ZUwXJoaWNDWNDWjcABgBAlehXXJ4ZNN2h3UiTWpBdRwbylAouzd0Rhjui7wBQKWCk6XdEYa7oUA4ClgpsNd0KWGu6FAOAqn+VWmhqdlJDNVzU7o5A6Ps34D3dHDmMZVuweio3lbge+ww1GfRQyHWzIyc8CBzxhRkdRZpiVzRjWzVtkqtqKKCOsqHOMjSeycchuRnH+l6fiGmJjQ9zgGgBxOSe9eY7LJ2W0NLJa3uNXr0xMazeCd2d+7nx5L0pbopYKCnhmf2kjImte/PEgb1ngbZt/TFJo6CSm3FLLXdEgsf0W55RslIJS3RyeqUgxv9VAFlJyldm/oiLHdEAjKNH2buiJAdCNEiJUgVlAuwm9SQ+QDiV0D/AGmERnAUFeL/AEVqpZqiqlw2JpcQ3eTjkO9Z/dvKk2ejLLRSTRVMm4Pn0+Z4AE5KmU1HsuMJS6LPtrt+yzPdQ2xrJ7gB5znb2Q+PU93vWVXu9XW+MlF4r5KhjI3SNYcBrD3AAKRsWzU9Y41d4e+KBx1dmT6WUneS71fme7iujbShtsFoabfSxwyh4jBjG94d6x4ngsZbklqfR6YbcWorllJooJ7ZIys1NbOyETNwScZGQD8D7VpeynlSrqd8UG0McctIQGiogj0ujHe3gR4b/FUmqtlZLeJKIw1DYfMiMgi4NDQM5O5WG4bMUop9Vne8PaMGGR+oP8CeB8d3gkddWipbV6WbdBXxzRMlieHseA5rgcgg8CnmzgrF9gNppLdL+x7jJopy7EDpDjsXZ3sPQHl0Pcd2nQVZPEreElJcHkyY3B0ydEgKInIXDFNnmuhrsqiBwpKAKNcASCCC6gBEQnEWlcAy4YXPMMtXaWJmSPKApG02zDLvG5skjgD3qsUWxMNqm7WOQucOeVqU8JIUXVUhOdyULKfUao26d+5Vq8vM9fbaV2SH1LXO8AQrrdom0zHPeNwVCZd6Q3+SomaPQwuZDv3hxwDu8HH3KMl6aRrhrVbJSoqXy1MsoyA95cB3ZT9NK/PEp+ipG1TA9jdxCk4LWRyWhkyAvNvgrYjK6MtnA3SMHHxHNV+3Xy90FdBHFUVZZC4ARFzjGW9MLUqe2A41NB9ikaezUuoONPHnrpUPHFuzWOWSVeAsF0lromufEW55FWKLJC5qalZG0BjA0dwXfGzCsyDARpYahpXAIRJzCCAWG9yPSlI0AjSklmeScKNdByuh7kxJTA8lIHikuQEJVWqKoaWyMDgVCv2KtRl7X/yt18cq5EBIIHRAQENkhgaGxsAAXQy3AfhCl8DojAHRAR8dEByC6WU+OS6WgJwIBpsWE4GJaCASGoaUpBAILUEtBAf/2Q=="/>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PE" altLang="es-PE"/>
          </a:p>
        </p:txBody>
      </p:sp>
      <p:sp>
        <p:nvSpPr>
          <p:cNvPr id="13" name="Text Box 6"/>
          <p:cNvSpPr txBox="1">
            <a:spLocks noChangeArrowheads="1"/>
          </p:cNvSpPr>
          <p:nvPr/>
        </p:nvSpPr>
        <p:spPr bwMode="auto">
          <a:xfrm>
            <a:off x="425880" y="3857626"/>
            <a:ext cx="55601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defRPr>
            </a:lvl1pPr>
            <a:lvl2pPr>
              <a:defRPr sz="2000">
                <a:solidFill>
                  <a:schemeClr val="tx1"/>
                </a:solidFill>
                <a:latin typeface="Arial" charset="0"/>
              </a:defRPr>
            </a:lvl2pPr>
            <a:lvl3pPr>
              <a:defRPr>
                <a:solidFill>
                  <a:schemeClr val="tx1"/>
                </a:solidFill>
                <a:latin typeface="Arial" charset="0"/>
              </a:defRPr>
            </a:lvl3pPr>
            <a:lvl4pPr>
              <a:defRPr sz="1600">
                <a:solidFill>
                  <a:schemeClr val="tx1"/>
                </a:solidFill>
                <a:latin typeface="Arial" charset="0"/>
              </a:defRPr>
            </a:lvl4pPr>
            <a:lvl5pPr>
              <a:defRPr sz="1600">
                <a:solidFill>
                  <a:schemeClr val="tx1"/>
                </a:solidFill>
                <a:latin typeface="Arial" charset="0"/>
              </a:defRPr>
            </a:lvl5pPr>
            <a:lvl6pPr eaLnBrk="0" hangingPunct="0">
              <a:defRPr sz="1600">
                <a:solidFill>
                  <a:schemeClr val="tx1"/>
                </a:solidFill>
                <a:latin typeface="Arial" charset="0"/>
              </a:defRPr>
            </a:lvl6pPr>
            <a:lvl7pPr eaLnBrk="0" hangingPunct="0">
              <a:defRPr sz="1600">
                <a:solidFill>
                  <a:schemeClr val="tx1"/>
                </a:solidFill>
                <a:latin typeface="Arial" charset="0"/>
              </a:defRPr>
            </a:lvl7pPr>
            <a:lvl8pPr eaLnBrk="0" hangingPunct="0">
              <a:defRPr sz="1600">
                <a:solidFill>
                  <a:schemeClr val="tx1"/>
                </a:solidFill>
                <a:latin typeface="Arial" charset="0"/>
              </a:defRPr>
            </a:lvl8pPr>
            <a:lvl9pPr eaLnBrk="0" hangingPunct="0">
              <a:defRPr sz="1600">
                <a:solidFill>
                  <a:schemeClr val="tx1"/>
                </a:solidFill>
                <a:latin typeface="Arial" charset="0"/>
              </a:defRPr>
            </a:lvl9pPr>
          </a:lstStyle>
          <a:p>
            <a:pPr>
              <a:spcBef>
                <a:spcPct val="50000"/>
              </a:spcBef>
            </a:pPr>
            <a:r>
              <a:rPr lang="es-ES_tradnl" altLang="es-PE" b="1" dirty="0">
                <a:solidFill>
                  <a:srgbClr val="FF0000"/>
                </a:solidFill>
                <a:latin typeface="Gill Sans MT" pitchFamily="34" charset="0"/>
              </a:rPr>
              <a:t>III Identificación de las restricciones</a:t>
            </a:r>
          </a:p>
        </p:txBody>
      </p:sp>
      <p:sp>
        <p:nvSpPr>
          <p:cNvPr id="14" name="2 Rectángulo">
            <a:extLst>
              <a:ext uri="{FF2B5EF4-FFF2-40B4-BE49-F238E27FC236}">
                <a16:creationId xmlns:a16="http://schemas.microsoft.com/office/drawing/2014/main" id="{52DA30B4-640C-4F56-97E9-20DB97BA23DE}"/>
              </a:ext>
            </a:extLst>
          </p:cNvPr>
          <p:cNvSpPr/>
          <p:nvPr/>
        </p:nvSpPr>
        <p:spPr>
          <a:xfrm>
            <a:off x="7397354" y="1327151"/>
            <a:ext cx="3240360" cy="2677656"/>
          </a:xfrm>
          <a:prstGeom prst="rect">
            <a:avLst/>
          </a:prstGeom>
          <a:solidFill>
            <a:srgbClr val="FFFF00"/>
          </a:solidFill>
        </p:spPr>
        <p:txBody>
          <a:bodyPr wrap="square">
            <a:spAutoFit/>
          </a:bodyPr>
          <a:lstStyle/>
          <a:p>
            <a:r>
              <a:rPr lang="en-US" sz="2400" b="1" dirty="0"/>
              <a:t>Max </a:t>
            </a:r>
            <a:r>
              <a:rPr lang="en-US" sz="2400" b="1" dirty="0" err="1"/>
              <a:t>8X1</a:t>
            </a:r>
            <a:r>
              <a:rPr lang="en-US" sz="2400" b="1" dirty="0"/>
              <a:t> + </a:t>
            </a:r>
            <a:r>
              <a:rPr lang="en-US" sz="2400" b="1" dirty="0" err="1"/>
              <a:t>10X2</a:t>
            </a:r>
            <a:r>
              <a:rPr lang="en-US" sz="2400" b="1" dirty="0"/>
              <a:t> </a:t>
            </a:r>
          </a:p>
          <a:p>
            <a:r>
              <a:rPr lang="en-US" sz="2400" b="1" dirty="0"/>
              <a:t>ST</a:t>
            </a:r>
          </a:p>
          <a:p>
            <a:r>
              <a:rPr lang="en-US" sz="2400" b="1" dirty="0" err="1"/>
              <a:t>8X1</a:t>
            </a:r>
            <a:r>
              <a:rPr lang="en-US" sz="2400" b="1" dirty="0"/>
              <a:t> + </a:t>
            </a:r>
            <a:r>
              <a:rPr lang="en-US" sz="2400" b="1" dirty="0" err="1"/>
              <a:t>6X2</a:t>
            </a:r>
            <a:r>
              <a:rPr lang="en-US" sz="2400" b="1" dirty="0"/>
              <a:t>  &lt;= 60       	</a:t>
            </a:r>
          </a:p>
          <a:p>
            <a:r>
              <a:rPr lang="en-US" sz="2400" b="1" dirty="0" err="1"/>
              <a:t>2X1</a:t>
            </a:r>
            <a:r>
              <a:rPr lang="en-US" sz="2400" b="1" dirty="0"/>
              <a:t> + </a:t>
            </a:r>
            <a:r>
              <a:rPr lang="en-US" sz="2400" b="1" dirty="0" err="1"/>
              <a:t>4X2</a:t>
            </a:r>
            <a:r>
              <a:rPr lang="en-US" sz="2400" b="1" dirty="0"/>
              <a:t>  &lt;= 20   </a:t>
            </a:r>
          </a:p>
          <a:p>
            <a:r>
              <a:rPr lang="en-US" sz="2400" b="1" dirty="0"/>
              <a:t>END</a:t>
            </a:r>
          </a:p>
          <a:p>
            <a:r>
              <a:rPr lang="en-US" sz="2400" b="1" dirty="0"/>
              <a:t>GIN </a:t>
            </a:r>
            <a:r>
              <a:rPr lang="en-US" sz="2400" b="1" dirty="0" err="1"/>
              <a:t>X1</a:t>
            </a:r>
            <a:endParaRPr lang="en-US" sz="2400" b="1" dirty="0"/>
          </a:p>
          <a:p>
            <a:r>
              <a:rPr lang="en-US" sz="2400" b="1" dirty="0"/>
              <a:t>GIN </a:t>
            </a:r>
            <a:r>
              <a:rPr lang="en-US" sz="2400" b="1" dirty="0" err="1"/>
              <a:t>X2</a:t>
            </a:r>
            <a:r>
              <a:rPr lang="en-US" sz="2400" b="1" dirty="0"/>
              <a:t> </a:t>
            </a:r>
            <a:endParaRPr lang="es-ES" sz="2400" b="1" dirty="0"/>
          </a:p>
        </p:txBody>
      </p:sp>
      <p:sp>
        <p:nvSpPr>
          <p:cNvPr id="2" name="Rectángulo 1">
            <a:extLst>
              <a:ext uri="{FF2B5EF4-FFF2-40B4-BE49-F238E27FC236}">
                <a16:creationId xmlns:a16="http://schemas.microsoft.com/office/drawing/2014/main" id="{F64BE74F-04CD-4B9C-BDB5-F8294AC40DAC}"/>
              </a:ext>
            </a:extLst>
          </p:cNvPr>
          <p:cNvSpPr/>
          <p:nvPr/>
        </p:nvSpPr>
        <p:spPr>
          <a:xfrm>
            <a:off x="7397354" y="4103112"/>
            <a:ext cx="4794646" cy="1938992"/>
          </a:xfrm>
          <a:prstGeom prst="rect">
            <a:avLst/>
          </a:prstGeom>
          <a:solidFill>
            <a:schemeClr val="accent4">
              <a:lumMod val="40000"/>
              <a:lumOff val="60000"/>
            </a:schemeClr>
          </a:solidFill>
        </p:spPr>
        <p:txBody>
          <a:bodyPr wrap="square">
            <a:spAutoFit/>
          </a:bodyPr>
          <a:lstStyle/>
          <a:p>
            <a:r>
              <a:rPr lang="en-US" sz="2400" dirty="0">
                <a:solidFill>
                  <a:srgbClr val="FF0000"/>
                </a:solidFill>
                <a:latin typeface="Arial Narrow" pitchFamily="34" charset="0"/>
              </a:rPr>
              <a:t>OBJECTIVE FUNCTION VALUE</a:t>
            </a:r>
          </a:p>
          <a:p>
            <a:r>
              <a:rPr lang="en-US" sz="2400" dirty="0">
                <a:solidFill>
                  <a:srgbClr val="FF0000"/>
                </a:solidFill>
                <a:latin typeface="Arial Narrow" pitchFamily="34" charset="0"/>
              </a:rPr>
              <a:t>        1)      68.00000</a:t>
            </a:r>
          </a:p>
          <a:p>
            <a:r>
              <a:rPr lang="en-US" sz="2400" dirty="0">
                <a:solidFill>
                  <a:srgbClr val="FF0000"/>
                </a:solidFill>
                <a:latin typeface="Arial Narrow" pitchFamily="34" charset="0"/>
              </a:rPr>
              <a:t>VARIABLE   VALUE     REDUCED COST</a:t>
            </a:r>
          </a:p>
          <a:p>
            <a:r>
              <a:rPr lang="en-US" sz="2400" dirty="0">
                <a:solidFill>
                  <a:srgbClr val="FF0000"/>
                </a:solidFill>
                <a:latin typeface="Arial Narrow" pitchFamily="34" charset="0"/>
              </a:rPr>
              <a:t>        </a:t>
            </a:r>
            <a:r>
              <a:rPr lang="en-US" sz="2400" dirty="0" err="1">
                <a:solidFill>
                  <a:srgbClr val="FF0000"/>
                </a:solidFill>
                <a:latin typeface="Arial Narrow" pitchFamily="34" charset="0"/>
              </a:rPr>
              <a:t>X1</a:t>
            </a:r>
            <a:r>
              <a:rPr lang="en-US" sz="2400" dirty="0">
                <a:solidFill>
                  <a:srgbClr val="FF0000"/>
                </a:solidFill>
                <a:latin typeface="Arial Narrow" pitchFamily="34" charset="0"/>
              </a:rPr>
              <a:t>         6.000000         -8.000000</a:t>
            </a:r>
          </a:p>
          <a:p>
            <a:r>
              <a:rPr lang="en-US" sz="2400" dirty="0">
                <a:solidFill>
                  <a:srgbClr val="FF0000"/>
                </a:solidFill>
                <a:latin typeface="Arial Narrow" pitchFamily="34" charset="0"/>
              </a:rPr>
              <a:t>        </a:t>
            </a:r>
            <a:r>
              <a:rPr lang="en-US" sz="2400" dirty="0" err="1">
                <a:solidFill>
                  <a:srgbClr val="FF0000"/>
                </a:solidFill>
                <a:latin typeface="Arial Narrow" pitchFamily="34" charset="0"/>
              </a:rPr>
              <a:t>X2</a:t>
            </a:r>
            <a:r>
              <a:rPr lang="en-US" sz="2400" dirty="0">
                <a:solidFill>
                  <a:srgbClr val="FF0000"/>
                </a:solidFill>
                <a:latin typeface="Arial Narrow" pitchFamily="34" charset="0"/>
              </a:rPr>
              <a:t>         2.000000        -10.000000</a:t>
            </a:r>
          </a:p>
        </p:txBody>
      </p:sp>
    </p:spTree>
    <p:extLst>
      <p:ext uri="{BB962C8B-B14F-4D97-AF65-F5344CB8AC3E}">
        <p14:creationId xmlns:p14="http://schemas.microsoft.com/office/powerpoint/2010/main" val="409796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5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7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P spid="11269" grpId="0"/>
      <p:bldP spid="23558" grpId="0"/>
      <p:bldP spid="11271" grpId="0"/>
      <p:bldP spid="11273" grpId="0"/>
      <p:bldP spid="13" grpId="0"/>
      <p:bldP spid="14" grpId="0" animBg="1"/>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Diagrama"/>
          <p:cNvGraphicFramePr/>
          <p:nvPr>
            <p:extLst>
              <p:ext uri="{D42A27DB-BD31-4B8C-83A1-F6EECF244321}">
                <p14:modId xmlns:p14="http://schemas.microsoft.com/office/powerpoint/2010/main" val="1369444002"/>
              </p:ext>
            </p:extLst>
          </p:nvPr>
        </p:nvGraphicFramePr>
        <p:xfrm>
          <a:off x="75654" y="1240392"/>
          <a:ext cx="6020346" cy="2116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4579" name="Object 2"/>
          <p:cNvGraphicFramePr>
            <a:graphicFrameLocks noChangeAspect="1"/>
          </p:cNvGraphicFramePr>
          <p:nvPr>
            <p:extLst>
              <p:ext uri="{D42A27DB-BD31-4B8C-83A1-F6EECF244321}">
                <p14:modId xmlns:p14="http://schemas.microsoft.com/office/powerpoint/2010/main" val="1330971050"/>
              </p:ext>
            </p:extLst>
          </p:nvPr>
        </p:nvGraphicFramePr>
        <p:xfrm>
          <a:off x="5981" y="3498702"/>
          <a:ext cx="6090020" cy="1514475"/>
        </p:xfrm>
        <a:graphic>
          <a:graphicData uri="http://schemas.openxmlformats.org/presentationml/2006/ole">
            <mc:AlternateContent xmlns:mc="http://schemas.openxmlformats.org/markup-compatibility/2006">
              <mc:Choice xmlns:v="urn:schemas-microsoft-com:vml" Requires="v">
                <p:oleObj name="Hoja de cálculo" r:id="rId7" imgW="3819566" imgH="771595" progId="Excel.Sheet.8">
                  <p:embed/>
                </p:oleObj>
              </mc:Choice>
              <mc:Fallback>
                <p:oleObj name="Hoja de cálculo" r:id="rId7" imgW="3819566" imgH="771595" progId="Excel.Sheet.8">
                  <p:embed/>
                  <p:pic>
                    <p:nvPicPr>
                      <p:cNvPr id="24579"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1" y="3498702"/>
                        <a:ext cx="6090020" cy="1514475"/>
                      </a:xfrm>
                      <a:prstGeom prst="rect">
                        <a:avLst/>
                      </a:prstGeom>
                      <a:solidFill>
                        <a:schemeClr val="bg2">
                          <a:lumMod val="90000"/>
                        </a:schemeClr>
                      </a:solidFill>
                      <a:ln>
                        <a:noFill/>
                      </a:ln>
                      <a:effectLst/>
                    </p:spPr>
                  </p:pic>
                </p:oleObj>
              </mc:Fallback>
            </mc:AlternateContent>
          </a:graphicData>
        </a:graphic>
      </p:graphicFrame>
      <p:graphicFrame>
        <p:nvGraphicFramePr>
          <p:cNvPr id="4" name="3 Diagrama"/>
          <p:cNvGraphicFramePr/>
          <p:nvPr>
            <p:extLst>
              <p:ext uri="{D42A27DB-BD31-4B8C-83A1-F6EECF244321}">
                <p14:modId xmlns:p14="http://schemas.microsoft.com/office/powerpoint/2010/main" val="1174267863"/>
              </p:ext>
            </p:extLst>
          </p:nvPr>
        </p:nvGraphicFramePr>
        <p:xfrm>
          <a:off x="79177" y="5228580"/>
          <a:ext cx="6016824" cy="108074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 name="1 Rectángulo"/>
          <p:cNvSpPr/>
          <p:nvPr/>
        </p:nvSpPr>
        <p:spPr>
          <a:xfrm>
            <a:off x="6096000" y="164867"/>
            <a:ext cx="6096000" cy="750847"/>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15:</a:t>
            </a:r>
          </a:p>
        </p:txBody>
      </p:sp>
      <p:sp>
        <p:nvSpPr>
          <p:cNvPr id="5" name="Rectangle 1">
            <a:extLst>
              <a:ext uri="{FF2B5EF4-FFF2-40B4-BE49-F238E27FC236}">
                <a16:creationId xmlns:a16="http://schemas.microsoft.com/office/drawing/2014/main" id="{E79A19D1-AA22-1448-9BD5-A79831A4A8B0}"/>
              </a:ext>
            </a:extLst>
          </p:cNvPr>
          <p:cNvSpPr>
            <a:spLocks noChangeArrowheads="1"/>
          </p:cNvSpPr>
          <p:nvPr/>
        </p:nvSpPr>
        <p:spPr bwMode="auto">
          <a:xfrm>
            <a:off x="6096000" y="1237406"/>
            <a:ext cx="4850674" cy="3170099"/>
          </a:xfrm>
          <a:prstGeom prst="rect">
            <a:avLst/>
          </a:prstGeom>
          <a:solidFill>
            <a:schemeClr val="accent5">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I.     Identificación de variables</a:t>
            </a:r>
            <a:endParaRPr lang="es-PE" sz="2000" b="1" dirty="0">
              <a:solidFill>
                <a:srgbClr val="FF0000"/>
              </a:solidFill>
              <a:latin typeface="Arial Narrow" pitchFamily="34" charset="0"/>
              <a:cs typeface="Arial" pitchFamily="34" charset="0"/>
            </a:endParaRPr>
          </a:p>
          <a:p>
            <a:pPr lvl="0"/>
            <a:r>
              <a:rPr lang="es-PE" sz="2000" b="1" dirty="0">
                <a:solidFill>
                  <a:srgbClr val="FF0000"/>
                </a:solidFill>
                <a:latin typeface="Arial Narrow" pitchFamily="34" charset="0"/>
                <a:ea typeface="Calibri" pitchFamily="34" charset="0"/>
                <a:cs typeface="Arial" panose="020B0604020202020204" pitchFamily="34" charset="0"/>
              </a:rPr>
              <a:t>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1</a:t>
            </a:r>
            <a:r>
              <a:rPr lang="es-ES_tradnl" sz="2000" b="1" dirty="0">
                <a:latin typeface="Arial Narrow" panose="020B0606020202030204" pitchFamily="34" charset="0"/>
              </a:rPr>
              <a:t> : Cantidad de unidades del producto 1</a:t>
            </a:r>
            <a:endParaRPr lang="es-ES" sz="2000" b="1" dirty="0">
              <a:latin typeface="Arial Narrow" panose="020B0606020202030204" pitchFamily="34" charset="0"/>
            </a:endParaRPr>
          </a:p>
          <a:p>
            <a:pPr lvl="0"/>
            <a:r>
              <a:rPr lang="es-ES_tradnl" sz="2000" b="1" dirty="0">
                <a:latin typeface="Arial Narrow" panose="020B0606020202030204" pitchFamily="34" charset="0"/>
              </a:rPr>
              <a:t>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2</a:t>
            </a:r>
            <a:r>
              <a:rPr lang="es-ES_tradnl" sz="2000" b="1" dirty="0">
                <a:latin typeface="Arial Narrow" panose="020B0606020202030204" pitchFamily="34" charset="0"/>
              </a:rPr>
              <a:t> : Cantidad de unidades del producto 2</a:t>
            </a:r>
            <a:endParaRPr lang="es-ES" sz="2000" b="1" dirty="0">
              <a:latin typeface="Arial Narrow" panose="020B0606020202030204" pitchFamily="34" charset="0"/>
            </a:endParaRPr>
          </a:p>
          <a:p>
            <a:pPr lvl="0"/>
            <a:r>
              <a:rPr lang="es-PE" sz="2000" b="1"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000" b="1" dirty="0">
              <a:solidFill>
                <a:srgbClr val="FF0000"/>
              </a:solidFill>
              <a:latin typeface="Arial Narrow" pitchFamily="34" charset="0"/>
              <a:cs typeface="Arial" pitchFamily="34" charset="0"/>
            </a:endParaRPr>
          </a:p>
          <a:p>
            <a:pPr lvl="0"/>
            <a:r>
              <a:rPr lang="es-ES_tradnl" sz="2000" b="1" dirty="0">
                <a:latin typeface="Arial Narrow" panose="020B0606020202030204" pitchFamily="34" charset="0"/>
              </a:rPr>
              <a:t>       MAX  2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1</a:t>
            </a:r>
            <a:r>
              <a:rPr lang="es-ES_tradnl" sz="2000" b="1" dirty="0">
                <a:latin typeface="Arial Narrow" panose="020B0606020202030204" pitchFamily="34" charset="0"/>
              </a:rPr>
              <a:t> + 3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2</a:t>
            </a:r>
            <a:endParaRPr lang="es-ES" sz="2000" b="1" dirty="0">
              <a:latin typeface="Arial Narrow" panose="020B0606020202030204" pitchFamily="34" charset="0"/>
            </a:endParaRPr>
          </a:p>
          <a:p>
            <a:pPr algn="just" eaLnBrk="0" fontAlgn="base" hangingPunct="0">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III.   Identificación de las restricciones</a:t>
            </a:r>
          </a:p>
          <a:p>
            <a:pPr lvl="0"/>
            <a:r>
              <a:rPr lang="es-PE" sz="2000" b="1" dirty="0">
                <a:solidFill>
                  <a:srgbClr val="FF0000"/>
                </a:solidFill>
                <a:latin typeface="Arial Narrow" pitchFamily="34" charset="0"/>
                <a:cs typeface="Arial" pitchFamily="34" charset="0"/>
              </a:rPr>
              <a:t>       	</a:t>
            </a:r>
            <a:r>
              <a:rPr lang="es-ES_tradnl" sz="2000" b="1" dirty="0">
                <a:latin typeface="Arial Narrow" panose="020B0606020202030204" pitchFamily="34" charset="0"/>
              </a:rPr>
              <a:t>10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1</a:t>
            </a:r>
            <a:r>
              <a:rPr lang="es-ES_tradnl" sz="2000" b="1" dirty="0">
                <a:latin typeface="Arial Narrow" panose="020B0606020202030204" pitchFamily="34" charset="0"/>
              </a:rPr>
              <a:t> +   5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2</a:t>
            </a:r>
            <a:r>
              <a:rPr lang="es-ES_tradnl" sz="2000" b="1" dirty="0">
                <a:latin typeface="Arial Narrow" panose="020B0606020202030204" pitchFamily="34" charset="0"/>
              </a:rPr>
              <a:t>   	</a:t>
            </a:r>
            <a:r>
              <a:rPr lang="es-CL" sz="2000" b="1" dirty="0">
                <a:latin typeface="Arial Narrow" panose="020B0606020202030204" pitchFamily="34" charset="0"/>
                <a:sym typeface="Symbol"/>
              </a:rPr>
              <a:t></a:t>
            </a:r>
            <a:r>
              <a:rPr lang="es-CL" sz="2000" b="1" dirty="0">
                <a:latin typeface="Arial Narrow" panose="020B0606020202030204" pitchFamily="34" charset="0"/>
              </a:rPr>
              <a:t>  600     (min)</a:t>
            </a:r>
            <a:endParaRPr lang="es-ES" sz="2000" b="1" dirty="0">
              <a:latin typeface="Arial Narrow" panose="020B0606020202030204" pitchFamily="34" charset="0"/>
            </a:endParaRPr>
          </a:p>
          <a:p>
            <a:pPr lvl="0"/>
            <a:r>
              <a:rPr lang="es-CL" sz="2000" b="1" dirty="0">
                <a:latin typeface="Arial Narrow" panose="020B0606020202030204" pitchFamily="34" charset="0"/>
              </a:rPr>
              <a:t>	6 </a:t>
            </a:r>
            <a:r>
              <a:rPr lang="es-CL" sz="2000" b="1" dirty="0" err="1">
                <a:latin typeface="Arial Narrow" panose="020B0606020202030204" pitchFamily="34" charset="0"/>
              </a:rPr>
              <a:t>X</a:t>
            </a:r>
            <a:r>
              <a:rPr lang="es-CL" sz="2000" b="1" baseline="-25000" dirty="0" err="1">
                <a:latin typeface="Arial Narrow" panose="020B0606020202030204" pitchFamily="34" charset="0"/>
              </a:rPr>
              <a:t>1</a:t>
            </a:r>
            <a:r>
              <a:rPr lang="es-CL" sz="2000" b="1" dirty="0">
                <a:latin typeface="Arial Narrow" panose="020B0606020202030204" pitchFamily="34" charset="0"/>
              </a:rPr>
              <a:t> + 20 </a:t>
            </a:r>
            <a:r>
              <a:rPr lang="es-CL" sz="2000" b="1" dirty="0" err="1">
                <a:latin typeface="Arial Narrow" panose="020B0606020202030204" pitchFamily="34" charset="0"/>
              </a:rPr>
              <a:t>X</a:t>
            </a:r>
            <a:r>
              <a:rPr lang="es-CL" sz="2000" b="1" baseline="-25000" dirty="0" err="1">
                <a:latin typeface="Arial Narrow" panose="020B0606020202030204" pitchFamily="34" charset="0"/>
              </a:rPr>
              <a:t>2</a:t>
            </a:r>
            <a:r>
              <a:rPr lang="es-CL" sz="2000" b="1" baseline="-25000" dirty="0">
                <a:latin typeface="Arial Narrow" panose="020B0606020202030204" pitchFamily="34" charset="0"/>
              </a:rPr>
              <a:t>	</a:t>
            </a:r>
            <a:r>
              <a:rPr lang="es-CL" sz="2000" b="1" dirty="0">
                <a:latin typeface="Arial Narrow" panose="020B0606020202030204" pitchFamily="34" charset="0"/>
                <a:sym typeface="Symbol"/>
              </a:rPr>
              <a:t></a:t>
            </a:r>
            <a:r>
              <a:rPr lang="es-CL" sz="2000" b="1" dirty="0">
                <a:latin typeface="Arial Narrow" panose="020B0606020202030204" pitchFamily="34" charset="0"/>
              </a:rPr>
              <a:t>  600</a:t>
            </a:r>
            <a:endParaRPr lang="es-ES" sz="2000" b="1" dirty="0">
              <a:latin typeface="Arial Narrow" panose="020B0606020202030204" pitchFamily="34" charset="0"/>
            </a:endParaRPr>
          </a:p>
          <a:p>
            <a:pPr lvl="0"/>
            <a:r>
              <a:rPr lang="es-ES_tradnl" sz="2000" b="1" dirty="0">
                <a:latin typeface="Arial Narrow" panose="020B0606020202030204" pitchFamily="34" charset="0"/>
              </a:rPr>
              <a:t>	8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1</a:t>
            </a:r>
            <a:r>
              <a:rPr lang="es-ES_tradnl" sz="2000" b="1" dirty="0">
                <a:latin typeface="Arial Narrow" panose="020B0606020202030204" pitchFamily="34" charset="0"/>
              </a:rPr>
              <a:t> + 15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2</a:t>
            </a:r>
            <a:r>
              <a:rPr lang="es-ES_tradnl" sz="2000" b="1" dirty="0">
                <a:latin typeface="Arial Narrow" panose="020B0606020202030204" pitchFamily="34" charset="0"/>
              </a:rPr>
              <a:t>   	</a:t>
            </a:r>
            <a:r>
              <a:rPr lang="es-CL" sz="2000" b="1" dirty="0">
                <a:latin typeface="Arial Narrow" panose="020B0606020202030204" pitchFamily="34" charset="0"/>
                <a:sym typeface="Symbol"/>
              </a:rPr>
              <a:t></a:t>
            </a:r>
            <a:r>
              <a:rPr lang="es-CL" sz="2000" b="1" dirty="0">
                <a:latin typeface="Arial Narrow" panose="020B0606020202030204" pitchFamily="34" charset="0"/>
              </a:rPr>
              <a:t>  600</a:t>
            </a:r>
            <a:endParaRPr lang="es-ES" sz="2000" b="1" dirty="0">
              <a:latin typeface="Arial Narrow" panose="020B0606020202030204" pitchFamily="34" charset="0"/>
            </a:endParaRPr>
          </a:p>
          <a:p>
            <a:pPr lvl="0"/>
            <a:r>
              <a:rPr lang="es-ES_tradnl" sz="2000" b="1" dirty="0">
                <a:latin typeface="Arial Narrow" panose="020B0606020202030204" pitchFamily="34" charset="0"/>
              </a:rPr>
              <a:t>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1</a:t>
            </a:r>
            <a:r>
              <a:rPr lang="es-ES_tradnl" sz="2000" b="1" dirty="0">
                <a:latin typeface="Arial Narrow" panose="020B0606020202030204" pitchFamily="34" charset="0"/>
              </a:rPr>
              <a:t> , </a:t>
            </a:r>
            <a:r>
              <a:rPr lang="es-ES_tradnl" sz="2000" b="1" dirty="0" err="1">
                <a:latin typeface="Arial Narrow" panose="020B0606020202030204" pitchFamily="34" charset="0"/>
              </a:rPr>
              <a:t>X</a:t>
            </a:r>
            <a:r>
              <a:rPr lang="es-ES_tradnl" sz="2000" b="1" baseline="-25000" dirty="0" err="1">
                <a:latin typeface="Arial Narrow" panose="020B0606020202030204" pitchFamily="34" charset="0"/>
              </a:rPr>
              <a:t>2</a:t>
            </a:r>
            <a:r>
              <a:rPr lang="es-ES_tradnl" sz="2000" b="1" dirty="0">
                <a:latin typeface="Arial Narrow" panose="020B0606020202030204" pitchFamily="34" charset="0"/>
              </a:rPr>
              <a:t>  </a:t>
            </a:r>
            <a:r>
              <a:rPr lang="es-CL" sz="2000" b="1" dirty="0">
                <a:latin typeface="Arial Narrow" panose="020B0606020202030204" pitchFamily="34" charset="0"/>
                <a:sym typeface="Symbol"/>
              </a:rPr>
              <a:t></a:t>
            </a:r>
            <a:r>
              <a:rPr lang="es-CL" sz="2000" b="1" dirty="0">
                <a:latin typeface="Arial Narrow" panose="020B0606020202030204" pitchFamily="34" charset="0"/>
              </a:rPr>
              <a:t> 0, ENTERO</a:t>
            </a:r>
            <a:endParaRPr lang="es-PE" sz="2000" b="1" dirty="0">
              <a:solidFill>
                <a:srgbClr val="FF0000"/>
              </a:solidFill>
              <a:latin typeface="Arial Narrow" pitchFamily="34" charset="0"/>
              <a:cs typeface="Arial" pitchFamily="34" charset="0"/>
            </a:endParaRPr>
          </a:p>
        </p:txBody>
      </p:sp>
      <p:sp>
        <p:nvSpPr>
          <p:cNvPr id="6" name="1 Rectángulo">
            <a:extLst>
              <a:ext uri="{FF2B5EF4-FFF2-40B4-BE49-F238E27FC236}">
                <a16:creationId xmlns:a16="http://schemas.microsoft.com/office/drawing/2014/main" id="{A2CB6F21-A2EF-666D-BB9D-35A4BF007844}"/>
              </a:ext>
            </a:extLst>
          </p:cNvPr>
          <p:cNvSpPr/>
          <p:nvPr/>
        </p:nvSpPr>
        <p:spPr>
          <a:xfrm>
            <a:off x="6096001" y="4303455"/>
            <a:ext cx="2377440" cy="2554545"/>
          </a:xfrm>
          <a:prstGeom prst="rect">
            <a:avLst/>
          </a:prstGeom>
          <a:solidFill>
            <a:srgbClr val="FFFF00"/>
          </a:solidFill>
        </p:spPr>
        <p:txBody>
          <a:bodyPr wrap="square">
            <a:spAutoFit/>
          </a:bodyPr>
          <a:lstStyle/>
          <a:p>
            <a:r>
              <a:rPr lang="en-US" sz="2000" b="1" dirty="0"/>
              <a:t>MAX  2 </a:t>
            </a:r>
            <a:r>
              <a:rPr lang="en-US" sz="2000" b="1" dirty="0" err="1"/>
              <a:t>X1</a:t>
            </a:r>
            <a:r>
              <a:rPr lang="en-US" sz="2000" b="1" dirty="0"/>
              <a:t> + 3 </a:t>
            </a:r>
            <a:r>
              <a:rPr lang="en-US" sz="2000" b="1" dirty="0" err="1"/>
              <a:t>X2</a:t>
            </a:r>
            <a:endParaRPr lang="en-US" sz="2000" b="1" dirty="0"/>
          </a:p>
          <a:p>
            <a:r>
              <a:rPr lang="en-US" sz="2000" b="1" dirty="0"/>
              <a:t>ST</a:t>
            </a:r>
          </a:p>
          <a:p>
            <a:r>
              <a:rPr lang="en-US" sz="2000" b="1" dirty="0"/>
              <a:t>10 </a:t>
            </a:r>
            <a:r>
              <a:rPr lang="en-US" sz="2000" b="1" dirty="0" err="1"/>
              <a:t>X1</a:t>
            </a:r>
            <a:r>
              <a:rPr lang="en-US" sz="2000" b="1" dirty="0"/>
              <a:t> + 5 </a:t>
            </a:r>
            <a:r>
              <a:rPr lang="en-US" sz="2000" b="1" dirty="0" err="1"/>
              <a:t>X2</a:t>
            </a:r>
            <a:r>
              <a:rPr lang="en-US" sz="2000" b="1" dirty="0"/>
              <a:t> &lt;=  600     </a:t>
            </a:r>
          </a:p>
          <a:p>
            <a:r>
              <a:rPr lang="en-US" sz="2000" b="1" dirty="0"/>
              <a:t>6 </a:t>
            </a:r>
            <a:r>
              <a:rPr lang="en-US" sz="2000" b="1" dirty="0" err="1"/>
              <a:t>X1</a:t>
            </a:r>
            <a:r>
              <a:rPr lang="en-US" sz="2000" b="1" dirty="0"/>
              <a:t> + 20 </a:t>
            </a:r>
            <a:r>
              <a:rPr lang="en-US" sz="2000" b="1" dirty="0" err="1"/>
              <a:t>X2</a:t>
            </a:r>
            <a:r>
              <a:rPr lang="en-US" sz="2000" b="1" dirty="0"/>
              <a:t> &lt;=  600</a:t>
            </a:r>
          </a:p>
          <a:p>
            <a:r>
              <a:rPr lang="en-US" sz="2000" b="1" dirty="0"/>
              <a:t>8 </a:t>
            </a:r>
            <a:r>
              <a:rPr lang="en-US" sz="2000" b="1" dirty="0" err="1"/>
              <a:t>X1</a:t>
            </a:r>
            <a:r>
              <a:rPr lang="en-US" sz="2000" b="1" dirty="0"/>
              <a:t> + 15 </a:t>
            </a:r>
            <a:r>
              <a:rPr lang="en-US" sz="2000" b="1" dirty="0" err="1"/>
              <a:t>X2</a:t>
            </a:r>
            <a:r>
              <a:rPr lang="en-US" sz="2000" b="1" dirty="0"/>
              <a:t> &lt;=  600</a:t>
            </a:r>
          </a:p>
          <a:p>
            <a:r>
              <a:rPr lang="en-US" sz="2000" b="1" dirty="0"/>
              <a:t>END</a:t>
            </a:r>
          </a:p>
          <a:p>
            <a:r>
              <a:rPr lang="en-US" sz="2000" b="1" dirty="0"/>
              <a:t>GIN </a:t>
            </a:r>
            <a:r>
              <a:rPr lang="en-US" sz="2000" b="1" dirty="0" err="1"/>
              <a:t>X1</a:t>
            </a:r>
            <a:endParaRPr lang="en-US" sz="2000" b="1" dirty="0"/>
          </a:p>
          <a:p>
            <a:r>
              <a:rPr lang="en-US" sz="2000" b="1" dirty="0"/>
              <a:t>GIN </a:t>
            </a:r>
            <a:r>
              <a:rPr lang="en-US" sz="2000" b="1" dirty="0" err="1"/>
              <a:t>X2</a:t>
            </a:r>
            <a:r>
              <a:rPr lang="en-US" sz="2000" b="1" dirty="0"/>
              <a:t> </a:t>
            </a:r>
            <a:endParaRPr lang="es-ES" sz="2000" b="1" dirty="0"/>
          </a:p>
        </p:txBody>
      </p:sp>
      <p:sp>
        <p:nvSpPr>
          <p:cNvPr id="7" name="2 Rectángulo">
            <a:extLst>
              <a:ext uri="{FF2B5EF4-FFF2-40B4-BE49-F238E27FC236}">
                <a16:creationId xmlns:a16="http://schemas.microsoft.com/office/drawing/2014/main" id="{D60DE83C-BF28-0ECD-BBF8-31354AAC7C8B}"/>
              </a:ext>
            </a:extLst>
          </p:cNvPr>
          <p:cNvSpPr/>
          <p:nvPr/>
        </p:nvSpPr>
        <p:spPr>
          <a:xfrm>
            <a:off x="8473441" y="5370421"/>
            <a:ext cx="3718559" cy="1477328"/>
          </a:xfrm>
          <a:prstGeom prst="rect">
            <a:avLst/>
          </a:prstGeom>
          <a:solidFill>
            <a:schemeClr val="accent1">
              <a:lumMod val="40000"/>
              <a:lumOff val="60000"/>
            </a:schemeClr>
          </a:solidFill>
        </p:spPr>
        <p:txBody>
          <a:bodyPr wrap="square">
            <a:spAutoFit/>
          </a:bodyPr>
          <a:lstStyle/>
          <a:p>
            <a:r>
              <a:rPr lang="en-US" b="1" dirty="0">
                <a:solidFill>
                  <a:srgbClr val="FF0000"/>
                </a:solidFill>
                <a:latin typeface="Arial Narrow" panose="020B0606020202030204" pitchFamily="34" charset="0"/>
              </a:rPr>
              <a:t> OBJECTIVE FUNCTION VALUE</a:t>
            </a:r>
          </a:p>
          <a:p>
            <a:r>
              <a:rPr lang="en-US" b="1" dirty="0">
                <a:solidFill>
                  <a:srgbClr val="FF0000"/>
                </a:solidFill>
                <a:latin typeface="Arial Narrow" panose="020B0606020202030204" pitchFamily="34" charset="0"/>
              </a:rPr>
              <a:t>        1)      141.0000</a:t>
            </a:r>
          </a:p>
          <a:p>
            <a:r>
              <a:rPr lang="en-US" b="1" dirty="0">
                <a:solidFill>
                  <a:srgbClr val="FF0000"/>
                </a:solidFill>
                <a:latin typeface="Arial Narrow" panose="020B0606020202030204" pitchFamily="34" charset="0"/>
              </a:rPr>
              <a:t> VARIABLE VALUE  REDUCED COST</a:t>
            </a:r>
          </a:p>
          <a:p>
            <a:r>
              <a:rPr lang="en-US" b="1" dirty="0">
                <a:solidFill>
                  <a:srgbClr val="FF0000"/>
                </a:solidFill>
                <a:latin typeface="Arial Narrow" panose="020B0606020202030204" pitchFamily="34" charset="0"/>
              </a:rPr>
              <a:t>        </a:t>
            </a:r>
            <a:r>
              <a:rPr lang="en-US" b="1" dirty="0" err="1">
                <a:solidFill>
                  <a:srgbClr val="FF0000"/>
                </a:solidFill>
                <a:latin typeface="Arial Narrow" panose="020B0606020202030204" pitchFamily="34" charset="0"/>
              </a:rPr>
              <a:t>X1</a:t>
            </a:r>
            <a:r>
              <a:rPr lang="en-US" b="1" dirty="0">
                <a:solidFill>
                  <a:srgbClr val="FF0000"/>
                </a:solidFill>
                <a:latin typeface="Arial Narrow" panose="020B0606020202030204" pitchFamily="34" charset="0"/>
              </a:rPr>
              <a:t>        54.000         -2.000</a:t>
            </a:r>
          </a:p>
          <a:p>
            <a:r>
              <a:rPr lang="en-US" b="1" dirty="0">
                <a:solidFill>
                  <a:srgbClr val="FF0000"/>
                </a:solidFill>
                <a:latin typeface="Arial Narrow" panose="020B0606020202030204" pitchFamily="34" charset="0"/>
              </a:rPr>
              <a:t>        </a:t>
            </a:r>
            <a:r>
              <a:rPr lang="en-US" b="1" dirty="0" err="1">
                <a:solidFill>
                  <a:srgbClr val="FF0000"/>
                </a:solidFill>
                <a:latin typeface="Arial Narrow" panose="020B0606020202030204" pitchFamily="34" charset="0"/>
              </a:rPr>
              <a:t>X2</a:t>
            </a:r>
            <a:r>
              <a:rPr lang="en-US" b="1" dirty="0">
                <a:solidFill>
                  <a:srgbClr val="FF0000"/>
                </a:solidFill>
                <a:latin typeface="Arial Narrow" panose="020B0606020202030204" pitchFamily="34" charset="0"/>
              </a:rPr>
              <a:t>        11.000         -3.000</a:t>
            </a:r>
            <a:endParaRPr lang="es-ES" b="1"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94610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redondeado"/>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16</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graphicFrame>
        <p:nvGraphicFramePr>
          <p:cNvPr id="9" name="Tabla 9">
            <a:extLst>
              <a:ext uri="{FF2B5EF4-FFF2-40B4-BE49-F238E27FC236}">
                <a16:creationId xmlns:a16="http://schemas.microsoft.com/office/drawing/2014/main" id="{74BF6EF2-079D-47CE-B90E-30BADB08978A}"/>
              </a:ext>
            </a:extLst>
          </p:cNvPr>
          <p:cNvGraphicFramePr>
            <a:graphicFrameLocks noGrp="1"/>
          </p:cNvGraphicFramePr>
          <p:nvPr/>
        </p:nvGraphicFramePr>
        <p:xfrm>
          <a:off x="1411794" y="5273040"/>
          <a:ext cx="4553576" cy="1584960"/>
        </p:xfrm>
        <a:graphic>
          <a:graphicData uri="http://schemas.openxmlformats.org/drawingml/2006/table">
            <a:tbl>
              <a:tblPr firstRow="1" bandRow="1">
                <a:tableStyleId>{5C22544A-7EE6-4342-B048-85BDC9FD1C3A}</a:tableStyleId>
              </a:tblPr>
              <a:tblGrid>
                <a:gridCol w="1052732">
                  <a:extLst>
                    <a:ext uri="{9D8B030D-6E8A-4147-A177-3AD203B41FA5}">
                      <a16:colId xmlns:a16="http://schemas.microsoft.com/office/drawing/2014/main" val="2524255624"/>
                    </a:ext>
                  </a:extLst>
                </a:gridCol>
                <a:gridCol w="1445623">
                  <a:extLst>
                    <a:ext uri="{9D8B030D-6E8A-4147-A177-3AD203B41FA5}">
                      <a16:colId xmlns:a16="http://schemas.microsoft.com/office/drawing/2014/main" val="3625299111"/>
                    </a:ext>
                  </a:extLst>
                </a:gridCol>
                <a:gridCol w="1053737">
                  <a:extLst>
                    <a:ext uri="{9D8B030D-6E8A-4147-A177-3AD203B41FA5}">
                      <a16:colId xmlns:a16="http://schemas.microsoft.com/office/drawing/2014/main" val="3654362148"/>
                    </a:ext>
                  </a:extLst>
                </a:gridCol>
                <a:gridCol w="1001484">
                  <a:extLst>
                    <a:ext uri="{9D8B030D-6E8A-4147-A177-3AD203B41FA5}">
                      <a16:colId xmlns:a16="http://schemas.microsoft.com/office/drawing/2014/main" val="1383080097"/>
                    </a:ext>
                  </a:extLst>
                </a:gridCol>
              </a:tblGrid>
              <a:tr h="360091">
                <a:tc>
                  <a:txBody>
                    <a:bodyPr/>
                    <a:lstStyle/>
                    <a:p>
                      <a:pPr algn="ctr"/>
                      <a:endParaRPr lang="es-PE" sz="2000" dirty="0"/>
                    </a:p>
                  </a:txBody>
                  <a:tcPr/>
                </a:tc>
                <a:tc>
                  <a:txBody>
                    <a:bodyPr/>
                    <a:lstStyle/>
                    <a:p>
                      <a:pPr algn="ctr"/>
                      <a:r>
                        <a:rPr lang="es-ES" sz="2000" dirty="0" err="1"/>
                        <a:t>Azucar</a:t>
                      </a:r>
                      <a:r>
                        <a:rPr lang="es-ES" sz="2000" dirty="0"/>
                        <a:t> (kg.)</a:t>
                      </a:r>
                      <a:endParaRPr lang="es-PE" sz="2000" dirty="0"/>
                    </a:p>
                  </a:txBody>
                  <a:tcPr/>
                </a:tc>
                <a:tc>
                  <a:txBody>
                    <a:bodyPr/>
                    <a:lstStyle/>
                    <a:p>
                      <a:pPr algn="ctr"/>
                      <a:r>
                        <a:rPr lang="es-ES" sz="2000" dirty="0"/>
                        <a:t>Huevos</a:t>
                      </a:r>
                      <a:endParaRPr lang="es-PE" sz="2000" dirty="0"/>
                    </a:p>
                  </a:txBody>
                  <a:tcPr/>
                </a:tc>
                <a:tc>
                  <a:txBody>
                    <a:bodyPr/>
                    <a:lstStyle/>
                    <a:p>
                      <a:pPr algn="ctr"/>
                      <a:r>
                        <a:rPr lang="es-ES" sz="2000" dirty="0"/>
                        <a:t>Precio</a:t>
                      </a:r>
                      <a:endParaRPr lang="es-PE" sz="2000" dirty="0"/>
                    </a:p>
                  </a:txBody>
                  <a:tcPr/>
                </a:tc>
                <a:extLst>
                  <a:ext uri="{0D108BD9-81ED-4DB2-BD59-A6C34878D82A}">
                    <a16:rowId xmlns:a16="http://schemas.microsoft.com/office/drawing/2014/main" val="431579348"/>
                  </a:ext>
                </a:extLst>
              </a:tr>
              <a:tr h="360091">
                <a:tc>
                  <a:txBody>
                    <a:bodyPr/>
                    <a:lstStyle/>
                    <a:p>
                      <a:pPr algn="ctr"/>
                      <a:r>
                        <a:rPr lang="es-ES" sz="2000" dirty="0"/>
                        <a:t>Imperial</a:t>
                      </a:r>
                      <a:endParaRPr lang="es-PE" sz="2000" dirty="0"/>
                    </a:p>
                  </a:txBody>
                  <a:tcPr/>
                </a:tc>
                <a:tc>
                  <a:txBody>
                    <a:bodyPr/>
                    <a:lstStyle/>
                    <a:p>
                      <a:pPr algn="ctr"/>
                      <a:r>
                        <a:rPr lang="es-ES" sz="2000" dirty="0"/>
                        <a:t>0,5</a:t>
                      </a:r>
                      <a:endParaRPr lang="es-PE" sz="2000" dirty="0"/>
                    </a:p>
                  </a:txBody>
                  <a:tcPr/>
                </a:tc>
                <a:tc>
                  <a:txBody>
                    <a:bodyPr/>
                    <a:lstStyle/>
                    <a:p>
                      <a:pPr algn="ctr"/>
                      <a:r>
                        <a:rPr lang="es-ES" sz="2000" dirty="0"/>
                        <a:t>8</a:t>
                      </a:r>
                      <a:endParaRPr lang="es-PE" sz="2000" dirty="0"/>
                    </a:p>
                  </a:txBody>
                  <a:tcPr/>
                </a:tc>
                <a:tc>
                  <a:txBody>
                    <a:bodyPr/>
                    <a:lstStyle/>
                    <a:p>
                      <a:pPr algn="ctr"/>
                      <a:r>
                        <a:rPr lang="es-ES" sz="2000" dirty="0"/>
                        <a:t>8</a:t>
                      </a:r>
                      <a:endParaRPr lang="es-PE" sz="2000" dirty="0"/>
                    </a:p>
                  </a:txBody>
                  <a:tcPr/>
                </a:tc>
                <a:extLst>
                  <a:ext uri="{0D108BD9-81ED-4DB2-BD59-A6C34878D82A}">
                    <a16:rowId xmlns:a16="http://schemas.microsoft.com/office/drawing/2014/main" val="3753731181"/>
                  </a:ext>
                </a:extLst>
              </a:tr>
              <a:tr h="360091">
                <a:tc>
                  <a:txBody>
                    <a:bodyPr/>
                    <a:lstStyle/>
                    <a:p>
                      <a:pPr algn="ctr"/>
                      <a:r>
                        <a:rPr lang="es-ES" sz="2000" dirty="0"/>
                        <a:t>Lima</a:t>
                      </a:r>
                      <a:endParaRPr lang="es-PE" sz="2000" dirty="0"/>
                    </a:p>
                  </a:txBody>
                  <a:tcPr/>
                </a:tc>
                <a:tc>
                  <a:txBody>
                    <a:bodyPr/>
                    <a:lstStyle/>
                    <a:p>
                      <a:pPr algn="ctr"/>
                      <a:r>
                        <a:rPr lang="es-ES" sz="2000" dirty="0"/>
                        <a:t>1</a:t>
                      </a:r>
                      <a:endParaRPr lang="es-PE" sz="2000" dirty="0"/>
                    </a:p>
                  </a:txBody>
                  <a:tcPr/>
                </a:tc>
                <a:tc>
                  <a:txBody>
                    <a:bodyPr/>
                    <a:lstStyle/>
                    <a:p>
                      <a:pPr algn="ctr"/>
                      <a:r>
                        <a:rPr lang="es-ES" sz="2000" dirty="0"/>
                        <a:t>8</a:t>
                      </a:r>
                      <a:endParaRPr lang="es-PE" sz="2000" dirty="0"/>
                    </a:p>
                  </a:txBody>
                  <a:tcPr/>
                </a:tc>
                <a:tc>
                  <a:txBody>
                    <a:bodyPr/>
                    <a:lstStyle/>
                    <a:p>
                      <a:pPr algn="ctr"/>
                      <a:r>
                        <a:rPr lang="es-ES" sz="2000" dirty="0"/>
                        <a:t>10</a:t>
                      </a:r>
                      <a:endParaRPr lang="es-PE" sz="2000" dirty="0"/>
                    </a:p>
                  </a:txBody>
                  <a:tcPr/>
                </a:tc>
                <a:extLst>
                  <a:ext uri="{0D108BD9-81ED-4DB2-BD59-A6C34878D82A}">
                    <a16:rowId xmlns:a16="http://schemas.microsoft.com/office/drawing/2014/main" val="1240225981"/>
                  </a:ext>
                </a:extLst>
              </a:tr>
              <a:tr h="360091">
                <a:tc>
                  <a:txBody>
                    <a:bodyPr/>
                    <a:lstStyle/>
                    <a:p>
                      <a:pPr algn="ctr"/>
                      <a:endParaRPr lang="es-PE" sz="2000" dirty="0"/>
                    </a:p>
                  </a:txBody>
                  <a:tcPr/>
                </a:tc>
                <a:tc>
                  <a:txBody>
                    <a:bodyPr/>
                    <a:lstStyle/>
                    <a:p>
                      <a:pPr algn="ctr"/>
                      <a:r>
                        <a:rPr lang="es-ES" sz="2000" dirty="0"/>
                        <a:t>10</a:t>
                      </a:r>
                      <a:endParaRPr lang="es-PE" sz="2000" dirty="0"/>
                    </a:p>
                  </a:txBody>
                  <a:tcPr/>
                </a:tc>
                <a:tc>
                  <a:txBody>
                    <a:bodyPr/>
                    <a:lstStyle/>
                    <a:p>
                      <a:pPr algn="ctr"/>
                      <a:r>
                        <a:rPr lang="es-ES" sz="2000" dirty="0"/>
                        <a:t>120</a:t>
                      </a:r>
                      <a:endParaRPr lang="es-PE" sz="2000" dirty="0"/>
                    </a:p>
                  </a:txBody>
                  <a:tcPr/>
                </a:tc>
                <a:tc>
                  <a:txBody>
                    <a:bodyPr/>
                    <a:lstStyle/>
                    <a:p>
                      <a:pPr algn="ctr"/>
                      <a:endParaRPr lang="es-PE" sz="2000" dirty="0"/>
                    </a:p>
                  </a:txBody>
                  <a:tcPr/>
                </a:tc>
                <a:extLst>
                  <a:ext uri="{0D108BD9-81ED-4DB2-BD59-A6C34878D82A}">
                    <a16:rowId xmlns:a16="http://schemas.microsoft.com/office/drawing/2014/main" val="3501452932"/>
                  </a:ext>
                </a:extLst>
              </a:tr>
            </a:tbl>
          </a:graphicData>
        </a:graphic>
      </p:graphicFrame>
      <p:sp>
        <p:nvSpPr>
          <p:cNvPr id="8" name="1 Rectángulo">
            <a:extLst>
              <a:ext uri="{FF2B5EF4-FFF2-40B4-BE49-F238E27FC236}">
                <a16:creationId xmlns:a16="http://schemas.microsoft.com/office/drawing/2014/main" id="{729F1934-F2DE-405E-B019-1BE3F93C1123}"/>
              </a:ext>
            </a:extLst>
          </p:cNvPr>
          <p:cNvSpPr/>
          <p:nvPr/>
        </p:nvSpPr>
        <p:spPr>
          <a:xfrm>
            <a:off x="0" y="1248608"/>
            <a:ext cx="6096000" cy="4154984"/>
          </a:xfrm>
          <a:prstGeom prst="rect">
            <a:avLst/>
          </a:prstGeom>
        </p:spPr>
        <p:txBody>
          <a:bodyPr wrap="square">
            <a:spAutoFit/>
          </a:bodyPr>
          <a:lstStyle/>
          <a:p>
            <a:pPr lvl="0" algn="just"/>
            <a:r>
              <a:rPr lang="es-ES" sz="2400" b="1" dirty="0">
                <a:latin typeface="Arial Narrow" pitchFamily="34" charset="0"/>
              </a:rPr>
              <a:t>Confitería </a:t>
            </a:r>
            <a:r>
              <a:rPr lang="es-ES" sz="2400" b="1" dirty="0" err="1">
                <a:latin typeface="Arial Narrow" pitchFamily="34" charset="0"/>
              </a:rPr>
              <a:t>Luben</a:t>
            </a:r>
            <a:r>
              <a:rPr lang="es-ES" sz="2400" b="1" dirty="0">
                <a:latin typeface="Arial Narrow" pitchFamily="34" charset="0"/>
              </a:rPr>
              <a:t> es famosa por su dos especialidades de tartas: la tarta Imperial y la tarta de Lima. La tarta Imperial requiere para su elaboración medio kilo de azúcar y 8 huevos y tiene un precio de venta de 8 soles. La tarta de Lima necesita 1 kilo de azúcar y 8 huevos, y tiene un precio de venta de 10 soles. En el almacén les quedaban 10 kilos de azúcar y 120 huevos.</a:t>
            </a:r>
            <a:endParaRPr lang="es-PE" sz="2400" b="1" dirty="0">
              <a:latin typeface="Arial Narrow" pitchFamily="34" charset="0"/>
            </a:endParaRPr>
          </a:p>
          <a:p>
            <a:pPr lvl="0" algn="just"/>
            <a:r>
              <a:rPr lang="es-ES" sz="2400" b="1" dirty="0">
                <a:latin typeface="Arial Narrow" pitchFamily="34" charset="0"/>
              </a:rPr>
              <a:t>¿Cuántas unidades de cada especialidad han de producirse para obtener el mayor ingreso por ventas?</a:t>
            </a:r>
          </a:p>
        </p:txBody>
      </p:sp>
      <p:pic>
        <p:nvPicPr>
          <p:cNvPr id="2" name="Imagen 1">
            <a:extLst>
              <a:ext uri="{FF2B5EF4-FFF2-40B4-BE49-F238E27FC236}">
                <a16:creationId xmlns:a16="http://schemas.microsoft.com/office/drawing/2014/main" id="{6D471B1C-8130-1705-B1FE-D38C4562EB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403593"/>
            <a:ext cx="1411794" cy="1411794"/>
          </a:xfrm>
          <a:prstGeom prst="rect">
            <a:avLst/>
          </a:prstGeom>
        </p:spPr>
      </p:pic>
      <p:sp>
        <p:nvSpPr>
          <p:cNvPr id="4" name="3 Rectángulo">
            <a:extLst>
              <a:ext uri="{FF2B5EF4-FFF2-40B4-BE49-F238E27FC236}">
                <a16:creationId xmlns:a16="http://schemas.microsoft.com/office/drawing/2014/main" id="{517D2BF6-21D4-CBDE-FCC1-2B10CD4422FF}"/>
              </a:ext>
            </a:extLst>
          </p:cNvPr>
          <p:cNvSpPr/>
          <p:nvPr/>
        </p:nvSpPr>
        <p:spPr>
          <a:xfrm>
            <a:off x="6201507" y="1240643"/>
            <a:ext cx="5885989" cy="3416320"/>
          </a:xfrm>
          <a:prstGeom prst="rect">
            <a:avLst/>
          </a:prstGeom>
          <a:solidFill>
            <a:schemeClr val="accent4">
              <a:lumMod val="40000"/>
              <a:lumOff val="60000"/>
            </a:schemeClr>
          </a:solidFill>
        </p:spPr>
        <p:txBody>
          <a:bodyPr wrap="square">
            <a:spAutoFit/>
          </a:bodyPr>
          <a:lstStyle/>
          <a:p>
            <a:pPr marL="400050" indent="-400050" algn="just" fontAlgn="base">
              <a:spcBef>
                <a:spcPct val="0"/>
              </a:spcBef>
              <a:spcAft>
                <a:spcPct val="0"/>
              </a:spcAft>
              <a:buAutoNum type="romanUcPeriod"/>
            </a:pPr>
            <a:r>
              <a:rPr lang="es-PE" sz="2400" dirty="0">
                <a:solidFill>
                  <a:srgbClr val="FF0000"/>
                </a:solidFill>
                <a:latin typeface="Arial Narrow" pitchFamily="34" charset="0"/>
                <a:ea typeface="Calibri" pitchFamily="34" charset="0"/>
                <a:cs typeface="Arial" pitchFamily="34" charset="0"/>
              </a:rPr>
              <a:t>Identificación de variables</a:t>
            </a:r>
          </a:p>
          <a:p>
            <a:pPr marL="449263" algn="just" fontAlgn="base">
              <a:spcBef>
                <a:spcPct val="0"/>
              </a:spcBef>
              <a:spcAft>
                <a:spcPct val="0"/>
              </a:spcAft>
            </a:pPr>
            <a:r>
              <a:rPr lang="es-PE" sz="2400" dirty="0" err="1">
                <a:latin typeface="Arial Narrow" pitchFamily="34" charset="0"/>
                <a:ea typeface="Calibri" pitchFamily="34" charset="0"/>
                <a:cs typeface="Arial" pitchFamily="34" charset="0"/>
              </a:rPr>
              <a:t>X1</a:t>
            </a:r>
            <a:r>
              <a:rPr lang="es-PE" sz="2400" dirty="0">
                <a:latin typeface="Arial Narrow" pitchFamily="34" charset="0"/>
                <a:ea typeface="Calibri" pitchFamily="34" charset="0"/>
                <a:cs typeface="Arial" pitchFamily="34" charset="0"/>
              </a:rPr>
              <a:t> = Número de tartas tipo Imperial</a:t>
            </a:r>
          </a:p>
          <a:p>
            <a:pPr marL="449263" algn="just" fontAlgn="base">
              <a:spcBef>
                <a:spcPct val="0"/>
              </a:spcBef>
              <a:spcAft>
                <a:spcPct val="0"/>
              </a:spcAft>
            </a:pPr>
            <a:r>
              <a:rPr lang="es-PE" sz="2400" dirty="0" err="1">
                <a:latin typeface="Arial Narrow" pitchFamily="34" charset="0"/>
                <a:ea typeface="Calibri" pitchFamily="34" charset="0"/>
                <a:cs typeface="Arial" pitchFamily="34" charset="0"/>
              </a:rPr>
              <a:t>X2</a:t>
            </a:r>
            <a:r>
              <a:rPr lang="es-PE" sz="2400" dirty="0">
                <a:latin typeface="Arial Narrow" pitchFamily="34" charset="0"/>
                <a:ea typeface="Calibri" pitchFamily="34" charset="0"/>
                <a:cs typeface="Arial" pitchFamily="34" charset="0"/>
              </a:rPr>
              <a:t> = Número de tartas tipo Lima</a:t>
            </a:r>
          </a:p>
          <a:p>
            <a:pPr marL="449263" indent="-449263" algn="just" fontAlgn="base">
              <a:spcBef>
                <a:spcPct val="0"/>
              </a:spcBef>
              <a:spcAft>
                <a:spcPct val="0"/>
              </a:spcAft>
              <a:buAutoNum type="romanUcPeriod" startAt="2"/>
            </a:pPr>
            <a:r>
              <a:rPr lang="es-PE" sz="2400" dirty="0">
                <a:solidFill>
                  <a:srgbClr val="FF0000"/>
                </a:solidFill>
                <a:latin typeface="Arial Narrow" pitchFamily="34" charset="0"/>
                <a:ea typeface="Calibri" pitchFamily="34" charset="0"/>
                <a:cs typeface="Arial" pitchFamily="34" charset="0"/>
              </a:rPr>
              <a:t>Identificación de la Función Objetivo</a:t>
            </a:r>
            <a:endParaRPr lang="es-PE" sz="2400" dirty="0">
              <a:solidFill>
                <a:srgbClr val="FF0000"/>
              </a:solidFill>
              <a:latin typeface="Arial Narrow" pitchFamily="34" charset="0"/>
              <a:cs typeface="Arial" pitchFamily="34" charset="0"/>
            </a:endParaRPr>
          </a:p>
          <a:p>
            <a:pPr marL="449263" indent="-449263" algn="just" fontAlgn="base">
              <a:spcBef>
                <a:spcPct val="0"/>
              </a:spcBef>
              <a:spcAft>
                <a:spcPct val="0"/>
              </a:spcAft>
            </a:pPr>
            <a:r>
              <a:rPr lang="en-US" sz="2400" dirty="0">
                <a:latin typeface="Arial Narrow" pitchFamily="34" charset="0"/>
                <a:ea typeface="Calibri" pitchFamily="34" charset="0"/>
                <a:cs typeface="Arial" pitchFamily="34" charset="0"/>
              </a:rPr>
              <a:t>	Max </a:t>
            </a:r>
            <a:r>
              <a:rPr lang="es-ES" sz="2400" dirty="0" err="1">
                <a:latin typeface="Arial Narrow" pitchFamily="34" charset="0"/>
                <a:ea typeface="Calibri" pitchFamily="34" charset="0"/>
                <a:cs typeface="Arial" pitchFamily="34" charset="0"/>
              </a:rPr>
              <a:t>8X1+10X2</a:t>
            </a:r>
            <a:r>
              <a:rPr lang="es-ES" sz="2400" dirty="0">
                <a:latin typeface="Arial Narrow" pitchFamily="34" charset="0"/>
                <a:ea typeface="Calibri" pitchFamily="34" charset="0"/>
                <a:cs typeface="Arial" pitchFamily="34" charset="0"/>
              </a:rPr>
              <a:t>      (</a:t>
            </a:r>
            <a:r>
              <a:rPr lang="es-ES" sz="2400" dirty="0">
                <a:latin typeface="Arial Narrow" pitchFamily="34" charset="0"/>
              </a:rPr>
              <a:t>La FO son los ingresos)</a:t>
            </a:r>
          </a:p>
          <a:p>
            <a:pPr lvl="0" algn="just" eaLnBrk="0" fontAlgn="base" hangingPunct="0">
              <a:spcBef>
                <a:spcPct val="0"/>
              </a:spcBef>
              <a:spcAft>
                <a:spcPct val="0"/>
              </a:spcAft>
            </a:pPr>
            <a:r>
              <a:rPr lang="es-PE" sz="2400" dirty="0">
                <a:solidFill>
                  <a:srgbClr val="FF0000"/>
                </a:solidFill>
                <a:latin typeface="Arial Narrow" pitchFamily="34" charset="0"/>
                <a:ea typeface="Calibri" pitchFamily="34" charset="0"/>
                <a:cs typeface="Arial" pitchFamily="34" charset="0"/>
              </a:rPr>
              <a:t>III.   Identificación de las restricciones</a:t>
            </a:r>
            <a:endParaRPr lang="es-PE" sz="2400"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PE" sz="2400" dirty="0" err="1">
                <a:latin typeface="Arial Narrow" pitchFamily="34" charset="0"/>
                <a:ea typeface="Calibri" pitchFamily="34" charset="0"/>
                <a:cs typeface="Arial" pitchFamily="34" charset="0"/>
              </a:rPr>
              <a:t>0,5X1</a:t>
            </a:r>
            <a:r>
              <a:rPr lang="es-PE" sz="2400" dirty="0">
                <a:latin typeface="Arial Narrow" pitchFamily="34" charset="0"/>
                <a:ea typeface="Calibri" pitchFamily="34" charset="0"/>
                <a:cs typeface="Arial" pitchFamily="34" charset="0"/>
              </a:rPr>
              <a:t> + </a:t>
            </a:r>
            <a:r>
              <a:rPr lang="es-PE" sz="2400" dirty="0" err="1">
                <a:latin typeface="Arial Narrow" pitchFamily="34" charset="0"/>
                <a:ea typeface="Calibri" pitchFamily="34" charset="0"/>
                <a:cs typeface="Arial" pitchFamily="34" charset="0"/>
              </a:rPr>
              <a:t>X2</a:t>
            </a:r>
            <a:r>
              <a:rPr lang="es-PE" sz="2400" dirty="0">
                <a:latin typeface="Arial Narrow" pitchFamily="34" charset="0"/>
              </a:rPr>
              <a:t>   ≤ </a:t>
            </a:r>
            <a:r>
              <a:rPr lang="es-PE" sz="2400" dirty="0">
                <a:latin typeface="Arial Narrow" pitchFamily="34" charset="0"/>
                <a:ea typeface="Calibri" pitchFamily="34" charset="0"/>
                <a:cs typeface="Arial" pitchFamily="34" charset="0"/>
              </a:rPr>
              <a:t> 10</a:t>
            </a:r>
            <a:endParaRPr lang="es-PE" sz="2400" dirty="0">
              <a:latin typeface="Arial Narrow" pitchFamily="34" charset="0"/>
              <a:cs typeface="Arial" pitchFamily="34" charset="0"/>
            </a:endParaRPr>
          </a:p>
          <a:p>
            <a:pPr indent="449263" algn="just" eaLnBrk="0" fontAlgn="base" hangingPunct="0">
              <a:spcBef>
                <a:spcPct val="0"/>
              </a:spcBef>
              <a:spcAft>
                <a:spcPct val="0"/>
              </a:spcAft>
            </a:pPr>
            <a:r>
              <a:rPr lang="es-PE" sz="2400" dirty="0" err="1">
                <a:latin typeface="Arial Narrow" pitchFamily="34" charset="0"/>
                <a:ea typeface="Calibri" pitchFamily="34" charset="0"/>
                <a:cs typeface="Arial" pitchFamily="34" charset="0"/>
              </a:rPr>
              <a:t>8X1</a:t>
            </a:r>
            <a:r>
              <a:rPr lang="es-PE" sz="2400" dirty="0">
                <a:latin typeface="Arial Narrow" pitchFamily="34" charset="0"/>
                <a:ea typeface="Calibri" pitchFamily="34" charset="0"/>
                <a:cs typeface="Arial" pitchFamily="34" charset="0"/>
              </a:rPr>
              <a:t>    + </a:t>
            </a:r>
            <a:r>
              <a:rPr lang="es-PE" sz="2400" dirty="0" err="1">
                <a:latin typeface="Arial Narrow" pitchFamily="34" charset="0"/>
                <a:ea typeface="Calibri" pitchFamily="34" charset="0"/>
                <a:cs typeface="Arial" pitchFamily="34" charset="0"/>
              </a:rPr>
              <a:t>8X2</a:t>
            </a:r>
            <a:r>
              <a:rPr lang="es-PE" sz="2400" dirty="0">
                <a:latin typeface="Arial Narrow" pitchFamily="34" charset="0"/>
              </a:rPr>
              <a:t> ≤ </a:t>
            </a:r>
            <a:r>
              <a:rPr lang="es-PE" sz="2400" dirty="0">
                <a:latin typeface="Arial Narrow" pitchFamily="34" charset="0"/>
                <a:ea typeface="Calibri" pitchFamily="34" charset="0"/>
                <a:cs typeface="Arial" pitchFamily="34" charset="0"/>
              </a:rPr>
              <a:t> 120</a:t>
            </a:r>
          </a:p>
          <a:p>
            <a:pPr indent="449263" algn="just" eaLnBrk="0" fontAlgn="base" hangingPunct="0">
              <a:spcBef>
                <a:spcPct val="0"/>
              </a:spcBef>
              <a:spcAft>
                <a:spcPct val="0"/>
              </a:spcAft>
            </a:pPr>
            <a:r>
              <a:rPr lang="es-ES" sz="2400" dirty="0">
                <a:latin typeface="Arial Narrow" pitchFamily="34" charset="0"/>
                <a:cs typeface="Arial" pitchFamily="34" charset="0"/>
              </a:rPr>
              <a:t>        X1, X2  ≥  0, </a:t>
            </a:r>
            <a:r>
              <a:rPr lang="es-ES" sz="2400" b="1" kern="0" dirty="0">
                <a:solidFill>
                  <a:srgbClr val="FF0000"/>
                </a:solidFill>
                <a:latin typeface="Arial Narrow" panose="020B0606020202030204" pitchFamily="34" charset="0"/>
                <a:cs typeface="Times New Roman" panose="02020603050405020304" pitchFamily="18" charset="0"/>
              </a:rPr>
              <a:t>ENTERO</a:t>
            </a:r>
            <a:endParaRPr lang="es-PE" sz="2400" dirty="0">
              <a:latin typeface="Arial Narrow" pitchFamily="34" charset="0"/>
              <a:cs typeface="Arial" pitchFamily="34" charset="0"/>
            </a:endParaRPr>
          </a:p>
        </p:txBody>
      </p:sp>
      <p:sp>
        <p:nvSpPr>
          <p:cNvPr id="5" name="1 Rectángulo">
            <a:extLst>
              <a:ext uri="{FF2B5EF4-FFF2-40B4-BE49-F238E27FC236}">
                <a16:creationId xmlns:a16="http://schemas.microsoft.com/office/drawing/2014/main" id="{51D66F23-FFAC-AA92-4D63-D2286FBCC6F2}"/>
              </a:ext>
            </a:extLst>
          </p:cNvPr>
          <p:cNvSpPr/>
          <p:nvPr/>
        </p:nvSpPr>
        <p:spPr>
          <a:xfrm>
            <a:off x="8737642" y="4745930"/>
            <a:ext cx="3349854" cy="1323439"/>
          </a:xfrm>
          <a:prstGeom prst="rect">
            <a:avLst/>
          </a:prstGeom>
          <a:solidFill>
            <a:srgbClr val="FFC000"/>
          </a:solidFill>
        </p:spPr>
        <p:txBody>
          <a:bodyPr wrap="square">
            <a:spAutoFit/>
          </a:bodyPr>
          <a:lstStyle/>
          <a:p>
            <a:r>
              <a:rPr lang="en-US" sz="1600" dirty="0">
                <a:latin typeface="Arial Narrow" pitchFamily="34" charset="0"/>
              </a:rPr>
              <a:t>OBJECTIVE FUNCTION VALUE</a:t>
            </a:r>
          </a:p>
          <a:p>
            <a:r>
              <a:rPr lang="en-US" sz="1600" dirty="0">
                <a:latin typeface="Arial Narrow" pitchFamily="34" charset="0"/>
              </a:rPr>
              <a:t>        1)      130.0000</a:t>
            </a:r>
          </a:p>
          <a:p>
            <a:r>
              <a:rPr lang="en-US" sz="1600" dirty="0">
                <a:latin typeface="Arial Narrow" pitchFamily="34" charset="0"/>
              </a:rPr>
              <a:t>VARIABLE      VALUE    REDUCED COST</a:t>
            </a:r>
          </a:p>
          <a:p>
            <a:r>
              <a:rPr lang="en-US" sz="1600" dirty="0">
                <a:latin typeface="Arial Narrow" pitchFamily="34" charset="0"/>
              </a:rPr>
              <a:t>        </a:t>
            </a:r>
            <a:r>
              <a:rPr lang="en-US" sz="1600" dirty="0" err="1">
                <a:latin typeface="Arial Narrow" pitchFamily="34" charset="0"/>
              </a:rPr>
              <a:t>X1</a:t>
            </a:r>
            <a:r>
              <a:rPr lang="en-US" sz="1600" dirty="0">
                <a:latin typeface="Arial Narrow" pitchFamily="34" charset="0"/>
              </a:rPr>
              <a:t>        10.000000         0.000000</a:t>
            </a:r>
          </a:p>
          <a:p>
            <a:r>
              <a:rPr lang="en-US" sz="1600" dirty="0">
                <a:latin typeface="Arial Narrow" pitchFamily="34" charset="0"/>
              </a:rPr>
              <a:t>        </a:t>
            </a:r>
            <a:r>
              <a:rPr lang="en-US" sz="1600" dirty="0" err="1">
                <a:latin typeface="Arial Narrow" pitchFamily="34" charset="0"/>
              </a:rPr>
              <a:t>X2</a:t>
            </a:r>
            <a:r>
              <a:rPr lang="en-US" sz="1600" dirty="0">
                <a:latin typeface="Arial Narrow" pitchFamily="34" charset="0"/>
              </a:rPr>
              <a:t>         5.000000          0.000000</a:t>
            </a:r>
            <a:endParaRPr lang="es-PE" sz="1600" dirty="0">
              <a:latin typeface="Arial Narrow" pitchFamily="34" charset="0"/>
            </a:endParaRPr>
          </a:p>
        </p:txBody>
      </p:sp>
      <p:sp>
        <p:nvSpPr>
          <p:cNvPr id="6" name="4 Rectángulo">
            <a:extLst>
              <a:ext uri="{FF2B5EF4-FFF2-40B4-BE49-F238E27FC236}">
                <a16:creationId xmlns:a16="http://schemas.microsoft.com/office/drawing/2014/main" id="{88BC86F0-8E11-3ECE-44B9-28AB50E6AAA3}"/>
              </a:ext>
            </a:extLst>
          </p:cNvPr>
          <p:cNvSpPr/>
          <p:nvPr/>
        </p:nvSpPr>
        <p:spPr>
          <a:xfrm>
            <a:off x="6201507" y="4631251"/>
            <a:ext cx="2536134" cy="2246769"/>
          </a:xfrm>
          <a:prstGeom prst="rect">
            <a:avLst/>
          </a:prstGeom>
          <a:solidFill>
            <a:srgbClr val="FFFF00"/>
          </a:solidFill>
        </p:spPr>
        <p:txBody>
          <a:bodyPr wrap="square">
            <a:spAutoFit/>
          </a:bodyPr>
          <a:lstStyle/>
          <a:p>
            <a:r>
              <a:rPr lang="en-US" sz="2000" dirty="0">
                <a:latin typeface="Arial Narrow" pitchFamily="34" charset="0"/>
              </a:rPr>
              <a:t>Max </a:t>
            </a:r>
            <a:r>
              <a:rPr lang="en-US" sz="2000" dirty="0" err="1">
                <a:latin typeface="Arial Narrow" pitchFamily="34" charset="0"/>
              </a:rPr>
              <a:t>8X1+10X2</a:t>
            </a:r>
            <a:endParaRPr lang="en-US" sz="2000" dirty="0">
              <a:latin typeface="Arial Narrow" pitchFamily="34" charset="0"/>
            </a:endParaRPr>
          </a:p>
          <a:p>
            <a:r>
              <a:rPr lang="en-US" sz="2000" dirty="0">
                <a:latin typeface="Arial Narrow" pitchFamily="34" charset="0"/>
              </a:rPr>
              <a:t>ST</a:t>
            </a:r>
          </a:p>
          <a:p>
            <a:r>
              <a:rPr lang="en-US" sz="2000" dirty="0" err="1">
                <a:latin typeface="Arial Narrow" pitchFamily="34" charset="0"/>
              </a:rPr>
              <a:t>0.5X1</a:t>
            </a:r>
            <a:r>
              <a:rPr lang="en-US" sz="2000" dirty="0">
                <a:latin typeface="Arial Narrow" pitchFamily="34" charset="0"/>
              </a:rPr>
              <a:t> + </a:t>
            </a:r>
            <a:r>
              <a:rPr lang="en-US" sz="2000" dirty="0" err="1">
                <a:latin typeface="Arial Narrow" pitchFamily="34" charset="0"/>
              </a:rPr>
              <a:t>X2</a:t>
            </a:r>
            <a:r>
              <a:rPr lang="en-US" sz="2000" dirty="0">
                <a:latin typeface="Arial Narrow" pitchFamily="34" charset="0"/>
              </a:rPr>
              <a:t>  &lt;=  10</a:t>
            </a:r>
          </a:p>
          <a:p>
            <a:r>
              <a:rPr lang="en-US" sz="2000" dirty="0">
                <a:latin typeface="Arial Narrow" pitchFamily="34" charset="0"/>
              </a:rPr>
              <a:t>8X1   + 8X2 &lt;=  120</a:t>
            </a:r>
          </a:p>
          <a:p>
            <a:r>
              <a:rPr lang="en-US" sz="2000" dirty="0">
                <a:latin typeface="Arial Narrow" pitchFamily="34" charset="0"/>
              </a:rPr>
              <a:t>END</a:t>
            </a:r>
          </a:p>
          <a:p>
            <a:r>
              <a:rPr lang="en-US" sz="2000" dirty="0">
                <a:latin typeface="Arial Narrow" pitchFamily="34" charset="0"/>
              </a:rPr>
              <a:t>GIN X1</a:t>
            </a:r>
          </a:p>
          <a:p>
            <a:r>
              <a:rPr lang="en-US" sz="2000" dirty="0">
                <a:latin typeface="Arial Narrow" pitchFamily="34" charset="0"/>
              </a:rPr>
              <a:t>GIN X2</a:t>
            </a:r>
            <a:endParaRPr lang="es-PE" sz="2000" dirty="0">
              <a:latin typeface="Arial Narrow" pitchFamily="34" charset="0"/>
            </a:endParaRPr>
          </a:p>
        </p:txBody>
      </p:sp>
    </p:spTree>
    <p:extLst>
      <p:ext uri="{BB962C8B-B14F-4D97-AF65-F5344CB8AC3E}">
        <p14:creationId xmlns:p14="http://schemas.microsoft.com/office/powerpoint/2010/main" val="61162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096000" y="250166"/>
            <a:ext cx="6096000" cy="552091"/>
          </a:xfrm>
        </p:spPr>
        <p:txBody>
          <a:bodyPr>
            <a:noAutofit/>
          </a:bodyPr>
          <a:lstStyle/>
          <a:p>
            <a:pPr algn="ctr" eaLnBrk="1" hangingPunct="1"/>
            <a:r>
              <a:rPr lang="es-PE" sz="2800" b="1" dirty="0">
                <a:solidFill>
                  <a:schemeClr val="bg1"/>
                </a:solidFill>
              </a:rPr>
              <a:t>Problema 17</a:t>
            </a:r>
            <a:endParaRPr lang="es-ES" sz="2800" b="1" dirty="0">
              <a:solidFill>
                <a:schemeClr val="bg1"/>
              </a:solidFill>
            </a:endParaRPr>
          </a:p>
        </p:txBody>
      </p:sp>
      <p:sp>
        <p:nvSpPr>
          <p:cNvPr id="24579" name="Rectangle 3"/>
          <p:cNvSpPr>
            <a:spLocks noGrp="1" noChangeArrowheads="1"/>
          </p:cNvSpPr>
          <p:nvPr>
            <p:ph type="body" idx="1"/>
          </p:nvPr>
        </p:nvSpPr>
        <p:spPr>
          <a:xfrm>
            <a:off x="158149" y="1297522"/>
            <a:ext cx="5765332" cy="5560478"/>
          </a:xfrm>
        </p:spPr>
        <p:txBody>
          <a:bodyPr>
            <a:noAutofit/>
          </a:bodyPr>
          <a:lstStyle/>
          <a:p>
            <a:pPr marL="0" indent="0" algn="just" eaLnBrk="1" hangingPunct="1">
              <a:lnSpc>
                <a:spcPct val="90000"/>
              </a:lnSpc>
              <a:spcBef>
                <a:spcPts val="0"/>
              </a:spcBef>
              <a:buFont typeface="Wingdings" panose="05000000000000000000" pitchFamily="2" charset="2"/>
              <a:buNone/>
            </a:pPr>
            <a:r>
              <a:rPr lang="es-ES_tradnl" sz="2000" b="1" dirty="0">
                <a:latin typeface="Arial Narrow" panose="020B0606020202030204" pitchFamily="34" charset="0"/>
              </a:rPr>
              <a:t>Una fábrica produce pinturas para exteriores y para interiores de casas, para distribuirlos al por mayor.</a:t>
            </a:r>
          </a:p>
          <a:p>
            <a:pPr marL="0" indent="0" algn="just" eaLnBrk="1" hangingPunct="1">
              <a:lnSpc>
                <a:spcPct val="90000"/>
              </a:lnSpc>
              <a:spcBef>
                <a:spcPts val="0"/>
              </a:spcBef>
              <a:buFont typeface="Wingdings" panose="05000000000000000000" pitchFamily="2" charset="2"/>
              <a:buNone/>
            </a:pPr>
            <a:r>
              <a:rPr lang="es-ES_tradnl" sz="2000" b="1" dirty="0">
                <a:latin typeface="Arial Narrow" panose="020B0606020202030204" pitchFamily="34" charset="0"/>
              </a:rPr>
              <a:t>Para producir las pinturas se utilizan dos materiales básicos A y B. La disponibilidad máxima de A es de 60Tn y la de B es de 80Tn por día. La necesidad diaria de materia prima por cada </a:t>
            </a:r>
            <a:r>
              <a:rPr lang="es-ES_tradnl" sz="2000" b="1" dirty="0" err="1">
                <a:latin typeface="Arial Narrow" panose="020B0606020202030204" pitchFamily="34" charset="0"/>
              </a:rPr>
              <a:t>Tn</a:t>
            </a:r>
            <a:r>
              <a:rPr lang="es-ES_tradnl" sz="2000" b="1" dirty="0">
                <a:latin typeface="Arial Narrow" panose="020B0606020202030204" pitchFamily="34" charset="0"/>
              </a:rPr>
              <a:t> de pintura  es el siguiente:</a:t>
            </a:r>
          </a:p>
          <a:p>
            <a:pPr marL="0" indent="0" algn="just" eaLnBrk="1" hangingPunct="1">
              <a:lnSpc>
                <a:spcPct val="90000"/>
              </a:lnSpc>
              <a:spcBef>
                <a:spcPts val="0"/>
              </a:spcBef>
              <a:buFont typeface="Wingdings" panose="05000000000000000000" pitchFamily="2" charset="2"/>
              <a:buNone/>
            </a:pPr>
            <a:r>
              <a:rPr lang="es-ES_tradnl" sz="2000" b="1" dirty="0">
                <a:latin typeface="Arial Narrow" panose="020B0606020202030204" pitchFamily="34" charset="0"/>
              </a:rPr>
              <a:t>Pintura para exteriores:  1Tn de materia prima A y 2 </a:t>
            </a:r>
            <a:r>
              <a:rPr lang="es-ES_tradnl" sz="2000" b="1" dirty="0" err="1">
                <a:latin typeface="Arial Narrow" panose="020B0606020202030204" pitchFamily="34" charset="0"/>
              </a:rPr>
              <a:t>Tn</a:t>
            </a:r>
            <a:r>
              <a:rPr lang="es-ES_tradnl" sz="2000" b="1" dirty="0">
                <a:latin typeface="Arial Narrow" panose="020B0606020202030204" pitchFamily="34" charset="0"/>
              </a:rPr>
              <a:t> de materia prima B. Pintura para interiores:  2 </a:t>
            </a:r>
            <a:r>
              <a:rPr lang="es-ES_tradnl" sz="2000" b="1" dirty="0" err="1">
                <a:latin typeface="Arial Narrow" panose="020B0606020202030204" pitchFamily="34" charset="0"/>
              </a:rPr>
              <a:t>Tn</a:t>
            </a:r>
            <a:r>
              <a:rPr lang="es-ES_tradnl" sz="2000" b="1" dirty="0">
                <a:latin typeface="Arial Narrow" panose="020B0606020202030204" pitchFamily="34" charset="0"/>
              </a:rPr>
              <a:t> de materia prima A y 1 </a:t>
            </a:r>
            <a:r>
              <a:rPr lang="es-ES_tradnl" sz="2000" b="1" dirty="0" err="1">
                <a:latin typeface="Arial Narrow" panose="020B0606020202030204" pitchFamily="34" charset="0"/>
              </a:rPr>
              <a:t>Tn</a:t>
            </a:r>
            <a:r>
              <a:rPr lang="es-ES_tradnl" sz="2000" b="1" dirty="0">
                <a:latin typeface="Arial Narrow" panose="020B0606020202030204" pitchFamily="34" charset="0"/>
              </a:rPr>
              <a:t> de materia prima B</a:t>
            </a:r>
          </a:p>
          <a:p>
            <a:pPr marL="0" indent="0" algn="just" eaLnBrk="1" hangingPunct="1">
              <a:lnSpc>
                <a:spcPct val="90000"/>
              </a:lnSpc>
              <a:spcBef>
                <a:spcPts val="0"/>
              </a:spcBef>
              <a:buFont typeface="Wingdings" panose="05000000000000000000" pitchFamily="2" charset="2"/>
              <a:buNone/>
            </a:pPr>
            <a:r>
              <a:rPr lang="es-ES_tradnl" sz="2000" b="1" dirty="0">
                <a:latin typeface="Arial Narrow" panose="020B0606020202030204" pitchFamily="34" charset="0"/>
              </a:rPr>
              <a:t>Un estudio de mercado ha establecido que la demanda diaria de pintura para interiores no puede ser mayor que la demanda de pintura para exteriores en más de 10 </a:t>
            </a:r>
            <a:r>
              <a:rPr lang="es-ES_tradnl" sz="2000" b="1" dirty="0" err="1">
                <a:latin typeface="Arial Narrow" panose="020B0606020202030204" pitchFamily="34" charset="0"/>
              </a:rPr>
              <a:t>Tn</a:t>
            </a:r>
            <a:r>
              <a:rPr lang="es-ES_tradnl" sz="2000" b="1" dirty="0">
                <a:latin typeface="Arial Narrow" panose="020B0606020202030204" pitchFamily="34" charset="0"/>
              </a:rPr>
              <a:t>. Asimismo, el estudio señala que la demanda máxima de pintura para interiores está limitada a 20 </a:t>
            </a:r>
            <a:r>
              <a:rPr lang="es-ES_tradnl" sz="2000" b="1" dirty="0" err="1">
                <a:latin typeface="Arial Narrow" panose="020B0606020202030204" pitchFamily="34" charset="0"/>
              </a:rPr>
              <a:t>Tn</a:t>
            </a:r>
            <a:r>
              <a:rPr lang="es-ES_tradnl" sz="2000" b="1" dirty="0">
                <a:latin typeface="Arial Narrow" panose="020B0606020202030204" pitchFamily="34" charset="0"/>
              </a:rPr>
              <a:t> diarias.</a:t>
            </a:r>
          </a:p>
          <a:p>
            <a:pPr marL="0" indent="0" algn="just" eaLnBrk="1" hangingPunct="1">
              <a:lnSpc>
                <a:spcPct val="90000"/>
              </a:lnSpc>
              <a:spcBef>
                <a:spcPts val="0"/>
              </a:spcBef>
              <a:buFont typeface="Wingdings" panose="05000000000000000000" pitchFamily="2" charset="2"/>
              <a:buNone/>
            </a:pPr>
            <a:r>
              <a:rPr lang="es-ES_tradnl" sz="2000" b="1" dirty="0">
                <a:latin typeface="Arial Narrow" panose="020B0606020202030204" pitchFamily="34" charset="0"/>
              </a:rPr>
              <a:t>El precio al por mayor por </a:t>
            </a:r>
            <a:r>
              <a:rPr lang="es-ES_tradnl" sz="2000" b="1" dirty="0" err="1">
                <a:latin typeface="Arial Narrow" panose="020B0606020202030204" pitchFamily="34" charset="0"/>
              </a:rPr>
              <a:t>Tn</a:t>
            </a:r>
            <a:r>
              <a:rPr lang="es-ES_tradnl" sz="2000" b="1" dirty="0">
                <a:latin typeface="Arial Narrow" panose="020B0606020202030204" pitchFamily="34" charset="0"/>
              </a:rPr>
              <a:t> es de $3000 para la pintura de exteriores y de $2000 para la pintura de interiores. ¿Cuánta pintura para exteriores e interiores debe producir la compañía todos lo días para maximizar el ingreso total?</a:t>
            </a:r>
          </a:p>
          <a:p>
            <a:pPr marL="0" indent="0" algn="just" eaLnBrk="1" hangingPunct="1">
              <a:lnSpc>
                <a:spcPct val="90000"/>
              </a:lnSpc>
              <a:spcBef>
                <a:spcPts val="0"/>
              </a:spcBef>
              <a:buFont typeface="Wingdings" panose="05000000000000000000" pitchFamily="2" charset="2"/>
              <a:buNone/>
            </a:pPr>
            <a:r>
              <a:rPr lang="es-ES_tradnl" sz="2000" b="1" dirty="0">
                <a:latin typeface="Arial Narrow" panose="020B0606020202030204" pitchFamily="34" charset="0"/>
              </a:rPr>
              <a:t>Nota: Suponga que todo lo que se produce se vende.</a:t>
            </a:r>
            <a:endParaRPr lang="es-ES" sz="2000" b="1" dirty="0">
              <a:latin typeface="Arial Narrow" panose="020B0606020202030204" pitchFamily="34" charset="0"/>
            </a:endParaRPr>
          </a:p>
        </p:txBody>
      </p:sp>
      <p:sp>
        <p:nvSpPr>
          <p:cNvPr id="4" name="Rectangle 3">
            <a:extLst>
              <a:ext uri="{FF2B5EF4-FFF2-40B4-BE49-F238E27FC236}">
                <a16:creationId xmlns:a16="http://schemas.microsoft.com/office/drawing/2014/main" id="{00729E10-0493-4C98-A7C0-4ADA58B40A34}"/>
              </a:ext>
            </a:extLst>
          </p:cNvPr>
          <p:cNvSpPr txBox="1">
            <a:spLocks noChangeArrowheads="1"/>
          </p:cNvSpPr>
          <p:nvPr/>
        </p:nvSpPr>
        <p:spPr>
          <a:xfrm>
            <a:off x="6245536" y="2809897"/>
            <a:ext cx="5934954" cy="1106503"/>
          </a:xfrm>
          <a:prstGeom prst="rect">
            <a:avLst/>
          </a:prstGeom>
          <a:solidFill>
            <a:schemeClr val="accent1">
              <a:lumMod val="20000"/>
              <a:lumOff val="80000"/>
            </a:schemeClr>
          </a:solidFill>
        </p:spPr>
        <p:txBody>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200">
                <a:solidFill>
                  <a:srgbClr val="0C0000"/>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200">
                <a:solidFill>
                  <a:srgbClr val="0C0000"/>
                </a:solidFill>
                <a:latin typeface="+mn-lt"/>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200">
                <a:solidFill>
                  <a:srgbClr val="0C0000"/>
                </a:solidFill>
                <a:latin typeface="+mn-lt"/>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5pPr>
            <a:lvl6pPr marL="25146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6pPr>
            <a:lvl7pPr marL="29718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7pPr>
            <a:lvl8pPr marL="34290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8pPr>
            <a:lvl9pPr marL="38862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9pPr>
          </a:lstStyle>
          <a:p>
            <a:pPr eaLnBrk="1" hangingPunct="1">
              <a:buFont typeface="Wingdings" panose="05000000000000000000" pitchFamily="2" charset="2"/>
              <a:buNone/>
            </a:pPr>
            <a:r>
              <a:rPr lang="es-ES" sz="2000" b="1" kern="0" dirty="0">
                <a:solidFill>
                  <a:srgbClr val="FF0000"/>
                </a:solidFill>
                <a:latin typeface="Arial Narrow" panose="020B0606020202030204" pitchFamily="34" charset="0"/>
              </a:rPr>
              <a:t>Identificación de las variables</a:t>
            </a:r>
          </a:p>
          <a:p>
            <a:pPr eaLnBrk="1" hangingPunct="1">
              <a:buFont typeface="Wingdings" panose="05000000000000000000" pitchFamily="2" charset="2"/>
              <a:buNone/>
            </a:pPr>
            <a:r>
              <a:rPr lang="es-ES" sz="2000" b="1" kern="0" dirty="0" err="1">
                <a:latin typeface="Arial Narrow" panose="020B0606020202030204" pitchFamily="34" charset="0"/>
              </a:rPr>
              <a:t>X1:Tn</a:t>
            </a:r>
            <a:r>
              <a:rPr lang="es-ES" sz="2000" b="1" kern="0" dirty="0">
                <a:latin typeface="Arial Narrow" panose="020B0606020202030204" pitchFamily="34" charset="0"/>
              </a:rPr>
              <a:t> de pintura para exteriores a producir y vender / día.</a:t>
            </a:r>
          </a:p>
          <a:p>
            <a:pPr eaLnBrk="1" hangingPunct="1">
              <a:buFont typeface="Wingdings" panose="05000000000000000000" pitchFamily="2" charset="2"/>
              <a:buNone/>
            </a:pPr>
            <a:r>
              <a:rPr lang="es-ES" sz="2000" b="1" kern="0" dirty="0" err="1">
                <a:latin typeface="Arial Narrow" panose="020B0606020202030204" pitchFamily="34" charset="0"/>
              </a:rPr>
              <a:t>X2:Tn</a:t>
            </a:r>
            <a:r>
              <a:rPr lang="es-ES" sz="2000" b="1" kern="0" dirty="0">
                <a:latin typeface="Arial Narrow" panose="020B0606020202030204" pitchFamily="34" charset="0"/>
              </a:rPr>
              <a:t> de pintura para interiores a producir y vender / día.</a:t>
            </a:r>
          </a:p>
          <a:p>
            <a:pPr marL="0" lvl="1" indent="0" eaLnBrk="1" hangingPunct="1">
              <a:buNone/>
            </a:pPr>
            <a:endParaRPr lang="es-ES" sz="2000" b="1" kern="0" dirty="0">
              <a:latin typeface="Arial Narrow" panose="020B0606020202030204" pitchFamily="34" charset="0"/>
              <a:cs typeface="Times New Roman" panose="02020603050405020304" pitchFamily="18" charset="0"/>
            </a:endParaRPr>
          </a:p>
        </p:txBody>
      </p:sp>
      <p:sp>
        <p:nvSpPr>
          <p:cNvPr id="2" name="Rectángulo 1">
            <a:extLst>
              <a:ext uri="{FF2B5EF4-FFF2-40B4-BE49-F238E27FC236}">
                <a16:creationId xmlns:a16="http://schemas.microsoft.com/office/drawing/2014/main" id="{1DA10001-F138-49CC-8174-D5488ADA129A}"/>
              </a:ext>
            </a:extLst>
          </p:cNvPr>
          <p:cNvSpPr/>
          <p:nvPr/>
        </p:nvSpPr>
        <p:spPr>
          <a:xfrm>
            <a:off x="6242651" y="3933029"/>
            <a:ext cx="5791200" cy="707886"/>
          </a:xfrm>
          <a:prstGeom prst="rect">
            <a:avLst/>
          </a:prstGeom>
          <a:solidFill>
            <a:schemeClr val="accent1">
              <a:lumMod val="20000"/>
              <a:lumOff val="80000"/>
            </a:schemeClr>
          </a:solidFill>
        </p:spPr>
        <p:txBody>
          <a:bodyPr wrap="square">
            <a:spAutoFit/>
          </a:bodyPr>
          <a:lstStyle/>
          <a:p>
            <a:pPr marL="0" lvl="1"/>
            <a:r>
              <a:rPr lang="es-ES" sz="2000" b="1" kern="0" dirty="0">
                <a:solidFill>
                  <a:srgbClr val="FF0000"/>
                </a:solidFill>
                <a:latin typeface="Arial Narrow" panose="020B0606020202030204" pitchFamily="34" charset="0"/>
              </a:rPr>
              <a:t>Identificación de la Función Objetivo</a:t>
            </a:r>
          </a:p>
          <a:p>
            <a:pPr marL="0" lvl="1"/>
            <a:r>
              <a:rPr lang="es-ES" sz="2000" b="1" kern="0" dirty="0">
                <a:latin typeface="Arial Narrow" panose="020B0606020202030204" pitchFamily="34" charset="0"/>
              </a:rPr>
              <a:t>Max </a:t>
            </a:r>
            <a:r>
              <a:rPr lang="es-ES" sz="2000" b="1" kern="0" dirty="0" err="1">
                <a:latin typeface="Arial Narrow" panose="020B0606020202030204" pitchFamily="34" charset="0"/>
              </a:rPr>
              <a:t>3000X1</a:t>
            </a:r>
            <a:r>
              <a:rPr lang="es-ES" sz="2000" b="1" kern="0" dirty="0">
                <a:latin typeface="Arial Narrow" panose="020B0606020202030204" pitchFamily="34" charset="0"/>
              </a:rPr>
              <a:t> + </a:t>
            </a:r>
            <a:r>
              <a:rPr lang="es-ES" sz="2000" b="1" kern="0" dirty="0" err="1">
                <a:latin typeface="Arial Narrow" panose="020B0606020202030204" pitchFamily="34" charset="0"/>
              </a:rPr>
              <a:t>2000X2</a:t>
            </a:r>
            <a:endParaRPr lang="es-ES" sz="2000" b="1" kern="0" dirty="0">
              <a:latin typeface="Arial Narrow" panose="020B0606020202030204" pitchFamily="34" charset="0"/>
            </a:endParaRPr>
          </a:p>
        </p:txBody>
      </p:sp>
      <p:sp>
        <p:nvSpPr>
          <p:cNvPr id="3" name="Rectángulo 2">
            <a:extLst>
              <a:ext uri="{FF2B5EF4-FFF2-40B4-BE49-F238E27FC236}">
                <a16:creationId xmlns:a16="http://schemas.microsoft.com/office/drawing/2014/main" id="{339FE9B9-53AC-4424-BE84-4BBCEF4E80C0}"/>
              </a:ext>
            </a:extLst>
          </p:cNvPr>
          <p:cNvSpPr/>
          <p:nvPr/>
        </p:nvSpPr>
        <p:spPr>
          <a:xfrm>
            <a:off x="6248410" y="4650384"/>
            <a:ext cx="5785440" cy="1938992"/>
          </a:xfrm>
          <a:prstGeom prst="rect">
            <a:avLst/>
          </a:prstGeom>
          <a:solidFill>
            <a:schemeClr val="accent1">
              <a:lumMod val="20000"/>
              <a:lumOff val="80000"/>
            </a:schemeClr>
          </a:solidFill>
        </p:spPr>
        <p:txBody>
          <a:bodyPr wrap="square">
            <a:spAutoFit/>
          </a:bodyPr>
          <a:lstStyle/>
          <a:p>
            <a:r>
              <a:rPr lang="es-ES" sz="2000" b="1" kern="0" dirty="0">
                <a:solidFill>
                  <a:srgbClr val="FF0000"/>
                </a:solidFill>
                <a:latin typeface="Arial Narrow" panose="020B0606020202030204" pitchFamily="34" charset="0"/>
              </a:rPr>
              <a:t>Identificación de las </a:t>
            </a:r>
            <a:r>
              <a:rPr lang="es-ES" sz="2000" b="1" kern="0" dirty="0" err="1">
                <a:solidFill>
                  <a:srgbClr val="FF0000"/>
                </a:solidFill>
                <a:latin typeface="Arial Narrow" panose="020B0606020202030204" pitchFamily="34" charset="0"/>
              </a:rPr>
              <a:t>restriciones</a:t>
            </a:r>
            <a:endParaRPr lang="es-ES" sz="2000" b="1" kern="0" dirty="0">
              <a:solidFill>
                <a:srgbClr val="FF0000"/>
              </a:solidFill>
              <a:latin typeface="Arial Narrow" panose="020B0606020202030204" pitchFamily="34" charset="0"/>
            </a:endParaRPr>
          </a:p>
          <a:p>
            <a:pPr lvl="1"/>
            <a:r>
              <a:rPr lang="es-ES" sz="2000" b="1" kern="0" dirty="0">
                <a:latin typeface="Arial Narrow" panose="020B0606020202030204" pitchFamily="34" charset="0"/>
              </a:rPr>
              <a:t>	</a:t>
            </a:r>
            <a:r>
              <a:rPr lang="es-ES" sz="2000" b="1" kern="0" dirty="0" err="1">
                <a:latin typeface="Arial Narrow" panose="020B0606020202030204" pitchFamily="34" charset="0"/>
              </a:rPr>
              <a:t>X1</a:t>
            </a:r>
            <a:r>
              <a:rPr lang="es-ES" sz="2000" b="1" kern="0" dirty="0">
                <a:latin typeface="Arial Narrow" panose="020B0606020202030204" pitchFamily="34" charset="0"/>
              </a:rPr>
              <a:t> + </a:t>
            </a:r>
            <a:r>
              <a:rPr lang="es-ES" sz="2000" b="1" kern="0" dirty="0" err="1">
                <a:latin typeface="Arial Narrow" panose="020B0606020202030204" pitchFamily="34" charset="0"/>
              </a:rPr>
              <a:t>2X2</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60	 (1)</a:t>
            </a:r>
          </a:p>
          <a:p>
            <a:pPr lvl="1"/>
            <a:r>
              <a:rPr lang="es-ES" sz="2000" b="1" kern="0" dirty="0">
                <a:latin typeface="Arial Narrow" panose="020B0606020202030204" pitchFamily="34" charset="0"/>
              </a:rPr>
              <a:t>	</a:t>
            </a:r>
            <a:r>
              <a:rPr lang="es-ES" sz="2000" b="1" kern="0" dirty="0" err="1">
                <a:latin typeface="Arial Narrow" panose="020B0606020202030204" pitchFamily="34" charset="0"/>
              </a:rPr>
              <a:t>2X1</a:t>
            </a:r>
            <a:r>
              <a:rPr lang="es-ES" sz="2000" b="1" kern="0" dirty="0">
                <a:latin typeface="Arial Narrow" panose="020B0606020202030204" pitchFamily="34" charset="0"/>
              </a:rPr>
              <a:t> + </a:t>
            </a:r>
            <a:r>
              <a:rPr lang="es-ES" sz="2000" b="1" kern="0" dirty="0" err="1">
                <a:latin typeface="Arial Narrow" panose="020B0606020202030204" pitchFamily="34" charset="0"/>
              </a:rPr>
              <a:t>X2</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80	 (2)</a:t>
            </a:r>
          </a:p>
          <a:p>
            <a:pPr lvl="1"/>
            <a:r>
              <a:rPr lang="es-ES" sz="2000" b="1" kern="0" dirty="0">
                <a:latin typeface="Arial Narrow" panose="020B0606020202030204" pitchFamily="34" charset="0"/>
              </a:rPr>
              <a:t>	  </a:t>
            </a:r>
            <a:r>
              <a:rPr lang="es-ES" sz="2000" b="1" kern="0" dirty="0" err="1">
                <a:latin typeface="Arial Narrow" panose="020B0606020202030204" pitchFamily="34" charset="0"/>
              </a:rPr>
              <a:t>X2</a:t>
            </a:r>
            <a:r>
              <a:rPr lang="es-ES" sz="2000" b="1" kern="0" dirty="0">
                <a:latin typeface="Arial Narrow" panose="020B0606020202030204" pitchFamily="34" charset="0"/>
              </a:rPr>
              <a:t> – </a:t>
            </a:r>
            <a:r>
              <a:rPr lang="es-ES" sz="2000" b="1" kern="0" dirty="0" err="1">
                <a:latin typeface="Arial Narrow" panose="020B0606020202030204" pitchFamily="34" charset="0"/>
              </a:rPr>
              <a:t>X1</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10	 (3)</a:t>
            </a:r>
          </a:p>
          <a:p>
            <a:pPr lvl="1"/>
            <a:r>
              <a:rPr lang="es-ES" sz="2000" b="1" kern="0" dirty="0">
                <a:latin typeface="Arial Narrow" panose="020B0606020202030204" pitchFamily="34" charset="0"/>
              </a:rPr>
              <a:t>	        </a:t>
            </a:r>
            <a:r>
              <a:rPr lang="es-ES" sz="2000" b="1" kern="0" dirty="0" err="1">
                <a:latin typeface="Arial Narrow" panose="020B0606020202030204" pitchFamily="34" charset="0"/>
              </a:rPr>
              <a:t>X2</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  20	 (4)</a:t>
            </a:r>
          </a:p>
          <a:p>
            <a:pPr lvl="1"/>
            <a:r>
              <a:rPr lang="es-ES" sz="2000" b="1" kern="0" dirty="0">
                <a:latin typeface="Arial Narrow" panose="020B0606020202030204" pitchFamily="34" charset="0"/>
                <a:cs typeface="Times New Roman" panose="02020603050405020304" pitchFamily="18" charset="0"/>
              </a:rPr>
              <a:t>	    </a:t>
            </a:r>
            <a:r>
              <a:rPr lang="es-ES" sz="2000" b="1" kern="0" dirty="0" err="1">
                <a:latin typeface="Arial Narrow" panose="020B0606020202030204" pitchFamily="34" charset="0"/>
                <a:cs typeface="Times New Roman" panose="02020603050405020304" pitchFamily="18" charset="0"/>
              </a:rPr>
              <a:t>X1</a:t>
            </a:r>
            <a:r>
              <a:rPr lang="es-ES" sz="2000" b="1" kern="0" dirty="0">
                <a:latin typeface="Arial Narrow" panose="020B0606020202030204" pitchFamily="34" charset="0"/>
                <a:cs typeface="Times New Roman" panose="02020603050405020304" pitchFamily="18" charset="0"/>
              </a:rPr>
              <a:t>, </a:t>
            </a:r>
            <a:r>
              <a:rPr lang="es-ES" sz="2000" b="1" kern="0" dirty="0" err="1">
                <a:latin typeface="Arial Narrow" panose="020B0606020202030204" pitchFamily="34" charset="0"/>
                <a:cs typeface="Times New Roman" panose="02020603050405020304" pitchFamily="18" charset="0"/>
              </a:rPr>
              <a:t>X2</a:t>
            </a:r>
            <a:r>
              <a:rPr lang="es-ES" sz="2000" b="1" kern="0" dirty="0">
                <a:latin typeface="Arial Narrow" panose="020B0606020202030204" pitchFamily="34" charset="0"/>
                <a:cs typeface="Times New Roman" panose="02020603050405020304" pitchFamily="18" charset="0"/>
              </a:rPr>
              <a:t> ≥ 0</a:t>
            </a:r>
            <a:endParaRPr lang="es-PE" b="1" dirty="0">
              <a:latin typeface="Arial Narrow" panose="020B0606020202030204" pitchFamily="34" charset="0"/>
            </a:endParaRPr>
          </a:p>
        </p:txBody>
      </p:sp>
      <p:sp>
        <p:nvSpPr>
          <p:cNvPr id="5" name="Rectángulo 4">
            <a:extLst>
              <a:ext uri="{FF2B5EF4-FFF2-40B4-BE49-F238E27FC236}">
                <a16:creationId xmlns:a16="http://schemas.microsoft.com/office/drawing/2014/main" id="{DC40E218-711E-4086-966A-35D70A2905C3}"/>
              </a:ext>
            </a:extLst>
          </p:cNvPr>
          <p:cNvSpPr/>
          <p:nvPr/>
        </p:nvSpPr>
        <p:spPr>
          <a:xfrm>
            <a:off x="10032642" y="3905365"/>
            <a:ext cx="2147848" cy="1754326"/>
          </a:xfrm>
          <a:prstGeom prst="rect">
            <a:avLst/>
          </a:prstGeom>
          <a:solidFill>
            <a:srgbClr val="FFFF00"/>
          </a:solidFill>
        </p:spPr>
        <p:txBody>
          <a:bodyPr wrap="square">
            <a:spAutoFit/>
          </a:bodyPr>
          <a:lstStyle/>
          <a:p>
            <a:pPr marL="0" lvl="1"/>
            <a:r>
              <a:rPr lang="es-ES" b="1" kern="0" dirty="0">
                <a:latin typeface="Arial Narrow" panose="020B0606020202030204" pitchFamily="34" charset="0"/>
              </a:rPr>
              <a:t>Max </a:t>
            </a:r>
            <a:r>
              <a:rPr lang="es-ES" b="1" kern="0" dirty="0" err="1">
                <a:latin typeface="Arial Narrow" panose="020B0606020202030204" pitchFamily="34" charset="0"/>
              </a:rPr>
              <a:t>3000X1+2000X2</a:t>
            </a:r>
            <a:endParaRPr lang="es-ES" b="1" kern="0" dirty="0">
              <a:latin typeface="Arial Narrow" panose="020B0606020202030204" pitchFamily="34" charset="0"/>
            </a:endParaRPr>
          </a:p>
          <a:p>
            <a:pPr marL="0" lvl="1"/>
            <a:r>
              <a:rPr lang="es-ES" b="1" kern="0" dirty="0" err="1">
                <a:latin typeface="Arial Narrow" panose="020B0606020202030204" pitchFamily="34" charset="0"/>
              </a:rPr>
              <a:t>ST</a:t>
            </a:r>
            <a:endParaRPr lang="es-ES" b="1" kern="0" dirty="0">
              <a:latin typeface="Arial Narrow" panose="020B0606020202030204" pitchFamily="34" charset="0"/>
            </a:endParaRPr>
          </a:p>
          <a:p>
            <a:pPr marL="0" lvl="1"/>
            <a:r>
              <a:rPr lang="es-ES" b="1" kern="0" dirty="0" err="1">
                <a:latin typeface="Arial Narrow" panose="020B0606020202030204" pitchFamily="34" charset="0"/>
              </a:rPr>
              <a:t>X1</a:t>
            </a:r>
            <a:r>
              <a:rPr lang="es-ES" b="1" kern="0" dirty="0">
                <a:latin typeface="Arial Narrow" panose="020B0606020202030204" pitchFamily="34" charset="0"/>
              </a:rPr>
              <a:t> + </a:t>
            </a:r>
            <a:r>
              <a:rPr lang="es-ES" b="1" kern="0" dirty="0" err="1">
                <a:latin typeface="Arial Narrow" panose="020B0606020202030204" pitchFamily="34" charset="0"/>
              </a:rPr>
              <a:t>2X2</a:t>
            </a:r>
            <a:r>
              <a:rPr lang="es-ES" b="1" kern="0" dirty="0">
                <a:latin typeface="Arial Narrow" panose="020B0606020202030204" pitchFamily="34" charset="0"/>
              </a:rPr>
              <a:t>   &lt;=  60 </a:t>
            </a:r>
          </a:p>
          <a:p>
            <a:pPr marL="0" lvl="1"/>
            <a:r>
              <a:rPr lang="es-ES" b="1" kern="0" dirty="0" err="1">
                <a:latin typeface="Arial Narrow" panose="020B0606020202030204" pitchFamily="34" charset="0"/>
              </a:rPr>
              <a:t>2X1</a:t>
            </a:r>
            <a:r>
              <a:rPr lang="es-ES" b="1" kern="0" dirty="0">
                <a:latin typeface="Arial Narrow" panose="020B0606020202030204" pitchFamily="34" charset="0"/>
              </a:rPr>
              <a:t> + </a:t>
            </a:r>
            <a:r>
              <a:rPr lang="es-ES" b="1" kern="0" dirty="0" err="1">
                <a:latin typeface="Arial Narrow" panose="020B0606020202030204" pitchFamily="34" charset="0"/>
              </a:rPr>
              <a:t>X2</a:t>
            </a:r>
            <a:r>
              <a:rPr lang="es-ES" b="1" kern="0" dirty="0">
                <a:latin typeface="Arial Narrow" panose="020B0606020202030204" pitchFamily="34" charset="0"/>
              </a:rPr>
              <a:t>   &lt;=  80</a:t>
            </a:r>
          </a:p>
          <a:p>
            <a:pPr marL="0" lvl="1"/>
            <a:r>
              <a:rPr lang="es-ES" b="1" kern="0" dirty="0">
                <a:latin typeface="Arial Narrow" panose="020B0606020202030204" pitchFamily="34" charset="0"/>
              </a:rPr>
              <a:t>  </a:t>
            </a:r>
            <a:r>
              <a:rPr lang="es-ES" b="1" kern="0" dirty="0" err="1">
                <a:latin typeface="Arial Narrow" panose="020B0606020202030204" pitchFamily="34" charset="0"/>
              </a:rPr>
              <a:t>X2</a:t>
            </a:r>
            <a:r>
              <a:rPr lang="es-ES" b="1" kern="0" dirty="0">
                <a:latin typeface="Arial Narrow" panose="020B0606020202030204" pitchFamily="34" charset="0"/>
              </a:rPr>
              <a:t> – </a:t>
            </a:r>
            <a:r>
              <a:rPr lang="es-ES" b="1" kern="0" dirty="0" err="1">
                <a:latin typeface="Arial Narrow" panose="020B0606020202030204" pitchFamily="34" charset="0"/>
              </a:rPr>
              <a:t>X1</a:t>
            </a:r>
            <a:r>
              <a:rPr lang="es-ES" b="1" kern="0" dirty="0">
                <a:latin typeface="Arial Narrow" panose="020B0606020202030204" pitchFamily="34" charset="0"/>
              </a:rPr>
              <a:t>   &lt;=  10</a:t>
            </a:r>
          </a:p>
          <a:p>
            <a:pPr marL="0" lvl="1"/>
            <a:r>
              <a:rPr lang="es-ES" b="1" kern="0" dirty="0">
                <a:latin typeface="Arial Narrow" panose="020B0606020202030204" pitchFamily="34" charset="0"/>
              </a:rPr>
              <a:t>           </a:t>
            </a:r>
            <a:r>
              <a:rPr lang="es-ES" b="1" kern="0" dirty="0" err="1">
                <a:latin typeface="Arial Narrow" panose="020B0606020202030204" pitchFamily="34" charset="0"/>
              </a:rPr>
              <a:t>X2</a:t>
            </a:r>
            <a:r>
              <a:rPr lang="es-ES" b="1" kern="0" dirty="0">
                <a:latin typeface="Arial Narrow" panose="020B0606020202030204" pitchFamily="34" charset="0"/>
              </a:rPr>
              <a:t>   &lt;=</a:t>
            </a:r>
            <a:r>
              <a:rPr lang="es-ES" b="1" kern="0" dirty="0">
                <a:latin typeface="Arial Narrow" panose="020B0606020202030204" pitchFamily="34" charset="0"/>
                <a:cs typeface="Times New Roman" panose="02020603050405020304" pitchFamily="18" charset="0"/>
              </a:rPr>
              <a:t>  20</a:t>
            </a:r>
            <a:endParaRPr lang="es-ES" b="1" kern="0" dirty="0">
              <a:latin typeface="Arial Narrow" panose="020B0606020202030204" pitchFamily="34" charset="0"/>
            </a:endParaRPr>
          </a:p>
        </p:txBody>
      </p:sp>
      <p:graphicFrame>
        <p:nvGraphicFramePr>
          <p:cNvPr id="8" name="Tabla 2">
            <a:extLst>
              <a:ext uri="{FF2B5EF4-FFF2-40B4-BE49-F238E27FC236}">
                <a16:creationId xmlns:a16="http://schemas.microsoft.com/office/drawing/2014/main" id="{D64C2F34-60E0-47F5-8E8D-F99BFC062456}"/>
              </a:ext>
            </a:extLst>
          </p:cNvPr>
          <p:cNvGraphicFramePr>
            <a:graphicFrameLocks noGrp="1"/>
          </p:cNvGraphicFramePr>
          <p:nvPr/>
        </p:nvGraphicFramePr>
        <p:xfrm>
          <a:off x="6242651" y="1242751"/>
          <a:ext cx="5937840" cy="1584960"/>
        </p:xfrm>
        <a:graphic>
          <a:graphicData uri="http://schemas.openxmlformats.org/drawingml/2006/table">
            <a:tbl>
              <a:tblPr firstRow="1" bandRow="1">
                <a:tableStyleId>{5C22544A-7EE6-4342-B048-85BDC9FD1C3A}</a:tableStyleId>
              </a:tblPr>
              <a:tblGrid>
                <a:gridCol w="1226053">
                  <a:extLst>
                    <a:ext uri="{9D8B030D-6E8A-4147-A177-3AD203B41FA5}">
                      <a16:colId xmlns:a16="http://schemas.microsoft.com/office/drawing/2014/main" val="1683240228"/>
                    </a:ext>
                  </a:extLst>
                </a:gridCol>
                <a:gridCol w="1300545">
                  <a:extLst>
                    <a:ext uri="{9D8B030D-6E8A-4147-A177-3AD203B41FA5}">
                      <a16:colId xmlns:a16="http://schemas.microsoft.com/office/drawing/2014/main" val="415033908"/>
                    </a:ext>
                  </a:extLst>
                </a:gridCol>
                <a:gridCol w="1198999">
                  <a:extLst>
                    <a:ext uri="{9D8B030D-6E8A-4147-A177-3AD203B41FA5}">
                      <a16:colId xmlns:a16="http://schemas.microsoft.com/office/drawing/2014/main" val="426800007"/>
                    </a:ext>
                  </a:extLst>
                </a:gridCol>
                <a:gridCol w="1313645">
                  <a:extLst>
                    <a:ext uri="{9D8B030D-6E8A-4147-A177-3AD203B41FA5}">
                      <a16:colId xmlns:a16="http://schemas.microsoft.com/office/drawing/2014/main" val="1721677251"/>
                    </a:ext>
                  </a:extLst>
                </a:gridCol>
                <a:gridCol w="898598">
                  <a:extLst>
                    <a:ext uri="{9D8B030D-6E8A-4147-A177-3AD203B41FA5}">
                      <a16:colId xmlns:a16="http://schemas.microsoft.com/office/drawing/2014/main" val="2439388563"/>
                    </a:ext>
                  </a:extLst>
                </a:gridCol>
              </a:tblGrid>
              <a:tr h="392866">
                <a:tc>
                  <a:txBody>
                    <a:bodyPr/>
                    <a:lstStyle/>
                    <a:p>
                      <a:pPr algn="ctr"/>
                      <a:r>
                        <a:rPr lang="es-ES" sz="2000" b="1" dirty="0">
                          <a:latin typeface="Arial Narrow" panose="020B0606020202030204" pitchFamily="34" charset="0"/>
                        </a:rPr>
                        <a:t>Pintura</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Material A</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Material B</a:t>
                      </a:r>
                      <a:endParaRPr lang="es-PE" sz="2000" b="1" dirty="0">
                        <a:latin typeface="Arial Narrow" panose="020B0606020202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2000" b="1" dirty="0">
                          <a:latin typeface="Arial Narrow" panose="020B0606020202030204" pitchFamily="34" charset="0"/>
                        </a:rPr>
                        <a:t>Demanda</a:t>
                      </a:r>
                      <a:endParaRPr lang="es-PE" sz="2000" b="1" dirty="0">
                        <a:latin typeface="Arial Narrow" panose="020B0606020202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2000" b="1" dirty="0">
                          <a:latin typeface="Arial Narrow" panose="020B0606020202030204" pitchFamily="34" charset="0"/>
                        </a:rPr>
                        <a:t>Precio</a:t>
                      </a:r>
                      <a:endParaRPr lang="es-PE" sz="2000" b="1" dirty="0">
                        <a:latin typeface="Arial Narrow" panose="020B0606020202030204" pitchFamily="34" charset="0"/>
                      </a:endParaRPr>
                    </a:p>
                  </a:txBody>
                  <a:tcPr/>
                </a:tc>
                <a:extLst>
                  <a:ext uri="{0D108BD9-81ED-4DB2-BD59-A6C34878D82A}">
                    <a16:rowId xmlns:a16="http://schemas.microsoft.com/office/drawing/2014/main" val="974460463"/>
                  </a:ext>
                </a:extLst>
              </a:tr>
              <a:tr h="345367">
                <a:tc>
                  <a:txBody>
                    <a:bodyPr/>
                    <a:lstStyle/>
                    <a:p>
                      <a:pPr algn="ctr"/>
                      <a:r>
                        <a:rPr lang="es-ES" sz="2000" b="1" dirty="0">
                          <a:latin typeface="Arial Narrow" panose="020B0606020202030204" pitchFamily="34" charset="0"/>
                        </a:rPr>
                        <a:t>Exterior </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1</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a:t>
                      </a:r>
                      <a:endParaRPr lang="es-PE" sz="2000" b="1" dirty="0">
                        <a:latin typeface="Arial Narrow" panose="020B0606020202030204" pitchFamily="34" charset="0"/>
                      </a:endParaRPr>
                    </a:p>
                  </a:txBody>
                  <a:tcPr/>
                </a:tc>
                <a:tc>
                  <a:txBody>
                    <a:bodyPr/>
                    <a:lstStyle/>
                    <a:p>
                      <a:pPr algn="ctr"/>
                      <a:r>
                        <a:rPr lang="es-ES" sz="2000" b="1" dirty="0" err="1">
                          <a:latin typeface="Arial Narrow" panose="020B0606020202030204" pitchFamily="34" charset="0"/>
                        </a:rPr>
                        <a:t>X2-X1</a:t>
                      </a:r>
                      <a:r>
                        <a:rPr lang="es-ES" sz="2000" b="1" dirty="0">
                          <a:latin typeface="Arial Narrow" panose="020B0606020202030204" pitchFamily="34" charset="0"/>
                        </a:rPr>
                        <a:t>&lt;=10</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3000</a:t>
                      </a:r>
                      <a:endParaRPr lang="es-PE" sz="2000" b="1" dirty="0">
                        <a:latin typeface="Arial Narrow" panose="020B0606020202030204" pitchFamily="34" charset="0"/>
                      </a:endParaRPr>
                    </a:p>
                  </a:txBody>
                  <a:tcPr/>
                </a:tc>
                <a:extLst>
                  <a:ext uri="{0D108BD9-81ED-4DB2-BD59-A6C34878D82A}">
                    <a16:rowId xmlns:a16="http://schemas.microsoft.com/office/drawing/2014/main" val="1179727459"/>
                  </a:ext>
                </a:extLst>
              </a:tr>
              <a:tr h="345367">
                <a:tc>
                  <a:txBody>
                    <a:bodyPr/>
                    <a:lstStyle/>
                    <a:p>
                      <a:pPr algn="ctr"/>
                      <a:r>
                        <a:rPr lang="es-ES" sz="2000" b="1" dirty="0">
                          <a:latin typeface="Arial Narrow" panose="020B0606020202030204" pitchFamily="34" charset="0"/>
                        </a:rPr>
                        <a:t>Interior</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1</a:t>
                      </a:r>
                      <a:endParaRPr lang="es-PE" sz="2000" b="1" dirty="0">
                        <a:latin typeface="Arial Narrow" panose="020B0606020202030204" pitchFamily="34" charset="0"/>
                      </a:endParaRPr>
                    </a:p>
                  </a:txBody>
                  <a:tcPr/>
                </a:tc>
                <a:tc>
                  <a:txBody>
                    <a:bodyPr/>
                    <a:lstStyle/>
                    <a:p>
                      <a:pPr algn="ctr"/>
                      <a:r>
                        <a:rPr lang="es-ES" sz="2000" b="1" dirty="0" err="1">
                          <a:latin typeface="Arial Narrow" panose="020B0606020202030204" pitchFamily="34" charset="0"/>
                        </a:rPr>
                        <a:t>X2</a:t>
                      </a:r>
                      <a:r>
                        <a:rPr lang="es-ES" sz="2000" b="1" dirty="0">
                          <a:latin typeface="Arial Narrow" panose="020B0606020202030204" pitchFamily="34" charset="0"/>
                        </a:rPr>
                        <a:t>&lt;=20</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2000</a:t>
                      </a:r>
                      <a:endParaRPr lang="es-PE" sz="2000" b="1" dirty="0">
                        <a:latin typeface="Arial Narrow" panose="020B0606020202030204" pitchFamily="34" charset="0"/>
                      </a:endParaRPr>
                    </a:p>
                  </a:txBody>
                  <a:tcPr/>
                </a:tc>
                <a:extLst>
                  <a:ext uri="{0D108BD9-81ED-4DB2-BD59-A6C34878D82A}">
                    <a16:rowId xmlns:a16="http://schemas.microsoft.com/office/drawing/2014/main" val="3387933875"/>
                  </a:ext>
                </a:extLst>
              </a:tr>
              <a:tr h="345367">
                <a:tc>
                  <a:txBody>
                    <a:bodyPr/>
                    <a:lstStyle/>
                    <a:p>
                      <a:pPr algn="ctr"/>
                      <a:r>
                        <a:rPr lang="es-ES" sz="2000" b="1" dirty="0">
                          <a:latin typeface="Arial Narrow" panose="020B0606020202030204" pitchFamily="34" charset="0"/>
                        </a:rPr>
                        <a:t>Stock</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60</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80</a:t>
                      </a:r>
                      <a:endParaRPr lang="es-PE" sz="2000" b="1" dirty="0">
                        <a:latin typeface="Arial Narrow" panose="020B0606020202030204" pitchFamily="34" charset="0"/>
                      </a:endParaRPr>
                    </a:p>
                  </a:txBody>
                  <a:tcPr/>
                </a:tc>
                <a:tc>
                  <a:txBody>
                    <a:bodyPr/>
                    <a:lstStyle/>
                    <a:p>
                      <a:pPr algn="ctr"/>
                      <a:endParaRPr lang="es-PE" sz="2000" b="1" dirty="0">
                        <a:latin typeface="Arial Narrow" panose="020B0606020202030204" pitchFamily="34" charset="0"/>
                      </a:endParaRPr>
                    </a:p>
                  </a:txBody>
                  <a:tcPr/>
                </a:tc>
                <a:tc>
                  <a:txBody>
                    <a:bodyPr/>
                    <a:lstStyle/>
                    <a:p>
                      <a:pPr algn="ctr"/>
                      <a:endParaRPr lang="es-PE" sz="2000" b="1" dirty="0">
                        <a:latin typeface="Arial Narrow" panose="020B0606020202030204" pitchFamily="34" charset="0"/>
                      </a:endParaRPr>
                    </a:p>
                  </a:txBody>
                  <a:tcPr/>
                </a:tc>
                <a:extLst>
                  <a:ext uri="{0D108BD9-81ED-4DB2-BD59-A6C34878D82A}">
                    <a16:rowId xmlns:a16="http://schemas.microsoft.com/office/drawing/2014/main" val="85614718"/>
                  </a:ext>
                </a:extLst>
              </a:tr>
            </a:tbl>
          </a:graphicData>
        </a:graphic>
      </p:graphicFrame>
      <p:sp>
        <p:nvSpPr>
          <p:cNvPr id="6" name="Rectángulo 5">
            <a:extLst>
              <a:ext uri="{FF2B5EF4-FFF2-40B4-BE49-F238E27FC236}">
                <a16:creationId xmlns:a16="http://schemas.microsoft.com/office/drawing/2014/main" id="{BC473274-352F-4DAC-A12F-3D56AD8A88B8}"/>
              </a:ext>
            </a:extLst>
          </p:cNvPr>
          <p:cNvSpPr/>
          <p:nvPr/>
        </p:nvSpPr>
        <p:spPr>
          <a:xfrm>
            <a:off x="9491730" y="5670991"/>
            <a:ext cx="2700270" cy="954107"/>
          </a:xfrm>
          <a:prstGeom prst="rect">
            <a:avLst/>
          </a:prstGeom>
          <a:solidFill>
            <a:schemeClr val="accent5">
              <a:lumMod val="20000"/>
              <a:lumOff val="80000"/>
            </a:schemeClr>
          </a:solidFill>
        </p:spPr>
        <p:txBody>
          <a:bodyPr wrap="square">
            <a:spAutoFit/>
          </a:bodyPr>
          <a:lstStyle/>
          <a:p>
            <a:r>
              <a:rPr lang="es-PE" sz="1400" b="1" dirty="0">
                <a:latin typeface="Arial Narrow" panose="020B0606020202030204" pitchFamily="34" charset="0"/>
              </a:rPr>
              <a:t>1)      126666.7</a:t>
            </a:r>
          </a:p>
          <a:p>
            <a:r>
              <a:rPr lang="es-PE" sz="1400" b="1" dirty="0">
                <a:latin typeface="Arial Narrow" panose="020B0606020202030204" pitchFamily="34" charset="0"/>
              </a:rPr>
              <a:t>VARIABLE </a:t>
            </a:r>
            <a:r>
              <a:rPr lang="es-PE" sz="1400" b="1" dirty="0" err="1">
                <a:latin typeface="Arial Narrow" panose="020B0606020202030204" pitchFamily="34" charset="0"/>
              </a:rPr>
              <a:t>VALUE</a:t>
            </a:r>
            <a:r>
              <a:rPr lang="es-PE" sz="1400" b="1" dirty="0">
                <a:latin typeface="Arial Narrow" panose="020B0606020202030204" pitchFamily="34" charset="0"/>
              </a:rPr>
              <a:t>  </a:t>
            </a:r>
            <a:r>
              <a:rPr lang="es-PE" sz="1400" b="1" dirty="0" err="1">
                <a:latin typeface="Arial Narrow" panose="020B0606020202030204" pitchFamily="34" charset="0"/>
              </a:rPr>
              <a:t>REDUCED</a:t>
            </a:r>
            <a:r>
              <a:rPr lang="es-PE" sz="1400" b="1" dirty="0">
                <a:latin typeface="Arial Narrow" panose="020B0606020202030204" pitchFamily="34" charset="0"/>
              </a:rPr>
              <a:t> </a:t>
            </a:r>
            <a:r>
              <a:rPr lang="es-PE" sz="1400" b="1" dirty="0" err="1">
                <a:latin typeface="Arial Narrow" panose="020B0606020202030204" pitchFamily="34" charset="0"/>
              </a:rPr>
              <a:t>COST</a:t>
            </a:r>
            <a:endParaRPr lang="es-PE" sz="1400" b="1" dirty="0">
              <a:latin typeface="Arial Narrow" panose="020B0606020202030204" pitchFamily="34" charset="0"/>
            </a:endParaRPr>
          </a:p>
          <a:p>
            <a:r>
              <a:rPr lang="es-PE" sz="1400" b="1" dirty="0">
                <a:latin typeface="Arial Narrow" panose="020B0606020202030204" pitchFamily="34" charset="0"/>
              </a:rPr>
              <a:t>        </a:t>
            </a:r>
            <a:r>
              <a:rPr lang="es-PE" sz="1400" b="1" dirty="0" err="1">
                <a:latin typeface="Arial Narrow" panose="020B0606020202030204" pitchFamily="34" charset="0"/>
              </a:rPr>
              <a:t>X1</a:t>
            </a:r>
            <a:r>
              <a:rPr lang="es-PE" sz="1400" b="1" dirty="0">
                <a:latin typeface="Arial Narrow" panose="020B0606020202030204" pitchFamily="34" charset="0"/>
              </a:rPr>
              <a:t>        33.33     0.000000</a:t>
            </a:r>
          </a:p>
          <a:p>
            <a:r>
              <a:rPr lang="es-PE" sz="1400" b="1" dirty="0">
                <a:latin typeface="Arial Narrow" panose="020B0606020202030204" pitchFamily="34" charset="0"/>
              </a:rPr>
              <a:t>        </a:t>
            </a:r>
            <a:r>
              <a:rPr lang="es-PE" sz="1400" b="1" dirty="0" err="1">
                <a:latin typeface="Arial Narrow" panose="020B0606020202030204" pitchFamily="34" charset="0"/>
              </a:rPr>
              <a:t>X2</a:t>
            </a:r>
            <a:r>
              <a:rPr lang="es-PE" sz="1400" b="1" dirty="0">
                <a:latin typeface="Arial Narrow" panose="020B0606020202030204" pitchFamily="34" charset="0"/>
              </a:rPr>
              <a:t>        13.33     0.000000</a:t>
            </a:r>
          </a:p>
        </p:txBody>
      </p:sp>
    </p:spTree>
    <p:extLst>
      <p:ext uri="{BB962C8B-B14F-4D97-AF65-F5344CB8AC3E}">
        <p14:creationId xmlns:p14="http://schemas.microsoft.com/office/powerpoint/2010/main" val="1936018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3" grpId="0" animBg="1"/>
      <p:bldP spid="5"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CEA02E51-DD74-46EF-B058-07FE1EB0A2FD}"/>
              </a:ext>
            </a:extLst>
          </p:cNvPr>
          <p:cNvSpPr txBox="1"/>
          <p:nvPr/>
        </p:nvSpPr>
        <p:spPr>
          <a:xfrm>
            <a:off x="218941" y="1318381"/>
            <a:ext cx="5782613" cy="5940088"/>
          </a:xfrm>
          <a:prstGeom prst="rect">
            <a:avLst/>
          </a:prstGeom>
          <a:noFill/>
        </p:spPr>
        <p:txBody>
          <a:bodyPr wrap="square" rtlCol="0">
            <a:spAutoFit/>
          </a:bodyPr>
          <a:lstStyle/>
          <a:p>
            <a:pPr algn="just"/>
            <a:r>
              <a:rPr lang="es-ES" sz="2000" b="1" dirty="0">
                <a:solidFill>
                  <a:schemeClr val="tx2"/>
                </a:solidFill>
                <a:effectLst/>
                <a:latin typeface="Tahoma" panose="020B0604030504040204" pitchFamily="34" charset="0"/>
                <a:ea typeface="Calibri" panose="020F0502020204030204" pitchFamily="34" charset="0"/>
                <a:cs typeface="Times New Roman" panose="02020603050405020304" pitchFamily="18" charset="0"/>
              </a:rPr>
              <a:t>La CIA XYZ produce tornillos y clavos.  La materia prima para los tornillos cuesta S/. 2 por unidad, mientras que la materia prima para cada clavo cuesta S/. 2.50.  Un clavo requiere dos horas de mano de obra en el departamento #1 y tres horas en el departamento # 2, mientras que un tornillo requiere de cuatro horas en el departamento # 1 y dos horas en el departamento # 2.  El jornal por hora por ambos departamentos es de S/.2.  Si ambos productos se venden a S/.18, y el número de horas de mano de obra disponibles por semana en los departamentos es de 160 y 180 respectivamente, expresar el problema propuesto como un programa lineal, tal que se maximicen las utilidades.</a:t>
            </a:r>
            <a:endParaRPr lang="es-PE" sz="2000" b="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PE" sz="2000" b="1" dirty="0">
              <a:solidFill>
                <a:schemeClr val="tx2"/>
              </a:solidFill>
            </a:endParaRPr>
          </a:p>
        </p:txBody>
      </p:sp>
      <p:sp>
        <p:nvSpPr>
          <p:cNvPr id="5" name="Rectangle 3">
            <a:extLst>
              <a:ext uri="{FF2B5EF4-FFF2-40B4-BE49-F238E27FC236}">
                <a16:creationId xmlns:a16="http://schemas.microsoft.com/office/drawing/2014/main" id="{1F2915B5-DBEA-4064-8089-CF540B2F0A40}"/>
              </a:ext>
            </a:extLst>
          </p:cNvPr>
          <p:cNvSpPr txBox="1">
            <a:spLocks noChangeArrowheads="1"/>
          </p:cNvSpPr>
          <p:nvPr/>
        </p:nvSpPr>
        <p:spPr>
          <a:xfrm>
            <a:off x="6357257" y="3732492"/>
            <a:ext cx="4744331" cy="1106503"/>
          </a:xfrm>
          <a:prstGeom prst="rect">
            <a:avLst/>
          </a:prstGeom>
          <a:solidFill>
            <a:srgbClr val="FFC000"/>
          </a:solidFill>
        </p:spPr>
        <p:txBody>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200">
                <a:solidFill>
                  <a:srgbClr val="0C0000"/>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200">
                <a:solidFill>
                  <a:srgbClr val="0C0000"/>
                </a:solidFill>
                <a:latin typeface="+mn-lt"/>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200">
                <a:solidFill>
                  <a:srgbClr val="0C0000"/>
                </a:solidFill>
                <a:latin typeface="+mn-lt"/>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5pPr>
            <a:lvl6pPr marL="25146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6pPr>
            <a:lvl7pPr marL="29718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7pPr>
            <a:lvl8pPr marL="34290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8pPr>
            <a:lvl9pPr marL="38862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9pPr>
          </a:lstStyle>
          <a:p>
            <a:pPr eaLnBrk="1" hangingPunct="1">
              <a:buFont typeface="Wingdings" panose="05000000000000000000" pitchFamily="2" charset="2"/>
              <a:buNone/>
            </a:pPr>
            <a:r>
              <a:rPr lang="es-ES" sz="2000" b="1" kern="0" dirty="0">
                <a:solidFill>
                  <a:srgbClr val="FF0000"/>
                </a:solidFill>
                <a:latin typeface="Arial Narrow" panose="020B0606020202030204" pitchFamily="34" charset="0"/>
              </a:rPr>
              <a:t>Identificación de las variables</a:t>
            </a:r>
          </a:p>
          <a:p>
            <a:pPr eaLnBrk="1" hangingPunct="1">
              <a:buFont typeface="Wingdings" panose="05000000000000000000" pitchFamily="2" charset="2"/>
              <a:buNone/>
            </a:pPr>
            <a:r>
              <a:rPr lang="es-ES" sz="2000" b="1" kern="0" dirty="0" err="1">
                <a:latin typeface="Arial Narrow" panose="020B0606020202030204" pitchFamily="34" charset="0"/>
              </a:rPr>
              <a:t>X1</a:t>
            </a:r>
            <a:r>
              <a:rPr lang="es-ES" sz="2000" b="1" kern="0" dirty="0">
                <a:latin typeface="Arial Narrow" panose="020B0606020202030204" pitchFamily="34" charset="0"/>
              </a:rPr>
              <a:t>: # de unidades de tornillos por semana.</a:t>
            </a:r>
          </a:p>
          <a:p>
            <a:pPr eaLnBrk="1" hangingPunct="1">
              <a:buNone/>
            </a:pPr>
            <a:r>
              <a:rPr lang="es-ES" sz="2000" b="1" kern="0" dirty="0" err="1">
                <a:latin typeface="Arial Narrow" panose="020B0606020202030204" pitchFamily="34" charset="0"/>
              </a:rPr>
              <a:t>X2</a:t>
            </a:r>
            <a:r>
              <a:rPr lang="es-ES" sz="2000" b="1" kern="0" dirty="0">
                <a:latin typeface="Arial Narrow" panose="020B0606020202030204" pitchFamily="34" charset="0"/>
              </a:rPr>
              <a:t>: # de unidades de clavos por semana.</a:t>
            </a:r>
          </a:p>
          <a:p>
            <a:pPr marL="0" lvl="1" indent="0" eaLnBrk="1" hangingPunct="1">
              <a:buNone/>
            </a:pPr>
            <a:endParaRPr lang="es-ES" sz="2000" b="1" kern="0" dirty="0">
              <a:latin typeface="Arial Narrow" panose="020B0606020202030204" pitchFamily="34" charset="0"/>
              <a:cs typeface="Times New Roman" panose="02020603050405020304" pitchFamily="18" charset="0"/>
            </a:endParaRPr>
          </a:p>
        </p:txBody>
      </p:sp>
      <p:sp>
        <p:nvSpPr>
          <p:cNvPr id="6" name="Rectángulo 5">
            <a:extLst>
              <a:ext uri="{FF2B5EF4-FFF2-40B4-BE49-F238E27FC236}">
                <a16:creationId xmlns:a16="http://schemas.microsoft.com/office/drawing/2014/main" id="{40B9A822-FB05-4B44-BB73-6DE3279F9968}"/>
              </a:ext>
            </a:extLst>
          </p:cNvPr>
          <p:cNvSpPr/>
          <p:nvPr/>
        </p:nvSpPr>
        <p:spPr>
          <a:xfrm>
            <a:off x="6357258" y="4808241"/>
            <a:ext cx="4781464" cy="707886"/>
          </a:xfrm>
          <a:prstGeom prst="rect">
            <a:avLst/>
          </a:prstGeom>
          <a:solidFill>
            <a:srgbClr val="FFC000"/>
          </a:solidFill>
        </p:spPr>
        <p:txBody>
          <a:bodyPr wrap="square">
            <a:spAutoFit/>
          </a:bodyPr>
          <a:lstStyle/>
          <a:p>
            <a:pPr marL="0" lvl="1"/>
            <a:r>
              <a:rPr lang="es-ES" sz="2000" b="1" kern="0" dirty="0">
                <a:solidFill>
                  <a:srgbClr val="FF0000"/>
                </a:solidFill>
                <a:latin typeface="Arial Narrow" panose="020B0606020202030204" pitchFamily="34" charset="0"/>
              </a:rPr>
              <a:t>Identificación de la Función Objetivo</a:t>
            </a:r>
          </a:p>
          <a:p>
            <a:pPr marL="0" lvl="1"/>
            <a:r>
              <a:rPr lang="es-ES" sz="2000" b="1" kern="0" dirty="0">
                <a:latin typeface="Arial Narrow" panose="020B0606020202030204" pitchFamily="34" charset="0"/>
              </a:rPr>
              <a:t>Max </a:t>
            </a:r>
            <a:r>
              <a:rPr lang="es-ES" sz="2000" b="1" kern="0" dirty="0" err="1">
                <a:latin typeface="Arial Narrow" panose="020B0606020202030204" pitchFamily="34" charset="0"/>
              </a:rPr>
              <a:t>4X1</a:t>
            </a:r>
            <a:r>
              <a:rPr lang="es-ES" sz="2000" b="1" kern="0" dirty="0">
                <a:latin typeface="Arial Narrow" panose="020B0606020202030204" pitchFamily="34" charset="0"/>
              </a:rPr>
              <a:t> + </a:t>
            </a:r>
            <a:r>
              <a:rPr lang="es-ES" sz="2000" b="1" kern="0" dirty="0" err="1">
                <a:latin typeface="Arial Narrow" panose="020B0606020202030204" pitchFamily="34" charset="0"/>
              </a:rPr>
              <a:t>5.5X2</a:t>
            </a:r>
            <a:endParaRPr lang="es-ES" sz="2000" b="1" kern="0" dirty="0">
              <a:latin typeface="Arial Narrow" panose="020B0606020202030204" pitchFamily="34" charset="0"/>
            </a:endParaRPr>
          </a:p>
        </p:txBody>
      </p:sp>
      <p:sp>
        <p:nvSpPr>
          <p:cNvPr id="8" name="Rectángulo 7">
            <a:extLst>
              <a:ext uri="{FF2B5EF4-FFF2-40B4-BE49-F238E27FC236}">
                <a16:creationId xmlns:a16="http://schemas.microsoft.com/office/drawing/2014/main" id="{3A487A15-16A5-4AE4-A1EB-6CDC0E7C843A}"/>
              </a:ext>
            </a:extLst>
          </p:cNvPr>
          <p:cNvSpPr/>
          <p:nvPr/>
        </p:nvSpPr>
        <p:spPr>
          <a:xfrm>
            <a:off x="6357259" y="5495585"/>
            <a:ext cx="4800032" cy="1323439"/>
          </a:xfrm>
          <a:prstGeom prst="rect">
            <a:avLst/>
          </a:prstGeom>
          <a:solidFill>
            <a:srgbClr val="FFC000"/>
          </a:solidFill>
        </p:spPr>
        <p:txBody>
          <a:bodyPr wrap="square">
            <a:spAutoFit/>
          </a:bodyPr>
          <a:lstStyle/>
          <a:p>
            <a:r>
              <a:rPr lang="es-ES" sz="2000" b="1" kern="0" dirty="0">
                <a:solidFill>
                  <a:srgbClr val="FF0000"/>
                </a:solidFill>
                <a:latin typeface="Arial Narrow" panose="020B0606020202030204" pitchFamily="34" charset="0"/>
              </a:rPr>
              <a:t>Identificación de las restricciones</a:t>
            </a:r>
          </a:p>
          <a:p>
            <a:pPr lvl="1"/>
            <a:r>
              <a:rPr lang="es-ES" sz="2000" b="1" kern="0" dirty="0" err="1">
                <a:latin typeface="Arial Narrow" panose="020B0606020202030204" pitchFamily="34" charset="0"/>
              </a:rPr>
              <a:t>4X1</a:t>
            </a:r>
            <a:r>
              <a:rPr lang="es-ES" sz="2000" b="1" kern="0" dirty="0">
                <a:latin typeface="Arial Narrow" panose="020B0606020202030204" pitchFamily="34" charset="0"/>
              </a:rPr>
              <a:t> + </a:t>
            </a:r>
            <a:r>
              <a:rPr lang="es-ES" sz="2000" b="1" kern="0" dirty="0" err="1">
                <a:latin typeface="Arial Narrow" panose="020B0606020202030204" pitchFamily="34" charset="0"/>
              </a:rPr>
              <a:t>2X2</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160</a:t>
            </a:r>
          </a:p>
          <a:p>
            <a:pPr lvl="1"/>
            <a:r>
              <a:rPr lang="es-ES" sz="2000" b="1" kern="0" dirty="0" err="1">
                <a:latin typeface="Arial Narrow" panose="020B0606020202030204" pitchFamily="34" charset="0"/>
              </a:rPr>
              <a:t>2X1</a:t>
            </a:r>
            <a:r>
              <a:rPr lang="es-ES" sz="2000" b="1" kern="0" dirty="0">
                <a:latin typeface="Arial Narrow" panose="020B0606020202030204" pitchFamily="34" charset="0"/>
              </a:rPr>
              <a:t> + </a:t>
            </a:r>
            <a:r>
              <a:rPr lang="es-ES" sz="2000" b="1" kern="0" dirty="0" err="1">
                <a:latin typeface="Arial Narrow" panose="020B0606020202030204" pitchFamily="34" charset="0"/>
              </a:rPr>
              <a:t>3X2</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180	 </a:t>
            </a:r>
          </a:p>
          <a:p>
            <a:pPr lvl="1"/>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       X1, X2 ≥ 0, </a:t>
            </a:r>
            <a:r>
              <a:rPr lang="es-ES" sz="2000" b="1" kern="0" dirty="0">
                <a:solidFill>
                  <a:srgbClr val="FF0000"/>
                </a:solidFill>
                <a:latin typeface="Arial Narrow" panose="020B0606020202030204" pitchFamily="34" charset="0"/>
                <a:cs typeface="Times New Roman" panose="02020603050405020304" pitchFamily="18" charset="0"/>
              </a:rPr>
              <a:t>ENTERO</a:t>
            </a:r>
            <a:endParaRPr lang="es-PE" b="1" dirty="0">
              <a:solidFill>
                <a:srgbClr val="FF0000"/>
              </a:solidFill>
              <a:latin typeface="Arial Narrow" panose="020B0606020202030204" pitchFamily="34" charset="0"/>
            </a:endParaRPr>
          </a:p>
        </p:txBody>
      </p:sp>
      <p:sp>
        <p:nvSpPr>
          <p:cNvPr id="10" name="CuadroTexto 9">
            <a:extLst>
              <a:ext uri="{FF2B5EF4-FFF2-40B4-BE49-F238E27FC236}">
                <a16:creationId xmlns:a16="http://schemas.microsoft.com/office/drawing/2014/main" id="{9494AA5D-8ADE-4798-A7ED-94DCEDBE9060}"/>
              </a:ext>
            </a:extLst>
          </p:cNvPr>
          <p:cNvSpPr txBox="1"/>
          <p:nvPr/>
        </p:nvSpPr>
        <p:spPr>
          <a:xfrm>
            <a:off x="6280651" y="2738475"/>
            <a:ext cx="4949726" cy="1015663"/>
          </a:xfrm>
          <a:prstGeom prst="rect">
            <a:avLst/>
          </a:prstGeom>
          <a:solidFill>
            <a:schemeClr val="bg1"/>
          </a:solidFill>
        </p:spPr>
        <p:txBody>
          <a:bodyPr wrap="square" rtlCol="0">
            <a:spAutoFit/>
          </a:bodyPr>
          <a:lstStyle/>
          <a:p>
            <a:r>
              <a:rPr lang="es-ES" sz="2000" b="1" dirty="0"/>
              <a:t>Utilidad=Ingreso-costo</a:t>
            </a:r>
          </a:p>
          <a:p>
            <a:r>
              <a:rPr lang="es-ES" sz="2000" b="1" dirty="0"/>
              <a:t>Utilidad tornillo=18-(12+2)=4.0   S./unidad</a:t>
            </a:r>
          </a:p>
          <a:p>
            <a:r>
              <a:rPr lang="es-ES" sz="2000" b="1" dirty="0"/>
              <a:t>Utilidad clavos=18-(10+2.5)=5.5   S./unidad</a:t>
            </a:r>
            <a:endParaRPr lang="es-PE" sz="2000" b="1" dirty="0"/>
          </a:p>
        </p:txBody>
      </p:sp>
      <p:graphicFrame>
        <p:nvGraphicFramePr>
          <p:cNvPr id="2" name="Tabla 2">
            <a:extLst>
              <a:ext uri="{FF2B5EF4-FFF2-40B4-BE49-F238E27FC236}">
                <a16:creationId xmlns:a16="http://schemas.microsoft.com/office/drawing/2014/main" id="{51F4D7BC-7C10-4EAB-8080-7412594D3CAF}"/>
              </a:ext>
            </a:extLst>
          </p:cNvPr>
          <p:cNvGraphicFramePr>
            <a:graphicFrameLocks noGrp="1"/>
          </p:cNvGraphicFramePr>
          <p:nvPr/>
        </p:nvGraphicFramePr>
        <p:xfrm>
          <a:off x="6353629" y="1318381"/>
          <a:ext cx="5392055" cy="1463040"/>
        </p:xfrm>
        <a:graphic>
          <a:graphicData uri="http://schemas.openxmlformats.org/drawingml/2006/table">
            <a:tbl>
              <a:tblPr firstRow="1" bandRow="1">
                <a:tableStyleId>{5C22544A-7EE6-4342-B048-85BDC9FD1C3A}</a:tableStyleId>
              </a:tblPr>
              <a:tblGrid>
                <a:gridCol w="1078411">
                  <a:extLst>
                    <a:ext uri="{9D8B030D-6E8A-4147-A177-3AD203B41FA5}">
                      <a16:colId xmlns:a16="http://schemas.microsoft.com/office/drawing/2014/main" val="1683240228"/>
                    </a:ext>
                  </a:extLst>
                </a:gridCol>
                <a:gridCol w="1078411">
                  <a:extLst>
                    <a:ext uri="{9D8B030D-6E8A-4147-A177-3AD203B41FA5}">
                      <a16:colId xmlns:a16="http://schemas.microsoft.com/office/drawing/2014/main" val="415033908"/>
                    </a:ext>
                  </a:extLst>
                </a:gridCol>
                <a:gridCol w="1078411">
                  <a:extLst>
                    <a:ext uri="{9D8B030D-6E8A-4147-A177-3AD203B41FA5}">
                      <a16:colId xmlns:a16="http://schemas.microsoft.com/office/drawing/2014/main" val="426800007"/>
                    </a:ext>
                  </a:extLst>
                </a:gridCol>
                <a:gridCol w="1078411">
                  <a:extLst>
                    <a:ext uri="{9D8B030D-6E8A-4147-A177-3AD203B41FA5}">
                      <a16:colId xmlns:a16="http://schemas.microsoft.com/office/drawing/2014/main" val="1721677251"/>
                    </a:ext>
                  </a:extLst>
                </a:gridCol>
                <a:gridCol w="1078411">
                  <a:extLst>
                    <a:ext uri="{9D8B030D-6E8A-4147-A177-3AD203B41FA5}">
                      <a16:colId xmlns:a16="http://schemas.microsoft.com/office/drawing/2014/main" val="2439388563"/>
                    </a:ext>
                  </a:extLst>
                </a:gridCol>
              </a:tblGrid>
              <a:tr h="272097">
                <a:tc>
                  <a:txBody>
                    <a:bodyPr/>
                    <a:lstStyle/>
                    <a:p>
                      <a:pPr algn="ctr"/>
                      <a:r>
                        <a:rPr lang="es-ES" dirty="0"/>
                        <a:t>Producto</a:t>
                      </a:r>
                      <a:endParaRPr lang="es-PE" dirty="0"/>
                    </a:p>
                  </a:txBody>
                  <a:tcPr/>
                </a:tc>
                <a:tc>
                  <a:txBody>
                    <a:bodyPr/>
                    <a:lstStyle/>
                    <a:p>
                      <a:pPr algn="ctr"/>
                      <a:r>
                        <a:rPr lang="es-ES" dirty="0"/>
                        <a:t>Costo</a:t>
                      </a:r>
                      <a:endParaRPr lang="es-PE" dirty="0"/>
                    </a:p>
                  </a:txBody>
                  <a:tcPr/>
                </a:tc>
                <a:tc>
                  <a:txBody>
                    <a:bodyPr/>
                    <a:lstStyle/>
                    <a:p>
                      <a:pPr algn="ctr"/>
                      <a:r>
                        <a:rPr lang="es-ES" dirty="0"/>
                        <a:t>Depto. 1</a:t>
                      </a:r>
                      <a:endParaRPr lang="es-P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dirty="0"/>
                        <a:t>Depto. 2</a:t>
                      </a:r>
                      <a:endParaRPr lang="es-P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dirty="0"/>
                        <a:t>Precio</a:t>
                      </a:r>
                      <a:endParaRPr lang="es-PE" dirty="0"/>
                    </a:p>
                  </a:txBody>
                  <a:tcPr/>
                </a:tc>
                <a:extLst>
                  <a:ext uri="{0D108BD9-81ED-4DB2-BD59-A6C34878D82A}">
                    <a16:rowId xmlns:a16="http://schemas.microsoft.com/office/drawing/2014/main" val="974460463"/>
                  </a:ext>
                </a:extLst>
              </a:tr>
              <a:tr h="272097">
                <a:tc>
                  <a:txBody>
                    <a:bodyPr/>
                    <a:lstStyle/>
                    <a:p>
                      <a:pPr algn="ctr"/>
                      <a:r>
                        <a:rPr lang="es-ES" dirty="0"/>
                        <a:t>Tornillo </a:t>
                      </a:r>
                      <a:endParaRPr lang="es-PE" dirty="0"/>
                    </a:p>
                  </a:txBody>
                  <a:tcPr/>
                </a:tc>
                <a:tc>
                  <a:txBody>
                    <a:bodyPr/>
                    <a:lstStyle/>
                    <a:p>
                      <a:pPr algn="ctr"/>
                      <a:r>
                        <a:rPr lang="es-ES" dirty="0"/>
                        <a:t>2</a:t>
                      </a:r>
                      <a:endParaRPr lang="es-PE" dirty="0"/>
                    </a:p>
                  </a:txBody>
                  <a:tcPr/>
                </a:tc>
                <a:tc>
                  <a:txBody>
                    <a:bodyPr/>
                    <a:lstStyle/>
                    <a:p>
                      <a:pPr algn="ctr"/>
                      <a:r>
                        <a:rPr lang="es-ES" dirty="0"/>
                        <a:t>4</a:t>
                      </a:r>
                      <a:endParaRPr lang="es-PE" dirty="0"/>
                    </a:p>
                  </a:txBody>
                  <a:tcPr/>
                </a:tc>
                <a:tc>
                  <a:txBody>
                    <a:bodyPr/>
                    <a:lstStyle/>
                    <a:p>
                      <a:pPr algn="ctr"/>
                      <a:r>
                        <a:rPr lang="es-ES" dirty="0"/>
                        <a:t>2</a:t>
                      </a:r>
                      <a:endParaRPr lang="es-PE" dirty="0"/>
                    </a:p>
                  </a:txBody>
                  <a:tcPr/>
                </a:tc>
                <a:tc>
                  <a:txBody>
                    <a:bodyPr/>
                    <a:lstStyle/>
                    <a:p>
                      <a:pPr algn="ctr"/>
                      <a:r>
                        <a:rPr lang="es-ES" dirty="0"/>
                        <a:t>18</a:t>
                      </a:r>
                      <a:endParaRPr lang="es-PE" dirty="0"/>
                    </a:p>
                  </a:txBody>
                  <a:tcPr/>
                </a:tc>
                <a:extLst>
                  <a:ext uri="{0D108BD9-81ED-4DB2-BD59-A6C34878D82A}">
                    <a16:rowId xmlns:a16="http://schemas.microsoft.com/office/drawing/2014/main" val="1179727459"/>
                  </a:ext>
                </a:extLst>
              </a:tr>
              <a:tr h="272097">
                <a:tc>
                  <a:txBody>
                    <a:bodyPr/>
                    <a:lstStyle/>
                    <a:p>
                      <a:pPr algn="ctr"/>
                      <a:r>
                        <a:rPr lang="es-ES" dirty="0"/>
                        <a:t>Clavo</a:t>
                      </a:r>
                      <a:endParaRPr lang="es-PE" dirty="0"/>
                    </a:p>
                  </a:txBody>
                  <a:tcPr/>
                </a:tc>
                <a:tc>
                  <a:txBody>
                    <a:bodyPr/>
                    <a:lstStyle/>
                    <a:p>
                      <a:pPr algn="ctr"/>
                      <a:r>
                        <a:rPr lang="es-ES" dirty="0"/>
                        <a:t>2.5</a:t>
                      </a:r>
                      <a:endParaRPr lang="es-PE" dirty="0"/>
                    </a:p>
                  </a:txBody>
                  <a:tcPr/>
                </a:tc>
                <a:tc>
                  <a:txBody>
                    <a:bodyPr/>
                    <a:lstStyle/>
                    <a:p>
                      <a:pPr algn="ctr"/>
                      <a:r>
                        <a:rPr lang="es-ES" dirty="0"/>
                        <a:t>2</a:t>
                      </a:r>
                      <a:endParaRPr lang="es-PE" dirty="0"/>
                    </a:p>
                  </a:txBody>
                  <a:tcPr/>
                </a:tc>
                <a:tc>
                  <a:txBody>
                    <a:bodyPr/>
                    <a:lstStyle/>
                    <a:p>
                      <a:pPr algn="ctr"/>
                      <a:r>
                        <a:rPr lang="es-ES" dirty="0"/>
                        <a:t>3</a:t>
                      </a:r>
                      <a:endParaRPr lang="es-PE" dirty="0"/>
                    </a:p>
                  </a:txBody>
                  <a:tcPr/>
                </a:tc>
                <a:tc>
                  <a:txBody>
                    <a:bodyPr/>
                    <a:lstStyle/>
                    <a:p>
                      <a:pPr algn="ctr"/>
                      <a:r>
                        <a:rPr lang="es-ES" dirty="0"/>
                        <a:t>18</a:t>
                      </a:r>
                      <a:endParaRPr lang="es-PE" dirty="0"/>
                    </a:p>
                  </a:txBody>
                  <a:tcPr/>
                </a:tc>
                <a:extLst>
                  <a:ext uri="{0D108BD9-81ED-4DB2-BD59-A6C34878D82A}">
                    <a16:rowId xmlns:a16="http://schemas.microsoft.com/office/drawing/2014/main" val="3387933875"/>
                  </a:ext>
                </a:extLst>
              </a:tr>
              <a:tr h="272097">
                <a:tc>
                  <a:txBody>
                    <a:bodyPr/>
                    <a:lstStyle/>
                    <a:p>
                      <a:pPr algn="ctr"/>
                      <a:endParaRPr lang="es-PE" dirty="0"/>
                    </a:p>
                  </a:txBody>
                  <a:tcPr/>
                </a:tc>
                <a:tc>
                  <a:txBody>
                    <a:bodyPr/>
                    <a:lstStyle/>
                    <a:p>
                      <a:pPr algn="ctr"/>
                      <a:endParaRPr lang="es-PE" dirty="0"/>
                    </a:p>
                  </a:txBody>
                  <a:tcPr/>
                </a:tc>
                <a:tc>
                  <a:txBody>
                    <a:bodyPr/>
                    <a:lstStyle/>
                    <a:p>
                      <a:pPr algn="ctr"/>
                      <a:r>
                        <a:rPr lang="es-ES" dirty="0"/>
                        <a:t>160</a:t>
                      </a:r>
                      <a:endParaRPr lang="es-PE" dirty="0"/>
                    </a:p>
                  </a:txBody>
                  <a:tcPr/>
                </a:tc>
                <a:tc>
                  <a:txBody>
                    <a:bodyPr/>
                    <a:lstStyle/>
                    <a:p>
                      <a:pPr algn="ctr"/>
                      <a:r>
                        <a:rPr lang="es-ES" dirty="0"/>
                        <a:t>180</a:t>
                      </a:r>
                      <a:endParaRPr lang="es-PE" dirty="0"/>
                    </a:p>
                  </a:txBody>
                  <a:tcPr/>
                </a:tc>
                <a:tc>
                  <a:txBody>
                    <a:bodyPr/>
                    <a:lstStyle/>
                    <a:p>
                      <a:pPr algn="ctr"/>
                      <a:endParaRPr lang="es-PE" dirty="0"/>
                    </a:p>
                  </a:txBody>
                  <a:tcPr/>
                </a:tc>
                <a:extLst>
                  <a:ext uri="{0D108BD9-81ED-4DB2-BD59-A6C34878D82A}">
                    <a16:rowId xmlns:a16="http://schemas.microsoft.com/office/drawing/2014/main" val="85614718"/>
                  </a:ext>
                </a:extLst>
              </a:tr>
            </a:tbl>
          </a:graphicData>
        </a:graphic>
      </p:graphicFrame>
      <p:sp>
        <p:nvSpPr>
          <p:cNvPr id="12" name="Rectangle 2">
            <a:extLst>
              <a:ext uri="{FF2B5EF4-FFF2-40B4-BE49-F238E27FC236}">
                <a16:creationId xmlns:a16="http://schemas.microsoft.com/office/drawing/2014/main" id="{FC1C884C-DF9F-4375-8E54-256B05D652C6}"/>
              </a:ext>
            </a:extLst>
          </p:cNvPr>
          <p:cNvSpPr txBox="1">
            <a:spLocks noChangeArrowheads="1"/>
          </p:cNvSpPr>
          <p:nvPr/>
        </p:nvSpPr>
        <p:spPr>
          <a:xfrm>
            <a:off x="6096000" y="250166"/>
            <a:ext cx="6096000" cy="5520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2800" b="1" dirty="0">
                <a:solidFill>
                  <a:schemeClr val="bg1"/>
                </a:solidFill>
              </a:rPr>
              <a:t>Problema 18</a:t>
            </a:r>
            <a:endParaRPr lang="es-ES" sz="2800" b="1" dirty="0">
              <a:solidFill>
                <a:schemeClr val="bg1"/>
              </a:solidFill>
            </a:endParaRPr>
          </a:p>
        </p:txBody>
      </p:sp>
      <p:sp>
        <p:nvSpPr>
          <p:cNvPr id="13" name="Rectángulo 12">
            <a:extLst>
              <a:ext uri="{FF2B5EF4-FFF2-40B4-BE49-F238E27FC236}">
                <a16:creationId xmlns:a16="http://schemas.microsoft.com/office/drawing/2014/main" id="{E1EB214A-F43E-40DE-B484-B740452FFF0D}"/>
              </a:ext>
            </a:extLst>
          </p:cNvPr>
          <p:cNvSpPr/>
          <p:nvPr/>
        </p:nvSpPr>
        <p:spPr>
          <a:xfrm>
            <a:off x="10190672" y="3743076"/>
            <a:ext cx="2001328" cy="2123658"/>
          </a:xfrm>
          <a:prstGeom prst="rect">
            <a:avLst/>
          </a:prstGeom>
          <a:solidFill>
            <a:srgbClr val="FFFF00"/>
          </a:solidFill>
        </p:spPr>
        <p:txBody>
          <a:bodyPr wrap="square">
            <a:spAutoFit/>
          </a:bodyPr>
          <a:lstStyle/>
          <a:p>
            <a:pPr marL="0" lvl="1"/>
            <a:r>
              <a:rPr lang="es-ES" kern="0" dirty="0">
                <a:latin typeface="Arial Narrow" panose="020B0606020202030204" pitchFamily="34" charset="0"/>
              </a:rPr>
              <a:t>Max </a:t>
            </a:r>
            <a:r>
              <a:rPr lang="es-ES" kern="0" dirty="0" err="1">
                <a:latin typeface="Arial Narrow" panose="020B0606020202030204" pitchFamily="34" charset="0"/>
              </a:rPr>
              <a:t>4X1</a:t>
            </a:r>
            <a:r>
              <a:rPr lang="es-ES" kern="0" dirty="0">
                <a:latin typeface="Arial Narrow" panose="020B0606020202030204" pitchFamily="34" charset="0"/>
              </a:rPr>
              <a:t> + </a:t>
            </a:r>
            <a:r>
              <a:rPr lang="es-ES" kern="0" dirty="0" err="1">
                <a:latin typeface="Arial Narrow" panose="020B0606020202030204" pitchFamily="34" charset="0"/>
              </a:rPr>
              <a:t>5.5X2</a:t>
            </a:r>
            <a:endParaRPr lang="es-ES" kern="0" dirty="0">
              <a:latin typeface="Arial Narrow" panose="020B0606020202030204" pitchFamily="34" charset="0"/>
            </a:endParaRPr>
          </a:p>
          <a:p>
            <a:pPr marL="0" lvl="1"/>
            <a:r>
              <a:rPr lang="es-ES" kern="0" dirty="0" err="1">
                <a:latin typeface="Arial Narrow" panose="020B0606020202030204" pitchFamily="34" charset="0"/>
              </a:rPr>
              <a:t>ST</a:t>
            </a:r>
            <a:endParaRPr lang="es-ES" kern="0" dirty="0">
              <a:latin typeface="Arial Narrow" panose="020B0606020202030204" pitchFamily="34" charset="0"/>
            </a:endParaRPr>
          </a:p>
          <a:p>
            <a:pPr marL="0" lvl="1"/>
            <a:r>
              <a:rPr lang="es-ES" kern="0" dirty="0" err="1">
                <a:latin typeface="Arial Narrow" panose="020B0606020202030204" pitchFamily="34" charset="0"/>
              </a:rPr>
              <a:t>4X1</a:t>
            </a:r>
            <a:r>
              <a:rPr lang="es-ES" kern="0" dirty="0">
                <a:latin typeface="Arial Narrow" panose="020B0606020202030204" pitchFamily="34" charset="0"/>
              </a:rPr>
              <a:t> + </a:t>
            </a:r>
            <a:r>
              <a:rPr lang="es-ES" kern="0" dirty="0" err="1">
                <a:latin typeface="Arial Narrow" panose="020B0606020202030204" pitchFamily="34" charset="0"/>
              </a:rPr>
              <a:t>2X2</a:t>
            </a:r>
            <a:r>
              <a:rPr lang="es-ES" kern="0" dirty="0">
                <a:latin typeface="Arial Narrow" panose="020B0606020202030204" pitchFamily="34" charset="0"/>
              </a:rPr>
              <a:t>   </a:t>
            </a:r>
            <a:r>
              <a:rPr lang="es-ES" kern="0" dirty="0">
                <a:latin typeface="Arial Narrow" panose="020B0606020202030204" pitchFamily="34" charset="0"/>
                <a:cs typeface="Times New Roman" panose="02020603050405020304" pitchFamily="18" charset="0"/>
              </a:rPr>
              <a:t>≤</a:t>
            </a:r>
            <a:r>
              <a:rPr lang="es-ES" kern="0" dirty="0">
                <a:latin typeface="Arial Narrow" panose="020B0606020202030204" pitchFamily="34" charset="0"/>
              </a:rPr>
              <a:t>  160</a:t>
            </a:r>
          </a:p>
          <a:p>
            <a:pPr marL="0" lvl="1"/>
            <a:r>
              <a:rPr lang="es-ES" kern="0" dirty="0">
                <a:latin typeface="Arial Narrow" panose="020B0606020202030204" pitchFamily="34" charset="0"/>
              </a:rPr>
              <a:t>2X1 + 3X2   </a:t>
            </a:r>
            <a:r>
              <a:rPr lang="es-ES" kern="0" dirty="0">
                <a:latin typeface="Arial Narrow" panose="020B0606020202030204" pitchFamily="34" charset="0"/>
                <a:cs typeface="Times New Roman" panose="02020603050405020304" pitchFamily="18" charset="0"/>
              </a:rPr>
              <a:t>≤</a:t>
            </a:r>
            <a:r>
              <a:rPr lang="es-ES" kern="0" dirty="0">
                <a:latin typeface="Arial Narrow" panose="020B0606020202030204" pitchFamily="34" charset="0"/>
              </a:rPr>
              <a:t>  180</a:t>
            </a:r>
          </a:p>
          <a:p>
            <a:r>
              <a:rPr lang="en-US" sz="2000" dirty="0">
                <a:latin typeface="Arial Narrow" pitchFamily="34" charset="0"/>
              </a:rPr>
              <a:t>END</a:t>
            </a:r>
          </a:p>
          <a:p>
            <a:r>
              <a:rPr lang="en-US" sz="2000" dirty="0">
                <a:latin typeface="Arial Narrow" pitchFamily="34" charset="0"/>
              </a:rPr>
              <a:t>GIN X1</a:t>
            </a:r>
          </a:p>
          <a:p>
            <a:r>
              <a:rPr lang="en-US" sz="2000" dirty="0">
                <a:latin typeface="Arial Narrow" pitchFamily="34" charset="0"/>
              </a:rPr>
              <a:t>GIN X2</a:t>
            </a:r>
            <a:endParaRPr lang="es-ES" kern="0" dirty="0">
              <a:latin typeface="Arial Narrow" panose="020B0606020202030204" pitchFamily="34" charset="0"/>
            </a:endParaRPr>
          </a:p>
        </p:txBody>
      </p:sp>
      <p:sp>
        <p:nvSpPr>
          <p:cNvPr id="14" name="Rectángulo 13">
            <a:extLst>
              <a:ext uri="{FF2B5EF4-FFF2-40B4-BE49-F238E27FC236}">
                <a16:creationId xmlns:a16="http://schemas.microsoft.com/office/drawing/2014/main" id="{DA55EEB4-E492-4F62-8F16-25463E7FB6B9}"/>
              </a:ext>
            </a:extLst>
          </p:cNvPr>
          <p:cNvSpPr/>
          <p:nvPr/>
        </p:nvSpPr>
        <p:spPr>
          <a:xfrm>
            <a:off x="9394166" y="5852137"/>
            <a:ext cx="2797834" cy="954107"/>
          </a:xfrm>
          <a:prstGeom prst="rect">
            <a:avLst/>
          </a:prstGeom>
          <a:solidFill>
            <a:schemeClr val="accent5">
              <a:lumMod val="20000"/>
              <a:lumOff val="80000"/>
            </a:schemeClr>
          </a:solidFill>
        </p:spPr>
        <p:txBody>
          <a:bodyPr wrap="square">
            <a:spAutoFit/>
          </a:bodyPr>
          <a:lstStyle/>
          <a:p>
            <a:r>
              <a:rPr lang="en-US" sz="1400" dirty="0">
                <a:latin typeface="Arial Narrow" panose="020B0606020202030204" pitchFamily="34" charset="0"/>
              </a:rPr>
              <a:t>1)      335.0000</a:t>
            </a:r>
          </a:p>
          <a:p>
            <a:r>
              <a:rPr lang="en-US" sz="1400" dirty="0">
                <a:latin typeface="Arial Narrow" panose="020B0606020202030204" pitchFamily="34" charset="0"/>
              </a:rPr>
              <a:t>VARIABLE  VALUE    REDUCED COST</a:t>
            </a:r>
          </a:p>
          <a:p>
            <a:r>
              <a:rPr lang="en-US" sz="1400" dirty="0">
                <a:latin typeface="Arial Narrow" panose="020B0606020202030204" pitchFamily="34" charset="0"/>
              </a:rPr>
              <a:t>        </a:t>
            </a:r>
            <a:r>
              <a:rPr lang="en-US" sz="1400" dirty="0" err="1">
                <a:latin typeface="Arial Narrow" panose="020B0606020202030204" pitchFamily="34" charset="0"/>
              </a:rPr>
              <a:t>X1</a:t>
            </a:r>
            <a:r>
              <a:rPr lang="en-US" sz="1400" dirty="0">
                <a:latin typeface="Arial Narrow" panose="020B0606020202030204" pitchFamily="34" charset="0"/>
              </a:rPr>
              <a:t>        15.000000          0.000000</a:t>
            </a:r>
          </a:p>
          <a:p>
            <a:r>
              <a:rPr lang="en-US" sz="1400" dirty="0">
                <a:latin typeface="Arial Narrow" panose="020B0606020202030204" pitchFamily="34" charset="0"/>
              </a:rPr>
              <a:t>        </a:t>
            </a:r>
            <a:r>
              <a:rPr lang="en-US" sz="1400" dirty="0" err="1">
                <a:latin typeface="Arial Narrow" panose="020B0606020202030204" pitchFamily="34" charset="0"/>
              </a:rPr>
              <a:t>X2</a:t>
            </a:r>
            <a:r>
              <a:rPr lang="en-US" sz="1400" dirty="0">
                <a:latin typeface="Arial Narrow" panose="020B0606020202030204" pitchFamily="34" charset="0"/>
              </a:rPr>
              <a:t>        50.000000          0.000000</a:t>
            </a:r>
            <a:endParaRPr lang="es-PE" sz="1400" dirty="0">
              <a:latin typeface="Arial Narrow" panose="020B0606020202030204" pitchFamily="34" charset="0"/>
            </a:endParaRPr>
          </a:p>
        </p:txBody>
      </p:sp>
    </p:spTree>
    <p:extLst>
      <p:ext uri="{BB962C8B-B14F-4D97-AF65-F5344CB8AC3E}">
        <p14:creationId xmlns:p14="http://schemas.microsoft.com/office/powerpoint/2010/main" val="14403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D6378C19-655C-4648-B524-BA0AE7EF2367}"/>
              </a:ext>
            </a:extLst>
          </p:cNvPr>
          <p:cNvSpPr txBox="1"/>
          <p:nvPr/>
        </p:nvSpPr>
        <p:spPr>
          <a:xfrm>
            <a:off x="120772" y="1289132"/>
            <a:ext cx="5940724" cy="3170099"/>
          </a:xfrm>
          <a:prstGeom prst="rect">
            <a:avLst/>
          </a:prstGeom>
          <a:noFill/>
        </p:spPr>
        <p:txBody>
          <a:bodyPr wrap="square" rtlCol="0">
            <a:spAutoFit/>
          </a:bodyPr>
          <a:lstStyle/>
          <a:p>
            <a:pPr algn="just">
              <a:spcAft>
                <a:spcPts val="800"/>
              </a:spcAft>
            </a:pPr>
            <a:r>
              <a:rPr lang="es-PE" sz="2000" b="1" dirty="0">
                <a:effectLst/>
                <a:latin typeface="Tahoma" panose="020B0604030504040204" pitchFamily="34" charset="0"/>
                <a:ea typeface="Calibri" panose="020F0502020204030204" pitchFamily="34" charset="0"/>
                <a:cs typeface="Times New Roman" panose="02020603050405020304" pitchFamily="18" charset="0"/>
              </a:rPr>
              <a:t>Una compañía productora de lácteos tiene dos máquinas de producción en paralelo y necesita hacer la entrega de 200 barriles de yogur enriquecido y 500 barriles de yogur especial.  Cada día la máquina A produce 13 barriles del tipo enriquecido y 28 del tipo especial; mientras que la máquina B, 18 y 23, respectivamente.  La operación diaria de las máquinas A y B cuesta $ 30 y $ 20, respectivamente. Formule el modelo de PL.</a:t>
            </a:r>
            <a:endParaRPr lang="es-PE" sz="2000" b="1" dirty="0"/>
          </a:p>
        </p:txBody>
      </p:sp>
      <p:sp>
        <p:nvSpPr>
          <p:cNvPr id="5" name="Rectangle 3">
            <a:extLst>
              <a:ext uri="{FF2B5EF4-FFF2-40B4-BE49-F238E27FC236}">
                <a16:creationId xmlns:a16="http://schemas.microsoft.com/office/drawing/2014/main" id="{5B944DE7-D97E-4432-8782-C8EFE3F6CA30}"/>
              </a:ext>
            </a:extLst>
          </p:cNvPr>
          <p:cNvSpPr txBox="1">
            <a:spLocks noChangeArrowheads="1"/>
          </p:cNvSpPr>
          <p:nvPr/>
        </p:nvSpPr>
        <p:spPr>
          <a:xfrm>
            <a:off x="6245529" y="1421024"/>
            <a:ext cx="4123896" cy="1106503"/>
          </a:xfrm>
          <a:prstGeom prst="rect">
            <a:avLst/>
          </a:prstGeom>
          <a:solidFill>
            <a:schemeClr val="accent3">
              <a:lumMod val="20000"/>
              <a:lumOff val="80000"/>
            </a:schemeClr>
          </a:solidFill>
        </p:spPr>
        <p:txBody>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200">
                <a:solidFill>
                  <a:srgbClr val="0C0000"/>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200">
                <a:solidFill>
                  <a:srgbClr val="0C0000"/>
                </a:solidFill>
                <a:latin typeface="+mn-lt"/>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200">
                <a:solidFill>
                  <a:srgbClr val="0C0000"/>
                </a:solidFill>
                <a:latin typeface="+mn-lt"/>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5pPr>
            <a:lvl6pPr marL="25146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6pPr>
            <a:lvl7pPr marL="29718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7pPr>
            <a:lvl8pPr marL="34290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8pPr>
            <a:lvl9pPr marL="38862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9pPr>
          </a:lstStyle>
          <a:p>
            <a:pPr eaLnBrk="1" hangingPunct="1">
              <a:buFont typeface="Wingdings" panose="05000000000000000000" pitchFamily="2" charset="2"/>
              <a:buNone/>
            </a:pPr>
            <a:r>
              <a:rPr lang="es-ES" sz="2000" b="1" kern="0" dirty="0">
                <a:solidFill>
                  <a:srgbClr val="FF0000"/>
                </a:solidFill>
                <a:latin typeface="Arial Narrow" panose="020B0606020202030204" pitchFamily="34" charset="0"/>
              </a:rPr>
              <a:t>Identificación de las variables</a:t>
            </a:r>
          </a:p>
          <a:p>
            <a:pPr eaLnBrk="1" hangingPunct="1">
              <a:buFont typeface="Wingdings" panose="05000000000000000000" pitchFamily="2" charset="2"/>
              <a:buNone/>
            </a:pPr>
            <a:r>
              <a:rPr lang="es-ES" sz="2000" b="1" kern="0" dirty="0" err="1">
                <a:latin typeface="Arial Narrow" panose="020B0606020202030204" pitchFamily="34" charset="0"/>
              </a:rPr>
              <a:t>X1</a:t>
            </a:r>
            <a:r>
              <a:rPr lang="es-ES" sz="2000" b="1" kern="0" dirty="0">
                <a:latin typeface="Arial Narrow" panose="020B0606020202030204" pitchFamily="34" charset="0"/>
              </a:rPr>
              <a:t>: # de días que opera la máquina A.</a:t>
            </a:r>
          </a:p>
          <a:p>
            <a:pPr eaLnBrk="1" hangingPunct="1">
              <a:buNone/>
            </a:pPr>
            <a:r>
              <a:rPr lang="es-ES" sz="2000" b="1" kern="0" dirty="0" err="1">
                <a:latin typeface="Arial Narrow" panose="020B0606020202030204" pitchFamily="34" charset="0"/>
              </a:rPr>
              <a:t>X2</a:t>
            </a:r>
            <a:r>
              <a:rPr lang="es-ES" sz="2000" b="1" kern="0" dirty="0">
                <a:latin typeface="Arial Narrow" panose="020B0606020202030204" pitchFamily="34" charset="0"/>
              </a:rPr>
              <a:t>: # de días que opera la máquina B.</a:t>
            </a:r>
          </a:p>
          <a:p>
            <a:pPr marL="0" lvl="1" indent="0" eaLnBrk="1" hangingPunct="1">
              <a:buNone/>
            </a:pPr>
            <a:endParaRPr lang="es-ES" sz="2000" b="1" kern="0" dirty="0">
              <a:latin typeface="Arial Narrow" panose="020B0606020202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CDD39ED1-03F0-4053-B2E5-6AE153E6D143}"/>
              </a:ext>
            </a:extLst>
          </p:cNvPr>
          <p:cNvSpPr/>
          <p:nvPr/>
        </p:nvSpPr>
        <p:spPr>
          <a:xfrm>
            <a:off x="6245530" y="2527527"/>
            <a:ext cx="4123896" cy="707886"/>
          </a:xfrm>
          <a:prstGeom prst="rect">
            <a:avLst/>
          </a:prstGeom>
          <a:solidFill>
            <a:schemeClr val="accent3">
              <a:lumMod val="20000"/>
              <a:lumOff val="80000"/>
            </a:schemeClr>
          </a:solidFill>
        </p:spPr>
        <p:txBody>
          <a:bodyPr wrap="square">
            <a:spAutoFit/>
          </a:bodyPr>
          <a:lstStyle/>
          <a:p>
            <a:pPr marL="0" lvl="1"/>
            <a:r>
              <a:rPr lang="es-ES" sz="2000" b="1" kern="0" dirty="0">
                <a:solidFill>
                  <a:srgbClr val="FF0000"/>
                </a:solidFill>
              </a:rPr>
              <a:t>Identificación de la Función Objetivo</a:t>
            </a:r>
          </a:p>
          <a:p>
            <a:pPr marL="0" lvl="1"/>
            <a:r>
              <a:rPr lang="es-ES" sz="2000" b="1" kern="0" dirty="0"/>
              <a:t>Min </a:t>
            </a:r>
            <a:r>
              <a:rPr lang="es-ES" sz="2000" b="1" kern="0" dirty="0" err="1"/>
              <a:t>30X1</a:t>
            </a:r>
            <a:r>
              <a:rPr lang="es-ES" sz="2000" b="1" kern="0" dirty="0"/>
              <a:t> + </a:t>
            </a:r>
            <a:r>
              <a:rPr lang="es-ES" sz="2000" b="1" kern="0" dirty="0" err="1"/>
              <a:t>20X2</a:t>
            </a:r>
            <a:endParaRPr lang="es-ES" sz="2000" b="1" kern="0" dirty="0"/>
          </a:p>
        </p:txBody>
      </p:sp>
      <p:sp>
        <p:nvSpPr>
          <p:cNvPr id="9" name="Rectángulo 8">
            <a:extLst>
              <a:ext uri="{FF2B5EF4-FFF2-40B4-BE49-F238E27FC236}">
                <a16:creationId xmlns:a16="http://schemas.microsoft.com/office/drawing/2014/main" id="{A3432509-DC44-4814-A8A3-99CC8E57F880}"/>
              </a:ext>
            </a:extLst>
          </p:cNvPr>
          <p:cNvSpPr/>
          <p:nvPr/>
        </p:nvSpPr>
        <p:spPr>
          <a:xfrm>
            <a:off x="6248403" y="3156822"/>
            <a:ext cx="4123896" cy="1323439"/>
          </a:xfrm>
          <a:prstGeom prst="rect">
            <a:avLst/>
          </a:prstGeom>
          <a:solidFill>
            <a:schemeClr val="accent3">
              <a:lumMod val="20000"/>
              <a:lumOff val="80000"/>
            </a:schemeClr>
          </a:solidFill>
        </p:spPr>
        <p:txBody>
          <a:bodyPr wrap="square">
            <a:spAutoFit/>
          </a:bodyPr>
          <a:lstStyle/>
          <a:p>
            <a:r>
              <a:rPr lang="es-ES" sz="2000" b="1" kern="0" dirty="0">
                <a:solidFill>
                  <a:srgbClr val="FF0000"/>
                </a:solidFill>
              </a:rPr>
              <a:t>Identificación de las </a:t>
            </a:r>
            <a:r>
              <a:rPr lang="es-ES" sz="2000" b="1" kern="0" dirty="0" err="1">
                <a:solidFill>
                  <a:srgbClr val="FF0000"/>
                </a:solidFill>
              </a:rPr>
              <a:t>restriciones</a:t>
            </a:r>
            <a:endParaRPr lang="es-ES" sz="2000" b="1" kern="0" dirty="0">
              <a:solidFill>
                <a:srgbClr val="FF0000"/>
              </a:solidFill>
            </a:endParaRPr>
          </a:p>
          <a:p>
            <a:pPr lvl="1"/>
            <a:r>
              <a:rPr lang="es-ES" sz="2000" b="1" kern="0" dirty="0"/>
              <a:t>	</a:t>
            </a:r>
            <a:r>
              <a:rPr lang="es-ES" sz="2000" b="1" kern="0" dirty="0" err="1"/>
              <a:t>13X1</a:t>
            </a:r>
            <a:r>
              <a:rPr lang="es-ES" sz="2000" b="1" kern="0" dirty="0"/>
              <a:t> +  </a:t>
            </a:r>
            <a:r>
              <a:rPr lang="es-ES" sz="2000" b="1" kern="0" dirty="0" err="1"/>
              <a:t>18X2</a:t>
            </a:r>
            <a:r>
              <a:rPr lang="es-ES" sz="2000" b="1" kern="0" dirty="0"/>
              <a:t>  </a:t>
            </a:r>
            <a:r>
              <a:rPr lang="es-ES" sz="2000" b="1" kern="0" dirty="0">
                <a:cs typeface="Times New Roman" panose="02020603050405020304" pitchFamily="18" charset="0"/>
              </a:rPr>
              <a:t>≥</a:t>
            </a:r>
            <a:r>
              <a:rPr lang="es-ES" sz="2000" b="1" kern="0" dirty="0"/>
              <a:t> 200	 	</a:t>
            </a:r>
            <a:r>
              <a:rPr lang="es-ES" sz="2000" b="1" kern="0" dirty="0" err="1"/>
              <a:t>28X1</a:t>
            </a:r>
            <a:r>
              <a:rPr lang="es-ES" sz="2000" b="1" kern="0" dirty="0"/>
              <a:t> +  </a:t>
            </a:r>
            <a:r>
              <a:rPr lang="es-ES" sz="2000" b="1" kern="0" dirty="0" err="1"/>
              <a:t>23X2</a:t>
            </a:r>
            <a:r>
              <a:rPr lang="es-ES" sz="2000" b="1" kern="0" dirty="0"/>
              <a:t>  </a:t>
            </a:r>
            <a:r>
              <a:rPr lang="es-ES" sz="2000" b="1" kern="0" dirty="0">
                <a:cs typeface="Times New Roman" panose="02020603050405020304" pitchFamily="18" charset="0"/>
              </a:rPr>
              <a:t>≥</a:t>
            </a:r>
            <a:r>
              <a:rPr lang="es-ES" sz="2000" b="1" kern="0" dirty="0"/>
              <a:t>  500	 </a:t>
            </a:r>
          </a:p>
          <a:p>
            <a:pPr lvl="1"/>
            <a:r>
              <a:rPr lang="es-ES" sz="2000" b="1" kern="0" dirty="0"/>
              <a:t>	  </a:t>
            </a:r>
            <a:r>
              <a:rPr lang="es-ES" sz="2000" b="1" kern="0" dirty="0">
                <a:cs typeface="Times New Roman" panose="02020603050405020304" pitchFamily="18" charset="0"/>
              </a:rPr>
              <a:t>          X1, X2  ≥ 0, ENTERO</a:t>
            </a:r>
            <a:endParaRPr lang="es-PE" b="1" dirty="0"/>
          </a:p>
        </p:txBody>
      </p:sp>
      <p:graphicFrame>
        <p:nvGraphicFramePr>
          <p:cNvPr id="6" name="Tabla 2">
            <a:extLst>
              <a:ext uri="{FF2B5EF4-FFF2-40B4-BE49-F238E27FC236}">
                <a16:creationId xmlns:a16="http://schemas.microsoft.com/office/drawing/2014/main" id="{2309BD17-0301-45B0-A285-58F2F2506CCE}"/>
              </a:ext>
            </a:extLst>
          </p:cNvPr>
          <p:cNvGraphicFramePr>
            <a:graphicFrameLocks noGrp="1"/>
          </p:cNvGraphicFramePr>
          <p:nvPr/>
        </p:nvGraphicFramePr>
        <p:xfrm>
          <a:off x="272006" y="4777573"/>
          <a:ext cx="5678032" cy="1761326"/>
        </p:xfrm>
        <a:graphic>
          <a:graphicData uri="http://schemas.openxmlformats.org/drawingml/2006/table">
            <a:tbl>
              <a:tblPr firstRow="1" bandRow="1">
                <a:tableStyleId>{5C22544A-7EE6-4342-B048-85BDC9FD1C3A}</a:tableStyleId>
              </a:tblPr>
              <a:tblGrid>
                <a:gridCol w="2703890">
                  <a:extLst>
                    <a:ext uri="{9D8B030D-6E8A-4147-A177-3AD203B41FA5}">
                      <a16:colId xmlns:a16="http://schemas.microsoft.com/office/drawing/2014/main" val="1683240228"/>
                    </a:ext>
                  </a:extLst>
                </a:gridCol>
                <a:gridCol w="997482">
                  <a:extLst>
                    <a:ext uri="{9D8B030D-6E8A-4147-A177-3AD203B41FA5}">
                      <a16:colId xmlns:a16="http://schemas.microsoft.com/office/drawing/2014/main" val="415033908"/>
                    </a:ext>
                  </a:extLst>
                </a:gridCol>
                <a:gridCol w="988330">
                  <a:extLst>
                    <a:ext uri="{9D8B030D-6E8A-4147-A177-3AD203B41FA5}">
                      <a16:colId xmlns:a16="http://schemas.microsoft.com/office/drawing/2014/main" val="426800007"/>
                    </a:ext>
                  </a:extLst>
                </a:gridCol>
                <a:gridCol w="988330">
                  <a:extLst>
                    <a:ext uri="{9D8B030D-6E8A-4147-A177-3AD203B41FA5}">
                      <a16:colId xmlns:a16="http://schemas.microsoft.com/office/drawing/2014/main" val="1282548670"/>
                    </a:ext>
                  </a:extLst>
                </a:gridCol>
              </a:tblGrid>
              <a:tr h="572606">
                <a:tc>
                  <a:txBody>
                    <a:bodyPr/>
                    <a:lstStyle/>
                    <a:p>
                      <a:pPr algn="ctr"/>
                      <a:r>
                        <a:rPr lang="es-ES" sz="2000" b="1" dirty="0">
                          <a:latin typeface="Arial Narrow" panose="020B0606020202030204" pitchFamily="34" charset="0"/>
                        </a:rPr>
                        <a:t>Producto</a:t>
                      </a:r>
                      <a:endParaRPr lang="es-PE" sz="2000" b="1" dirty="0">
                        <a:latin typeface="Arial Narrow" panose="020B0606020202030204" pitchFamily="34" charset="0"/>
                      </a:endParaRPr>
                    </a:p>
                  </a:txBody>
                  <a:tcPr/>
                </a:tc>
                <a:tc>
                  <a:txBody>
                    <a:bodyPr/>
                    <a:lstStyle/>
                    <a:p>
                      <a:pPr algn="ctr"/>
                      <a:r>
                        <a:rPr lang="es-ES" sz="2000" b="1" dirty="0" err="1">
                          <a:latin typeface="Arial Narrow" panose="020B0606020202030204" pitchFamily="34" charset="0"/>
                        </a:rPr>
                        <a:t>Maq</a:t>
                      </a:r>
                      <a:r>
                        <a:rPr lang="es-ES" sz="2000" b="1" dirty="0">
                          <a:latin typeface="Arial Narrow" panose="020B0606020202030204" pitchFamily="34" charset="0"/>
                        </a:rPr>
                        <a:t>. A</a:t>
                      </a:r>
                      <a:endParaRPr lang="es-PE" sz="2000" b="1" dirty="0">
                        <a:latin typeface="Arial Narrow" panose="020B0606020202030204" pitchFamily="34" charset="0"/>
                      </a:endParaRPr>
                    </a:p>
                  </a:txBody>
                  <a:tcPr/>
                </a:tc>
                <a:tc>
                  <a:txBody>
                    <a:bodyPr/>
                    <a:lstStyle/>
                    <a:p>
                      <a:pPr algn="ctr"/>
                      <a:r>
                        <a:rPr lang="es-ES" sz="2000" b="1" dirty="0" err="1">
                          <a:latin typeface="Arial Narrow" panose="020B0606020202030204" pitchFamily="34" charset="0"/>
                        </a:rPr>
                        <a:t>Maq</a:t>
                      </a:r>
                      <a:r>
                        <a:rPr lang="es-ES" sz="2000" b="1" dirty="0">
                          <a:latin typeface="Arial Narrow" panose="020B0606020202030204" pitchFamily="34" charset="0"/>
                        </a:rPr>
                        <a:t>. B</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Entrega</a:t>
                      </a:r>
                      <a:endParaRPr lang="es-PE" sz="2000" b="1" dirty="0">
                        <a:latin typeface="Arial Narrow" panose="020B0606020202030204" pitchFamily="34" charset="0"/>
                      </a:endParaRPr>
                    </a:p>
                  </a:txBody>
                  <a:tcPr/>
                </a:tc>
                <a:extLst>
                  <a:ext uri="{0D108BD9-81ED-4DB2-BD59-A6C34878D82A}">
                    <a16:rowId xmlns:a16="http://schemas.microsoft.com/office/drawing/2014/main" val="974460463"/>
                  </a:ext>
                </a:extLst>
              </a:tr>
              <a:tr h="327203">
                <a:tc>
                  <a:txBody>
                    <a:bodyPr/>
                    <a:lstStyle/>
                    <a:p>
                      <a:pPr algn="ctr"/>
                      <a:r>
                        <a:rPr lang="es-ES" sz="2000" b="1" dirty="0">
                          <a:latin typeface="Arial Narrow" panose="020B0606020202030204" pitchFamily="34" charset="0"/>
                        </a:rPr>
                        <a:t>Yogur enriquecido </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13</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18</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200</a:t>
                      </a:r>
                      <a:endParaRPr lang="es-PE" sz="2000" b="1" dirty="0">
                        <a:latin typeface="Arial Narrow" panose="020B0606020202030204" pitchFamily="34" charset="0"/>
                      </a:endParaRPr>
                    </a:p>
                  </a:txBody>
                  <a:tcPr/>
                </a:tc>
                <a:extLst>
                  <a:ext uri="{0D108BD9-81ED-4DB2-BD59-A6C34878D82A}">
                    <a16:rowId xmlns:a16="http://schemas.microsoft.com/office/drawing/2014/main" val="1179727459"/>
                  </a:ext>
                </a:extLst>
              </a:tr>
              <a:tr h="327203">
                <a:tc>
                  <a:txBody>
                    <a:bodyPr/>
                    <a:lstStyle/>
                    <a:p>
                      <a:pPr algn="ctr"/>
                      <a:r>
                        <a:rPr lang="es-ES" sz="2000" b="1" dirty="0">
                          <a:latin typeface="Arial Narrow" panose="020B0606020202030204" pitchFamily="34" charset="0"/>
                        </a:rPr>
                        <a:t>Yogur especial</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28</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23</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500</a:t>
                      </a:r>
                      <a:endParaRPr lang="es-PE" sz="2000" b="1" dirty="0">
                        <a:latin typeface="Arial Narrow" panose="020B0606020202030204" pitchFamily="34" charset="0"/>
                      </a:endParaRPr>
                    </a:p>
                  </a:txBody>
                  <a:tcPr/>
                </a:tc>
                <a:extLst>
                  <a:ext uri="{0D108BD9-81ED-4DB2-BD59-A6C34878D82A}">
                    <a16:rowId xmlns:a16="http://schemas.microsoft.com/office/drawing/2014/main" val="3387933875"/>
                  </a:ext>
                </a:extLst>
              </a:tr>
              <a:tr h="327203">
                <a:tc>
                  <a:txBody>
                    <a:bodyPr/>
                    <a:lstStyle/>
                    <a:p>
                      <a:pPr algn="ctr"/>
                      <a:r>
                        <a:rPr lang="es-ES" sz="2000" b="1" dirty="0">
                          <a:latin typeface="Arial Narrow" panose="020B0606020202030204" pitchFamily="34" charset="0"/>
                        </a:rPr>
                        <a:t>Costo</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30</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20</a:t>
                      </a:r>
                      <a:endParaRPr lang="es-PE" sz="2000" b="1" dirty="0">
                        <a:latin typeface="Arial Narrow" panose="020B0606020202030204" pitchFamily="34" charset="0"/>
                      </a:endParaRPr>
                    </a:p>
                  </a:txBody>
                  <a:tcPr/>
                </a:tc>
                <a:tc>
                  <a:txBody>
                    <a:bodyPr/>
                    <a:lstStyle/>
                    <a:p>
                      <a:pPr algn="ctr"/>
                      <a:endParaRPr lang="es-PE" sz="2000" b="1" dirty="0">
                        <a:latin typeface="Arial Narrow" panose="020B0606020202030204" pitchFamily="34" charset="0"/>
                      </a:endParaRPr>
                    </a:p>
                  </a:txBody>
                  <a:tcPr/>
                </a:tc>
                <a:extLst>
                  <a:ext uri="{0D108BD9-81ED-4DB2-BD59-A6C34878D82A}">
                    <a16:rowId xmlns:a16="http://schemas.microsoft.com/office/drawing/2014/main" val="85614718"/>
                  </a:ext>
                </a:extLst>
              </a:tr>
            </a:tbl>
          </a:graphicData>
        </a:graphic>
      </p:graphicFrame>
      <p:sp>
        <p:nvSpPr>
          <p:cNvPr id="2" name="Rectángulo 1">
            <a:extLst>
              <a:ext uri="{FF2B5EF4-FFF2-40B4-BE49-F238E27FC236}">
                <a16:creationId xmlns:a16="http://schemas.microsoft.com/office/drawing/2014/main" id="{D472C953-EF3B-45B0-828B-F36E456B6DF4}"/>
              </a:ext>
            </a:extLst>
          </p:cNvPr>
          <p:cNvSpPr/>
          <p:nvPr/>
        </p:nvSpPr>
        <p:spPr>
          <a:xfrm>
            <a:off x="120772" y="4315908"/>
            <a:ext cx="1250663" cy="461665"/>
          </a:xfrm>
          <a:prstGeom prst="rect">
            <a:avLst/>
          </a:prstGeom>
        </p:spPr>
        <p:txBody>
          <a:bodyPr wrap="none">
            <a:spAutoFit/>
          </a:bodyPr>
          <a:lstStyle/>
          <a:p>
            <a:r>
              <a:rPr lang="es-ES" sz="2400" b="1" kern="0" dirty="0">
                <a:solidFill>
                  <a:srgbClr val="FF0000"/>
                </a:solidFill>
                <a:latin typeface="Arial Narrow" panose="020B0606020202030204" pitchFamily="34" charset="0"/>
              </a:rPr>
              <a:t>Solución</a:t>
            </a:r>
            <a:endParaRPr lang="es-PE" sz="2400" dirty="0"/>
          </a:p>
        </p:txBody>
      </p:sp>
      <p:sp>
        <p:nvSpPr>
          <p:cNvPr id="12" name="Rectangle 2">
            <a:extLst>
              <a:ext uri="{FF2B5EF4-FFF2-40B4-BE49-F238E27FC236}">
                <a16:creationId xmlns:a16="http://schemas.microsoft.com/office/drawing/2014/main" id="{40DE58A6-44B8-407E-BDE9-3A342D82B534}"/>
              </a:ext>
            </a:extLst>
          </p:cNvPr>
          <p:cNvSpPr>
            <a:spLocks noGrp="1" noChangeArrowheads="1"/>
          </p:cNvSpPr>
          <p:nvPr>
            <p:ph type="title"/>
          </p:nvPr>
        </p:nvSpPr>
        <p:spPr>
          <a:xfrm>
            <a:off x="6096000" y="250166"/>
            <a:ext cx="6096000" cy="552091"/>
          </a:xfrm>
        </p:spPr>
        <p:txBody>
          <a:bodyPr>
            <a:noAutofit/>
          </a:bodyPr>
          <a:lstStyle/>
          <a:p>
            <a:pPr algn="ctr" eaLnBrk="1" hangingPunct="1"/>
            <a:r>
              <a:rPr lang="es-PE" sz="2800" b="1" dirty="0">
                <a:solidFill>
                  <a:schemeClr val="bg1"/>
                </a:solidFill>
              </a:rPr>
              <a:t>Problema 19</a:t>
            </a:r>
            <a:endParaRPr lang="es-ES" sz="2800" b="1" dirty="0">
              <a:solidFill>
                <a:schemeClr val="bg1"/>
              </a:solidFill>
            </a:endParaRPr>
          </a:p>
        </p:txBody>
      </p:sp>
      <p:sp>
        <p:nvSpPr>
          <p:cNvPr id="3" name="Rectángulo 2">
            <a:extLst>
              <a:ext uri="{FF2B5EF4-FFF2-40B4-BE49-F238E27FC236}">
                <a16:creationId xmlns:a16="http://schemas.microsoft.com/office/drawing/2014/main" id="{6502E091-A43A-16DD-B8A0-0329630237A5}"/>
              </a:ext>
            </a:extLst>
          </p:cNvPr>
          <p:cNvSpPr/>
          <p:nvPr/>
        </p:nvSpPr>
        <p:spPr>
          <a:xfrm>
            <a:off x="8387754" y="5657671"/>
            <a:ext cx="3804246" cy="1200329"/>
          </a:xfrm>
          <a:prstGeom prst="rect">
            <a:avLst/>
          </a:prstGeom>
          <a:solidFill>
            <a:schemeClr val="accent5">
              <a:lumMod val="20000"/>
              <a:lumOff val="80000"/>
            </a:schemeClr>
          </a:solidFill>
        </p:spPr>
        <p:txBody>
          <a:bodyPr wrap="square">
            <a:spAutoFit/>
          </a:bodyPr>
          <a:lstStyle/>
          <a:p>
            <a:r>
              <a:rPr lang="en-US" b="1" dirty="0">
                <a:latin typeface="Arial Narrow" panose="020B0606020202030204" pitchFamily="34" charset="0"/>
              </a:rPr>
              <a:t> 1)      440</a:t>
            </a:r>
          </a:p>
          <a:p>
            <a:r>
              <a:rPr lang="en-US" b="1" dirty="0">
                <a:latin typeface="Arial Narrow" panose="020B0606020202030204" pitchFamily="34" charset="0"/>
              </a:rPr>
              <a:t>VARIABLE  VALUE        REDUCED COST</a:t>
            </a:r>
          </a:p>
          <a:p>
            <a:r>
              <a:rPr lang="en-US" b="1" dirty="0">
                <a:latin typeface="Arial Narrow" panose="020B0606020202030204" pitchFamily="34" charset="0"/>
              </a:rPr>
              <a:t>        </a:t>
            </a:r>
            <a:r>
              <a:rPr lang="en-US" b="1" dirty="0" err="1">
                <a:latin typeface="Arial Narrow" panose="020B0606020202030204" pitchFamily="34" charset="0"/>
              </a:rPr>
              <a:t>X1</a:t>
            </a:r>
            <a:r>
              <a:rPr lang="en-US" b="1" dirty="0">
                <a:latin typeface="Arial Narrow" panose="020B0606020202030204" pitchFamily="34" charset="0"/>
              </a:rPr>
              <a:t>         0.000000          5.652174</a:t>
            </a:r>
          </a:p>
          <a:p>
            <a:r>
              <a:rPr lang="en-US" b="1" dirty="0">
                <a:latin typeface="Arial Narrow" panose="020B0606020202030204" pitchFamily="34" charset="0"/>
              </a:rPr>
              <a:t>        X2        22                      0.000000</a:t>
            </a:r>
            <a:endParaRPr lang="es-PE" b="1" dirty="0">
              <a:latin typeface="Arial Narrow" panose="020B0606020202030204" pitchFamily="34" charset="0"/>
            </a:endParaRPr>
          </a:p>
        </p:txBody>
      </p:sp>
      <p:sp>
        <p:nvSpPr>
          <p:cNvPr id="13" name="Rectángulo 12">
            <a:extLst>
              <a:ext uri="{FF2B5EF4-FFF2-40B4-BE49-F238E27FC236}">
                <a16:creationId xmlns:a16="http://schemas.microsoft.com/office/drawing/2014/main" id="{7904C80E-5D89-6933-D4DB-D21DA4EFDE37}"/>
              </a:ext>
            </a:extLst>
          </p:cNvPr>
          <p:cNvSpPr/>
          <p:nvPr/>
        </p:nvSpPr>
        <p:spPr>
          <a:xfrm>
            <a:off x="10289877" y="3634030"/>
            <a:ext cx="1949565" cy="2031325"/>
          </a:xfrm>
          <a:prstGeom prst="rect">
            <a:avLst/>
          </a:prstGeom>
          <a:solidFill>
            <a:srgbClr val="FFFF00"/>
          </a:solidFill>
        </p:spPr>
        <p:txBody>
          <a:bodyPr wrap="square">
            <a:spAutoFit/>
          </a:bodyPr>
          <a:lstStyle/>
          <a:p>
            <a:pPr marL="0" lvl="1"/>
            <a:r>
              <a:rPr lang="es-ES" b="1" kern="0" dirty="0">
                <a:latin typeface="Arial Narrow" panose="020B0606020202030204" pitchFamily="34" charset="0"/>
              </a:rPr>
              <a:t>Min </a:t>
            </a:r>
            <a:r>
              <a:rPr lang="es-ES" b="1" kern="0" dirty="0" err="1">
                <a:latin typeface="Arial Narrow" panose="020B0606020202030204" pitchFamily="34" charset="0"/>
              </a:rPr>
              <a:t>30X1</a:t>
            </a:r>
            <a:r>
              <a:rPr lang="es-ES" b="1" kern="0" dirty="0">
                <a:latin typeface="Arial Narrow" panose="020B0606020202030204" pitchFamily="34" charset="0"/>
              </a:rPr>
              <a:t> + </a:t>
            </a:r>
            <a:r>
              <a:rPr lang="es-ES" b="1" kern="0" dirty="0" err="1">
                <a:latin typeface="Arial Narrow" panose="020B0606020202030204" pitchFamily="34" charset="0"/>
              </a:rPr>
              <a:t>20X2</a:t>
            </a:r>
            <a:endParaRPr lang="es-ES" b="1" kern="0" dirty="0">
              <a:latin typeface="Arial Narrow" panose="020B0606020202030204" pitchFamily="34" charset="0"/>
            </a:endParaRPr>
          </a:p>
          <a:p>
            <a:pPr marL="0" lvl="1"/>
            <a:r>
              <a:rPr lang="es-ES" b="1" kern="0" dirty="0" err="1">
                <a:latin typeface="Arial Narrow" panose="020B0606020202030204" pitchFamily="34" charset="0"/>
              </a:rPr>
              <a:t>ST</a:t>
            </a:r>
            <a:endParaRPr lang="es-ES" b="1" kern="0" dirty="0">
              <a:latin typeface="Arial Narrow" panose="020B0606020202030204" pitchFamily="34" charset="0"/>
            </a:endParaRPr>
          </a:p>
          <a:p>
            <a:pPr marL="0" lvl="1"/>
            <a:r>
              <a:rPr lang="es-ES" b="1" kern="0" dirty="0" err="1">
                <a:latin typeface="Arial Narrow" panose="020B0606020202030204" pitchFamily="34" charset="0"/>
              </a:rPr>
              <a:t>13X1</a:t>
            </a:r>
            <a:r>
              <a:rPr lang="es-ES" b="1" kern="0" dirty="0">
                <a:latin typeface="Arial Narrow" panose="020B0606020202030204" pitchFamily="34" charset="0"/>
              </a:rPr>
              <a:t> +  </a:t>
            </a:r>
            <a:r>
              <a:rPr lang="es-ES" b="1" kern="0" dirty="0" err="1">
                <a:latin typeface="Arial Narrow" panose="020B0606020202030204" pitchFamily="34" charset="0"/>
              </a:rPr>
              <a:t>18X2</a:t>
            </a:r>
            <a:r>
              <a:rPr lang="es-ES" b="1" kern="0" dirty="0">
                <a:latin typeface="Arial Narrow" panose="020B0606020202030204" pitchFamily="34" charset="0"/>
              </a:rPr>
              <a:t> &gt;=200</a:t>
            </a:r>
          </a:p>
          <a:p>
            <a:pPr marL="0" lvl="1"/>
            <a:r>
              <a:rPr lang="es-ES" b="1" kern="0" dirty="0">
                <a:latin typeface="Arial Narrow" panose="020B0606020202030204" pitchFamily="34" charset="0"/>
              </a:rPr>
              <a:t>28X1 +  23X2 &gt;=500</a:t>
            </a:r>
          </a:p>
          <a:p>
            <a:pPr marL="0" lvl="1"/>
            <a:r>
              <a:rPr lang="es-ES" b="1" kern="0" dirty="0">
                <a:latin typeface="Arial Narrow" panose="020B0606020202030204" pitchFamily="34" charset="0"/>
              </a:rPr>
              <a:t>END</a:t>
            </a:r>
          </a:p>
          <a:p>
            <a:pPr marL="0" lvl="1"/>
            <a:r>
              <a:rPr lang="es-ES" b="1" kern="0" dirty="0">
                <a:latin typeface="Arial Narrow" panose="020B0606020202030204" pitchFamily="34" charset="0"/>
              </a:rPr>
              <a:t>GIN X1</a:t>
            </a:r>
          </a:p>
          <a:p>
            <a:pPr marL="0" lvl="1"/>
            <a:r>
              <a:rPr lang="es-ES" b="1" kern="0" dirty="0">
                <a:latin typeface="Arial Narrow" panose="020B0606020202030204" pitchFamily="34" charset="0"/>
              </a:rPr>
              <a:t>GIN X2</a:t>
            </a:r>
          </a:p>
        </p:txBody>
      </p:sp>
    </p:spTree>
    <p:extLst>
      <p:ext uri="{BB962C8B-B14F-4D97-AF65-F5344CB8AC3E}">
        <p14:creationId xmlns:p14="http://schemas.microsoft.com/office/powerpoint/2010/main" val="724086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3"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A923612-08EB-B39E-338D-1D8903AE1B26}"/>
              </a:ext>
            </a:extLst>
          </p:cNvPr>
          <p:cNvSpPr/>
          <p:nvPr/>
        </p:nvSpPr>
        <p:spPr>
          <a:xfrm>
            <a:off x="6096000" y="1397675"/>
            <a:ext cx="1949565" cy="2031325"/>
          </a:xfrm>
          <a:prstGeom prst="rect">
            <a:avLst/>
          </a:prstGeom>
          <a:solidFill>
            <a:srgbClr val="FFFF00"/>
          </a:solidFill>
        </p:spPr>
        <p:txBody>
          <a:bodyPr wrap="square">
            <a:spAutoFit/>
          </a:bodyPr>
          <a:lstStyle/>
          <a:p>
            <a:pPr marL="0" lvl="1"/>
            <a:r>
              <a:rPr lang="es-ES" b="1" kern="0" dirty="0">
                <a:latin typeface="Arial Narrow" panose="020B0606020202030204" pitchFamily="34" charset="0"/>
              </a:rPr>
              <a:t>Min </a:t>
            </a:r>
            <a:r>
              <a:rPr lang="es-ES" b="1" kern="0" dirty="0" err="1">
                <a:latin typeface="Arial Narrow" panose="020B0606020202030204" pitchFamily="34" charset="0"/>
              </a:rPr>
              <a:t>30X1</a:t>
            </a:r>
            <a:r>
              <a:rPr lang="es-ES" b="1" kern="0" dirty="0">
                <a:latin typeface="Arial Narrow" panose="020B0606020202030204" pitchFamily="34" charset="0"/>
              </a:rPr>
              <a:t> + </a:t>
            </a:r>
            <a:r>
              <a:rPr lang="es-ES" b="1" kern="0" dirty="0" err="1">
                <a:latin typeface="Arial Narrow" panose="020B0606020202030204" pitchFamily="34" charset="0"/>
              </a:rPr>
              <a:t>20X2</a:t>
            </a:r>
            <a:endParaRPr lang="es-ES" b="1" kern="0" dirty="0">
              <a:latin typeface="Arial Narrow" panose="020B0606020202030204" pitchFamily="34" charset="0"/>
            </a:endParaRPr>
          </a:p>
          <a:p>
            <a:pPr marL="0" lvl="1"/>
            <a:r>
              <a:rPr lang="es-ES" b="1" kern="0" dirty="0" err="1">
                <a:latin typeface="Arial Narrow" panose="020B0606020202030204" pitchFamily="34" charset="0"/>
              </a:rPr>
              <a:t>ST</a:t>
            </a:r>
            <a:endParaRPr lang="es-ES" b="1" kern="0" dirty="0">
              <a:latin typeface="Arial Narrow" panose="020B0606020202030204" pitchFamily="34" charset="0"/>
            </a:endParaRPr>
          </a:p>
          <a:p>
            <a:pPr marL="0" lvl="1"/>
            <a:r>
              <a:rPr lang="es-ES" b="1" kern="0" dirty="0" err="1">
                <a:latin typeface="Arial Narrow" panose="020B0606020202030204" pitchFamily="34" charset="0"/>
              </a:rPr>
              <a:t>13X1</a:t>
            </a:r>
            <a:r>
              <a:rPr lang="es-ES" b="1" kern="0" dirty="0">
                <a:latin typeface="Arial Narrow" panose="020B0606020202030204" pitchFamily="34" charset="0"/>
              </a:rPr>
              <a:t> +  </a:t>
            </a:r>
            <a:r>
              <a:rPr lang="es-ES" b="1" kern="0" dirty="0" err="1">
                <a:latin typeface="Arial Narrow" panose="020B0606020202030204" pitchFamily="34" charset="0"/>
              </a:rPr>
              <a:t>18X2</a:t>
            </a:r>
            <a:r>
              <a:rPr lang="es-ES" b="1" kern="0" dirty="0">
                <a:latin typeface="Arial Narrow" panose="020B0606020202030204" pitchFamily="34" charset="0"/>
              </a:rPr>
              <a:t> &gt;=200</a:t>
            </a:r>
          </a:p>
          <a:p>
            <a:pPr marL="0" lvl="1"/>
            <a:r>
              <a:rPr lang="es-ES" b="1" kern="0" dirty="0">
                <a:latin typeface="Arial Narrow" panose="020B0606020202030204" pitchFamily="34" charset="0"/>
              </a:rPr>
              <a:t>28X1 +  23X2 &gt;=500</a:t>
            </a:r>
          </a:p>
          <a:p>
            <a:pPr marL="0" lvl="1"/>
            <a:r>
              <a:rPr lang="es-ES" b="1" kern="0" dirty="0">
                <a:latin typeface="Arial Narrow" panose="020B0606020202030204" pitchFamily="34" charset="0"/>
              </a:rPr>
              <a:t>END</a:t>
            </a:r>
          </a:p>
          <a:p>
            <a:pPr marL="0" lvl="1"/>
            <a:r>
              <a:rPr lang="es-ES" b="1" kern="0" dirty="0">
                <a:latin typeface="Arial Narrow" panose="020B0606020202030204" pitchFamily="34" charset="0"/>
              </a:rPr>
              <a:t>GIN X1</a:t>
            </a:r>
          </a:p>
          <a:p>
            <a:pPr marL="0" lvl="1"/>
            <a:r>
              <a:rPr lang="es-ES" b="1" kern="0" dirty="0">
                <a:latin typeface="Arial Narrow" panose="020B0606020202030204" pitchFamily="34" charset="0"/>
              </a:rPr>
              <a:t>GIN X2</a:t>
            </a:r>
          </a:p>
        </p:txBody>
      </p:sp>
      <p:cxnSp>
        <p:nvCxnSpPr>
          <p:cNvPr id="7" name="Conector recto de flecha 6">
            <a:extLst>
              <a:ext uri="{FF2B5EF4-FFF2-40B4-BE49-F238E27FC236}">
                <a16:creationId xmlns:a16="http://schemas.microsoft.com/office/drawing/2014/main" id="{98674331-AB2E-B28C-97F6-13FA9FADE030}"/>
              </a:ext>
            </a:extLst>
          </p:cNvPr>
          <p:cNvCxnSpPr/>
          <p:nvPr/>
        </p:nvCxnSpPr>
        <p:spPr>
          <a:xfrm>
            <a:off x="1091821" y="5595582"/>
            <a:ext cx="5004179"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9FEA807D-E356-FAC5-2E68-F973F6D34B58}"/>
              </a:ext>
            </a:extLst>
          </p:cNvPr>
          <p:cNvSpPr txBox="1"/>
          <p:nvPr/>
        </p:nvSpPr>
        <p:spPr>
          <a:xfrm>
            <a:off x="8243248" y="1501254"/>
            <a:ext cx="3794077" cy="5940088"/>
          </a:xfrm>
          <a:prstGeom prst="rect">
            <a:avLst/>
          </a:prstGeom>
          <a:noFill/>
        </p:spPr>
        <p:txBody>
          <a:bodyPr wrap="square" rtlCol="0">
            <a:spAutoFit/>
          </a:bodyPr>
          <a:lstStyle/>
          <a:p>
            <a:r>
              <a:rPr lang="es-ES" sz="2000" b="1" dirty="0"/>
              <a:t>i.     Graficando las restricciones</a:t>
            </a:r>
          </a:p>
          <a:p>
            <a:r>
              <a:rPr lang="es-ES" sz="2000" b="1" kern="0" dirty="0">
                <a:latin typeface="Arial Narrow" panose="020B0606020202030204" pitchFamily="34" charset="0"/>
              </a:rPr>
              <a:t>       	13X1 +  18X2 =200</a:t>
            </a:r>
          </a:p>
          <a:p>
            <a:r>
              <a:rPr lang="es-PE" sz="2000" b="1" dirty="0"/>
              <a:t>	Si X1=0</a:t>
            </a:r>
            <a:r>
              <a:rPr lang="es-PE" sz="2000" b="1" dirty="0">
                <a:sym typeface="Wingdings" panose="05000000000000000000" pitchFamily="2" charset="2"/>
              </a:rPr>
              <a:t>X2=11,11</a:t>
            </a:r>
          </a:p>
          <a:p>
            <a:r>
              <a:rPr lang="es-PE" sz="2000" b="1" dirty="0">
                <a:sym typeface="Wingdings" panose="05000000000000000000" pitchFamily="2" charset="2"/>
              </a:rPr>
              <a:t>	Si X2=0X1=15,38</a:t>
            </a:r>
          </a:p>
          <a:p>
            <a:r>
              <a:rPr lang="es-ES" sz="2000" b="1" kern="0" dirty="0">
                <a:latin typeface="Arial Narrow" panose="020B0606020202030204" pitchFamily="34" charset="0"/>
              </a:rPr>
              <a:t>	28X1 +  23X2 &gt;=500</a:t>
            </a:r>
          </a:p>
          <a:p>
            <a:r>
              <a:rPr lang="es-PE" sz="2000" b="1" dirty="0"/>
              <a:t>	Si X1=0</a:t>
            </a:r>
            <a:r>
              <a:rPr lang="es-PE" sz="2000" b="1" dirty="0">
                <a:sym typeface="Wingdings" panose="05000000000000000000" pitchFamily="2" charset="2"/>
              </a:rPr>
              <a:t>X2=21,74</a:t>
            </a:r>
          </a:p>
          <a:p>
            <a:r>
              <a:rPr lang="es-PE" sz="2000" b="1" dirty="0">
                <a:sym typeface="Wingdings" panose="05000000000000000000" pitchFamily="2" charset="2"/>
              </a:rPr>
              <a:t>	Si X2=0X1=17,86</a:t>
            </a:r>
          </a:p>
          <a:p>
            <a:pPr marL="400050" indent="-400050">
              <a:buAutoNum type="romanLcPeriod" startAt="3"/>
            </a:pPr>
            <a:r>
              <a:rPr lang="es-PE" sz="2000" b="1" dirty="0">
                <a:sym typeface="Wingdings" panose="05000000000000000000" pitchFamily="2" charset="2"/>
              </a:rPr>
              <a:t>Graficando la F.O.</a:t>
            </a:r>
          </a:p>
          <a:p>
            <a:r>
              <a:rPr lang="es-PE" sz="2000" b="1" dirty="0">
                <a:sym typeface="Wingdings" panose="05000000000000000000" pitchFamily="2" charset="2"/>
              </a:rPr>
              <a:t>	</a:t>
            </a:r>
            <a:r>
              <a:rPr lang="es-ES" sz="2000" b="1" kern="0" dirty="0">
                <a:latin typeface="Arial Narrow" panose="020B0606020202030204" pitchFamily="34" charset="0"/>
              </a:rPr>
              <a:t> 30X1 + 20X2 =600</a:t>
            </a:r>
          </a:p>
          <a:p>
            <a:r>
              <a:rPr lang="es-PE" sz="2000" b="1" dirty="0"/>
              <a:t>	Si X1=0</a:t>
            </a:r>
            <a:r>
              <a:rPr lang="es-PE" sz="2000" b="1" dirty="0">
                <a:sym typeface="Wingdings" panose="05000000000000000000" pitchFamily="2" charset="2"/>
              </a:rPr>
              <a:t>X2=30</a:t>
            </a:r>
          </a:p>
          <a:p>
            <a:r>
              <a:rPr lang="es-PE" sz="2000" b="1" dirty="0">
                <a:sym typeface="Wingdings" panose="05000000000000000000" pitchFamily="2" charset="2"/>
              </a:rPr>
              <a:t>	Si X2=0X1=20</a:t>
            </a:r>
          </a:p>
          <a:p>
            <a:pPr marL="400050" indent="-400050">
              <a:buAutoNum type="romanLcPeriod" startAt="4"/>
            </a:pPr>
            <a:r>
              <a:rPr lang="es-PE" sz="2000" b="1" dirty="0">
                <a:sym typeface="Wingdings" panose="05000000000000000000" pitchFamily="2" charset="2"/>
              </a:rPr>
              <a:t>Hallando la solución óptima</a:t>
            </a:r>
          </a:p>
          <a:p>
            <a:r>
              <a:rPr lang="es-PE" sz="2000" b="1" dirty="0">
                <a:sym typeface="Wingdings" panose="05000000000000000000" pitchFamily="2" charset="2"/>
              </a:rPr>
              <a:t>     La solución optima del gráfico es X1=0    y   X2≡22    (Aproximado)</a:t>
            </a:r>
          </a:p>
          <a:p>
            <a:r>
              <a:rPr lang="es-PE" sz="2000" b="1" dirty="0">
                <a:sym typeface="Wingdings" panose="05000000000000000000" pitchFamily="2" charset="2"/>
              </a:rPr>
              <a:t>El valor que toma la Función objetivo es  Z=30(0)+20(22)  = 440 </a:t>
            </a:r>
          </a:p>
          <a:p>
            <a:pPr marL="400050" indent="-400050">
              <a:buAutoNum type="romanUcPeriod"/>
            </a:pPr>
            <a:endParaRPr lang="es-PE" sz="2000" b="1" dirty="0">
              <a:sym typeface="Wingdings" panose="05000000000000000000" pitchFamily="2" charset="2"/>
            </a:endParaRPr>
          </a:p>
          <a:p>
            <a:pPr marL="400050" indent="-400050">
              <a:buAutoNum type="romanUcPeriod"/>
            </a:pPr>
            <a:endParaRPr lang="es-PE" sz="2000" b="1" dirty="0"/>
          </a:p>
        </p:txBody>
      </p:sp>
      <p:cxnSp>
        <p:nvCxnSpPr>
          <p:cNvPr id="10" name="Conector recto 9">
            <a:extLst>
              <a:ext uri="{FF2B5EF4-FFF2-40B4-BE49-F238E27FC236}">
                <a16:creationId xmlns:a16="http://schemas.microsoft.com/office/drawing/2014/main" id="{53105334-C447-06F3-2C16-35AC3CB88814}"/>
              </a:ext>
            </a:extLst>
          </p:cNvPr>
          <p:cNvCxnSpPr>
            <a:cxnSpLocks/>
          </p:cNvCxnSpPr>
          <p:nvPr/>
        </p:nvCxnSpPr>
        <p:spPr>
          <a:xfrm>
            <a:off x="742950" y="3883929"/>
            <a:ext cx="2717754" cy="1850121"/>
          </a:xfrm>
          <a:prstGeom prst="line">
            <a:avLst/>
          </a:prstGeom>
        </p:spPr>
        <p:style>
          <a:lnRef idx="1">
            <a:schemeClr val="dk1"/>
          </a:lnRef>
          <a:fillRef idx="0">
            <a:schemeClr val="dk1"/>
          </a:fillRef>
          <a:effectRef idx="0">
            <a:schemeClr val="dk1"/>
          </a:effectRef>
          <a:fontRef idx="minor">
            <a:schemeClr val="tx1"/>
          </a:fontRef>
        </p:style>
      </p:cxnSp>
      <p:cxnSp>
        <p:nvCxnSpPr>
          <p:cNvPr id="16" name="Conector recto 15">
            <a:extLst>
              <a:ext uri="{FF2B5EF4-FFF2-40B4-BE49-F238E27FC236}">
                <a16:creationId xmlns:a16="http://schemas.microsoft.com/office/drawing/2014/main" id="{2030D290-82B7-21D6-EE36-D6698C470E16}"/>
              </a:ext>
            </a:extLst>
          </p:cNvPr>
          <p:cNvCxnSpPr/>
          <p:nvPr/>
        </p:nvCxnSpPr>
        <p:spPr>
          <a:xfrm flipV="1">
            <a:off x="886007" y="3794199"/>
            <a:ext cx="107396" cy="179461"/>
          </a:xfrm>
          <a:prstGeom prst="line">
            <a:avLst/>
          </a:prstGeom>
        </p:spPr>
        <p:style>
          <a:lnRef idx="1">
            <a:schemeClr val="dk1"/>
          </a:lnRef>
          <a:fillRef idx="0">
            <a:schemeClr val="dk1"/>
          </a:fillRef>
          <a:effectRef idx="0">
            <a:schemeClr val="dk1"/>
          </a:effectRef>
          <a:fontRef idx="minor">
            <a:schemeClr val="tx1"/>
          </a:fontRef>
        </p:style>
      </p:cxnSp>
      <p:cxnSp>
        <p:nvCxnSpPr>
          <p:cNvPr id="20" name="Conector recto 19">
            <a:extLst>
              <a:ext uri="{FF2B5EF4-FFF2-40B4-BE49-F238E27FC236}">
                <a16:creationId xmlns:a16="http://schemas.microsoft.com/office/drawing/2014/main" id="{8308B722-28F4-6754-9B5F-DA91588B80F3}"/>
              </a:ext>
            </a:extLst>
          </p:cNvPr>
          <p:cNvCxnSpPr/>
          <p:nvPr/>
        </p:nvCxnSpPr>
        <p:spPr>
          <a:xfrm>
            <a:off x="886007" y="2295525"/>
            <a:ext cx="2904943" cy="3543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8589907F-FFE4-A6A8-8C45-1D8E7FC943C6}"/>
              </a:ext>
            </a:extLst>
          </p:cNvPr>
          <p:cNvCxnSpPr/>
          <p:nvPr/>
        </p:nvCxnSpPr>
        <p:spPr>
          <a:xfrm flipV="1">
            <a:off x="886007" y="2119802"/>
            <a:ext cx="178518" cy="175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E60A8E1E-0745-23F5-B22B-58DEF812F555}"/>
              </a:ext>
            </a:extLst>
          </p:cNvPr>
          <p:cNvCxnSpPr/>
          <p:nvPr/>
        </p:nvCxnSpPr>
        <p:spPr>
          <a:xfrm>
            <a:off x="1062251" y="1265274"/>
            <a:ext cx="3180140" cy="4774019"/>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0E2FA4D3-AB07-C593-7E83-95907221841F}"/>
              </a:ext>
            </a:extLst>
          </p:cNvPr>
          <p:cNvCxnSpPr/>
          <p:nvPr/>
        </p:nvCxnSpPr>
        <p:spPr>
          <a:xfrm>
            <a:off x="442007" y="1570074"/>
            <a:ext cx="3180140" cy="4774019"/>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24" name="Forma libre: forma 23">
            <a:extLst>
              <a:ext uri="{FF2B5EF4-FFF2-40B4-BE49-F238E27FC236}">
                <a16:creationId xmlns:a16="http://schemas.microsoft.com/office/drawing/2014/main" id="{ECF17F61-8E71-5994-2020-D946A2FB90B7}"/>
              </a:ext>
            </a:extLst>
          </p:cNvPr>
          <p:cNvSpPr/>
          <p:nvPr/>
        </p:nvSpPr>
        <p:spPr>
          <a:xfrm>
            <a:off x="1056167" y="1958826"/>
            <a:ext cx="3619500" cy="3609975"/>
          </a:xfrm>
          <a:custGeom>
            <a:avLst/>
            <a:gdLst>
              <a:gd name="connsiteX0" fmla="*/ 0 w 3619500"/>
              <a:gd name="connsiteY0" fmla="*/ 0 h 3609975"/>
              <a:gd name="connsiteX1" fmla="*/ 0 w 3619500"/>
              <a:gd name="connsiteY1" fmla="*/ 504825 h 3609975"/>
              <a:gd name="connsiteX2" fmla="*/ 2533650 w 3619500"/>
              <a:gd name="connsiteY2" fmla="*/ 3609975 h 3609975"/>
              <a:gd name="connsiteX3" fmla="*/ 3600450 w 3619500"/>
              <a:gd name="connsiteY3" fmla="*/ 3600450 h 3609975"/>
              <a:gd name="connsiteX4" fmla="*/ 3619500 w 3619500"/>
              <a:gd name="connsiteY4" fmla="*/ 9525 h 3609975"/>
              <a:gd name="connsiteX5" fmla="*/ 0 w 3619500"/>
              <a:gd name="connsiteY5" fmla="*/ 0 h 3609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00" h="3609975">
                <a:moveTo>
                  <a:pt x="0" y="0"/>
                </a:moveTo>
                <a:lnTo>
                  <a:pt x="0" y="504825"/>
                </a:lnTo>
                <a:lnTo>
                  <a:pt x="2533650" y="3609975"/>
                </a:lnTo>
                <a:lnTo>
                  <a:pt x="3600450" y="3600450"/>
                </a:lnTo>
                <a:lnTo>
                  <a:pt x="3619500" y="9525"/>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5" name="Conector recto de flecha 4">
            <a:extLst>
              <a:ext uri="{FF2B5EF4-FFF2-40B4-BE49-F238E27FC236}">
                <a16:creationId xmlns:a16="http://schemas.microsoft.com/office/drawing/2014/main" id="{4CBDA469-03E7-4CD2-CAF7-A582B7C5726B}"/>
              </a:ext>
            </a:extLst>
          </p:cNvPr>
          <p:cNvCxnSpPr/>
          <p:nvPr/>
        </p:nvCxnSpPr>
        <p:spPr>
          <a:xfrm flipV="1">
            <a:off x="1064525" y="1596788"/>
            <a:ext cx="0" cy="399879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FA21C1F8-8079-34F5-683A-D4989564D83F}"/>
              </a:ext>
            </a:extLst>
          </p:cNvPr>
          <p:cNvSpPr txBox="1"/>
          <p:nvPr/>
        </p:nvSpPr>
        <p:spPr>
          <a:xfrm>
            <a:off x="5592726" y="5838825"/>
            <a:ext cx="627322" cy="523220"/>
          </a:xfrm>
          <a:prstGeom prst="rect">
            <a:avLst/>
          </a:prstGeom>
          <a:noFill/>
        </p:spPr>
        <p:txBody>
          <a:bodyPr wrap="square" rtlCol="0">
            <a:spAutoFit/>
          </a:bodyPr>
          <a:lstStyle/>
          <a:p>
            <a:r>
              <a:rPr lang="es-ES" sz="2800" dirty="0">
                <a:solidFill>
                  <a:srgbClr val="FF0000"/>
                </a:solidFill>
              </a:rPr>
              <a:t>X1</a:t>
            </a:r>
            <a:endParaRPr lang="es-PE" sz="2800" dirty="0">
              <a:solidFill>
                <a:srgbClr val="FF0000"/>
              </a:solidFill>
            </a:endParaRPr>
          </a:p>
        </p:txBody>
      </p:sp>
      <p:sp>
        <p:nvSpPr>
          <p:cNvPr id="31" name="CuadroTexto 30">
            <a:extLst>
              <a:ext uri="{FF2B5EF4-FFF2-40B4-BE49-F238E27FC236}">
                <a16:creationId xmlns:a16="http://schemas.microsoft.com/office/drawing/2014/main" id="{4AD98591-F041-3E58-FC4B-4B81A3A68F97}"/>
              </a:ext>
            </a:extLst>
          </p:cNvPr>
          <p:cNvSpPr txBox="1"/>
          <p:nvPr/>
        </p:nvSpPr>
        <p:spPr>
          <a:xfrm>
            <a:off x="540964" y="2583643"/>
            <a:ext cx="627322" cy="523220"/>
          </a:xfrm>
          <a:prstGeom prst="rect">
            <a:avLst/>
          </a:prstGeom>
          <a:noFill/>
        </p:spPr>
        <p:txBody>
          <a:bodyPr wrap="square" rtlCol="0">
            <a:spAutoFit/>
          </a:bodyPr>
          <a:lstStyle/>
          <a:p>
            <a:r>
              <a:rPr lang="es-ES" sz="2800" dirty="0">
                <a:solidFill>
                  <a:srgbClr val="FF0000"/>
                </a:solidFill>
              </a:rPr>
              <a:t>X2</a:t>
            </a:r>
            <a:endParaRPr lang="es-PE" sz="2800" dirty="0">
              <a:solidFill>
                <a:srgbClr val="FF0000"/>
              </a:solidFill>
            </a:endParaRPr>
          </a:p>
        </p:txBody>
      </p:sp>
    </p:spTree>
    <p:extLst>
      <p:ext uri="{BB962C8B-B14F-4D97-AF65-F5344CB8AC3E}">
        <p14:creationId xmlns:p14="http://schemas.microsoft.com/office/powerpoint/2010/main" val="412013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8C9E58DB-0DCC-44E0-82A7-E59CE1FDE5ED}"/>
              </a:ext>
            </a:extLst>
          </p:cNvPr>
          <p:cNvSpPr txBox="1"/>
          <p:nvPr/>
        </p:nvSpPr>
        <p:spPr>
          <a:xfrm>
            <a:off x="189787" y="1248565"/>
            <a:ext cx="5900770" cy="2554545"/>
          </a:xfrm>
          <a:prstGeom prst="rect">
            <a:avLst/>
          </a:prstGeom>
          <a:noFill/>
        </p:spPr>
        <p:txBody>
          <a:bodyPr wrap="square" rtlCol="0">
            <a:spAutoFit/>
          </a:bodyPr>
          <a:lstStyle/>
          <a:p>
            <a:pPr algn="just">
              <a:spcAft>
                <a:spcPts val="800"/>
              </a:spcAft>
            </a:pPr>
            <a:r>
              <a:rPr lang="es-PE" sz="2000" b="1" dirty="0">
                <a:effectLst/>
                <a:latin typeface="Arial Narrow" panose="020B0606020202030204" pitchFamily="34" charset="0"/>
                <a:ea typeface="Calibri" panose="020F0502020204030204" pitchFamily="34" charset="0"/>
                <a:cs typeface="Times New Roman" panose="02020603050405020304" pitchFamily="18" charset="0"/>
              </a:rPr>
              <a:t>La fábrica de muebles recientemente notificó que, en una planta de Lima, hubo exceso de unidades de materia prima, que podían ser usadas para producir sillas A y M.  Estas sillas se pueden vender a almacenes de muebles a razón de S/.250 y S/.200 respectivamente. El número esperado de unidades de material disponible cada mes y el número de unidades de cada material requerido para producir cada tipo de silla se da en la siguiente tabla:</a:t>
            </a:r>
            <a:endParaRPr lang="es-PE" sz="2000" b="1" dirty="0">
              <a:latin typeface="Arial Narrow" panose="020B0606020202030204" pitchFamily="34" charset="0"/>
            </a:endParaRPr>
          </a:p>
        </p:txBody>
      </p:sp>
      <p:pic>
        <p:nvPicPr>
          <p:cNvPr id="20" name="Imagen 19" descr="Tabla&#10;&#10;Descripción generada automáticamente">
            <a:extLst>
              <a:ext uri="{FF2B5EF4-FFF2-40B4-BE49-F238E27FC236}">
                <a16:creationId xmlns:a16="http://schemas.microsoft.com/office/drawing/2014/main" id="{4992E57D-0F2E-4DD1-B735-01EA100620F5}"/>
              </a:ext>
            </a:extLst>
          </p:cNvPr>
          <p:cNvPicPr>
            <a:picLocks noChangeAspect="1"/>
          </p:cNvPicPr>
          <p:nvPr/>
        </p:nvPicPr>
        <p:blipFill rotWithShape="1">
          <a:blip r:embed="rId3">
            <a:extLst>
              <a:ext uri="{28A0092B-C50C-407E-A947-70E740481C1C}">
                <a14:useLocalDpi xmlns:a14="http://schemas.microsoft.com/office/drawing/2010/main" val="0"/>
              </a:ext>
            </a:extLst>
          </a:blip>
          <a:srcRect l="2282" t="5457"/>
          <a:stretch/>
        </p:blipFill>
        <p:spPr>
          <a:xfrm>
            <a:off x="267411" y="3734964"/>
            <a:ext cx="5880296" cy="1535776"/>
          </a:xfrm>
          <a:prstGeom prst="rect">
            <a:avLst/>
          </a:prstGeom>
        </p:spPr>
      </p:pic>
      <p:sp>
        <p:nvSpPr>
          <p:cNvPr id="5" name="CuadroTexto 4">
            <a:extLst>
              <a:ext uri="{FF2B5EF4-FFF2-40B4-BE49-F238E27FC236}">
                <a16:creationId xmlns:a16="http://schemas.microsoft.com/office/drawing/2014/main" id="{5746794E-22E2-4671-AE0B-856F6E4E4E58}"/>
              </a:ext>
            </a:extLst>
          </p:cNvPr>
          <p:cNvSpPr txBox="1"/>
          <p:nvPr/>
        </p:nvSpPr>
        <p:spPr>
          <a:xfrm>
            <a:off x="155272" y="5226784"/>
            <a:ext cx="5935284" cy="1631216"/>
          </a:xfrm>
          <a:prstGeom prst="rect">
            <a:avLst/>
          </a:prstGeom>
          <a:noFill/>
        </p:spPr>
        <p:txBody>
          <a:bodyPr wrap="square" rtlCol="0">
            <a:spAutoFit/>
          </a:bodyPr>
          <a:lstStyle>
            <a:defPPr>
              <a:defRPr lang="es-PE"/>
            </a:defPPr>
            <a:lvl1pPr algn="just">
              <a:spcAft>
                <a:spcPts val="800"/>
              </a:spcAft>
              <a:defRPr>
                <a:effectLst/>
                <a:latin typeface="Arial Narrow" panose="020B0606020202030204" pitchFamily="34" charset="0"/>
                <a:ea typeface="Calibri" panose="020F0502020204030204" pitchFamily="34" charset="0"/>
                <a:cs typeface="Times New Roman" panose="02020603050405020304" pitchFamily="18" charset="0"/>
              </a:defRPr>
            </a:lvl1pPr>
          </a:lstStyle>
          <a:p>
            <a:r>
              <a:rPr lang="es-ES" sz="2000" b="1" dirty="0"/>
              <a:t>Cada silla A requiere 5 horas de mano de obra directa y cada silla M requiere 4 horas de mano de obra directa. El promedio de costo de mano de obra para la planta de Lima es estimado en S/. 5 por hora. El costo unitario original de materia está dado en la siguiente tabla:</a:t>
            </a:r>
            <a:endParaRPr lang="es-PE" sz="2000" b="1" dirty="0"/>
          </a:p>
        </p:txBody>
      </p:sp>
      <p:graphicFrame>
        <p:nvGraphicFramePr>
          <p:cNvPr id="6" name="Tabla 4">
            <a:extLst>
              <a:ext uri="{FF2B5EF4-FFF2-40B4-BE49-F238E27FC236}">
                <a16:creationId xmlns:a16="http://schemas.microsoft.com/office/drawing/2014/main" id="{78338039-07A8-4499-A652-8BD5C3B42661}"/>
              </a:ext>
            </a:extLst>
          </p:cNvPr>
          <p:cNvGraphicFramePr>
            <a:graphicFrameLocks noGrp="1"/>
          </p:cNvGraphicFramePr>
          <p:nvPr/>
        </p:nvGraphicFramePr>
        <p:xfrm>
          <a:off x="6319328" y="1246517"/>
          <a:ext cx="3247366" cy="1341120"/>
        </p:xfrm>
        <a:graphic>
          <a:graphicData uri="http://schemas.openxmlformats.org/drawingml/2006/table">
            <a:tbl>
              <a:tblPr firstRow="1" bandRow="1">
                <a:tableStyleId>{5C22544A-7EE6-4342-B048-85BDC9FD1C3A}</a:tableStyleId>
              </a:tblPr>
              <a:tblGrid>
                <a:gridCol w="1730907">
                  <a:extLst>
                    <a:ext uri="{9D8B030D-6E8A-4147-A177-3AD203B41FA5}">
                      <a16:colId xmlns:a16="http://schemas.microsoft.com/office/drawing/2014/main" val="595900990"/>
                    </a:ext>
                  </a:extLst>
                </a:gridCol>
                <a:gridCol w="1516459">
                  <a:extLst>
                    <a:ext uri="{9D8B030D-6E8A-4147-A177-3AD203B41FA5}">
                      <a16:colId xmlns:a16="http://schemas.microsoft.com/office/drawing/2014/main" val="3679556666"/>
                    </a:ext>
                  </a:extLst>
                </a:gridCol>
              </a:tblGrid>
              <a:tr h="300846">
                <a:tc>
                  <a:txBody>
                    <a:bodyPr/>
                    <a:lstStyle/>
                    <a:p>
                      <a:pPr algn="ctr"/>
                      <a:r>
                        <a:rPr lang="es-ES" sz="1600" b="1" dirty="0">
                          <a:solidFill>
                            <a:schemeClr val="tx1"/>
                          </a:solidFill>
                        </a:rPr>
                        <a:t>Materia prima</a:t>
                      </a:r>
                      <a:endParaRPr lang="es-PE" sz="1600" b="1" dirty="0">
                        <a:solidFill>
                          <a:schemeClr val="tx1"/>
                        </a:solidFill>
                      </a:endParaRPr>
                    </a:p>
                  </a:txBody>
                  <a:tcPr>
                    <a:solidFill>
                      <a:srgbClr val="FFCC66"/>
                    </a:solidFill>
                  </a:tcPr>
                </a:tc>
                <a:tc>
                  <a:txBody>
                    <a:bodyPr/>
                    <a:lstStyle/>
                    <a:p>
                      <a:pPr algn="ctr"/>
                      <a:r>
                        <a:rPr lang="es-ES" sz="1600" b="1" dirty="0">
                          <a:solidFill>
                            <a:schemeClr val="tx1"/>
                          </a:solidFill>
                        </a:rPr>
                        <a:t>Producto 1 (S/.)</a:t>
                      </a:r>
                      <a:endParaRPr lang="es-PE" sz="1600" b="1" dirty="0">
                        <a:solidFill>
                          <a:schemeClr val="tx1"/>
                        </a:solidFill>
                      </a:endParaRPr>
                    </a:p>
                  </a:txBody>
                  <a:tcPr>
                    <a:solidFill>
                      <a:srgbClr val="FFCC66"/>
                    </a:solidFill>
                  </a:tcPr>
                </a:tc>
                <a:extLst>
                  <a:ext uri="{0D108BD9-81ED-4DB2-BD59-A6C34878D82A}">
                    <a16:rowId xmlns:a16="http://schemas.microsoft.com/office/drawing/2014/main" val="1057499828"/>
                  </a:ext>
                </a:extLst>
              </a:tr>
              <a:tr h="300846">
                <a:tc>
                  <a:txBody>
                    <a:bodyPr/>
                    <a:lstStyle/>
                    <a:p>
                      <a:r>
                        <a:rPr lang="es-ES" sz="1600" b="1" dirty="0">
                          <a:solidFill>
                            <a:schemeClr val="tx1"/>
                          </a:solidFill>
                        </a:rPr>
                        <a:t>Madera</a:t>
                      </a:r>
                      <a:endParaRPr lang="es-PE" sz="1600" b="1" dirty="0">
                        <a:solidFill>
                          <a:schemeClr val="tx1"/>
                        </a:solidFill>
                      </a:endParaRPr>
                    </a:p>
                  </a:txBody>
                  <a:tcPr>
                    <a:solidFill>
                      <a:srgbClr val="FFCC66"/>
                    </a:solidFill>
                  </a:tcPr>
                </a:tc>
                <a:tc>
                  <a:txBody>
                    <a:bodyPr/>
                    <a:lstStyle/>
                    <a:p>
                      <a:pPr algn="ctr"/>
                      <a:r>
                        <a:rPr lang="es-ES" sz="1600" b="1" dirty="0">
                          <a:solidFill>
                            <a:schemeClr val="tx1"/>
                          </a:solidFill>
                        </a:rPr>
                        <a:t>50</a:t>
                      </a:r>
                      <a:endParaRPr lang="es-PE" sz="1600" b="1" dirty="0">
                        <a:solidFill>
                          <a:schemeClr val="tx1"/>
                        </a:solidFill>
                      </a:endParaRPr>
                    </a:p>
                  </a:txBody>
                  <a:tcPr>
                    <a:solidFill>
                      <a:srgbClr val="FFCC66"/>
                    </a:solidFill>
                  </a:tcPr>
                </a:tc>
                <a:extLst>
                  <a:ext uri="{0D108BD9-81ED-4DB2-BD59-A6C34878D82A}">
                    <a16:rowId xmlns:a16="http://schemas.microsoft.com/office/drawing/2014/main" val="1507363958"/>
                  </a:ext>
                </a:extLst>
              </a:tr>
              <a:tr h="300846">
                <a:tc>
                  <a:txBody>
                    <a:bodyPr/>
                    <a:lstStyle/>
                    <a:p>
                      <a:r>
                        <a:rPr lang="es-ES" sz="1600" b="1" dirty="0">
                          <a:solidFill>
                            <a:schemeClr val="tx1"/>
                          </a:solidFill>
                        </a:rPr>
                        <a:t>Tornillo de acero</a:t>
                      </a:r>
                      <a:endParaRPr lang="es-PE" sz="1600" b="1" dirty="0">
                        <a:solidFill>
                          <a:schemeClr val="tx1"/>
                        </a:solidFill>
                      </a:endParaRPr>
                    </a:p>
                  </a:txBody>
                  <a:tcPr>
                    <a:solidFill>
                      <a:srgbClr val="FFCC66"/>
                    </a:solidFill>
                  </a:tcPr>
                </a:tc>
                <a:tc>
                  <a:txBody>
                    <a:bodyPr/>
                    <a:lstStyle/>
                    <a:p>
                      <a:pPr algn="ctr"/>
                      <a:r>
                        <a:rPr lang="es-ES" sz="1600" b="1" dirty="0">
                          <a:solidFill>
                            <a:schemeClr val="tx1"/>
                          </a:solidFill>
                        </a:rPr>
                        <a:t>2</a:t>
                      </a:r>
                      <a:endParaRPr lang="es-PE" sz="1600" b="1" dirty="0">
                        <a:solidFill>
                          <a:schemeClr val="tx1"/>
                        </a:solidFill>
                      </a:endParaRPr>
                    </a:p>
                  </a:txBody>
                  <a:tcPr>
                    <a:solidFill>
                      <a:srgbClr val="FFCC66"/>
                    </a:solidFill>
                  </a:tcPr>
                </a:tc>
                <a:extLst>
                  <a:ext uri="{0D108BD9-81ED-4DB2-BD59-A6C34878D82A}">
                    <a16:rowId xmlns:a16="http://schemas.microsoft.com/office/drawing/2014/main" val="1051513525"/>
                  </a:ext>
                </a:extLst>
              </a:tr>
              <a:tr h="300846">
                <a:tc>
                  <a:txBody>
                    <a:bodyPr/>
                    <a:lstStyle/>
                    <a:p>
                      <a:r>
                        <a:rPr lang="es-ES" sz="1600" b="1" dirty="0">
                          <a:solidFill>
                            <a:schemeClr val="tx1"/>
                          </a:solidFill>
                        </a:rPr>
                        <a:t>Vinilo</a:t>
                      </a:r>
                      <a:endParaRPr lang="es-PE" sz="1600" b="1" dirty="0">
                        <a:solidFill>
                          <a:schemeClr val="tx1"/>
                        </a:solidFill>
                      </a:endParaRPr>
                    </a:p>
                  </a:txBody>
                  <a:tcPr>
                    <a:solidFill>
                      <a:srgbClr val="FFCC66"/>
                    </a:solidFill>
                  </a:tcPr>
                </a:tc>
                <a:tc>
                  <a:txBody>
                    <a:bodyPr/>
                    <a:lstStyle/>
                    <a:p>
                      <a:pPr algn="ctr"/>
                      <a:r>
                        <a:rPr lang="es-ES" sz="1600" b="1" dirty="0">
                          <a:solidFill>
                            <a:schemeClr val="tx1"/>
                          </a:solidFill>
                        </a:rPr>
                        <a:t>25</a:t>
                      </a:r>
                      <a:endParaRPr lang="es-PE" sz="1600" b="1" dirty="0">
                        <a:solidFill>
                          <a:schemeClr val="tx1"/>
                        </a:solidFill>
                      </a:endParaRPr>
                    </a:p>
                  </a:txBody>
                  <a:tcPr>
                    <a:solidFill>
                      <a:srgbClr val="FFCC66"/>
                    </a:solidFill>
                  </a:tcPr>
                </a:tc>
                <a:extLst>
                  <a:ext uri="{0D108BD9-81ED-4DB2-BD59-A6C34878D82A}">
                    <a16:rowId xmlns:a16="http://schemas.microsoft.com/office/drawing/2014/main" val="1623366994"/>
                  </a:ext>
                </a:extLst>
              </a:tr>
            </a:tbl>
          </a:graphicData>
        </a:graphic>
      </p:graphicFrame>
      <p:sp>
        <p:nvSpPr>
          <p:cNvPr id="8" name="CuadroTexto 7">
            <a:extLst>
              <a:ext uri="{FF2B5EF4-FFF2-40B4-BE49-F238E27FC236}">
                <a16:creationId xmlns:a16="http://schemas.microsoft.com/office/drawing/2014/main" id="{2DCB06C2-B581-41FA-8CC5-174A843F4B2E}"/>
              </a:ext>
            </a:extLst>
          </p:cNvPr>
          <p:cNvSpPr txBox="1"/>
          <p:nvPr/>
        </p:nvSpPr>
        <p:spPr>
          <a:xfrm>
            <a:off x="9721971" y="1815854"/>
            <a:ext cx="2470030" cy="400110"/>
          </a:xfrm>
          <a:prstGeom prst="rect">
            <a:avLst/>
          </a:prstGeom>
          <a:noFill/>
        </p:spPr>
        <p:txBody>
          <a:bodyPr wrap="square" rtlCol="0">
            <a:spAutoFit/>
          </a:bodyPr>
          <a:lstStyle/>
          <a:p>
            <a:r>
              <a:rPr lang="es-ES" sz="2000" b="1" dirty="0">
                <a:latin typeface="Arial Narrow" panose="020B0606020202030204" pitchFamily="34" charset="0"/>
              </a:rPr>
              <a:t>Utilidad=Ingreso-costo</a:t>
            </a:r>
          </a:p>
        </p:txBody>
      </p:sp>
      <p:sp>
        <p:nvSpPr>
          <p:cNvPr id="10" name="Rectangle 3">
            <a:extLst>
              <a:ext uri="{FF2B5EF4-FFF2-40B4-BE49-F238E27FC236}">
                <a16:creationId xmlns:a16="http://schemas.microsoft.com/office/drawing/2014/main" id="{E17E454C-8641-4D50-B971-9684DA40E38A}"/>
              </a:ext>
            </a:extLst>
          </p:cNvPr>
          <p:cNvSpPr txBox="1">
            <a:spLocks noChangeArrowheads="1"/>
          </p:cNvSpPr>
          <p:nvPr/>
        </p:nvSpPr>
        <p:spPr>
          <a:xfrm>
            <a:off x="6271404" y="3508636"/>
            <a:ext cx="3830128" cy="1106503"/>
          </a:xfrm>
          <a:prstGeom prst="rect">
            <a:avLst/>
          </a:prstGeom>
          <a:solidFill>
            <a:srgbClr val="FFCC66"/>
          </a:solidFill>
        </p:spPr>
        <p:txBody>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200">
                <a:solidFill>
                  <a:srgbClr val="0C0000"/>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200">
                <a:solidFill>
                  <a:srgbClr val="0C0000"/>
                </a:solidFill>
                <a:latin typeface="+mn-lt"/>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200">
                <a:solidFill>
                  <a:srgbClr val="0C0000"/>
                </a:solidFill>
                <a:latin typeface="+mn-lt"/>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5pPr>
            <a:lvl6pPr marL="25146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6pPr>
            <a:lvl7pPr marL="29718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7pPr>
            <a:lvl8pPr marL="34290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8pPr>
            <a:lvl9pPr marL="38862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9pPr>
          </a:lstStyle>
          <a:p>
            <a:pPr eaLnBrk="1" hangingPunct="1">
              <a:buFont typeface="Wingdings" panose="05000000000000000000" pitchFamily="2" charset="2"/>
              <a:buNone/>
            </a:pPr>
            <a:r>
              <a:rPr lang="es-ES" sz="2000" b="1" kern="0" dirty="0">
                <a:solidFill>
                  <a:srgbClr val="FF0000"/>
                </a:solidFill>
                <a:latin typeface="Arial Narrow" panose="020B0606020202030204" pitchFamily="34" charset="0"/>
              </a:rPr>
              <a:t>Identificación de las variables</a:t>
            </a:r>
          </a:p>
          <a:p>
            <a:pPr eaLnBrk="1" hangingPunct="1">
              <a:buFont typeface="Wingdings" panose="05000000000000000000" pitchFamily="2" charset="2"/>
              <a:buNone/>
            </a:pPr>
            <a:r>
              <a:rPr lang="es-ES" sz="2000" b="1" kern="0" dirty="0" err="1">
                <a:latin typeface="Arial Narrow" panose="020B0606020202030204" pitchFamily="34" charset="0"/>
              </a:rPr>
              <a:t>X1</a:t>
            </a:r>
            <a:r>
              <a:rPr lang="es-ES" sz="2000" b="1" kern="0" dirty="0">
                <a:latin typeface="Arial Narrow" panose="020B0606020202030204" pitchFamily="34" charset="0"/>
              </a:rPr>
              <a:t>: # de sillas tipo A a producir</a:t>
            </a:r>
          </a:p>
          <a:p>
            <a:pPr eaLnBrk="1" hangingPunct="1">
              <a:buNone/>
            </a:pPr>
            <a:r>
              <a:rPr lang="es-ES" sz="2000" b="1" kern="0" dirty="0" err="1">
                <a:latin typeface="Arial Narrow" panose="020B0606020202030204" pitchFamily="34" charset="0"/>
              </a:rPr>
              <a:t>X2</a:t>
            </a:r>
            <a:r>
              <a:rPr lang="es-ES" sz="2000" b="1" kern="0" dirty="0">
                <a:latin typeface="Arial Narrow" panose="020B0606020202030204" pitchFamily="34" charset="0"/>
              </a:rPr>
              <a:t>: # de sillas tipo M a producir</a:t>
            </a:r>
          </a:p>
          <a:p>
            <a:pPr marL="0" lvl="1" indent="0" eaLnBrk="1" hangingPunct="1">
              <a:buNone/>
            </a:pPr>
            <a:endParaRPr lang="es-ES" sz="2000" b="1" kern="0" dirty="0">
              <a:latin typeface="Arial Narrow" panose="020B0606020202030204" pitchFamily="34" charset="0"/>
              <a:cs typeface="Times New Roman" panose="02020603050405020304" pitchFamily="18" charset="0"/>
            </a:endParaRPr>
          </a:p>
        </p:txBody>
      </p:sp>
      <p:sp>
        <p:nvSpPr>
          <p:cNvPr id="12" name="Rectángulo 11">
            <a:extLst>
              <a:ext uri="{FF2B5EF4-FFF2-40B4-BE49-F238E27FC236}">
                <a16:creationId xmlns:a16="http://schemas.microsoft.com/office/drawing/2014/main" id="{8DDA1D88-8742-4B47-B933-3B5667A586DA}"/>
              </a:ext>
            </a:extLst>
          </p:cNvPr>
          <p:cNvSpPr/>
          <p:nvPr/>
        </p:nvSpPr>
        <p:spPr>
          <a:xfrm>
            <a:off x="6268521" y="4618889"/>
            <a:ext cx="3833012" cy="707886"/>
          </a:xfrm>
          <a:prstGeom prst="rect">
            <a:avLst/>
          </a:prstGeom>
          <a:solidFill>
            <a:srgbClr val="FFCC66"/>
          </a:solidFill>
        </p:spPr>
        <p:txBody>
          <a:bodyPr wrap="square">
            <a:spAutoFit/>
          </a:bodyPr>
          <a:lstStyle/>
          <a:p>
            <a:pPr marL="0" lvl="1"/>
            <a:r>
              <a:rPr lang="es-ES" sz="2000" b="1" kern="0" dirty="0">
                <a:solidFill>
                  <a:srgbClr val="FF0000"/>
                </a:solidFill>
                <a:latin typeface="Arial Narrow" panose="020B0606020202030204" pitchFamily="34" charset="0"/>
              </a:rPr>
              <a:t>Identificación de la Función Objetivo</a:t>
            </a:r>
          </a:p>
          <a:p>
            <a:pPr marL="0" lvl="1"/>
            <a:r>
              <a:rPr lang="es-ES" sz="2000" b="1" kern="0" dirty="0">
                <a:latin typeface="Arial Narrow" panose="020B0606020202030204" pitchFamily="34" charset="0"/>
              </a:rPr>
              <a:t>Max </a:t>
            </a:r>
            <a:r>
              <a:rPr lang="es-ES" sz="2000" b="1" kern="0" dirty="0" err="1">
                <a:latin typeface="Arial Narrow" panose="020B0606020202030204" pitchFamily="34" charset="0"/>
              </a:rPr>
              <a:t>40X1</a:t>
            </a:r>
            <a:r>
              <a:rPr lang="es-ES" sz="2000" b="1" kern="0" dirty="0">
                <a:latin typeface="Arial Narrow" panose="020B0606020202030204" pitchFamily="34" charset="0"/>
              </a:rPr>
              <a:t> + </a:t>
            </a:r>
            <a:r>
              <a:rPr lang="es-ES" sz="2000" b="1" kern="0" dirty="0" err="1">
                <a:latin typeface="Arial Narrow" panose="020B0606020202030204" pitchFamily="34" charset="0"/>
              </a:rPr>
              <a:t>18X2</a:t>
            </a:r>
            <a:endParaRPr lang="es-ES" sz="2000" b="1" kern="0" dirty="0">
              <a:latin typeface="Arial Narrow" panose="020B0606020202030204" pitchFamily="34" charset="0"/>
            </a:endParaRPr>
          </a:p>
        </p:txBody>
      </p:sp>
      <p:sp>
        <p:nvSpPr>
          <p:cNvPr id="13" name="Rectángulo 12">
            <a:extLst>
              <a:ext uri="{FF2B5EF4-FFF2-40B4-BE49-F238E27FC236}">
                <a16:creationId xmlns:a16="http://schemas.microsoft.com/office/drawing/2014/main" id="{A2B92BCA-C059-4976-BAFA-DB6907734775}"/>
              </a:ext>
            </a:extLst>
          </p:cNvPr>
          <p:cNvSpPr/>
          <p:nvPr/>
        </p:nvSpPr>
        <p:spPr>
          <a:xfrm>
            <a:off x="6274286" y="5263095"/>
            <a:ext cx="3818619" cy="1631216"/>
          </a:xfrm>
          <a:prstGeom prst="rect">
            <a:avLst/>
          </a:prstGeom>
          <a:solidFill>
            <a:srgbClr val="FFCC66"/>
          </a:solidFill>
        </p:spPr>
        <p:txBody>
          <a:bodyPr wrap="square">
            <a:spAutoFit/>
          </a:bodyPr>
          <a:lstStyle/>
          <a:p>
            <a:r>
              <a:rPr lang="es-ES" sz="2000" b="1" kern="0" dirty="0">
                <a:solidFill>
                  <a:srgbClr val="FF0000"/>
                </a:solidFill>
                <a:latin typeface="Arial Narrow" panose="020B0606020202030204" pitchFamily="34" charset="0"/>
              </a:rPr>
              <a:t>Identificación de las </a:t>
            </a:r>
            <a:r>
              <a:rPr lang="es-ES" sz="2000" b="1" kern="0" dirty="0" err="1">
                <a:solidFill>
                  <a:srgbClr val="FF0000"/>
                </a:solidFill>
                <a:latin typeface="Arial Narrow" panose="020B0606020202030204" pitchFamily="34" charset="0"/>
              </a:rPr>
              <a:t>restriciones</a:t>
            </a:r>
            <a:endParaRPr lang="es-ES" sz="2000" b="1" kern="0" dirty="0">
              <a:solidFill>
                <a:srgbClr val="FF0000"/>
              </a:solidFill>
              <a:latin typeface="Arial Narrow" panose="020B0606020202030204" pitchFamily="34" charset="0"/>
            </a:endParaRPr>
          </a:p>
          <a:p>
            <a:pPr lvl="1"/>
            <a:r>
              <a:rPr lang="es-ES" sz="2000" b="1" kern="0" dirty="0" err="1">
                <a:latin typeface="Arial Narrow" panose="020B0606020202030204" pitchFamily="34" charset="0"/>
              </a:rPr>
              <a:t>2X1</a:t>
            </a:r>
            <a:r>
              <a:rPr lang="es-ES" sz="2000" b="1" kern="0" dirty="0">
                <a:latin typeface="Arial Narrow" panose="020B0606020202030204" pitchFamily="34" charset="0"/>
              </a:rPr>
              <a:t> + </a:t>
            </a:r>
            <a:r>
              <a:rPr lang="es-ES" sz="2000" b="1" kern="0" dirty="0" err="1">
                <a:latin typeface="Arial Narrow" panose="020B0606020202030204" pitchFamily="34" charset="0"/>
              </a:rPr>
              <a:t>1X2</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40 </a:t>
            </a:r>
          </a:p>
          <a:p>
            <a:pPr lvl="1"/>
            <a:r>
              <a:rPr lang="es-ES" sz="2000" b="1" kern="0" dirty="0" err="1">
                <a:latin typeface="Arial Narrow" panose="020B0606020202030204" pitchFamily="34" charset="0"/>
              </a:rPr>
              <a:t>5X1</a:t>
            </a:r>
            <a:r>
              <a:rPr lang="es-ES" sz="2000" b="1" kern="0" dirty="0">
                <a:latin typeface="Arial Narrow" panose="020B0606020202030204" pitchFamily="34" charset="0"/>
              </a:rPr>
              <a:t> + </a:t>
            </a:r>
            <a:r>
              <a:rPr lang="es-ES" sz="2000" b="1" kern="0" dirty="0" err="1">
                <a:latin typeface="Arial Narrow" panose="020B0606020202030204" pitchFamily="34" charset="0"/>
              </a:rPr>
              <a:t>6X2</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30	</a:t>
            </a:r>
          </a:p>
          <a:p>
            <a:pPr lvl="1"/>
            <a:r>
              <a:rPr lang="es-ES" sz="2000" b="1" kern="0" dirty="0" err="1">
                <a:latin typeface="Arial Narrow" panose="020B0606020202030204" pitchFamily="34" charset="0"/>
              </a:rPr>
              <a:t>3X1</a:t>
            </a:r>
            <a:r>
              <a:rPr lang="es-ES" sz="2000" b="1" kern="0" dirty="0">
                <a:latin typeface="Arial Narrow" panose="020B0606020202030204" pitchFamily="34" charset="0"/>
              </a:rPr>
              <a:t> + </a:t>
            </a:r>
            <a:r>
              <a:rPr lang="es-ES" sz="2000" b="1" kern="0" dirty="0" err="1">
                <a:latin typeface="Arial Narrow" panose="020B0606020202030204" pitchFamily="34" charset="0"/>
              </a:rPr>
              <a:t>4X2</a:t>
            </a:r>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20	</a:t>
            </a:r>
          </a:p>
          <a:p>
            <a:pPr lvl="1"/>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       X1, X2 ≥ 0, ENTERO</a:t>
            </a:r>
            <a:endParaRPr lang="es-PE" b="1" dirty="0">
              <a:latin typeface="Arial Narrow" panose="020B0606020202030204" pitchFamily="34" charset="0"/>
            </a:endParaRPr>
          </a:p>
        </p:txBody>
      </p:sp>
      <p:sp>
        <p:nvSpPr>
          <p:cNvPr id="2" name="Rectángulo 1">
            <a:extLst>
              <a:ext uri="{FF2B5EF4-FFF2-40B4-BE49-F238E27FC236}">
                <a16:creationId xmlns:a16="http://schemas.microsoft.com/office/drawing/2014/main" id="{7D38F9E5-5FB0-4659-82A6-92FE8A964429}"/>
              </a:ext>
            </a:extLst>
          </p:cNvPr>
          <p:cNvSpPr/>
          <p:nvPr/>
        </p:nvSpPr>
        <p:spPr>
          <a:xfrm>
            <a:off x="10325870" y="1355149"/>
            <a:ext cx="1250663" cy="461665"/>
          </a:xfrm>
          <a:prstGeom prst="rect">
            <a:avLst/>
          </a:prstGeom>
        </p:spPr>
        <p:txBody>
          <a:bodyPr wrap="none">
            <a:spAutoFit/>
          </a:bodyPr>
          <a:lstStyle/>
          <a:p>
            <a:r>
              <a:rPr lang="es-ES" sz="2400" b="1" kern="0" dirty="0">
                <a:solidFill>
                  <a:srgbClr val="FF0000"/>
                </a:solidFill>
                <a:latin typeface="Arial Narrow" panose="020B0606020202030204" pitchFamily="34" charset="0"/>
              </a:rPr>
              <a:t>Solución</a:t>
            </a:r>
            <a:endParaRPr lang="es-PE" sz="2400" dirty="0"/>
          </a:p>
        </p:txBody>
      </p:sp>
      <p:sp>
        <p:nvSpPr>
          <p:cNvPr id="3" name="Rectángulo 2">
            <a:extLst>
              <a:ext uri="{FF2B5EF4-FFF2-40B4-BE49-F238E27FC236}">
                <a16:creationId xmlns:a16="http://schemas.microsoft.com/office/drawing/2014/main" id="{3C8A2B6A-3543-4B91-BC4F-1FB50197AB74}"/>
              </a:ext>
            </a:extLst>
          </p:cNvPr>
          <p:cNvSpPr/>
          <p:nvPr/>
        </p:nvSpPr>
        <p:spPr>
          <a:xfrm>
            <a:off x="6489938" y="2717646"/>
            <a:ext cx="5552537" cy="369332"/>
          </a:xfrm>
          <a:prstGeom prst="rect">
            <a:avLst/>
          </a:prstGeom>
        </p:spPr>
        <p:txBody>
          <a:bodyPr wrap="square">
            <a:spAutoFit/>
          </a:bodyPr>
          <a:lstStyle/>
          <a:p>
            <a:r>
              <a:rPr lang="es-ES" b="1" dirty="0">
                <a:latin typeface="Arial Narrow" panose="020B0606020202030204" pitchFamily="34" charset="0"/>
              </a:rPr>
              <a:t>Utilidad silla A=250-(5*5+2*50+5*2+3*25)=40 S./unidad</a:t>
            </a:r>
          </a:p>
        </p:txBody>
      </p:sp>
      <p:sp>
        <p:nvSpPr>
          <p:cNvPr id="4" name="Rectángulo 3">
            <a:extLst>
              <a:ext uri="{FF2B5EF4-FFF2-40B4-BE49-F238E27FC236}">
                <a16:creationId xmlns:a16="http://schemas.microsoft.com/office/drawing/2014/main" id="{CC3F012A-0EEF-4A38-9159-9BF26F7E0587}"/>
              </a:ext>
            </a:extLst>
          </p:cNvPr>
          <p:cNvSpPr/>
          <p:nvPr/>
        </p:nvSpPr>
        <p:spPr>
          <a:xfrm>
            <a:off x="6497165" y="3059668"/>
            <a:ext cx="5519431" cy="369332"/>
          </a:xfrm>
          <a:prstGeom prst="rect">
            <a:avLst/>
          </a:prstGeom>
        </p:spPr>
        <p:txBody>
          <a:bodyPr wrap="square">
            <a:spAutoFit/>
          </a:bodyPr>
          <a:lstStyle/>
          <a:p>
            <a:r>
              <a:rPr lang="es-ES" b="1" dirty="0">
                <a:latin typeface="Arial Narrow" panose="020B0606020202030204" pitchFamily="34" charset="0"/>
              </a:rPr>
              <a:t>Utilidad silla M=200-(4*5+1*50+6*2+4*25)=18 S./unidad</a:t>
            </a:r>
            <a:endParaRPr lang="es-PE" b="1" dirty="0">
              <a:latin typeface="Arial Narrow" panose="020B0606020202030204" pitchFamily="34" charset="0"/>
            </a:endParaRPr>
          </a:p>
        </p:txBody>
      </p:sp>
      <p:sp>
        <p:nvSpPr>
          <p:cNvPr id="14" name="Rectangle 2">
            <a:extLst>
              <a:ext uri="{FF2B5EF4-FFF2-40B4-BE49-F238E27FC236}">
                <a16:creationId xmlns:a16="http://schemas.microsoft.com/office/drawing/2014/main" id="{92D50308-1A13-4BAB-B85C-6E381D45F245}"/>
              </a:ext>
            </a:extLst>
          </p:cNvPr>
          <p:cNvSpPr>
            <a:spLocks noGrp="1" noChangeArrowheads="1"/>
          </p:cNvSpPr>
          <p:nvPr>
            <p:ph type="title"/>
          </p:nvPr>
        </p:nvSpPr>
        <p:spPr>
          <a:xfrm>
            <a:off x="6096000" y="250166"/>
            <a:ext cx="6096000" cy="552091"/>
          </a:xfrm>
        </p:spPr>
        <p:txBody>
          <a:bodyPr>
            <a:noAutofit/>
          </a:bodyPr>
          <a:lstStyle/>
          <a:p>
            <a:pPr algn="ctr" eaLnBrk="1" hangingPunct="1"/>
            <a:r>
              <a:rPr lang="es-PE" sz="2800" b="1" dirty="0">
                <a:solidFill>
                  <a:schemeClr val="bg1"/>
                </a:solidFill>
              </a:rPr>
              <a:t>Problema 20</a:t>
            </a:r>
            <a:endParaRPr lang="es-ES" sz="2800" b="1" dirty="0">
              <a:solidFill>
                <a:schemeClr val="bg1"/>
              </a:solidFill>
            </a:endParaRPr>
          </a:p>
        </p:txBody>
      </p:sp>
      <p:sp>
        <p:nvSpPr>
          <p:cNvPr id="7" name="Rectángulo 6">
            <a:extLst>
              <a:ext uri="{FF2B5EF4-FFF2-40B4-BE49-F238E27FC236}">
                <a16:creationId xmlns:a16="http://schemas.microsoft.com/office/drawing/2014/main" id="{D1316641-9EE9-4A9E-8D2F-F99A67714A58}"/>
              </a:ext>
            </a:extLst>
          </p:cNvPr>
          <p:cNvSpPr/>
          <p:nvPr/>
        </p:nvSpPr>
        <p:spPr>
          <a:xfrm>
            <a:off x="9151410" y="5815286"/>
            <a:ext cx="3040590" cy="1077218"/>
          </a:xfrm>
          <a:prstGeom prst="rect">
            <a:avLst/>
          </a:prstGeom>
          <a:solidFill>
            <a:schemeClr val="accent3">
              <a:lumMod val="20000"/>
              <a:lumOff val="80000"/>
            </a:schemeClr>
          </a:solidFill>
        </p:spPr>
        <p:txBody>
          <a:bodyPr wrap="square">
            <a:spAutoFit/>
          </a:bodyPr>
          <a:lstStyle/>
          <a:p>
            <a:r>
              <a:rPr lang="es-PE" sz="1600" b="1" dirty="0"/>
              <a:t> 1)      240.0000</a:t>
            </a:r>
          </a:p>
          <a:p>
            <a:r>
              <a:rPr lang="es-PE" sz="1600" b="1" dirty="0"/>
              <a:t>VARIABLE  VALUE  REDUCED COST</a:t>
            </a:r>
          </a:p>
          <a:p>
            <a:r>
              <a:rPr lang="es-PE" sz="1600" b="1" dirty="0"/>
              <a:t>        </a:t>
            </a:r>
            <a:r>
              <a:rPr lang="es-PE" sz="1600" b="1" dirty="0" err="1"/>
              <a:t>X1</a:t>
            </a:r>
            <a:r>
              <a:rPr lang="es-PE" sz="1600" b="1" dirty="0"/>
              <a:t>      6.000000         0.000000</a:t>
            </a:r>
          </a:p>
          <a:p>
            <a:r>
              <a:rPr lang="es-PE" sz="1600" b="1" dirty="0"/>
              <a:t>        </a:t>
            </a:r>
            <a:r>
              <a:rPr lang="es-PE" sz="1600" b="1" dirty="0" err="1"/>
              <a:t>X2</a:t>
            </a:r>
            <a:r>
              <a:rPr lang="es-PE" sz="1600" b="1" dirty="0"/>
              <a:t>      0.000000       30.000000</a:t>
            </a:r>
          </a:p>
        </p:txBody>
      </p:sp>
      <p:sp>
        <p:nvSpPr>
          <p:cNvPr id="11" name="Rectángulo 10">
            <a:extLst>
              <a:ext uri="{FF2B5EF4-FFF2-40B4-BE49-F238E27FC236}">
                <a16:creationId xmlns:a16="http://schemas.microsoft.com/office/drawing/2014/main" id="{F1C0C7F0-6ED1-4610-BFCB-EA62DAAFCF83}"/>
              </a:ext>
            </a:extLst>
          </p:cNvPr>
          <p:cNvSpPr/>
          <p:nvPr/>
        </p:nvSpPr>
        <p:spPr>
          <a:xfrm>
            <a:off x="10092905" y="3504886"/>
            <a:ext cx="2078966" cy="2308324"/>
          </a:xfrm>
          <a:prstGeom prst="rect">
            <a:avLst/>
          </a:prstGeom>
          <a:solidFill>
            <a:srgbClr val="FFFF00"/>
          </a:solidFill>
        </p:spPr>
        <p:txBody>
          <a:bodyPr wrap="square">
            <a:spAutoFit/>
          </a:bodyPr>
          <a:lstStyle/>
          <a:p>
            <a:r>
              <a:rPr lang="es-PE" b="1" dirty="0"/>
              <a:t>Max </a:t>
            </a:r>
            <a:r>
              <a:rPr lang="es-PE" b="1" dirty="0" err="1"/>
              <a:t>40X1</a:t>
            </a:r>
            <a:r>
              <a:rPr lang="es-PE" b="1" dirty="0"/>
              <a:t> + </a:t>
            </a:r>
            <a:r>
              <a:rPr lang="es-PE" b="1" dirty="0" err="1"/>
              <a:t>18X2</a:t>
            </a:r>
            <a:endParaRPr lang="es-PE" b="1" dirty="0"/>
          </a:p>
          <a:p>
            <a:r>
              <a:rPr lang="es-PE" b="1" dirty="0" err="1"/>
              <a:t>ST</a:t>
            </a:r>
            <a:endParaRPr lang="es-PE" b="1" dirty="0"/>
          </a:p>
          <a:p>
            <a:r>
              <a:rPr lang="es-PE" b="1" dirty="0" err="1"/>
              <a:t>2X1</a:t>
            </a:r>
            <a:r>
              <a:rPr lang="es-PE" b="1" dirty="0"/>
              <a:t> + </a:t>
            </a:r>
            <a:r>
              <a:rPr lang="es-PE" b="1" dirty="0" err="1"/>
              <a:t>1X2</a:t>
            </a:r>
            <a:r>
              <a:rPr lang="es-PE" b="1" dirty="0"/>
              <a:t>&lt;=40	 </a:t>
            </a:r>
          </a:p>
          <a:p>
            <a:r>
              <a:rPr lang="es-PE" b="1" dirty="0" err="1"/>
              <a:t>5X1</a:t>
            </a:r>
            <a:r>
              <a:rPr lang="es-PE" b="1" dirty="0"/>
              <a:t> + </a:t>
            </a:r>
            <a:r>
              <a:rPr lang="es-PE" b="1" dirty="0" err="1"/>
              <a:t>6X2</a:t>
            </a:r>
            <a:r>
              <a:rPr lang="es-PE" b="1" dirty="0"/>
              <a:t>&lt;=30	 </a:t>
            </a:r>
          </a:p>
          <a:p>
            <a:r>
              <a:rPr lang="es-PE" b="1" dirty="0"/>
              <a:t>3X1 + 4X2&lt;=20</a:t>
            </a:r>
          </a:p>
          <a:p>
            <a:r>
              <a:rPr lang="en-US" b="1" dirty="0"/>
              <a:t>END</a:t>
            </a:r>
          </a:p>
          <a:p>
            <a:r>
              <a:rPr lang="en-US" b="1" dirty="0"/>
              <a:t>GIN X1</a:t>
            </a:r>
          </a:p>
          <a:p>
            <a:r>
              <a:rPr lang="en-US" b="1" dirty="0"/>
              <a:t>GIN X2</a:t>
            </a:r>
            <a:endParaRPr lang="es-PE" b="1" dirty="0"/>
          </a:p>
        </p:txBody>
      </p:sp>
    </p:spTree>
    <p:extLst>
      <p:ext uri="{BB962C8B-B14F-4D97-AF65-F5344CB8AC3E}">
        <p14:creationId xmlns:p14="http://schemas.microsoft.com/office/powerpoint/2010/main" val="888304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2" grpId="0" animBg="1"/>
      <p:bldP spid="13" grpId="0" animBg="1"/>
      <p:bldP spid="2" grpId="0"/>
      <p:bldP spid="3" grpId="0"/>
      <p:bldP spid="4" grpId="0"/>
      <p:bldP spid="7" grpId="0"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586EBB8-DE6A-5C63-9D23-BFA27B643C5B}"/>
              </a:ext>
            </a:extLst>
          </p:cNvPr>
          <p:cNvSpPr/>
          <p:nvPr/>
        </p:nvSpPr>
        <p:spPr>
          <a:xfrm>
            <a:off x="48581" y="1343972"/>
            <a:ext cx="3198928" cy="2246769"/>
          </a:xfrm>
          <a:prstGeom prst="rect">
            <a:avLst/>
          </a:prstGeom>
          <a:solidFill>
            <a:srgbClr val="FFFF00"/>
          </a:solidFill>
        </p:spPr>
        <p:txBody>
          <a:bodyPr wrap="square">
            <a:spAutoFit/>
          </a:bodyPr>
          <a:lstStyle/>
          <a:p>
            <a:r>
              <a:rPr lang="es-PE" sz="2800" b="1" dirty="0"/>
              <a:t>Max </a:t>
            </a:r>
            <a:r>
              <a:rPr lang="es-PE" sz="2800" b="1" dirty="0" err="1"/>
              <a:t>40X1</a:t>
            </a:r>
            <a:r>
              <a:rPr lang="es-PE" sz="2800" b="1" dirty="0"/>
              <a:t> + </a:t>
            </a:r>
            <a:r>
              <a:rPr lang="es-PE" sz="2800" b="1" dirty="0" err="1"/>
              <a:t>18X2</a:t>
            </a:r>
            <a:endParaRPr lang="es-PE" sz="2800" b="1" dirty="0"/>
          </a:p>
          <a:p>
            <a:r>
              <a:rPr lang="es-PE" sz="2800" b="1" dirty="0" err="1"/>
              <a:t>ST</a:t>
            </a:r>
            <a:endParaRPr lang="es-PE" sz="2800" b="1" dirty="0"/>
          </a:p>
          <a:p>
            <a:r>
              <a:rPr lang="es-PE" sz="2800" b="1" dirty="0" err="1"/>
              <a:t>2X1</a:t>
            </a:r>
            <a:r>
              <a:rPr lang="es-PE" sz="2800" b="1" dirty="0"/>
              <a:t> + </a:t>
            </a:r>
            <a:r>
              <a:rPr lang="es-PE" sz="2800" b="1" dirty="0" err="1"/>
              <a:t>1X2</a:t>
            </a:r>
            <a:r>
              <a:rPr lang="es-PE" sz="2800" b="1" dirty="0"/>
              <a:t>&lt;=40	 </a:t>
            </a:r>
          </a:p>
          <a:p>
            <a:r>
              <a:rPr lang="es-PE" sz="2800" b="1" dirty="0" err="1"/>
              <a:t>5X1</a:t>
            </a:r>
            <a:r>
              <a:rPr lang="es-PE" sz="2800" b="1" dirty="0"/>
              <a:t> + </a:t>
            </a:r>
            <a:r>
              <a:rPr lang="es-PE" sz="2800" b="1" dirty="0" err="1"/>
              <a:t>6X2</a:t>
            </a:r>
            <a:r>
              <a:rPr lang="es-PE" sz="2800" b="1" dirty="0"/>
              <a:t>&lt;=30	 </a:t>
            </a:r>
          </a:p>
          <a:p>
            <a:r>
              <a:rPr lang="es-PE" sz="2800" b="1" dirty="0" err="1"/>
              <a:t>3X1</a:t>
            </a:r>
            <a:r>
              <a:rPr lang="es-PE" sz="2800" b="1" dirty="0"/>
              <a:t> + </a:t>
            </a:r>
            <a:r>
              <a:rPr lang="es-PE" sz="2800" b="1" dirty="0" err="1"/>
              <a:t>4X2</a:t>
            </a:r>
            <a:r>
              <a:rPr lang="es-PE" sz="2800" b="1" dirty="0"/>
              <a:t>&lt;=20</a:t>
            </a:r>
          </a:p>
        </p:txBody>
      </p:sp>
      <p:sp>
        <p:nvSpPr>
          <p:cNvPr id="8" name="Rectángulo 7">
            <a:extLst>
              <a:ext uri="{FF2B5EF4-FFF2-40B4-BE49-F238E27FC236}">
                <a16:creationId xmlns:a16="http://schemas.microsoft.com/office/drawing/2014/main" id="{3927E300-C976-F0F6-A8C1-3C9D9D6E4653}"/>
              </a:ext>
            </a:extLst>
          </p:cNvPr>
          <p:cNvSpPr/>
          <p:nvPr/>
        </p:nvSpPr>
        <p:spPr>
          <a:xfrm>
            <a:off x="48581" y="3697669"/>
            <a:ext cx="4778600" cy="2246769"/>
          </a:xfrm>
          <a:prstGeom prst="rect">
            <a:avLst/>
          </a:prstGeom>
          <a:solidFill>
            <a:srgbClr val="FFFF00"/>
          </a:solidFill>
        </p:spPr>
        <p:txBody>
          <a:bodyPr wrap="square">
            <a:spAutoFit/>
          </a:bodyPr>
          <a:lstStyle/>
          <a:p>
            <a:r>
              <a:rPr lang="es-PE" sz="2800" b="1" dirty="0"/>
              <a:t>Sistema estándar</a:t>
            </a:r>
          </a:p>
          <a:p>
            <a:r>
              <a:rPr lang="es-PE" sz="2800" b="1" dirty="0"/>
              <a:t>Z-40X1 - 18X2 = 0 </a:t>
            </a:r>
          </a:p>
          <a:p>
            <a:r>
              <a:rPr lang="es-PE" sz="2800" b="1" dirty="0"/>
              <a:t>2X1 + 1X2 + S1                =40	 </a:t>
            </a:r>
          </a:p>
          <a:p>
            <a:r>
              <a:rPr lang="es-PE" sz="2800" b="1" dirty="0"/>
              <a:t>5X1 + 6X2  +        S2        =30	 </a:t>
            </a:r>
          </a:p>
          <a:p>
            <a:r>
              <a:rPr lang="es-PE" sz="2800" b="1" dirty="0"/>
              <a:t>3X1 + 4X2   +             S3  =20</a:t>
            </a:r>
          </a:p>
        </p:txBody>
      </p:sp>
      <p:graphicFrame>
        <p:nvGraphicFramePr>
          <p:cNvPr id="9" name="Tabla 8">
            <a:extLst>
              <a:ext uri="{FF2B5EF4-FFF2-40B4-BE49-F238E27FC236}">
                <a16:creationId xmlns:a16="http://schemas.microsoft.com/office/drawing/2014/main" id="{5BD0CD52-C5A4-793A-B0C1-F17F77B3F228}"/>
              </a:ext>
            </a:extLst>
          </p:cNvPr>
          <p:cNvGraphicFramePr>
            <a:graphicFrameLocks noGrp="1"/>
          </p:cNvGraphicFramePr>
          <p:nvPr/>
        </p:nvGraphicFramePr>
        <p:xfrm>
          <a:off x="4980322" y="2160403"/>
          <a:ext cx="7023100" cy="3600450"/>
        </p:xfrm>
        <a:graphic>
          <a:graphicData uri="http://schemas.openxmlformats.org/drawingml/2006/table">
            <a:tbl>
              <a:tblPr>
                <a:tableStyleId>{5C22544A-7EE6-4342-B048-85BDC9FD1C3A}</a:tableStyleId>
              </a:tblPr>
              <a:tblGrid>
                <a:gridCol w="774700">
                  <a:extLst>
                    <a:ext uri="{9D8B030D-6E8A-4147-A177-3AD203B41FA5}">
                      <a16:colId xmlns:a16="http://schemas.microsoft.com/office/drawing/2014/main" val="3869066772"/>
                    </a:ext>
                  </a:extLst>
                </a:gridCol>
                <a:gridCol w="762000">
                  <a:extLst>
                    <a:ext uri="{9D8B030D-6E8A-4147-A177-3AD203B41FA5}">
                      <a16:colId xmlns:a16="http://schemas.microsoft.com/office/drawing/2014/main" val="517997664"/>
                    </a:ext>
                  </a:extLst>
                </a:gridCol>
                <a:gridCol w="774700">
                  <a:extLst>
                    <a:ext uri="{9D8B030D-6E8A-4147-A177-3AD203B41FA5}">
                      <a16:colId xmlns:a16="http://schemas.microsoft.com/office/drawing/2014/main" val="4127478271"/>
                    </a:ext>
                  </a:extLst>
                </a:gridCol>
                <a:gridCol w="774700">
                  <a:extLst>
                    <a:ext uri="{9D8B030D-6E8A-4147-A177-3AD203B41FA5}">
                      <a16:colId xmlns:a16="http://schemas.microsoft.com/office/drawing/2014/main" val="1734183395"/>
                    </a:ext>
                  </a:extLst>
                </a:gridCol>
                <a:gridCol w="774700">
                  <a:extLst>
                    <a:ext uri="{9D8B030D-6E8A-4147-A177-3AD203B41FA5}">
                      <a16:colId xmlns:a16="http://schemas.microsoft.com/office/drawing/2014/main" val="1065462727"/>
                    </a:ext>
                  </a:extLst>
                </a:gridCol>
                <a:gridCol w="774700">
                  <a:extLst>
                    <a:ext uri="{9D8B030D-6E8A-4147-A177-3AD203B41FA5}">
                      <a16:colId xmlns:a16="http://schemas.microsoft.com/office/drawing/2014/main" val="730155940"/>
                    </a:ext>
                  </a:extLst>
                </a:gridCol>
                <a:gridCol w="774700">
                  <a:extLst>
                    <a:ext uri="{9D8B030D-6E8A-4147-A177-3AD203B41FA5}">
                      <a16:colId xmlns:a16="http://schemas.microsoft.com/office/drawing/2014/main" val="3386008242"/>
                    </a:ext>
                  </a:extLst>
                </a:gridCol>
                <a:gridCol w="838200">
                  <a:extLst>
                    <a:ext uri="{9D8B030D-6E8A-4147-A177-3AD203B41FA5}">
                      <a16:colId xmlns:a16="http://schemas.microsoft.com/office/drawing/2014/main" val="609148759"/>
                    </a:ext>
                  </a:extLst>
                </a:gridCol>
                <a:gridCol w="774700">
                  <a:extLst>
                    <a:ext uri="{9D8B030D-6E8A-4147-A177-3AD203B41FA5}">
                      <a16:colId xmlns:a16="http://schemas.microsoft.com/office/drawing/2014/main" val="1938381176"/>
                    </a:ext>
                  </a:extLst>
                </a:gridCol>
              </a:tblGrid>
              <a:tr h="333375">
                <a:tc gridSpan="2">
                  <a:txBody>
                    <a:bodyPr/>
                    <a:lstStyle/>
                    <a:p>
                      <a:pPr algn="ctr" rtl="0" fontAlgn="ctr"/>
                      <a:r>
                        <a:rPr lang="es-PE" sz="2000" u="none" strike="noStrike">
                          <a:effectLst/>
                        </a:rPr>
                        <a:t>C</a:t>
                      </a:r>
                      <a:r>
                        <a:rPr lang="es-PE" sz="2000" u="none" strike="noStrike" baseline="-25000">
                          <a:effectLst/>
                        </a:rPr>
                        <a:t>j</a:t>
                      </a:r>
                      <a:endParaRPr lang="es-PE" sz="20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2000" u="none" strike="noStrike">
                          <a:effectLst/>
                        </a:rPr>
                        <a:t>40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18</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a:t>
                      </a:r>
                      <a:endParaRPr lang="es-PE" sz="2000" b="1" i="0" u="none" strike="noStrike">
                        <a:solidFill>
                          <a:srgbClr val="000000"/>
                        </a:solidFill>
                        <a:effectLst/>
                        <a:latin typeface="Arial MT"/>
                      </a:endParaRPr>
                    </a:p>
                  </a:txBody>
                  <a:tcPr marL="0" marR="0" marT="0" marB="0" anchor="ctr"/>
                </a:tc>
                <a:extLst>
                  <a:ext uri="{0D108BD9-81ED-4DB2-BD59-A6C34878D82A}">
                    <a16:rowId xmlns:a16="http://schemas.microsoft.com/office/drawing/2014/main" val="3591256227"/>
                  </a:ext>
                </a:extLst>
              </a:tr>
              <a:tr h="371475">
                <a:tc>
                  <a:txBody>
                    <a:bodyPr/>
                    <a:lstStyle/>
                    <a:p>
                      <a:pPr algn="ctr" rtl="0" fontAlgn="ctr"/>
                      <a:r>
                        <a:rPr lang="es-PE" sz="2000" u="none" strike="noStrike" dirty="0">
                          <a:effectLst/>
                        </a:rPr>
                        <a:t>C</a:t>
                      </a:r>
                      <a:r>
                        <a:rPr lang="es-PE" sz="2000" u="none" strike="noStrike" baseline="-25000" dirty="0">
                          <a:effectLst/>
                        </a:rPr>
                        <a:t>B</a:t>
                      </a:r>
                      <a:endParaRPr lang="es-PE" sz="2000" b="1" i="0" u="none" strike="noStrike" dirty="0">
                        <a:solidFill>
                          <a:srgbClr val="000000"/>
                        </a:solidFill>
                        <a:effectLst/>
                        <a:latin typeface="Arial" panose="020B0604020202020204" pitchFamily="34" charset="0"/>
                      </a:endParaRPr>
                    </a:p>
                  </a:txBody>
                  <a:tcPr marL="0" marR="0" marT="0" marB="0" anchor="ctr">
                    <a:solidFill>
                      <a:schemeClr val="accent4">
                        <a:lumMod val="75000"/>
                      </a:schemeClr>
                    </a:solidFill>
                  </a:tcPr>
                </a:tc>
                <a:tc>
                  <a:txBody>
                    <a:bodyPr/>
                    <a:lstStyle/>
                    <a:p>
                      <a:pPr algn="ctr" rtl="0" fontAlgn="ctr"/>
                      <a:r>
                        <a:rPr lang="es-PE" sz="2000" u="none" strike="noStrike" dirty="0">
                          <a:effectLst/>
                        </a:rPr>
                        <a:t>X</a:t>
                      </a:r>
                      <a:r>
                        <a:rPr lang="es-PE" sz="2000" u="none" strike="noStrike" baseline="-25000" dirty="0">
                          <a:effectLst/>
                        </a:rPr>
                        <a:t>B</a:t>
                      </a:r>
                      <a:endParaRPr lang="es-PE" sz="2000" b="1" i="0" u="none" strike="noStrike" dirty="0">
                        <a:solidFill>
                          <a:srgbClr val="000000"/>
                        </a:solidFill>
                        <a:effectLst/>
                        <a:latin typeface="Arial" panose="020B0604020202020204" pitchFamily="34" charset="0"/>
                      </a:endParaRPr>
                    </a:p>
                  </a:txBody>
                  <a:tcPr marL="0" marR="0" marT="0" marB="0" anchor="ctr">
                    <a:solidFill>
                      <a:schemeClr val="accent4">
                        <a:lumMod val="75000"/>
                      </a:schemeClr>
                    </a:solidFill>
                  </a:tcPr>
                </a:tc>
                <a:tc>
                  <a:txBody>
                    <a:bodyPr/>
                    <a:lstStyle/>
                    <a:p>
                      <a:pPr algn="ctr" rtl="0" fontAlgn="ctr"/>
                      <a:r>
                        <a:rPr lang="es-PE" sz="2000" u="none" strike="noStrike" dirty="0">
                          <a:effectLst/>
                        </a:rPr>
                        <a:t>X</a:t>
                      </a:r>
                      <a:r>
                        <a:rPr lang="es-PE" sz="2000" u="none" strike="noStrike" baseline="-25000" dirty="0">
                          <a:effectLst/>
                        </a:rPr>
                        <a:t>1</a:t>
                      </a:r>
                      <a:endParaRPr lang="es-PE" sz="2000" b="1" i="0" u="none" strike="noStrike" dirty="0">
                        <a:solidFill>
                          <a:srgbClr val="000000"/>
                        </a:solidFill>
                        <a:effectLst/>
                        <a:latin typeface="Arial" panose="020B0604020202020204" pitchFamily="34" charset="0"/>
                      </a:endParaRPr>
                    </a:p>
                  </a:txBody>
                  <a:tcPr marL="0" marR="0" marT="0" marB="0" anchor="ctr">
                    <a:solidFill>
                      <a:schemeClr val="accent4">
                        <a:lumMod val="75000"/>
                      </a:schemeClr>
                    </a:solidFill>
                  </a:tcPr>
                </a:tc>
                <a:tc>
                  <a:txBody>
                    <a:bodyPr/>
                    <a:lstStyle/>
                    <a:p>
                      <a:pPr algn="ctr" rtl="0" fontAlgn="ctr"/>
                      <a:r>
                        <a:rPr lang="es-PE" sz="2000" u="none" strike="noStrike" dirty="0">
                          <a:effectLst/>
                        </a:rPr>
                        <a:t>X</a:t>
                      </a:r>
                      <a:r>
                        <a:rPr lang="es-PE" sz="2000" u="none" strike="noStrike" baseline="-25000" dirty="0">
                          <a:effectLst/>
                        </a:rPr>
                        <a:t>2</a:t>
                      </a:r>
                      <a:endParaRPr lang="es-PE" sz="2000" b="1" i="0" u="none" strike="noStrike" dirty="0">
                        <a:solidFill>
                          <a:srgbClr val="000000"/>
                        </a:solidFill>
                        <a:effectLst/>
                        <a:latin typeface="Arial" panose="020B0604020202020204" pitchFamily="34" charset="0"/>
                      </a:endParaRPr>
                    </a:p>
                  </a:txBody>
                  <a:tcPr marL="0" marR="0" marT="0" marB="0" anchor="ctr">
                    <a:solidFill>
                      <a:schemeClr val="accent4">
                        <a:lumMod val="75000"/>
                      </a:schemeClr>
                    </a:solidFill>
                  </a:tcPr>
                </a:tc>
                <a:tc>
                  <a:txBody>
                    <a:bodyPr/>
                    <a:lstStyle/>
                    <a:p>
                      <a:pPr algn="ctr" rtl="0" fontAlgn="ctr"/>
                      <a:r>
                        <a:rPr lang="es-PE" sz="2000" u="none" strike="noStrike" dirty="0">
                          <a:effectLst/>
                        </a:rPr>
                        <a:t>S</a:t>
                      </a:r>
                      <a:r>
                        <a:rPr lang="es-PE" sz="2000" u="none" strike="noStrike" baseline="-25000" dirty="0">
                          <a:effectLst/>
                        </a:rPr>
                        <a:t>1</a:t>
                      </a:r>
                      <a:endParaRPr lang="es-PE" sz="2000" b="1" i="0" u="none" strike="noStrike" dirty="0">
                        <a:solidFill>
                          <a:srgbClr val="000000"/>
                        </a:solidFill>
                        <a:effectLst/>
                        <a:latin typeface="Arial" panose="020B0604020202020204" pitchFamily="34" charset="0"/>
                      </a:endParaRPr>
                    </a:p>
                  </a:txBody>
                  <a:tcPr marL="0" marR="0" marT="0" marB="0" anchor="ctr">
                    <a:solidFill>
                      <a:schemeClr val="accent4">
                        <a:lumMod val="75000"/>
                      </a:schemeClr>
                    </a:solidFill>
                  </a:tcPr>
                </a:tc>
                <a:tc>
                  <a:txBody>
                    <a:bodyPr/>
                    <a:lstStyle/>
                    <a:p>
                      <a:pPr algn="ctr" rtl="0" fontAlgn="ctr"/>
                      <a:r>
                        <a:rPr lang="es-PE" sz="2000" u="none" strike="noStrike" dirty="0">
                          <a:effectLst/>
                        </a:rPr>
                        <a:t>S</a:t>
                      </a:r>
                      <a:r>
                        <a:rPr lang="es-PE" sz="2000" u="none" strike="noStrike" baseline="-25000" dirty="0">
                          <a:effectLst/>
                        </a:rPr>
                        <a:t>2</a:t>
                      </a:r>
                      <a:endParaRPr lang="es-PE" sz="2000" b="1" i="0" u="none" strike="noStrike" dirty="0">
                        <a:solidFill>
                          <a:srgbClr val="000000"/>
                        </a:solidFill>
                        <a:effectLst/>
                        <a:latin typeface="Arial" panose="020B0604020202020204" pitchFamily="34" charset="0"/>
                      </a:endParaRPr>
                    </a:p>
                  </a:txBody>
                  <a:tcPr marL="0" marR="0" marT="0" marB="0" anchor="ctr">
                    <a:solidFill>
                      <a:schemeClr val="accent4">
                        <a:lumMod val="75000"/>
                      </a:schemeClr>
                    </a:solidFill>
                  </a:tcPr>
                </a:tc>
                <a:tc>
                  <a:txBody>
                    <a:bodyPr/>
                    <a:lstStyle/>
                    <a:p>
                      <a:pPr algn="ctr" rtl="0" fontAlgn="ctr"/>
                      <a:r>
                        <a:rPr lang="es-PE" sz="2000" u="none" strike="noStrike" dirty="0">
                          <a:effectLst/>
                        </a:rPr>
                        <a:t>S</a:t>
                      </a:r>
                      <a:r>
                        <a:rPr lang="es-PE" sz="2000" u="none" strike="noStrike" baseline="-25000" dirty="0">
                          <a:effectLst/>
                        </a:rPr>
                        <a:t>3</a:t>
                      </a:r>
                      <a:endParaRPr lang="es-PE" sz="2000" b="1" i="0" u="none" strike="noStrike" dirty="0">
                        <a:solidFill>
                          <a:srgbClr val="000000"/>
                        </a:solidFill>
                        <a:effectLst/>
                        <a:latin typeface="Arial" panose="020B0604020202020204" pitchFamily="34" charset="0"/>
                      </a:endParaRPr>
                    </a:p>
                  </a:txBody>
                  <a:tcPr marL="0" marR="0" marT="0" marB="0" anchor="ctr">
                    <a:solidFill>
                      <a:schemeClr val="accent4">
                        <a:lumMod val="75000"/>
                      </a:schemeClr>
                    </a:solidFill>
                  </a:tcPr>
                </a:tc>
                <a:tc rowSpan="2">
                  <a:txBody>
                    <a:bodyPr/>
                    <a:lstStyle/>
                    <a:p>
                      <a:pPr algn="ctr" rtl="0" fontAlgn="ctr"/>
                      <a:r>
                        <a:rPr lang="es-PE" sz="2000" u="none" strike="noStrike" dirty="0">
                          <a:effectLst/>
                        </a:rPr>
                        <a:t>B</a:t>
                      </a:r>
                      <a:r>
                        <a:rPr lang="es-PE" sz="2000" u="none" strike="noStrike" baseline="-25000" dirty="0">
                          <a:effectLst/>
                        </a:rPr>
                        <a:t>i</a:t>
                      </a:r>
                      <a:endParaRPr lang="es-PE" sz="2000" b="1" i="0" u="none" strike="noStrike" dirty="0">
                        <a:solidFill>
                          <a:srgbClr val="000000"/>
                        </a:solidFill>
                        <a:effectLst/>
                        <a:latin typeface="Arial" panose="020B0604020202020204" pitchFamily="34" charset="0"/>
                      </a:endParaRPr>
                    </a:p>
                  </a:txBody>
                  <a:tcPr marL="0" marR="0" marT="0" marB="0" anchor="ctr">
                    <a:solidFill>
                      <a:schemeClr val="accent4">
                        <a:lumMod val="75000"/>
                      </a:schemeClr>
                    </a:solidFill>
                  </a:tcPr>
                </a:tc>
                <a:tc rowSpan="2">
                  <a:txBody>
                    <a:bodyPr/>
                    <a:lstStyle/>
                    <a:p>
                      <a:pPr algn="ctr" rtl="0" fontAlgn="ctr"/>
                      <a:r>
                        <a:rPr lang="es-PE" sz="2000" u="none" strike="noStrike" dirty="0" err="1">
                          <a:effectLst/>
                        </a:rPr>
                        <a:t>Ɵ</a:t>
                      </a:r>
                      <a:r>
                        <a:rPr lang="es-PE" sz="2000" u="none" strike="noStrike" baseline="-25000" dirty="0" err="1">
                          <a:effectLst/>
                        </a:rPr>
                        <a:t>i</a:t>
                      </a:r>
                      <a:endParaRPr lang="es-PE" sz="2000" b="1" i="0" u="none" strike="noStrike" dirty="0">
                        <a:solidFill>
                          <a:srgbClr val="000000"/>
                        </a:solidFill>
                        <a:effectLst/>
                        <a:latin typeface="Calibri" panose="020F0502020204030204" pitchFamily="34" charset="0"/>
                      </a:endParaRPr>
                    </a:p>
                  </a:txBody>
                  <a:tcPr marL="0" marR="0" marT="0" marB="0" anchor="ctr">
                    <a:solidFill>
                      <a:schemeClr val="accent4">
                        <a:lumMod val="75000"/>
                      </a:schemeClr>
                    </a:solidFill>
                  </a:tcPr>
                </a:tc>
                <a:extLst>
                  <a:ext uri="{0D108BD9-81ED-4DB2-BD59-A6C34878D82A}">
                    <a16:rowId xmlns:a16="http://schemas.microsoft.com/office/drawing/2014/main" val="1482436297"/>
                  </a:ext>
                </a:extLst>
              </a:tr>
              <a:tr h="333375">
                <a:tc gridSpan="2">
                  <a:txBody>
                    <a:bodyPr/>
                    <a:lstStyle/>
                    <a:p>
                      <a:pPr algn="ctr" rtl="0" fontAlgn="ctr"/>
                      <a:r>
                        <a:rPr lang="es-PE" sz="2000" u="none" strike="noStrike">
                          <a:effectLst/>
                        </a:rPr>
                        <a:t>Z</a:t>
                      </a:r>
                      <a:endParaRPr lang="es-PE" sz="20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2000" u="none" strike="noStrike">
                          <a:effectLst/>
                        </a:rPr>
                        <a:t>-40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-18</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val="1896477828"/>
                  </a:ext>
                </a:extLst>
              </a:tr>
              <a:tr h="371475">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1</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40</a:t>
                      </a:r>
                      <a:endParaRPr lang="es-PE" sz="2000" b="1"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20.00</a:t>
                      </a:r>
                      <a:endParaRPr lang="es-PE" sz="2000" b="1"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743050413"/>
                  </a:ext>
                </a:extLst>
              </a:tr>
              <a:tr h="371475">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2</a:t>
                      </a:r>
                      <a:endParaRPr lang="es-PE" sz="2000" b="1" i="0" u="none" strike="noStrike">
                        <a:solidFill>
                          <a:srgbClr val="000000"/>
                        </a:solidFill>
                        <a:effectLst/>
                        <a:latin typeface="Arial MT"/>
                      </a:endParaRPr>
                    </a:p>
                  </a:txBody>
                  <a:tcPr marL="0" marR="0" marT="0" marB="0" anchor="ctr"/>
                </a:tc>
                <a:tc>
                  <a:txBody>
                    <a:bodyPr/>
                    <a:lstStyle/>
                    <a:p>
                      <a:pPr algn="l" fontAlgn="b"/>
                      <a:r>
                        <a:rPr lang="es-PE" sz="2000" u="none" strike="noStrike">
                          <a:effectLst/>
                        </a:rPr>
                        <a:t>5</a:t>
                      </a:r>
                      <a:endParaRPr lang="es-PE" sz="1100" b="0" i="0" u="none" strike="noStrike">
                        <a:solidFill>
                          <a:srgbClr val="000000"/>
                        </a:solidFill>
                        <a:effectLst/>
                        <a:latin typeface="Calibri" panose="020F0502020204030204" pitchFamily="34" charset="0"/>
                      </a:endParaRPr>
                    </a:p>
                  </a:txBody>
                  <a:tcPr marL="0" marR="0" marT="0" marB="0" anchor="ctr"/>
                </a:tc>
                <a:tc>
                  <a:txBody>
                    <a:bodyPr/>
                    <a:lstStyle/>
                    <a:p>
                      <a:pPr algn="ctr" rtl="0" fontAlgn="ctr"/>
                      <a:r>
                        <a:rPr lang="es-PE" sz="2000" u="none" strike="noStrike">
                          <a:effectLst/>
                        </a:rPr>
                        <a:t>6</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30</a:t>
                      </a:r>
                      <a:endParaRPr lang="es-PE" sz="2000" b="1"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6.00</a:t>
                      </a:r>
                      <a:endParaRPr lang="es-PE" sz="2000" b="1"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164300381"/>
                  </a:ext>
                </a:extLst>
              </a:tr>
              <a:tr h="371475">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3</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3</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4</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20</a:t>
                      </a:r>
                      <a:endParaRPr lang="es-PE" sz="2000" b="1" i="0" u="none" strike="noStrike">
                        <a:solidFill>
                          <a:srgbClr val="000000"/>
                        </a:solidFill>
                        <a:effectLst/>
                        <a:latin typeface="Arial MT"/>
                      </a:endParaRPr>
                    </a:p>
                  </a:txBody>
                  <a:tcPr marL="0" marR="0" marT="0" marB="0" anchor="ctr"/>
                </a:tc>
                <a:tc>
                  <a:txBody>
                    <a:bodyPr/>
                    <a:lstStyle/>
                    <a:p>
                      <a:pPr algn="r" fontAlgn="t"/>
                      <a:r>
                        <a:rPr lang="es-PE" sz="2000" u="none" strike="noStrike">
                          <a:effectLst/>
                        </a:rPr>
                        <a:t>6.67</a:t>
                      </a:r>
                      <a:endParaRPr lang="es-PE" sz="2000" b="1"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054878270"/>
                  </a:ext>
                </a:extLst>
              </a:tr>
              <a:tr h="333375">
                <a:tc gridSpan="2">
                  <a:txBody>
                    <a:bodyPr/>
                    <a:lstStyle/>
                    <a:p>
                      <a:pPr algn="ctr" rtl="0" fontAlgn="ctr"/>
                      <a:r>
                        <a:rPr lang="es-PE" sz="2000" u="none" strike="noStrike">
                          <a:effectLst/>
                        </a:rPr>
                        <a:t>Z</a:t>
                      </a:r>
                      <a:endParaRPr lang="es-PE" sz="2000" b="1" i="0" u="none" strike="noStrike">
                        <a:solidFill>
                          <a:srgbClr val="000000"/>
                        </a:solidFill>
                        <a:effectLst/>
                        <a:latin typeface="Arial" panose="020B0604020202020204" pitchFamily="34" charset="0"/>
                      </a:endParaRPr>
                    </a:p>
                  </a:txBody>
                  <a:tcPr marL="0" marR="0" marT="0" marB="0" anchor="ctr"/>
                </a:tc>
                <a:tc hMerge="1">
                  <a:txBody>
                    <a:bodyPr/>
                    <a:lstStyle/>
                    <a:p>
                      <a:endParaRPr lang="es-PE"/>
                    </a:p>
                  </a:txBody>
                  <a:tcP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30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8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240    </a:t>
                      </a:r>
                      <a:endParaRPr lang="es-PE" sz="2000" b="1" i="0" u="none" strike="noStrike">
                        <a:solidFill>
                          <a:srgbClr val="000000"/>
                        </a:solidFill>
                        <a:effectLst/>
                        <a:latin typeface="Arial MT"/>
                      </a:endParaRPr>
                    </a:p>
                  </a:txBody>
                  <a:tcPr marL="0" marR="0" marT="0" marB="0" anchor="ctr"/>
                </a:tc>
                <a:tc>
                  <a:txBody>
                    <a:bodyPr/>
                    <a:lstStyle/>
                    <a:p>
                      <a:pPr algn="l" fontAlgn="t"/>
                      <a:r>
                        <a:rPr lang="es-PE" sz="2000" u="none" strike="noStrike">
                          <a:effectLst/>
                        </a:rPr>
                        <a:t> </a:t>
                      </a:r>
                      <a:endParaRPr lang="es-PE" sz="2000" b="1"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939976998"/>
                  </a:ext>
                </a:extLst>
              </a:tr>
              <a:tr h="371475">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1</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2/5</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- 2/5</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28    </a:t>
                      </a:r>
                      <a:endParaRPr lang="es-PE" sz="2000" b="1" i="0" u="none" strike="noStrike">
                        <a:solidFill>
                          <a:srgbClr val="000000"/>
                        </a:solidFill>
                        <a:effectLst/>
                        <a:latin typeface="Arial MT"/>
                      </a:endParaRPr>
                    </a:p>
                  </a:txBody>
                  <a:tcPr marL="0" marR="0" marT="0" marB="0" anchor="ctr"/>
                </a:tc>
                <a:tc>
                  <a:txBody>
                    <a:bodyPr/>
                    <a:lstStyle/>
                    <a:p>
                      <a:pPr algn="l" fontAlgn="t"/>
                      <a:r>
                        <a:rPr lang="es-PE" sz="2000" u="none" strike="noStrike">
                          <a:effectLst/>
                        </a:rPr>
                        <a:t> </a:t>
                      </a:r>
                      <a:endParaRPr lang="es-PE" sz="2000" b="1"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734857586"/>
                  </a:ext>
                </a:extLst>
              </a:tr>
              <a:tr h="371475">
                <a:tc>
                  <a:txBody>
                    <a:bodyPr/>
                    <a:lstStyle/>
                    <a:p>
                      <a:pPr algn="ctr" rtl="0" fontAlgn="ctr"/>
                      <a:r>
                        <a:rPr lang="es-PE" sz="2000" u="none" strike="noStrike">
                          <a:effectLst/>
                        </a:rPr>
                        <a:t>40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X</a:t>
                      </a:r>
                      <a:r>
                        <a:rPr lang="es-PE" sz="2000" u="none" strike="noStrike" baseline="-25000">
                          <a:effectLst/>
                        </a:rPr>
                        <a:t>1</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1/5</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1/5</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6    </a:t>
                      </a:r>
                      <a:endParaRPr lang="es-PE" sz="2000" b="1" i="0" u="none" strike="noStrike">
                        <a:solidFill>
                          <a:srgbClr val="000000"/>
                        </a:solidFill>
                        <a:effectLst/>
                        <a:latin typeface="Arial MT"/>
                      </a:endParaRPr>
                    </a:p>
                  </a:txBody>
                  <a:tcPr marL="0" marR="0" marT="0" marB="0" anchor="ctr"/>
                </a:tc>
                <a:tc>
                  <a:txBody>
                    <a:bodyPr/>
                    <a:lstStyle/>
                    <a:p>
                      <a:pPr algn="l" fontAlgn="t"/>
                      <a:r>
                        <a:rPr lang="es-PE" sz="2000" u="none" strike="noStrike">
                          <a:effectLst/>
                        </a:rPr>
                        <a:t> </a:t>
                      </a:r>
                      <a:endParaRPr lang="es-PE" sz="2000" b="1" i="0" u="none" strike="noStrike">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031382933"/>
                  </a:ext>
                </a:extLst>
              </a:tr>
              <a:tr h="371475">
                <a:tc>
                  <a:txBody>
                    <a:bodyPr/>
                    <a:lstStyle/>
                    <a:p>
                      <a:pPr algn="ctr" rtl="0" fontAlgn="ctr"/>
                      <a:r>
                        <a:rPr lang="es-PE" sz="2000" u="none" strike="noStrike">
                          <a:effectLst/>
                        </a:rPr>
                        <a:t>0</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s</a:t>
                      </a:r>
                      <a:r>
                        <a:rPr lang="es-PE" sz="2000" u="none" strike="noStrike" baseline="-25000">
                          <a:effectLst/>
                        </a:rPr>
                        <a:t>3</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2/5</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0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- 3/5</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1    </a:t>
                      </a:r>
                      <a:endParaRPr lang="es-PE" sz="2000" b="1" i="0" u="none" strike="noStrike">
                        <a:solidFill>
                          <a:srgbClr val="000000"/>
                        </a:solidFill>
                        <a:effectLst/>
                        <a:latin typeface="Arial MT"/>
                      </a:endParaRPr>
                    </a:p>
                  </a:txBody>
                  <a:tcPr marL="0" marR="0" marT="0" marB="0" anchor="ctr"/>
                </a:tc>
                <a:tc>
                  <a:txBody>
                    <a:bodyPr/>
                    <a:lstStyle/>
                    <a:p>
                      <a:pPr algn="ctr" rtl="0" fontAlgn="ctr"/>
                      <a:r>
                        <a:rPr lang="es-PE" sz="2000" u="none" strike="noStrike">
                          <a:effectLst/>
                        </a:rPr>
                        <a:t>2    </a:t>
                      </a:r>
                      <a:endParaRPr lang="es-PE" sz="2000" b="1" i="0" u="none" strike="noStrike">
                        <a:solidFill>
                          <a:srgbClr val="000000"/>
                        </a:solidFill>
                        <a:effectLst/>
                        <a:latin typeface="Arial MT"/>
                      </a:endParaRPr>
                    </a:p>
                  </a:txBody>
                  <a:tcPr marL="0" marR="0" marT="0" marB="0" anchor="ctr"/>
                </a:tc>
                <a:tc>
                  <a:txBody>
                    <a:bodyPr/>
                    <a:lstStyle/>
                    <a:p>
                      <a:pPr algn="l" fontAlgn="t"/>
                      <a:r>
                        <a:rPr lang="es-PE" sz="2000" u="none" strike="noStrike" dirty="0">
                          <a:effectLst/>
                        </a:rPr>
                        <a:t> </a:t>
                      </a:r>
                      <a:endParaRPr lang="es-PE" sz="2000" b="1"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750108342"/>
                  </a:ext>
                </a:extLst>
              </a:tr>
            </a:tbl>
          </a:graphicData>
        </a:graphic>
      </p:graphicFrame>
      <p:sp>
        <p:nvSpPr>
          <p:cNvPr id="10" name="Elipse 9">
            <a:extLst>
              <a:ext uri="{FF2B5EF4-FFF2-40B4-BE49-F238E27FC236}">
                <a16:creationId xmlns:a16="http://schemas.microsoft.com/office/drawing/2014/main" id="{F7A67611-1FF9-4677-8AC2-256EB42102A1}"/>
              </a:ext>
            </a:extLst>
          </p:cNvPr>
          <p:cNvSpPr/>
          <p:nvPr/>
        </p:nvSpPr>
        <p:spPr>
          <a:xfrm>
            <a:off x="6712285" y="3590741"/>
            <a:ext cx="320675" cy="2905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1100"/>
          </a:p>
        </p:txBody>
      </p:sp>
    </p:spTree>
    <p:extLst>
      <p:ext uri="{BB962C8B-B14F-4D97-AF65-F5344CB8AC3E}">
        <p14:creationId xmlns:p14="http://schemas.microsoft.com/office/powerpoint/2010/main" val="171861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A056F324-3235-493C-BF94-7C18B5A5C947}"/>
              </a:ext>
            </a:extLst>
          </p:cNvPr>
          <p:cNvSpPr txBox="1"/>
          <p:nvPr/>
        </p:nvSpPr>
        <p:spPr>
          <a:xfrm>
            <a:off x="234850" y="1321421"/>
            <a:ext cx="5814886" cy="1200329"/>
          </a:xfrm>
          <a:prstGeom prst="rect">
            <a:avLst/>
          </a:prstGeom>
          <a:noFill/>
        </p:spPr>
        <p:txBody>
          <a:bodyPr wrap="square" rtlCol="0">
            <a:spAutoFit/>
          </a:bodyPr>
          <a:lstStyle/>
          <a:p>
            <a:pPr algn="just"/>
            <a:r>
              <a:rPr lang="es-PE" sz="1800" b="1" dirty="0">
                <a:effectLst/>
                <a:latin typeface="Tahoma" panose="020B0604030504040204" pitchFamily="34" charset="0"/>
                <a:ea typeface="Calibri" panose="020F0502020204030204" pitchFamily="34" charset="0"/>
                <a:cs typeface="Times New Roman" panose="02020603050405020304" pitchFamily="18" charset="0"/>
              </a:rPr>
              <a:t>CC fabrica carros compactos y subcompactos.  La producción de cada carro requiere una cierta cantidad de materia prima y mano de obra, como se especifica en la siguiente tabla:</a:t>
            </a:r>
            <a:endParaRPr lang="es-PE" b="1" dirty="0"/>
          </a:p>
        </p:txBody>
      </p:sp>
      <p:pic>
        <p:nvPicPr>
          <p:cNvPr id="11" name="Imagen 10" descr="Tabla&#10;&#10;Descripción generada automáticamente">
            <a:extLst>
              <a:ext uri="{FF2B5EF4-FFF2-40B4-BE49-F238E27FC236}">
                <a16:creationId xmlns:a16="http://schemas.microsoft.com/office/drawing/2014/main" id="{836B7739-22E3-4D12-8D66-9537D392DA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458" y="2521750"/>
            <a:ext cx="5802082" cy="2103727"/>
          </a:xfrm>
          <a:prstGeom prst="rect">
            <a:avLst/>
          </a:prstGeom>
        </p:spPr>
      </p:pic>
      <p:sp>
        <p:nvSpPr>
          <p:cNvPr id="12" name="CuadroTexto 11">
            <a:extLst>
              <a:ext uri="{FF2B5EF4-FFF2-40B4-BE49-F238E27FC236}">
                <a16:creationId xmlns:a16="http://schemas.microsoft.com/office/drawing/2014/main" id="{DA04F3B0-ED79-4DB8-B6CB-AB2672221CE3}"/>
              </a:ext>
            </a:extLst>
          </p:cNvPr>
          <p:cNvSpPr txBox="1"/>
          <p:nvPr/>
        </p:nvSpPr>
        <p:spPr>
          <a:xfrm>
            <a:off x="248470" y="4570778"/>
            <a:ext cx="5744116" cy="2308324"/>
          </a:xfrm>
          <a:prstGeom prst="rect">
            <a:avLst/>
          </a:prstGeom>
          <a:noFill/>
        </p:spPr>
        <p:txBody>
          <a:bodyPr wrap="square" rtlCol="0">
            <a:spAutoFit/>
          </a:bodyPr>
          <a:lstStyle/>
          <a:p>
            <a:pPr algn="just"/>
            <a:r>
              <a:rPr lang="es-PE" sz="1800" b="1" dirty="0">
                <a:effectLst/>
                <a:latin typeface="Tahoma" panose="020B0604030504040204" pitchFamily="34" charset="0"/>
                <a:ea typeface="Calibri" panose="020F0502020204030204" pitchFamily="34" charset="0"/>
                <a:cs typeface="Times New Roman" panose="02020603050405020304" pitchFamily="18" charset="0"/>
              </a:rPr>
              <a:t>La división de comercialización ha estimado que a lo más 1,500 compactos pueden venderse a $10,000 cada uno y que a lo más 200 subcompactos pueden venderse a $8,000 cada uno.  Como Vicepresidente de programación, formule un modelo para determinar la cantidad a fabricar de cada tipo de carro para maximizar la ganancia total.</a:t>
            </a:r>
            <a:endParaRPr lang="es-PE" b="1" dirty="0"/>
          </a:p>
        </p:txBody>
      </p:sp>
      <p:sp>
        <p:nvSpPr>
          <p:cNvPr id="6" name="Rectangle 2">
            <a:extLst>
              <a:ext uri="{FF2B5EF4-FFF2-40B4-BE49-F238E27FC236}">
                <a16:creationId xmlns:a16="http://schemas.microsoft.com/office/drawing/2014/main" id="{44AFB4F3-AFCE-4453-95A4-E717AF654A28}"/>
              </a:ext>
            </a:extLst>
          </p:cNvPr>
          <p:cNvSpPr>
            <a:spLocks noGrp="1" noChangeArrowheads="1"/>
          </p:cNvSpPr>
          <p:nvPr>
            <p:ph type="title"/>
          </p:nvPr>
        </p:nvSpPr>
        <p:spPr>
          <a:xfrm>
            <a:off x="6096000" y="250166"/>
            <a:ext cx="6096000" cy="552091"/>
          </a:xfrm>
        </p:spPr>
        <p:txBody>
          <a:bodyPr>
            <a:noAutofit/>
          </a:bodyPr>
          <a:lstStyle/>
          <a:p>
            <a:pPr algn="ctr" eaLnBrk="1" hangingPunct="1"/>
            <a:r>
              <a:rPr lang="es-PE" sz="2800" b="1" dirty="0">
                <a:solidFill>
                  <a:schemeClr val="bg1"/>
                </a:solidFill>
              </a:rPr>
              <a:t>Problema 21</a:t>
            </a:r>
            <a:endParaRPr lang="es-ES" sz="2800" b="1" dirty="0">
              <a:solidFill>
                <a:schemeClr val="bg1"/>
              </a:solidFill>
            </a:endParaRPr>
          </a:p>
        </p:txBody>
      </p:sp>
      <p:sp>
        <p:nvSpPr>
          <p:cNvPr id="7" name="Rectángulo 6">
            <a:extLst>
              <a:ext uri="{FF2B5EF4-FFF2-40B4-BE49-F238E27FC236}">
                <a16:creationId xmlns:a16="http://schemas.microsoft.com/office/drawing/2014/main" id="{0EAABD8C-A92D-46D2-BA4C-60217E9C0C51}"/>
              </a:ext>
            </a:extLst>
          </p:cNvPr>
          <p:cNvSpPr/>
          <p:nvPr/>
        </p:nvSpPr>
        <p:spPr>
          <a:xfrm>
            <a:off x="6062540" y="1136755"/>
            <a:ext cx="6060621" cy="1200329"/>
          </a:xfrm>
          <a:prstGeom prst="rect">
            <a:avLst/>
          </a:prstGeom>
        </p:spPr>
        <p:txBody>
          <a:bodyPr wrap="square">
            <a:spAutoFit/>
          </a:bodyPr>
          <a:lstStyle/>
          <a:p>
            <a:pPr algn="just">
              <a:spcAft>
                <a:spcPts val="0"/>
              </a:spcAft>
            </a:pPr>
            <a:r>
              <a:rPr lang="es-PE" sz="2400" b="1" dirty="0">
                <a:latin typeface="Arial Narrow" panose="020B0606020202030204" pitchFamily="34" charset="0"/>
                <a:ea typeface="Calibri" panose="020F0502020204030204" pitchFamily="34" charset="0"/>
              </a:rPr>
              <a:t>Cálculos previos:</a:t>
            </a:r>
          </a:p>
          <a:p>
            <a:pPr algn="just">
              <a:spcAft>
                <a:spcPts val="0"/>
              </a:spcAft>
            </a:pPr>
            <a:r>
              <a:rPr lang="es-PE" sz="2400" b="1" dirty="0">
                <a:latin typeface="Arial Narrow" panose="020B0606020202030204" pitchFamily="34" charset="0"/>
                <a:ea typeface="Calibri" panose="020F0502020204030204" pitchFamily="34" charset="0"/>
              </a:rPr>
              <a:t>Utilidad CC: U=10000-[(200)(10)+(18)(70)]=6740</a:t>
            </a:r>
          </a:p>
          <a:p>
            <a:pPr algn="just">
              <a:spcAft>
                <a:spcPts val="0"/>
              </a:spcAft>
            </a:pPr>
            <a:r>
              <a:rPr lang="es-PE" sz="2400" b="1" dirty="0">
                <a:latin typeface="Arial Narrow" panose="020B0606020202030204" pitchFamily="34" charset="0"/>
                <a:ea typeface="Calibri" panose="020F0502020204030204" pitchFamily="34" charset="0"/>
              </a:rPr>
              <a:t>Utilidad CS: U= 8000-[(150)(10)+(20)(70)]=5100</a:t>
            </a:r>
          </a:p>
        </p:txBody>
      </p:sp>
      <p:sp>
        <p:nvSpPr>
          <p:cNvPr id="10" name="Rectángulo 9">
            <a:extLst>
              <a:ext uri="{FF2B5EF4-FFF2-40B4-BE49-F238E27FC236}">
                <a16:creationId xmlns:a16="http://schemas.microsoft.com/office/drawing/2014/main" id="{5E03DB08-8A2D-4186-910B-D3E1C87700E4}"/>
              </a:ext>
            </a:extLst>
          </p:cNvPr>
          <p:cNvSpPr/>
          <p:nvPr/>
        </p:nvSpPr>
        <p:spPr>
          <a:xfrm>
            <a:off x="6196694" y="2222841"/>
            <a:ext cx="5647977" cy="1200329"/>
          </a:xfrm>
          <a:prstGeom prst="rect">
            <a:avLst/>
          </a:prstGeom>
          <a:solidFill>
            <a:srgbClr val="FFCC66"/>
          </a:solidFill>
        </p:spPr>
        <p:txBody>
          <a:bodyPr wrap="square">
            <a:spAutoFit/>
          </a:bodyPr>
          <a:lstStyle/>
          <a:p>
            <a:r>
              <a:rPr lang="es-PE" sz="2400" b="1" dirty="0">
                <a:solidFill>
                  <a:srgbClr val="FF0000"/>
                </a:solidFill>
              </a:rPr>
              <a:t>I.   Identificación de variables</a:t>
            </a:r>
          </a:p>
          <a:p>
            <a:r>
              <a:rPr lang="es-PE" sz="2400" b="1" dirty="0"/>
              <a:t>X1 =# de carros compacto por fabricar </a:t>
            </a:r>
          </a:p>
          <a:p>
            <a:r>
              <a:rPr lang="es-PE" sz="2400" b="1" dirty="0"/>
              <a:t>X2 =# de carros subcompacto por fabricar</a:t>
            </a:r>
          </a:p>
        </p:txBody>
      </p:sp>
      <p:sp>
        <p:nvSpPr>
          <p:cNvPr id="13" name="Rectángulo 12">
            <a:extLst>
              <a:ext uri="{FF2B5EF4-FFF2-40B4-BE49-F238E27FC236}">
                <a16:creationId xmlns:a16="http://schemas.microsoft.com/office/drawing/2014/main" id="{959E8E8E-EC70-4FD0-A5A6-95BACA53039F}"/>
              </a:ext>
            </a:extLst>
          </p:cNvPr>
          <p:cNvSpPr/>
          <p:nvPr/>
        </p:nvSpPr>
        <p:spPr>
          <a:xfrm>
            <a:off x="6196694" y="3398734"/>
            <a:ext cx="5405858" cy="707886"/>
          </a:xfrm>
          <a:prstGeom prst="rect">
            <a:avLst/>
          </a:prstGeom>
          <a:solidFill>
            <a:srgbClr val="FFCC66"/>
          </a:solidFill>
        </p:spPr>
        <p:txBody>
          <a:bodyPr wrap="square">
            <a:spAutoFit/>
          </a:bodyPr>
          <a:lstStyle/>
          <a:p>
            <a:r>
              <a:rPr lang="es-PE" sz="2000" b="1" dirty="0">
                <a:solidFill>
                  <a:srgbClr val="FF0000"/>
                </a:solidFill>
              </a:rPr>
              <a:t>II.  Identificación de la F. Objetivo</a:t>
            </a:r>
          </a:p>
          <a:p>
            <a:r>
              <a:rPr lang="es-PE" sz="2000" b="1" dirty="0"/>
              <a:t>      MAX  </a:t>
            </a:r>
            <a:r>
              <a:rPr lang="es-PE" sz="2000" b="1" dirty="0" err="1"/>
              <a:t>6740X1</a:t>
            </a:r>
            <a:r>
              <a:rPr lang="es-PE" sz="2000" b="1" dirty="0"/>
              <a:t> + </a:t>
            </a:r>
            <a:r>
              <a:rPr lang="es-PE" sz="2000" b="1" dirty="0" err="1"/>
              <a:t>5100X2</a:t>
            </a:r>
            <a:endParaRPr lang="es-PE" sz="2000" b="1" dirty="0"/>
          </a:p>
        </p:txBody>
      </p:sp>
      <p:sp>
        <p:nvSpPr>
          <p:cNvPr id="14" name="Rectángulo 13">
            <a:extLst>
              <a:ext uri="{FF2B5EF4-FFF2-40B4-BE49-F238E27FC236}">
                <a16:creationId xmlns:a16="http://schemas.microsoft.com/office/drawing/2014/main" id="{00704BF9-F498-46AD-8915-F35DBC7A7C07}"/>
              </a:ext>
            </a:extLst>
          </p:cNvPr>
          <p:cNvSpPr/>
          <p:nvPr/>
        </p:nvSpPr>
        <p:spPr>
          <a:xfrm>
            <a:off x="6196695" y="4107368"/>
            <a:ext cx="5405856" cy="1015663"/>
          </a:xfrm>
          <a:prstGeom prst="rect">
            <a:avLst/>
          </a:prstGeom>
          <a:solidFill>
            <a:srgbClr val="FFCC66"/>
          </a:solidFill>
        </p:spPr>
        <p:txBody>
          <a:bodyPr wrap="square">
            <a:spAutoFit/>
          </a:bodyPr>
          <a:lstStyle/>
          <a:p>
            <a:r>
              <a:rPr lang="es-PE" sz="2000" b="1" dirty="0">
                <a:solidFill>
                  <a:srgbClr val="FF0000"/>
                </a:solidFill>
              </a:rPr>
              <a:t>III. Identificación de las restricciones</a:t>
            </a:r>
          </a:p>
          <a:p>
            <a:r>
              <a:rPr lang="es-PE" sz="2000" b="1" dirty="0"/>
              <a:t>      200X1 +150X2≤ 80000</a:t>
            </a:r>
          </a:p>
          <a:p>
            <a:r>
              <a:rPr lang="es-PE" sz="2000" b="1" dirty="0"/>
              <a:t>        </a:t>
            </a:r>
            <a:r>
              <a:rPr lang="es-PE" sz="2000" b="1" dirty="0" err="1"/>
              <a:t>18X1</a:t>
            </a:r>
            <a:r>
              <a:rPr lang="es-PE" sz="2000" b="1" dirty="0"/>
              <a:t> +  </a:t>
            </a:r>
            <a:r>
              <a:rPr lang="es-PE" sz="2000" b="1" dirty="0" err="1"/>
              <a:t>20X2</a:t>
            </a:r>
            <a:r>
              <a:rPr lang="es-PE" sz="2000" b="1" dirty="0"/>
              <a:t>	≤   9000</a:t>
            </a:r>
          </a:p>
        </p:txBody>
      </p:sp>
      <p:sp>
        <p:nvSpPr>
          <p:cNvPr id="15" name="Rectángulo 14">
            <a:extLst>
              <a:ext uri="{FF2B5EF4-FFF2-40B4-BE49-F238E27FC236}">
                <a16:creationId xmlns:a16="http://schemas.microsoft.com/office/drawing/2014/main" id="{25922707-0660-4C14-B5BB-F4F915D4C82B}"/>
              </a:ext>
            </a:extLst>
          </p:cNvPr>
          <p:cNvSpPr/>
          <p:nvPr/>
        </p:nvSpPr>
        <p:spPr>
          <a:xfrm>
            <a:off x="6196695" y="5080810"/>
            <a:ext cx="5405855" cy="646331"/>
          </a:xfrm>
          <a:prstGeom prst="rect">
            <a:avLst/>
          </a:prstGeom>
          <a:solidFill>
            <a:srgbClr val="FFCC66"/>
          </a:solidFill>
        </p:spPr>
        <p:txBody>
          <a:bodyPr wrap="square">
            <a:spAutoFit/>
          </a:bodyPr>
          <a:lstStyle/>
          <a:p>
            <a:r>
              <a:rPr lang="es-PE" b="1" dirty="0"/>
              <a:t>	         </a:t>
            </a:r>
            <a:r>
              <a:rPr lang="es-PE" b="1" dirty="0" err="1"/>
              <a:t>X1</a:t>
            </a:r>
            <a:r>
              <a:rPr lang="es-PE" b="1" dirty="0"/>
              <a:t> 	≤   1500</a:t>
            </a:r>
          </a:p>
          <a:p>
            <a:r>
              <a:rPr lang="es-PE" b="1" dirty="0"/>
              <a:t>	         </a:t>
            </a:r>
            <a:r>
              <a:rPr lang="es-PE" b="1" dirty="0" err="1"/>
              <a:t>X2</a:t>
            </a:r>
            <a:r>
              <a:rPr lang="es-PE" b="1" dirty="0"/>
              <a:t> 	≤    200</a:t>
            </a:r>
          </a:p>
        </p:txBody>
      </p:sp>
      <p:sp>
        <p:nvSpPr>
          <p:cNvPr id="16" name="Rectángulo 15">
            <a:extLst>
              <a:ext uri="{FF2B5EF4-FFF2-40B4-BE49-F238E27FC236}">
                <a16:creationId xmlns:a16="http://schemas.microsoft.com/office/drawing/2014/main" id="{9C739CF1-DB77-4C22-BB6A-5E248DEA1F01}"/>
              </a:ext>
            </a:extLst>
          </p:cNvPr>
          <p:cNvSpPr/>
          <p:nvPr/>
        </p:nvSpPr>
        <p:spPr>
          <a:xfrm>
            <a:off x="6196695" y="5719952"/>
            <a:ext cx="5405855" cy="369332"/>
          </a:xfrm>
          <a:prstGeom prst="rect">
            <a:avLst/>
          </a:prstGeom>
          <a:solidFill>
            <a:srgbClr val="FFCC66"/>
          </a:solidFill>
        </p:spPr>
        <p:txBody>
          <a:bodyPr wrap="square">
            <a:spAutoFit/>
          </a:bodyPr>
          <a:lstStyle/>
          <a:p>
            <a:r>
              <a:rPr lang="es-PE" b="1" dirty="0"/>
              <a:t>                       </a:t>
            </a:r>
            <a:r>
              <a:rPr lang="es-PE" b="1" dirty="0" err="1"/>
              <a:t>X1</a:t>
            </a:r>
            <a:r>
              <a:rPr lang="es-PE" b="1" dirty="0"/>
              <a:t>, </a:t>
            </a:r>
            <a:r>
              <a:rPr lang="es-PE" b="1" dirty="0" err="1"/>
              <a:t>X2</a:t>
            </a:r>
            <a:r>
              <a:rPr lang="es-PE" b="1" dirty="0"/>
              <a:t>	≥0, ENTERO</a:t>
            </a:r>
          </a:p>
        </p:txBody>
      </p:sp>
      <p:sp>
        <p:nvSpPr>
          <p:cNvPr id="2" name="Rectángulo 1">
            <a:extLst>
              <a:ext uri="{FF2B5EF4-FFF2-40B4-BE49-F238E27FC236}">
                <a16:creationId xmlns:a16="http://schemas.microsoft.com/office/drawing/2014/main" id="{67D6603B-58E3-4F87-99DD-6C21E8AAC35C}"/>
              </a:ext>
            </a:extLst>
          </p:cNvPr>
          <p:cNvSpPr/>
          <p:nvPr/>
        </p:nvSpPr>
        <p:spPr>
          <a:xfrm>
            <a:off x="10086135" y="3488541"/>
            <a:ext cx="2096219" cy="2308324"/>
          </a:xfrm>
          <a:prstGeom prst="rect">
            <a:avLst/>
          </a:prstGeom>
          <a:solidFill>
            <a:srgbClr val="FFFF00"/>
          </a:solidFill>
        </p:spPr>
        <p:txBody>
          <a:bodyPr wrap="square">
            <a:spAutoFit/>
          </a:bodyPr>
          <a:lstStyle/>
          <a:p>
            <a:pPr algn="just">
              <a:spcAft>
                <a:spcPts val="0"/>
              </a:spcAft>
            </a:pPr>
            <a:r>
              <a:rPr lang="es-PE" sz="1600" b="1" dirty="0">
                <a:latin typeface="Arial Narrow" panose="020B0606020202030204" pitchFamily="34" charset="0"/>
                <a:ea typeface="Calibri" panose="020F0502020204030204" pitchFamily="34" charset="0"/>
              </a:rPr>
              <a:t>MAX  </a:t>
            </a:r>
            <a:r>
              <a:rPr lang="es-PE" sz="1600" b="1" dirty="0" err="1">
                <a:latin typeface="Arial Narrow" panose="020B0606020202030204" pitchFamily="34" charset="0"/>
                <a:ea typeface="Calibri" panose="020F0502020204030204" pitchFamily="34" charset="0"/>
              </a:rPr>
              <a:t>6740X1</a:t>
            </a:r>
            <a:r>
              <a:rPr lang="es-PE" sz="1600" b="1" dirty="0">
                <a:latin typeface="Arial Narrow" panose="020B0606020202030204" pitchFamily="34" charset="0"/>
                <a:ea typeface="Calibri" panose="020F0502020204030204" pitchFamily="34" charset="0"/>
              </a:rPr>
              <a:t> + </a:t>
            </a:r>
            <a:r>
              <a:rPr lang="es-PE" sz="1600" b="1" dirty="0" err="1">
                <a:latin typeface="Arial Narrow" panose="020B0606020202030204" pitchFamily="34" charset="0"/>
                <a:ea typeface="Calibri" panose="020F0502020204030204" pitchFamily="34" charset="0"/>
              </a:rPr>
              <a:t>5100X2</a:t>
            </a:r>
            <a:endParaRPr lang="es-PE" sz="1600" b="1" dirty="0">
              <a:latin typeface="Arial Narrow" panose="020B0606020202030204" pitchFamily="34" charset="0"/>
              <a:ea typeface="Calibri" panose="020F0502020204030204" pitchFamily="34" charset="0"/>
            </a:endParaRPr>
          </a:p>
          <a:p>
            <a:pPr algn="just">
              <a:spcAft>
                <a:spcPts val="0"/>
              </a:spcAft>
            </a:pPr>
            <a:r>
              <a:rPr lang="en-US" sz="1600" b="1" dirty="0">
                <a:solidFill>
                  <a:srgbClr val="FF0000"/>
                </a:solidFill>
                <a:latin typeface="Arial Narrow" panose="020B0606020202030204" pitchFamily="34" charset="0"/>
                <a:ea typeface="Calibri" panose="020F0502020204030204" pitchFamily="34" charset="0"/>
              </a:rPr>
              <a:t>SUBJECT TO</a:t>
            </a:r>
            <a:endParaRPr lang="es-PE" sz="1600" b="1" dirty="0">
              <a:latin typeface="Arial Narrow" panose="020B0606020202030204" pitchFamily="34" charset="0"/>
              <a:ea typeface="Calibri" panose="020F0502020204030204" pitchFamily="34" charset="0"/>
            </a:endParaRPr>
          </a:p>
          <a:p>
            <a:pPr algn="just">
              <a:spcAft>
                <a:spcPts val="0"/>
              </a:spcAft>
            </a:pPr>
            <a:r>
              <a:rPr lang="en-US" sz="1600" b="1" dirty="0" err="1">
                <a:latin typeface="Arial Narrow" panose="020B0606020202030204" pitchFamily="34" charset="0"/>
                <a:ea typeface="Calibri" panose="020F0502020204030204" pitchFamily="34" charset="0"/>
              </a:rPr>
              <a:t>200X1</a:t>
            </a:r>
            <a:r>
              <a:rPr lang="en-US" sz="1600" b="1" dirty="0">
                <a:latin typeface="Arial Narrow" panose="020B0606020202030204" pitchFamily="34" charset="0"/>
                <a:ea typeface="Calibri" panose="020F0502020204030204" pitchFamily="34" charset="0"/>
              </a:rPr>
              <a:t> +</a:t>
            </a:r>
            <a:r>
              <a:rPr lang="en-US" sz="1600" b="1" dirty="0" err="1">
                <a:latin typeface="Arial Narrow" panose="020B0606020202030204" pitchFamily="34" charset="0"/>
                <a:ea typeface="Calibri" panose="020F0502020204030204" pitchFamily="34" charset="0"/>
              </a:rPr>
              <a:t>150X2</a:t>
            </a:r>
            <a:r>
              <a:rPr lang="en-US" sz="1600" b="1" dirty="0">
                <a:latin typeface="Arial Narrow" panose="020B0606020202030204" pitchFamily="34" charset="0"/>
                <a:ea typeface="Calibri" panose="020F0502020204030204" pitchFamily="34" charset="0"/>
              </a:rPr>
              <a:t> &lt;= 80000</a:t>
            </a:r>
            <a:endParaRPr lang="es-PE" sz="1600" b="1" dirty="0">
              <a:latin typeface="Arial Narrow" panose="020B0606020202030204" pitchFamily="34" charset="0"/>
              <a:ea typeface="Calibri" panose="020F0502020204030204" pitchFamily="34" charset="0"/>
            </a:endParaRPr>
          </a:p>
          <a:p>
            <a:pPr algn="just">
              <a:spcAft>
                <a:spcPts val="0"/>
              </a:spcAft>
            </a:pPr>
            <a:r>
              <a:rPr lang="en-US" sz="1600" b="1" dirty="0">
                <a:latin typeface="Arial Narrow" panose="020B0606020202030204" pitchFamily="34" charset="0"/>
                <a:ea typeface="Calibri" panose="020F0502020204030204" pitchFamily="34" charset="0"/>
              </a:rPr>
              <a:t>  </a:t>
            </a:r>
            <a:r>
              <a:rPr lang="en-US" sz="1600" b="1" dirty="0" err="1">
                <a:latin typeface="Arial Narrow" panose="020B0606020202030204" pitchFamily="34" charset="0"/>
                <a:ea typeface="Calibri" panose="020F0502020204030204" pitchFamily="34" charset="0"/>
              </a:rPr>
              <a:t>18X1</a:t>
            </a:r>
            <a:r>
              <a:rPr lang="en-US" sz="1600" b="1" dirty="0">
                <a:latin typeface="Arial Narrow" panose="020B0606020202030204" pitchFamily="34" charset="0"/>
                <a:ea typeface="Calibri" panose="020F0502020204030204" pitchFamily="34" charset="0"/>
              </a:rPr>
              <a:t> +  </a:t>
            </a:r>
            <a:r>
              <a:rPr lang="en-US" sz="1600" b="1" dirty="0" err="1">
                <a:latin typeface="Arial Narrow" panose="020B0606020202030204" pitchFamily="34" charset="0"/>
                <a:ea typeface="Calibri" panose="020F0502020204030204" pitchFamily="34" charset="0"/>
              </a:rPr>
              <a:t>20X2</a:t>
            </a:r>
            <a:r>
              <a:rPr lang="en-US" sz="1600" b="1" dirty="0">
                <a:latin typeface="Arial Narrow" panose="020B0606020202030204" pitchFamily="34" charset="0"/>
                <a:ea typeface="Calibri" panose="020F0502020204030204" pitchFamily="34" charset="0"/>
              </a:rPr>
              <a:t>&lt;=   9000</a:t>
            </a:r>
            <a:endParaRPr lang="es-PE" sz="1600" b="1" dirty="0">
              <a:latin typeface="Arial Narrow" panose="020B0606020202030204" pitchFamily="34" charset="0"/>
              <a:ea typeface="Calibri" panose="020F0502020204030204" pitchFamily="34" charset="0"/>
            </a:endParaRPr>
          </a:p>
          <a:p>
            <a:pPr algn="just">
              <a:spcAft>
                <a:spcPts val="0"/>
              </a:spcAft>
            </a:pPr>
            <a:r>
              <a:rPr lang="en-US" sz="1600" b="1" dirty="0">
                <a:latin typeface="Arial Narrow" panose="020B0606020202030204" pitchFamily="34" charset="0"/>
                <a:ea typeface="Calibri" panose="020F0502020204030204" pitchFamily="34" charset="0"/>
              </a:rPr>
              <a:t>       </a:t>
            </a:r>
            <a:r>
              <a:rPr lang="en-US" sz="1600" b="1" dirty="0" err="1">
                <a:latin typeface="Arial Narrow" panose="020B0606020202030204" pitchFamily="34" charset="0"/>
                <a:ea typeface="Calibri" panose="020F0502020204030204" pitchFamily="34" charset="0"/>
              </a:rPr>
              <a:t>X1</a:t>
            </a:r>
            <a:r>
              <a:rPr lang="en-US" sz="1600" b="1" dirty="0">
                <a:latin typeface="Arial Narrow" panose="020B0606020202030204" pitchFamily="34" charset="0"/>
                <a:ea typeface="Calibri" panose="020F0502020204030204" pitchFamily="34" charset="0"/>
              </a:rPr>
              <a:t>	&lt;=   1500</a:t>
            </a:r>
            <a:endParaRPr lang="es-PE" sz="1600" b="1" dirty="0">
              <a:latin typeface="Arial Narrow" panose="020B0606020202030204" pitchFamily="34" charset="0"/>
              <a:ea typeface="Calibri" panose="020F0502020204030204" pitchFamily="34" charset="0"/>
            </a:endParaRPr>
          </a:p>
          <a:p>
            <a:pPr algn="just">
              <a:spcAft>
                <a:spcPts val="0"/>
              </a:spcAft>
            </a:pPr>
            <a:r>
              <a:rPr lang="en-US" sz="1600" b="1" dirty="0">
                <a:latin typeface="Arial Narrow" panose="020B0606020202030204" pitchFamily="34" charset="0"/>
                <a:ea typeface="Calibri" panose="020F0502020204030204" pitchFamily="34" charset="0"/>
              </a:rPr>
              <a:t>       </a:t>
            </a:r>
            <a:r>
              <a:rPr lang="en-US" sz="1600" b="1" dirty="0" err="1">
                <a:latin typeface="Arial Narrow" panose="020B0606020202030204" pitchFamily="34" charset="0"/>
                <a:ea typeface="Calibri" panose="020F0502020204030204" pitchFamily="34" charset="0"/>
              </a:rPr>
              <a:t>X2</a:t>
            </a:r>
            <a:r>
              <a:rPr lang="en-US" sz="1600" b="1" dirty="0">
                <a:latin typeface="Arial Narrow" panose="020B0606020202030204" pitchFamily="34" charset="0"/>
                <a:ea typeface="Calibri" panose="020F0502020204030204" pitchFamily="34" charset="0"/>
              </a:rPr>
              <a:t>	&lt;=    200</a:t>
            </a:r>
            <a:endParaRPr lang="es-PE" sz="1600" b="1" dirty="0">
              <a:latin typeface="Arial Narrow" panose="020B0606020202030204" pitchFamily="34" charset="0"/>
              <a:ea typeface="Calibri" panose="020F0502020204030204" pitchFamily="34" charset="0"/>
            </a:endParaRPr>
          </a:p>
          <a:p>
            <a:pPr algn="just">
              <a:spcAft>
                <a:spcPts val="0"/>
              </a:spcAft>
            </a:pPr>
            <a:r>
              <a:rPr lang="en-US" sz="1600" b="1" dirty="0">
                <a:solidFill>
                  <a:srgbClr val="FF0000"/>
                </a:solidFill>
                <a:latin typeface="Arial Narrow" panose="020B0606020202030204" pitchFamily="34" charset="0"/>
                <a:ea typeface="Calibri" panose="020F0502020204030204" pitchFamily="34" charset="0"/>
              </a:rPr>
              <a:t>END</a:t>
            </a:r>
            <a:endParaRPr lang="es-PE" sz="1600" b="1" dirty="0">
              <a:latin typeface="Arial Narrow" panose="020B0606020202030204" pitchFamily="34" charset="0"/>
              <a:ea typeface="Calibri" panose="020F0502020204030204" pitchFamily="34" charset="0"/>
            </a:endParaRPr>
          </a:p>
          <a:p>
            <a:pPr algn="just">
              <a:spcAft>
                <a:spcPts val="0"/>
              </a:spcAft>
            </a:pPr>
            <a:r>
              <a:rPr lang="en-US" sz="1600" b="1" dirty="0">
                <a:latin typeface="Arial Narrow" panose="020B0606020202030204" pitchFamily="34" charset="0"/>
                <a:ea typeface="Calibri" panose="020F0502020204030204" pitchFamily="34" charset="0"/>
              </a:rPr>
              <a:t>GIN </a:t>
            </a:r>
            <a:r>
              <a:rPr lang="en-US" sz="1600" b="1" dirty="0" err="1">
                <a:latin typeface="Arial Narrow" panose="020B0606020202030204" pitchFamily="34" charset="0"/>
                <a:ea typeface="Calibri" panose="020F0502020204030204" pitchFamily="34" charset="0"/>
              </a:rPr>
              <a:t>X1</a:t>
            </a:r>
            <a:endParaRPr lang="es-PE" sz="1600" b="1" dirty="0">
              <a:latin typeface="Arial Narrow" panose="020B0606020202030204" pitchFamily="34" charset="0"/>
              <a:ea typeface="Calibri" panose="020F0502020204030204" pitchFamily="34" charset="0"/>
            </a:endParaRPr>
          </a:p>
          <a:p>
            <a:pPr algn="just">
              <a:spcAft>
                <a:spcPts val="0"/>
              </a:spcAft>
            </a:pPr>
            <a:r>
              <a:rPr lang="en-US" sz="1600" b="1" dirty="0">
                <a:latin typeface="Arial Narrow" panose="020B0606020202030204" pitchFamily="34" charset="0"/>
                <a:ea typeface="Calibri" panose="020F0502020204030204" pitchFamily="34" charset="0"/>
              </a:rPr>
              <a:t>GIN </a:t>
            </a:r>
            <a:r>
              <a:rPr lang="en-US" sz="1600" b="1" dirty="0" err="1">
                <a:latin typeface="Arial Narrow" panose="020B0606020202030204" pitchFamily="34" charset="0"/>
                <a:ea typeface="Calibri" panose="020F0502020204030204" pitchFamily="34" charset="0"/>
              </a:rPr>
              <a:t>X2</a:t>
            </a:r>
            <a:endParaRPr lang="es-PE" sz="1600" b="1" dirty="0">
              <a:latin typeface="Arial Narrow" panose="020B0606020202030204" pitchFamily="34" charset="0"/>
              <a:ea typeface="Calibri" panose="020F0502020204030204" pitchFamily="34" charset="0"/>
            </a:endParaRPr>
          </a:p>
        </p:txBody>
      </p:sp>
      <p:sp>
        <p:nvSpPr>
          <p:cNvPr id="3" name="Rectángulo 2">
            <a:extLst>
              <a:ext uri="{FF2B5EF4-FFF2-40B4-BE49-F238E27FC236}">
                <a16:creationId xmlns:a16="http://schemas.microsoft.com/office/drawing/2014/main" id="{B8509CCF-E844-4AEF-9148-00C3695ECCB7}"/>
              </a:ext>
            </a:extLst>
          </p:cNvPr>
          <p:cNvSpPr/>
          <p:nvPr/>
        </p:nvSpPr>
        <p:spPr>
          <a:xfrm>
            <a:off x="9127958" y="5782675"/>
            <a:ext cx="3064042" cy="1077218"/>
          </a:xfrm>
          <a:prstGeom prst="rect">
            <a:avLst/>
          </a:prstGeom>
          <a:solidFill>
            <a:schemeClr val="accent4">
              <a:lumMod val="20000"/>
              <a:lumOff val="80000"/>
            </a:schemeClr>
          </a:solidFill>
        </p:spPr>
        <p:txBody>
          <a:bodyPr wrap="square">
            <a:spAutoFit/>
          </a:bodyPr>
          <a:lstStyle/>
          <a:p>
            <a:r>
              <a:rPr lang="es-PE" sz="1600" b="1" dirty="0"/>
              <a:t> 1)      2705000.</a:t>
            </a:r>
          </a:p>
          <a:p>
            <a:r>
              <a:rPr lang="es-PE" sz="1600" b="1" dirty="0"/>
              <a:t>VARIABLE VALUE REDUCED COST</a:t>
            </a:r>
          </a:p>
          <a:p>
            <a:r>
              <a:rPr lang="es-PE" sz="1600" b="1" dirty="0"/>
              <a:t>        X1       250.00      -6740.0000</a:t>
            </a:r>
          </a:p>
          <a:p>
            <a:r>
              <a:rPr lang="es-PE" sz="1600" b="1" dirty="0"/>
              <a:t>        X2       200.00      -5100.0000</a:t>
            </a:r>
          </a:p>
        </p:txBody>
      </p:sp>
    </p:spTree>
    <p:extLst>
      <p:ext uri="{BB962C8B-B14F-4D97-AF65-F5344CB8AC3E}">
        <p14:creationId xmlns:p14="http://schemas.microsoft.com/office/powerpoint/2010/main" val="4143273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3" grpId="0" animBg="1"/>
      <p:bldP spid="14" grpId="0" animBg="1"/>
      <p:bldP spid="15" grpId="0" animBg="1"/>
      <p:bldP spid="16" grpId="0" animBg="1"/>
      <p:bldP spid="2" grpId="0" animBg="1"/>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248360C-9D60-4FB1-A061-7AACE443BB13}"/>
              </a:ext>
            </a:extLst>
          </p:cNvPr>
          <p:cNvSpPr txBox="1"/>
          <p:nvPr/>
        </p:nvSpPr>
        <p:spPr>
          <a:xfrm>
            <a:off x="6096000" y="139143"/>
            <a:ext cx="6096000" cy="372731"/>
          </a:xfrm>
          <a:prstGeom prst="rect">
            <a:avLst/>
          </a:prstGeom>
          <a:noFill/>
        </p:spPr>
        <p:txBody>
          <a:bodyPr wrap="square">
            <a:spAutoFit/>
          </a:bodyPr>
          <a:lstStyle/>
          <a:p>
            <a:pPr algn="ctr">
              <a:lnSpc>
                <a:spcPct val="107000"/>
              </a:lnSpc>
              <a:spcAft>
                <a:spcPts val="800"/>
              </a:spcAft>
            </a:pPr>
            <a:r>
              <a:rPr lang="es-PE" sz="1800" b="1" u="sng" dirty="0">
                <a:solidFill>
                  <a:schemeClr val="bg1"/>
                </a:solidFill>
                <a:effectLst/>
                <a:latin typeface="Tahoma" panose="020B0604030504040204" pitchFamily="34" charset="0"/>
                <a:ea typeface="Calibri" panose="020F0502020204030204" pitchFamily="34" charset="0"/>
                <a:cs typeface="Times New Roman" panose="02020603050405020304" pitchFamily="18" charset="0"/>
              </a:rPr>
              <a:t>PROBLEMA:  22</a:t>
            </a:r>
            <a:endParaRPr lang="es-PE"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CuadroTexto 1">
            <a:extLst>
              <a:ext uri="{FF2B5EF4-FFF2-40B4-BE49-F238E27FC236}">
                <a16:creationId xmlns:a16="http://schemas.microsoft.com/office/drawing/2014/main" id="{3D83CE3B-C76E-4655-9BFB-999CBC4EFE37}"/>
              </a:ext>
            </a:extLst>
          </p:cNvPr>
          <p:cNvSpPr txBox="1"/>
          <p:nvPr/>
        </p:nvSpPr>
        <p:spPr>
          <a:xfrm>
            <a:off x="155130" y="1370059"/>
            <a:ext cx="5822976" cy="5273238"/>
          </a:xfrm>
          <a:prstGeom prst="rect">
            <a:avLst/>
          </a:prstGeom>
          <a:noFill/>
        </p:spPr>
        <p:txBody>
          <a:bodyPr wrap="square" rtlCol="0">
            <a:spAutoFit/>
          </a:bodyPr>
          <a:lstStyle/>
          <a:p>
            <a:pPr algn="just">
              <a:spcAft>
                <a:spcPts val="800"/>
              </a:spcAft>
            </a:pPr>
            <a:r>
              <a:rPr lang="es-PE" sz="2200" b="1" dirty="0">
                <a:effectLst/>
                <a:latin typeface="Arial Narrow" panose="020B0606020202030204" pitchFamily="34" charset="0"/>
                <a:ea typeface="Calibri" panose="020F0502020204030204" pitchFamily="34" charset="0"/>
                <a:cs typeface="Times New Roman" panose="02020603050405020304" pitchFamily="18" charset="0"/>
              </a:rPr>
              <a:t>Una compañía petrolera considera 5 diferentes oportunidades de inversión, cuyos desembolsos y rendimientos se dan en la tabla adjunta.  La compañía dispone de 40 millones de dólares para invertir en el momento actual y estima que en el próximo año dispondrá de 20 millones de dólares para invertir.  La compañía puede comprar cualquier fracción de cualquier inversión, en este caso los desembolsos y el rendimiento se ajustarán en forma correspondiente, suponiendo que los fondos no utilizados en el momento actual no se pueden utilizar en el próximo año.</a:t>
            </a:r>
          </a:p>
          <a:p>
            <a:pPr algn="just">
              <a:spcAft>
                <a:spcPts val="800"/>
              </a:spcAft>
            </a:pPr>
            <a:r>
              <a:rPr lang="es-PE" sz="2200" b="1" dirty="0">
                <a:effectLst/>
                <a:latin typeface="Arial Narrow" panose="020B0606020202030204" pitchFamily="34" charset="0"/>
                <a:ea typeface="Calibri" panose="020F0502020204030204" pitchFamily="34" charset="0"/>
                <a:cs typeface="Times New Roman" panose="02020603050405020304" pitchFamily="18" charset="0"/>
              </a:rPr>
              <a:t>Formular el problema como un modelo de programación lineal para maximizar el rendimiento (Actual = tiempo 0; próximo año = tiempo 1).</a:t>
            </a:r>
            <a:endParaRPr lang="es-PE" sz="2200" b="1" dirty="0">
              <a:latin typeface="Arial Narrow" panose="020B0606020202030204" pitchFamily="34" charset="0"/>
            </a:endParaRPr>
          </a:p>
        </p:txBody>
      </p:sp>
      <p:pic>
        <p:nvPicPr>
          <p:cNvPr id="4" name="Imagen 3" descr="Tabla&#10;&#10;Descripción generada automáticamente">
            <a:extLst>
              <a:ext uri="{FF2B5EF4-FFF2-40B4-BE49-F238E27FC236}">
                <a16:creationId xmlns:a16="http://schemas.microsoft.com/office/drawing/2014/main" id="{DC8D8FF9-AA70-4E18-BB0D-0CCA4056B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4290" y="1228532"/>
            <a:ext cx="5892693" cy="1454283"/>
          </a:xfrm>
          <a:prstGeom prst="rect">
            <a:avLst/>
          </a:prstGeom>
        </p:spPr>
      </p:pic>
      <p:sp>
        <p:nvSpPr>
          <p:cNvPr id="9" name="Rectangle 3">
            <a:extLst>
              <a:ext uri="{FF2B5EF4-FFF2-40B4-BE49-F238E27FC236}">
                <a16:creationId xmlns:a16="http://schemas.microsoft.com/office/drawing/2014/main" id="{F87D1058-7851-4F75-B425-AD1205D69286}"/>
              </a:ext>
            </a:extLst>
          </p:cNvPr>
          <p:cNvSpPr txBox="1">
            <a:spLocks noChangeArrowheads="1"/>
          </p:cNvSpPr>
          <p:nvPr/>
        </p:nvSpPr>
        <p:spPr>
          <a:xfrm>
            <a:off x="6256585" y="2616755"/>
            <a:ext cx="5788314" cy="1624490"/>
          </a:xfrm>
          <a:prstGeom prst="rect">
            <a:avLst/>
          </a:prstGeom>
          <a:solidFill>
            <a:schemeClr val="accent1">
              <a:lumMod val="20000"/>
              <a:lumOff val="80000"/>
            </a:schemeClr>
          </a:solidFill>
        </p:spPr>
        <p:txBody>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200">
                <a:solidFill>
                  <a:srgbClr val="0C0000"/>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200">
                <a:solidFill>
                  <a:srgbClr val="0C0000"/>
                </a:solidFill>
                <a:latin typeface="+mn-lt"/>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200">
                <a:solidFill>
                  <a:srgbClr val="0C0000"/>
                </a:solidFill>
                <a:latin typeface="+mn-lt"/>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200">
                <a:solidFill>
                  <a:srgbClr val="0C0000"/>
                </a:solidFill>
                <a:latin typeface="+mn-lt"/>
              </a:defRPr>
            </a:lvl5pPr>
            <a:lvl6pPr marL="25146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6pPr>
            <a:lvl7pPr marL="29718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7pPr>
            <a:lvl8pPr marL="34290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8pPr>
            <a:lvl9pPr marL="3886200" indent="-228600" algn="l" rtl="0" fontAlgn="base">
              <a:spcBef>
                <a:spcPct val="20000"/>
              </a:spcBef>
              <a:spcAft>
                <a:spcPct val="0"/>
              </a:spcAft>
              <a:buClr>
                <a:schemeClr val="accent1"/>
              </a:buClr>
              <a:buFont typeface="Wingdings" pitchFamily="2" charset="2"/>
              <a:buChar char="§"/>
              <a:defRPr sz="2200">
                <a:solidFill>
                  <a:srgbClr val="0C0000"/>
                </a:solidFill>
                <a:latin typeface="+mn-lt"/>
              </a:defRPr>
            </a:lvl9pPr>
          </a:lstStyle>
          <a:p>
            <a:pPr eaLnBrk="1" hangingPunct="1">
              <a:buFont typeface="Wingdings" panose="05000000000000000000" pitchFamily="2" charset="2"/>
              <a:buNone/>
            </a:pPr>
            <a:r>
              <a:rPr lang="es-ES" sz="2000" b="1" kern="0" dirty="0">
                <a:solidFill>
                  <a:srgbClr val="FF0000"/>
                </a:solidFill>
                <a:latin typeface="Arial Narrow" panose="020B0606020202030204" pitchFamily="34" charset="0"/>
              </a:rPr>
              <a:t>Identificación de las variables</a:t>
            </a:r>
          </a:p>
          <a:p>
            <a:pPr eaLnBrk="1" hangingPunct="1">
              <a:buFont typeface="Wingdings" panose="05000000000000000000" pitchFamily="2" charset="2"/>
              <a:buNone/>
            </a:pPr>
            <a:r>
              <a:rPr lang="es-ES" sz="2000" b="1" kern="0" dirty="0" err="1">
                <a:latin typeface="Arial Narrow" panose="020B0606020202030204" pitchFamily="34" charset="0"/>
              </a:rPr>
              <a:t>Xij</a:t>
            </a:r>
            <a:r>
              <a:rPr lang="es-ES" sz="2000" b="1" kern="0" dirty="0">
                <a:latin typeface="Arial Narrow" panose="020B0606020202030204" pitchFamily="34" charset="0"/>
              </a:rPr>
              <a:t>: Fracción de la inversión i (1…5) en el año j (1,2)</a:t>
            </a:r>
          </a:p>
          <a:p>
            <a:pPr eaLnBrk="1" hangingPunct="1">
              <a:buFont typeface="Wingdings" panose="05000000000000000000" pitchFamily="2" charset="2"/>
              <a:buNone/>
            </a:pPr>
            <a:r>
              <a:rPr lang="es-ES" sz="2000" b="1" kern="0" dirty="0" err="1">
                <a:latin typeface="Arial Narrow" panose="020B0606020202030204" pitchFamily="34" charset="0"/>
                <a:cs typeface="Times New Roman" panose="02020603050405020304" pitchFamily="18" charset="0"/>
              </a:rPr>
              <a:t>Xij</a:t>
            </a:r>
            <a:r>
              <a:rPr lang="es-ES" sz="2000" b="1" kern="0" dirty="0">
                <a:latin typeface="Arial Narrow" panose="020B0606020202030204" pitchFamily="34" charset="0"/>
                <a:cs typeface="Times New Roman" panose="02020603050405020304" pitchFamily="18" charset="0"/>
              </a:rPr>
              <a:t> =0 NO SE REALIZA LA INVERSION</a:t>
            </a:r>
          </a:p>
          <a:p>
            <a:pPr eaLnBrk="1" hangingPunct="1">
              <a:buNone/>
            </a:pPr>
            <a:r>
              <a:rPr lang="es-ES" sz="2000" b="1" kern="0" dirty="0" err="1">
                <a:latin typeface="Arial Narrow" panose="020B0606020202030204" pitchFamily="34" charset="0"/>
                <a:cs typeface="Times New Roman" panose="02020603050405020304" pitchFamily="18" charset="0"/>
              </a:rPr>
              <a:t>Xij</a:t>
            </a:r>
            <a:r>
              <a:rPr lang="es-ES" sz="2000" b="1" kern="0" dirty="0">
                <a:latin typeface="Arial Narrow" panose="020B0606020202030204" pitchFamily="34" charset="0"/>
                <a:cs typeface="Times New Roman" panose="02020603050405020304" pitchFamily="18" charset="0"/>
              </a:rPr>
              <a:t> =1 SE REALIZA LA INVERSION</a:t>
            </a:r>
          </a:p>
          <a:p>
            <a:pPr eaLnBrk="1" hangingPunct="1">
              <a:buFont typeface="Wingdings" panose="05000000000000000000" pitchFamily="2" charset="2"/>
              <a:buNone/>
            </a:pPr>
            <a:endParaRPr lang="es-ES" sz="2000" b="1" kern="0" dirty="0">
              <a:latin typeface="Arial Narrow" panose="020B0606020202030204" pitchFamily="34" charset="0"/>
              <a:cs typeface="Times New Roman" panose="02020603050405020304" pitchFamily="18" charset="0"/>
            </a:endParaRPr>
          </a:p>
        </p:txBody>
      </p:sp>
      <p:sp>
        <p:nvSpPr>
          <p:cNvPr id="10" name="Rectángulo 9">
            <a:extLst>
              <a:ext uri="{FF2B5EF4-FFF2-40B4-BE49-F238E27FC236}">
                <a16:creationId xmlns:a16="http://schemas.microsoft.com/office/drawing/2014/main" id="{B9633784-2F2B-49D8-9E71-1C9562310544}"/>
              </a:ext>
            </a:extLst>
          </p:cNvPr>
          <p:cNvSpPr/>
          <p:nvPr/>
        </p:nvSpPr>
        <p:spPr>
          <a:xfrm>
            <a:off x="6256585" y="4173911"/>
            <a:ext cx="5777265" cy="1323439"/>
          </a:xfrm>
          <a:prstGeom prst="rect">
            <a:avLst/>
          </a:prstGeom>
          <a:solidFill>
            <a:schemeClr val="accent1">
              <a:lumMod val="20000"/>
              <a:lumOff val="80000"/>
            </a:schemeClr>
          </a:solidFill>
        </p:spPr>
        <p:txBody>
          <a:bodyPr wrap="square">
            <a:spAutoFit/>
          </a:bodyPr>
          <a:lstStyle/>
          <a:p>
            <a:pPr marL="0" lvl="1"/>
            <a:r>
              <a:rPr lang="es-ES" sz="2000" b="1" kern="0" dirty="0">
                <a:solidFill>
                  <a:srgbClr val="FF0000"/>
                </a:solidFill>
                <a:latin typeface="Arial Narrow" panose="020B0606020202030204" pitchFamily="34" charset="0"/>
              </a:rPr>
              <a:t>Identificación de la Función Objetivo</a:t>
            </a:r>
          </a:p>
          <a:p>
            <a:pPr marL="0" lvl="1"/>
            <a:r>
              <a:rPr lang="es-ES" sz="2000" b="1" kern="0" dirty="0">
                <a:latin typeface="Arial Narrow" panose="020B0606020202030204" pitchFamily="34" charset="0"/>
              </a:rPr>
              <a:t>Max 0.13(11)X11 + 0.16(53)(X12 +0.16(25)X13 +0.14(35)X14 + 0.39(29)X15 + 0.13(8)X21 + 0.16(6)(X22 +0.16(5)X23 + 0.14(10)X24 + 0.39(34)X25</a:t>
            </a:r>
          </a:p>
        </p:txBody>
      </p:sp>
      <p:sp>
        <p:nvSpPr>
          <p:cNvPr id="11" name="Rectángulo 10">
            <a:extLst>
              <a:ext uri="{FF2B5EF4-FFF2-40B4-BE49-F238E27FC236}">
                <a16:creationId xmlns:a16="http://schemas.microsoft.com/office/drawing/2014/main" id="{A6553411-867F-4EE0-B0A0-62E006CEA20E}"/>
              </a:ext>
            </a:extLst>
          </p:cNvPr>
          <p:cNvSpPr/>
          <p:nvPr/>
        </p:nvSpPr>
        <p:spPr>
          <a:xfrm>
            <a:off x="6256585" y="5497350"/>
            <a:ext cx="5777265" cy="1323439"/>
          </a:xfrm>
          <a:prstGeom prst="rect">
            <a:avLst/>
          </a:prstGeom>
          <a:solidFill>
            <a:schemeClr val="accent1">
              <a:lumMod val="20000"/>
              <a:lumOff val="80000"/>
            </a:schemeClr>
          </a:solidFill>
        </p:spPr>
        <p:txBody>
          <a:bodyPr wrap="square">
            <a:spAutoFit/>
          </a:bodyPr>
          <a:lstStyle/>
          <a:p>
            <a:r>
              <a:rPr lang="es-ES" sz="2000" b="1" kern="0" dirty="0">
                <a:solidFill>
                  <a:srgbClr val="FF0000"/>
                </a:solidFill>
                <a:latin typeface="Arial Narrow" panose="020B0606020202030204" pitchFamily="34" charset="0"/>
              </a:rPr>
              <a:t>Identificación de las restricciones</a:t>
            </a:r>
          </a:p>
          <a:p>
            <a:r>
              <a:rPr lang="es-ES" sz="2000" b="1" kern="0" dirty="0">
                <a:latin typeface="Arial Narrow" panose="020B0606020202030204" pitchFamily="34" charset="0"/>
              </a:rPr>
              <a:t>11X11 + 53X12 + 25X13 + 35X14 + 29X15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40  	(Año 0)</a:t>
            </a:r>
          </a:p>
          <a:p>
            <a:r>
              <a:rPr lang="es-ES" sz="2000" b="1" kern="0" dirty="0">
                <a:latin typeface="Arial Narrow" panose="020B0606020202030204" pitchFamily="34" charset="0"/>
              </a:rPr>
              <a:t>  8X21 +   6X22 +   5X23 + 10X24 + 34X25 </a:t>
            </a:r>
            <a:r>
              <a:rPr lang="es-ES" sz="2000" b="1" kern="0" dirty="0">
                <a:latin typeface="Arial Narrow" panose="020B0606020202030204" pitchFamily="34" charset="0"/>
                <a:cs typeface="Times New Roman" panose="02020603050405020304" pitchFamily="18" charset="0"/>
              </a:rPr>
              <a:t>≤</a:t>
            </a:r>
            <a:r>
              <a:rPr lang="es-ES" sz="2000" b="1" kern="0" dirty="0">
                <a:latin typeface="Arial Narrow" panose="020B0606020202030204" pitchFamily="34" charset="0"/>
              </a:rPr>
              <a:t> 20  	(Año 1)</a:t>
            </a:r>
          </a:p>
          <a:p>
            <a:pPr lvl="1"/>
            <a:r>
              <a:rPr lang="es-ES" sz="2000" b="1" kern="0" dirty="0">
                <a:latin typeface="Arial Narrow" panose="020B0606020202030204" pitchFamily="34" charset="0"/>
              </a:rPr>
              <a:t>			</a:t>
            </a:r>
            <a:r>
              <a:rPr lang="es-ES" sz="2000" b="1" kern="0" dirty="0">
                <a:latin typeface="Arial Narrow" panose="020B0606020202030204" pitchFamily="34" charset="0"/>
                <a:cs typeface="Times New Roman" panose="02020603050405020304" pitchFamily="18" charset="0"/>
              </a:rPr>
              <a:t>                 </a:t>
            </a:r>
            <a:r>
              <a:rPr lang="es-ES" sz="2000" b="1" kern="0" dirty="0" err="1">
                <a:latin typeface="Arial Narrow" panose="020B0606020202030204" pitchFamily="34" charset="0"/>
                <a:cs typeface="Times New Roman" panose="02020603050405020304" pitchFamily="18" charset="0"/>
              </a:rPr>
              <a:t>Xij</a:t>
            </a:r>
            <a:r>
              <a:rPr lang="es-ES" sz="2000" b="1" kern="0" dirty="0">
                <a:latin typeface="Arial Narrow" panose="020B0606020202030204" pitchFamily="34" charset="0"/>
                <a:cs typeface="Times New Roman" panose="02020603050405020304" pitchFamily="18" charset="0"/>
              </a:rPr>
              <a:t> ≥ 0, BINARIO</a:t>
            </a:r>
            <a:endParaRPr lang="es-PE" b="1" dirty="0">
              <a:latin typeface="Arial Narrow" panose="020B0606020202030204" pitchFamily="34" charset="0"/>
            </a:endParaRPr>
          </a:p>
        </p:txBody>
      </p:sp>
      <p:graphicFrame>
        <p:nvGraphicFramePr>
          <p:cNvPr id="3" name="Tabla 2">
            <a:extLst>
              <a:ext uri="{FF2B5EF4-FFF2-40B4-BE49-F238E27FC236}">
                <a16:creationId xmlns:a16="http://schemas.microsoft.com/office/drawing/2014/main" id="{B000BE8E-967B-3C39-3043-6CEC6F91E779}"/>
              </a:ext>
            </a:extLst>
          </p:cNvPr>
          <p:cNvGraphicFramePr>
            <a:graphicFrameLocks noGrp="1"/>
          </p:cNvGraphicFramePr>
          <p:nvPr/>
        </p:nvGraphicFramePr>
        <p:xfrm>
          <a:off x="700505" y="115048"/>
          <a:ext cx="5133220" cy="914400"/>
        </p:xfrm>
        <a:graphic>
          <a:graphicData uri="http://schemas.openxmlformats.org/drawingml/2006/table">
            <a:tbl>
              <a:tblPr firstRow="1" bandRow="1">
                <a:tableStyleId>{5C22544A-7EE6-4342-B048-85BDC9FD1C3A}</a:tableStyleId>
              </a:tblPr>
              <a:tblGrid>
                <a:gridCol w="1026644">
                  <a:extLst>
                    <a:ext uri="{9D8B030D-6E8A-4147-A177-3AD203B41FA5}">
                      <a16:colId xmlns:a16="http://schemas.microsoft.com/office/drawing/2014/main" val="736444849"/>
                    </a:ext>
                  </a:extLst>
                </a:gridCol>
                <a:gridCol w="1026644">
                  <a:extLst>
                    <a:ext uri="{9D8B030D-6E8A-4147-A177-3AD203B41FA5}">
                      <a16:colId xmlns:a16="http://schemas.microsoft.com/office/drawing/2014/main" val="3939816409"/>
                    </a:ext>
                  </a:extLst>
                </a:gridCol>
                <a:gridCol w="1026644">
                  <a:extLst>
                    <a:ext uri="{9D8B030D-6E8A-4147-A177-3AD203B41FA5}">
                      <a16:colId xmlns:a16="http://schemas.microsoft.com/office/drawing/2014/main" val="2848534950"/>
                    </a:ext>
                  </a:extLst>
                </a:gridCol>
                <a:gridCol w="1026644">
                  <a:extLst>
                    <a:ext uri="{9D8B030D-6E8A-4147-A177-3AD203B41FA5}">
                      <a16:colId xmlns:a16="http://schemas.microsoft.com/office/drawing/2014/main" val="322746884"/>
                    </a:ext>
                  </a:extLst>
                </a:gridCol>
                <a:gridCol w="1026644">
                  <a:extLst>
                    <a:ext uri="{9D8B030D-6E8A-4147-A177-3AD203B41FA5}">
                      <a16:colId xmlns:a16="http://schemas.microsoft.com/office/drawing/2014/main" val="2596690416"/>
                    </a:ext>
                  </a:extLst>
                </a:gridCol>
              </a:tblGrid>
              <a:tr h="397547">
                <a:tc>
                  <a:txBody>
                    <a:bodyPr/>
                    <a:lstStyle/>
                    <a:p>
                      <a:pPr algn="ctr"/>
                      <a:r>
                        <a:rPr lang="es-ES" sz="2400" dirty="0"/>
                        <a:t>X11</a:t>
                      </a:r>
                      <a:endParaRPr lang="es-PE" sz="2400" dirty="0"/>
                    </a:p>
                  </a:txBody>
                  <a:tcPr/>
                </a:tc>
                <a:tc>
                  <a:txBody>
                    <a:bodyPr/>
                    <a:lstStyle/>
                    <a:p>
                      <a:pPr algn="ctr"/>
                      <a:r>
                        <a:rPr lang="es-ES" sz="2400" dirty="0"/>
                        <a:t>X12</a:t>
                      </a:r>
                      <a:endParaRPr lang="es-PE" sz="2400" dirty="0"/>
                    </a:p>
                  </a:txBody>
                  <a:tcPr/>
                </a:tc>
                <a:tc>
                  <a:txBody>
                    <a:bodyPr/>
                    <a:lstStyle/>
                    <a:p>
                      <a:pPr algn="ctr"/>
                      <a:r>
                        <a:rPr lang="es-ES" sz="2400" dirty="0"/>
                        <a:t>X13</a:t>
                      </a:r>
                      <a:endParaRPr lang="es-PE" sz="2400" dirty="0"/>
                    </a:p>
                  </a:txBody>
                  <a:tcPr/>
                </a:tc>
                <a:tc>
                  <a:txBody>
                    <a:bodyPr/>
                    <a:lstStyle/>
                    <a:p>
                      <a:pPr algn="ctr"/>
                      <a:r>
                        <a:rPr lang="es-ES" sz="2400" dirty="0"/>
                        <a:t>X14</a:t>
                      </a:r>
                      <a:endParaRPr lang="es-PE" sz="2400" dirty="0"/>
                    </a:p>
                  </a:txBody>
                  <a:tcPr/>
                </a:tc>
                <a:tc>
                  <a:txBody>
                    <a:bodyPr/>
                    <a:lstStyle/>
                    <a:p>
                      <a:pPr algn="ctr"/>
                      <a:r>
                        <a:rPr lang="es-ES" sz="2400" dirty="0"/>
                        <a:t>X15</a:t>
                      </a:r>
                      <a:endParaRPr lang="es-PE" sz="2400" dirty="0"/>
                    </a:p>
                  </a:txBody>
                  <a:tcPr/>
                </a:tc>
                <a:extLst>
                  <a:ext uri="{0D108BD9-81ED-4DB2-BD59-A6C34878D82A}">
                    <a16:rowId xmlns:a16="http://schemas.microsoft.com/office/drawing/2014/main" val="3946103086"/>
                  </a:ext>
                </a:extLst>
              </a:tr>
              <a:tr h="397547">
                <a:tc>
                  <a:txBody>
                    <a:bodyPr/>
                    <a:lstStyle/>
                    <a:p>
                      <a:pPr algn="ctr"/>
                      <a:r>
                        <a:rPr lang="es-ES" sz="2400" dirty="0"/>
                        <a:t>X21</a:t>
                      </a:r>
                      <a:endParaRPr lang="es-PE" sz="2400" dirty="0"/>
                    </a:p>
                  </a:txBody>
                  <a:tcPr/>
                </a:tc>
                <a:tc>
                  <a:txBody>
                    <a:bodyPr/>
                    <a:lstStyle/>
                    <a:p>
                      <a:pPr algn="ctr"/>
                      <a:r>
                        <a:rPr lang="es-ES" sz="2400" dirty="0"/>
                        <a:t>X22</a:t>
                      </a:r>
                      <a:endParaRPr lang="es-PE" sz="2400" dirty="0"/>
                    </a:p>
                  </a:txBody>
                  <a:tcPr/>
                </a:tc>
                <a:tc>
                  <a:txBody>
                    <a:bodyPr/>
                    <a:lstStyle/>
                    <a:p>
                      <a:pPr algn="ctr"/>
                      <a:r>
                        <a:rPr lang="es-ES" sz="2400" dirty="0"/>
                        <a:t>X23</a:t>
                      </a:r>
                      <a:endParaRPr lang="es-PE" sz="2400" dirty="0"/>
                    </a:p>
                  </a:txBody>
                  <a:tcPr/>
                </a:tc>
                <a:tc>
                  <a:txBody>
                    <a:bodyPr/>
                    <a:lstStyle/>
                    <a:p>
                      <a:pPr algn="ctr"/>
                      <a:r>
                        <a:rPr lang="es-ES" sz="2400" dirty="0"/>
                        <a:t>X24</a:t>
                      </a:r>
                      <a:endParaRPr lang="es-PE" sz="2400" dirty="0"/>
                    </a:p>
                  </a:txBody>
                  <a:tcPr/>
                </a:tc>
                <a:tc>
                  <a:txBody>
                    <a:bodyPr/>
                    <a:lstStyle/>
                    <a:p>
                      <a:pPr algn="ctr"/>
                      <a:r>
                        <a:rPr lang="es-ES" sz="2400" dirty="0"/>
                        <a:t>X25</a:t>
                      </a:r>
                      <a:endParaRPr lang="es-PE" sz="2400" dirty="0"/>
                    </a:p>
                  </a:txBody>
                  <a:tcPr/>
                </a:tc>
                <a:extLst>
                  <a:ext uri="{0D108BD9-81ED-4DB2-BD59-A6C34878D82A}">
                    <a16:rowId xmlns:a16="http://schemas.microsoft.com/office/drawing/2014/main" val="777255627"/>
                  </a:ext>
                </a:extLst>
              </a:tr>
            </a:tbl>
          </a:graphicData>
        </a:graphic>
      </p:graphicFrame>
    </p:spTree>
    <p:extLst>
      <p:ext uri="{BB962C8B-B14F-4D97-AF65-F5344CB8AC3E}">
        <p14:creationId xmlns:p14="http://schemas.microsoft.com/office/powerpoint/2010/main" val="85410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2CA3F59F-7314-46E4-9E30-7201FA5D0053}"/>
              </a:ext>
            </a:extLst>
          </p:cNvPr>
          <p:cNvSpPr/>
          <p:nvPr/>
        </p:nvSpPr>
        <p:spPr>
          <a:xfrm>
            <a:off x="0" y="1253988"/>
            <a:ext cx="6096000" cy="5509200"/>
          </a:xfrm>
          <a:prstGeom prst="rect">
            <a:avLst/>
          </a:prstGeom>
          <a:solidFill>
            <a:srgbClr val="FFFF00"/>
          </a:solidFill>
        </p:spPr>
        <p:txBody>
          <a:bodyPr wrap="square">
            <a:spAutoFit/>
          </a:bodyPr>
          <a:lstStyle/>
          <a:p>
            <a:pPr marL="0" lvl="1"/>
            <a:r>
              <a:rPr lang="es-ES" sz="2200" b="1" kern="0" dirty="0">
                <a:latin typeface="Arial Narrow" panose="020B0606020202030204" pitchFamily="34" charset="0"/>
              </a:rPr>
              <a:t>Max 1.43X11 + 8.48X12 +4X13 + 4.9X14 + 11.31X15 +</a:t>
            </a:r>
          </a:p>
          <a:p>
            <a:pPr marL="0" lvl="1"/>
            <a:r>
              <a:rPr lang="es-ES" sz="2200" b="1" kern="0" dirty="0">
                <a:latin typeface="Arial Narrow" panose="020B0606020202030204" pitchFamily="34" charset="0"/>
              </a:rPr>
              <a:t>        1.04X21 + 0,96X22 +0,8X23 + 1.4X24 + 13,26X25</a:t>
            </a:r>
          </a:p>
          <a:p>
            <a:pPr marL="0" lvl="1"/>
            <a:r>
              <a:rPr lang="es-ES" sz="2200" b="1" kern="0" dirty="0" err="1">
                <a:solidFill>
                  <a:srgbClr val="FF0000"/>
                </a:solidFill>
                <a:latin typeface="Arial Narrow" panose="020B0606020202030204" pitchFamily="34" charset="0"/>
              </a:rPr>
              <a:t>ST</a:t>
            </a:r>
            <a:endParaRPr lang="es-ES" sz="2200" b="1" kern="0" dirty="0">
              <a:solidFill>
                <a:srgbClr val="FF0000"/>
              </a:solidFill>
              <a:latin typeface="Arial Narrow" panose="020B0606020202030204" pitchFamily="34" charset="0"/>
            </a:endParaRPr>
          </a:p>
          <a:p>
            <a:r>
              <a:rPr lang="es-ES" sz="2200" b="1" kern="0" dirty="0">
                <a:latin typeface="Arial Narrow" panose="020B0606020202030204" pitchFamily="34" charset="0"/>
              </a:rPr>
              <a:t>11X11 + 53X12 + 25X13 + 35X14 + 29X15 &lt;= 40   </a:t>
            </a:r>
          </a:p>
          <a:p>
            <a:r>
              <a:rPr lang="es-ES" sz="2200" b="1" kern="0" dirty="0">
                <a:latin typeface="Arial Narrow" panose="020B0606020202030204" pitchFamily="34" charset="0"/>
              </a:rPr>
              <a:t>  8X21 +   6X22 +   5X23 + 10X24 + 34X25 &lt;= 20   </a:t>
            </a:r>
          </a:p>
          <a:p>
            <a:r>
              <a:rPr lang="es-ES" sz="2200" b="1" kern="0" dirty="0">
                <a:solidFill>
                  <a:srgbClr val="FF0000"/>
                </a:solidFill>
                <a:latin typeface="Arial Narrow" panose="020B0606020202030204" pitchFamily="34" charset="0"/>
              </a:rPr>
              <a:t>END</a:t>
            </a:r>
          </a:p>
          <a:p>
            <a:r>
              <a:rPr lang="es-ES" sz="2200" b="1" kern="0" dirty="0">
                <a:latin typeface="Arial Narrow" panose="020B0606020202030204" pitchFamily="34" charset="0"/>
              </a:rPr>
              <a:t>INT X11</a:t>
            </a:r>
          </a:p>
          <a:p>
            <a:r>
              <a:rPr lang="es-ES" sz="2200" b="1" kern="0" dirty="0">
                <a:latin typeface="Arial Narrow" panose="020B0606020202030204" pitchFamily="34" charset="0"/>
              </a:rPr>
              <a:t>INT X12</a:t>
            </a:r>
          </a:p>
          <a:p>
            <a:r>
              <a:rPr lang="es-ES" sz="2200" b="1" kern="0" dirty="0">
                <a:latin typeface="Arial Narrow" panose="020B0606020202030204" pitchFamily="34" charset="0"/>
              </a:rPr>
              <a:t>INT X13</a:t>
            </a:r>
          </a:p>
          <a:p>
            <a:r>
              <a:rPr lang="es-ES" sz="2200" b="1" kern="0" dirty="0">
                <a:latin typeface="Arial Narrow" panose="020B0606020202030204" pitchFamily="34" charset="0"/>
              </a:rPr>
              <a:t>INT X14</a:t>
            </a:r>
          </a:p>
          <a:p>
            <a:r>
              <a:rPr lang="es-ES" sz="2200" b="1" kern="0" dirty="0">
                <a:latin typeface="Arial Narrow" panose="020B0606020202030204" pitchFamily="34" charset="0"/>
              </a:rPr>
              <a:t>INT X15</a:t>
            </a:r>
          </a:p>
          <a:p>
            <a:r>
              <a:rPr lang="es-ES" sz="2200" b="1" kern="0" dirty="0">
                <a:latin typeface="Arial Narrow" panose="020B0606020202030204" pitchFamily="34" charset="0"/>
              </a:rPr>
              <a:t>INT X21</a:t>
            </a:r>
          </a:p>
          <a:p>
            <a:r>
              <a:rPr lang="es-ES" sz="2200" b="1" kern="0" dirty="0">
                <a:latin typeface="Arial Narrow" panose="020B0606020202030204" pitchFamily="34" charset="0"/>
              </a:rPr>
              <a:t>INT X22</a:t>
            </a:r>
          </a:p>
          <a:p>
            <a:r>
              <a:rPr lang="es-ES" sz="2200" b="1" kern="0" dirty="0">
                <a:latin typeface="Arial Narrow" panose="020B0606020202030204" pitchFamily="34" charset="0"/>
              </a:rPr>
              <a:t>INT X23</a:t>
            </a:r>
          </a:p>
          <a:p>
            <a:r>
              <a:rPr lang="es-ES" sz="2200" b="1" kern="0" dirty="0">
                <a:latin typeface="Arial Narrow" panose="020B0606020202030204" pitchFamily="34" charset="0"/>
              </a:rPr>
              <a:t>INT X24</a:t>
            </a:r>
          </a:p>
          <a:p>
            <a:r>
              <a:rPr lang="es-ES" sz="2200" b="1" kern="0" dirty="0">
                <a:latin typeface="Arial Narrow" panose="020B0606020202030204" pitchFamily="34" charset="0"/>
              </a:rPr>
              <a:t>INT X25</a:t>
            </a:r>
          </a:p>
        </p:txBody>
      </p:sp>
      <p:sp>
        <p:nvSpPr>
          <p:cNvPr id="5" name="Rectángulo 4">
            <a:extLst>
              <a:ext uri="{FF2B5EF4-FFF2-40B4-BE49-F238E27FC236}">
                <a16:creationId xmlns:a16="http://schemas.microsoft.com/office/drawing/2014/main" id="{454D0EE4-AE06-45E2-A46A-EE715DF85D77}"/>
              </a:ext>
            </a:extLst>
          </p:cNvPr>
          <p:cNvSpPr/>
          <p:nvPr/>
        </p:nvSpPr>
        <p:spPr>
          <a:xfrm>
            <a:off x="6096000" y="1891312"/>
            <a:ext cx="6096000" cy="4893647"/>
          </a:xfrm>
          <a:prstGeom prst="rect">
            <a:avLst/>
          </a:prstGeom>
          <a:solidFill>
            <a:srgbClr val="FFC000"/>
          </a:solidFill>
        </p:spPr>
        <p:txBody>
          <a:bodyPr wrap="square">
            <a:spAutoFit/>
          </a:bodyPr>
          <a:lstStyle/>
          <a:p>
            <a:r>
              <a:rPr lang="es-PE" sz="2400" b="1" dirty="0">
                <a:latin typeface="Arial Narrow" panose="020B0606020202030204" pitchFamily="34" charset="0"/>
              </a:rPr>
              <a:t> </a:t>
            </a:r>
            <a:r>
              <a:rPr lang="en-US" sz="2400" b="1" dirty="0">
                <a:latin typeface="Arial Narrow" panose="020B0606020202030204" pitchFamily="34" charset="0"/>
              </a:rPr>
              <a:t>OBJECTIVE FUNCTION VALUE</a:t>
            </a:r>
          </a:p>
          <a:p>
            <a:r>
              <a:rPr lang="en-US" sz="2400" b="1" dirty="0">
                <a:latin typeface="Arial Narrow" panose="020B0606020202030204" pitchFamily="34" charset="0"/>
              </a:rPr>
              <a:t>        1)      32.70000</a:t>
            </a:r>
          </a:p>
          <a:p>
            <a:r>
              <a:rPr lang="en-US" sz="2400" b="1" dirty="0">
                <a:latin typeface="Arial Narrow" panose="020B0606020202030204" pitchFamily="34" charset="0"/>
              </a:rPr>
              <a:t>  VARIABLE     VALUE   REDUCED COST</a:t>
            </a:r>
          </a:p>
          <a:p>
            <a:r>
              <a:rPr lang="en-US" sz="2400" b="1" dirty="0">
                <a:latin typeface="Arial Narrow" panose="020B0606020202030204" pitchFamily="34" charset="0"/>
              </a:rPr>
              <a:t>       X11         1.000000        -18.590000</a:t>
            </a:r>
          </a:p>
          <a:p>
            <a:r>
              <a:rPr lang="en-US" sz="2400" b="1" dirty="0">
                <a:latin typeface="Arial Narrow" panose="020B0606020202030204" pitchFamily="34" charset="0"/>
              </a:rPr>
              <a:t>       X12         0.000000         -8.480000</a:t>
            </a:r>
          </a:p>
          <a:p>
            <a:r>
              <a:rPr lang="en-US" sz="2400" b="1" dirty="0">
                <a:latin typeface="Arial Narrow" panose="020B0606020202030204" pitchFamily="34" charset="0"/>
              </a:rPr>
              <a:t>       X13         0.000000         -4.000000</a:t>
            </a:r>
          </a:p>
          <a:p>
            <a:r>
              <a:rPr lang="en-US" sz="2400" b="1" dirty="0">
                <a:latin typeface="Arial Narrow" panose="020B0606020202030204" pitchFamily="34" charset="0"/>
              </a:rPr>
              <a:t>       X14         0.000000         -4.900000</a:t>
            </a:r>
          </a:p>
          <a:p>
            <a:r>
              <a:rPr lang="en-US" sz="2400" b="1" dirty="0">
                <a:latin typeface="Arial Narrow" panose="020B0606020202030204" pitchFamily="34" charset="0"/>
              </a:rPr>
              <a:t>       X15         1.000000        -11.310000</a:t>
            </a:r>
          </a:p>
          <a:p>
            <a:r>
              <a:rPr lang="en-US" sz="2400" b="1" dirty="0">
                <a:latin typeface="Arial Narrow" panose="020B0606020202030204" pitchFamily="34" charset="0"/>
              </a:rPr>
              <a:t>       X21         1.000000         -1.040000</a:t>
            </a:r>
          </a:p>
          <a:p>
            <a:r>
              <a:rPr lang="en-US" sz="2400" b="1" dirty="0">
                <a:latin typeface="Arial Narrow" panose="020B0606020202030204" pitchFamily="34" charset="0"/>
              </a:rPr>
              <a:t>       X22         1.000000         -0.960000</a:t>
            </a:r>
          </a:p>
          <a:p>
            <a:r>
              <a:rPr lang="en-US" sz="2400" b="1" dirty="0">
                <a:latin typeface="Arial Narrow" panose="020B0606020202030204" pitchFamily="34" charset="0"/>
              </a:rPr>
              <a:t>       X23         1.000000         -0.800000</a:t>
            </a:r>
          </a:p>
          <a:p>
            <a:r>
              <a:rPr lang="en-US" sz="2400" b="1" dirty="0">
                <a:latin typeface="Arial Narrow" panose="020B0606020202030204" pitchFamily="34" charset="0"/>
              </a:rPr>
              <a:t>       X24         0.000000         -1.400000</a:t>
            </a:r>
          </a:p>
          <a:p>
            <a:r>
              <a:rPr lang="en-US" sz="2400" b="1" dirty="0">
                <a:latin typeface="Arial Narrow" panose="020B0606020202030204" pitchFamily="34" charset="0"/>
              </a:rPr>
              <a:t>       X25         0.000000        -13.260000</a:t>
            </a:r>
            <a:endParaRPr lang="es-PE" sz="2400" b="1" dirty="0">
              <a:latin typeface="Arial Narrow" panose="020B0606020202030204" pitchFamily="34" charset="0"/>
            </a:endParaRPr>
          </a:p>
        </p:txBody>
      </p:sp>
    </p:spTree>
    <p:extLst>
      <p:ext uri="{BB962C8B-B14F-4D97-AF65-F5344CB8AC3E}">
        <p14:creationId xmlns:p14="http://schemas.microsoft.com/office/powerpoint/2010/main" val="180378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extLst>
              <p:ext uri="{D42A27DB-BD31-4B8C-83A1-F6EECF244321}">
                <p14:modId xmlns:p14="http://schemas.microsoft.com/office/powerpoint/2010/main" val="2137395582"/>
              </p:ext>
            </p:extLst>
          </p:nvPr>
        </p:nvGraphicFramePr>
        <p:xfrm>
          <a:off x="487682" y="1531482"/>
          <a:ext cx="7621602" cy="4712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4 Rectángulo redondeado"/>
          <p:cNvSpPr/>
          <p:nvPr/>
        </p:nvSpPr>
        <p:spPr>
          <a:xfrm>
            <a:off x="6096000" y="108371"/>
            <a:ext cx="6096000" cy="827602"/>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accent5">
                    <a:lumMod val="20000"/>
                    <a:lumOff val="80000"/>
                  </a:schemeClr>
                </a:solidFill>
                <a:effectLst>
                  <a:outerShdw blurRad="63500" dist="38100" dir="5400000" algn="t" rotWithShape="0">
                    <a:prstClr val="black">
                      <a:alpha val="25000"/>
                    </a:prstClr>
                  </a:outerShdw>
                </a:effectLst>
                <a:latin typeface="Bauhaus 93" pitchFamily="82" charset="0"/>
              </a:rPr>
              <a:t>Algunas reflexiones</a:t>
            </a:r>
            <a:endParaRPr lang="es-PE" sz="3200" dirty="0">
              <a:solidFill>
                <a:schemeClr val="accent5">
                  <a:lumMod val="20000"/>
                  <a:lumOff val="80000"/>
                </a:schemeClr>
              </a:solidFill>
              <a:effectLst>
                <a:outerShdw blurRad="63500" dist="38100" dir="5400000" algn="t" rotWithShape="0">
                  <a:prstClr val="black">
                    <a:alpha val="25000"/>
                  </a:prstClr>
                </a:outerShdw>
              </a:effectLst>
              <a:latin typeface="Bauhaus 93" pitchFamily="82" charset="0"/>
            </a:endParaRPr>
          </a:p>
        </p:txBody>
      </p:sp>
      <p:graphicFrame>
        <p:nvGraphicFramePr>
          <p:cNvPr id="3" name="1 Diagrama">
            <a:extLst>
              <a:ext uri="{FF2B5EF4-FFF2-40B4-BE49-F238E27FC236}">
                <a16:creationId xmlns:a16="http://schemas.microsoft.com/office/drawing/2014/main" id="{19F6A2B8-1A14-78E9-7A9D-469F46DA32BD}"/>
              </a:ext>
            </a:extLst>
          </p:cNvPr>
          <p:cNvGraphicFramePr/>
          <p:nvPr>
            <p:extLst>
              <p:ext uri="{D42A27DB-BD31-4B8C-83A1-F6EECF244321}">
                <p14:modId xmlns:p14="http://schemas.microsoft.com/office/powerpoint/2010/main" val="1312634697"/>
              </p:ext>
            </p:extLst>
          </p:nvPr>
        </p:nvGraphicFramePr>
        <p:xfrm>
          <a:off x="8247646" y="1598445"/>
          <a:ext cx="3776935" cy="493470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4" name="Grupo 3">
            <a:extLst>
              <a:ext uri="{FF2B5EF4-FFF2-40B4-BE49-F238E27FC236}">
                <a16:creationId xmlns:a16="http://schemas.microsoft.com/office/drawing/2014/main" id="{C04A1BAC-94A1-979B-910E-9322E50F0254}"/>
              </a:ext>
            </a:extLst>
          </p:cNvPr>
          <p:cNvGrpSpPr/>
          <p:nvPr/>
        </p:nvGrpSpPr>
        <p:grpSpPr>
          <a:xfrm>
            <a:off x="8247646" y="1248968"/>
            <a:ext cx="3776935" cy="698954"/>
            <a:chOff x="0" y="2963078"/>
            <a:chExt cx="3776935" cy="698954"/>
          </a:xfrm>
        </p:grpSpPr>
        <p:sp>
          <p:nvSpPr>
            <p:cNvPr id="6" name="Rectángulo: esquinas redondeadas 5">
              <a:extLst>
                <a:ext uri="{FF2B5EF4-FFF2-40B4-BE49-F238E27FC236}">
                  <a16:creationId xmlns:a16="http://schemas.microsoft.com/office/drawing/2014/main" id="{CEC3E8D0-878C-E36F-E2A8-6D55B72D83BA}"/>
                </a:ext>
              </a:extLst>
            </p:cNvPr>
            <p:cNvSpPr/>
            <p:nvPr/>
          </p:nvSpPr>
          <p:spPr>
            <a:xfrm>
              <a:off x="0" y="2963078"/>
              <a:ext cx="3776935" cy="698954"/>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Rectángulo: esquinas redondeadas 4">
              <a:extLst>
                <a:ext uri="{FF2B5EF4-FFF2-40B4-BE49-F238E27FC236}">
                  <a16:creationId xmlns:a16="http://schemas.microsoft.com/office/drawing/2014/main" id="{3FF956C6-419B-A02A-880E-433C1E796FFB}"/>
                </a:ext>
              </a:extLst>
            </p:cNvPr>
            <p:cNvSpPr txBox="1"/>
            <p:nvPr/>
          </p:nvSpPr>
          <p:spPr>
            <a:xfrm>
              <a:off x="34120" y="2997198"/>
              <a:ext cx="3708695" cy="630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800" b="1" kern="1200" dirty="0">
                  <a:solidFill>
                    <a:srgbClr val="FFFF00"/>
                  </a:solidFill>
                </a:rPr>
                <a:t>DIFICULTADES</a:t>
              </a:r>
              <a:endParaRPr lang="es-PE" sz="2800" b="1" kern="1200" dirty="0">
                <a:solidFill>
                  <a:srgbClr val="FFFF00"/>
                </a:solidFill>
              </a:endParaRPr>
            </a:p>
          </p:txBody>
        </p:sp>
      </p:grpSp>
    </p:spTree>
    <p:extLst>
      <p:ext uri="{BB962C8B-B14F-4D97-AF65-F5344CB8AC3E}">
        <p14:creationId xmlns:p14="http://schemas.microsoft.com/office/powerpoint/2010/main" val="32313198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095999" y="167780"/>
            <a:ext cx="6096001" cy="704675"/>
          </a:xfrm>
        </p:spPr>
        <p:txBody>
          <a:bodyPr/>
          <a:lstStyle/>
          <a:p>
            <a:pPr algn="ctr" eaLnBrk="1" hangingPunct="1"/>
            <a:r>
              <a:rPr lang="es-MX" altLang="es-PE" sz="2600" b="1" dirty="0">
                <a:solidFill>
                  <a:schemeClr val="bg1"/>
                </a:solidFill>
              </a:rPr>
              <a:t>¿Qué es un modelo de P. L.?</a:t>
            </a:r>
            <a:endParaRPr lang="es-ES" altLang="es-PE" sz="2600" b="1" dirty="0">
              <a:solidFill>
                <a:schemeClr val="bg1"/>
              </a:solidFill>
            </a:endParaRPr>
          </a:p>
        </p:txBody>
      </p:sp>
      <p:graphicFrame>
        <p:nvGraphicFramePr>
          <p:cNvPr id="2" name="Marcador de contenido 1">
            <a:extLst>
              <a:ext uri="{FF2B5EF4-FFF2-40B4-BE49-F238E27FC236}">
                <a16:creationId xmlns:a16="http://schemas.microsoft.com/office/drawing/2014/main" id="{48047444-48A3-4AD8-AACF-EA55E47348CA}"/>
              </a:ext>
            </a:extLst>
          </p:cNvPr>
          <p:cNvGraphicFramePr>
            <a:graphicFrameLocks noGrp="1"/>
          </p:cNvGraphicFramePr>
          <p:nvPr>
            <p:ph idx="1"/>
            <p:extLst>
              <p:ext uri="{D42A27DB-BD31-4B8C-83A1-F6EECF244321}">
                <p14:modId xmlns:p14="http://schemas.microsoft.com/office/powerpoint/2010/main" val="2485345252"/>
              </p:ext>
            </p:extLst>
          </p:nvPr>
        </p:nvGraphicFramePr>
        <p:xfrm>
          <a:off x="595509" y="2139848"/>
          <a:ext cx="4777679" cy="30032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descr="Rectangle: Click to edit Master text styles&#10;Second level&#10;Third level&#10;Fourth level&#10;Fifth level">
            <a:extLst>
              <a:ext uri="{FF2B5EF4-FFF2-40B4-BE49-F238E27FC236}">
                <a16:creationId xmlns:a16="http://schemas.microsoft.com/office/drawing/2014/main" id="{E56A52D0-F45B-41DA-8B96-AF2403B174D5}"/>
              </a:ext>
            </a:extLst>
          </p:cNvPr>
          <p:cNvSpPr txBox="1">
            <a:spLocks noChangeArrowheads="1"/>
          </p:cNvSpPr>
          <p:nvPr/>
        </p:nvSpPr>
        <p:spPr>
          <a:xfrm>
            <a:off x="5986731" y="1874808"/>
            <a:ext cx="5943601" cy="487680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MX" altLang="es-PE" dirty="0">
                <a:solidFill>
                  <a:srgbClr val="FF0000"/>
                </a:solidFill>
                <a:latin typeface="Arial Narrow" panose="020B0606020202030204" pitchFamily="34" charset="0"/>
              </a:rPr>
              <a:t>Identificación de las variables</a:t>
            </a:r>
          </a:p>
          <a:p>
            <a:pPr algn="just"/>
            <a:r>
              <a:rPr lang="es-MX" altLang="es-PE" dirty="0">
                <a:latin typeface="Arial Narrow" panose="020B0606020202030204" pitchFamily="34" charset="0"/>
              </a:rPr>
              <a:t>Xi = Cantidad en (unidades de medida) de….</a:t>
            </a:r>
          </a:p>
          <a:p>
            <a:pPr algn="just"/>
            <a:r>
              <a:rPr lang="es-MX" altLang="es-PE" dirty="0">
                <a:solidFill>
                  <a:srgbClr val="FF0000"/>
                </a:solidFill>
                <a:latin typeface="Arial Narrow" panose="020B0606020202030204" pitchFamily="34" charset="0"/>
              </a:rPr>
              <a:t>Identificación de la Función objetivo</a:t>
            </a:r>
          </a:p>
          <a:p>
            <a:pPr algn="just">
              <a:buFont typeface="Wingdings" pitchFamily="2" charset="2"/>
              <a:buNone/>
            </a:pPr>
            <a:r>
              <a:rPr lang="es-MX" altLang="es-PE" dirty="0">
                <a:latin typeface="Arial Narrow" panose="020B0606020202030204" pitchFamily="34" charset="0"/>
              </a:rPr>
              <a:t>    Max ( </a:t>
            </a:r>
            <a:r>
              <a:rPr lang="es-MX" altLang="es-PE" dirty="0" err="1">
                <a:latin typeface="Arial Narrow" panose="020B0606020202030204" pitchFamily="34" charset="0"/>
              </a:rPr>
              <a:t>ó</a:t>
            </a:r>
            <a:r>
              <a:rPr lang="es-MX" altLang="es-PE" dirty="0">
                <a:latin typeface="Arial Narrow" panose="020B0606020202030204" pitchFamily="34" charset="0"/>
              </a:rPr>
              <a:t> Min) = f(</a:t>
            </a:r>
            <a:r>
              <a:rPr lang="es-MX" altLang="es-PE" dirty="0" err="1">
                <a:latin typeface="Arial Narrow" panose="020B0606020202030204" pitchFamily="34" charset="0"/>
              </a:rPr>
              <a:t>x1,x2</a:t>
            </a:r>
            <a:r>
              <a:rPr lang="es-MX" altLang="es-PE" dirty="0">
                <a:latin typeface="Arial Narrow" panose="020B0606020202030204" pitchFamily="34" charset="0"/>
              </a:rPr>
              <a:t>,...,</a:t>
            </a:r>
            <a:r>
              <a:rPr lang="es-MX" altLang="es-PE" dirty="0" err="1">
                <a:latin typeface="Arial Narrow" panose="020B0606020202030204" pitchFamily="34" charset="0"/>
              </a:rPr>
              <a:t>xn</a:t>
            </a:r>
            <a:r>
              <a:rPr lang="es-MX" altLang="es-PE" dirty="0">
                <a:latin typeface="Arial Narrow" panose="020B0606020202030204" pitchFamily="34" charset="0"/>
              </a:rPr>
              <a:t>)</a:t>
            </a:r>
          </a:p>
          <a:p>
            <a:pPr algn="just"/>
            <a:r>
              <a:rPr lang="es-MX" altLang="es-PE" dirty="0">
                <a:solidFill>
                  <a:srgbClr val="FF0000"/>
                </a:solidFill>
                <a:latin typeface="Arial Narrow" panose="020B0606020202030204" pitchFamily="34" charset="0"/>
              </a:rPr>
              <a:t>Identificación de las Restricciones</a:t>
            </a:r>
          </a:p>
          <a:p>
            <a:pPr algn="just">
              <a:buFont typeface="Wingdings" pitchFamily="2" charset="2"/>
              <a:buNone/>
            </a:pPr>
            <a:r>
              <a:rPr lang="es-MX" altLang="es-PE" dirty="0">
                <a:latin typeface="Arial Narrow" panose="020B0606020202030204" pitchFamily="34" charset="0"/>
              </a:rPr>
              <a:t>     f(</a:t>
            </a:r>
            <a:r>
              <a:rPr lang="es-MX" altLang="es-PE" dirty="0" err="1">
                <a:latin typeface="Arial Narrow" panose="020B0606020202030204" pitchFamily="34" charset="0"/>
              </a:rPr>
              <a:t>x1,x2</a:t>
            </a:r>
            <a:r>
              <a:rPr lang="es-MX" altLang="es-PE" dirty="0">
                <a:latin typeface="Arial Narrow" panose="020B0606020202030204" pitchFamily="34" charset="0"/>
              </a:rPr>
              <a:t>,...,</a:t>
            </a:r>
            <a:r>
              <a:rPr lang="es-MX" altLang="es-PE" dirty="0" err="1">
                <a:latin typeface="Arial Narrow" panose="020B0606020202030204" pitchFamily="34" charset="0"/>
              </a:rPr>
              <a:t>xn</a:t>
            </a:r>
            <a:r>
              <a:rPr lang="es-MX" altLang="es-PE" dirty="0">
                <a:latin typeface="Arial Narrow" panose="020B0606020202030204" pitchFamily="34" charset="0"/>
              </a:rPr>
              <a:t>) &lt;= </a:t>
            </a:r>
            <a:r>
              <a:rPr lang="es-MX" altLang="es-PE" dirty="0" err="1">
                <a:latin typeface="Arial Narrow" panose="020B0606020202030204" pitchFamily="34" charset="0"/>
              </a:rPr>
              <a:t>b1</a:t>
            </a:r>
            <a:endParaRPr lang="es-MX" altLang="es-PE" dirty="0">
              <a:latin typeface="Arial Narrow" panose="020B0606020202030204" pitchFamily="34" charset="0"/>
            </a:endParaRPr>
          </a:p>
          <a:p>
            <a:pPr algn="just">
              <a:buFont typeface="Wingdings" pitchFamily="2" charset="2"/>
              <a:buNone/>
            </a:pPr>
            <a:r>
              <a:rPr lang="es-MX" altLang="es-PE" dirty="0">
                <a:latin typeface="Arial Narrow" panose="020B0606020202030204" pitchFamily="34" charset="0"/>
              </a:rPr>
              <a:t>     f(</a:t>
            </a:r>
            <a:r>
              <a:rPr lang="es-MX" altLang="es-PE" dirty="0" err="1">
                <a:latin typeface="Arial Narrow" panose="020B0606020202030204" pitchFamily="34" charset="0"/>
              </a:rPr>
              <a:t>x1,x2</a:t>
            </a:r>
            <a:r>
              <a:rPr lang="es-MX" altLang="es-PE" dirty="0">
                <a:latin typeface="Arial Narrow" panose="020B0606020202030204" pitchFamily="34" charset="0"/>
              </a:rPr>
              <a:t>,...,</a:t>
            </a:r>
            <a:r>
              <a:rPr lang="es-MX" altLang="es-PE" dirty="0" err="1">
                <a:latin typeface="Arial Narrow" panose="020B0606020202030204" pitchFamily="34" charset="0"/>
              </a:rPr>
              <a:t>xn</a:t>
            </a:r>
            <a:r>
              <a:rPr lang="es-MX" altLang="es-PE" dirty="0">
                <a:latin typeface="Arial Narrow" panose="020B0606020202030204" pitchFamily="34" charset="0"/>
              </a:rPr>
              <a:t>) &gt;= </a:t>
            </a:r>
            <a:r>
              <a:rPr lang="es-MX" altLang="es-PE" dirty="0" err="1">
                <a:latin typeface="Arial Narrow" panose="020B0606020202030204" pitchFamily="34" charset="0"/>
              </a:rPr>
              <a:t>b2</a:t>
            </a:r>
            <a:endParaRPr lang="es-MX" altLang="es-PE" dirty="0">
              <a:latin typeface="Arial Narrow" panose="020B0606020202030204" pitchFamily="34" charset="0"/>
            </a:endParaRPr>
          </a:p>
          <a:p>
            <a:pPr algn="just">
              <a:buFont typeface="Wingdings" pitchFamily="2" charset="2"/>
              <a:buNone/>
            </a:pPr>
            <a:r>
              <a:rPr lang="es-MX" altLang="es-PE" dirty="0">
                <a:latin typeface="Arial Narrow" panose="020B0606020202030204" pitchFamily="34" charset="0"/>
              </a:rPr>
              <a:t>     ....</a:t>
            </a:r>
          </a:p>
          <a:p>
            <a:pPr algn="just">
              <a:buFont typeface="Wingdings" pitchFamily="2" charset="2"/>
              <a:buNone/>
            </a:pPr>
            <a:r>
              <a:rPr lang="es-MX" altLang="es-PE" dirty="0">
                <a:latin typeface="Arial Narrow" panose="020B0606020202030204" pitchFamily="34" charset="0"/>
              </a:rPr>
              <a:t>     f(</a:t>
            </a:r>
            <a:r>
              <a:rPr lang="es-MX" altLang="es-PE" dirty="0" err="1">
                <a:latin typeface="Arial Narrow" panose="020B0606020202030204" pitchFamily="34" charset="0"/>
              </a:rPr>
              <a:t>x1,x2</a:t>
            </a:r>
            <a:r>
              <a:rPr lang="es-MX" altLang="es-PE" dirty="0">
                <a:latin typeface="Arial Narrow" panose="020B0606020202030204" pitchFamily="34" charset="0"/>
              </a:rPr>
              <a:t>,...,</a:t>
            </a:r>
            <a:r>
              <a:rPr lang="es-MX" altLang="es-PE" dirty="0" err="1">
                <a:latin typeface="Arial Narrow" panose="020B0606020202030204" pitchFamily="34" charset="0"/>
              </a:rPr>
              <a:t>xn</a:t>
            </a:r>
            <a:r>
              <a:rPr lang="es-MX" altLang="es-PE" dirty="0">
                <a:latin typeface="Arial Narrow" panose="020B0606020202030204" pitchFamily="34" charset="0"/>
              </a:rPr>
              <a:t>)   =  </a:t>
            </a:r>
            <a:r>
              <a:rPr lang="es-MX" altLang="es-PE" dirty="0" err="1">
                <a:latin typeface="Arial Narrow" panose="020B0606020202030204" pitchFamily="34" charset="0"/>
              </a:rPr>
              <a:t>bm</a:t>
            </a:r>
            <a:endParaRPr lang="es-MX" altLang="es-PE" dirty="0">
              <a:latin typeface="Arial Narrow" panose="020B0606020202030204" pitchFamily="34" charset="0"/>
            </a:endParaRPr>
          </a:p>
          <a:p>
            <a:pPr marL="0" indent="0" algn="just">
              <a:buFont typeface="Arial" panose="020B0604020202020204" pitchFamily="34" charset="0"/>
              <a:buNone/>
            </a:pPr>
            <a:r>
              <a:rPr lang="es-MX" altLang="es-PE" dirty="0">
                <a:latin typeface="Arial Narrow" panose="020B0606020202030204" pitchFamily="34" charset="0"/>
              </a:rPr>
              <a:t>     Xi &gt;= 0     (Restricciones no negatividad)</a:t>
            </a:r>
          </a:p>
          <a:p>
            <a:pPr algn="just">
              <a:buFont typeface="Wingdings" pitchFamily="2" charset="2"/>
              <a:buNone/>
            </a:pPr>
            <a:endParaRPr lang="es-ES" altLang="es-PE" dirty="0">
              <a:latin typeface="Arial Narrow" panose="020B0606020202030204" pitchFamily="34" charset="0"/>
            </a:endParaRPr>
          </a:p>
        </p:txBody>
      </p:sp>
      <p:sp>
        <p:nvSpPr>
          <p:cNvPr id="3" name="Rectángulo 2">
            <a:extLst>
              <a:ext uri="{FF2B5EF4-FFF2-40B4-BE49-F238E27FC236}">
                <a16:creationId xmlns:a16="http://schemas.microsoft.com/office/drawing/2014/main" id="{F47114D2-26C7-4399-8B0B-9FACE55CECE0}"/>
              </a:ext>
            </a:extLst>
          </p:cNvPr>
          <p:cNvSpPr/>
          <p:nvPr/>
        </p:nvSpPr>
        <p:spPr>
          <a:xfrm>
            <a:off x="6896807" y="1290033"/>
            <a:ext cx="4636709" cy="584775"/>
          </a:xfrm>
          <a:prstGeom prst="rect">
            <a:avLst/>
          </a:prstGeom>
          <a:noFill/>
        </p:spPr>
        <p:txBody>
          <a:bodyPr wrap="square" lIns="91440" tIns="45720" rIns="91440" bIns="45720">
            <a:spAutoFit/>
          </a:bodyPr>
          <a:lstStyle/>
          <a:p>
            <a:pPr algn="ctr"/>
            <a:r>
              <a:rPr lang="es-ES" sz="3200" b="1" cap="none" spc="0" dirty="0">
                <a:ln w="22225">
                  <a:solidFill>
                    <a:schemeClr val="accent2"/>
                  </a:solidFill>
                  <a:prstDash val="solid"/>
                </a:ln>
                <a:solidFill>
                  <a:schemeClr val="accent2">
                    <a:lumMod val="40000"/>
                    <a:lumOff val="60000"/>
                  </a:schemeClr>
                </a:solidFill>
                <a:effectLst/>
              </a:rPr>
              <a:t>Estructura del Modelo</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096000" y="269966"/>
            <a:ext cx="6096000" cy="803825"/>
          </a:xfrm>
        </p:spPr>
        <p:txBody>
          <a:bodyPr>
            <a:normAutofit/>
          </a:bodyPr>
          <a:lstStyle/>
          <a:p>
            <a:pPr algn="ctr" eaLnBrk="1" hangingPunct="1"/>
            <a:r>
              <a:rPr lang="es-MX" altLang="es-PE" sz="3200" b="1" dirty="0">
                <a:solidFill>
                  <a:schemeClr val="bg1"/>
                </a:solidFill>
              </a:rPr>
              <a:t>Primera propiedad de un modelo</a:t>
            </a:r>
            <a:endParaRPr lang="es-ES" altLang="es-PE" sz="3200" b="1" dirty="0">
              <a:solidFill>
                <a:schemeClr val="bg1"/>
              </a:solidFill>
            </a:endParaRPr>
          </a:p>
        </p:txBody>
      </p:sp>
      <p:grpSp>
        <p:nvGrpSpPr>
          <p:cNvPr id="8" name="Grupo 7">
            <a:extLst>
              <a:ext uri="{FF2B5EF4-FFF2-40B4-BE49-F238E27FC236}">
                <a16:creationId xmlns:a16="http://schemas.microsoft.com/office/drawing/2014/main" id="{C18C7570-DFFA-4E1A-BE29-E929D0A8A2B8}"/>
              </a:ext>
            </a:extLst>
          </p:cNvPr>
          <p:cNvGrpSpPr/>
          <p:nvPr/>
        </p:nvGrpSpPr>
        <p:grpSpPr>
          <a:xfrm>
            <a:off x="5843451" y="2596969"/>
            <a:ext cx="5441331" cy="2506253"/>
            <a:chOff x="5028453" y="6752"/>
            <a:chExt cx="5349118" cy="1664060"/>
          </a:xfrm>
        </p:grpSpPr>
        <p:sp>
          <p:nvSpPr>
            <p:cNvPr id="12" name="Rectángulo: esquinas superiores redondeadas 11">
              <a:extLst>
                <a:ext uri="{FF2B5EF4-FFF2-40B4-BE49-F238E27FC236}">
                  <a16:creationId xmlns:a16="http://schemas.microsoft.com/office/drawing/2014/main" id="{BE577573-03D8-4081-9A92-5FE254E04A3B}"/>
                </a:ext>
              </a:extLst>
            </p:cNvPr>
            <p:cNvSpPr/>
            <p:nvPr/>
          </p:nvSpPr>
          <p:spPr>
            <a:xfrm rot="5400000">
              <a:off x="6870982" y="-1835777"/>
              <a:ext cx="1664060" cy="5349118"/>
            </a:xfrm>
            <a:prstGeom prst="round2Same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s-PE" sz="2800"/>
            </a:p>
          </p:txBody>
        </p:sp>
        <p:sp>
          <p:nvSpPr>
            <p:cNvPr id="13" name="Rectángulo: esquinas superiores redondeadas 4">
              <a:extLst>
                <a:ext uri="{FF2B5EF4-FFF2-40B4-BE49-F238E27FC236}">
                  <a16:creationId xmlns:a16="http://schemas.microsoft.com/office/drawing/2014/main" id="{2F5BDED8-5E4E-4673-93F6-0B88205EAC70}"/>
                </a:ext>
              </a:extLst>
            </p:cNvPr>
            <p:cNvSpPr txBox="1"/>
            <p:nvPr/>
          </p:nvSpPr>
          <p:spPr>
            <a:xfrm>
              <a:off x="5028454" y="87984"/>
              <a:ext cx="5267885" cy="150159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r>
                <a:rPr lang="es-MX" sz="2800" dirty="0"/>
                <a:t>La </a:t>
              </a:r>
              <a:r>
                <a:rPr lang="es-MX" sz="2800" b="1" dirty="0">
                  <a:solidFill>
                    <a:srgbClr val="FF0000"/>
                  </a:solidFill>
                </a:rPr>
                <a:t>Función objetivo </a:t>
              </a:r>
              <a:r>
                <a:rPr lang="es-MX" sz="2800" dirty="0"/>
                <a:t>pueden ser:</a:t>
              </a:r>
              <a:endParaRPr lang="es-PE" sz="2800" dirty="0"/>
            </a:p>
            <a:p>
              <a:pPr lvl="0"/>
              <a:r>
                <a:rPr lang="es-MX" sz="2800" b="1" dirty="0">
                  <a:solidFill>
                    <a:srgbClr val="FF0000"/>
                  </a:solidFill>
                </a:rPr>
                <a:t>Maximizar</a:t>
              </a:r>
              <a:r>
                <a:rPr lang="es-MX" sz="2800" dirty="0"/>
                <a:t>: Utilidades, Producción, Rentabilidad, Etc.</a:t>
              </a:r>
              <a:endParaRPr lang="es-PE" sz="2800" dirty="0"/>
            </a:p>
            <a:p>
              <a:pPr lvl="0"/>
              <a:r>
                <a:rPr lang="es-MX" sz="2800" b="1" dirty="0">
                  <a:solidFill>
                    <a:srgbClr val="FF0000"/>
                  </a:solidFill>
                </a:rPr>
                <a:t>Minimizar</a:t>
              </a:r>
              <a:r>
                <a:rPr lang="es-MX" sz="2800" dirty="0"/>
                <a:t>: Costos, Tiempos, Etc.</a:t>
              </a:r>
              <a:endParaRPr lang="es-PE" sz="2800" dirty="0"/>
            </a:p>
          </p:txBody>
        </p:sp>
      </p:grpSp>
      <p:grpSp>
        <p:nvGrpSpPr>
          <p:cNvPr id="9" name="Grupo 8">
            <a:extLst>
              <a:ext uri="{FF2B5EF4-FFF2-40B4-BE49-F238E27FC236}">
                <a16:creationId xmlns:a16="http://schemas.microsoft.com/office/drawing/2014/main" id="{DDC098B1-5883-4D6C-A91B-26A487D2C7A4}"/>
              </a:ext>
            </a:extLst>
          </p:cNvPr>
          <p:cNvGrpSpPr/>
          <p:nvPr/>
        </p:nvGrpSpPr>
        <p:grpSpPr>
          <a:xfrm>
            <a:off x="820533" y="2591037"/>
            <a:ext cx="5115132" cy="2524123"/>
            <a:chOff x="6" y="819"/>
            <a:chExt cx="5028447" cy="1675925"/>
          </a:xfrm>
        </p:grpSpPr>
        <p:sp>
          <p:nvSpPr>
            <p:cNvPr id="10" name="Rectángulo: esquinas redondeadas 9">
              <a:extLst>
                <a:ext uri="{FF2B5EF4-FFF2-40B4-BE49-F238E27FC236}">
                  <a16:creationId xmlns:a16="http://schemas.microsoft.com/office/drawing/2014/main" id="{CBFF1038-7BF5-46E0-9EF1-797961F78970}"/>
                </a:ext>
              </a:extLst>
            </p:cNvPr>
            <p:cNvSpPr/>
            <p:nvPr/>
          </p:nvSpPr>
          <p:spPr>
            <a:xfrm>
              <a:off x="6" y="819"/>
              <a:ext cx="5028447" cy="167592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sz="2800"/>
            </a:p>
          </p:txBody>
        </p:sp>
        <p:sp>
          <p:nvSpPr>
            <p:cNvPr id="11" name="Rectángulo: esquinas redondeadas 6">
              <a:extLst>
                <a:ext uri="{FF2B5EF4-FFF2-40B4-BE49-F238E27FC236}">
                  <a16:creationId xmlns:a16="http://schemas.microsoft.com/office/drawing/2014/main" id="{8B43F056-129B-44A9-AA36-F348FD650812}"/>
                </a:ext>
              </a:extLst>
            </p:cNvPr>
            <p:cNvSpPr txBox="1"/>
            <p:nvPr/>
          </p:nvSpPr>
          <p:spPr>
            <a:xfrm>
              <a:off x="81818" y="82631"/>
              <a:ext cx="4864823" cy="15123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lvl="0"/>
              <a:r>
                <a:rPr lang="es-MX" sz="2800" dirty="0"/>
                <a:t>OPTIMIZAR:</a:t>
              </a:r>
            </a:p>
            <a:p>
              <a:pPr lvl="0"/>
              <a:r>
                <a:rPr lang="es-MX" sz="2800" dirty="0"/>
                <a:t>Los modelos de PL buscan maximizar o minimizar un objetivo.</a:t>
              </a:r>
              <a:endParaRPr lang="es-PE" sz="2800" dirty="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096000" y="165462"/>
            <a:ext cx="6096000" cy="778299"/>
          </a:xfrm>
        </p:spPr>
        <p:txBody>
          <a:bodyPr>
            <a:noAutofit/>
          </a:bodyPr>
          <a:lstStyle/>
          <a:p>
            <a:pPr algn="ctr" eaLnBrk="1" hangingPunct="1"/>
            <a:r>
              <a:rPr lang="es-MX" altLang="es-PE" sz="3200" b="1" dirty="0">
                <a:solidFill>
                  <a:schemeClr val="bg1"/>
                </a:solidFill>
              </a:rPr>
              <a:t>Segunda propiedad de un modelo</a:t>
            </a:r>
            <a:endParaRPr lang="es-ES" altLang="es-PE" sz="3200" b="1" dirty="0">
              <a:solidFill>
                <a:schemeClr val="bg1"/>
              </a:solidFill>
            </a:endParaRPr>
          </a:p>
        </p:txBody>
      </p:sp>
      <p:graphicFrame>
        <p:nvGraphicFramePr>
          <p:cNvPr id="2" name="Marcador de contenido 1">
            <a:extLst>
              <a:ext uri="{FF2B5EF4-FFF2-40B4-BE49-F238E27FC236}">
                <a16:creationId xmlns:a16="http://schemas.microsoft.com/office/drawing/2014/main" id="{B7349E44-F889-4D97-8285-5FCB60F23B91}"/>
              </a:ext>
            </a:extLst>
          </p:cNvPr>
          <p:cNvGraphicFramePr>
            <a:graphicFrameLocks noGrp="1"/>
          </p:cNvGraphicFramePr>
          <p:nvPr>
            <p:ph idx="1"/>
            <p:extLst>
              <p:ext uri="{D42A27DB-BD31-4B8C-83A1-F6EECF244321}">
                <p14:modId xmlns:p14="http://schemas.microsoft.com/office/powerpoint/2010/main" val="4139092628"/>
              </p:ext>
            </p:extLst>
          </p:nvPr>
        </p:nvGraphicFramePr>
        <p:xfrm>
          <a:off x="287378" y="1402067"/>
          <a:ext cx="11451770" cy="130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Marcador de contenido 3">
            <a:extLst>
              <a:ext uri="{FF2B5EF4-FFF2-40B4-BE49-F238E27FC236}">
                <a16:creationId xmlns:a16="http://schemas.microsoft.com/office/drawing/2014/main" id="{61A2A0EE-4A67-4340-9F78-ACDF79C9F206}"/>
              </a:ext>
            </a:extLst>
          </p:cNvPr>
          <p:cNvGraphicFramePr>
            <a:graphicFrameLocks/>
          </p:cNvGraphicFramePr>
          <p:nvPr>
            <p:extLst>
              <p:ext uri="{D42A27DB-BD31-4B8C-83A1-F6EECF244321}">
                <p14:modId xmlns:p14="http://schemas.microsoft.com/office/powerpoint/2010/main" val="1947097173"/>
              </p:ext>
            </p:extLst>
          </p:nvPr>
        </p:nvGraphicFramePr>
        <p:xfrm>
          <a:off x="287377" y="3131389"/>
          <a:ext cx="11451771" cy="342616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096000" y="200296"/>
            <a:ext cx="6096000" cy="750615"/>
          </a:xfrm>
        </p:spPr>
        <p:txBody>
          <a:bodyPr>
            <a:noAutofit/>
          </a:bodyPr>
          <a:lstStyle/>
          <a:p>
            <a:pPr algn="ctr"/>
            <a:r>
              <a:rPr lang="es-MX" altLang="es-PE" sz="3200" b="1" dirty="0">
                <a:solidFill>
                  <a:schemeClr val="bg1"/>
                </a:solidFill>
              </a:rPr>
              <a:t>Tercera propiedad de un modelo</a:t>
            </a:r>
            <a:endParaRPr lang="es-ES" altLang="es-PE" sz="3200" b="1" dirty="0">
              <a:solidFill>
                <a:schemeClr val="bg1"/>
              </a:solidFill>
            </a:endParaRPr>
          </a:p>
        </p:txBody>
      </p:sp>
      <p:graphicFrame>
        <p:nvGraphicFramePr>
          <p:cNvPr id="2" name="Marcador de contenido 1">
            <a:extLst>
              <a:ext uri="{FF2B5EF4-FFF2-40B4-BE49-F238E27FC236}">
                <a16:creationId xmlns:a16="http://schemas.microsoft.com/office/drawing/2014/main" id="{EA2CD5D2-C15B-4998-A49E-93A04538B17D}"/>
              </a:ext>
            </a:extLst>
          </p:cNvPr>
          <p:cNvGraphicFramePr>
            <a:graphicFrameLocks noGrp="1"/>
          </p:cNvGraphicFramePr>
          <p:nvPr>
            <p:ph idx="1"/>
            <p:extLst>
              <p:ext uri="{D42A27DB-BD31-4B8C-83A1-F6EECF244321}">
                <p14:modId xmlns:p14="http://schemas.microsoft.com/office/powerpoint/2010/main" val="2601198440"/>
              </p:ext>
            </p:extLst>
          </p:nvPr>
        </p:nvGraphicFramePr>
        <p:xfrm>
          <a:off x="957534" y="1590894"/>
          <a:ext cx="10644994" cy="4052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096000" y="165463"/>
            <a:ext cx="6096000" cy="891550"/>
          </a:xfrm>
        </p:spPr>
        <p:txBody>
          <a:bodyPr>
            <a:noAutofit/>
          </a:bodyPr>
          <a:lstStyle/>
          <a:p>
            <a:pPr algn="ctr"/>
            <a:r>
              <a:rPr lang="es-MX" altLang="es-PE" sz="3200" b="1" dirty="0">
                <a:solidFill>
                  <a:schemeClr val="bg1"/>
                </a:solidFill>
              </a:rPr>
              <a:t>Cuarta propiedad de un modelo</a:t>
            </a:r>
            <a:endParaRPr lang="es-ES" altLang="es-PE" sz="3200" b="1" dirty="0">
              <a:solidFill>
                <a:schemeClr val="bg1"/>
              </a:solidFill>
            </a:endParaRPr>
          </a:p>
        </p:txBody>
      </p:sp>
      <p:graphicFrame>
        <p:nvGraphicFramePr>
          <p:cNvPr id="2" name="Marcador de contenido 1">
            <a:extLst>
              <a:ext uri="{FF2B5EF4-FFF2-40B4-BE49-F238E27FC236}">
                <a16:creationId xmlns:a16="http://schemas.microsoft.com/office/drawing/2014/main" id="{21A60880-CC02-4F1B-83A5-8BD28E5DC991}"/>
              </a:ext>
            </a:extLst>
          </p:cNvPr>
          <p:cNvGraphicFramePr>
            <a:graphicFrameLocks noGrp="1"/>
          </p:cNvGraphicFramePr>
          <p:nvPr>
            <p:ph idx="1"/>
            <p:extLst>
              <p:ext uri="{D42A27DB-BD31-4B8C-83A1-F6EECF244321}">
                <p14:modId xmlns:p14="http://schemas.microsoft.com/office/powerpoint/2010/main" val="4101081550"/>
              </p:ext>
            </p:extLst>
          </p:nvPr>
        </p:nvGraphicFramePr>
        <p:xfrm>
          <a:off x="957284" y="1351421"/>
          <a:ext cx="10351698" cy="30572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adroTexto 3">
            <a:extLst>
              <a:ext uri="{FF2B5EF4-FFF2-40B4-BE49-F238E27FC236}">
                <a16:creationId xmlns:a16="http://schemas.microsoft.com/office/drawing/2014/main" id="{05D6198E-8B95-A51E-DAA0-0A422ED21104}"/>
              </a:ext>
            </a:extLst>
          </p:cNvPr>
          <p:cNvSpPr txBox="1"/>
          <p:nvPr/>
        </p:nvSpPr>
        <p:spPr>
          <a:xfrm>
            <a:off x="4469672" y="4426094"/>
            <a:ext cx="4360817" cy="1938992"/>
          </a:xfrm>
          <a:prstGeom prst="rect">
            <a:avLst/>
          </a:prstGeom>
          <a:solidFill>
            <a:srgbClr val="FFFF00"/>
          </a:solidFill>
        </p:spPr>
        <p:txBody>
          <a:bodyPr wrap="square">
            <a:spAutoFit/>
          </a:bodyPr>
          <a:lstStyle/>
          <a:p>
            <a:r>
              <a:rPr lang="en-US" sz="2400" b="1" dirty="0"/>
              <a:t>MAX  2 </a:t>
            </a:r>
            <a:r>
              <a:rPr lang="en-US" sz="2400" b="1" dirty="0" err="1"/>
              <a:t>X1</a:t>
            </a:r>
            <a:r>
              <a:rPr lang="en-US" sz="2400" b="1" dirty="0"/>
              <a:t> + 3 </a:t>
            </a:r>
            <a:r>
              <a:rPr lang="en-US" sz="2400" b="1" dirty="0" err="1"/>
              <a:t>X2</a:t>
            </a:r>
            <a:endParaRPr lang="en-US" sz="2400" b="1" dirty="0"/>
          </a:p>
          <a:p>
            <a:r>
              <a:rPr lang="en-US" sz="2400" b="1" dirty="0"/>
              <a:t>ST</a:t>
            </a:r>
          </a:p>
          <a:p>
            <a:r>
              <a:rPr lang="en-US" sz="2400" b="1" dirty="0"/>
              <a:t>10 </a:t>
            </a:r>
            <a:r>
              <a:rPr lang="en-US" sz="2400" b="1" dirty="0" err="1"/>
              <a:t>X1</a:t>
            </a:r>
            <a:r>
              <a:rPr lang="en-US" sz="2400" b="1" dirty="0"/>
              <a:t> + 5 </a:t>
            </a:r>
            <a:r>
              <a:rPr lang="en-US" sz="2400" b="1" dirty="0" err="1"/>
              <a:t>X2</a:t>
            </a:r>
            <a:r>
              <a:rPr lang="en-US" sz="2400" b="1" dirty="0"/>
              <a:t>  	&lt;=  600     </a:t>
            </a:r>
          </a:p>
          <a:p>
            <a:r>
              <a:rPr lang="en-US" sz="2400" b="1" dirty="0"/>
              <a:t>6 </a:t>
            </a:r>
            <a:r>
              <a:rPr lang="en-US" sz="2400" b="1" dirty="0" err="1"/>
              <a:t>X1</a:t>
            </a:r>
            <a:r>
              <a:rPr lang="en-US" sz="2400" b="1" dirty="0"/>
              <a:t> + 20 </a:t>
            </a:r>
            <a:r>
              <a:rPr lang="en-US" sz="2400" b="1" dirty="0" err="1"/>
              <a:t>X2</a:t>
            </a:r>
            <a:r>
              <a:rPr lang="en-US" sz="2400" b="1" dirty="0"/>
              <a:t>	&lt;=  600</a:t>
            </a:r>
          </a:p>
          <a:p>
            <a:r>
              <a:rPr lang="en-US" sz="2400" b="1" dirty="0"/>
              <a:t>8 </a:t>
            </a:r>
            <a:r>
              <a:rPr lang="en-US" sz="2400" b="1" dirty="0" err="1"/>
              <a:t>X1</a:t>
            </a:r>
            <a:r>
              <a:rPr lang="en-US" sz="2400" b="1" dirty="0"/>
              <a:t> + 15 </a:t>
            </a:r>
            <a:r>
              <a:rPr lang="en-US" sz="2400" b="1" dirty="0" err="1"/>
              <a:t>X2</a:t>
            </a:r>
            <a:r>
              <a:rPr lang="en-US" sz="2400" b="1" dirty="0"/>
              <a:t>   	&lt;=  600</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096000" y="188957"/>
            <a:ext cx="6096000" cy="685028"/>
          </a:xfrm>
        </p:spPr>
        <p:txBody>
          <a:bodyPr/>
          <a:lstStyle/>
          <a:p>
            <a:pPr algn="ctr"/>
            <a:r>
              <a:rPr lang="es-ES" dirty="0">
                <a:solidFill>
                  <a:schemeClr val="bg1"/>
                </a:solidFill>
              </a:rPr>
              <a:t>Ejemplo</a:t>
            </a:r>
            <a:endParaRPr lang="es-PE" dirty="0">
              <a:solidFill>
                <a:schemeClr val="bg1"/>
              </a:solidFill>
            </a:endParaRPr>
          </a:p>
        </p:txBody>
      </p:sp>
      <p:graphicFrame>
        <p:nvGraphicFramePr>
          <p:cNvPr id="4" name="Marcador de contenido 3">
            <a:extLst>
              <a:ext uri="{FF2B5EF4-FFF2-40B4-BE49-F238E27FC236}">
                <a16:creationId xmlns:a16="http://schemas.microsoft.com/office/drawing/2014/main" id="{2F2FB401-056E-4945-BF30-26DD6BB05CB2}"/>
              </a:ext>
            </a:extLst>
          </p:cNvPr>
          <p:cNvGraphicFramePr>
            <a:graphicFrameLocks noGrp="1"/>
          </p:cNvGraphicFramePr>
          <p:nvPr>
            <p:ph idx="1"/>
            <p:extLst>
              <p:ext uri="{D42A27DB-BD31-4B8C-83A1-F6EECF244321}">
                <p14:modId xmlns:p14="http://schemas.microsoft.com/office/powerpoint/2010/main" val="2770786305"/>
              </p:ext>
            </p:extLst>
          </p:nvPr>
        </p:nvGraphicFramePr>
        <p:xfrm>
          <a:off x="786440" y="1601336"/>
          <a:ext cx="10729823" cy="46786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3482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Marcador de contenido 4">
            <a:extLst>
              <a:ext uri="{FF2B5EF4-FFF2-40B4-BE49-F238E27FC236}">
                <a16:creationId xmlns:a16="http://schemas.microsoft.com/office/drawing/2014/main" id="{45A47666-7B7F-4148-8D6B-0814CCA22948}"/>
              </a:ext>
            </a:extLst>
          </p:cNvPr>
          <p:cNvGraphicFramePr>
            <a:graphicFrameLocks noGrp="1"/>
          </p:cNvGraphicFramePr>
          <p:nvPr>
            <p:ph idx="1"/>
          </p:nvPr>
        </p:nvGraphicFramePr>
        <p:xfrm>
          <a:off x="879893" y="1557338"/>
          <a:ext cx="10912415" cy="41533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1 Título">
            <a:extLst>
              <a:ext uri="{FF2B5EF4-FFF2-40B4-BE49-F238E27FC236}">
                <a16:creationId xmlns:a16="http://schemas.microsoft.com/office/drawing/2014/main" id="{DC324BC8-0C4E-4D06-8328-F8D31A600659}"/>
              </a:ext>
            </a:extLst>
          </p:cNvPr>
          <p:cNvSpPr txBox="1">
            <a:spLocks/>
          </p:cNvSpPr>
          <p:nvPr/>
        </p:nvSpPr>
        <p:spPr>
          <a:xfrm>
            <a:off x="6096000" y="188957"/>
            <a:ext cx="6096000" cy="6850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a:solidFill>
                  <a:schemeClr val="bg1"/>
                </a:solidFill>
              </a:rPr>
              <a:t>Ejemplo</a:t>
            </a:r>
            <a:endParaRPr lang="es-PE" dirty="0">
              <a:solidFill>
                <a:schemeClr val="bg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096000" y="173373"/>
            <a:ext cx="6096000" cy="640359"/>
          </a:xfrm>
        </p:spPr>
        <p:txBody>
          <a:bodyPr/>
          <a:lstStyle/>
          <a:p>
            <a:pPr algn="ctr" eaLnBrk="1" hangingPunct="1"/>
            <a:r>
              <a:rPr lang="es-MX" altLang="es-PE" sz="3200" dirty="0">
                <a:solidFill>
                  <a:schemeClr val="bg1"/>
                </a:solidFill>
              </a:rPr>
              <a:t>Variables de Decisión y Datos</a:t>
            </a:r>
            <a:endParaRPr lang="es-ES" altLang="es-PE" sz="3200" dirty="0">
              <a:solidFill>
                <a:schemeClr val="bg1"/>
              </a:solidFill>
            </a:endParaRPr>
          </a:p>
        </p:txBody>
      </p:sp>
      <p:graphicFrame>
        <p:nvGraphicFramePr>
          <p:cNvPr id="2" name="Marcador de contenido 1">
            <a:extLst>
              <a:ext uri="{FF2B5EF4-FFF2-40B4-BE49-F238E27FC236}">
                <a16:creationId xmlns:a16="http://schemas.microsoft.com/office/drawing/2014/main" id="{82A55841-E0EF-4830-BB4E-4D0E44A4731F}"/>
              </a:ext>
            </a:extLst>
          </p:cNvPr>
          <p:cNvGraphicFramePr>
            <a:graphicFrameLocks noGrp="1"/>
          </p:cNvGraphicFramePr>
          <p:nvPr>
            <p:ph idx="1"/>
            <p:extLst>
              <p:ext uri="{D42A27DB-BD31-4B8C-83A1-F6EECF244321}">
                <p14:modId xmlns:p14="http://schemas.microsoft.com/office/powerpoint/2010/main" val="657992334"/>
              </p:ext>
            </p:extLst>
          </p:nvPr>
        </p:nvGraphicFramePr>
        <p:xfrm>
          <a:off x="409302" y="1383100"/>
          <a:ext cx="11556275" cy="1963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Marcador de contenido 3">
            <a:extLst>
              <a:ext uri="{FF2B5EF4-FFF2-40B4-BE49-F238E27FC236}">
                <a16:creationId xmlns:a16="http://schemas.microsoft.com/office/drawing/2014/main" id="{17A61165-C8D8-4A14-BDEB-66F4C2A1F23F}"/>
              </a:ext>
            </a:extLst>
          </p:cNvPr>
          <p:cNvGraphicFramePr>
            <a:graphicFrameLocks/>
          </p:cNvGraphicFramePr>
          <p:nvPr>
            <p:extLst>
              <p:ext uri="{D42A27DB-BD31-4B8C-83A1-F6EECF244321}">
                <p14:modId xmlns:p14="http://schemas.microsoft.com/office/powerpoint/2010/main" val="2082017095"/>
              </p:ext>
            </p:extLst>
          </p:nvPr>
        </p:nvGraphicFramePr>
        <p:xfrm>
          <a:off x="409302" y="3510954"/>
          <a:ext cx="11556275" cy="26806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096000" y="190500"/>
            <a:ext cx="6096000" cy="762000"/>
          </a:xfrm>
        </p:spPr>
        <p:txBody>
          <a:bodyPr/>
          <a:lstStyle/>
          <a:p>
            <a:pPr algn="ctr" eaLnBrk="1" hangingPunct="1"/>
            <a:r>
              <a:rPr lang="es-MX" altLang="es-PE" sz="3200" dirty="0">
                <a:solidFill>
                  <a:schemeClr val="bg1"/>
                </a:solidFill>
              </a:rPr>
              <a:t>Para identificar las variables</a:t>
            </a:r>
            <a:endParaRPr lang="es-ES" altLang="es-PE" sz="3200" dirty="0">
              <a:solidFill>
                <a:schemeClr val="bg1"/>
              </a:solidFill>
            </a:endParaRPr>
          </a:p>
        </p:txBody>
      </p:sp>
      <p:sp>
        <p:nvSpPr>
          <p:cNvPr id="34819" name="Rectangle 3" descr="Rectangle: Click to edit Master text styles&#10;Second level&#10;Third level&#10;Fourth level&#10;Fifth level"/>
          <p:cNvSpPr>
            <a:spLocks noGrp="1" noChangeArrowheads="1"/>
          </p:cNvSpPr>
          <p:nvPr>
            <p:ph idx="1"/>
          </p:nvPr>
        </p:nvSpPr>
        <p:spPr>
          <a:xfrm>
            <a:off x="330927" y="1408995"/>
            <a:ext cx="11086010" cy="832732"/>
          </a:xfrm>
        </p:spPr>
        <p:txBody>
          <a:bodyPr/>
          <a:lstStyle/>
          <a:p>
            <a:pPr algn="just" eaLnBrk="1" hangingPunct="1">
              <a:lnSpc>
                <a:spcPct val="100000"/>
              </a:lnSpc>
            </a:pPr>
            <a:r>
              <a:rPr lang="es-MX" altLang="es-PE" sz="2400" b="1" dirty="0">
                <a:latin typeface="Arial Narrow" panose="020B0606020202030204" pitchFamily="34" charset="0"/>
              </a:rPr>
              <a:t>Identificando la actividad, tenemos que buscar el valor óptimo de esa actividad; por lo tanto la actividad debe ser representado en el modelo lineal por una variable de decisión.</a:t>
            </a:r>
            <a:endParaRPr lang="es-ES" altLang="es-PE" sz="2400" b="1" dirty="0">
              <a:latin typeface="Arial Narrow" panose="020B0606020202030204" pitchFamily="34" charset="0"/>
            </a:endParaRPr>
          </a:p>
        </p:txBody>
      </p:sp>
      <p:grpSp>
        <p:nvGrpSpPr>
          <p:cNvPr id="4" name="3 Grupo"/>
          <p:cNvGrpSpPr/>
          <p:nvPr/>
        </p:nvGrpSpPr>
        <p:grpSpPr>
          <a:xfrm>
            <a:off x="721089" y="2479943"/>
            <a:ext cx="10695848" cy="745945"/>
            <a:chOff x="1066800" y="3425966"/>
            <a:chExt cx="6705600" cy="745945"/>
          </a:xfrm>
        </p:grpSpPr>
        <p:sp>
          <p:nvSpPr>
            <p:cNvPr id="5" name="Text Box 4"/>
            <p:cNvSpPr txBox="1">
              <a:spLocks noChangeArrowheads="1"/>
            </p:cNvSpPr>
            <p:nvPr/>
          </p:nvSpPr>
          <p:spPr bwMode="auto">
            <a:xfrm>
              <a:off x="1066800" y="3581400"/>
              <a:ext cx="1638992" cy="584775"/>
            </a:xfrm>
            <a:prstGeom prst="rect">
              <a:avLst/>
            </a:prstGeom>
            <a:solidFill>
              <a:srgbClr val="FFC000"/>
            </a:solidFill>
            <a:ln w="9525">
              <a:solidFill>
                <a:schemeClr val="tx1"/>
              </a:solidFill>
              <a:miter lim="800000"/>
              <a:headEnd/>
              <a:tailEnd/>
            </a:ln>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algn="ctr" eaLnBrk="1" hangingPunct="1">
                <a:spcBef>
                  <a:spcPct val="50000"/>
                </a:spcBef>
              </a:pPr>
              <a:r>
                <a:rPr lang="es-MX" altLang="es-PE" sz="3200" dirty="0"/>
                <a:t>Actividad</a:t>
              </a:r>
              <a:endParaRPr lang="es-ES" altLang="es-PE" sz="3200" dirty="0"/>
            </a:p>
          </p:txBody>
        </p:sp>
        <p:sp>
          <p:nvSpPr>
            <p:cNvPr id="6" name="Text Box 6"/>
            <p:cNvSpPr txBox="1">
              <a:spLocks noChangeArrowheads="1"/>
            </p:cNvSpPr>
            <p:nvPr/>
          </p:nvSpPr>
          <p:spPr bwMode="auto">
            <a:xfrm>
              <a:off x="5244545" y="3587136"/>
              <a:ext cx="2527855" cy="584775"/>
            </a:xfrm>
            <a:prstGeom prst="rect">
              <a:avLst/>
            </a:prstGeom>
            <a:solidFill>
              <a:srgbClr val="FFC000"/>
            </a:solidFill>
            <a:ln w="9525">
              <a:solidFill>
                <a:schemeClr val="tx1"/>
              </a:solidFill>
              <a:miter lim="800000"/>
              <a:headEnd/>
              <a:tailEnd/>
            </a:ln>
          </p:spPr>
          <p:txBody>
            <a:bodyPr wrap="square">
              <a:spAutoFit/>
            </a:bodyPr>
            <a:lstStyle>
              <a:defPPr>
                <a:defRPr lang="es-PE"/>
              </a:defPPr>
              <a:lvl1pPr algn="ctr">
                <a:spcBef>
                  <a:spcPct val="50000"/>
                </a:spcBef>
                <a:defRPr sz="3200">
                  <a:latin typeface="Tahoma" charset="0"/>
                </a:defRPr>
              </a:lvl1pPr>
              <a:lvl2pPr marL="742950" indent="-285750" eaLnBrk="0" hangingPunct="0">
                <a:defRPr sz="2400">
                  <a:latin typeface="Tahoma" charset="0"/>
                </a:defRPr>
              </a:lvl2pPr>
              <a:lvl3pPr marL="1143000" indent="-228600" eaLnBrk="0" hangingPunct="0">
                <a:defRPr sz="2400">
                  <a:latin typeface="Tahoma" charset="0"/>
                </a:defRPr>
              </a:lvl3pPr>
              <a:lvl4pPr marL="1600200" indent="-228600" eaLnBrk="0" hangingPunct="0">
                <a:defRPr sz="2400">
                  <a:latin typeface="Tahoma" charset="0"/>
                </a:defRPr>
              </a:lvl4pPr>
              <a:lvl5pPr marL="2057400" indent="-228600" eaLnBrk="0" hangingPunct="0">
                <a:defRPr sz="2400">
                  <a:latin typeface="Tahoma" charset="0"/>
                </a:defRPr>
              </a:lvl5pPr>
              <a:lvl6pPr marL="2514600" indent="-228600" eaLnBrk="0" fontAlgn="base" hangingPunct="0">
                <a:spcBef>
                  <a:spcPct val="0"/>
                </a:spcBef>
                <a:spcAft>
                  <a:spcPct val="0"/>
                </a:spcAft>
                <a:defRPr sz="2400">
                  <a:latin typeface="Tahoma" charset="0"/>
                </a:defRPr>
              </a:lvl6pPr>
              <a:lvl7pPr marL="2971800" indent="-228600" eaLnBrk="0" fontAlgn="base" hangingPunct="0">
                <a:spcBef>
                  <a:spcPct val="0"/>
                </a:spcBef>
                <a:spcAft>
                  <a:spcPct val="0"/>
                </a:spcAft>
                <a:defRPr sz="2400">
                  <a:latin typeface="Tahoma" charset="0"/>
                </a:defRPr>
              </a:lvl7pPr>
              <a:lvl8pPr marL="3429000" indent="-228600" eaLnBrk="0" fontAlgn="base" hangingPunct="0">
                <a:spcBef>
                  <a:spcPct val="0"/>
                </a:spcBef>
                <a:spcAft>
                  <a:spcPct val="0"/>
                </a:spcAft>
                <a:defRPr sz="2400">
                  <a:latin typeface="Tahoma" charset="0"/>
                </a:defRPr>
              </a:lvl8pPr>
              <a:lvl9pPr marL="3886200" indent="-228600" eaLnBrk="0" fontAlgn="base" hangingPunct="0">
                <a:spcBef>
                  <a:spcPct val="0"/>
                </a:spcBef>
                <a:spcAft>
                  <a:spcPct val="0"/>
                </a:spcAft>
                <a:defRPr sz="2400">
                  <a:latin typeface="Tahoma" charset="0"/>
                </a:defRPr>
              </a:lvl9pPr>
            </a:lstStyle>
            <a:p>
              <a:r>
                <a:rPr lang="es-MX" altLang="es-PE" dirty="0"/>
                <a:t>Variable de decisión</a:t>
              </a:r>
              <a:endParaRPr lang="es-ES" altLang="es-PE" dirty="0"/>
            </a:p>
          </p:txBody>
        </p:sp>
        <p:sp>
          <p:nvSpPr>
            <p:cNvPr id="7" name="Line 7"/>
            <p:cNvSpPr>
              <a:spLocks noChangeShapeType="1"/>
            </p:cNvSpPr>
            <p:nvPr/>
          </p:nvSpPr>
          <p:spPr bwMode="auto">
            <a:xfrm flipV="1">
              <a:off x="2710172" y="3887629"/>
              <a:ext cx="2529994" cy="1"/>
            </a:xfrm>
            <a:prstGeom prst="line">
              <a:avLst/>
            </a:prstGeom>
            <a:noFill/>
            <a:ln w="76200" cmpd="tri">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s-PE"/>
            </a:p>
          </p:txBody>
        </p:sp>
        <p:sp>
          <p:nvSpPr>
            <p:cNvPr id="8" name="Text Box 8"/>
            <p:cNvSpPr txBox="1">
              <a:spLocks noChangeArrowheads="1"/>
            </p:cNvSpPr>
            <p:nvPr/>
          </p:nvSpPr>
          <p:spPr bwMode="auto">
            <a:xfrm>
              <a:off x="2701412" y="3425966"/>
              <a:ext cx="25387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algn="ctr" eaLnBrk="1" hangingPunct="1">
                <a:spcBef>
                  <a:spcPct val="50000"/>
                </a:spcBef>
              </a:pPr>
              <a:r>
                <a:rPr lang="es-MX" altLang="es-PE" dirty="0"/>
                <a:t>Representado en el modelo</a:t>
              </a:r>
              <a:endParaRPr lang="es-ES" altLang="es-PE" dirty="0"/>
            </a:p>
          </p:txBody>
        </p:sp>
      </p:grpSp>
      <p:sp>
        <p:nvSpPr>
          <p:cNvPr id="9" name="Rectangle 3" descr="Rectangle: Click to edit Master text styles&#10;Second level&#10;Third level&#10;Fourth level&#10;Fifth level">
            <a:extLst>
              <a:ext uri="{FF2B5EF4-FFF2-40B4-BE49-F238E27FC236}">
                <a16:creationId xmlns:a16="http://schemas.microsoft.com/office/drawing/2014/main" id="{0AFA5C4A-AE90-4159-904C-690F2222243C}"/>
              </a:ext>
            </a:extLst>
          </p:cNvPr>
          <p:cNvSpPr txBox="1">
            <a:spLocks noChangeArrowheads="1"/>
          </p:cNvSpPr>
          <p:nvPr/>
        </p:nvSpPr>
        <p:spPr>
          <a:xfrm>
            <a:off x="975360" y="3445070"/>
            <a:ext cx="10702834" cy="3007482"/>
          </a:xfrm>
          <a:prstGeom prst="rect">
            <a:avLst/>
          </a:prstGeom>
        </p:spPr>
        <p:txBody>
          <a:bodyPr vert="horz" lIns="91440" tIns="45720" rIns="91440" bIns="45720" rtlCol="0">
            <a:normAutofit/>
          </a:bodyPr>
          <a:lstStyle>
            <a:lvl1pPr marL="228600" indent="-228600" algn="just">
              <a:lnSpc>
                <a:spcPct val="100000"/>
              </a:lnSpc>
              <a:spcBef>
                <a:spcPts val="1000"/>
              </a:spcBef>
              <a:buFont typeface="Arial" panose="020B0604020202020204" pitchFamily="34" charset="0"/>
              <a:buChar char="•"/>
              <a:defRPr sz="2400">
                <a:latin typeface="Arial Narrow" panose="020B060602020203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altLang="es-PE" b="1" dirty="0"/>
              <a:t>Todo sistema tiene actividades, por ejemplo:</a:t>
            </a:r>
          </a:p>
          <a:p>
            <a:pPr lvl="4"/>
            <a:r>
              <a:rPr lang="es-MX" altLang="es-PE" sz="2400" b="1" dirty="0">
                <a:latin typeface="Arial Narrow" panose="020B0606020202030204" pitchFamily="34" charset="0"/>
              </a:rPr>
              <a:t>¿Cuánto invertir en acciones?</a:t>
            </a:r>
          </a:p>
          <a:p>
            <a:pPr lvl="4"/>
            <a:r>
              <a:rPr lang="es-MX" altLang="es-PE" sz="2400" b="1" dirty="0">
                <a:latin typeface="Arial Narrow" panose="020B0606020202030204" pitchFamily="34" charset="0"/>
              </a:rPr>
              <a:t>¿Cuántas unidades de un producto debo producir?</a:t>
            </a:r>
          </a:p>
          <a:p>
            <a:pPr lvl="4"/>
            <a:r>
              <a:rPr lang="es-MX" altLang="es-PE" sz="2400" b="1" dirty="0">
                <a:latin typeface="Arial Narrow" panose="020B0606020202030204" pitchFamily="34" charset="0"/>
              </a:rPr>
              <a:t>¿Cuántas kilogramos de un elemento debe mezclarse?</a:t>
            </a:r>
          </a:p>
          <a:p>
            <a:pPr lvl="4"/>
            <a:r>
              <a:rPr lang="es-MX" altLang="es-PE" sz="2400" b="1" dirty="0">
                <a:latin typeface="Arial Narrow" panose="020B0606020202030204" pitchFamily="34" charset="0"/>
              </a:rPr>
              <a:t>¿Cuántos vigilantes necesito para un día?</a:t>
            </a:r>
          </a:p>
          <a:p>
            <a:pPr lvl="4"/>
            <a:r>
              <a:rPr lang="es-MX" altLang="es-PE" sz="2400" b="1" dirty="0">
                <a:latin typeface="Arial Narrow" panose="020B0606020202030204" pitchFamily="34" charset="0"/>
              </a:rPr>
              <a:t>¿Cuántas unidades de materia prima debo comprar para producir?</a:t>
            </a:r>
          </a:p>
          <a:p>
            <a:pPr lvl="4"/>
            <a:r>
              <a:rPr lang="es-MX" altLang="es-PE" sz="2400" b="1" dirty="0">
                <a:latin typeface="Arial Narrow" panose="020B0606020202030204" pitchFamily="34" charset="0"/>
              </a:rPr>
              <a:t>¿Cuántas unidades transportar de una planta a un almacén?</a:t>
            </a:r>
            <a:endParaRPr lang="es-ES" altLang="es-PE" sz="2400" b="1" dirty="0">
              <a:latin typeface="Arial Narrow" panose="020B0606020202030204" pitchFamily="34" charset="0"/>
            </a:endParaRPr>
          </a:p>
          <a:p>
            <a:pPr lvl="1"/>
            <a:endParaRPr lang="es-ES" altLang="es-PE" b="1" dirty="0">
              <a:latin typeface="Arial Narrow" panose="020B0606020202030204" pitchFamily="34" charset="0"/>
            </a:endParaRPr>
          </a:p>
        </p:txBody>
      </p:sp>
      <p:pic>
        <p:nvPicPr>
          <p:cNvPr id="2" name="Picture 13" descr="http://www.siestaesporalgo.com/images/Respuesta.gif">
            <a:extLst>
              <a:ext uri="{FF2B5EF4-FFF2-40B4-BE49-F238E27FC236}">
                <a16:creationId xmlns:a16="http://schemas.microsoft.com/office/drawing/2014/main" id="{A47A1D38-D3A1-1351-F4CE-B4B3F7753A7B}"/>
              </a:ext>
            </a:extLst>
          </p:cNvPr>
          <p:cNvPicPr>
            <a:picLocks noChangeAspect="1" noChangeArrowheads="1"/>
          </p:cNvPicPr>
          <p:nvPr/>
        </p:nvPicPr>
        <p:blipFill>
          <a:blip r:embed="rId2" cstate="print"/>
          <a:srcRect/>
          <a:stretch>
            <a:fillRect/>
          </a:stretch>
        </p:blipFill>
        <p:spPr bwMode="auto">
          <a:xfrm>
            <a:off x="1278859" y="4121982"/>
            <a:ext cx="1986061" cy="1986062"/>
          </a:xfrm>
          <a:prstGeom prst="rect">
            <a:avLst/>
          </a:prstGeom>
          <a:ln>
            <a:noFill/>
          </a:ln>
          <a:effectLst>
            <a:softEdge rad="112500"/>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096000" y="270294"/>
            <a:ext cx="6096000" cy="622185"/>
          </a:xfrm>
        </p:spPr>
        <p:txBody>
          <a:bodyPr>
            <a:noAutofit/>
          </a:bodyPr>
          <a:lstStyle/>
          <a:p>
            <a:pPr algn="ctr" eaLnBrk="1" hangingPunct="1"/>
            <a:r>
              <a:rPr lang="es-MX" altLang="es-PE" sz="2800" b="1" dirty="0">
                <a:solidFill>
                  <a:schemeClr val="bg1"/>
                </a:solidFill>
              </a:rPr>
              <a:t>Supuestos básicos de la PL</a:t>
            </a:r>
            <a:endParaRPr lang="es-ES" altLang="es-PE" sz="2800" b="1" dirty="0">
              <a:solidFill>
                <a:schemeClr val="bg1"/>
              </a:solidFill>
            </a:endParaRPr>
          </a:p>
        </p:txBody>
      </p:sp>
      <p:graphicFrame>
        <p:nvGraphicFramePr>
          <p:cNvPr id="2" name="Marcador de contenido 1">
            <a:extLst>
              <a:ext uri="{FF2B5EF4-FFF2-40B4-BE49-F238E27FC236}">
                <a16:creationId xmlns:a16="http://schemas.microsoft.com/office/drawing/2014/main" id="{0B4EB264-860B-4B97-806B-7C9DBC48473D}"/>
              </a:ext>
            </a:extLst>
          </p:cNvPr>
          <p:cNvGraphicFramePr>
            <a:graphicFrameLocks noGrp="1"/>
          </p:cNvGraphicFramePr>
          <p:nvPr>
            <p:ph idx="1"/>
            <p:extLst>
              <p:ext uri="{D42A27DB-BD31-4B8C-83A1-F6EECF244321}">
                <p14:modId xmlns:p14="http://schemas.microsoft.com/office/powerpoint/2010/main" val="1700453789"/>
              </p:ext>
            </p:extLst>
          </p:nvPr>
        </p:nvGraphicFramePr>
        <p:xfrm>
          <a:off x="879894" y="1302589"/>
          <a:ext cx="10714007" cy="54087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096000" y="215318"/>
            <a:ext cx="6096000" cy="657137"/>
          </a:xfrm>
        </p:spPr>
        <p:txBody>
          <a:bodyPr/>
          <a:lstStyle/>
          <a:p>
            <a:pPr algn="ctr" eaLnBrk="1" hangingPunct="1"/>
            <a:r>
              <a:rPr lang="es-MX" altLang="es-PE" sz="3200" dirty="0">
                <a:solidFill>
                  <a:schemeClr val="bg1"/>
                </a:solidFill>
              </a:rPr>
              <a:t>Problema 23</a:t>
            </a:r>
            <a:endParaRPr lang="es-ES" altLang="es-PE" sz="3200" dirty="0">
              <a:solidFill>
                <a:schemeClr val="bg1"/>
              </a:solidFill>
            </a:endParaRPr>
          </a:p>
        </p:txBody>
      </p:sp>
      <p:sp>
        <p:nvSpPr>
          <p:cNvPr id="28675" name="Rectangle 3" descr="Rectangle: Click to edit Master text styles&#10;Second level&#10;Third level&#10;Fourth level&#10;Fifth level"/>
          <p:cNvSpPr>
            <a:spLocks noGrp="1" noChangeArrowheads="1"/>
          </p:cNvSpPr>
          <p:nvPr>
            <p:ph idx="1"/>
          </p:nvPr>
        </p:nvSpPr>
        <p:spPr>
          <a:xfrm>
            <a:off x="100384" y="1283438"/>
            <a:ext cx="5995616" cy="5428663"/>
          </a:xfrm>
          <a:solidFill>
            <a:schemeClr val="accent4">
              <a:lumMod val="20000"/>
              <a:lumOff val="80000"/>
            </a:schemeClr>
          </a:solidFill>
        </p:spPr>
        <p:txBody>
          <a:bodyPr>
            <a:noAutofit/>
          </a:bodyPr>
          <a:lstStyle/>
          <a:p>
            <a:pPr algn="just" eaLnBrk="1" hangingPunct="1">
              <a:lnSpc>
                <a:spcPct val="100000"/>
              </a:lnSpc>
              <a:spcBef>
                <a:spcPts val="0"/>
              </a:spcBef>
            </a:pPr>
            <a:r>
              <a:rPr lang="es-MX" altLang="es-PE" sz="2400" dirty="0">
                <a:latin typeface="Arial Narrow" panose="020B0606020202030204" pitchFamily="34" charset="0"/>
              </a:rPr>
              <a:t>Una empresa produce Mesas y Sillas. </a:t>
            </a:r>
          </a:p>
          <a:p>
            <a:pPr algn="just" eaLnBrk="1" hangingPunct="1">
              <a:lnSpc>
                <a:spcPct val="100000"/>
              </a:lnSpc>
              <a:spcBef>
                <a:spcPts val="0"/>
              </a:spcBef>
            </a:pPr>
            <a:r>
              <a:rPr lang="es-MX" altLang="es-PE" sz="2400" dirty="0">
                <a:latin typeface="Arial Narrow" panose="020B0606020202030204" pitchFamily="34" charset="0"/>
              </a:rPr>
              <a:t>Para elaborar cada unidad de mesa o silla, debe pasar por un proceso de carpintería, luego pintura y barnizado. </a:t>
            </a:r>
          </a:p>
          <a:p>
            <a:pPr algn="just" eaLnBrk="1" hangingPunct="1">
              <a:lnSpc>
                <a:spcPct val="100000"/>
              </a:lnSpc>
              <a:spcBef>
                <a:spcPts val="0"/>
              </a:spcBef>
            </a:pPr>
            <a:r>
              <a:rPr lang="es-MX" altLang="es-PE" sz="2400" dirty="0">
                <a:latin typeface="Arial Narrow" panose="020B0606020202030204" pitchFamily="34" charset="0"/>
              </a:rPr>
              <a:t>Una unidad de mesa requiere: 4 horas de carpintería, 2 horas de pintura y barnizado y deja una utilidad de $7. </a:t>
            </a:r>
          </a:p>
          <a:p>
            <a:pPr algn="just" eaLnBrk="1" hangingPunct="1">
              <a:lnSpc>
                <a:spcPct val="100000"/>
              </a:lnSpc>
              <a:spcBef>
                <a:spcPts val="0"/>
              </a:spcBef>
            </a:pPr>
            <a:r>
              <a:rPr lang="es-MX" altLang="es-PE" sz="2400" dirty="0">
                <a:latin typeface="Arial Narrow" panose="020B0606020202030204" pitchFamily="34" charset="0"/>
              </a:rPr>
              <a:t>Una unidad de silla requiere: 3 horas de carpintería, 1 hora de pintura y barnizado y deja una utilidad de $5. </a:t>
            </a:r>
          </a:p>
          <a:p>
            <a:pPr algn="just" eaLnBrk="1" hangingPunct="1">
              <a:lnSpc>
                <a:spcPct val="100000"/>
              </a:lnSpc>
              <a:spcBef>
                <a:spcPts val="0"/>
              </a:spcBef>
            </a:pPr>
            <a:r>
              <a:rPr lang="es-MX" altLang="es-PE" sz="2400" dirty="0">
                <a:latin typeface="Arial Narrow" panose="020B0606020202030204" pitchFamily="34" charset="0"/>
              </a:rPr>
              <a:t>Carpintería dispone de 240 horas a la semana y pintura y barnizado dispone de 100 horas a la semana. </a:t>
            </a:r>
          </a:p>
          <a:p>
            <a:pPr algn="just" eaLnBrk="1" hangingPunct="1">
              <a:lnSpc>
                <a:spcPct val="100000"/>
              </a:lnSpc>
              <a:spcBef>
                <a:spcPts val="0"/>
              </a:spcBef>
            </a:pPr>
            <a:r>
              <a:rPr lang="es-MX" altLang="es-PE" sz="2400" dirty="0">
                <a:latin typeface="Arial Narrow" panose="020B0606020202030204" pitchFamily="34" charset="0"/>
              </a:rPr>
              <a:t>Se desea elaborar el mejor programa semanal.</a:t>
            </a:r>
          </a:p>
          <a:p>
            <a:pPr algn="just" eaLnBrk="1" hangingPunct="1">
              <a:lnSpc>
                <a:spcPct val="100000"/>
              </a:lnSpc>
              <a:spcBef>
                <a:spcPts val="0"/>
              </a:spcBef>
              <a:buFont typeface="Wingdings" pitchFamily="2" charset="2"/>
              <a:buNone/>
            </a:pPr>
            <a:endParaRPr lang="es-ES" altLang="es-PE" sz="2400" dirty="0">
              <a:latin typeface="Arial Narrow" panose="020B0606020202030204" pitchFamily="34" charset="0"/>
            </a:endParaRPr>
          </a:p>
        </p:txBody>
      </p:sp>
      <p:graphicFrame>
        <p:nvGraphicFramePr>
          <p:cNvPr id="2" name="Tabla 2">
            <a:extLst>
              <a:ext uri="{FF2B5EF4-FFF2-40B4-BE49-F238E27FC236}">
                <a16:creationId xmlns:a16="http://schemas.microsoft.com/office/drawing/2014/main" id="{D6D38698-33C7-4EB2-8016-FB98E3372529}"/>
              </a:ext>
            </a:extLst>
          </p:cNvPr>
          <p:cNvGraphicFramePr>
            <a:graphicFrameLocks noGrp="1"/>
          </p:cNvGraphicFramePr>
          <p:nvPr>
            <p:extLst>
              <p:ext uri="{D42A27DB-BD31-4B8C-83A1-F6EECF244321}">
                <p14:modId xmlns:p14="http://schemas.microsoft.com/office/powerpoint/2010/main" val="1589244056"/>
              </p:ext>
            </p:extLst>
          </p:nvPr>
        </p:nvGraphicFramePr>
        <p:xfrm>
          <a:off x="6282424" y="1283438"/>
          <a:ext cx="5665736" cy="1584960"/>
        </p:xfrm>
        <a:graphic>
          <a:graphicData uri="http://schemas.openxmlformats.org/drawingml/2006/table">
            <a:tbl>
              <a:tblPr firstRow="1" bandRow="1">
                <a:tableStyleId>{5C22544A-7EE6-4342-B048-85BDC9FD1C3A}</a:tableStyleId>
              </a:tblPr>
              <a:tblGrid>
                <a:gridCol w="1745344">
                  <a:extLst>
                    <a:ext uri="{9D8B030D-6E8A-4147-A177-3AD203B41FA5}">
                      <a16:colId xmlns:a16="http://schemas.microsoft.com/office/drawing/2014/main" val="2793853834"/>
                    </a:ext>
                  </a:extLst>
                </a:gridCol>
                <a:gridCol w="1404799">
                  <a:extLst>
                    <a:ext uri="{9D8B030D-6E8A-4147-A177-3AD203B41FA5}">
                      <a16:colId xmlns:a16="http://schemas.microsoft.com/office/drawing/2014/main" val="3609420500"/>
                    </a:ext>
                  </a:extLst>
                </a:gridCol>
                <a:gridCol w="1456908">
                  <a:extLst>
                    <a:ext uri="{9D8B030D-6E8A-4147-A177-3AD203B41FA5}">
                      <a16:colId xmlns:a16="http://schemas.microsoft.com/office/drawing/2014/main" val="2510884220"/>
                    </a:ext>
                  </a:extLst>
                </a:gridCol>
                <a:gridCol w="1058685">
                  <a:extLst>
                    <a:ext uri="{9D8B030D-6E8A-4147-A177-3AD203B41FA5}">
                      <a16:colId xmlns:a16="http://schemas.microsoft.com/office/drawing/2014/main" val="2329530279"/>
                    </a:ext>
                  </a:extLst>
                </a:gridCol>
              </a:tblGrid>
              <a:tr h="365694">
                <a:tc>
                  <a:txBody>
                    <a:bodyPr/>
                    <a:lstStyle/>
                    <a:p>
                      <a:r>
                        <a:rPr lang="es-ES" sz="2000" b="1" dirty="0"/>
                        <a:t>Producto</a:t>
                      </a:r>
                      <a:endParaRPr lang="es-PE" sz="2000" b="1" dirty="0"/>
                    </a:p>
                  </a:txBody>
                  <a:tcPr/>
                </a:tc>
                <a:tc>
                  <a:txBody>
                    <a:bodyPr/>
                    <a:lstStyle/>
                    <a:p>
                      <a:r>
                        <a:rPr lang="es-ES" sz="2000" b="1" dirty="0"/>
                        <a:t>Carpintería</a:t>
                      </a:r>
                      <a:endParaRPr lang="es-PE" sz="2000" b="1" dirty="0"/>
                    </a:p>
                  </a:txBody>
                  <a:tcPr/>
                </a:tc>
                <a:tc>
                  <a:txBody>
                    <a:bodyPr/>
                    <a:lstStyle/>
                    <a:p>
                      <a:r>
                        <a:rPr lang="es-ES" sz="2000" b="1" dirty="0"/>
                        <a:t>Pintura y b.</a:t>
                      </a:r>
                      <a:endParaRPr lang="es-PE" sz="2000" b="1" dirty="0"/>
                    </a:p>
                  </a:txBody>
                  <a:tcPr/>
                </a:tc>
                <a:tc>
                  <a:txBody>
                    <a:bodyPr/>
                    <a:lstStyle/>
                    <a:p>
                      <a:r>
                        <a:rPr lang="es-ES" sz="2000" b="1" dirty="0"/>
                        <a:t>Utilidad</a:t>
                      </a:r>
                      <a:endParaRPr lang="es-PE" sz="2000" b="1" dirty="0"/>
                    </a:p>
                  </a:txBody>
                  <a:tcPr/>
                </a:tc>
                <a:extLst>
                  <a:ext uri="{0D108BD9-81ED-4DB2-BD59-A6C34878D82A}">
                    <a16:rowId xmlns:a16="http://schemas.microsoft.com/office/drawing/2014/main" val="2687535089"/>
                  </a:ext>
                </a:extLst>
              </a:tr>
              <a:tr h="365694">
                <a:tc>
                  <a:txBody>
                    <a:bodyPr/>
                    <a:lstStyle/>
                    <a:p>
                      <a:r>
                        <a:rPr lang="es-ES" sz="2000" b="1" dirty="0"/>
                        <a:t>Mesas</a:t>
                      </a:r>
                      <a:endParaRPr lang="es-PE" sz="2000" b="1" dirty="0"/>
                    </a:p>
                  </a:txBody>
                  <a:tcPr/>
                </a:tc>
                <a:tc>
                  <a:txBody>
                    <a:bodyPr/>
                    <a:lstStyle/>
                    <a:p>
                      <a:pPr algn="ctr"/>
                      <a:r>
                        <a:rPr lang="es-ES" sz="2000" b="1" dirty="0"/>
                        <a:t>4</a:t>
                      </a:r>
                      <a:endParaRPr lang="es-PE" sz="2000" b="1" dirty="0"/>
                    </a:p>
                  </a:txBody>
                  <a:tcPr/>
                </a:tc>
                <a:tc>
                  <a:txBody>
                    <a:bodyPr/>
                    <a:lstStyle/>
                    <a:p>
                      <a:pPr algn="ctr"/>
                      <a:r>
                        <a:rPr lang="es-ES" sz="2000" b="1" dirty="0"/>
                        <a:t>2</a:t>
                      </a:r>
                      <a:endParaRPr lang="es-PE" sz="2000" b="1" dirty="0"/>
                    </a:p>
                  </a:txBody>
                  <a:tcPr/>
                </a:tc>
                <a:tc>
                  <a:txBody>
                    <a:bodyPr/>
                    <a:lstStyle/>
                    <a:p>
                      <a:pPr algn="ctr"/>
                      <a:r>
                        <a:rPr lang="es-ES" sz="2000" b="1" dirty="0"/>
                        <a:t>7</a:t>
                      </a:r>
                      <a:endParaRPr lang="es-PE" sz="2000" b="1" dirty="0"/>
                    </a:p>
                  </a:txBody>
                  <a:tcPr/>
                </a:tc>
                <a:extLst>
                  <a:ext uri="{0D108BD9-81ED-4DB2-BD59-A6C34878D82A}">
                    <a16:rowId xmlns:a16="http://schemas.microsoft.com/office/drawing/2014/main" val="3638935840"/>
                  </a:ext>
                </a:extLst>
              </a:tr>
              <a:tr h="355478">
                <a:tc>
                  <a:txBody>
                    <a:bodyPr/>
                    <a:lstStyle/>
                    <a:p>
                      <a:r>
                        <a:rPr lang="es-ES" sz="2000" b="1" dirty="0"/>
                        <a:t>Silla</a:t>
                      </a:r>
                      <a:endParaRPr lang="es-PE" sz="2000" b="1" dirty="0"/>
                    </a:p>
                  </a:txBody>
                  <a:tcPr/>
                </a:tc>
                <a:tc>
                  <a:txBody>
                    <a:bodyPr/>
                    <a:lstStyle/>
                    <a:p>
                      <a:pPr algn="ctr"/>
                      <a:r>
                        <a:rPr lang="es-ES" sz="2000" b="1" dirty="0"/>
                        <a:t>3</a:t>
                      </a:r>
                      <a:endParaRPr lang="es-PE" sz="2000" b="1" dirty="0"/>
                    </a:p>
                  </a:txBody>
                  <a:tcPr/>
                </a:tc>
                <a:tc>
                  <a:txBody>
                    <a:bodyPr/>
                    <a:lstStyle/>
                    <a:p>
                      <a:pPr algn="ctr"/>
                      <a:r>
                        <a:rPr lang="es-ES" sz="2000" b="1" dirty="0"/>
                        <a:t>1</a:t>
                      </a:r>
                      <a:endParaRPr lang="es-PE" sz="2000" b="1" dirty="0"/>
                    </a:p>
                  </a:txBody>
                  <a:tcPr/>
                </a:tc>
                <a:tc>
                  <a:txBody>
                    <a:bodyPr/>
                    <a:lstStyle/>
                    <a:p>
                      <a:pPr algn="ctr"/>
                      <a:r>
                        <a:rPr lang="es-ES" sz="2000" b="1" dirty="0"/>
                        <a:t>5</a:t>
                      </a:r>
                      <a:endParaRPr lang="es-PE" sz="2000" b="1" dirty="0"/>
                    </a:p>
                  </a:txBody>
                  <a:tcPr/>
                </a:tc>
                <a:extLst>
                  <a:ext uri="{0D108BD9-81ED-4DB2-BD59-A6C34878D82A}">
                    <a16:rowId xmlns:a16="http://schemas.microsoft.com/office/drawing/2014/main" val="3716109363"/>
                  </a:ext>
                </a:extLst>
              </a:tr>
              <a:tr h="355478">
                <a:tc>
                  <a:txBody>
                    <a:bodyPr/>
                    <a:lstStyle/>
                    <a:p>
                      <a:r>
                        <a:rPr lang="es-ES" sz="2000" b="1" dirty="0"/>
                        <a:t>Disponibilidad</a:t>
                      </a:r>
                      <a:endParaRPr lang="es-PE" sz="2000" b="1" dirty="0"/>
                    </a:p>
                  </a:txBody>
                  <a:tcPr/>
                </a:tc>
                <a:tc>
                  <a:txBody>
                    <a:bodyPr/>
                    <a:lstStyle/>
                    <a:p>
                      <a:pPr algn="ctr"/>
                      <a:r>
                        <a:rPr lang="es-ES" sz="2000" b="1" dirty="0"/>
                        <a:t>240</a:t>
                      </a:r>
                      <a:endParaRPr lang="es-PE" sz="2000" b="1" dirty="0"/>
                    </a:p>
                  </a:txBody>
                  <a:tcPr/>
                </a:tc>
                <a:tc>
                  <a:txBody>
                    <a:bodyPr/>
                    <a:lstStyle/>
                    <a:p>
                      <a:pPr algn="ctr"/>
                      <a:r>
                        <a:rPr lang="es-ES" sz="2000" b="1" dirty="0"/>
                        <a:t>100</a:t>
                      </a:r>
                      <a:endParaRPr lang="es-PE" sz="2000" b="1" dirty="0"/>
                    </a:p>
                  </a:txBody>
                  <a:tcPr/>
                </a:tc>
                <a:tc>
                  <a:txBody>
                    <a:bodyPr/>
                    <a:lstStyle/>
                    <a:p>
                      <a:pPr algn="ctr"/>
                      <a:endParaRPr lang="es-PE" sz="2000" b="1" dirty="0"/>
                    </a:p>
                  </a:txBody>
                  <a:tcPr/>
                </a:tc>
                <a:extLst>
                  <a:ext uri="{0D108BD9-81ED-4DB2-BD59-A6C34878D82A}">
                    <a16:rowId xmlns:a16="http://schemas.microsoft.com/office/drawing/2014/main" val="1651184691"/>
                  </a:ext>
                </a:extLst>
              </a:tr>
            </a:tbl>
          </a:graphicData>
        </a:graphic>
      </p:graphicFrame>
      <p:sp>
        <p:nvSpPr>
          <p:cNvPr id="6" name="Rectangle 3" descr="Rectangle: Click to edit Master text styles&#10;Second level&#10;Third level&#10;Fourth level&#10;Fifth level">
            <a:extLst>
              <a:ext uri="{FF2B5EF4-FFF2-40B4-BE49-F238E27FC236}">
                <a16:creationId xmlns:a16="http://schemas.microsoft.com/office/drawing/2014/main" id="{0BB832CF-6750-4F31-A13E-A337AAB31354}"/>
              </a:ext>
            </a:extLst>
          </p:cNvPr>
          <p:cNvSpPr txBox="1">
            <a:spLocks noChangeArrowheads="1"/>
          </p:cNvSpPr>
          <p:nvPr/>
        </p:nvSpPr>
        <p:spPr>
          <a:xfrm>
            <a:off x="6282424" y="3021874"/>
            <a:ext cx="5665736" cy="3690227"/>
          </a:xfrm>
          <a:prstGeom prst="rect">
            <a:avLst/>
          </a:prstGeom>
          <a:solidFill>
            <a:schemeClr val="accent1">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None/>
            </a:pPr>
            <a:r>
              <a:rPr lang="es-MX" altLang="es-PE" sz="2400" dirty="0">
                <a:solidFill>
                  <a:srgbClr val="FF0000"/>
                </a:solidFill>
              </a:rPr>
              <a:t>Identificación de las variables</a:t>
            </a:r>
          </a:p>
          <a:p>
            <a:pPr marL="0" indent="0" algn="just">
              <a:lnSpc>
                <a:spcPct val="100000"/>
              </a:lnSpc>
              <a:spcBef>
                <a:spcPts val="0"/>
              </a:spcBef>
              <a:buNone/>
            </a:pPr>
            <a:r>
              <a:rPr lang="es-MX" altLang="es-PE" sz="2400" dirty="0"/>
              <a:t>	</a:t>
            </a:r>
            <a:r>
              <a:rPr lang="es-MX" altLang="es-PE" sz="2400" dirty="0" err="1"/>
              <a:t>X1</a:t>
            </a:r>
            <a:r>
              <a:rPr lang="es-MX" altLang="es-PE" sz="2400" dirty="0"/>
              <a:t>= Número de mesas    </a:t>
            </a:r>
          </a:p>
          <a:p>
            <a:pPr marL="0" indent="0" algn="just">
              <a:lnSpc>
                <a:spcPct val="100000"/>
              </a:lnSpc>
              <a:spcBef>
                <a:spcPts val="0"/>
              </a:spcBef>
              <a:buNone/>
            </a:pPr>
            <a:r>
              <a:rPr lang="es-MX" altLang="es-PE" sz="2400" dirty="0"/>
              <a:t>	</a:t>
            </a:r>
            <a:r>
              <a:rPr lang="es-MX" altLang="es-PE" sz="2400" dirty="0" err="1"/>
              <a:t>X2</a:t>
            </a:r>
            <a:r>
              <a:rPr lang="es-MX" altLang="es-PE" sz="2400" dirty="0"/>
              <a:t>= Número de silla</a:t>
            </a:r>
          </a:p>
          <a:p>
            <a:pPr marL="0" indent="0" algn="just">
              <a:lnSpc>
                <a:spcPct val="100000"/>
              </a:lnSpc>
              <a:spcBef>
                <a:spcPts val="0"/>
              </a:spcBef>
              <a:buNone/>
            </a:pPr>
            <a:r>
              <a:rPr lang="es-MX" altLang="es-PE" sz="2400" dirty="0">
                <a:solidFill>
                  <a:srgbClr val="FF0000"/>
                </a:solidFill>
              </a:rPr>
              <a:t>Identificación de la Función objetivo</a:t>
            </a:r>
          </a:p>
          <a:p>
            <a:pPr algn="just">
              <a:lnSpc>
                <a:spcPct val="100000"/>
              </a:lnSpc>
              <a:spcBef>
                <a:spcPts val="0"/>
              </a:spcBef>
              <a:buFont typeface="Wingdings" pitchFamily="2" charset="2"/>
              <a:buNone/>
            </a:pPr>
            <a:r>
              <a:rPr lang="es-MX" altLang="es-PE" sz="2400" dirty="0"/>
              <a:t>    	Max </a:t>
            </a:r>
            <a:r>
              <a:rPr lang="es-MX" altLang="es-PE" sz="2400" dirty="0" err="1"/>
              <a:t>7X1</a:t>
            </a:r>
            <a:r>
              <a:rPr lang="es-MX" altLang="es-PE" sz="2400" dirty="0"/>
              <a:t> + </a:t>
            </a:r>
            <a:r>
              <a:rPr lang="es-MX" altLang="es-PE" sz="2400" dirty="0" err="1"/>
              <a:t>5X2</a:t>
            </a:r>
            <a:endParaRPr lang="es-MX" altLang="es-PE" sz="2400" dirty="0"/>
          </a:p>
          <a:p>
            <a:pPr marL="0" indent="0" algn="just">
              <a:lnSpc>
                <a:spcPct val="100000"/>
              </a:lnSpc>
              <a:spcBef>
                <a:spcPts val="0"/>
              </a:spcBef>
              <a:buNone/>
            </a:pPr>
            <a:r>
              <a:rPr lang="es-MX" altLang="es-PE" sz="2400" dirty="0">
                <a:solidFill>
                  <a:srgbClr val="FF0000"/>
                </a:solidFill>
              </a:rPr>
              <a:t>Identificación de las Restricciones</a:t>
            </a:r>
          </a:p>
          <a:p>
            <a:pPr algn="just">
              <a:lnSpc>
                <a:spcPct val="100000"/>
              </a:lnSpc>
              <a:spcBef>
                <a:spcPts val="0"/>
              </a:spcBef>
              <a:buFont typeface="Wingdings" pitchFamily="2" charset="2"/>
              <a:buNone/>
            </a:pPr>
            <a:r>
              <a:rPr lang="es-MX" altLang="es-PE" sz="2400" dirty="0"/>
              <a:t>     	</a:t>
            </a:r>
            <a:r>
              <a:rPr lang="es-MX" altLang="es-PE" sz="2400" dirty="0" err="1"/>
              <a:t>4X1</a:t>
            </a:r>
            <a:r>
              <a:rPr lang="es-MX" altLang="es-PE" sz="2400" dirty="0"/>
              <a:t> + </a:t>
            </a:r>
            <a:r>
              <a:rPr lang="es-MX" altLang="es-PE" sz="2400" dirty="0" err="1"/>
              <a:t>3X2</a:t>
            </a:r>
            <a:r>
              <a:rPr lang="es-MX" altLang="es-PE" sz="2400" dirty="0"/>
              <a:t> &lt;= 240</a:t>
            </a:r>
          </a:p>
          <a:p>
            <a:pPr algn="just">
              <a:lnSpc>
                <a:spcPct val="100000"/>
              </a:lnSpc>
              <a:spcBef>
                <a:spcPts val="0"/>
              </a:spcBef>
              <a:buFont typeface="Wingdings" pitchFamily="2" charset="2"/>
              <a:buNone/>
            </a:pPr>
            <a:r>
              <a:rPr lang="es-MX" altLang="es-PE" sz="2400" dirty="0"/>
              <a:t>     	</a:t>
            </a:r>
            <a:r>
              <a:rPr lang="es-MX" altLang="es-PE" sz="2400" dirty="0" err="1"/>
              <a:t>2X1</a:t>
            </a:r>
            <a:r>
              <a:rPr lang="es-MX" altLang="es-PE" sz="2400" dirty="0"/>
              <a:t> + </a:t>
            </a:r>
            <a:r>
              <a:rPr lang="es-MX" altLang="es-PE" sz="2400" dirty="0" err="1"/>
              <a:t>1X2</a:t>
            </a:r>
            <a:r>
              <a:rPr lang="es-MX" altLang="es-PE" sz="2400" dirty="0"/>
              <a:t> &lt;= 100     </a:t>
            </a:r>
          </a:p>
          <a:p>
            <a:pPr algn="just">
              <a:lnSpc>
                <a:spcPct val="100000"/>
              </a:lnSpc>
              <a:spcBef>
                <a:spcPts val="0"/>
              </a:spcBef>
              <a:buFont typeface="Wingdings" pitchFamily="2" charset="2"/>
              <a:buNone/>
            </a:pPr>
            <a:r>
              <a:rPr lang="es-MX" altLang="es-PE" sz="2400" dirty="0"/>
              <a:t>        	</a:t>
            </a:r>
            <a:r>
              <a:rPr lang="es-MX" altLang="es-PE" sz="2400" dirty="0" err="1"/>
              <a:t>X1</a:t>
            </a:r>
            <a:r>
              <a:rPr lang="es-MX" altLang="es-PE" sz="2400" dirty="0"/>
              <a:t>, </a:t>
            </a:r>
            <a:r>
              <a:rPr lang="es-MX" altLang="es-PE" sz="2400" dirty="0" err="1"/>
              <a:t>X2</a:t>
            </a:r>
            <a:r>
              <a:rPr lang="es-MX" altLang="es-PE" sz="2400" dirty="0"/>
              <a:t> &gt;= 0, Enteras    </a:t>
            </a:r>
            <a:endParaRPr lang="es-ES" altLang="es-PE"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E476910-624D-4619-B95C-5DB08DC03BB6}"/>
              </a:ext>
            </a:extLst>
          </p:cNvPr>
          <p:cNvSpPr/>
          <p:nvPr/>
        </p:nvSpPr>
        <p:spPr>
          <a:xfrm>
            <a:off x="572219" y="1338828"/>
            <a:ext cx="3352800" cy="2677656"/>
          </a:xfrm>
          <a:prstGeom prst="rect">
            <a:avLst/>
          </a:prstGeom>
          <a:solidFill>
            <a:srgbClr val="FFFF00"/>
          </a:solidFill>
        </p:spPr>
        <p:txBody>
          <a:bodyPr wrap="square">
            <a:spAutoFit/>
          </a:bodyPr>
          <a:lstStyle/>
          <a:p>
            <a:pPr algn="just">
              <a:buFont typeface="Wingdings" pitchFamily="2" charset="2"/>
              <a:buNone/>
            </a:pPr>
            <a:r>
              <a:rPr lang="es-MX" altLang="es-PE" sz="2400" b="1" dirty="0"/>
              <a:t> Max </a:t>
            </a:r>
            <a:r>
              <a:rPr lang="es-MX" altLang="es-PE" sz="2400" b="1" dirty="0" err="1"/>
              <a:t>7X1</a:t>
            </a:r>
            <a:r>
              <a:rPr lang="es-MX" altLang="es-PE" sz="2400" b="1" dirty="0"/>
              <a:t> + </a:t>
            </a:r>
            <a:r>
              <a:rPr lang="es-MX" altLang="es-PE" sz="2400" b="1" dirty="0" err="1"/>
              <a:t>5X2</a:t>
            </a:r>
            <a:endParaRPr lang="es-MX" altLang="es-PE" sz="2400" b="1" dirty="0"/>
          </a:p>
          <a:p>
            <a:pPr algn="just"/>
            <a:r>
              <a:rPr lang="es-MX" altLang="es-PE" sz="2400" b="1" dirty="0" err="1">
                <a:solidFill>
                  <a:srgbClr val="FF0000"/>
                </a:solidFill>
              </a:rPr>
              <a:t>ST</a:t>
            </a:r>
            <a:endParaRPr lang="es-MX" altLang="es-PE" sz="2400" b="1" dirty="0">
              <a:solidFill>
                <a:srgbClr val="FF0000"/>
              </a:solidFill>
            </a:endParaRPr>
          </a:p>
          <a:p>
            <a:pPr algn="just">
              <a:buFont typeface="Wingdings" pitchFamily="2" charset="2"/>
              <a:buNone/>
            </a:pPr>
            <a:r>
              <a:rPr lang="es-MX" altLang="es-PE" sz="2400" b="1" dirty="0"/>
              <a:t>     </a:t>
            </a:r>
            <a:r>
              <a:rPr lang="es-MX" altLang="es-PE" sz="2400" b="1" dirty="0" err="1"/>
              <a:t>4X1</a:t>
            </a:r>
            <a:r>
              <a:rPr lang="es-MX" altLang="es-PE" sz="2400" b="1" dirty="0"/>
              <a:t> + </a:t>
            </a:r>
            <a:r>
              <a:rPr lang="es-MX" altLang="es-PE" sz="2400" b="1" dirty="0" err="1"/>
              <a:t>3X2</a:t>
            </a:r>
            <a:r>
              <a:rPr lang="es-MX" altLang="es-PE" sz="2400" b="1" dirty="0"/>
              <a:t> &lt;= 240</a:t>
            </a:r>
          </a:p>
          <a:p>
            <a:pPr algn="just">
              <a:buFont typeface="Wingdings" pitchFamily="2" charset="2"/>
              <a:buNone/>
            </a:pPr>
            <a:r>
              <a:rPr lang="es-MX" altLang="es-PE" sz="2400" b="1" dirty="0"/>
              <a:t>     </a:t>
            </a:r>
            <a:r>
              <a:rPr lang="es-MX" altLang="es-PE" sz="2400" b="1" dirty="0" err="1"/>
              <a:t>2X1</a:t>
            </a:r>
            <a:r>
              <a:rPr lang="es-MX" altLang="es-PE" sz="2400" b="1" dirty="0"/>
              <a:t> + </a:t>
            </a:r>
            <a:r>
              <a:rPr lang="es-MX" altLang="es-PE" sz="2400" b="1" dirty="0" err="1"/>
              <a:t>1X2</a:t>
            </a:r>
            <a:r>
              <a:rPr lang="es-MX" altLang="es-PE" sz="2400" b="1" dirty="0"/>
              <a:t> &lt;= 100</a:t>
            </a:r>
          </a:p>
          <a:p>
            <a:pPr algn="just">
              <a:buFont typeface="Wingdings" pitchFamily="2" charset="2"/>
              <a:buNone/>
            </a:pPr>
            <a:r>
              <a:rPr lang="es-MX" sz="2400" b="1" dirty="0" err="1">
                <a:solidFill>
                  <a:srgbClr val="FF0000"/>
                </a:solidFill>
              </a:rPr>
              <a:t>END</a:t>
            </a:r>
            <a:endParaRPr lang="es-MX" sz="2400" b="1" dirty="0">
              <a:solidFill>
                <a:srgbClr val="FF0000"/>
              </a:solidFill>
            </a:endParaRPr>
          </a:p>
          <a:p>
            <a:pPr algn="just">
              <a:buFont typeface="Wingdings" pitchFamily="2" charset="2"/>
              <a:buNone/>
            </a:pPr>
            <a:r>
              <a:rPr lang="es-MX" sz="2400" b="1" dirty="0"/>
              <a:t>GIN </a:t>
            </a:r>
            <a:r>
              <a:rPr lang="es-MX" sz="2400" b="1" dirty="0" err="1"/>
              <a:t>X1</a:t>
            </a:r>
            <a:endParaRPr lang="es-MX" sz="2400" b="1" dirty="0"/>
          </a:p>
          <a:p>
            <a:pPr algn="just">
              <a:buFont typeface="Wingdings" pitchFamily="2" charset="2"/>
              <a:buNone/>
            </a:pPr>
            <a:r>
              <a:rPr lang="es-MX" sz="2400" b="1" dirty="0"/>
              <a:t>GIN </a:t>
            </a:r>
            <a:r>
              <a:rPr lang="es-MX" sz="2400" b="1" dirty="0" err="1"/>
              <a:t>X2</a:t>
            </a:r>
            <a:endParaRPr lang="es-PE" sz="2400" b="1" dirty="0"/>
          </a:p>
        </p:txBody>
      </p:sp>
      <p:sp>
        <p:nvSpPr>
          <p:cNvPr id="5" name="Rectángulo 4">
            <a:extLst>
              <a:ext uri="{FF2B5EF4-FFF2-40B4-BE49-F238E27FC236}">
                <a16:creationId xmlns:a16="http://schemas.microsoft.com/office/drawing/2014/main" id="{D684AFFA-1344-40CD-87FC-33A9A4E14316}"/>
              </a:ext>
            </a:extLst>
          </p:cNvPr>
          <p:cNvSpPr/>
          <p:nvPr/>
        </p:nvSpPr>
        <p:spPr>
          <a:xfrm>
            <a:off x="511260" y="4180344"/>
            <a:ext cx="5358318" cy="1938992"/>
          </a:xfrm>
          <a:prstGeom prst="rect">
            <a:avLst/>
          </a:prstGeom>
          <a:solidFill>
            <a:schemeClr val="accent4">
              <a:lumMod val="40000"/>
              <a:lumOff val="60000"/>
            </a:schemeClr>
          </a:solidFill>
        </p:spPr>
        <p:txBody>
          <a:bodyPr wrap="square">
            <a:spAutoFit/>
          </a:bodyPr>
          <a:lstStyle/>
          <a:p>
            <a:r>
              <a:rPr lang="es-PE" sz="2400" b="1" dirty="0"/>
              <a:t> </a:t>
            </a:r>
            <a:r>
              <a:rPr lang="es-PE" sz="2400" b="1" dirty="0" err="1"/>
              <a:t>OBJECTIVE</a:t>
            </a:r>
            <a:r>
              <a:rPr lang="es-PE" sz="2400" b="1" dirty="0"/>
              <a:t> </a:t>
            </a:r>
            <a:r>
              <a:rPr lang="es-PE" sz="2400" b="1" dirty="0" err="1"/>
              <a:t>FUNCTION</a:t>
            </a:r>
            <a:r>
              <a:rPr lang="es-PE" sz="2400" b="1" dirty="0"/>
              <a:t> </a:t>
            </a:r>
            <a:r>
              <a:rPr lang="es-PE" sz="2400" b="1" dirty="0" err="1"/>
              <a:t>VALUE</a:t>
            </a:r>
            <a:endParaRPr lang="es-PE" sz="2400" b="1" dirty="0"/>
          </a:p>
          <a:p>
            <a:r>
              <a:rPr lang="es-PE" sz="2400" b="1" dirty="0"/>
              <a:t>        1)      410.0000</a:t>
            </a:r>
          </a:p>
          <a:p>
            <a:r>
              <a:rPr lang="es-PE" sz="2400" b="1" dirty="0"/>
              <a:t>  VARIABLE        </a:t>
            </a:r>
            <a:r>
              <a:rPr lang="es-PE" sz="2400" b="1" dirty="0" err="1"/>
              <a:t>VALUE</a:t>
            </a:r>
            <a:r>
              <a:rPr lang="es-PE" sz="2400" b="1" dirty="0"/>
              <a:t>      </a:t>
            </a:r>
            <a:r>
              <a:rPr lang="es-PE" sz="2400" b="1" dirty="0" err="1"/>
              <a:t>REDUCED</a:t>
            </a:r>
            <a:r>
              <a:rPr lang="es-PE" sz="2400" b="1" dirty="0"/>
              <a:t> </a:t>
            </a:r>
            <a:r>
              <a:rPr lang="es-PE" sz="2400" b="1" dirty="0" err="1"/>
              <a:t>COST</a:t>
            </a:r>
            <a:endParaRPr lang="es-PE" sz="2400" b="1" dirty="0"/>
          </a:p>
          <a:p>
            <a:r>
              <a:rPr lang="es-PE" sz="2400" b="1" dirty="0"/>
              <a:t>        </a:t>
            </a:r>
            <a:r>
              <a:rPr lang="es-PE" sz="2400" b="1" dirty="0" err="1"/>
              <a:t>X1</a:t>
            </a:r>
            <a:r>
              <a:rPr lang="es-PE" sz="2400" b="1" dirty="0"/>
              <a:t>        30.000000         -7.000000</a:t>
            </a:r>
          </a:p>
          <a:p>
            <a:r>
              <a:rPr lang="es-PE" sz="2400" b="1" dirty="0"/>
              <a:t>        </a:t>
            </a:r>
            <a:r>
              <a:rPr lang="es-PE" sz="2400" b="1" dirty="0" err="1"/>
              <a:t>X2</a:t>
            </a:r>
            <a:r>
              <a:rPr lang="es-PE" sz="2400" b="1" dirty="0"/>
              <a:t>        40.000000         -5.000000</a:t>
            </a:r>
          </a:p>
        </p:txBody>
      </p:sp>
      <p:sp>
        <p:nvSpPr>
          <p:cNvPr id="2" name="Rectangle 3" descr="Rectangle: Click to edit Master text styles&#10;Second level&#10;Third level&#10;Fourth level&#10;Fifth level">
            <a:extLst>
              <a:ext uri="{FF2B5EF4-FFF2-40B4-BE49-F238E27FC236}">
                <a16:creationId xmlns:a16="http://schemas.microsoft.com/office/drawing/2014/main" id="{7C39A092-4AA1-F7D9-65BB-AA76B6411DE3}"/>
              </a:ext>
            </a:extLst>
          </p:cNvPr>
          <p:cNvSpPr txBox="1">
            <a:spLocks noChangeArrowheads="1"/>
          </p:cNvSpPr>
          <p:nvPr/>
        </p:nvSpPr>
        <p:spPr>
          <a:xfrm>
            <a:off x="6282424" y="3021874"/>
            <a:ext cx="5665736" cy="3690227"/>
          </a:xfrm>
          <a:prstGeom prst="rect">
            <a:avLst/>
          </a:prstGeom>
          <a:solidFill>
            <a:schemeClr val="accent1">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None/>
            </a:pPr>
            <a:r>
              <a:rPr lang="es-MX" altLang="es-PE" sz="2400" dirty="0">
                <a:solidFill>
                  <a:srgbClr val="FF0000"/>
                </a:solidFill>
              </a:rPr>
              <a:t>Identificación de las variables</a:t>
            </a:r>
          </a:p>
          <a:p>
            <a:pPr marL="0" indent="0" algn="just">
              <a:lnSpc>
                <a:spcPct val="100000"/>
              </a:lnSpc>
              <a:spcBef>
                <a:spcPts val="0"/>
              </a:spcBef>
              <a:buNone/>
            </a:pPr>
            <a:r>
              <a:rPr lang="es-MX" altLang="es-PE" sz="2400" dirty="0"/>
              <a:t>	</a:t>
            </a:r>
            <a:r>
              <a:rPr lang="es-MX" altLang="es-PE" sz="2400" dirty="0" err="1"/>
              <a:t>X1</a:t>
            </a:r>
            <a:r>
              <a:rPr lang="es-MX" altLang="es-PE" sz="2400" dirty="0"/>
              <a:t>= Número de mesas    </a:t>
            </a:r>
          </a:p>
          <a:p>
            <a:pPr marL="0" indent="0" algn="just">
              <a:lnSpc>
                <a:spcPct val="100000"/>
              </a:lnSpc>
              <a:spcBef>
                <a:spcPts val="0"/>
              </a:spcBef>
              <a:buNone/>
            </a:pPr>
            <a:r>
              <a:rPr lang="es-MX" altLang="es-PE" sz="2400" dirty="0"/>
              <a:t>	</a:t>
            </a:r>
            <a:r>
              <a:rPr lang="es-MX" altLang="es-PE" sz="2400" dirty="0" err="1"/>
              <a:t>X2</a:t>
            </a:r>
            <a:r>
              <a:rPr lang="es-MX" altLang="es-PE" sz="2400" dirty="0"/>
              <a:t>= Número de silla</a:t>
            </a:r>
          </a:p>
          <a:p>
            <a:pPr marL="0" indent="0" algn="just">
              <a:lnSpc>
                <a:spcPct val="100000"/>
              </a:lnSpc>
              <a:spcBef>
                <a:spcPts val="0"/>
              </a:spcBef>
              <a:buNone/>
            </a:pPr>
            <a:r>
              <a:rPr lang="es-MX" altLang="es-PE" sz="2400" dirty="0">
                <a:solidFill>
                  <a:srgbClr val="FF0000"/>
                </a:solidFill>
              </a:rPr>
              <a:t>Identificación de la Función objetivo</a:t>
            </a:r>
          </a:p>
          <a:p>
            <a:pPr algn="just">
              <a:lnSpc>
                <a:spcPct val="100000"/>
              </a:lnSpc>
              <a:spcBef>
                <a:spcPts val="0"/>
              </a:spcBef>
              <a:buFont typeface="Wingdings" pitchFamily="2" charset="2"/>
              <a:buNone/>
            </a:pPr>
            <a:r>
              <a:rPr lang="es-MX" altLang="es-PE" sz="2400" dirty="0"/>
              <a:t>    	Max </a:t>
            </a:r>
            <a:r>
              <a:rPr lang="es-MX" altLang="es-PE" sz="2400" dirty="0" err="1"/>
              <a:t>7X1</a:t>
            </a:r>
            <a:r>
              <a:rPr lang="es-MX" altLang="es-PE" sz="2400" dirty="0"/>
              <a:t> + </a:t>
            </a:r>
            <a:r>
              <a:rPr lang="es-MX" altLang="es-PE" sz="2400" dirty="0" err="1"/>
              <a:t>5X2</a:t>
            </a:r>
            <a:endParaRPr lang="es-MX" altLang="es-PE" sz="2400" dirty="0"/>
          </a:p>
          <a:p>
            <a:pPr marL="0" indent="0" algn="just">
              <a:lnSpc>
                <a:spcPct val="100000"/>
              </a:lnSpc>
              <a:spcBef>
                <a:spcPts val="0"/>
              </a:spcBef>
              <a:buNone/>
            </a:pPr>
            <a:r>
              <a:rPr lang="es-MX" altLang="es-PE" sz="2400" dirty="0">
                <a:solidFill>
                  <a:srgbClr val="FF0000"/>
                </a:solidFill>
              </a:rPr>
              <a:t>Identificación de las Restricciones</a:t>
            </a:r>
          </a:p>
          <a:p>
            <a:pPr algn="just">
              <a:lnSpc>
                <a:spcPct val="100000"/>
              </a:lnSpc>
              <a:spcBef>
                <a:spcPts val="0"/>
              </a:spcBef>
              <a:buFont typeface="Wingdings" pitchFamily="2" charset="2"/>
              <a:buNone/>
            </a:pPr>
            <a:r>
              <a:rPr lang="es-MX" altLang="es-PE" sz="2400" dirty="0"/>
              <a:t>     	</a:t>
            </a:r>
            <a:r>
              <a:rPr lang="es-MX" altLang="es-PE" sz="2400" dirty="0" err="1"/>
              <a:t>4X1</a:t>
            </a:r>
            <a:r>
              <a:rPr lang="es-MX" altLang="es-PE" sz="2400" dirty="0"/>
              <a:t> + </a:t>
            </a:r>
            <a:r>
              <a:rPr lang="es-MX" altLang="es-PE" sz="2400" dirty="0" err="1"/>
              <a:t>3X2</a:t>
            </a:r>
            <a:r>
              <a:rPr lang="es-MX" altLang="es-PE" sz="2400" dirty="0"/>
              <a:t> &lt;= 240</a:t>
            </a:r>
          </a:p>
          <a:p>
            <a:pPr algn="just">
              <a:lnSpc>
                <a:spcPct val="100000"/>
              </a:lnSpc>
              <a:spcBef>
                <a:spcPts val="0"/>
              </a:spcBef>
              <a:buFont typeface="Wingdings" pitchFamily="2" charset="2"/>
              <a:buNone/>
            </a:pPr>
            <a:r>
              <a:rPr lang="es-MX" altLang="es-PE" sz="2400" dirty="0"/>
              <a:t>     	</a:t>
            </a:r>
            <a:r>
              <a:rPr lang="es-MX" altLang="es-PE" sz="2400" dirty="0" err="1"/>
              <a:t>2X1</a:t>
            </a:r>
            <a:r>
              <a:rPr lang="es-MX" altLang="es-PE" sz="2400" dirty="0"/>
              <a:t> + </a:t>
            </a:r>
            <a:r>
              <a:rPr lang="es-MX" altLang="es-PE" sz="2400" dirty="0" err="1"/>
              <a:t>1X2</a:t>
            </a:r>
            <a:r>
              <a:rPr lang="es-MX" altLang="es-PE" sz="2400" dirty="0"/>
              <a:t> &lt;= 100     </a:t>
            </a:r>
          </a:p>
          <a:p>
            <a:pPr algn="just">
              <a:lnSpc>
                <a:spcPct val="100000"/>
              </a:lnSpc>
              <a:spcBef>
                <a:spcPts val="0"/>
              </a:spcBef>
              <a:buFont typeface="Wingdings" pitchFamily="2" charset="2"/>
              <a:buNone/>
            </a:pPr>
            <a:r>
              <a:rPr lang="es-MX" altLang="es-PE" sz="2400" dirty="0"/>
              <a:t>        	</a:t>
            </a:r>
            <a:r>
              <a:rPr lang="es-MX" altLang="es-PE" sz="2400" dirty="0" err="1"/>
              <a:t>X1</a:t>
            </a:r>
            <a:r>
              <a:rPr lang="es-MX" altLang="es-PE" sz="2400" dirty="0"/>
              <a:t>, </a:t>
            </a:r>
            <a:r>
              <a:rPr lang="es-MX" altLang="es-PE" sz="2400" dirty="0" err="1"/>
              <a:t>X2</a:t>
            </a:r>
            <a:r>
              <a:rPr lang="es-MX" altLang="es-PE" sz="2400" dirty="0"/>
              <a:t> &gt;= 0, Enteras    </a:t>
            </a:r>
            <a:endParaRPr lang="es-ES" altLang="es-PE" sz="2400" dirty="0"/>
          </a:p>
        </p:txBody>
      </p:sp>
    </p:spTree>
    <p:extLst>
      <p:ext uri="{BB962C8B-B14F-4D97-AF65-F5344CB8AC3E}">
        <p14:creationId xmlns:p14="http://schemas.microsoft.com/office/powerpoint/2010/main" val="326778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5CBEB739-039A-4054-B7ED-330B14174AD3}"/>
              </a:ext>
            </a:extLst>
          </p:cNvPr>
          <p:cNvSpPr>
            <a:spLocks noGrp="1" noChangeArrowheads="1"/>
          </p:cNvSpPr>
          <p:nvPr>
            <p:ph type="title"/>
          </p:nvPr>
        </p:nvSpPr>
        <p:spPr>
          <a:xfrm>
            <a:off x="6096000" y="190500"/>
            <a:ext cx="6096000" cy="762000"/>
          </a:xfrm>
        </p:spPr>
        <p:txBody>
          <a:bodyPr/>
          <a:lstStyle/>
          <a:p>
            <a:pPr algn="ctr" eaLnBrk="1" hangingPunct="1"/>
            <a:r>
              <a:rPr lang="es-MX" altLang="es-PE" sz="3200" dirty="0">
                <a:solidFill>
                  <a:schemeClr val="bg1"/>
                </a:solidFill>
              </a:rPr>
              <a:t>Para identificar las variables</a:t>
            </a:r>
            <a:endParaRPr lang="es-ES" altLang="es-PE" sz="3200" dirty="0">
              <a:solidFill>
                <a:schemeClr val="bg1"/>
              </a:solidFill>
            </a:endParaRPr>
          </a:p>
        </p:txBody>
      </p:sp>
      <p:graphicFrame>
        <p:nvGraphicFramePr>
          <p:cNvPr id="2" name="Tabla 2">
            <a:extLst>
              <a:ext uri="{FF2B5EF4-FFF2-40B4-BE49-F238E27FC236}">
                <a16:creationId xmlns:a16="http://schemas.microsoft.com/office/drawing/2014/main" id="{213F28B6-7269-4056-9F6C-DC3EEDBBDBC3}"/>
              </a:ext>
            </a:extLst>
          </p:cNvPr>
          <p:cNvGraphicFramePr>
            <a:graphicFrameLocks noGrp="1"/>
          </p:cNvGraphicFramePr>
          <p:nvPr>
            <p:extLst>
              <p:ext uri="{D42A27DB-BD31-4B8C-83A1-F6EECF244321}">
                <p14:modId xmlns:p14="http://schemas.microsoft.com/office/powerpoint/2010/main" val="2863788909"/>
              </p:ext>
            </p:extLst>
          </p:nvPr>
        </p:nvGraphicFramePr>
        <p:xfrm>
          <a:off x="348342" y="2194227"/>
          <a:ext cx="11512732" cy="3310128"/>
        </p:xfrm>
        <a:graphic>
          <a:graphicData uri="http://schemas.openxmlformats.org/drawingml/2006/table">
            <a:tbl>
              <a:tblPr firstRow="1" bandRow="1">
                <a:tableStyleId>{5C22544A-7EE6-4342-B048-85BDC9FD1C3A}</a:tableStyleId>
              </a:tblPr>
              <a:tblGrid>
                <a:gridCol w="5756366">
                  <a:extLst>
                    <a:ext uri="{9D8B030D-6E8A-4147-A177-3AD203B41FA5}">
                      <a16:colId xmlns:a16="http://schemas.microsoft.com/office/drawing/2014/main" val="783001906"/>
                    </a:ext>
                  </a:extLst>
                </a:gridCol>
                <a:gridCol w="5756366">
                  <a:extLst>
                    <a:ext uri="{9D8B030D-6E8A-4147-A177-3AD203B41FA5}">
                      <a16:colId xmlns:a16="http://schemas.microsoft.com/office/drawing/2014/main" val="3867631008"/>
                    </a:ext>
                  </a:extLst>
                </a:gridCol>
              </a:tblGrid>
              <a:tr h="2778572">
                <a:tc>
                  <a:txBody>
                    <a:bodyPr/>
                    <a:lstStyle/>
                    <a:p>
                      <a:pPr lvl="1" algn="just" eaLnBrk="1" hangingPunct="1">
                        <a:lnSpc>
                          <a:spcPct val="90000"/>
                        </a:lnSpc>
                      </a:pPr>
                      <a:r>
                        <a:rPr lang="es-MX" altLang="es-PE" sz="2400" b="0" dirty="0">
                          <a:latin typeface="Arial Narrow" panose="020B0606020202030204" pitchFamily="34" charset="0"/>
                        </a:rPr>
                        <a:t>Xi: Cantidad de unidades del producto i que se debe producir.</a:t>
                      </a:r>
                    </a:p>
                    <a:p>
                      <a:pPr lvl="1" algn="just" eaLnBrk="1" hangingPunct="1">
                        <a:lnSpc>
                          <a:spcPct val="90000"/>
                        </a:lnSpc>
                      </a:pPr>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a:t>
                      </a:r>
                      <a:r>
                        <a:rPr lang="es-MX" altLang="es-PE" sz="2400" b="0" dirty="0">
                          <a:latin typeface="Arial Narrow" panose="020B0606020202030204" pitchFamily="34" charset="0"/>
                        </a:rPr>
                        <a:t>: Cantidad de unidades del producto i que se debe producir en la planta j.</a:t>
                      </a:r>
                    </a:p>
                    <a:p>
                      <a:pPr lvl="1" algn="just" eaLnBrk="1" hangingPunct="1">
                        <a:lnSpc>
                          <a:spcPct val="90000"/>
                        </a:lnSpc>
                      </a:pPr>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Xijk</a:t>
                      </a:r>
                      <a:r>
                        <a:rPr lang="es-MX" altLang="es-PE" sz="2400" b="0" dirty="0">
                          <a:latin typeface="Arial Narrow" panose="020B0606020202030204" pitchFamily="34" charset="0"/>
                        </a:rPr>
                        <a:t>: Cantidad de unidades del producto i se debe producir en la planta j para la semana k.</a:t>
                      </a:r>
                    </a:p>
                    <a:p>
                      <a:endParaRPr lang="es-PE" sz="2400" b="0" dirty="0">
                        <a:latin typeface="Arial Narrow" panose="020B0606020202030204" pitchFamily="34" charset="0"/>
                      </a:endParaRPr>
                    </a:p>
                  </a:txBody>
                  <a:tcPr/>
                </a:tc>
                <a:tc>
                  <a:txBody>
                    <a:bodyPr/>
                    <a:lstStyle/>
                    <a:p>
                      <a:pPr lvl="1" algn="just"/>
                      <a:r>
                        <a:rPr lang="es-MX" altLang="es-PE" sz="2400" b="0" dirty="0">
                          <a:latin typeface="Arial Narrow" panose="020B0606020202030204" pitchFamily="34" charset="0"/>
                        </a:rPr>
                        <a:t>Xi: Cantidad de </a:t>
                      </a:r>
                      <a:r>
                        <a:rPr lang="es-MX" altLang="es-PE" sz="2400" b="0" dirty="0" err="1">
                          <a:latin typeface="Arial Narrow" panose="020B0606020202030204" pitchFamily="34" charset="0"/>
                        </a:rPr>
                        <a:t>kgs</a:t>
                      </a:r>
                      <a:r>
                        <a:rPr lang="es-MX" altLang="es-PE" sz="2400" b="0" dirty="0">
                          <a:latin typeface="Arial Narrow" panose="020B0606020202030204" pitchFamily="34" charset="0"/>
                        </a:rPr>
                        <a:t> del elemento i que se debe mezclar.</a:t>
                      </a:r>
                    </a:p>
                    <a:p>
                      <a:pPr lvl="1" algn="just" eaLnBrk="1" hangingPunct="1">
                        <a:lnSpc>
                          <a:spcPct val="90000"/>
                        </a:lnSpc>
                      </a:pPr>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a:t>
                      </a:r>
                      <a:r>
                        <a:rPr lang="es-MX" altLang="es-PE" sz="2400" b="0" dirty="0">
                          <a:latin typeface="Arial Narrow" panose="020B0606020202030204" pitchFamily="34" charset="0"/>
                        </a:rPr>
                        <a:t>: Cantidad de </a:t>
                      </a:r>
                      <a:r>
                        <a:rPr lang="es-MX" altLang="es-PE" sz="2400" b="0" dirty="0" err="1">
                          <a:latin typeface="Arial Narrow" panose="020B0606020202030204" pitchFamily="34" charset="0"/>
                        </a:rPr>
                        <a:t>kgs</a:t>
                      </a:r>
                      <a:r>
                        <a:rPr lang="es-MX" altLang="es-PE" sz="2400" b="0" dirty="0">
                          <a:latin typeface="Arial Narrow" panose="020B0606020202030204" pitchFamily="34" charset="0"/>
                        </a:rPr>
                        <a:t> del elemento i que se debe comprar al proveedor j.</a:t>
                      </a:r>
                    </a:p>
                    <a:p>
                      <a:pPr lvl="1" algn="just" eaLnBrk="1" hangingPunct="1">
                        <a:lnSpc>
                          <a:spcPct val="90000"/>
                        </a:lnSpc>
                      </a:pPr>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Xijk</a:t>
                      </a:r>
                      <a:r>
                        <a:rPr lang="es-MX" altLang="es-PE" sz="2400" b="0" dirty="0">
                          <a:latin typeface="Arial Narrow" panose="020B0606020202030204" pitchFamily="34" charset="0"/>
                        </a:rPr>
                        <a:t>: Cantidad de </a:t>
                      </a:r>
                      <a:r>
                        <a:rPr lang="es-MX" altLang="es-PE" sz="2400" b="0" dirty="0" err="1">
                          <a:latin typeface="Arial Narrow" panose="020B0606020202030204" pitchFamily="34" charset="0"/>
                        </a:rPr>
                        <a:t>kgs</a:t>
                      </a:r>
                      <a:r>
                        <a:rPr lang="es-MX" altLang="es-PE" sz="2400" b="0" dirty="0">
                          <a:latin typeface="Arial Narrow" panose="020B0606020202030204" pitchFamily="34" charset="0"/>
                        </a:rPr>
                        <a:t> del elemento i que se debe comprar al proveedor j en el mes k.</a:t>
                      </a:r>
                      <a:endParaRPr lang="es-ES" altLang="es-PE" sz="2400" b="0" dirty="0">
                        <a:latin typeface="Arial Narrow" panose="020B0606020202030204" pitchFamily="34" charset="0"/>
                      </a:endParaRPr>
                    </a:p>
                    <a:p>
                      <a:endParaRPr lang="es-PE" sz="2400" b="0" dirty="0">
                        <a:latin typeface="Arial Narrow" panose="020B0606020202030204" pitchFamily="34" charset="0"/>
                      </a:endParaRPr>
                    </a:p>
                  </a:txBody>
                  <a:tcPr/>
                </a:tc>
                <a:extLst>
                  <a:ext uri="{0D108BD9-81ED-4DB2-BD59-A6C34878D82A}">
                    <a16:rowId xmlns:a16="http://schemas.microsoft.com/office/drawing/2014/main" val="2669079278"/>
                  </a:ext>
                </a:extLst>
              </a:tr>
            </a:tbl>
          </a:graphicData>
        </a:graphic>
      </p:graphicFrame>
      <p:sp>
        <p:nvSpPr>
          <p:cNvPr id="4" name="CuadroTexto 3">
            <a:extLst>
              <a:ext uri="{FF2B5EF4-FFF2-40B4-BE49-F238E27FC236}">
                <a16:creationId xmlns:a16="http://schemas.microsoft.com/office/drawing/2014/main" id="{C13C4F00-A6DA-ED3E-1685-8CCECCE7A5F0}"/>
              </a:ext>
            </a:extLst>
          </p:cNvPr>
          <p:cNvSpPr txBox="1"/>
          <p:nvPr/>
        </p:nvSpPr>
        <p:spPr>
          <a:xfrm>
            <a:off x="326571" y="1470749"/>
            <a:ext cx="5847805" cy="424732"/>
          </a:xfrm>
          <a:prstGeom prst="rect">
            <a:avLst/>
          </a:prstGeom>
          <a:solidFill>
            <a:schemeClr val="accent4">
              <a:lumMod val="40000"/>
              <a:lumOff val="60000"/>
            </a:schemeClr>
          </a:solidFill>
        </p:spPr>
        <p:txBody>
          <a:bodyPr wrap="square">
            <a:spAutoFit/>
          </a:bodyPr>
          <a:lstStyle/>
          <a:p>
            <a:pPr algn="just" eaLnBrk="1" hangingPunct="1">
              <a:lnSpc>
                <a:spcPct val="90000"/>
              </a:lnSpc>
            </a:pPr>
            <a:r>
              <a:rPr lang="es-MX" altLang="es-PE" sz="2400" b="0" dirty="0">
                <a:latin typeface="Arial Narrow" panose="020B0606020202030204" pitchFamily="34" charset="0"/>
              </a:rPr>
              <a:t>¿Cuántas unidades de un producto debo producir?</a:t>
            </a:r>
          </a:p>
        </p:txBody>
      </p:sp>
      <p:sp>
        <p:nvSpPr>
          <p:cNvPr id="7" name="CuadroTexto 6">
            <a:extLst>
              <a:ext uri="{FF2B5EF4-FFF2-40B4-BE49-F238E27FC236}">
                <a16:creationId xmlns:a16="http://schemas.microsoft.com/office/drawing/2014/main" id="{BE7AB355-3594-5143-8834-04BF9B638CDC}"/>
              </a:ext>
            </a:extLst>
          </p:cNvPr>
          <p:cNvSpPr txBox="1"/>
          <p:nvPr/>
        </p:nvSpPr>
        <p:spPr>
          <a:xfrm>
            <a:off x="6287588" y="1470749"/>
            <a:ext cx="5573485" cy="424732"/>
          </a:xfrm>
          <a:prstGeom prst="rect">
            <a:avLst/>
          </a:prstGeom>
          <a:solidFill>
            <a:schemeClr val="accent4">
              <a:lumMod val="40000"/>
              <a:lumOff val="60000"/>
            </a:schemeClr>
          </a:solidFill>
        </p:spPr>
        <p:txBody>
          <a:bodyPr wrap="square">
            <a:spAutoFit/>
          </a:bodyPr>
          <a:lstStyle>
            <a:defPPr>
              <a:defRPr lang="es-PE"/>
            </a:defPPr>
            <a:lvl1pPr algn="just">
              <a:lnSpc>
                <a:spcPct val="90000"/>
              </a:lnSpc>
              <a:defRPr sz="2400" b="0">
                <a:latin typeface="Arial Narrow" panose="020B0606020202030204" pitchFamily="34" charset="0"/>
              </a:defRPr>
            </a:lvl1pPr>
          </a:lstStyle>
          <a:p>
            <a:r>
              <a:rPr lang="es-MX" altLang="es-PE" dirty="0"/>
              <a:t>¿Cuántos </a:t>
            </a:r>
            <a:r>
              <a:rPr lang="es-MX" altLang="es-PE" dirty="0" err="1"/>
              <a:t>kgs</a:t>
            </a:r>
            <a:r>
              <a:rPr lang="es-MX" altLang="es-PE" dirty="0"/>
              <a:t> de un elemento debe mezclarse?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5CBEB739-039A-4054-B7ED-330B14174AD3}"/>
              </a:ext>
            </a:extLst>
          </p:cNvPr>
          <p:cNvSpPr>
            <a:spLocks noGrp="1" noChangeArrowheads="1"/>
          </p:cNvSpPr>
          <p:nvPr>
            <p:ph type="title"/>
          </p:nvPr>
        </p:nvSpPr>
        <p:spPr>
          <a:xfrm>
            <a:off x="6096000" y="190500"/>
            <a:ext cx="6096000" cy="762000"/>
          </a:xfrm>
        </p:spPr>
        <p:txBody>
          <a:bodyPr/>
          <a:lstStyle/>
          <a:p>
            <a:pPr algn="ctr" eaLnBrk="1" hangingPunct="1"/>
            <a:r>
              <a:rPr lang="es-MX" altLang="es-PE" sz="3200" dirty="0">
                <a:solidFill>
                  <a:schemeClr val="bg1"/>
                </a:solidFill>
              </a:rPr>
              <a:t>Para identificar las variables</a:t>
            </a:r>
            <a:endParaRPr lang="es-ES" altLang="es-PE" sz="3200" dirty="0">
              <a:solidFill>
                <a:schemeClr val="bg1"/>
              </a:solidFill>
            </a:endParaRPr>
          </a:p>
        </p:txBody>
      </p:sp>
      <p:graphicFrame>
        <p:nvGraphicFramePr>
          <p:cNvPr id="2" name="Tabla 2">
            <a:extLst>
              <a:ext uri="{FF2B5EF4-FFF2-40B4-BE49-F238E27FC236}">
                <a16:creationId xmlns:a16="http://schemas.microsoft.com/office/drawing/2014/main" id="{213F28B6-7269-4056-9F6C-DC3EEDBBDBC3}"/>
              </a:ext>
            </a:extLst>
          </p:cNvPr>
          <p:cNvGraphicFramePr>
            <a:graphicFrameLocks noGrp="1"/>
          </p:cNvGraphicFramePr>
          <p:nvPr>
            <p:extLst>
              <p:ext uri="{D42A27DB-BD31-4B8C-83A1-F6EECF244321}">
                <p14:modId xmlns:p14="http://schemas.microsoft.com/office/powerpoint/2010/main" val="3734656178"/>
              </p:ext>
            </p:extLst>
          </p:nvPr>
        </p:nvGraphicFramePr>
        <p:xfrm>
          <a:off x="506710" y="2490651"/>
          <a:ext cx="11222228" cy="2802318"/>
        </p:xfrm>
        <a:graphic>
          <a:graphicData uri="http://schemas.openxmlformats.org/drawingml/2006/table">
            <a:tbl>
              <a:tblPr firstRow="1" bandRow="1">
                <a:tableStyleId>{5C22544A-7EE6-4342-B048-85BDC9FD1C3A}</a:tableStyleId>
              </a:tblPr>
              <a:tblGrid>
                <a:gridCol w="5611114">
                  <a:extLst>
                    <a:ext uri="{9D8B030D-6E8A-4147-A177-3AD203B41FA5}">
                      <a16:colId xmlns:a16="http://schemas.microsoft.com/office/drawing/2014/main" val="783001906"/>
                    </a:ext>
                  </a:extLst>
                </a:gridCol>
                <a:gridCol w="5611114">
                  <a:extLst>
                    <a:ext uri="{9D8B030D-6E8A-4147-A177-3AD203B41FA5}">
                      <a16:colId xmlns:a16="http://schemas.microsoft.com/office/drawing/2014/main" val="3867631008"/>
                    </a:ext>
                  </a:extLst>
                </a:gridCol>
              </a:tblGrid>
              <a:tr h="2802318">
                <a:tc>
                  <a:txBody>
                    <a:bodyPr/>
                    <a:lstStyle/>
                    <a:p>
                      <a:pPr marL="357188" lvl="2" indent="0" algn="just" eaLnBrk="1" hangingPunct="1"/>
                      <a:r>
                        <a:rPr lang="es-MX" altLang="es-PE" sz="2400" b="0" dirty="0">
                          <a:latin typeface="Arial Narrow" panose="020B0606020202030204" pitchFamily="34" charset="0"/>
                        </a:rPr>
                        <a:t>Xi: cantidad de acciones tipo i que se deben invertir.</a:t>
                      </a:r>
                    </a:p>
                    <a:p>
                      <a:pPr marL="357188" lvl="2" indent="0" algn="just" eaLnBrk="1" hangingPunct="1"/>
                      <a:endParaRPr lang="es-MX" altLang="es-PE" sz="2400" b="0" dirty="0">
                        <a:latin typeface="Arial Narrow" panose="020B0606020202030204" pitchFamily="34" charset="0"/>
                      </a:endParaRPr>
                    </a:p>
                    <a:p>
                      <a:pPr marL="357188" lvl="2" indent="0" algn="just" eaLnBrk="1" hangingPunct="1"/>
                      <a:r>
                        <a:rPr lang="es-MX" altLang="es-PE" sz="2400" b="0" dirty="0" err="1">
                          <a:latin typeface="Arial Narrow" panose="020B0606020202030204" pitchFamily="34" charset="0"/>
                        </a:rPr>
                        <a:t>Xij</a:t>
                      </a:r>
                      <a:r>
                        <a:rPr lang="es-MX" altLang="es-PE" sz="2400" b="0" dirty="0">
                          <a:latin typeface="Arial Narrow" panose="020B0606020202030204" pitchFamily="34" charset="0"/>
                        </a:rPr>
                        <a:t>): cantidad de acciones tipo i que se deben invertir en el mes j.</a:t>
                      </a:r>
                    </a:p>
                    <a:p>
                      <a:endParaRPr lang="es-PE" sz="2400" b="0" dirty="0">
                        <a:latin typeface="Arial Narrow" panose="020B0606020202030204" pitchFamily="34" charset="0"/>
                      </a:endParaRPr>
                    </a:p>
                  </a:txBody>
                  <a:tcPr/>
                </a:tc>
                <a:tc>
                  <a:txBody>
                    <a:bodyPr/>
                    <a:lstStyle/>
                    <a:p>
                      <a:pPr lvl="1" algn="just"/>
                      <a:r>
                        <a:rPr lang="es-MX" altLang="es-PE" sz="2400" b="0" dirty="0">
                          <a:latin typeface="Arial Narrow" panose="020B0606020202030204" pitchFamily="34" charset="0"/>
                        </a:rPr>
                        <a:t>Xi: Cantidad de vigilantes deben ingresar en el turno i</a:t>
                      </a:r>
                    </a:p>
                    <a:p>
                      <a:pPr marL="457200" lvl="1" indent="0" algn="just">
                        <a:buNone/>
                      </a:pPr>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a:t>
                      </a:r>
                      <a:r>
                        <a:rPr lang="es-MX" altLang="es-PE" sz="2400" b="0" dirty="0">
                          <a:latin typeface="Arial Narrow" panose="020B0606020202030204" pitchFamily="34" charset="0"/>
                        </a:rPr>
                        <a:t>: Cantidad de vigilantes deben ingresar en el turno i en el día j.</a:t>
                      </a:r>
                    </a:p>
                    <a:p>
                      <a:endParaRPr lang="es-PE" sz="2400" b="0" dirty="0">
                        <a:latin typeface="Arial Narrow" panose="020B0606020202030204" pitchFamily="34" charset="0"/>
                      </a:endParaRPr>
                    </a:p>
                  </a:txBody>
                  <a:tcPr/>
                </a:tc>
                <a:extLst>
                  <a:ext uri="{0D108BD9-81ED-4DB2-BD59-A6C34878D82A}">
                    <a16:rowId xmlns:a16="http://schemas.microsoft.com/office/drawing/2014/main" val="2669079278"/>
                  </a:ext>
                </a:extLst>
              </a:tr>
            </a:tbl>
          </a:graphicData>
        </a:graphic>
      </p:graphicFrame>
      <p:sp>
        <p:nvSpPr>
          <p:cNvPr id="4" name="CuadroTexto 3">
            <a:extLst>
              <a:ext uri="{FF2B5EF4-FFF2-40B4-BE49-F238E27FC236}">
                <a16:creationId xmlns:a16="http://schemas.microsoft.com/office/drawing/2014/main" id="{EAD025FD-0AE8-7027-CA3F-2EE51D63F7EF}"/>
              </a:ext>
            </a:extLst>
          </p:cNvPr>
          <p:cNvSpPr txBox="1"/>
          <p:nvPr/>
        </p:nvSpPr>
        <p:spPr>
          <a:xfrm>
            <a:off x="506710" y="1464978"/>
            <a:ext cx="5171279" cy="461665"/>
          </a:xfrm>
          <a:prstGeom prst="rect">
            <a:avLst/>
          </a:prstGeom>
          <a:solidFill>
            <a:schemeClr val="accent4">
              <a:lumMod val="40000"/>
              <a:lumOff val="60000"/>
            </a:schemeClr>
          </a:solidFill>
        </p:spPr>
        <p:txBody>
          <a:bodyPr wrap="square">
            <a:spAutoFit/>
          </a:bodyPr>
          <a:lstStyle/>
          <a:p>
            <a:pPr lvl="1" algn="just" eaLnBrk="1" hangingPunct="1"/>
            <a:r>
              <a:rPr lang="es-MX" altLang="es-PE" sz="2400" b="0" dirty="0">
                <a:solidFill>
                  <a:srgbClr val="FF0000"/>
                </a:solidFill>
                <a:latin typeface="Arial Narrow" panose="020B0606020202030204" pitchFamily="34" charset="0"/>
              </a:rPr>
              <a:t>¿Cuánto invertir en acciones?</a:t>
            </a:r>
          </a:p>
        </p:txBody>
      </p:sp>
      <p:sp>
        <p:nvSpPr>
          <p:cNvPr id="7" name="CuadroTexto 6">
            <a:extLst>
              <a:ext uri="{FF2B5EF4-FFF2-40B4-BE49-F238E27FC236}">
                <a16:creationId xmlns:a16="http://schemas.microsoft.com/office/drawing/2014/main" id="{B319E7D9-9117-A352-0840-8ACA4F9046E6}"/>
              </a:ext>
            </a:extLst>
          </p:cNvPr>
          <p:cNvSpPr txBox="1"/>
          <p:nvPr/>
        </p:nvSpPr>
        <p:spPr>
          <a:xfrm>
            <a:off x="6117825" y="1362636"/>
            <a:ext cx="5611114" cy="461665"/>
          </a:xfrm>
          <a:prstGeom prst="rect">
            <a:avLst/>
          </a:prstGeom>
          <a:solidFill>
            <a:schemeClr val="accent4">
              <a:lumMod val="40000"/>
              <a:lumOff val="60000"/>
            </a:schemeClr>
          </a:solidFill>
        </p:spPr>
        <p:txBody>
          <a:bodyPr wrap="square">
            <a:spAutoFit/>
          </a:bodyPr>
          <a:lstStyle>
            <a:defPPr>
              <a:defRPr lang="es-PE"/>
            </a:defPPr>
            <a:lvl2pPr lvl="1" algn="just">
              <a:defRPr sz="2800" b="0">
                <a:solidFill>
                  <a:srgbClr val="FF0000"/>
                </a:solidFill>
                <a:latin typeface="Arial Narrow" panose="020B0606020202030204" pitchFamily="34" charset="0"/>
              </a:defRPr>
            </a:lvl2pPr>
          </a:lstStyle>
          <a:p>
            <a:r>
              <a:rPr lang="es-MX" altLang="es-PE" sz="2400" dirty="0">
                <a:solidFill>
                  <a:srgbClr val="FF0000"/>
                </a:solidFill>
              </a:rPr>
              <a:t>¿Cuántos vigilantes necesito para un día?</a:t>
            </a:r>
          </a:p>
        </p:txBody>
      </p:sp>
    </p:spTree>
    <p:extLst>
      <p:ext uri="{BB962C8B-B14F-4D97-AF65-F5344CB8AC3E}">
        <p14:creationId xmlns:p14="http://schemas.microsoft.com/office/powerpoint/2010/main" val="13877975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5CBEB739-039A-4054-B7ED-330B14174AD3}"/>
              </a:ext>
            </a:extLst>
          </p:cNvPr>
          <p:cNvSpPr>
            <a:spLocks noGrp="1" noChangeArrowheads="1"/>
          </p:cNvSpPr>
          <p:nvPr>
            <p:ph type="title"/>
          </p:nvPr>
        </p:nvSpPr>
        <p:spPr>
          <a:xfrm>
            <a:off x="6096000" y="190500"/>
            <a:ext cx="6096000" cy="762000"/>
          </a:xfrm>
        </p:spPr>
        <p:txBody>
          <a:bodyPr/>
          <a:lstStyle/>
          <a:p>
            <a:pPr algn="ctr" eaLnBrk="1" hangingPunct="1"/>
            <a:r>
              <a:rPr lang="es-MX" altLang="es-PE" sz="3200" dirty="0">
                <a:solidFill>
                  <a:schemeClr val="bg1"/>
                </a:solidFill>
              </a:rPr>
              <a:t>Para identificar las variables</a:t>
            </a:r>
            <a:endParaRPr lang="es-ES" altLang="es-PE" sz="3200" dirty="0">
              <a:solidFill>
                <a:schemeClr val="bg1"/>
              </a:solidFill>
            </a:endParaRPr>
          </a:p>
        </p:txBody>
      </p:sp>
      <p:graphicFrame>
        <p:nvGraphicFramePr>
          <p:cNvPr id="2" name="Tabla 2">
            <a:extLst>
              <a:ext uri="{FF2B5EF4-FFF2-40B4-BE49-F238E27FC236}">
                <a16:creationId xmlns:a16="http://schemas.microsoft.com/office/drawing/2014/main" id="{213F28B6-7269-4056-9F6C-DC3EEDBBDBC3}"/>
              </a:ext>
            </a:extLst>
          </p:cNvPr>
          <p:cNvGraphicFramePr>
            <a:graphicFrameLocks noGrp="1"/>
          </p:cNvGraphicFramePr>
          <p:nvPr/>
        </p:nvGraphicFramePr>
        <p:xfrm>
          <a:off x="506710" y="1644474"/>
          <a:ext cx="11222228" cy="4846320"/>
        </p:xfrm>
        <a:graphic>
          <a:graphicData uri="http://schemas.openxmlformats.org/drawingml/2006/table">
            <a:tbl>
              <a:tblPr firstRow="1" bandRow="1">
                <a:tableStyleId>{5C22544A-7EE6-4342-B048-85BDC9FD1C3A}</a:tableStyleId>
              </a:tblPr>
              <a:tblGrid>
                <a:gridCol w="5611114">
                  <a:extLst>
                    <a:ext uri="{9D8B030D-6E8A-4147-A177-3AD203B41FA5}">
                      <a16:colId xmlns:a16="http://schemas.microsoft.com/office/drawing/2014/main" val="783001906"/>
                    </a:ext>
                  </a:extLst>
                </a:gridCol>
                <a:gridCol w="5611114">
                  <a:extLst>
                    <a:ext uri="{9D8B030D-6E8A-4147-A177-3AD203B41FA5}">
                      <a16:colId xmlns:a16="http://schemas.microsoft.com/office/drawing/2014/main" val="3867631008"/>
                    </a:ext>
                  </a:extLst>
                </a:gridCol>
              </a:tblGrid>
              <a:tr h="4594712">
                <a:tc>
                  <a:txBody>
                    <a:bodyPr/>
                    <a:lstStyle/>
                    <a:p>
                      <a:pPr algn="just" eaLnBrk="1" hangingPunct="1"/>
                      <a:r>
                        <a:rPr lang="es-MX" altLang="es-PE" sz="2400" b="0" dirty="0">
                          <a:latin typeface="Arial Narrow" panose="020B0606020202030204" pitchFamily="34" charset="0"/>
                        </a:rPr>
                        <a:t>¿Cuántas unidades de materia prima debo comprar para producir unidades de productos?</a:t>
                      </a:r>
                    </a:p>
                    <a:p>
                      <a:pPr algn="just" eaLnBrk="1" hangingPunct="1"/>
                      <a:endParaRPr lang="es-MX" altLang="es-PE" sz="2400" b="0" dirty="0">
                        <a:latin typeface="Arial Narrow" panose="020B0606020202030204" pitchFamily="34" charset="0"/>
                      </a:endParaRPr>
                    </a:p>
                    <a:p>
                      <a:pPr lvl="1" algn="just"/>
                      <a:r>
                        <a:rPr lang="es-MX" altLang="es-PE" sz="2400" b="0" dirty="0">
                          <a:latin typeface="Arial Narrow" panose="020B0606020202030204" pitchFamily="34" charset="0"/>
                        </a:rPr>
                        <a:t>Xi: Cantidad de unidades de materia prima tipo i se debe comprar.</a:t>
                      </a:r>
                    </a:p>
                    <a:p>
                      <a:pPr lvl="1" algn="just" eaLnBrk="1" hangingPunct="1"/>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a:t>
                      </a:r>
                      <a:r>
                        <a:rPr lang="es-MX" altLang="es-PE" sz="2400" b="0" dirty="0">
                          <a:latin typeface="Arial Narrow" panose="020B0606020202030204" pitchFamily="34" charset="0"/>
                        </a:rPr>
                        <a:t>: Cantidad de unidades de materia prima tipo i se debe comprar en la semana j.</a:t>
                      </a:r>
                    </a:p>
                    <a:p>
                      <a:pPr lvl="1" algn="just" eaLnBrk="1" hangingPunct="1"/>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Xijk</a:t>
                      </a:r>
                      <a:r>
                        <a:rPr lang="es-MX" altLang="es-PE" sz="2400" b="0" dirty="0">
                          <a:latin typeface="Arial Narrow" panose="020B0606020202030204" pitchFamily="34" charset="0"/>
                        </a:rPr>
                        <a:t>: Cantidad de unidades de materia prima tipo i se debe comprar en la semana j al proveedor k.</a:t>
                      </a:r>
                    </a:p>
                    <a:p>
                      <a:endParaRPr lang="es-PE" sz="2400" b="0" dirty="0">
                        <a:latin typeface="Arial Narrow" panose="020B0606020202030204" pitchFamily="34" charset="0"/>
                      </a:endParaRPr>
                    </a:p>
                  </a:txBody>
                  <a:tcPr/>
                </a:tc>
                <a:tc>
                  <a:txBody>
                    <a:bodyPr/>
                    <a:lstStyle/>
                    <a:p>
                      <a:pPr algn="just" eaLnBrk="1" hangingPunct="1">
                        <a:lnSpc>
                          <a:spcPct val="90000"/>
                        </a:lnSpc>
                      </a:pPr>
                      <a:r>
                        <a:rPr lang="es-MX" altLang="es-PE" sz="2400" b="0" dirty="0">
                          <a:latin typeface="Arial Narrow" panose="020B0606020202030204" pitchFamily="34" charset="0"/>
                        </a:rPr>
                        <a:t>¿Cuántas unidades transportar de una planta a un almacén?</a:t>
                      </a:r>
                    </a:p>
                    <a:p>
                      <a:pPr algn="just" eaLnBrk="1" hangingPunct="1">
                        <a:lnSpc>
                          <a:spcPct val="90000"/>
                        </a:lnSpc>
                      </a:pPr>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a:t>
                      </a:r>
                      <a:r>
                        <a:rPr lang="es-MX" altLang="es-PE" sz="2400" b="0" dirty="0">
                          <a:latin typeface="Arial Narrow" panose="020B0606020202030204" pitchFamily="34" charset="0"/>
                        </a:rPr>
                        <a:t>: Cantidad de unidades se debe transportar de la planta i para el almacén j.</a:t>
                      </a:r>
                    </a:p>
                    <a:p>
                      <a:pPr lvl="1" algn="just" eaLnBrk="1" hangingPunct="1">
                        <a:lnSpc>
                          <a:spcPct val="90000"/>
                        </a:lnSpc>
                      </a:pPr>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Xijk</a:t>
                      </a:r>
                      <a:r>
                        <a:rPr lang="es-MX" altLang="es-PE" sz="2400" b="0" dirty="0">
                          <a:latin typeface="Arial Narrow" panose="020B0606020202030204" pitchFamily="34" charset="0"/>
                        </a:rPr>
                        <a:t>: Cantidad de unidades se debe transportar de la planta i para el almacén j en la semana k.</a:t>
                      </a:r>
                    </a:p>
                    <a:p>
                      <a:pPr lvl="1" algn="just" eaLnBrk="1" hangingPunct="1">
                        <a:lnSpc>
                          <a:spcPct val="90000"/>
                        </a:lnSpc>
                      </a:pPr>
                      <a:endParaRPr lang="es-MX" altLang="es-PE" sz="2400" b="0" dirty="0">
                        <a:latin typeface="Arial Narrow" panose="020B0606020202030204" pitchFamily="34" charset="0"/>
                      </a:endParaRPr>
                    </a:p>
                    <a:p>
                      <a:pPr lvl="1" algn="just"/>
                      <a:r>
                        <a:rPr lang="es-MX" altLang="es-PE" sz="2400" b="0" dirty="0" err="1">
                          <a:latin typeface="Arial Narrow" panose="020B0606020202030204" pitchFamily="34" charset="0"/>
                        </a:rPr>
                        <a:t>Xijkl</a:t>
                      </a:r>
                      <a:r>
                        <a:rPr lang="es-MX" altLang="es-PE" sz="2400" b="0" dirty="0">
                          <a:latin typeface="Arial Narrow" panose="020B0606020202030204" pitchFamily="34" charset="0"/>
                        </a:rPr>
                        <a:t>: Cantidad de unidades se debe transportar de la planta i para el almacén j en la semana k para el cliente l.</a:t>
                      </a:r>
                      <a:endParaRPr lang="es-PE" sz="2400" b="0" dirty="0">
                        <a:latin typeface="Arial Narrow" panose="020B0606020202030204" pitchFamily="34" charset="0"/>
                      </a:endParaRPr>
                    </a:p>
                  </a:txBody>
                  <a:tcPr/>
                </a:tc>
                <a:extLst>
                  <a:ext uri="{0D108BD9-81ED-4DB2-BD59-A6C34878D82A}">
                    <a16:rowId xmlns:a16="http://schemas.microsoft.com/office/drawing/2014/main" val="2669079278"/>
                  </a:ext>
                </a:extLst>
              </a:tr>
            </a:tbl>
          </a:graphicData>
        </a:graphic>
      </p:graphicFrame>
    </p:spTree>
    <p:extLst>
      <p:ext uri="{BB962C8B-B14F-4D97-AF65-F5344CB8AC3E}">
        <p14:creationId xmlns:p14="http://schemas.microsoft.com/office/powerpoint/2010/main" val="26193113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096000" y="186905"/>
            <a:ext cx="6096000" cy="762000"/>
          </a:xfrm>
        </p:spPr>
        <p:txBody>
          <a:bodyPr/>
          <a:lstStyle/>
          <a:p>
            <a:pPr algn="ctr" eaLnBrk="1" hangingPunct="1"/>
            <a:r>
              <a:rPr lang="es-MX" altLang="es-PE" sz="3200" dirty="0">
                <a:solidFill>
                  <a:schemeClr val="bg1"/>
                </a:solidFill>
              </a:rPr>
              <a:t>Clasificación de los datos (1)</a:t>
            </a:r>
            <a:endParaRPr lang="es-ES" altLang="es-PE" sz="3200" dirty="0">
              <a:solidFill>
                <a:schemeClr val="bg1"/>
              </a:solidFill>
            </a:endParaRPr>
          </a:p>
        </p:txBody>
      </p:sp>
      <p:graphicFrame>
        <p:nvGraphicFramePr>
          <p:cNvPr id="2" name="Marcador de contenido 1">
            <a:extLst>
              <a:ext uri="{FF2B5EF4-FFF2-40B4-BE49-F238E27FC236}">
                <a16:creationId xmlns:a16="http://schemas.microsoft.com/office/drawing/2014/main" id="{BE55B6C7-460E-48B3-BCEF-CECA41C4F898}"/>
              </a:ext>
            </a:extLst>
          </p:cNvPr>
          <p:cNvGraphicFramePr>
            <a:graphicFrameLocks noGrp="1"/>
          </p:cNvGraphicFramePr>
          <p:nvPr>
            <p:ph idx="1"/>
            <p:extLst>
              <p:ext uri="{D42A27DB-BD31-4B8C-83A1-F6EECF244321}">
                <p14:modId xmlns:p14="http://schemas.microsoft.com/office/powerpoint/2010/main" val="4248764916"/>
              </p:ext>
            </p:extLst>
          </p:nvPr>
        </p:nvGraphicFramePr>
        <p:xfrm>
          <a:off x="365491" y="1212669"/>
          <a:ext cx="11460481" cy="2216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Marcador de contenido 1">
            <a:extLst>
              <a:ext uri="{FF2B5EF4-FFF2-40B4-BE49-F238E27FC236}">
                <a16:creationId xmlns:a16="http://schemas.microsoft.com/office/drawing/2014/main" id="{24A0D9BE-9DE5-D614-85BB-CE2CDB68C14A}"/>
              </a:ext>
            </a:extLst>
          </p:cNvPr>
          <p:cNvGraphicFramePr>
            <a:graphicFrameLocks/>
          </p:cNvGraphicFramePr>
          <p:nvPr>
            <p:extLst>
              <p:ext uri="{D42A27DB-BD31-4B8C-83A1-F6EECF244321}">
                <p14:modId xmlns:p14="http://schemas.microsoft.com/office/powerpoint/2010/main" val="4184208436"/>
              </p:ext>
            </p:extLst>
          </p:nvPr>
        </p:nvGraphicFramePr>
        <p:xfrm>
          <a:off x="295557" y="3428999"/>
          <a:ext cx="11600351" cy="328966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Marcador de contenido 1">
            <a:extLst>
              <a:ext uri="{FF2B5EF4-FFF2-40B4-BE49-F238E27FC236}">
                <a16:creationId xmlns:a16="http://schemas.microsoft.com/office/drawing/2014/main" id="{FCB8753E-892B-4E06-89F4-F5666BB77D34}"/>
              </a:ext>
            </a:extLst>
          </p:cNvPr>
          <p:cNvGraphicFramePr>
            <a:graphicFrameLocks noGrp="1"/>
          </p:cNvGraphicFramePr>
          <p:nvPr>
            <p:ph idx="1"/>
            <p:extLst>
              <p:ext uri="{D42A27DB-BD31-4B8C-83A1-F6EECF244321}">
                <p14:modId xmlns:p14="http://schemas.microsoft.com/office/powerpoint/2010/main" val="2246772703"/>
              </p:ext>
            </p:extLst>
          </p:nvPr>
        </p:nvGraphicFramePr>
        <p:xfrm>
          <a:off x="707367" y="1676401"/>
          <a:ext cx="10489721" cy="40687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2">
            <a:extLst>
              <a:ext uri="{FF2B5EF4-FFF2-40B4-BE49-F238E27FC236}">
                <a16:creationId xmlns:a16="http://schemas.microsoft.com/office/drawing/2014/main" id="{20560723-8A18-4035-827B-AB8F9AB75118}"/>
              </a:ext>
            </a:extLst>
          </p:cNvPr>
          <p:cNvSpPr>
            <a:spLocks noGrp="1" noChangeArrowheads="1"/>
          </p:cNvSpPr>
          <p:nvPr>
            <p:ph type="title"/>
          </p:nvPr>
        </p:nvSpPr>
        <p:spPr>
          <a:xfrm>
            <a:off x="6096000" y="186905"/>
            <a:ext cx="6096000" cy="762000"/>
          </a:xfrm>
        </p:spPr>
        <p:txBody>
          <a:bodyPr/>
          <a:lstStyle/>
          <a:p>
            <a:pPr algn="ctr" eaLnBrk="1" hangingPunct="1"/>
            <a:r>
              <a:rPr lang="es-MX" altLang="es-PE" sz="3200" dirty="0">
                <a:solidFill>
                  <a:schemeClr val="bg1"/>
                </a:solidFill>
              </a:rPr>
              <a:t>Clasificación de los datos (2)</a:t>
            </a:r>
            <a:endParaRPr lang="es-ES" altLang="es-PE" sz="3200" dirty="0">
              <a:solidFill>
                <a:schemeClr val="bg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1"/>
          <p:cNvSpPr>
            <a:spLocks noChangeArrowheads="1"/>
          </p:cNvSpPr>
          <p:nvPr/>
        </p:nvSpPr>
        <p:spPr bwMode="auto">
          <a:xfrm>
            <a:off x="6095999" y="159225"/>
            <a:ext cx="6096001" cy="751552"/>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24 Mezcla</a:t>
            </a:r>
          </a:p>
        </p:txBody>
      </p:sp>
      <p:sp>
        <p:nvSpPr>
          <p:cNvPr id="2" name="CuadroTexto 1">
            <a:extLst>
              <a:ext uri="{FF2B5EF4-FFF2-40B4-BE49-F238E27FC236}">
                <a16:creationId xmlns:a16="http://schemas.microsoft.com/office/drawing/2014/main" id="{33E91DBE-37D1-471A-8AB0-FB82495EA24F}"/>
              </a:ext>
            </a:extLst>
          </p:cNvPr>
          <p:cNvSpPr txBox="1"/>
          <p:nvPr/>
        </p:nvSpPr>
        <p:spPr>
          <a:xfrm>
            <a:off x="629173" y="1217600"/>
            <a:ext cx="11056691" cy="3046988"/>
          </a:xfrm>
          <a:prstGeom prst="rect">
            <a:avLst/>
          </a:prstGeom>
          <a:noFill/>
        </p:spPr>
        <p:txBody>
          <a:bodyPr wrap="square" rtlCol="0">
            <a:spAutoFit/>
          </a:bodyPr>
          <a:lstStyle/>
          <a:p>
            <a:pPr algn="just"/>
            <a:r>
              <a:rPr lang="es-ES" sz="2400" dirty="0">
                <a:latin typeface="Arial Narrow" panose="020B0606020202030204" pitchFamily="34" charset="0"/>
              </a:rPr>
              <a:t>En la elaboración de un producto A se necesita una sustancia B. La cantidad de A  obtenida es menor o igual que el doble de B utilizada, y la diferencia entre las cantidades del producto B y A no supera los 2 g mientras que la suma no debe sobrepasar los 5 g. Además se utiliza por lo menos 1 g de B y se requiere 1 g de A.  El producto A se vende a 5 millones de </a:t>
            </a:r>
            <a:r>
              <a:rPr lang="es-ES" sz="2400" dirty="0" err="1">
                <a:latin typeface="Arial Narrow" panose="020B0606020202030204" pitchFamily="34" charset="0"/>
              </a:rPr>
              <a:t>u.m</a:t>
            </a:r>
            <a:r>
              <a:rPr lang="es-ES" sz="2400" dirty="0">
                <a:latin typeface="Arial Narrow" panose="020B0606020202030204" pitchFamily="34" charset="0"/>
              </a:rPr>
              <a:t>. y la sustancia B cuesta 4 millones de </a:t>
            </a:r>
            <a:r>
              <a:rPr lang="es-ES" sz="2400" dirty="0" err="1">
                <a:latin typeface="Arial Narrow" panose="020B0606020202030204" pitchFamily="34" charset="0"/>
              </a:rPr>
              <a:t>u.m</a:t>
            </a:r>
            <a:r>
              <a:rPr lang="es-ES" sz="2400" dirty="0">
                <a:latin typeface="Arial Narrow" panose="020B0606020202030204" pitchFamily="34" charset="0"/>
              </a:rPr>
              <a:t>. el gramo. Calcular la cantidad de sustancia B necesaria para que el beneficio sea máximo. Plantear y resolver el anterior problema como un  modelo de programación lineal.</a:t>
            </a:r>
          </a:p>
          <a:p>
            <a:pPr algn="just"/>
            <a:r>
              <a:rPr lang="es-ES" sz="2400" dirty="0">
                <a:solidFill>
                  <a:srgbClr val="FF0000"/>
                </a:solidFill>
                <a:latin typeface="Arial Narrow" panose="020B0606020202030204" pitchFamily="34" charset="0"/>
              </a:rPr>
              <a:t>SOLUCIÓN</a:t>
            </a:r>
            <a:endParaRPr lang="es-PE" sz="2400" dirty="0">
              <a:solidFill>
                <a:srgbClr val="FF0000"/>
              </a:solidFill>
              <a:latin typeface="Arial Narrow" panose="020B0606020202030204" pitchFamily="34" charset="0"/>
            </a:endParaRPr>
          </a:p>
        </p:txBody>
      </p:sp>
      <p:graphicFrame>
        <p:nvGraphicFramePr>
          <p:cNvPr id="7" name="Tabla 3">
            <a:extLst>
              <a:ext uri="{FF2B5EF4-FFF2-40B4-BE49-F238E27FC236}">
                <a16:creationId xmlns:a16="http://schemas.microsoft.com/office/drawing/2014/main" id="{672CEB64-B762-4641-8194-FFA39816E042}"/>
              </a:ext>
            </a:extLst>
          </p:cNvPr>
          <p:cNvGraphicFramePr>
            <a:graphicFrameLocks noGrp="1"/>
          </p:cNvGraphicFramePr>
          <p:nvPr>
            <p:extLst>
              <p:ext uri="{D42A27DB-BD31-4B8C-83A1-F6EECF244321}">
                <p14:modId xmlns:p14="http://schemas.microsoft.com/office/powerpoint/2010/main" val="1957321047"/>
              </p:ext>
            </p:extLst>
          </p:nvPr>
        </p:nvGraphicFramePr>
        <p:xfrm>
          <a:off x="3096892" y="3846116"/>
          <a:ext cx="3651690" cy="2743200"/>
        </p:xfrm>
        <a:graphic>
          <a:graphicData uri="http://schemas.openxmlformats.org/drawingml/2006/table">
            <a:tbl>
              <a:tblPr firstRow="1" bandRow="1">
                <a:tableStyleId>{5C22544A-7EE6-4342-B048-85BDC9FD1C3A}</a:tableStyleId>
              </a:tblPr>
              <a:tblGrid>
                <a:gridCol w="1825845">
                  <a:extLst>
                    <a:ext uri="{9D8B030D-6E8A-4147-A177-3AD203B41FA5}">
                      <a16:colId xmlns:a16="http://schemas.microsoft.com/office/drawing/2014/main" val="35156083"/>
                    </a:ext>
                  </a:extLst>
                </a:gridCol>
                <a:gridCol w="1825845">
                  <a:extLst>
                    <a:ext uri="{9D8B030D-6E8A-4147-A177-3AD203B41FA5}">
                      <a16:colId xmlns:a16="http://schemas.microsoft.com/office/drawing/2014/main" val="859586341"/>
                    </a:ext>
                  </a:extLst>
                </a:gridCol>
              </a:tblGrid>
              <a:tr h="293986">
                <a:tc>
                  <a:txBody>
                    <a:bodyPr/>
                    <a:lstStyle/>
                    <a:p>
                      <a:pPr algn="ctr"/>
                      <a:r>
                        <a:rPr lang="es-ES" sz="2400" dirty="0"/>
                        <a:t>Producto A</a:t>
                      </a:r>
                      <a:endParaRPr lang="es-PE" sz="2400" dirty="0"/>
                    </a:p>
                  </a:txBody>
                  <a:tcPr/>
                </a:tc>
                <a:tc>
                  <a:txBody>
                    <a:bodyPr/>
                    <a:lstStyle/>
                    <a:p>
                      <a:pPr algn="ctr"/>
                      <a:r>
                        <a:rPr lang="es-ES" sz="2400" dirty="0"/>
                        <a:t>Sustancia B</a:t>
                      </a:r>
                      <a:endParaRPr lang="es-PE" sz="2400" dirty="0"/>
                    </a:p>
                  </a:txBody>
                  <a:tcPr/>
                </a:tc>
                <a:extLst>
                  <a:ext uri="{0D108BD9-81ED-4DB2-BD59-A6C34878D82A}">
                    <a16:rowId xmlns:a16="http://schemas.microsoft.com/office/drawing/2014/main" val="562256584"/>
                  </a:ext>
                </a:extLst>
              </a:tr>
              <a:tr h="293986">
                <a:tc>
                  <a:txBody>
                    <a:bodyPr/>
                    <a:lstStyle/>
                    <a:p>
                      <a:pPr algn="r"/>
                      <a:r>
                        <a:rPr lang="es-ES" sz="2400" dirty="0"/>
                        <a:t>A&lt;=</a:t>
                      </a:r>
                      <a:endParaRPr lang="es-PE" sz="2400" dirty="0"/>
                    </a:p>
                  </a:txBody>
                  <a:tcPr/>
                </a:tc>
                <a:tc>
                  <a:txBody>
                    <a:bodyPr/>
                    <a:lstStyle/>
                    <a:p>
                      <a:pPr algn="l"/>
                      <a:r>
                        <a:rPr lang="es-ES" sz="2400" dirty="0" err="1"/>
                        <a:t>2B</a:t>
                      </a:r>
                      <a:endParaRPr lang="es-PE" sz="2400" dirty="0"/>
                    </a:p>
                  </a:txBody>
                  <a:tcPr/>
                </a:tc>
                <a:extLst>
                  <a:ext uri="{0D108BD9-81ED-4DB2-BD59-A6C34878D82A}">
                    <a16:rowId xmlns:a16="http://schemas.microsoft.com/office/drawing/2014/main" val="821166013"/>
                  </a:ext>
                </a:extLst>
              </a:tr>
              <a:tr h="293986">
                <a:tc>
                  <a:txBody>
                    <a:bodyPr/>
                    <a:lstStyle/>
                    <a:p>
                      <a:pPr algn="r"/>
                      <a:r>
                        <a:rPr lang="es-ES" sz="2400" dirty="0"/>
                        <a:t>B-A&lt;=</a:t>
                      </a:r>
                      <a:endParaRPr lang="es-PE" sz="2400" dirty="0"/>
                    </a:p>
                  </a:txBody>
                  <a:tcPr/>
                </a:tc>
                <a:tc>
                  <a:txBody>
                    <a:bodyPr/>
                    <a:lstStyle/>
                    <a:p>
                      <a:pPr algn="l"/>
                      <a:r>
                        <a:rPr lang="es-ES" sz="2400" dirty="0"/>
                        <a:t>2</a:t>
                      </a:r>
                      <a:endParaRPr lang="es-PE" sz="2400" dirty="0"/>
                    </a:p>
                  </a:txBody>
                  <a:tcPr/>
                </a:tc>
                <a:extLst>
                  <a:ext uri="{0D108BD9-81ED-4DB2-BD59-A6C34878D82A}">
                    <a16:rowId xmlns:a16="http://schemas.microsoft.com/office/drawing/2014/main" val="1157453437"/>
                  </a:ext>
                </a:extLst>
              </a:tr>
              <a:tr h="293986">
                <a:tc>
                  <a:txBody>
                    <a:bodyPr/>
                    <a:lstStyle/>
                    <a:p>
                      <a:pPr algn="r"/>
                      <a:r>
                        <a:rPr lang="es-ES" sz="2400" dirty="0" err="1"/>
                        <a:t>A+B</a:t>
                      </a:r>
                      <a:r>
                        <a:rPr lang="es-ES" sz="2400" dirty="0"/>
                        <a:t>&lt;=</a:t>
                      </a:r>
                      <a:endParaRPr lang="es-PE" sz="2400" dirty="0"/>
                    </a:p>
                  </a:txBody>
                  <a:tcPr/>
                </a:tc>
                <a:tc>
                  <a:txBody>
                    <a:bodyPr/>
                    <a:lstStyle/>
                    <a:p>
                      <a:pPr algn="l"/>
                      <a:r>
                        <a:rPr lang="es-ES" sz="2400" dirty="0"/>
                        <a:t>5</a:t>
                      </a:r>
                      <a:endParaRPr lang="es-PE" sz="2400" dirty="0"/>
                    </a:p>
                  </a:txBody>
                  <a:tcPr/>
                </a:tc>
                <a:extLst>
                  <a:ext uri="{0D108BD9-81ED-4DB2-BD59-A6C34878D82A}">
                    <a16:rowId xmlns:a16="http://schemas.microsoft.com/office/drawing/2014/main" val="1740888325"/>
                  </a:ext>
                </a:extLst>
              </a:tr>
              <a:tr h="293986">
                <a:tc>
                  <a:txBody>
                    <a:bodyPr/>
                    <a:lstStyle/>
                    <a:p>
                      <a:pPr algn="r"/>
                      <a:r>
                        <a:rPr lang="es-ES" sz="2400" dirty="0"/>
                        <a:t>A&gt;=</a:t>
                      </a:r>
                      <a:endParaRPr lang="es-PE" sz="2400" dirty="0"/>
                    </a:p>
                  </a:txBody>
                  <a:tcPr/>
                </a:tc>
                <a:tc>
                  <a:txBody>
                    <a:bodyPr/>
                    <a:lstStyle/>
                    <a:p>
                      <a:pPr algn="l"/>
                      <a:r>
                        <a:rPr lang="es-ES" sz="2400" dirty="0"/>
                        <a:t>1</a:t>
                      </a:r>
                      <a:endParaRPr lang="es-PE" sz="2400" dirty="0"/>
                    </a:p>
                  </a:txBody>
                  <a:tcPr/>
                </a:tc>
                <a:extLst>
                  <a:ext uri="{0D108BD9-81ED-4DB2-BD59-A6C34878D82A}">
                    <a16:rowId xmlns:a16="http://schemas.microsoft.com/office/drawing/2014/main" val="1776323901"/>
                  </a:ext>
                </a:extLst>
              </a:tr>
              <a:tr h="293986">
                <a:tc>
                  <a:txBody>
                    <a:bodyPr/>
                    <a:lstStyle/>
                    <a:p>
                      <a:pPr algn="r"/>
                      <a:r>
                        <a:rPr lang="es-ES" sz="2400" dirty="0"/>
                        <a:t>B&gt;=</a:t>
                      </a:r>
                      <a:endParaRPr lang="es-PE" sz="2400" dirty="0"/>
                    </a:p>
                  </a:txBody>
                  <a:tcPr/>
                </a:tc>
                <a:tc>
                  <a:txBody>
                    <a:bodyPr/>
                    <a:lstStyle/>
                    <a:p>
                      <a:pPr algn="l"/>
                      <a:r>
                        <a:rPr lang="es-ES" sz="2400" dirty="0"/>
                        <a:t>1</a:t>
                      </a:r>
                      <a:endParaRPr lang="es-PE" sz="2400" dirty="0"/>
                    </a:p>
                  </a:txBody>
                  <a:tcPr/>
                </a:tc>
                <a:extLst>
                  <a:ext uri="{0D108BD9-81ED-4DB2-BD59-A6C34878D82A}">
                    <a16:rowId xmlns:a16="http://schemas.microsoft.com/office/drawing/2014/main" val="893621716"/>
                  </a:ext>
                </a:extLst>
              </a:tr>
            </a:tbl>
          </a:graphicData>
        </a:graphic>
      </p:graphicFrame>
      <p:sp>
        <p:nvSpPr>
          <p:cNvPr id="3" name="CuadroTexto 2">
            <a:extLst>
              <a:ext uri="{FF2B5EF4-FFF2-40B4-BE49-F238E27FC236}">
                <a16:creationId xmlns:a16="http://schemas.microsoft.com/office/drawing/2014/main" id="{0DD0EE4B-B070-4EA5-9255-C8D162745897}"/>
              </a:ext>
            </a:extLst>
          </p:cNvPr>
          <p:cNvSpPr txBox="1"/>
          <p:nvPr/>
        </p:nvSpPr>
        <p:spPr>
          <a:xfrm>
            <a:off x="7159925" y="3811528"/>
            <a:ext cx="4390845" cy="1852815"/>
          </a:xfrm>
          <a:prstGeom prst="rect">
            <a:avLst/>
          </a:prstGeom>
          <a:solidFill>
            <a:schemeClr val="accent1">
              <a:lumMod val="40000"/>
              <a:lumOff val="60000"/>
            </a:schemeClr>
          </a:solidFill>
        </p:spPr>
        <p:txBody>
          <a:bodyPr wrap="square" rtlCol="0">
            <a:spAutoFit/>
          </a:bodyPr>
          <a:lstStyle/>
          <a:p>
            <a:pPr>
              <a:lnSpc>
                <a:spcPct val="200000"/>
              </a:lnSpc>
            </a:pPr>
            <a:r>
              <a:rPr lang="es-ES" sz="2000" b="1" dirty="0"/>
              <a:t>Beneficio=Utilidad=Ingreso-costo</a:t>
            </a:r>
          </a:p>
          <a:p>
            <a:pPr>
              <a:lnSpc>
                <a:spcPct val="200000"/>
              </a:lnSpc>
            </a:pPr>
            <a:r>
              <a:rPr lang="es-ES" sz="2000" b="1" dirty="0"/>
              <a:t>Ingreso= Precio*Cantidad</a:t>
            </a:r>
          </a:p>
          <a:p>
            <a:pPr>
              <a:lnSpc>
                <a:spcPct val="200000"/>
              </a:lnSpc>
            </a:pPr>
            <a:r>
              <a:rPr lang="es-ES" sz="2000" b="1" dirty="0"/>
              <a:t>Costo=materiales, mano de obra</a:t>
            </a:r>
            <a:endParaRPr lang="es-PE" sz="2000" b="1" dirty="0"/>
          </a:p>
        </p:txBody>
      </p:sp>
    </p:spTree>
    <p:extLst>
      <p:ext uri="{BB962C8B-B14F-4D97-AF65-F5344CB8AC3E}">
        <p14:creationId xmlns:p14="http://schemas.microsoft.com/office/powerpoint/2010/main" val="143979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1"/>
          <p:cNvSpPr>
            <a:spLocks noChangeArrowheads="1"/>
          </p:cNvSpPr>
          <p:nvPr/>
        </p:nvSpPr>
        <p:spPr bwMode="auto">
          <a:xfrm>
            <a:off x="6095999" y="159225"/>
            <a:ext cx="6096001" cy="751552"/>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24 Mezcla</a:t>
            </a:r>
          </a:p>
        </p:txBody>
      </p:sp>
      <p:sp>
        <p:nvSpPr>
          <p:cNvPr id="9" name="Rectangle 1">
            <a:extLst>
              <a:ext uri="{FF2B5EF4-FFF2-40B4-BE49-F238E27FC236}">
                <a16:creationId xmlns:a16="http://schemas.microsoft.com/office/drawing/2014/main" id="{C4DA291B-89B4-4787-B637-D4CF2C05A50D}"/>
              </a:ext>
            </a:extLst>
          </p:cNvPr>
          <p:cNvSpPr>
            <a:spLocks noChangeArrowheads="1"/>
          </p:cNvSpPr>
          <p:nvPr/>
        </p:nvSpPr>
        <p:spPr bwMode="auto">
          <a:xfrm>
            <a:off x="46011" y="1166842"/>
            <a:ext cx="609600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s-PE" sz="2400" b="1" dirty="0">
                <a:solidFill>
                  <a:srgbClr val="FF0000"/>
                </a:solidFill>
                <a:latin typeface="Arial Narrow" pitchFamily="34" charset="0"/>
                <a:ea typeface="Calibri" pitchFamily="34" charset="0"/>
                <a:cs typeface="Arial" panose="020B0604020202020204" pitchFamily="34" charset="0"/>
              </a:rPr>
              <a:t>I.   Identificación de variables</a:t>
            </a:r>
            <a:endParaRPr lang="es-PE" sz="2400" b="1" dirty="0">
              <a:solidFill>
                <a:srgbClr val="FF0000"/>
              </a:solidFill>
              <a:latin typeface="Arial Narrow" pitchFamily="34" charset="0"/>
              <a:cs typeface="Arial" pitchFamily="34" charset="0"/>
            </a:endParaRPr>
          </a:p>
          <a:p>
            <a:pPr eaLnBrk="0" fontAlgn="base" hangingPunct="0">
              <a:spcBef>
                <a:spcPct val="0"/>
              </a:spcBef>
              <a:spcAft>
                <a:spcPct val="0"/>
              </a:spcAft>
            </a:pPr>
            <a:r>
              <a:rPr lang="es-PE" sz="2400" b="1" dirty="0">
                <a:latin typeface="Arial Narrow" pitchFamily="34" charset="0"/>
                <a:ea typeface="Calibri" pitchFamily="34" charset="0"/>
                <a:cs typeface="Arial" panose="020B0604020202020204" pitchFamily="34" charset="0"/>
              </a:rPr>
              <a:t>     </a:t>
            </a:r>
            <a:r>
              <a:rPr lang="es-PE" sz="2400" b="1" dirty="0" err="1">
                <a:latin typeface="Arial Narrow" pitchFamily="34" charset="0"/>
                <a:ea typeface="Calibri" pitchFamily="34" charset="0"/>
                <a:cs typeface="Arial" panose="020B0604020202020204" pitchFamily="34" charset="0"/>
              </a:rPr>
              <a:t>X1</a:t>
            </a:r>
            <a:r>
              <a:rPr lang="es-PE" sz="2400" b="1" dirty="0">
                <a:latin typeface="Arial Narrow" pitchFamily="34" charset="0"/>
                <a:ea typeface="Calibri" pitchFamily="34" charset="0"/>
                <a:cs typeface="Arial" panose="020B0604020202020204" pitchFamily="34" charset="0"/>
              </a:rPr>
              <a:t>= Cantidad en g. del producto A a producir </a:t>
            </a:r>
          </a:p>
          <a:p>
            <a:pPr eaLnBrk="0" fontAlgn="base" hangingPunct="0">
              <a:spcBef>
                <a:spcPct val="0"/>
              </a:spcBef>
              <a:spcAft>
                <a:spcPct val="0"/>
              </a:spcAft>
            </a:pPr>
            <a:r>
              <a:rPr lang="es-PE" sz="2400" b="1" dirty="0">
                <a:latin typeface="Arial Narrow" pitchFamily="34" charset="0"/>
                <a:cs typeface="Arial" pitchFamily="34" charset="0"/>
              </a:rPr>
              <a:t>     </a:t>
            </a:r>
            <a:r>
              <a:rPr lang="es-PE" sz="2400" b="1" dirty="0" err="1">
                <a:latin typeface="Arial Narrow" pitchFamily="34" charset="0"/>
                <a:cs typeface="Arial" pitchFamily="34" charset="0"/>
              </a:rPr>
              <a:t>X2</a:t>
            </a:r>
            <a:r>
              <a:rPr lang="es-PE" sz="2400" b="1" dirty="0">
                <a:latin typeface="Arial Narrow" pitchFamily="34" charset="0"/>
                <a:cs typeface="Arial" panose="020B0604020202020204" pitchFamily="34" charset="0"/>
              </a:rPr>
              <a:t>= Cantidad en g. de la sustancia B a utilizar</a:t>
            </a:r>
          </a:p>
          <a:p>
            <a:pPr eaLnBrk="0" fontAlgn="base" hangingPunct="0">
              <a:spcBef>
                <a:spcPct val="0"/>
              </a:spcBef>
              <a:spcAft>
                <a:spcPct val="0"/>
              </a:spcAft>
            </a:pPr>
            <a:r>
              <a:rPr lang="es-PE" sz="2400" b="1"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400" b="1" dirty="0">
              <a:solidFill>
                <a:srgbClr val="FF0000"/>
              </a:solidFill>
              <a:latin typeface="Arial Narrow" pitchFamily="34" charset="0"/>
              <a:cs typeface="Arial" pitchFamily="34" charset="0"/>
            </a:endParaRPr>
          </a:p>
          <a:p>
            <a:pPr eaLnBrk="0" fontAlgn="base" hangingPunct="0">
              <a:spcBef>
                <a:spcPct val="0"/>
              </a:spcBef>
              <a:spcAft>
                <a:spcPct val="0"/>
              </a:spcAft>
            </a:pPr>
            <a:r>
              <a:rPr lang="es-PE" sz="2400" b="1" dirty="0">
                <a:latin typeface="Arial Narrow" pitchFamily="34" charset="0"/>
                <a:ea typeface="Calibri" pitchFamily="34" charset="0"/>
                <a:cs typeface="Arial" panose="020B0604020202020204" pitchFamily="34" charset="0"/>
              </a:rPr>
              <a:t>	MAX	</a:t>
            </a:r>
            <a:r>
              <a:rPr lang="es-PE" sz="2400" b="1" dirty="0" err="1">
                <a:latin typeface="Arial Narrow" pitchFamily="34" charset="0"/>
                <a:ea typeface="Calibri" pitchFamily="34" charset="0"/>
                <a:cs typeface="Arial" panose="020B0604020202020204" pitchFamily="34" charset="0"/>
              </a:rPr>
              <a:t>5X1</a:t>
            </a:r>
            <a:r>
              <a:rPr lang="es-PE" sz="2400" b="1" dirty="0">
                <a:latin typeface="Arial Narrow" pitchFamily="34" charset="0"/>
                <a:ea typeface="Calibri" pitchFamily="34" charset="0"/>
                <a:cs typeface="Arial" panose="020B0604020202020204" pitchFamily="34" charset="0"/>
              </a:rPr>
              <a:t> - </a:t>
            </a:r>
            <a:r>
              <a:rPr lang="es-PE" sz="2400" b="1" dirty="0" err="1">
                <a:latin typeface="Arial Narrow" pitchFamily="34" charset="0"/>
                <a:ea typeface="Calibri" pitchFamily="34" charset="0"/>
                <a:cs typeface="Arial" panose="020B0604020202020204" pitchFamily="34" charset="0"/>
              </a:rPr>
              <a:t>4X2</a:t>
            </a:r>
            <a:endParaRPr lang="es-PE" sz="2400" b="1" dirty="0">
              <a:latin typeface="Arial Narrow" pitchFamily="34" charset="0"/>
              <a:cs typeface="Arial" pitchFamily="34" charset="0"/>
            </a:endParaRPr>
          </a:p>
          <a:p>
            <a:pPr marL="266700" indent="-266700" eaLnBrk="0" fontAlgn="base" hangingPunct="0">
              <a:spcBef>
                <a:spcPct val="0"/>
              </a:spcBef>
              <a:spcAft>
                <a:spcPct val="0"/>
              </a:spcAft>
              <a:buFontTx/>
              <a:buAutoNum type="romanUcPeriod" startAt="3"/>
            </a:pPr>
            <a:r>
              <a:rPr lang="es-PE" sz="2400" b="1" dirty="0">
                <a:solidFill>
                  <a:srgbClr val="FF0000"/>
                </a:solidFill>
                <a:latin typeface="Arial Narrow" pitchFamily="34" charset="0"/>
                <a:ea typeface="Calibri" pitchFamily="34" charset="0"/>
                <a:cs typeface="Arial" panose="020B0604020202020204" pitchFamily="34" charset="0"/>
              </a:rPr>
              <a:t>Identificación de las restricciones</a:t>
            </a: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&lt;= </a:t>
            </a:r>
            <a:r>
              <a:rPr lang="es-ES" sz="2400" b="1" dirty="0" err="1">
                <a:latin typeface="Arial Narrow" pitchFamily="34" charset="0"/>
              </a:rPr>
              <a:t>2X2</a:t>
            </a:r>
            <a:r>
              <a:rPr lang="es-ES" sz="2400" b="1" dirty="0">
                <a:latin typeface="Arial Narrow" pitchFamily="34" charset="0"/>
              </a:rPr>
              <a:t> </a:t>
            </a: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  </a:t>
            </a:r>
            <a:r>
              <a:rPr lang="es-ES" sz="2400" b="1" dirty="0" err="1">
                <a:latin typeface="Arial Narrow" pitchFamily="34" charset="0"/>
              </a:rPr>
              <a:t>X2</a:t>
            </a:r>
            <a:r>
              <a:rPr lang="es-ES" sz="2400" b="1" dirty="0">
                <a:latin typeface="Arial Narrow" pitchFamily="34" charset="0"/>
              </a:rPr>
              <a:t> &lt;= 2</a:t>
            </a: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 </a:t>
            </a:r>
            <a:r>
              <a:rPr lang="es-ES" sz="2400" b="1" dirty="0" err="1">
                <a:latin typeface="Arial Narrow" pitchFamily="34" charset="0"/>
              </a:rPr>
              <a:t>X2</a:t>
            </a:r>
            <a:r>
              <a:rPr lang="es-ES" sz="2400" b="1" dirty="0">
                <a:latin typeface="Arial Narrow" pitchFamily="34" charset="0"/>
              </a:rPr>
              <a:t> &lt;= 5</a:t>
            </a:r>
          </a:p>
          <a:p>
            <a:r>
              <a:rPr lang="es-ES" sz="2400" b="1" dirty="0">
                <a:latin typeface="Arial Narrow" pitchFamily="34" charset="0"/>
              </a:rPr>
              <a:t>	           </a:t>
            </a:r>
            <a:r>
              <a:rPr lang="es-ES" sz="2400" b="1" dirty="0" err="1">
                <a:latin typeface="Arial Narrow" pitchFamily="34" charset="0"/>
              </a:rPr>
              <a:t>X2</a:t>
            </a:r>
            <a:r>
              <a:rPr lang="es-ES" sz="2400" b="1" dirty="0">
                <a:latin typeface="Arial Narrow" pitchFamily="34" charset="0"/>
              </a:rPr>
              <a:t> &gt;= 1</a:t>
            </a: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&gt;= 1</a:t>
            </a: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a:t>
            </a:r>
            <a:r>
              <a:rPr lang="es-ES" sz="2400" b="1" dirty="0" err="1">
                <a:latin typeface="Arial Narrow" pitchFamily="34" charset="0"/>
              </a:rPr>
              <a:t>X2</a:t>
            </a:r>
            <a:r>
              <a:rPr lang="es-ES" sz="2400" b="1" dirty="0">
                <a:latin typeface="Arial Narrow" pitchFamily="34" charset="0"/>
              </a:rPr>
              <a:t> &gt;=0</a:t>
            </a:r>
            <a:endParaRPr lang="es-PE" sz="2400" b="1" dirty="0">
              <a:solidFill>
                <a:srgbClr val="FF0000"/>
              </a:solidFill>
              <a:latin typeface="Arial Narrow" pitchFamily="34" charset="0"/>
              <a:cs typeface="Arial" pitchFamily="34" charset="0"/>
            </a:endParaRPr>
          </a:p>
        </p:txBody>
      </p:sp>
      <p:sp>
        <p:nvSpPr>
          <p:cNvPr id="6" name="Rectangle 1">
            <a:extLst>
              <a:ext uri="{FF2B5EF4-FFF2-40B4-BE49-F238E27FC236}">
                <a16:creationId xmlns:a16="http://schemas.microsoft.com/office/drawing/2014/main" id="{D92FC56E-6163-4225-816E-4BF5697885B6}"/>
              </a:ext>
            </a:extLst>
          </p:cNvPr>
          <p:cNvSpPr>
            <a:spLocks noChangeArrowheads="1"/>
          </p:cNvSpPr>
          <p:nvPr/>
        </p:nvSpPr>
        <p:spPr bwMode="auto">
          <a:xfrm>
            <a:off x="6754483" y="1302326"/>
            <a:ext cx="5113954" cy="2677656"/>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s-PE" sz="2400" b="1" dirty="0">
                <a:latin typeface="Arial Narrow" pitchFamily="34" charset="0"/>
                <a:ea typeface="Calibri" pitchFamily="34" charset="0"/>
                <a:cs typeface="Arial" panose="020B0604020202020204" pitchFamily="34" charset="0"/>
              </a:rPr>
              <a:t>MAX	</a:t>
            </a:r>
            <a:r>
              <a:rPr lang="es-PE" sz="2400" b="1" dirty="0" err="1">
                <a:latin typeface="Arial Narrow" pitchFamily="34" charset="0"/>
                <a:ea typeface="Calibri" pitchFamily="34" charset="0"/>
                <a:cs typeface="Arial" panose="020B0604020202020204" pitchFamily="34" charset="0"/>
              </a:rPr>
              <a:t>5X1</a:t>
            </a:r>
            <a:r>
              <a:rPr lang="es-PE" sz="2400" b="1" dirty="0">
                <a:latin typeface="Arial Narrow" pitchFamily="34" charset="0"/>
                <a:ea typeface="Calibri" pitchFamily="34" charset="0"/>
                <a:cs typeface="Arial" panose="020B0604020202020204" pitchFamily="34" charset="0"/>
              </a:rPr>
              <a:t> - </a:t>
            </a:r>
            <a:r>
              <a:rPr lang="es-PE" sz="2400" b="1" dirty="0" err="1">
                <a:latin typeface="Arial Narrow" pitchFamily="34" charset="0"/>
                <a:ea typeface="Calibri" pitchFamily="34" charset="0"/>
                <a:cs typeface="Arial" panose="020B0604020202020204" pitchFamily="34" charset="0"/>
              </a:rPr>
              <a:t>4X2</a:t>
            </a:r>
            <a:endParaRPr lang="es-PE" sz="2400" b="1" dirty="0">
              <a:latin typeface="Arial Narrow" pitchFamily="34" charset="0"/>
              <a:cs typeface="Arial" pitchFamily="34" charset="0"/>
            </a:endParaRPr>
          </a:p>
          <a:p>
            <a:r>
              <a:rPr lang="es-ES" sz="2400" b="1" dirty="0" err="1">
                <a:solidFill>
                  <a:srgbClr val="FF0000"/>
                </a:solidFill>
                <a:latin typeface="Arial Narrow" pitchFamily="34" charset="0"/>
              </a:rPr>
              <a:t>SUBJECT</a:t>
            </a:r>
            <a:endParaRPr lang="es-ES" sz="2400" b="1" dirty="0">
              <a:solidFill>
                <a:srgbClr val="FF0000"/>
              </a:solidFill>
              <a:latin typeface="Arial Narrow" pitchFamily="34" charset="0"/>
            </a:endParaRP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 </a:t>
            </a:r>
            <a:r>
              <a:rPr lang="es-ES" sz="2400" b="1" dirty="0" err="1">
                <a:latin typeface="Arial Narrow" pitchFamily="34" charset="0"/>
              </a:rPr>
              <a:t>2X2</a:t>
            </a:r>
            <a:r>
              <a:rPr lang="es-ES" sz="2400" b="1" dirty="0">
                <a:latin typeface="Arial Narrow" pitchFamily="34" charset="0"/>
              </a:rPr>
              <a:t> &lt;= 0</a:t>
            </a: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  </a:t>
            </a:r>
            <a:r>
              <a:rPr lang="es-ES" sz="2400" b="1" dirty="0" err="1">
                <a:latin typeface="Arial Narrow" pitchFamily="34" charset="0"/>
              </a:rPr>
              <a:t>X2</a:t>
            </a:r>
            <a:r>
              <a:rPr lang="es-ES" sz="2400" b="1" dirty="0">
                <a:latin typeface="Arial Narrow" pitchFamily="34" charset="0"/>
              </a:rPr>
              <a:t> &lt;= 2</a:t>
            </a: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 </a:t>
            </a:r>
            <a:r>
              <a:rPr lang="es-ES" sz="2400" b="1" dirty="0" err="1">
                <a:latin typeface="Arial Narrow" pitchFamily="34" charset="0"/>
              </a:rPr>
              <a:t>X2</a:t>
            </a:r>
            <a:r>
              <a:rPr lang="es-ES" sz="2400" b="1" dirty="0">
                <a:latin typeface="Arial Narrow" pitchFamily="34" charset="0"/>
              </a:rPr>
              <a:t> &lt;= 5</a:t>
            </a:r>
          </a:p>
          <a:p>
            <a:r>
              <a:rPr lang="es-ES" sz="2400" b="1" dirty="0">
                <a:latin typeface="Arial Narrow" pitchFamily="34" charset="0"/>
              </a:rPr>
              <a:t>	           </a:t>
            </a:r>
            <a:r>
              <a:rPr lang="es-ES" sz="2400" b="1" dirty="0" err="1">
                <a:latin typeface="Arial Narrow" pitchFamily="34" charset="0"/>
              </a:rPr>
              <a:t>X2</a:t>
            </a:r>
            <a:r>
              <a:rPr lang="es-ES" sz="2400" b="1" dirty="0">
                <a:latin typeface="Arial Narrow" pitchFamily="34" charset="0"/>
              </a:rPr>
              <a:t> &gt;= 1</a:t>
            </a:r>
          </a:p>
          <a:p>
            <a:r>
              <a:rPr lang="es-ES" sz="2400" b="1" dirty="0">
                <a:latin typeface="Arial Narrow" pitchFamily="34" charset="0"/>
              </a:rPr>
              <a:t>	           </a:t>
            </a:r>
            <a:r>
              <a:rPr lang="es-ES" sz="2400" b="1" dirty="0" err="1">
                <a:latin typeface="Arial Narrow" pitchFamily="34" charset="0"/>
              </a:rPr>
              <a:t>X1</a:t>
            </a:r>
            <a:r>
              <a:rPr lang="es-ES" sz="2400" b="1" dirty="0">
                <a:latin typeface="Arial Narrow" pitchFamily="34" charset="0"/>
              </a:rPr>
              <a:t> &gt;= 1	</a:t>
            </a:r>
            <a:endParaRPr lang="es-PE" sz="2400" b="1" dirty="0">
              <a:solidFill>
                <a:srgbClr val="FF0000"/>
              </a:solidFill>
              <a:latin typeface="Arial Narrow" pitchFamily="34" charset="0"/>
              <a:cs typeface="Arial" pitchFamily="34" charset="0"/>
            </a:endParaRPr>
          </a:p>
        </p:txBody>
      </p:sp>
      <p:sp>
        <p:nvSpPr>
          <p:cNvPr id="4" name="Rectángulo 3">
            <a:extLst>
              <a:ext uri="{FF2B5EF4-FFF2-40B4-BE49-F238E27FC236}">
                <a16:creationId xmlns:a16="http://schemas.microsoft.com/office/drawing/2014/main" id="{3138ACF6-83D3-4640-889D-5FA0AA7BFF63}"/>
              </a:ext>
            </a:extLst>
          </p:cNvPr>
          <p:cNvSpPr/>
          <p:nvPr/>
        </p:nvSpPr>
        <p:spPr>
          <a:xfrm>
            <a:off x="7247841" y="4371531"/>
            <a:ext cx="4784936" cy="1938992"/>
          </a:xfrm>
          <a:prstGeom prst="rect">
            <a:avLst/>
          </a:prstGeom>
          <a:solidFill>
            <a:schemeClr val="accent1">
              <a:lumMod val="40000"/>
              <a:lumOff val="60000"/>
            </a:schemeClr>
          </a:solidFill>
        </p:spPr>
        <p:txBody>
          <a:bodyPr wrap="square">
            <a:spAutoFit/>
          </a:bodyPr>
          <a:lstStyle/>
          <a:p>
            <a:r>
              <a:rPr lang="en-US" sz="2400" b="1" dirty="0">
                <a:solidFill>
                  <a:srgbClr val="FF0000"/>
                </a:solidFill>
              </a:rPr>
              <a:t>OBJECTIVE FUNCTION VALUE</a:t>
            </a:r>
          </a:p>
          <a:p>
            <a:r>
              <a:rPr lang="en-US" sz="2400" b="1" dirty="0">
                <a:solidFill>
                  <a:srgbClr val="FF0000"/>
                </a:solidFill>
              </a:rPr>
              <a:t>        1)      10.00000</a:t>
            </a:r>
          </a:p>
          <a:p>
            <a:r>
              <a:rPr lang="en-US" sz="2400" b="1" dirty="0">
                <a:solidFill>
                  <a:srgbClr val="FF0000"/>
                </a:solidFill>
              </a:rPr>
              <a:t>VARIABLE  VALUE      REDUCED COST</a:t>
            </a:r>
          </a:p>
          <a:p>
            <a:r>
              <a:rPr lang="en-US" sz="2400" b="1" dirty="0">
                <a:solidFill>
                  <a:srgbClr val="FF0000"/>
                </a:solidFill>
              </a:rPr>
              <a:t>        </a:t>
            </a:r>
            <a:r>
              <a:rPr lang="en-US" sz="2400" b="1" dirty="0" err="1">
                <a:solidFill>
                  <a:srgbClr val="FF0000"/>
                </a:solidFill>
              </a:rPr>
              <a:t>X1</a:t>
            </a:r>
            <a:r>
              <a:rPr lang="en-US" sz="2400" b="1" dirty="0">
                <a:solidFill>
                  <a:srgbClr val="FF0000"/>
                </a:solidFill>
              </a:rPr>
              <a:t>         3.333333          0.000000</a:t>
            </a:r>
          </a:p>
          <a:p>
            <a:r>
              <a:rPr lang="en-US" sz="2400" b="1" dirty="0">
                <a:solidFill>
                  <a:srgbClr val="FF0000"/>
                </a:solidFill>
              </a:rPr>
              <a:t>        </a:t>
            </a:r>
            <a:r>
              <a:rPr lang="en-US" sz="2400" b="1" dirty="0" err="1">
                <a:solidFill>
                  <a:srgbClr val="FF0000"/>
                </a:solidFill>
              </a:rPr>
              <a:t>X2</a:t>
            </a:r>
            <a:r>
              <a:rPr lang="en-US" sz="2400" b="1" dirty="0">
                <a:solidFill>
                  <a:srgbClr val="FF0000"/>
                </a:solidFill>
              </a:rPr>
              <a:t>         1.666667          0.000000</a:t>
            </a:r>
          </a:p>
        </p:txBody>
      </p:sp>
      <p:graphicFrame>
        <p:nvGraphicFramePr>
          <p:cNvPr id="7" name="Tabla 3">
            <a:extLst>
              <a:ext uri="{FF2B5EF4-FFF2-40B4-BE49-F238E27FC236}">
                <a16:creationId xmlns:a16="http://schemas.microsoft.com/office/drawing/2014/main" id="{9E68EF2B-39C1-4B47-A79B-0AF5C9531E60}"/>
              </a:ext>
            </a:extLst>
          </p:cNvPr>
          <p:cNvGraphicFramePr>
            <a:graphicFrameLocks noGrp="1"/>
          </p:cNvGraphicFramePr>
          <p:nvPr>
            <p:extLst>
              <p:ext uri="{D42A27DB-BD31-4B8C-83A1-F6EECF244321}">
                <p14:modId xmlns:p14="http://schemas.microsoft.com/office/powerpoint/2010/main" val="4157407989"/>
              </p:ext>
            </p:extLst>
          </p:nvPr>
        </p:nvGraphicFramePr>
        <p:xfrm>
          <a:off x="3096892" y="3837407"/>
          <a:ext cx="3651690" cy="2743200"/>
        </p:xfrm>
        <a:graphic>
          <a:graphicData uri="http://schemas.openxmlformats.org/drawingml/2006/table">
            <a:tbl>
              <a:tblPr firstRow="1" bandRow="1">
                <a:tableStyleId>{5C22544A-7EE6-4342-B048-85BDC9FD1C3A}</a:tableStyleId>
              </a:tblPr>
              <a:tblGrid>
                <a:gridCol w="1825845">
                  <a:extLst>
                    <a:ext uri="{9D8B030D-6E8A-4147-A177-3AD203B41FA5}">
                      <a16:colId xmlns:a16="http://schemas.microsoft.com/office/drawing/2014/main" val="35156083"/>
                    </a:ext>
                  </a:extLst>
                </a:gridCol>
                <a:gridCol w="1825845">
                  <a:extLst>
                    <a:ext uri="{9D8B030D-6E8A-4147-A177-3AD203B41FA5}">
                      <a16:colId xmlns:a16="http://schemas.microsoft.com/office/drawing/2014/main" val="859586341"/>
                    </a:ext>
                  </a:extLst>
                </a:gridCol>
              </a:tblGrid>
              <a:tr h="293986">
                <a:tc>
                  <a:txBody>
                    <a:bodyPr/>
                    <a:lstStyle/>
                    <a:p>
                      <a:pPr algn="ctr"/>
                      <a:r>
                        <a:rPr lang="es-ES" sz="2400" b="1" dirty="0"/>
                        <a:t>Producto A</a:t>
                      </a:r>
                      <a:endParaRPr lang="es-PE" sz="2400" b="1" dirty="0"/>
                    </a:p>
                  </a:txBody>
                  <a:tcPr/>
                </a:tc>
                <a:tc>
                  <a:txBody>
                    <a:bodyPr/>
                    <a:lstStyle/>
                    <a:p>
                      <a:pPr algn="ctr"/>
                      <a:r>
                        <a:rPr lang="es-ES" sz="2400" b="1" dirty="0"/>
                        <a:t>Sustancia B</a:t>
                      </a:r>
                      <a:endParaRPr lang="es-PE" sz="2400" b="1" dirty="0"/>
                    </a:p>
                  </a:txBody>
                  <a:tcPr/>
                </a:tc>
                <a:extLst>
                  <a:ext uri="{0D108BD9-81ED-4DB2-BD59-A6C34878D82A}">
                    <a16:rowId xmlns:a16="http://schemas.microsoft.com/office/drawing/2014/main" val="562256584"/>
                  </a:ext>
                </a:extLst>
              </a:tr>
              <a:tr h="293986">
                <a:tc>
                  <a:txBody>
                    <a:bodyPr/>
                    <a:lstStyle/>
                    <a:p>
                      <a:pPr algn="r"/>
                      <a:r>
                        <a:rPr lang="es-ES" sz="2400" b="1" dirty="0"/>
                        <a:t>A&lt;=</a:t>
                      </a:r>
                      <a:endParaRPr lang="es-PE" sz="2400" b="1" dirty="0"/>
                    </a:p>
                  </a:txBody>
                  <a:tcPr/>
                </a:tc>
                <a:tc>
                  <a:txBody>
                    <a:bodyPr/>
                    <a:lstStyle/>
                    <a:p>
                      <a:pPr algn="l"/>
                      <a:r>
                        <a:rPr lang="es-ES" sz="2400" b="1" dirty="0" err="1"/>
                        <a:t>2B</a:t>
                      </a:r>
                      <a:endParaRPr lang="es-PE" sz="2400" b="1" dirty="0"/>
                    </a:p>
                  </a:txBody>
                  <a:tcPr/>
                </a:tc>
                <a:extLst>
                  <a:ext uri="{0D108BD9-81ED-4DB2-BD59-A6C34878D82A}">
                    <a16:rowId xmlns:a16="http://schemas.microsoft.com/office/drawing/2014/main" val="821166013"/>
                  </a:ext>
                </a:extLst>
              </a:tr>
              <a:tr h="293986">
                <a:tc>
                  <a:txBody>
                    <a:bodyPr/>
                    <a:lstStyle/>
                    <a:p>
                      <a:pPr algn="r"/>
                      <a:r>
                        <a:rPr lang="es-ES" sz="2400" b="1" dirty="0"/>
                        <a:t>B-A&lt;=</a:t>
                      </a:r>
                      <a:endParaRPr lang="es-PE" sz="2400" b="1" dirty="0"/>
                    </a:p>
                  </a:txBody>
                  <a:tcPr/>
                </a:tc>
                <a:tc>
                  <a:txBody>
                    <a:bodyPr/>
                    <a:lstStyle/>
                    <a:p>
                      <a:pPr algn="l"/>
                      <a:r>
                        <a:rPr lang="es-ES" sz="2400" b="1" dirty="0"/>
                        <a:t>2</a:t>
                      </a:r>
                      <a:endParaRPr lang="es-PE" sz="2400" b="1" dirty="0"/>
                    </a:p>
                  </a:txBody>
                  <a:tcPr/>
                </a:tc>
                <a:extLst>
                  <a:ext uri="{0D108BD9-81ED-4DB2-BD59-A6C34878D82A}">
                    <a16:rowId xmlns:a16="http://schemas.microsoft.com/office/drawing/2014/main" val="1157453437"/>
                  </a:ext>
                </a:extLst>
              </a:tr>
              <a:tr h="293986">
                <a:tc>
                  <a:txBody>
                    <a:bodyPr/>
                    <a:lstStyle/>
                    <a:p>
                      <a:pPr algn="r"/>
                      <a:r>
                        <a:rPr lang="es-ES" sz="2400" b="1" dirty="0" err="1"/>
                        <a:t>A+B</a:t>
                      </a:r>
                      <a:r>
                        <a:rPr lang="es-ES" sz="2400" b="1" dirty="0"/>
                        <a:t>&lt;=</a:t>
                      </a:r>
                      <a:endParaRPr lang="es-PE" sz="2400" b="1" dirty="0"/>
                    </a:p>
                  </a:txBody>
                  <a:tcPr/>
                </a:tc>
                <a:tc>
                  <a:txBody>
                    <a:bodyPr/>
                    <a:lstStyle/>
                    <a:p>
                      <a:pPr algn="l"/>
                      <a:r>
                        <a:rPr lang="es-ES" sz="2400" b="1" dirty="0"/>
                        <a:t>5</a:t>
                      </a:r>
                      <a:endParaRPr lang="es-PE" sz="2400" b="1" dirty="0"/>
                    </a:p>
                  </a:txBody>
                  <a:tcPr/>
                </a:tc>
                <a:extLst>
                  <a:ext uri="{0D108BD9-81ED-4DB2-BD59-A6C34878D82A}">
                    <a16:rowId xmlns:a16="http://schemas.microsoft.com/office/drawing/2014/main" val="1740888325"/>
                  </a:ext>
                </a:extLst>
              </a:tr>
              <a:tr h="293986">
                <a:tc>
                  <a:txBody>
                    <a:bodyPr/>
                    <a:lstStyle/>
                    <a:p>
                      <a:pPr algn="r"/>
                      <a:r>
                        <a:rPr lang="es-ES" sz="2400" b="1" dirty="0"/>
                        <a:t>A&gt;=</a:t>
                      </a:r>
                      <a:endParaRPr lang="es-PE" sz="2400" b="1" dirty="0"/>
                    </a:p>
                  </a:txBody>
                  <a:tcPr/>
                </a:tc>
                <a:tc>
                  <a:txBody>
                    <a:bodyPr/>
                    <a:lstStyle/>
                    <a:p>
                      <a:pPr algn="l"/>
                      <a:r>
                        <a:rPr lang="es-ES" sz="2400" b="1" dirty="0"/>
                        <a:t>1</a:t>
                      </a:r>
                      <a:endParaRPr lang="es-PE" sz="2400" b="1" dirty="0"/>
                    </a:p>
                  </a:txBody>
                  <a:tcPr/>
                </a:tc>
                <a:extLst>
                  <a:ext uri="{0D108BD9-81ED-4DB2-BD59-A6C34878D82A}">
                    <a16:rowId xmlns:a16="http://schemas.microsoft.com/office/drawing/2014/main" val="1776323901"/>
                  </a:ext>
                </a:extLst>
              </a:tr>
              <a:tr h="293986">
                <a:tc>
                  <a:txBody>
                    <a:bodyPr/>
                    <a:lstStyle/>
                    <a:p>
                      <a:pPr algn="r"/>
                      <a:r>
                        <a:rPr lang="es-ES" sz="2400" b="1" dirty="0"/>
                        <a:t>B&gt;=</a:t>
                      </a:r>
                      <a:endParaRPr lang="es-PE" sz="2400" b="1" dirty="0"/>
                    </a:p>
                  </a:txBody>
                  <a:tcPr/>
                </a:tc>
                <a:tc>
                  <a:txBody>
                    <a:bodyPr/>
                    <a:lstStyle/>
                    <a:p>
                      <a:pPr algn="l"/>
                      <a:r>
                        <a:rPr lang="es-ES" sz="2400" b="1" dirty="0"/>
                        <a:t>1</a:t>
                      </a:r>
                      <a:endParaRPr lang="es-PE" sz="2400" b="1" dirty="0"/>
                    </a:p>
                  </a:txBody>
                  <a:tcPr/>
                </a:tc>
                <a:extLst>
                  <a:ext uri="{0D108BD9-81ED-4DB2-BD59-A6C34878D82A}">
                    <a16:rowId xmlns:a16="http://schemas.microsoft.com/office/drawing/2014/main" val="893621716"/>
                  </a:ext>
                </a:extLst>
              </a:tr>
            </a:tbl>
          </a:graphicData>
        </a:graphic>
      </p:graphicFrame>
    </p:spTree>
    <p:extLst>
      <p:ext uri="{BB962C8B-B14F-4D97-AF65-F5344CB8AC3E}">
        <p14:creationId xmlns:p14="http://schemas.microsoft.com/office/powerpoint/2010/main" val="1172935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animBg="1"/>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descr="Rectangle: Click to edit Master text styles&#10;Second level&#10;Third level&#10;Fourth level&#10;Fifth level"/>
          <p:cNvSpPr>
            <a:spLocks noGrp="1" noChangeArrowheads="1"/>
          </p:cNvSpPr>
          <p:nvPr>
            <p:ph idx="1"/>
          </p:nvPr>
        </p:nvSpPr>
        <p:spPr>
          <a:xfrm>
            <a:off x="319181" y="1380804"/>
            <a:ext cx="6875249" cy="5356432"/>
          </a:xfrm>
          <a:solidFill>
            <a:schemeClr val="accent1">
              <a:lumMod val="40000"/>
              <a:lumOff val="60000"/>
            </a:schemeClr>
          </a:solidFill>
        </p:spPr>
        <p:txBody>
          <a:bodyPr>
            <a:noAutofit/>
          </a:bodyPr>
          <a:lstStyle/>
          <a:p>
            <a:pPr algn="just" eaLnBrk="1" hangingPunct="1">
              <a:buFont typeface="Arial" charset="0"/>
              <a:buChar char="•"/>
            </a:pPr>
            <a:r>
              <a:rPr lang="es-ES" altLang="es-PE" sz="2400" dirty="0">
                <a:latin typeface="Arial Narrow" panose="020B0606020202030204" pitchFamily="34" charset="0"/>
              </a:rPr>
              <a:t>La Empresa </a:t>
            </a:r>
            <a:r>
              <a:rPr lang="es-ES" altLang="es-PE" sz="2400" dirty="0" err="1">
                <a:latin typeface="Arial Narrow" panose="020B0606020202030204" pitchFamily="34" charset="0"/>
              </a:rPr>
              <a:t>Ranch</a:t>
            </a:r>
            <a:r>
              <a:rPr lang="es-ES" altLang="es-PE" sz="2400" dirty="0">
                <a:latin typeface="Arial Narrow" panose="020B0606020202030204" pitchFamily="34" charset="0"/>
              </a:rPr>
              <a:t> piensa adquirir dos marcas diferentes de alimentos para pavos y mezclarlos para proporcionarles una buena dieta a bajo costo. </a:t>
            </a:r>
          </a:p>
          <a:p>
            <a:pPr algn="just" eaLnBrk="1" hangingPunct="1">
              <a:buFont typeface="Arial" charset="0"/>
              <a:buChar char="•"/>
            </a:pPr>
            <a:r>
              <a:rPr lang="es-ES" altLang="es-PE" sz="2400" dirty="0">
                <a:latin typeface="Arial Narrow" panose="020B0606020202030204" pitchFamily="34" charset="0"/>
              </a:rPr>
              <a:t>Cada alimento contiene, proporciones variables de tres ingredientes nutricionales para engordar a los pavos. </a:t>
            </a:r>
          </a:p>
          <a:p>
            <a:pPr algn="just" eaLnBrk="1" hangingPunct="1">
              <a:buFont typeface="Arial" charset="0"/>
              <a:buChar char="•"/>
            </a:pPr>
            <a:r>
              <a:rPr lang="es-ES" altLang="es-PE" sz="2400" dirty="0">
                <a:latin typeface="Arial Narrow" panose="020B0606020202030204" pitchFamily="34" charset="0"/>
              </a:rPr>
              <a:t>Cada libra de la marca 1 contiene 5 onzas del ingrediente A, 4 onzas del ingrediente B y ½ onzas del ingrediente C. </a:t>
            </a:r>
          </a:p>
          <a:p>
            <a:pPr algn="just" eaLnBrk="1" hangingPunct="1">
              <a:buFont typeface="Arial" charset="0"/>
              <a:buChar char="•"/>
            </a:pPr>
            <a:r>
              <a:rPr lang="es-ES" altLang="es-PE" sz="2400" dirty="0">
                <a:latin typeface="Arial Narrow" panose="020B0606020202030204" pitchFamily="34" charset="0"/>
              </a:rPr>
              <a:t>Cada libra de la marca 2 contiene 10 onzas del ingrediente A, 3 onzas del ingrediente B y 0 onzas del ingrediente C. </a:t>
            </a:r>
          </a:p>
          <a:p>
            <a:pPr algn="just" eaLnBrk="1" hangingPunct="1">
              <a:buFont typeface="Arial" charset="0"/>
              <a:buChar char="•"/>
            </a:pPr>
            <a:r>
              <a:rPr lang="es-ES" altLang="es-PE" sz="2400" dirty="0">
                <a:latin typeface="Arial Narrow" panose="020B0606020202030204" pitchFamily="34" charset="0"/>
              </a:rPr>
              <a:t>Una libra de la marca 1 cuesta 2 centavos y una libra de la marca 2, cuesta 3 centavos. </a:t>
            </a:r>
          </a:p>
          <a:p>
            <a:pPr algn="just" eaLnBrk="1" hangingPunct="1">
              <a:buFont typeface="Arial" charset="0"/>
              <a:buChar char="•"/>
            </a:pPr>
            <a:r>
              <a:rPr lang="es-ES" altLang="es-PE" sz="2400" dirty="0">
                <a:latin typeface="Arial Narrow" panose="020B0606020202030204" pitchFamily="34" charset="0"/>
              </a:rPr>
              <a:t>Se desea por lo menos 90 onzas del ingrediente A, 48 onzas del ingrediente B y 1.5 onzas del ingrediente C.</a:t>
            </a:r>
          </a:p>
        </p:txBody>
      </p:sp>
      <p:sp>
        <p:nvSpPr>
          <p:cNvPr id="4" name="Rectangle 1">
            <a:extLst>
              <a:ext uri="{FF2B5EF4-FFF2-40B4-BE49-F238E27FC236}">
                <a16:creationId xmlns:a16="http://schemas.microsoft.com/office/drawing/2014/main" id="{00531386-6CCF-46F2-9CC7-C5605CA84C45}"/>
              </a:ext>
            </a:extLst>
          </p:cNvPr>
          <p:cNvSpPr>
            <a:spLocks noChangeArrowheads="1"/>
          </p:cNvSpPr>
          <p:nvPr/>
        </p:nvSpPr>
        <p:spPr bwMode="auto">
          <a:xfrm>
            <a:off x="7370834" y="2780205"/>
            <a:ext cx="4674150" cy="2862322"/>
          </a:xfrm>
          <a:prstGeom prst="rect">
            <a:avLst/>
          </a:prstGeom>
          <a:solidFill>
            <a:schemeClr val="accent1">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I.   Identificación de variables</a:t>
            </a:r>
            <a:endParaRPr lang="es-PE" sz="2000" b="1" dirty="0">
              <a:solidFill>
                <a:srgbClr val="FF0000"/>
              </a:solidFill>
              <a:latin typeface="Arial Narrow" pitchFamily="34" charset="0"/>
              <a:cs typeface="Arial" pitchFamily="34" charset="0"/>
            </a:endParaRPr>
          </a:p>
          <a:p>
            <a:pPr eaLnBrk="0" fontAlgn="base" hangingPunct="0">
              <a:spcBef>
                <a:spcPct val="0"/>
              </a:spcBef>
              <a:spcAft>
                <a:spcPct val="0"/>
              </a:spcAft>
            </a:pPr>
            <a:r>
              <a:rPr lang="es-PE" sz="2000" b="1" dirty="0">
                <a:latin typeface="Arial Narrow" pitchFamily="34" charset="0"/>
                <a:ea typeface="Calibri" pitchFamily="34" charset="0"/>
                <a:cs typeface="Arial" panose="020B0604020202020204" pitchFamily="34" charset="0"/>
              </a:rPr>
              <a:t>     Xi= Cantidad en lb. Del alimento i</a:t>
            </a:r>
          </a:p>
          <a:p>
            <a:pPr eaLnBrk="0" fontAlgn="base" hangingPunct="0">
              <a:spcBef>
                <a:spcPct val="0"/>
              </a:spcBef>
              <a:spcAft>
                <a:spcPct val="0"/>
              </a:spcAft>
            </a:pPr>
            <a:r>
              <a:rPr lang="es-PE" sz="2000" b="1" dirty="0">
                <a:solidFill>
                  <a:srgbClr val="FF0000"/>
                </a:solidFill>
                <a:latin typeface="Arial Narrow" pitchFamily="34" charset="0"/>
                <a:ea typeface="Calibri" pitchFamily="34" charset="0"/>
                <a:cs typeface="Arial" panose="020B0604020202020204" pitchFamily="34" charset="0"/>
              </a:rPr>
              <a:t>II.  Identificación de la Función Objetivo</a:t>
            </a:r>
            <a:endParaRPr lang="es-PE" sz="2000" b="1" dirty="0">
              <a:solidFill>
                <a:srgbClr val="FF0000"/>
              </a:solidFill>
              <a:latin typeface="Arial Narrow" pitchFamily="34" charset="0"/>
              <a:cs typeface="Arial" pitchFamily="34" charset="0"/>
            </a:endParaRPr>
          </a:p>
          <a:p>
            <a:pPr eaLnBrk="0" fontAlgn="base" hangingPunct="0">
              <a:spcBef>
                <a:spcPct val="0"/>
              </a:spcBef>
              <a:spcAft>
                <a:spcPct val="0"/>
              </a:spcAft>
            </a:pPr>
            <a:r>
              <a:rPr lang="es-PE" sz="2000" b="1" dirty="0">
                <a:latin typeface="Arial Narrow" pitchFamily="34" charset="0"/>
                <a:ea typeface="Calibri" pitchFamily="34" charset="0"/>
                <a:cs typeface="Arial" panose="020B0604020202020204" pitchFamily="34" charset="0"/>
              </a:rPr>
              <a:t>     MIN </a:t>
            </a:r>
            <a:r>
              <a:rPr lang="es-PE" sz="2000" b="1" dirty="0" err="1">
                <a:latin typeface="Arial Narrow" pitchFamily="34" charset="0"/>
                <a:ea typeface="Calibri" pitchFamily="34" charset="0"/>
                <a:cs typeface="Arial" panose="020B0604020202020204" pitchFamily="34" charset="0"/>
              </a:rPr>
              <a:t>2X1+3X2</a:t>
            </a:r>
            <a:r>
              <a:rPr lang="es-PE" sz="2000" b="1" dirty="0">
                <a:latin typeface="Arial Narrow" pitchFamily="34" charset="0"/>
                <a:ea typeface="Calibri" pitchFamily="34" charset="0"/>
                <a:cs typeface="Arial" panose="020B0604020202020204" pitchFamily="34" charset="0"/>
              </a:rPr>
              <a:t>	</a:t>
            </a:r>
            <a:endParaRPr lang="es-PE" sz="2000" b="1" dirty="0">
              <a:latin typeface="Arial Narrow" pitchFamily="34" charset="0"/>
              <a:cs typeface="Arial" pitchFamily="34" charset="0"/>
            </a:endParaRPr>
          </a:p>
          <a:p>
            <a:pPr marL="266700" indent="-266700" eaLnBrk="0" fontAlgn="base" hangingPunct="0">
              <a:spcBef>
                <a:spcPct val="0"/>
              </a:spcBef>
              <a:spcAft>
                <a:spcPct val="0"/>
              </a:spcAft>
              <a:buFontTx/>
              <a:buAutoNum type="romanUcPeriod" startAt="3"/>
            </a:pPr>
            <a:r>
              <a:rPr lang="es-PE" sz="2000" b="1" dirty="0">
                <a:solidFill>
                  <a:srgbClr val="FF0000"/>
                </a:solidFill>
                <a:latin typeface="Arial Narrow" pitchFamily="34" charset="0"/>
                <a:ea typeface="Calibri" pitchFamily="34" charset="0"/>
                <a:cs typeface="Arial" panose="020B0604020202020204" pitchFamily="34" charset="0"/>
              </a:rPr>
              <a:t>Identificación de las restricciones</a:t>
            </a:r>
          </a:p>
          <a:p>
            <a:r>
              <a:rPr lang="es-ES" sz="2000" b="1" dirty="0">
                <a:latin typeface="Arial Narrow" pitchFamily="34" charset="0"/>
              </a:rPr>
              <a:t>	</a:t>
            </a:r>
            <a:r>
              <a:rPr lang="es-ES" sz="2000" b="1" dirty="0" err="1">
                <a:latin typeface="Arial Narrow" pitchFamily="34" charset="0"/>
              </a:rPr>
              <a:t>5X1+10X2</a:t>
            </a:r>
            <a:r>
              <a:rPr lang="es-ES" sz="2000" b="1" dirty="0">
                <a:latin typeface="Arial Narrow" pitchFamily="34" charset="0"/>
              </a:rPr>
              <a:t>&gt;=90</a:t>
            </a:r>
          </a:p>
          <a:p>
            <a:r>
              <a:rPr lang="es-ES" sz="2000" b="1" dirty="0">
                <a:latin typeface="Arial Narrow" pitchFamily="34" charset="0"/>
              </a:rPr>
              <a:t>	</a:t>
            </a:r>
            <a:r>
              <a:rPr lang="es-ES" sz="2000" b="1" dirty="0" err="1">
                <a:latin typeface="Arial Narrow" pitchFamily="34" charset="0"/>
              </a:rPr>
              <a:t>4X1</a:t>
            </a:r>
            <a:r>
              <a:rPr lang="es-ES" sz="2000" b="1" dirty="0">
                <a:latin typeface="Arial Narrow" pitchFamily="34" charset="0"/>
              </a:rPr>
              <a:t>+   </a:t>
            </a:r>
            <a:r>
              <a:rPr lang="es-ES" sz="2000" b="1" dirty="0" err="1">
                <a:latin typeface="Arial Narrow" pitchFamily="34" charset="0"/>
              </a:rPr>
              <a:t>3X2</a:t>
            </a:r>
            <a:r>
              <a:rPr lang="es-ES" sz="2000" b="1" dirty="0">
                <a:latin typeface="Arial Narrow" pitchFamily="34" charset="0"/>
              </a:rPr>
              <a:t>&gt;=48</a:t>
            </a:r>
          </a:p>
          <a:p>
            <a:r>
              <a:rPr lang="es-ES" sz="2000" b="1" dirty="0">
                <a:latin typeface="Arial Narrow" pitchFamily="34" charset="0"/>
              </a:rPr>
              <a:t>	1/</a:t>
            </a:r>
            <a:r>
              <a:rPr lang="es-ES" sz="2000" b="1" dirty="0" err="1">
                <a:latin typeface="Arial Narrow" pitchFamily="34" charset="0"/>
              </a:rPr>
              <a:t>2X1+0X2</a:t>
            </a:r>
            <a:r>
              <a:rPr lang="es-ES" sz="2000" b="1" dirty="0">
                <a:latin typeface="Arial Narrow" pitchFamily="34" charset="0"/>
              </a:rPr>
              <a:t>&gt;=1,5</a:t>
            </a:r>
          </a:p>
          <a:p>
            <a:r>
              <a:rPr lang="es-ES" sz="2000" b="1" dirty="0">
                <a:latin typeface="Arial Narrow" pitchFamily="34" charset="0"/>
              </a:rPr>
              <a:t>                   </a:t>
            </a:r>
            <a:r>
              <a:rPr lang="es-ES" sz="2000" b="1" dirty="0" err="1">
                <a:latin typeface="Arial Narrow" pitchFamily="34" charset="0"/>
              </a:rPr>
              <a:t>X1</a:t>
            </a:r>
            <a:r>
              <a:rPr lang="es-ES" sz="2000" b="1" dirty="0">
                <a:latin typeface="Arial Narrow" pitchFamily="34" charset="0"/>
              </a:rPr>
              <a:t>, </a:t>
            </a:r>
            <a:r>
              <a:rPr lang="es-ES" sz="2000" b="1" dirty="0" err="1">
                <a:latin typeface="Arial Narrow" pitchFamily="34" charset="0"/>
              </a:rPr>
              <a:t>X2</a:t>
            </a:r>
            <a:r>
              <a:rPr lang="es-ES" sz="2000" b="1" dirty="0">
                <a:latin typeface="Arial Narrow" pitchFamily="34" charset="0"/>
              </a:rPr>
              <a:t> &gt;=0</a:t>
            </a:r>
            <a:endParaRPr lang="es-PE" sz="2000" b="1" dirty="0">
              <a:latin typeface="Arial Narrow" pitchFamily="34" charset="0"/>
            </a:endParaRPr>
          </a:p>
        </p:txBody>
      </p:sp>
      <p:graphicFrame>
        <p:nvGraphicFramePr>
          <p:cNvPr id="2" name="Tabla 2">
            <a:extLst>
              <a:ext uri="{FF2B5EF4-FFF2-40B4-BE49-F238E27FC236}">
                <a16:creationId xmlns:a16="http://schemas.microsoft.com/office/drawing/2014/main" id="{B79A3ED6-846D-4A5F-9170-D78CFDACDA1C}"/>
              </a:ext>
            </a:extLst>
          </p:cNvPr>
          <p:cNvGraphicFramePr>
            <a:graphicFrameLocks noGrp="1"/>
          </p:cNvGraphicFramePr>
          <p:nvPr>
            <p:extLst>
              <p:ext uri="{D42A27DB-BD31-4B8C-83A1-F6EECF244321}">
                <p14:modId xmlns:p14="http://schemas.microsoft.com/office/powerpoint/2010/main" val="991478292"/>
              </p:ext>
            </p:extLst>
          </p:nvPr>
        </p:nvGraphicFramePr>
        <p:xfrm>
          <a:off x="7370833" y="1273822"/>
          <a:ext cx="4674150" cy="1463040"/>
        </p:xfrm>
        <a:graphic>
          <a:graphicData uri="http://schemas.openxmlformats.org/drawingml/2006/table">
            <a:tbl>
              <a:tblPr firstRow="1" bandRow="1">
                <a:tableStyleId>{5C22544A-7EE6-4342-B048-85BDC9FD1C3A}</a:tableStyleId>
              </a:tblPr>
              <a:tblGrid>
                <a:gridCol w="934830">
                  <a:extLst>
                    <a:ext uri="{9D8B030D-6E8A-4147-A177-3AD203B41FA5}">
                      <a16:colId xmlns:a16="http://schemas.microsoft.com/office/drawing/2014/main" val="243707468"/>
                    </a:ext>
                  </a:extLst>
                </a:gridCol>
                <a:gridCol w="934830">
                  <a:extLst>
                    <a:ext uri="{9D8B030D-6E8A-4147-A177-3AD203B41FA5}">
                      <a16:colId xmlns:a16="http://schemas.microsoft.com/office/drawing/2014/main" val="4102814066"/>
                    </a:ext>
                  </a:extLst>
                </a:gridCol>
                <a:gridCol w="934830">
                  <a:extLst>
                    <a:ext uri="{9D8B030D-6E8A-4147-A177-3AD203B41FA5}">
                      <a16:colId xmlns:a16="http://schemas.microsoft.com/office/drawing/2014/main" val="368110724"/>
                    </a:ext>
                  </a:extLst>
                </a:gridCol>
                <a:gridCol w="934830">
                  <a:extLst>
                    <a:ext uri="{9D8B030D-6E8A-4147-A177-3AD203B41FA5}">
                      <a16:colId xmlns:a16="http://schemas.microsoft.com/office/drawing/2014/main" val="2027837690"/>
                    </a:ext>
                  </a:extLst>
                </a:gridCol>
                <a:gridCol w="934830">
                  <a:extLst>
                    <a:ext uri="{9D8B030D-6E8A-4147-A177-3AD203B41FA5}">
                      <a16:colId xmlns:a16="http://schemas.microsoft.com/office/drawing/2014/main" val="1395627797"/>
                    </a:ext>
                  </a:extLst>
                </a:gridCol>
              </a:tblGrid>
              <a:tr h="364631">
                <a:tc>
                  <a:txBody>
                    <a:bodyPr/>
                    <a:lstStyle/>
                    <a:p>
                      <a:pPr algn="ctr"/>
                      <a:r>
                        <a:rPr lang="es-ES" dirty="0"/>
                        <a:t>Marca</a:t>
                      </a:r>
                      <a:endParaRPr lang="es-PE" dirty="0"/>
                    </a:p>
                  </a:txBody>
                  <a:tcPr/>
                </a:tc>
                <a:tc>
                  <a:txBody>
                    <a:bodyPr/>
                    <a:lstStyle/>
                    <a:p>
                      <a:pPr algn="ctr"/>
                      <a:r>
                        <a:rPr lang="es-ES" dirty="0"/>
                        <a:t>A</a:t>
                      </a:r>
                      <a:endParaRPr lang="es-PE" dirty="0"/>
                    </a:p>
                  </a:txBody>
                  <a:tcPr/>
                </a:tc>
                <a:tc>
                  <a:txBody>
                    <a:bodyPr/>
                    <a:lstStyle/>
                    <a:p>
                      <a:pPr algn="ctr"/>
                      <a:r>
                        <a:rPr lang="es-ES" dirty="0"/>
                        <a:t>B</a:t>
                      </a:r>
                      <a:endParaRPr lang="es-PE" dirty="0"/>
                    </a:p>
                  </a:txBody>
                  <a:tcPr/>
                </a:tc>
                <a:tc>
                  <a:txBody>
                    <a:bodyPr/>
                    <a:lstStyle/>
                    <a:p>
                      <a:pPr algn="ctr"/>
                      <a:r>
                        <a:rPr lang="es-ES" dirty="0"/>
                        <a:t>C</a:t>
                      </a:r>
                      <a:endParaRPr lang="es-PE" dirty="0"/>
                    </a:p>
                  </a:txBody>
                  <a:tcPr/>
                </a:tc>
                <a:tc>
                  <a:txBody>
                    <a:bodyPr/>
                    <a:lstStyle/>
                    <a:p>
                      <a:pPr algn="ctr"/>
                      <a:r>
                        <a:rPr lang="es-ES" dirty="0"/>
                        <a:t>Costo</a:t>
                      </a:r>
                      <a:endParaRPr lang="es-PE" dirty="0"/>
                    </a:p>
                  </a:txBody>
                  <a:tcPr/>
                </a:tc>
                <a:extLst>
                  <a:ext uri="{0D108BD9-81ED-4DB2-BD59-A6C34878D82A}">
                    <a16:rowId xmlns:a16="http://schemas.microsoft.com/office/drawing/2014/main" val="970136677"/>
                  </a:ext>
                </a:extLst>
              </a:tr>
              <a:tr h="364631">
                <a:tc>
                  <a:txBody>
                    <a:bodyPr/>
                    <a:lstStyle/>
                    <a:p>
                      <a:pPr algn="ctr"/>
                      <a:r>
                        <a:rPr lang="es-ES" dirty="0" err="1"/>
                        <a:t>X1</a:t>
                      </a:r>
                      <a:endParaRPr lang="es-PE" dirty="0"/>
                    </a:p>
                  </a:txBody>
                  <a:tcPr/>
                </a:tc>
                <a:tc>
                  <a:txBody>
                    <a:bodyPr/>
                    <a:lstStyle/>
                    <a:p>
                      <a:pPr algn="ctr"/>
                      <a:r>
                        <a:rPr lang="es-ES" dirty="0"/>
                        <a:t>5</a:t>
                      </a:r>
                      <a:endParaRPr lang="es-PE" dirty="0"/>
                    </a:p>
                  </a:txBody>
                  <a:tcPr/>
                </a:tc>
                <a:tc>
                  <a:txBody>
                    <a:bodyPr/>
                    <a:lstStyle/>
                    <a:p>
                      <a:pPr algn="ctr"/>
                      <a:r>
                        <a:rPr lang="es-ES" dirty="0"/>
                        <a:t>4</a:t>
                      </a:r>
                      <a:endParaRPr lang="es-PE" dirty="0"/>
                    </a:p>
                  </a:txBody>
                  <a:tcPr/>
                </a:tc>
                <a:tc>
                  <a:txBody>
                    <a:bodyPr/>
                    <a:lstStyle/>
                    <a:p>
                      <a:pPr algn="ctr"/>
                      <a:r>
                        <a:rPr lang="es-ES" dirty="0"/>
                        <a:t>½</a:t>
                      </a:r>
                      <a:endParaRPr lang="es-PE" dirty="0"/>
                    </a:p>
                  </a:txBody>
                  <a:tcPr/>
                </a:tc>
                <a:tc>
                  <a:txBody>
                    <a:bodyPr/>
                    <a:lstStyle/>
                    <a:p>
                      <a:pPr algn="ctr"/>
                      <a:r>
                        <a:rPr lang="es-ES" dirty="0"/>
                        <a:t>2</a:t>
                      </a:r>
                      <a:endParaRPr lang="es-PE" dirty="0"/>
                    </a:p>
                  </a:txBody>
                  <a:tcPr/>
                </a:tc>
                <a:extLst>
                  <a:ext uri="{0D108BD9-81ED-4DB2-BD59-A6C34878D82A}">
                    <a16:rowId xmlns:a16="http://schemas.microsoft.com/office/drawing/2014/main" val="2023942089"/>
                  </a:ext>
                </a:extLst>
              </a:tr>
              <a:tr h="182880">
                <a:tc>
                  <a:txBody>
                    <a:bodyPr/>
                    <a:lstStyle/>
                    <a:p>
                      <a:pPr algn="ctr"/>
                      <a:r>
                        <a:rPr lang="es-ES" dirty="0" err="1"/>
                        <a:t>X2</a:t>
                      </a:r>
                      <a:endParaRPr lang="es-PE" dirty="0"/>
                    </a:p>
                  </a:txBody>
                  <a:tcPr/>
                </a:tc>
                <a:tc>
                  <a:txBody>
                    <a:bodyPr/>
                    <a:lstStyle/>
                    <a:p>
                      <a:pPr algn="ctr"/>
                      <a:r>
                        <a:rPr lang="es-ES" dirty="0"/>
                        <a:t>10</a:t>
                      </a:r>
                      <a:endParaRPr lang="es-PE" dirty="0"/>
                    </a:p>
                  </a:txBody>
                  <a:tcPr/>
                </a:tc>
                <a:tc>
                  <a:txBody>
                    <a:bodyPr/>
                    <a:lstStyle/>
                    <a:p>
                      <a:pPr algn="ctr"/>
                      <a:r>
                        <a:rPr lang="es-ES" dirty="0"/>
                        <a:t>3</a:t>
                      </a:r>
                      <a:endParaRPr lang="es-PE" dirty="0"/>
                    </a:p>
                  </a:txBody>
                  <a:tcPr/>
                </a:tc>
                <a:tc>
                  <a:txBody>
                    <a:bodyPr/>
                    <a:lstStyle/>
                    <a:p>
                      <a:pPr algn="ctr"/>
                      <a:r>
                        <a:rPr lang="es-ES" dirty="0"/>
                        <a:t>0</a:t>
                      </a:r>
                      <a:endParaRPr lang="es-PE" dirty="0"/>
                    </a:p>
                  </a:txBody>
                  <a:tcPr/>
                </a:tc>
                <a:tc>
                  <a:txBody>
                    <a:bodyPr/>
                    <a:lstStyle/>
                    <a:p>
                      <a:pPr algn="ctr"/>
                      <a:r>
                        <a:rPr lang="es-ES" dirty="0"/>
                        <a:t>3</a:t>
                      </a:r>
                      <a:endParaRPr lang="es-PE" dirty="0"/>
                    </a:p>
                  </a:txBody>
                  <a:tcPr/>
                </a:tc>
                <a:extLst>
                  <a:ext uri="{0D108BD9-81ED-4DB2-BD59-A6C34878D82A}">
                    <a16:rowId xmlns:a16="http://schemas.microsoft.com/office/drawing/2014/main" val="3982479213"/>
                  </a:ext>
                </a:extLst>
              </a:tr>
              <a:tr h="182880">
                <a:tc>
                  <a:txBody>
                    <a:bodyPr/>
                    <a:lstStyle/>
                    <a:p>
                      <a:pPr algn="ctr"/>
                      <a:r>
                        <a:rPr lang="es-ES" dirty="0"/>
                        <a:t>Stock</a:t>
                      </a:r>
                      <a:endParaRPr lang="es-PE" dirty="0"/>
                    </a:p>
                  </a:txBody>
                  <a:tcPr/>
                </a:tc>
                <a:tc>
                  <a:txBody>
                    <a:bodyPr/>
                    <a:lstStyle/>
                    <a:p>
                      <a:pPr algn="ctr"/>
                      <a:r>
                        <a:rPr lang="es-ES" dirty="0"/>
                        <a:t>90</a:t>
                      </a:r>
                      <a:endParaRPr lang="es-PE" dirty="0"/>
                    </a:p>
                  </a:txBody>
                  <a:tcPr/>
                </a:tc>
                <a:tc>
                  <a:txBody>
                    <a:bodyPr/>
                    <a:lstStyle/>
                    <a:p>
                      <a:pPr algn="ctr"/>
                      <a:r>
                        <a:rPr lang="es-ES" dirty="0"/>
                        <a:t>48</a:t>
                      </a:r>
                      <a:endParaRPr lang="es-PE" dirty="0"/>
                    </a:p>
                  </a:txBody>
                  <a:tcPr/>
                </a:tc>
                <a:tc>
                  <a:txBody>
                    <a:bodyPr/>
                    <a:lstStyle/>
                    <a:p>
                      <a:pPr algn="ctr"/>
                      <a:r>
                        <a:rPr lang="es-ES" dirty="0"/>
                        <a:t>1,5</a:t>
                      </a:r>
                      <a:endParaRPr lang="es-PE" dirty="0"/>
                    </a:p>
                  </a:txBody>
                  <a:tcPr/>
                </a:tc>
                <a:tc>
                  <a:txBody>
                    <a:bodyPr/>
                    <a:lstStyle/>
                    <a:p>
                      <a:pPr algn="ctr"/>
                      <a:endParaRPr lang="es-PE" dirty="0"/>
                    </a:p>
                  </a:txBody>
                  <a:tcPr/>
                </a:tc>
                <a:extLst>
                  <a:ext uri="{0D108BD9-81ED-4DB2-BD59-A6C34878D82A}">
                    <a16:rowId xmlns:a16="http://schemas.microsoft.com/office/drawing/2014/main" val="1888430266"/>
                  </a:ext>
                </a:extLst>
              </a:tr>
            </a:tbl>
          </a:graphicData>
        </a:graphic>
      </p:graphicFrame>
      <p:sp>
        <p:nvSpPr>
          <p:cNvPr id="7" name="Rectángulo 1">
            <a:extLst>
              <a:ext uri="{FF2B5EF4-FFF2-40B4-BE49-F238E27FC236}">
                <a16:creationId xmlns:a16="http://schemas.microsoft.com/office/drawing/2014/main" id="{0A9809F3-3B0E-4A43-8D92-6FE91C523FE4}"/>
              </a:ext>
            </a:extLst>
          </p:cNvPr>
          <p:cNvSpPr>
            <a:spLocks noChangeArrowheads="1"/>
          </p:cNvSpPr>
          <p:nvPr/>
        </p:nvSpPr>
        <p:spPr bwMode="auto">
          <a:xfrm>
            <a:off x="6095999" y="159225"/>
            <a:ext cx="6096001" cy="751552"/>
          </a:xfrm>
          <a:prstGeom prst="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25 Mezcla</a:t>
            </a:r>
          </a:p>
        </p:txBody>
      </p:sp>
      <p:sp>
        <p:nvSpPr>
          <p:cNvPr id="3" name="Rectangle 1">
            <a:extLst>
              <a:ext uri="{FF2B5EF4-FFF2-40B4-BE49-F238E27FC236}">
                <a16:creationId xmlns:a16="http://schemas.microsoft.com/office/drawing/2014/main" id="{34C70ACE-33D2-6F1E-7F83-3709D959C403}"/>
              </a:ext>
            </a:extLst>
          </p:cNvPr>
          <p:cNvSpPr>
            <a:spLocks noChangeArrowheads="1"/>
          </p:cNvSpPr>
          <p:nvPr/>
        </p:nvSpPr>
        <p:spPr bwMode="auto">
          <a:xfrm>
            <a:off x="9967816" y="5226784"/>
            <a:ext cx="2077167" cy="1631216"/>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s-PE" sz="2000" b="1" dirty="0">
                <a:latin typeface="Arial Narrow" pitchFamily="34" charset="0"/>
                <a:ea typeface="Calibri" pitchFamily="34" charset="0"/>
                <a:cs typeface="Arial" panose="020B0604020202020204" pitchFamily="34" charset="0"/>
              </a:rPr>
              <a:t>MIN	</a:t>
            </a:r>
            <a:r>
              <a:rPr lang="es-PE" sz="2000" b="1" dirty="0" err="1">
                <a:latin typeface="Arial Narrow" pitchFamily="34" charset="0"/>
                <a:ea typeface="Calibri" pitchFamily="34" charset="0"/>
                <a:cs typeface="Arial" panose="020B0604020202020204" pitchFamily="34" charset="0"/>
              </a:rPr>
              <a:t>2X1</a:t>
            </a:r>
            <a:r>
              <a:rPr lang="es-PE" sz="2000" b="1" dirty="0">
                <a:latin typeface="Arial Narrow" pitchFamily="34" charset="0"/>
                <a:ea typeface="Calibri" pitchFamily="34" charset="0"/>
                <a:cs typeface="Arial" panose="020B0604020202020204" pitchFamily="34" charset="0"/>
              </a:rPr>
              <a:t> + </a:t>
            </a:r>
            <a:r>
              <a:rPr lang="es-PE" sz="2000" b="1" dirty="0" err="1">
                <a:latin typeface="Arial Narrow" pitchFamily="34" charset="0"/>
                <a:ea typeface="Calibri" pitchFamily="34" charset="0"/>
                <a:cs typeface="Arial" panose="020B0604020202020204" pitchFamily="34" charset="0"/>
              </a:rPr>
              <a:t>3X2</a:t>
            </a:r>
            <a:endParaRPr lang="es-PE" sz="2000" b="1" dirty="0">
              <a:latin typeface="Arial Narrow" pitchFamily="34" charset="0"/>
              <a:cs typeface="Arial" pitchFamily="34" charset="0"/>
            </a:endParaRPr>
          </a:p>
          <a:p>
            <a:r>
              <a:rPr lang="es-ES" sz="2000" b="1" dirty="0" err="1">
                <a:solidFill>
                  <a:srgbClr val="FF0000"/>
                </a:solidFill>
                <a:latin typeface="Arial Narrow" pitchFamily="34" charset="0"/>
              </a:rPr>
              <a:t>SUBJECT</a:t>
            </a:r>
            <a:r>
              <a:rPr lang="es-ES" sz="2000" b="1" dirty="0">
                <a:solidFill>
                  <a:srgbClr val="FF0000"/>
                </a:solidFill>
                <a:latin typeface="Arial Narrow" pitchFamily="34" charset="0"/>
              </a:rPr>
              <a:t> </a:t>
            </a:r>
            <a:r>
              <a:rPr lang="es-ES" sz="2000" b="1" dirty="0" err="1">
                <a:solidFill>
                  <a:srgbClr val="FF0000"/>
                </a:solidFill>
                <a:latin typeface="Arial Narrow" pitchFamily="34" charset="0"/>
              </a:rPr>
              <a:t>TO</a:t>
            </a:r>
            <a:endParaRPr lang="es-ES" sz="2000" b="1" dirty="0">
              <a:solidFill>
                <a:srgbClr val="FF0000"/>
              </a:solidFill>
              <a:latin typeface="Arial Narrow" pitchFamily="34" charset="0"/>
            </a:endParaRPr>
          </a:p>
          <a:p>
            <a:r>
              <a:rPr lang="es-ES" sz="2000" b="1" dirty="0" err="1">
                <a:latin typeface="Arial Narrow" pitchFamily="34" charset="0"/>
              </a:rPr>
              <a:t>5X1</a:t>
            </a:r>
            <a:r>
              <a:rPr lang="es-ES" sz="2000" b="1" dirty="0">
                <a:latin typeface="Arial Narrow" pitchFamily="34" charset="0"/>
              </a:rPr>
              <a:t> + </a:t>
            </a:r>
            <a:r>
              <a:rPr lang="es-ES" sz="2000" b="1" dirty="0" err="1">
                <a:latin typeface="Arial Narrow" pitchFamily="34" charset="0"/>
              </a:rPr>
              <a:t>10X2</a:t>
            </a:r>
            <a:r>
              <a:rPr lang="es-ES" sz="2000" b="1" dirty="0">
                <a:latin typeface="Arial Narrow" pitchFamily="34" charset="0"/>
              </a:rPr>
              <a:t> &gt;= 90</a:t>
            </a:r>
          </a:p>
          <a:p>
            <a:r>
              <a:rPr lang="es-ES" sz="2000" b="1" dirty="0" err="1">
                <a:latin typeface="Arial Narrow" pitchFamily="34" charset="0"/>
              </a:rPr>
              <a:t>4X1</a:t>
            </a:r>
            <a:r>
              <a:rPr lang="es-ES" sz="2000" b="1" dirty="0">
                <a:latin typeface="Arial Narrow" pitchFamily="34" charset="0"/>
              </a:rPr>
              <a:t> +   </a:t>
            </a:r>
            <a:r>
              <a:rPr lang="es-ES" sz="2000" b="1" dirty="0" err="1">
                <a:latin typeface="Arial Narrow" pitchFamily="34" charset="0"/>
              </a:rPr>
              <a:t>3X2</a:t>
            </a:r>
            <a:r>
              <a:rPr lang="es-ES" sz="2000" b="1" dirty="0">
                <a:latin typeface="Arial Narrow" pitchFamily="34" charset="0"/>
              </a:rPr>
              <a:t> &gt;= 48</a:t>
            </a:r>
          </a:p>
          <a:p>
            <a:r>
              <a:rPr lang="es-ES" sz="2000" b="1" dirty="0" err="1">
                <a:latin typeface="Arial Narrow" pitchFamily="34" charset="0"/>
              </a:rPr>
              <a:t>0,5X1</a:t>
            </a:r>
            <a:r>
              <a:rPr lang="es-ES" sz="2000" b="1" dirty="0">
                <a:latin typeface="Arial Narrow" pitchFamily="34" charset="0"/>
              </a:rPr>
              <a:t> + </a:t>
            </a:r>
            <a:r>
              <a:rPr lang="es-ES" sz="2000" b="1" dirty="0" err="1">
                <a:latin typeface="Arial Narrow" pitchFamily="34" charset="0"/>
              </a:rPr>
              <a:t>0X2</a:t>
            </a:r>
            <a:r>
              <a:rPr lang="es-ES" sz="2000" b="1" dirty="0">
                <a:latin typeface="Arial Narrow" pitchFamily="34" charset="0"/>
              </a:rPr>
              <a:t> &gt;= 1,5	</a:t>
            </a:r>
            <a:endParaRPr lang="es-PE" sz="2000" b="1" dirty="0">
              <a:solidFill>
                <a:srgbClr val="FF0000"/>
              </a:solidFill>
              <a:latin typeface="Arial Narrow"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29396" y="1222599"/>
            <a:ext cx="5966604" cy="2246769"/>
          </a:xfrm>
          <a:prstGeom prst="rect">
            <a:avLst/>
          </a:prstGeom>
        </p:spPr>
        <p:txBody>
          <a:bodyPr wrap="square">
            <a:spAutoFit/>
          </a:bodyPr>
          <a:lstStyle/>
          <a:p>
            <a:pPr algn="just"/>
            <a:r>
              <a:rPr lang="es-PE" sz="2000" b="1" dirty="0">
                <a:latin typeface="Arial Narrow" panose="020B0606020202030204" pitchFamily="34" charset="0"/>
              </a:rPr>
              <a:t>El Ministerio de Salud indica que cada galón de leche, libra de queso y libra de manzanas proporciona un número conocido de miligramos de proteínas y vitaminas A, B y C. La siguiente tabla incluye esos datos junto con los requerimientos diarios de los ingredientes nutricionales y la cantidad mínima de cada alimento que debe incluirse en la comida y su costo.</a:t>
            </a:r>
          </a:p>
        </p:txBody>
      </p:sp>
      <p:graphicFrame>
        <p:nvGraphicFramePr>
          <p:cNvPr id="3" name="2 Tabla"/>
          <p:cNvGraphicFramePr>
            <a:graphicFrameLocks noGrp="1"/>
          </p:cNvGraphicFramePr>
          <p:nvPr/>
        </p:nvGraphicFramePr>
        <p:xfrm>
          <a:off x="210255" y="3429000"/>
          <a:ext cx="5885745" cy="2462844"/>
        </p:xfrm>
        <a:graphic>
          <a:graphicData uri="http://schemas.openxmlformats.org/drawingml/2006/table">
            <a:tbl>
              <a:tblPr firstRow="1" firstCol="1" bandRow="1">
                <a:tableStyleId>{5C22544A-7EE6-4342-B048-85BDC9FD1C3A}</a:tableStyleId>
              </a:tblPr>
              <a:tblGrid>
                <a:gridCol w="1649154">
                  <a:extLst>
                    <a:ext uri="{9D8B030D-6E8A-4147-A177-3AD203B41FA5}">
                      <a16:colId xmlns:a16="http://schemas.microsoft.com/office/drawing/2014/main" val="20000"/>
                    </a:ext>
                  </a:extLst>
                </a:gridCol>
                <a:gridCol w="873163">
                  <a:extLst>
                    <a:ext uri="{9D8B030D-6E8A-4147-A177-3AD203B41FA5}">
                      <a16:colId xmlns:a16="http://schemas.microsoft.com/office/drawing/2014/main" val="20001"/>
                    </a:ext>
                  </a:extLst>
                </a:gridCol>
                <a:gridCol w="801528">
                  <a:extLst>
                    <a:ext uri="{9D8B030D-6E8A-4147-A177-3AD203B41FA5}">
                      <a16:colId xmlns:a16="http://schemas.microsoft.com/office/drawing/2014/main" val="20002"/>
                    </a:ext>
                  </a:extLst>
                </a:gridCol>
                <a:gridCol w="1038011">
                  <a:extLst>
                    <a:ext uri="{9D8B030D-6E8A-4147-A177-3AD203B41FA5}">
                      <a16:colId xmlns:a16="http://schemas.microsoft.com/office/drawing/2014/main" val="20003"/>
                    </a:ext>
                  </a:extLst>
                </a:gridCol>
                <a:gridCol w="1523889">
                  <a:extLst>
                    <a:ext uri="{9D8B030D-6E8A-4147-A177-3AD203B41FA5}">
                      <a16:colId xmlns:a16="http://schemas.microsoft.com/office/drawing/2014/main" val="20004"/>
                    </a:ext>
                  </a:extLst>
                </a:gridCol>
              </a:tblGrid>
              <a:tr h="499788">
                <a:tc>
                  <a:txBody>
                    <a:bodyPr/>
                    <a:lstStyle/>
                    <a:p>
                      <a:pPr algn="just">
                        <a:lnSpc>
                          <a:spcPct val="150000"/>
                        </a:lnSpc>
                        <a:spcAft>
                          <a:spcPts val="0"/>
                        </a:spcAft>
                      </a:pPr>
                      <a:r>
                        <a:rPr lang="es-ES" sz="1600" b="1" dirty="0">
                          <a:effectLst/>
                          <a:latin typeface="Arial Narrow" panose="020B0606020202030204" pitchFamily="34" charset="0"/>
                        </a:rPr>
                        <a:t> </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600" b="1" dirty="0">
                          <a:effectLst/>
                          <a:latin typeface="Arial Narrow" panose="020B0606020202030204" pitchFamily="34" charset="0"/>
                        </a:rPr>
                        <a:t>Leche (mg/gal)</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600" b="1" dirty="0">
                          <a:effectLst/>
                          <a:latin typeface="Arial Narrow" panose="020B0606020202030204" pitchFamily="34" charset="0"/>
                        </a:rPr>
                        <a:t>Queso (mg/lb)</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600" b="1" dirty="0">
                          <a:effectLst/>
                          <a:latin typeface="Arial Narrow" panose="020B0606020202030204" pitchFamily="34" charset="0"/>
                        </a:rPr>
                        <a:t>Manzanas (mg/lb)</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600" b="1" dirty="0">
                          <a:effectLst/>
                          <a:latin typeface="Arial Narrow" panose="020B0606020202030204" pitchFamily="34" charset="0"/>
                        </a:rPr>
                        <a:t>Requerimiento mínimo (mg)</a:t>
                      </a:r>
                      <a:endParaRPr lang="es-PE" sz="16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0"/>
                  </a:ext>
                </a:extLst>
              </a:tr>
              <a:tr h="327176">
                <a:tc>
                  <a:txBody>
                    <a:bodyPr/>
                    <a:lstStyle/>
                    <a:p>
                      <a:pPr algn="just">
                        <a:lnSpc>
                          <a:spcPct val="150000"/>
                        </a:lnSpc>
                        <a:spcAft>
                          <a:spcPts val="0"/>
                        </a:spcAft>
                      </a:pPr>
                      <a:r>
                        <a:rPr lang="es-ES" sz="1600" b="1" dirty="0">
                          <a:effectLst/>
                          <a:latin typeface="Arial Narrow" panose="020B0606020202030204" pitchFamily="34" charset="0"/>
                        </a:rPr>
                        <a:t>Proteínas</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40</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30</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10</a:t>
                      </a:r>
                      <a:endParaRPr lang="es-PE" sz="16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80</a:t>
                      </a:r>
                      <a:endParaRPr lang="es-PE" sz="16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1"/>
                  </a:ext>
                </a:extLst>
              </a:tr>
              <a:tr h="327176">
                <a:tc>
                  <a:txBody>
                    <a:bodyPr/>
                    <a:lstStyle/>
                    <a:p>
                      <a:pPr algn="just">
                        <a:lnSpc>
                          <a:spcPct val="150000"/>
                        </a:lnSpc>
                        <a:spcAft>
                          <a:spcPts val="0"/>
                        </a:spcAft>
                      </a:pPr>
                      <a:r>
                        <a:rPr lang="es-ES" sz="1600" b="1" dirty="0">
                          <a:effectLst/>
                          <a:latin typeface="Arial Narrow" panose="020B0606020202030204" pitchFamily="34" charset="0"/>
                        </a:rPr>
                        <a:t>Vitamina A</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5</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50</a:t>
                      </a:r>
                      <a:endParaRPr lang="es-PE" sz="16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30</a:t>
                      </a:r>
                      <a:endParaRPr lang="es-PE" sz="16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60</a:t>
                      </a:r>
                      <a:endParaRPr lang="es-PE" sz="16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2"/>
                  </a:ext>
                </a:extLst>
              </a:tr>
              <a:tr h="327176">
                <a:tc>
                  <a:txBody>
                    <a:bodyPr/>
                    <a:lstStyle/>
                    <a:p>
                      <a:pPr algn="just">
                        <a:lnSpc>
                          <a:spcPct val="150000"/>
                        </a:lnSpc>
                        <a:spcAft>
                          <a:spcPts val="0"/>
                        </a:spcAft>
                      </a:pPr>
                      <a:r>
                        <a:rPr lang="es-ES" sz="1600" b="1" dirty="0">
                          <a:effectLst/>
                          <a:latin typeface="Arial Narrow" panose="020B0606020202030204" pitchFamily="34" charset="0"/>
                        </a:rPr>
                        <a:t>Vitamina B</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20</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30</a:t>
                      </a:r>
                      <a:endParaRPr lang="es-PE" sz="16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40</a:t>
                      </a:r>
                      <a:endParaRPr lang="es-PE" sz="16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50</a:t>
                      </a:r>
                      <a:endParaRPr lang="es-PE" sz="16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3"/>
                  </a:ext>
                </a:extLst>
              </a:tr>
              <a:tr h="327176">
                <a:tc>
                  <a:txBody>
                    <a:bodyPr/>
                    <a:lstStyle/>
                    <a:p>
                      <a:pPr algn="just">
                        <a:lnSpc>
                          <a:spcPct val="150000"/>
                        </a:lnSpc>
                        <a:spcAft>
                          <a:spcPts val="0"/>
                        </a:spcAft>
                      </a:pPr>
                      <a:r>
                        <a:rPr lang="es-ES" sz="1600" b="1" dirty="0">
                          <a:effectLst/>
                          <a:latin typeface="Arial Narrow" panose="020B0606020202030204" pitchFamily="34" charset="0"/>
                        </a:rPr>
                        <a:t>Vitamina C</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30</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50</a:t>
                      </a:r>
                      <a:endParaRPr lang="es-PE" sz="16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60</a:t>
                      </a:r>
                      <a:endParaRPr lang="es-PE" sz="16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a:effectLst/>
                          <a:latin typeface="Arial Narrow" panose="020B0606020202030204" pitchFamily="34" charset="0"/>
                        </a:rPr>
                        <a:t>30</a:t>
                      </a:r>
                      <a:endParaRPr lang="es-PE" sz="16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4"/>
                  </a:ext>
                </a:extLst>
              </a:tr>
              <a:tr h="327176">
                <a:tc>
                  <a:txBody>
                    <a:bodyPr/>
                    <a:lstStyle/>
                    <a:p>
                      <a:pPr algn="just">
                        <a:lnSpc>
                          <a:spcPct val="150000"/>
                        </a:lnSpc>
                        <a:spcAft>
                          <a:spcPts val="0"/>
                        </a:spcAft>
                      </a:pPr>
                      <a:r>
                        <a:rPr lang="es-ES" sz="1600" b="1" dirty="0">
                          <a:effectLst/>
                          <a:latin typeface="Arial Narrow" panose="020B0606020202030204" pitchFamily="34" charset="0"/>
                        </a:rPr>
                        <a:t>Cantidad mínima</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0,50 gal</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0,50 lb</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0,50 lb</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 </a:t>
                      </a:r>
                      <a:endParaRPr lang="es-PE" sz="16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5"/>
                  </a:ext>
                </a:extLst>
              </a:tr>
              <a:tr h="327176">
                <a:tc>
                  <a:txBody>
                    <a:bodyPr/>
                    <a:lstStyle/>
                    <a:p>
                      <a:pPr algn="just">
                        <a:lnSpc>
                          <a:spcPct val="150000"/>
                        </a:lnSpc>
                        <a:spcAft>
                          <a:spcPts val="0"/>
                        </a:spcAft>
                      </a:pPr>
                      <a:r>
                        <a:rPr lang="es-ES" sz="1600" b="1" dirty="0">
                          <a:effectLst/>
                          <a:latin typeface="Arial Narrow" panose="020B0606020202030204" pitchFamily="34" charset="0"/>
                        </a:rPr>
                        <a:t>Costo unitario</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2,15</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2,25</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1,25</a:t>
                      </a:r>
                      <a:endParaRPr lang="es-PE" sz="16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600" b="1" dirty="0">
                          <a:effectLst/>
                          <a:latin typeface="Arial Narrow" panose="020B0606020202030204" pitchFamily="34" charset="0"/>
                        </a:rPr>
                        <a:t> </a:t>
                      </a:r>
                      <a:endParaRPr lang="es-PE" sz="16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6"/>
                  </a:ext>
                </a:extLst>
              </a:tr>
            </a:tbl>
          </a:graphicData>
        </a:graphic>
      </p:graphicFrame>
      <p:sp>
        <p:nvSpPr>
          <p:cNvPr id="4" name="3 Rectángulo"/>
          <p:cNvSpPr/>
          <p:nvPr/>
        </p:nvSpPr>
        <p:spPr>
          <a:xfrm>
            <a:off x="102021" y="5908574"/>
            <a:ext cx="5993979" cy="1015663"/>
          </a:xfrm>
          <a:prstGeom prst="rect">
            <a:avLst/>
          </a:prstGeom>
        </p:spPr>
        <p:txBody>
          <a:bodyPr wrap="square">
            <a:spAutoFit/>
          </a:bodyPr>
          <a:lstStyle/>
          <a:p>
            <a:pPr algn="just"/>
            <a:r>
              <a:rPr lang="es-PE" sz="2000" b="1" dirty="0">
                <a:latin typeface="Arial Narrow" panose="020B0606020202030204" pitchFamily="34" charset="0"/>
              </a:rPr>
              <a:t>Como dietista de una escuela pública, formule un modelo para determinar la comida de costo mínimo que reúna todos los requerimientos nutricionales. </a:t>
            </a:r>
          </a:p>
        </p:txBody>
      </p:sp>
      <p:sp>
        <p:nvSpPr>
          <p:cNvPr id="5" name="Rectangle 2"/>
          <p:cNvSpPr>
            <a:spLocks noGrp="1" noChangeArrowheads="1"/>
          </p:cNvSpPr>
          <p:nvPr>
            <p:ph type="title"/>
          </p:nvPr>
        </p:nvSpPr>
        <p:spPr>
          <a:xfrm>
            <a:off x="6096000" y="267197"/>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17</a:t>
            </a:r>
          </a:p>
        </p:txBody>
      </p:sp>
      <p:pic>
        <p:nvPicPr>
          <p:cNvPr id="7" name="Imagen 6">
            <a:extLst>
              <a:ext uri="{FF2B5EF4-FFF2-40B4-BE49-F238E27FC236}">
                <a16:creationId xmlns:a16="http://schemas.microsoft.com/office/drawing/2014/main" id="{6BD450E6-2167-4384-AFC4-58933B440E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6423" y="0"/>
            <a:ext cx="1176068" cy="1038294"/>
          </a:xfrm>
          <a:prstGeom prst="rect">
            <a:avLst/>
          </a:prstGeom>
        </p:spPr>
      </p:pic>
      <p:sp>
        <p:nvSpPr>
          <p:cNvPr id="8" name="1 Rectángulo">
            <a:extLst>
              <a:ext uri="{FF2B5EF4-FFF2-40B4-BE49-F238E27FC236}">
                <a16:creationId xmlns:a16="http://schemas.microsoft.com/office/drawing/2014/main" id="{B8386957-1026-4972-B43D-67FE19E46146}"/>
              </a:ext>
            </a:extLst>
          </p:cNvPr>
          <p:cNvSpPr/>
          <p:nvPr/>
        </p:nvSpPr>
        <p:spPr>
          <a:xfrm>
            <a:off x="6329028" y="1225690"/>
            <a:ext cx="3539591" cy="1323439"/>
          </a:xfrm>
          <a:prstGeom prst="rect">
            <a:avLst/>
          </a:prstGeom>
        </p:spPr>
        <p:txBody>
          <a:bodyPr wrap="square">
            <a:spAutoFit/>
          </a:bodyPr>
          <a:lstStyle/>
          <a:p>
            <a:r>
              <a:rPr lang="es-PE" sz="2000" dirty="0">
                <a:solidFill>
                  <a:srgbClr val="FF0000"/>
                </a:solidFill>
                <a:latin typeface="Arial Narrow" panose="020B0606020202030204" pitchFamily="34" charset="0"/>
              </a:rPr>
              <a:t>Identificación de variables</a:t>
            </a:r>
          </a:p>
          <a:p>
            <a:r>
              <a:rPr lang="es-PE" sz="2000" dirty="0">
                <a:latin typeface="Arial Narrow" panose="020B0606020202030204" pitchFamily="34" charset="0"/>
              </a:rPr>
              <a:t>L=Numero de </a:t>
            </a:r>
            <a:r>
              <a:rPr lang="es-PE" sz="2000" dirty="0" err="1">
                <a:latin typeface="Arial Narrow" panose="020B0606020202030204" pitchFamily="34" charset="0"/>
              </a:rPr>
              <a:t>gl</a:t>
            </a:r>
            <a:r>
              <a:rPr lang="es-PE" sz="2000" dirty="0">
                <a:latin typeface="Arial Narrow" panose="020B0606020202030204" pitchFamily="34" charset="0"/>
              </a:rPr>
              <a:t> de leche</a:t>
            </a:r>
          </a:p>
          <a:p>
            <a:r>
              <a:rPr lang="es-PE" sz="2000" dirty="0">
                <a:latin typeface="Arial Narrow" panose="020B0606020202030204" pitchFamily="34" charset="0"/>
              </a:rPr>
              <a:t>Q=Numero de lb de queso</a:t>
            </a:r>
          </a:p>
          <a:p>
            <a:r>
              <a:rPr lang="es-PE" sz="2000" dirty="0">
                <a:latin typeface="Arial Narrow" panose="020B0606020202030204" pitchFamily="34" charset="0"/>
              </a:rPr>
              <a:t>M=Numero de lb de manzana</a:t>
            </a:r>
          </a:p>
        </p:txBody>
      </p:sp>
      <p:sp>
        <p:nvSpPr>
          <p:cNvPr id="6" name="Rectángulo 5">
            <a:extLst>
              <a:ext uri="{FF2B5EF4-FFF2-40B4-BE49-F238E27FC236}">
                <a16:creationId xmlns:a16="http://schemas.microsoft.com/office/drawing/2014/main" id="{9063E800-63D7-446F-9364-C86E8C02072A}"/>
              </a:ext>
            </a:extLst>
          </p:cNvPr>
          <p:cNvSpPr/>
          <p:nvPr/>
        </p:nvSpPr>
        <p:spPr>
          <a:xfrm>
            <a:off x="6291532" y="3072348"/>
            <a:ext cx="3387305" cy="1938992"/>
          </a:xfrm>
          <a:prstGeom prst="rect">
            <a:avLst/>
          </a:prstGeom>
        </p:spPr>
        <p:txBody>
          <a:bodyPr wrap="square">
            <a:spAutoFit/>
          </a:bodyPr>
          <a:lstStyle/>
          <a:p>
            <a:r>
              <a:rPr lang="es-PE" sz="2000" dirty="0">
                <a:solidFill>
                  <a:srgbClr val="FF0000"/>
                </a:solidFill>
                <a:latin typeface="Arial Narrow" panose="020B0606020202030204" pitchFamily="34" charset="0"/>
              </a:rPr>
              <a:t>Identificación de las restricciones</a:t>
            </a:r>
          </a:p>
          <a:p>
            <a:r>
              <a:rPr lang="es-PE" sz="2000" dirty="0">
                <a:latin typeface="Arial Narrow" panose="020B0606020202030204" pitchFamily="34" charset="0"/>
              </a:rPr>
              <a:t>Requerimiento mínimo </a:t>
            </a:r>
          </a:p>
          <a:p>
            <a:r>
              <a:rPr lang="es-PE" sz="2000" dirty="0" err="1">
                <a:latin typeface="Arial Narrow" panose="020B0606020202030204" pitchFamily="34" charset="0"/>
              </a:rPr>
              <a:t>40L+30Q+10M</a:t>
            </a:r>
            <a:r>
              <a:rPr lang="es-PE" sz="2000" dirty="0">
                <a:latin typeface="Arial Narrow" panose="020B0606020202030204" pitchFamily="34" charset="0"/>
              </a:rPr>
              <a:t>&gt;=80</a:t>
            </a:r>
          </a:p>
          <a:p>
            <a:r>
              <a:rPr lang="es-PE" sz="2000" dirty="0" err="1">
                <a:latin typeface="Arial Narrow" panose="020B0606020202030204" pitchFamily="34" charset="0"/>
              </a:rPr>
              <a:t>5L+50Q+30M</a:t>
            </a:r>
            <a:r>
              <a:rPr lang="es-PE" sz="2000" dirty="0">
                <a:latin typeface="Arial Narrow" panose="020B0606020202030204" pitchFamily="34" charset="0"/>
              </a:rPr>
              <a:t>&gt;=60</a:t>
            </a:r>
          </a:p>
          <a:p>
            <a:r>
              <a:rPr lang="es-PE" sz="2000" dirty="0" err="1">
                <a:latin typeface="Arial Narrow" panose="020B0606020202030204" pitchFamily="34" charset="0"/>
              </a:rPr>
              <a:t>20L+30Q+40M</a:t>
            </a:r>
            <a:r>
              <a:rPr lang="es-PE" sz="2000" dirty="0">
                <a:latin typeface="Arial Narrow" panose="020B0606020202030204" pitchFamily="34" charset="0"/>
              </a:rPr>
              <a:t>&gt;=50</a:t>
            </a:r>
          </a:p>
          <a:p>
            <a:r>
              <a:rPr lang="es-PE" sz="2000" dirty="0" err="1">
                <a:latin typeface="Arial Narrow" panose="020B0606020202030204" pitchFamily="34" charset="0"/>
              </a:rPr>
              <a:t>30L+50Q+60M</a:t>
            </a:r>
            <a:r>
              <a:rPr lang="es-PE" sz="2000" dirty="0">
                <a:latin typeface="Arial Narrow" panose="020B0606020202030204" pitchFamily="34" charset="0"/>
              </a:rPr>
              <a:t>&gt;=30</a:t>
            </a:r>
            <a:endParaRPr lang="es-PE" sz="2000" dirty="0"/>
          </a:p>
        </p:txBody>
      </p:sp>
      <p:sp>
        <p:nvSpPr>
          <p:cNvPr id="9" name="Rectángulo 8">
            <a:extLst>
              <a:ext uri="{FF2B5EF4-FFF2-40B4-BE49-F238E27FC236}">
                <a16:creationId xmlns:a16="http://schemas.microsoft.com/office/drawing/2014/main" id="{1C172A60-82BC-4F64-A787-5ED9D6C2C308}"/>
              </a:ext>
            </a:extLst>
          </p:cNvPr>
          <p:cNvSpPr/>
          <p:nvPr/>
        </p:nvSpPr>
        <p:spPr>
          <a:xfrm>
            <a:off x="6317411" y="2450228"/>
            <a:ext cx="3568461" cy="707886"/>
          </a:xfrm>
          <a:prstGeom prst="rect">
            <a:avLst/>
          </a:prstGeom>
        </p:spPr>
        <p:txBody>
          <a:bodyPr wrap="square">
            <a:spAutoFit/>
          </a:bodyPr>
          <a:lstStyle/>
          <a:p>
            <a:r>
              <a:rPr lang="es-PE" sz="2000" dirty="0">
                <a:solidFill>
                  <a:srgbClr val="FF0000"/>
                </a:solidFill>
                <a:latin typeface="Arial Narrow" panose="020B0606020202030204" pitchFamily="34" charset="0"/>
              </a:rPr>
              <a:t>Identificación de la Función </a:t>
            </a:r>
            <a:r>
              <a:rPr lang="es-PE" sz="2000" dirty="0" err="1">
                <a:solidFill>
                  <a:srgbClr val="FF0000"/>
                </a:solidFill>
                <a:latin typeface="Arial Narrow" panose="020B0606020202030204" pitchFamily="34" charset="0"/>
              </a:rPr>
              <a:t>Obj</a:t>
            </a:r>
            <a:r>
              <a:rPr lang="es-PE" sz="2000" dirty="0">
                <a:solidFill>
                  <a:srgbClr val="FF0000"/>
                </a:solidFill>
                <a:latin typeface="Arial Narrow" panose="020B0606020202030204" pitchFamily="34" charset="0"/>
              </a:rPr>
              <a:t>.</a:t>
            </a:r>
          </a:p>
          <a:p>
            <a:r>
              <a:rPr lang="es-PE" sz="2000" dirty="0">
                <a:latin typeface="Arial Narrow" panose="020B0606020202030204" pitchFamily="34" charset="0"/>
              </a:rPr>
              <a:t>MIN 2,15L+2,25Q+1,25M</a:t>
            </a:r>
          </a:p>
        </p:txBody>
      </p:sp>
      <p:sp>
        <p:nvSpPr>
          <p:cNvPr id="10" name="1 Rectángulo">
            <a:extLst>
              <a:ext uri="{FF2B5EF4-FFF2-40B4-BE49-F238E27FC236}">
                <a16:creationId xmlns:a16="http://schemas.microsoft.com/office/drawing/2014/main" id="{F4AA2454-A4FC-479F-AC78-0E503E788765}"/>
              </a:ext>
            </a:extLst>
          </p:cNvPr>
          <p:cNvSpPr/>
          <p:nvPr/>
        </p:nvSpPr>
        <p:spPr>
          <a:xfrm>
            <a:off x="9439836" y="1268572"/>
            <a:ext cx="2752164" cy="3170099"/>
          </a:xfrm>
          <a:prstGeom prst="rect">
            <a:avLst/>
          </a:prstGeom>
          <a:solidFill>
            <a:srgbClr val="FFFF00"/>
          </a:solidFill>
        </p:spPr>
        <p:txBody>
          <a:bodyPr wrap="square">
            <a:spAutoFit/>
          </a:bodyPr>
          <a:lstStyle/>
          <a:p>
            <a:r>
              <a:rPr lang="es-PE" sz="2000" b="1" dirty="0">
                <a:latin typeface="Arial Narrow" panose="020B0606020202030204" pitchFamily="34" charset="0"/>
              </a:rPr>
              <a:t>MIN </a:t>
            </a:r>
            <a:r>
              <a:rPr lang="es-PE" sz="2000" b="1" dirty="0" err="1">
                <a:latin typeface="Arial Narrow" panose="020B0606020202030204" pitchFamily="34" charset="0"/>
              </a:rPr>
              <a:t>2.15L</a:t>
            </a:r>
            <a:r>
              <a:rPr lang="es-PE" sz="2000" b="1" dirty="0">
                <a:latin typeface="Arial Narrow" panose="020B0606020202030204" pitchFamily="34" charset="0"/>
              </a:rPr>
              <a:t> +</a:t>
            </a:r>
            <a:r>
              <a:rPr lang="es-PE" sz="2000" b="1" dirty="0" err="1">
                <a:latin typeface="Arial Narrow" panose="020B0606020202030204" pitchFamily="34" charset="0"/>
              </a:rPr>
              <a:t>2.25Q</a:t>
            </a:r>
            <a:r>
              <a:rPr lang="es-PE" sz="2000" b="1" dirty="0">
                <a:latin typeface="Arial Narrow" panose="020B0606020202030204" pitchFamily="34" charset="0"/>
              </a:rPr>
              <a:t> +</a:t>
            </a:r>
            <a:r>
              <a:rPr lang="es-PE" sz="2000" b="1" dirty="0" err="1">
                <a:latin typeface="Arial Narrow" panose="020B0606020202030204" pitchFamily="34" charset="0"/>
              </a:rPr>
              <a:t>1.25M</a:t>
            </a:r>
            <a:endParaRPr lang="es-PE" sz="2000" b="1" dirty="0">
              <a:latin typeface="Arial Narrow" panose="020B0606020202030204" pitchFamily="34" charset="0"/>
            </a:endParaRPr>
          </a:p>
          <a:p>
            <a:r>
              <a:rPr lang="es-PE" sz="2000" b="1" dirty="0" err="1">
                <a:solidFill>
                  <a:srgbClr val="FF0000"/>
                </a:solidFill>
                <a:latin typeface="Arial Narrow" panose="020B0606020202030204" pitchFamily="34" charset="0"/>
              </a:rPr>
              <a:t>ST</a:t>
            </a:r>
            <a:r>
              <a:rPr lang="es-PE" sz="2000" b="1" dirty="0">
                <a:latin typeface="Arial Narrow" panose="020B0606020202030204" pitchFamily="34" charset="0"/>
              </a:rPr>
              <a:t>	</a:t>
            </a:r>
          </a:p>
          <a:p>
            <a:r>
              <a:rPr lang="es-PE" sz="2000" b="1" dirty="0" err="1">
                <a:latin typeface="Arial Narrow" panose="020B0606020202030204" pitchFamily="34" charset="0"/>
              </a:rPr>
              <a:t>40L</a:t>
            </a:r>
            <a:r>
              <a:rPr lang="es-PE" sz="2000" b="1" dirty="0">
                <a:latin typeface="Arial Narrow" panose="020B0606020202030204" pitchFamily="34" charset="0"/>
              </a:rPr>
              <a:t> + </a:t>
            </a:r>
            <a:r>
              <a:rPr lang="es-PE" sz="2000" b="1" dirty="0" err="1">
                <a:latin typeface="Arial Narrow" panose="020B0606020202030204" pitchFamily="34" charset="0"/>
              </a:rPr>
              <a:t>30Q</a:t>
            </a:r>
            <a:r>
              <a:rPr lang="es-PE" sz="2000" b="1" dirty="0">
                <a:latin typeface="Arial Narrow" panose="020B0606020202030204" pitchFamily="34" charset="0"/>
              </a:rPr>
              <a:t> + </a:t>
            </a:r>
            <a:r>
              <a:rPr lang="es-PE" sz="2000" b="1" dirty="0" err="1">
                <a:latin typeface="Arial Narrow" panose="020B0606020202030204" pitchFamily="34" charset="0"/>
              </a:rPr>
              <a:t>10M</a:t>
            </a:r>
            <a:r>
              <a:rPr lang="es-PE" sz="2000" b="1" dirty="0">
                <a:latin typeface="Arial Narrow" panose="020B0606020202030204" pitchFamily="34" charset="0"/>
              </a:rPr>
              <a:t> &gt;= 80</a:t>
            </a:r>
          </a:p>
          <a:p>
            <a:r>
              <a:rPr lang="es-PE" sz="2000" b="1" dirty="0">
                <a:latin typeface="Arial Narrow" panose="020B0606020202030204" pitchFamily="34" charset="0"/>
              </a:rPr>
              <a:t>  </a:t>
            </a:r>
            <a:r>
              <a:rPr lang="es-PE" sz="2000" b="1" dirty="0" err="1">
                <a:latin typeface="Arial Narrow" panose="020B0606020202030204" pitchFamily="34" charset="0"/>
              </a:rPr>
              <a:t>5L</a:t>
            </a:r>
            <a:r>
              <a:rPr lang="es-PE" sz="2000" b="1" dirty="0">
                <a:latin typeface="Arial Narrow" panose="020B0606020202030204" pitchFamily="34" charset="0"/>
              </a:rPr>
              <a:t> + </a:t>
            </a:r>
            <a:r>
              <a:rPr lang="es-PE" sz="2000" b="1" dirty="0" err="1">
                <a:latin typeface="Arial Narrow" panose="020B0606020202030204" pitchFamily="34" charset="0"/>
              </a:rPr>
              <a:t>50Q</a:t>
            </a:r>
            <a:r>
              <a:rPr lang="es-PE" sz="2000" b="1" dirty="0">
                <a:latin typeface="Arial Narrow" panose="020B0606020202030204" pitchFamily="34" charset="0"/>
              </a:rPr>
              <a:t> + </a:t>
            </a:r>
            <a:r>
              <a:rPr lang="es-PE" sz="2000" b="1" dirty="0" err="1">
                <a:latin typeface="Arial Narrow" panose="020B0606020202030204" pitchFamily="34" charset="0"/>
              </a:rPr>
              <a:t>30M</a:t>
            </a:r>
            <a:r>
              <a:rPr lang="es-PE" sz="2000" b="1" dirty="0">
                <a:latin typeface="Arial Narrow" panose="020B0606020202030204" pitchFamily="34" charset="0"/>
              </a:rPr>
              <a:t> &gt;= 60</a:t>
            </a:r>
          </a:p>
          <a:p>
            <a:r>
              <a:rPr lang="es-PE" sz="2000" b="1" dirty="0" err="1">
                <a:latin typeface="Arial Narrow" panose="020B0606020202030204" pitchFamily="34" charset="0"/>
              </a:rPr>
              <a:t>20L</a:t>
            </a:r>
            <a:r>
              <a:rPr lang="es-PE" sz="2000" b="1" dirty="0">
                <a:latin typeface="Arial Narrow" panose="020B0606020202030204" pitchFamily="34" charset="0"/>
              </a:rPr>
              <a:t> + </a:t>
            </a:r>
            <a:r>
              <a:rPr lang="es-PE" sz="2000" b="1" dirty="0" err="1">
                <a:latin typeface="Arial Narrow" panose="020B0606020202030204" pitchFamily="34" charset="0"/>
              </a:rPr>
              <a:t>30Q</a:t>
            </a:r>
            <a:r>
              <a:rPr lang="es-PE" sz="2000" b="1" dirty="0">
                <a:latin typeface="Arial Narrow" panose="020B0606020202030204" pitchFamily="34" charset="0"/>
              </a:rPr>
              <a:t> + </a:t>
            </a:r>
            <a:r>
              <a:rPr lang="es-PE" sz="2000" b="1" dirty="0" err="1">
                <a:latin typeface="Arial Narrow" panose="020B0606020202030204" pitchFamily="34" charset="0"/>
              </a:rPr>
              <a:t>40M</a:t>
            </a:r>
            <a:r>
              <a:rPr lang="es-PE" sz="2000" b="1" dirty="0">
                <a:latin typeface="Arial Narrow" panose="020B0606020202030204" pitchFamily="34" charset="0"/>
              </a:rPr>
              <a:t> &gt;= 50</a:t>
            </a:r>
          </a:p>
          <a:p>
            <a:r>
              <a:rPr lang="es-PE" sz="2000" b="1" dirty="0" err="1">
                <a:latin typeface="Arial Narrow" panose="020B0606020202030204" pitchFamily="34" charset="0"/>
              </a:rPr>
              <a:t>30L</a:t>
            </a:r>
            <a:r>
              <a:rPr lang="es-PE" sz="2000" b="1" dirty="0">
                <a:latin typeface="Arial Narrow" panose="020B0606020202030204" pitchFamily="34" charset="0"/>
              </a:rPr>
              <a:t> + </a:t>
            </a:r>
            <a:r>
              <a:rPr lang="es-PE" sz="2000" b="1" dirty="0" err="1">
                <a:latin typeface="Arial Narrow" panose="020B0606020202030204" pitchFamily="34" charset="0"/>
              </a:rPr>
              <a:t>50Q</a:t>
            </a:r>
            <a:r>
              <a:rPr lang="es-PE" sz="2000" b="1" dirty="0">
                <a:latin typeface="Arial Narrow" panose="020B0606020202030204" pitchFamily="34" charset="0"/>
              </a:rPr>
              <a:t> + </a:t>
            </a:r>
            <a:r>
              <a:rPr lang="es-PE" sz="2000" b="1" dirty="0" err="1">
                <a:latin typeface="Arial Narrow" panose="020B0606020202030204" pitchFamily="34" charset="0"/>
              </a:rPr>
              <a:t>60M</a:t>
            </a:r>
            <a:r>
              <a:rPr lang="es-PE" sz="2000" b="1" dirty="0">
                <a:latin typeface="Arial Narrow" panose="020B0606020202030204" pitchFamily="34" charset="0"/>
              </a:rPr>
              <a:t> &gt;= 30</a:t>
            </a:r>
          </a:p>
          <a:p>
            <a:r>
              <a:rPr lang="es-PE" sz="2000" b="1" dirty="0">
                <a:latin typeface="Arial Narrow" panose="020B0606020202030204" pitchFamily="34" charset="0"/>
              </a:rPr>
              <a:t>	L  &gt;= 0.5</a:t>
            </a:r>
          </a:p>
          <a:p>
            <a:r>
              <a:rPr lang="es-PE" sz="2000" b="1" dirty="0">
                <a:latin typeface="Arial Narrow" panose="020B0606020202030204" pitchFamily="34" charset="0"/>
              </a:rPr>
              <a:t>	Q  &gt;= 0.5</a:t>
            </a:r>
          </a:p>
          <a:p>
            <a:r>
              <a:rPr lang="es-PE" sz="2000" b="1" dirty="0">
                <a:latin typeface="Arial Narrow" panose="020B0606020202030204" pitchFamily="34" charset="0"/>
              </a:rPr>
              <a:t>	M  &gt;= 0.5</a:t>
            </a:r>
          </a:p>
          <a:p>
            <a:r>
              <a:rPr lang="es-PE" sz="2000" b="1" dirty="0" err="1">
                <a:solidFill>
                  <a:srgbClr val="FF0000"/>
                </a:solidFill>
                <a:latin typeface="Arial Narrow" panose="020B0606020202030204" pitchFamily="34" charset="0"/>
              </a:rPr>
              <a:t>END</a:t>
            </a:r>
            <a:endParaRPr lang="es-PE" sz="2000" b="1" dirty="0">
              <a:solidFill>
                <a:srgbClr val="FF0000"/>
              </a:solidFill>
              <a:latin typeface="Arial Narrow" panose="020B0606020202030204" pitchFamily="34" charset="0"/>
            </a:endParaRPr>
          </a:p>
        </p:txBody>
      </p:sp>
      <p:sp>
        <p:nvSpPr>
          <p:cNvPr id="11" name="Rectángulo 10">
            <a:extLst>
              <a:ext uri="{FF2B5EF4-FFF2-40B4-BE49-F238E27FC236}">
                <a16:creationId xmlns:a16="http://schemas.microsoft.com/office/drawing/2014/main" id="{2BF41E61-F4F4-48DB-AB19-FA477115258F}"/>
              </a:ext>
            </a:extLst>
          </p:cNvPr>
          <p:cNvSpPr/>
          <p:nvPr/>
        </p:nvSpPr>
        <p:spPr>
          <a:xfrm>
            <a:off x="8390965" y="4471941"/>
            <a:ext cx="3801035" cy="1938992"/>
          </a:xfrm>
          <a:prstGeom prst="rect">
            <a:avLst/>
          </a:prstGeom>
          <a:solidFill>
            <a:srgbClr val="FFC000"/>
          </a:solidFill>
        </p:spPr>
        <p:txBody>
          <a:bodyPr wrap="square">
            <a:spAutoFit/>
          </a:bodyPr>
          <a:lstStyle/>
          <a:p>
            <a:r>
              <a:rPr lang="en-US" sz="2000" b="1" dirty="0">
                <a:latin typeface="Arial Narrow" pitchFamily="34" charset="0"/>
              </a:rPr>
              <a:t>OBJECTIVE FUNCTION VALUE</a:t>
            </a:r>
          </a:p>
          <a:p>
            <a:r>
              <a:rPr lang="en-US" sz="2000" b="1" dirty="0">
                <a:latin typeface="Arial Narrow" pitchFamily="34" charset="0"/>
              </a:rPr>
              <a:t>        1)      5.147297</a:t>
            </a:r>
          </a:p>
          <a:p>
            <a:r>
              <a:rPr lang="en-US" sz="2000" b="1" dirty="0">
                <a:latin typeface="Arial Narrow" pitchFamily="34" charset="0"/>
              </a:rPr>
              <a:t>VARIABLE VALUE REDUCED COST</a:t>
            </a:r>
          </a:p>
          <a:p>
            <a:r>
              <a:rPr lang="en-US" sz="2000" b="1" dirty="0">
                <a:latin typeface="Arial Narrow" pitchFamily="34" charset="0"/>
              </a:rPr>
              <a:t>         L         1.297297          0.000000</a:t>
            </a:r>
          </a:p>
          <a:p>
            <a:r>
              <a:rPr lang="en-US" sz="2000" b="1" dirty="0">
                <a:latin typeface="Arial Narrow" pitchFamily="34" charset="0"/>
              </a:rPr>
              <a:t>         Q         0.770270          0.000000</a:t>
            </a:r>
          </a:p>
          <a:p>
            <a:r>
              <a:rPr lang="en-US" sz="2000" b="1" dirty="0">
                <a:latin typeface="Arial Narrow" pitchFamily="34" charset="0"/>
              </a:rPr>
              <a:t>         M         0.500000          0.000000</a:t>
            </a:r>
          </a:p>
        </p:txBody>
      </p:sp>
      <p:sp>
        <p:nvSpPr>
          <p:cNvPr id="12" name="Rectángulo 11">
            <a:extLst>
              <a:ext uri="{FF2B5EF4-FFF2-40B4-BE49-F238E27FC236}">
                <a16:creationId xmlns:a16="http://schemas.microsoft.com/office/drawing/2014/main" id="{56C9140F-3469-41BB-B849-C06E59FD97D0}"/>
              </a:ext>
            </a:extLst>
          </p:cNvPr>
          <p:cNvSpPr/>
          <p:nvPr/>
        </p:nvSpPr>
        <p:spPr>
          <a:xfrm>
            <a:off x="6291532" y="4915479"/>
            <a:ext cx="1998453" cy="1938992"/>
          </a:xfrm>
          <a:prstGeom prst="rect">
            <a:avLst/>
          </a:prstGeom>
        </p:spPr>
        <p:txBody>
          <a:bodyPr wrap="square">
            <a:spAutoFit/>
          </a:bodyPr>
          <a:lstStyle/>
          <a:p>
            <a:r>
              <a:rPr lang="es-PE" sz="2000" dirty="0">
                <a:latin typeface="Arial Narrow" panose="020B0606020202030204" pitchFamily="34" charset="0"/>
              </a:rPr>
              <a:t>Cantidad mínima</a:t>
            </a:r>
          </a:p>
          <a:p>
            <a:r>
              <a:rPr lang="es-PE" sz="2000" dirty="0">
                <a:latin typeface="Arial Narrow" panose="020B0606020202030204" pitchFamily="34" charset="0"/>
              </a:rPr>
              <a:t>L&gt;=0,50</a:t>
            </a:r>
          </a:p>
          <a:p>
            <a:r>
              <a:rPr lang="es-PE" sz="2000" dirty="0">
                <a:latin typeface="Arial Narrow" panose="020B0606020202030204" pitchFamily="34" charset="0"/>
              </a:rPr>
              <a:t>Q&gt;=0,50</a:t>
            </a:r>
          </a:p>
          <a:p>
            <a:r>
              <a:rPr lang="es-PE" sz="2000" dirty="0">
                <a:latin typeface="Arial Narrow" panose="020B0606020202030204" pitchFamily="34" charset="0"/>
              </a:rPr>
              <a:t>M&gt;=0,50</a:t>
            </a:r>
          </a:p>
          <a:p>
            <a:r>
              <a:rPr lang="es-PE" sz="2000" dirty="0">
                <a:latin typeface="Arial Narrow" panose="020B0606020202030204" pitchFamily="34" charset="0"/>
              </a:rPr>
              <a:t>No negatividad</a:t>
            </a:r>
          </a:p>
          <a:p>
            <a:r>
              <a:rPr lang="es-PE" sz="2000" dirty="0" err="1">
                <a:latin typeface="Arial Narrow" panose="020B0606020202030204" pitchFamily="34" charset="0"/>
              </a:rPr>
              <a:t>L,Q,M</a:t>
            </a:r>
            <a:r>
              <a:rPr lang="es-PE" sz="2000" dirty="0">
                <a:latin typeface="Arial Narrow" panose="020B0606020202030204" pitchFamily="34" charset="0"/>
              </a:rPr>
              <a:t>&gt;=0</a:t>
            </a:r>
            <a:endParaRPr lang="es-PE" sz="2000" dirty="0"/>
          </a:p>
        </p:txBody>
      </p:sp>
    </p:spTree>
    <p:extLst>
      <p:ext uri="{BB962C8B-B14F-4D97-AF65-F5344CB8AC3E}">
        <p14:creationId xmlns:p14="http://schemas.microsoft.com/office/powerpoint/2010/main" val="289037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9" grpId="0"/>
      <p:bldP spid="10" grpId="0" animBg="1"/>
      <p:bldP spid="11" grpId="0" animBg="1"/>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35678" y="1327259"/>
            <a:ext cx="8272976" cy="400110"/>
          </a:xfrm>
          <a:prstGeom prst="rect">
            <a:avLst/>
          </a:prstGeom>
        </p:spPr>
        <p:txBody>
          <a:bodyPr wrap="square">
            <a:spAutoFit/>
          </a:bodyPr>
          <a:lstStyle/>
          <a:p>
            <a:pPr algn="just"/>
            <a:r>
              <a:rPr lang="es-PE" sz="2000" b="1" dirty="0"/>
              <a:t>REPSOL, cerca de Lima, suministra gasolina a sus distribuidores en caminos. </a:t>
            </a:r>
          </a:p>
        </p:txBody>
      </p:sp>
      <p:sp>
        <p:nvSpPr>
          <p:cNvPr id="4" name="3 Rectángulo"/>
          <p:cNvSpPr/>
          <p:nvPr/>
        </p:nvSpPr>
        <p:spPr>
          <a:xfrm>
            <a:off x="435678" y="3358207"/>
            <a:ext cx="10458745" cy="3170099"/>
          </a:xfrm>
          <a:prstGeom prst="rect">
            <a:avLst/>
          </a:prstGeom>
        </p:spPr>
        <p:txBody>
          <a:bodyPr wrap="square">
            <a:spAutoFit/>
          </a:bodyPr>
          <a:lstStyle/>
          <a:p>
            <a:pPr algn="just"/>
            <a:r>
              <a:rPr lang="es-PE" sz="2000" b="1" dirty="0"/>
              <a:t>En la tabla se muestra la capacidad, costo de compra, costo operativo y número máximo de viajes por cada tipo. La compañía recientemente recibió un contrato para iniciar el suministro de 800000 galones de gasolina por mes a distribuidores de Lima. La compañía tiene $ 5000000 disponibles para crear una flota consistente en tres tipos diferentes de camiones. Sobre la base del mantenimiento y la disponibilidad de conductores, la compañía no desea comprar más de 10 vehículos para su flota. Asimismo, la compañía desearía asegurarse que se compren al menos tres de los camiones del tipo 3 (se requiere para su uso en las rutas de trayecto corto/baja demanda). Finalmente, la compañía no desea que más de la mitad de la flota sea de camiones del tipo 1. Formule un modelo para determinar la composición de la flota que minimice los costos operativos mensuales al tiempo que satisfaciendo los requerimientos de las otras compañías. </a:t>
            </a:r>
          </a:p>
        </p:txBody>
      </p:sp>
      <p:sp>
        <p:nvSpPr>
          <p:cNvPr id="5" name="Rectangle 2"/>
          <p:cNvSpPr>
            <a:spLocks noGrp="1" noChangeArrowheads="1"/>
          </p:cNvSpPr>
          <p:nvPr>
            <p:ph type="title"/>
          </p:nvPr>
        </p:nvSpPr>
        <p:spPr>
          <a:xfrm>
            <a:off x="6096000" y="234035"/>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18</a:t>
            </a:r>
          </a:p>
        </p:txBody>
      </p:sp>
      <p:pic>
        <p:nvPicPr>
          <p:cNvPr id="7" name="Imagen 6">
            <a:extLst>
              <a:ext uri="{FF2B5EF4-FFF2-40B4-BE49-F238E27FC236}">
                <a16:creationId xmlns:a16="http://schemas.microsoft.com/office/drawing/2014/main" id="{7F7F6A2D-D835-48DD-86BB-C9C51C73D1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4627" y="1727370"/>
            <a:ext cx="4694002" cy="1650148"/>
          </a:xfrm>
          <a:prstGeom prst="rect">
            <a:avLst/>
          </a:prstGeom>
        </p:spPr>
      </p:pic>
      <p:graphicFrame>
        <p:nvGraphicFramePr>
          <p:cNvPr id="6" name="2 Tabla">
            <a:extLst>
              <a:ext uri="{FF2B5EF4-FFF2-40B4-BE49-F238E27FC236}">
                <a16:creationId xmlns:a16="http://schemas.microsoft.com/office/drawing/2014/main" id="{13A9CAD8-2CF5-B38D-FAD8-A3B423D9DEBD}"/>
              </a:ext>
            </a:extLst>
          </p:cNvPr>
          <p:cNvGraphicFramePr>
            <a:graphicFrameLocks noGrp="1"/>
          </p:cNvGraphicFramePr>
          <p:nvPr/>
        </p:nvGraphicFramePr>
        <p:xfrm>
          <a:off x="543119" y="1727369"/>
          <a:ext cx="5544256" cy="1650148"/>
        </p:xfrm>
        <a:graphic>
          <a:graphicData uri="http://schemas.openxmlformats.org/drawingml/2006/table">
            <a:tbl>
              <a:tblPr firstRow="1" firstCol="1" bandRow="1">
                <a:tableStyleId>{5C22544A-7EE6-4342-B048-85BDC9FD1C3A}</a:tableStyleId>
              </a:tblPr>
              <a:tblGrid>
                <a:gridCol w="1108589">
                  <a:extLst>
                    <a:ext uri="{9D8B030D-6E8A-4147-A177-3AD203B41FA5}">
                      <a16:colId xmlns:a16="http://schemas.microsoft.com/office/drawing/2014/main" val="20000"/>
                    </a:ext>
                  </a:extLst>
                </a:gridCol>
                <a:gridCol w="1108589">
                  <a:extLst>
                    <a:ext uri="{9D8B030D-6E8A-4147-A177-3AD203B41FA5}">
                      <a16:colId xmlns:a16="http://schemas.microsoft.com/office/drawing/2014/main" val="20001"/>
                    </a:ext>
                  </a:extLst>
                </a:gridCol>
                <a:gridCol w="975428">
                  <a:extLst>
                    <a:ext uri="{9D8B030D-6E8A-4147-A177-3AD203B41FA5}">
                      <a16:colId xmlns:a16="http://schemas.microsoft.com/office/drawing/2014/main" val="20002"/>
                    </a:ext>
                  </a:extLst>
                </a:gridCol>
                <a:gridCol w="1128370">
                  <a:extLst>
                    <a:ext uri="{9D8B030D-6E8A-4147-A177-3AD203B41FA5}">
                      <a16:colId xmlns:a16="http://schemas.microsoft.com/office/drawing/2014/main" val="20003"/>
                    </a:ext>
                  </a:extLst>
                </a:gridCol>
                <a:gridCol w="1223280">
                  <a:extLst>
                    <a:ext uri="{9D8B030D-6E8A-4147-A177-3AD203B41FA5}">
                      <a16:colId xmlns:a16="http://schemas.microsoft.com/office/drawing/2014/main" val="20004"/>
                    </a:ext>
                  </a:extLst>
                </a:gridCol>
              </a:tblGrid>
              <a:tr h="605182">
                <a:tc>
                  <a:txBody>
                    <a:bodyPr/>
                    <a:lstStyle/>
                    <a:p>
                      <a:pPr algn="ctr">
                        <a:lnSpc>
                          <a:spcPct val="100000"/>
                        </a:lnSpc>
                        <a:spcAft>
                          <a:spcPts val="0"/>
                        </a:spcAft>
                      </a:pPr>
                      <a:r>
                        <a:rPr lang="es-ES" sz="1800" b="1" dirty="0">
                          <a:effectLst/>
                          <a:latin typeface="Arial Narrow" panose="020B0606020202030204" pitchFamily="34" charset="0"/>
                        </a:rPr>
                        <a:t>Tipo de camión</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Capacidad (gal)</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Costo de compra</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Costo de operación</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Máximo de viajes/mes</a:t>
                      </a:r>
                      <a:endParaRPr lang="es-PE" sz="18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0"/>
                  </a:ext>
                </a:extLst>
              </a:tr>
              <a:tr h="348322">
                <a:tc>
                  <a:txBody>
                    <a:bodyPr/>
                    <a:lstStyle/>
                    <a:p>
                      <a:pPr algn="ctr">
                        <a:lnSpc>
                          <a:spcPct val="100000"/>
                        </a:lnSpc>
                        <a:spcAft>
                          <a:spcPts val="0"/>
                        </a:spcAft>
                      </a:pPr>
                      <a:r>
                        <a:rPr lang="es-ES" sz="1800" b="1" dirty="0">
                          <a:effectLst/>
                          <a:latin typeface="Arial Narrow" panose="020B0606020202030204" pitchFamily="34" charset="0"/>
                        </a:rPr>
                        <a:t>1</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6000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50000</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800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20</a:t>
                      </a:r>
                      <a:endParaRPr lang="es-PE" sz="18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1"/>
                  </a:ext>
                </a:extLst>
              </a:tr>
              <a:tr h="348322">
                <a:tc>
                  <a:txBody>
                    <a:bodyPr/>
                    <a:lstStyle/>
                    <a:p>
                      <a:pPr algn="ctr">
                        <a:lnSpc>
                          <a:spcPct val="100000"/>
                        </a:lnSpc>
                        <a:spcAft>
                          <a:spcPts val="0"/>
                        </a:spcAft>
                      </a:pPr>
                      <a:r>
                        <a:rPr lang="es-ES" sz="1800" b="1" dirty="0">
                          <a:effectLst/>
                          <a:latin typeface="Arial Narrow" panose="020B0606020202030204" pitchFamily="34" charset="0"/>
                        </a:rPr>
                        <a:t>2</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3000</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40000</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650</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25</a:t>
                      </a:r>
                      <a:endParaRPr lang="es-PE" sz="18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2"/>
                  </a:ext>
                </a:extLst>
              </a:tr>
              <a:tr h="348322">
                <a:tc>
                  <a:txBody>
                    <a:bodyPr/>
                    <a:lstStyle/>
                    <a:p>
                      <a:pPr algn="ctr">
                        <a:lnSpc>
                          <a:spcPct val="100000"/>
                        </a:lnSpc>
                        <a:spcAft>
                          <a:spcPts val="0"/>
                        </a:spcAft>
                      </a:pPr>
                      <a:r>
                        <a:rPr lang="es-ES" sz="1800" b="1" dirty="0">
                          <a:effectLst/>
                          <a:latin typeface="Arial Narrow" panose="020B0606020202030204" pitchFamily="34" charset="0"/>
                        </a:rPr>
                        <a:t>3</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2000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25000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500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30</a:t>
                      </a:r>
                      <a:endParaRPr lang="es-PE" sz="18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290934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096000" y="234035"/>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18</a:t>
            </a:r>
          </a:p>
        </p:txBody>
      </p:sp>
      <p:sp>
        <p:nvSpPr>
          <p:cNvPr id="8" name="1 Rectángulo">
            <a:extLst>
              <a:ext uri="{FF2B5EF4-FFF2-40B4-BE49-F238E27FC236}">
                <a16:creationId xmlns:a16="http://schemas.microsoft.com/office/drawing/2014/main" id="{32952AFB-3F60-4610-BCC1-A6A136913AC0}"/>
              </a:ext>
            </a:extLst>
          </p:cNvPr>
          <p:cNvSpPr/>
          <p:nvPr/>
        </p:nvSpPr>
        <p:spPr>
          <a:xfrm>
            <a:off x="7480987" y="1322593"/>
            <a:ext cx="4711014" cy="1015663"/>
          </a:xfrm>
          <a:prstGeom prst="rect">
            <a:avLst/>
          </a:prstGeom>
        </p:spPr>
        <p:txBody>
          <a:bodyPr wrap="square">
            <a:spAutoFit/>
          </a:bodyPr>
          <a:lstStyle/>
          <a:p>
            <a:r>
              <a:rPr lang="es-PE" sz="2000" b="1" dirty="0">
                <a:solidFill>
                  <a:srgbClr val="FF0000"/>
                </a:solidFill>
                <a:latin typeface="Arial Narrow" panose="020B0606020202030204" pitchFamily="34" charset="0"/>
              </a:rPr>
              <a:t>Identificación de variables</a:t>
            </a:r>
          </a:p>
          <a:p>
            <a:r>
              <a:rPr lang="es-PE" sz="2000" b="1" dirty="0">
                <a:latin typeface="Arial Narrow" panose="020B0606020202030204" pitchFamily="34" charset="0"/>
              </a:rPr>
              <a:t>Ci=Número de camiones tipo i para la flota.	</a:t>
            </a:r>
            <a:endParaRPr lang="es-PE" sz="2000" b="1" dirty="0">
              <a:solidFill>
                <a:srgbClr val="FF0000"/>
              </a:solidFill>
              <a:latin typeface="Arial Narrow" panose="020B0606020202030204" pitchFamily="34" charset="0"/>
            </a:endParaRPr>
          </a:p>
        </p:txBody>
      </p:sp>
      <p:sp>
        <p:nvSpPr>
          <p:cNvPr id="9" name="2 CuadroTexto">
            <a:extLst>
              <a:ext uri="{FF2B5EF4-FFF2-40B4-BE49-F238E27FC236}">
                <a16:creationId xmlns:a16="http://schemas.microsoft.com/office/drawing/2014/main" id="{DF1DCE39-CCFC-46FC-8295-DFB9C03F4DA3}"/>
              </a:ext>
            </a:extLst>
          </p:cNvPr>
          <p:cNvSpPr txBox="1"/>
          <p:nvPr/>
        </p:nvSpPr>
        <p:spPr>
          <a:xfrm>
            <a:off x="736918" y="350386"/>
            <a:ext cx="5350457" cy="369332"/>
          </a:xfrm>
          <a:prstGeom prst="rect">
            <a:avLst/>
          </a:prstGeom>
          <a:solidFill>
            <a:schemeClr val="bg1"/>
          </a:solidFill>
        </p:spPr>
        <p:txBody>
          <a:bodyPr wrap="square" rtlCol="0">
            <a:spAutoFit/>
          </a:bodyPr>
          <a:lstStyle/>
          <a:p>
            <a:pPr algn="ctr"/>
            <a:r>
              <a:rPr lang="es-ES" b="1" dirty="0" err="1">
                <a:latin typeface="Arial Narrow" pitchFamily="34" charset="0"/>
              </a:rPr>
              <a:t>C1</a:t>
            </a:r>
            <a:r>
              <a:rPr lang="es-ES" b="1" dirty="0">
                <a:latin typeface="Arial Narrow" pitchFamily="34" charset="0"/>
              </a:rPr>
              <a:t>&lt;=1/2(C1+C2+C3) </a:t>
            </a:r>
            <a:r>
              <a:rPr lang="es-ES" b="1" dirty="0">
                <a:latin typeface="Arial Narrow" pitchFamily="34" charset="0"/>
                <a:sym typeface="Wingdings" panose="05000000000000000000" pitchFamily="2" charset="2"/>
              </a:rPr>
              <a:t>  </a:t>
            </a:r>
            <a:r>
              <a:rPr lang="es-ES" b="1" dirty="0">
                <a:latin typeface="Arial Narrow" pitchFamily="34" charset="0"/>
              </a:rPr>
              <a:t>2C1&lt;=</a:t>
            </a:r>
            <a:r>
              <a:rPr lang="es-ES" b="1" dirty="0" err="1">
                <a:latin typeface="Arial Narrow" pitchFamily="34" charset="0"/>
              </a:rPr>
              <a:t>C1+C2+C3</a:t>
            </a:r>
            <a:r>
              <a:rPr lang="es-ES" b="1" dirty="0">
                <a:latin typeface="Arial Narrow" pitchFamily="34" charset="0"/>
                <a:sym typeface="Wingdings" panose="05000000000000000000" pitchFamily="2" charset="2"/>
              </a:rPr>
              <a:t> </a:t>
            </a:r>
            <a:r>
              <a:rPr lang="es-ES" b="1" dirty="0">
                <a:latin typeface="Arial Narrow" pitchFamily="34" charset="0"/>
              </a:rPr>
              <a:t>C1-C2-C3&lt;=0</a:t>
            </a:r>
            <a:endParaRPr lang="es-PE" b="1" dirty="0">
              <a:latin typeface="Arial Narrow" pitchFamily="34" charset="0"/>
            </a:endParaRPr>
          </a:p>
        </p:txBody>
      </p:sp>
      <p:sp>
        <p:nvSpPr>
          <p:cNvPr id="10" name="1 Rectángulo">
            <a:extLst>
              <a:ext uri="{FF2B5EF4-FFF2-40B4-BE49-F238E27FC236}">
                <a16:creationId xmlns:a16="http://schemas.microsoft.com/office/drawing/2014/main" id="{7233A69F-893B-44AA-AFD6-D761B49F08E6}"/>
              </a:ext>
            </a:extLst>
          </p:cNvPr>
          <p:cNvSpPr/>
          <p:nvPr/>
        </p:nvSpPr>
        <p:spPr>
          <a:xfrm>
            <a:off x="511024" y="3373339"/>
            <a:ext cx="4585412" cy="3477875"/>
          </a:xfrm>
          <a:prstGeom prst="rect">
            <a:avLst/>
          </a:prstGeom>
          <a:solidFill>
            <a:srgbClr val="FFFF00"/>
          </a:solidFill>
        </p:spPr>
        <p:txBody>
          <a:bodyPr wrap="square">
            <a:spAutoFit/>
          </a:bodyPr>
          <a:lstStyle/>
          <a:p>
            <a:r>
              <a:rPr lang="es-PE" sz="2000" b="1" dirty="0">
                <a:latin typeface="Arial Narrow" pitchFamily="34" charset="0"/>
              </a:rPr>
              <a:t>MIN  </a:t>
            </a:r>
            <a:r>
              <a:rPr lang="es-PE" sz="2000" b="1" dirty="0" err="1">
                <a:latin typeface="Arial Narrow" pitchFamily="34" charset="0"/>
              </a:rPr>
              <a:t>800C1</a:t>
            </a:r>
            <a:r>
              <a:rPr lang="es-PE" sz="2000" b="1" dirty="0">
                <a:latin typeface="Arial Narrow" pitchFamily="34" charset="0"/>
              </a:rPr>
              <a:t> + </a:t>
            </a:r>
            <a:r>
              <a:rPr lang="es-PE" sz="2000" b="1" dirty="0" err="1">
                <a:latin typeface="Arial Narrow" pitchFamily="34" charset="0"/>
              </a:rPr>
              <a:t>650C2</a:t>
            </a:r>
            <a:r>
              <a:rPr lang="es-PE" sz="2000" b="1" dirty="0">
                <a:latin typeface="Arial Narrow" pitchFamily="34" charset="0"/>
              </a:rPr>
              <a:t> + </a:t>
            </a:r>
            <a:r>
              <a:rPr lang="es-PE" sz="2000" b="1" dirty="0" err="1">
                <a:latin typeface="Arial Narrow" pitchFamily="34" charset="0"/>
              </a:rPr>
              <a:t>500C3</a:t>
            </a:r>
            <a:endParaRPr lang="es-PE" sz="2000" b="1" dirty="0">
              <a:latin typeface="Arial Narrow" pitchFamily="34" charset="0"/>
            </a:endParaRPr>
          </a:p>
          <a:p>
            <a:r>
              <a:rPr lang="es-PE" sz="2000" b="1" dirty="0" err="1">
                <a:solidFill>
                  <a:srgbClr val="FF0000"/>
                </a:solidFill>
                <a:latin typeface="Arial Narrow" pitchFamily="34" charset="0"/>
              </a:rPr>
              <a:t>ST</a:t>
            </a:r>
            <a:endParaRPr lang="es-PE" sz="2000" b="1" dirty="0">
              <a:solidFill>
                <a:srgbClr val="FF0000"/>
              </a:solidFill>
              <a:latin typeface="Arial Narrow" pitchFamily="34" charset="0"/>
            </a:endParaRPr>
          </a:p>
          <a:p>
            <a:r>
              <a:rPr lang="es-PE" sz="2000" b="1" dirty="0" err="1">
                <a:latin typeface="Arial Narrow" pitchFamily="34" charset="0"/>
              </a:rPr>
              <a:t>50000C1</a:t>
            </a:r>
            <a:r>
              <a:rPr lang="es-PE" sz="2000" b="1" dirty="0">
                <a:latin typeface="Arial Narrow" pitchFamily="34" charset="0"/>
              </a:rPr>
              <a:t>    +</a:t>
            </a:r>
            <a:r>
              <a:rPr lang="es-PE" sz="2000" b="1" dirty="0" err="1">
                <a:latin typeface="Arial Narrow" pitchFamily="34" charset="0"/>
              </a:rPr>
              <a:t>40000C2</a:t>
            </a:r>
            <a:r>
              <a:rPr lang="es-PE" sz="2000" b="1" dirty="0">
                <a:latin typeface="Arial Narrow" pitchFamily="34" charset="0"/>
              </a:rPr>
              <a:t> + </a:t>
            </a:r>
            <a:r>
              <a:rPr lang="es-PE" sz="2000" b="1" dirty="0" err="1">
                <a:latin typeface="Arial Narrow" pitchFamily="34" charset="0"/>
              </a:rPr>
              <a:t>25000C3</a:t>
            </a:r>
            <a:r>
              <a:rPr lang="es-PE" sz="2000" b="1" dirty="0">
                <a:latin typeface="Arial Narrow" pitchFamily="34" charset="0"/>
              </a:rPr>
              <a:t> &lt;= 5000000</a:t>
            </a:r>
          </a:p>
          <a:p>
            <a:r>
              <a:rPr lang="es-PE" sz="2000" b="1" dirty="0">
                <a:latin typeface="Arial Narrow" pitchFamily="34" charset="0"/>
              </a:rPr>
              <a:t> </a:t>
            </a:r>
            <a:r>
              <a:rPr lang="es-PE" sz="2000" b="1" dirty="0" err="1">
                <a:latin typeface="Arial Narrow" pitchFamily="34" charset="0"/>
              </a:rPr>
              <a:t>120000C1</a:t>
            </a:r>
            <a:r>
              <a:rPr lang="es-PE" sz="2000" b="1" dirty="0">
                <a:latin typeface="Arial Narrow" pitchFamily="34" charset="0"/>
              </a:rPr>
              <a:t> +</a:t>
            </a:r>
            <a:r>
              <a:rPr lang="es-PE" sz="2000" b="1" dirty="0" err="1">
                <a:latin typeface="Arial Narrow" pitchFamily="34" charset="0"/>
              </a:rPr>
              <a:t>75000C2</a:t>
            </a:r>
            <a:r>
              <a:rPr lang="es-PE" sz="2000" b="1" dirty="0">
                <a:latin typeface="Arial Narrow" pitchFamily="34" charset="0"/>
              </a:rPr>
              <a:t> + </a:t>
            </a:r>
            <a:r>
              <a:rPr lang="es-PE" sz="2000" b="1" dirty="0" err="1">
                <a:latin typeface="Arial Narrow" pitchFamily="34" charset="0"/>
              </a:rPr>
              <a:t>60000C3</a:t>
            </a:r>
            <a:r>
              <a:rPr lang="es-PE" sz="2000" b="1" dirty="0">
                <a:latin typeface="Arial Narrow" pitchFamily="34" charset="0"/>
              </a:rPr>
              <a:t> &gt;= 800000</a:t>
            </a:r>
          </a:p>
          <a:p>
            <a:r>
              <a:rPr lang="es-PE" sz="2000" b="1" dirty="0">
                <a:latin typeface="Arial Narrow" pitchFamily="34" charset="0"/>
              </a:rPr>
              <a:t>   </a:t>
            </a:r>
            <a:r>
              <a:rPr lang="es-PE" sz="2000" b="1" dirty="0" err="1">
                <a:latin typeface="Arial Narrow" pitchFamily="34" charset="0"/>
              </a:rPr>
              <a:t>C1</a:t>
            </a:r>
            <a:r>
              <a:rPr lang="es-PE" sz="2000" b="1" dirty="0">
                <a:latin typeface="Arial Narrow" pitchFamily="34" charset="0"/>
              </a:rPr>
              <a:t>    +	</a:t>
            </a:r>
            <a:r>
              <a:rPr lang="es-PE" sz="2000" b="1" dirty="0" err="1">
                <a:latin typeface="Arial Narrow" pitchFamily="34" charset="0"/>
              </a:rPr>
              <a:t>C2</a:t>
            </a:r>
            <a:r>
              <a:rPr lang="es-PE" sz="2000" b="1" dirty="0">
                <a:latin typeface="Arial Narrow" pitchFamily="34" charset="0"/>
              </a:rPr>
              <a:t>      +	</a:t>
            </a:r>
            <a:r>
              <a:rPr lang="es-PE" sz="2000" b="1" dirty="0" err="1">
                <a:latin typeface="Arial Narrow" pitchFamily="34" charset="0"/>
              </a:rPr>
              <a:t>C3</a:t>
            </a:r>
            <a:r>
              <a:rPr lang="es-PE" sz="2000" b="1" dirty="0">
                <a:latin typeface="Arial Narrow" pitchFamily="34" charset="0"/>
              </a:rPr>
              <a:t>    &lt;= 10</a:t>
            </a:r>
          </a:p>
          <a:p>
            <a:r>
              <a:rPr lang="es-PE" sz="2000" b="1" dirty="0">
                <a:latin typeface="Arial Narrow" pitchFamily="34" charset="0"/>
              </a:rPr>
              <a:t>  </a:t>
            </a:r>
            <a:r>
              <a:rPr lang="es-PE" sz="2000" b="1" dirty="0" err="1">
                <a:latin typeface="Arial Narrow" pitchFamily="34" charset="0"/>
              </a:rPr>
              <a:t>C1</a:t>
            </a:r>
            <a:r>
              <a:rPr lang="es-PE" sz="2000" b="1" dirty="0">
                <a:latin typeface="Arial Narrow" pitchFamily="34" charset="0"/>
              </a:rPr>
              <a:t>      -	</a:t>
            </a:r>
            <a:r>
              <a:rPr lang="es-PE" sz="2000" b="1" dirty="0" err="1">
                <a:latin typeface="Arial Narrow" pitchFamily="34" charset="0"/>
              </a:rPr>
              <a:t>C2</a:t>
            </a:r>
            <a:r>
              <a:rPr lang="es-PE" sz="2000" b="1" dirty="0">
                <a:latin typeface="Arial Narrow" pitchFamily="34" charset="0"/>
              </a:rPr>
              <a:t>       -	</a:t>
            </a:r>
            <a:r>
              <a:rPr lang="es-PE" sz="2000" b="1" dirty="0" err="1">
                <a:latin typeface="Arial Narrow" pitchFamily="34" charset="0"/>
              </a:rPr>
              <a:t>C3</a:t>
            </a:r>
            <a:r>
              <a:rPr lang="es-PE" sz="2000" b="1" dirty="0">
                <a:latin typeface="Arial Narrow" pitchFamily="34" charset="0"/>
              </a:rPr>
              <a:t>    &lt;=   0</a:t>
            </a:r>
          </a:p>
          <a:p>
            <a:r>
              <a:rPr lang="es-PE" sz="2000" b="1" dirty="0">
                <a:latin typeface="Arial Narrow" pitchFamily="34" charset="0"/>
              </a:rPr>
              <a:t>		</a:t>
            </a:r>
            <a:r>
              <a:rPr lang="es-PE" sz="2000" b="1" dirty="0" err="1">
                <a:latin typeface="Arial Narrow" pitchFamily="34" charset="0"/>
              </a:rPr>
              <a:t>C3</a:t>
            </a:r>
            <a:r>
              <a:rPr lang="es-PE" sz="2000" b="1" dirty="0">
                <a:latin typeface="Arial Narrow" pitchFamily="34" charset="0"/>
              </a:rPr>
              <a:t>    &gt;=   3</a:t>
            </a:r>
          </a:p>
          <a:p>
            <a:r>
              <a:rPr lang="es-PE" sz="2000" b="1" dirty="0" err="1">
                <a:solidFill>
                  <a:srgbClr val="FF0000"/>
                </a:solidFill>
                <a:latin typeface="Arial Narrow" pitchFamily="34" charset="0"/>
              </a:rPr>
              <a:t>END</a:t>
            </a:r>
            <a:endParaRPr lang="es-PE" sz="2000" b="1" dirty="0">
              <a:solidFill>
                <a:srgbClr val="FF0000"/>
              </a:solidFill>
              <a:latin typeface="Arial Narrow" pitchFamily="34" charset="0"/>
            </a:endParaRPr>
          </a:p>
          <a:p>
            <a:r>
              <a:rPr lang="es-PE" sz="2000" b="1" dirty="0" err="1">
                <a:latin typeface="Arial Narrow" pitchFamily="34" charset="0"/>
              </a:rPr>
              <a:t>GIN</a:t>
            </a:r>
            <a:r>
              <a:rPr lang="es-PE" sz="2000" b="1" dirty="0">
                <a:latin typeface="Arial Narrow" pitchFamily="34" charset="0"/>
              </a:rPr>
              <a:t> </a:t>
            </a:r>
            <a:r>
              <a:rPr lang="es-PE" sz="2000" b="1" dirty="0" err="1">
                <a:latin typeface="Arial Narrow" pitchFamily="34" charset="0"/>
              </a:rPr>
              <a:t>C1</a:t>
            </a:r>
            <a:endParaRPr lang="es-PE" sz="2000" b="1" dirty="0">
              <a:latin typeface="Arial Narrow" pitchFamily="34" charset="0"/>
            </a:endParaRPr>
          </a:p>
          <a:p>
            <a:r>
              <a:rPr lang="es-PE" sz="2000" b="1" dirty="0" err="1">
                <a:latin typeface="Arial Narrow" pitchFamily="34" charset="0"/>
              </a:rPr>
              <a:t>GIN</a:t>
            </a:r>
            <a:r>
              <a:rPr lang="es-PE" sz="2000" b="1" dirty="0">
                <a:latin typeface="Arial Narrow" pitchFamily="34" charset="0"/>
              </a:rPr>
              <a:t> </a:t>
            </a:r>
            <a:r>
              <a:rPr lang="es-PE" sz="2000" b="1" dirty="0" err="1">
                <a:latin typeface="Arial Narrow" pitchFamily="34" charset="0"/>
              </a:rPr>
              <a:t>C2</a:t>
            </a:r>
            <a:endParaRPr lang="es-PE" sz="2000" b="1" dirty="0">
              <a:latin typeface="Arial Narrow" pitchFamily="34" charset="0"/>
            </a:endParaRPr>
          </a:p>
          <a:p>
            <a:r>
              <a:rPr lang="es-PE" sz="2000" b="1" dirty="0" err="1">
                <a:latin typeface="Arial Narrow" pitchFamily="34" charset="0"/>
              </a:rPr>
              <a:t>GIN</a:t>
            </a:r>
            <a:r>
              <a:rPr lang="es-PE" sz="2000" b="1" dirty="0">
                <a:latin typeface="Arial Narrow" pitchFamily="34" charset="0"/>
              </a:rPr>
              <a:t> </a:t>
            </a:r>
            <a:r>
              <a:rPr lang="es-PE" sz="2000" b="1" dirty="0" err="1">
                <a:latin typeface="Arial Narrow" pitchFamily="34" charset="0"/>
              </a:rPr>
              <a:t>C3</a:t>
            </a:r>
            <a:endParaRPr lang="es-PE" sz="2000" b="1" dirty="0">
              <a:latin typeface="Arial Narrow" pitchFamily="34" charset="0"/>
            </a:endParaRPr>
          </a:p>
        </p:txBody>
      </p:sp>
      <p:sp>
        <p:nvSpPr>
          <p:cNvPr id="11" name="Rectángulo 10">
            <a:extLst>
              <a:ext uri="{FF2B5EF4-FFF2-40B4-BE49-F238E27FC236}">
                <a16:creationId xmlns:a16="http://schemas.microsoft.com/office/drawing/2014/main" id="{8DB44145-E609-474D-8F14-0D815D6F5CAF}"/>
              </a:ext>
            </a:extLst>
          </p:cNvPr>
          <p:cNvSpPr/>
          <p:nvPr/>
        </p:nvSpPr>
        <p:spPr>
          <a:xfrm>
            <a:off x="3563055" y="4917640"/>
            <a:ext cx="3805169" cy="1938992"/>
          </a:xfrm>
          <a:prstGeom prst="rect">
            <a:avLst/>
          </a:prstGeom>
          <a:solidFill>
            <a:schemeClr val="accent5">
              <a:lumMod val="40000"/>
              <a:lumOff val="60000"/>
            </a:schemeClr>
          </a:solidFill>
        </p:spPr>
        <p:txBody>
          <a:bodyPr wrap="square">
            <a:spAutoFit/>
          </a:bodyPr>
          <a:lstStyle/>
          <a:p>
            <a:r>
              <a:rPr lang="en-US" sz="2000" dirty="0">
                <a:latin typeface="Arial Narrow" pitchFamily="34" charset="0"/>
              </a:rPr>
              <a:t> OBJECTIVE FUNCTION VALUE</a:t>
            </a:r>
          </a:p>
          <a:p>
            <a:r>
              <a:rPr lang="en-US" sz="2000" dirty="0">
                <a:latin typeface="Arial Narrow" pitchFamily="34" charset="0"/>
              </a:rPr>
              <a:t>        1)      6000.000</a:t>
            </a:r>
          </a:p>
          <a:p>
            <a:r>
              <a:rPr lang="en-US" sz="2000" dirty="0">
                <a:latin typeface="Arial Narrow" pitchFamily="34" charset="0"/>
              </a:rPr>
              <a:t>  VARIABLE VALUE REDUCED COST</a:t>
            </a:r>
          </a:p>
          <a:p>
            <a:r>
              <a:rPr lang="en-US" sz="2000" dirty="0">
                <a:latin typeface="Arial Narrow" pitchFamily="34" charset="0"/>
              </a:rPr>
              <a:t>        </a:t>
            </a:r>
            <a:r>
              <a:rPr lang="en-US" sz="2000" dirty="0" err="1">
                <a:latin typeface="Arial Narrow" pitchFamily="34" charset="0"/>
              </a:rPr>
              <a:t>C1</a:t>
            </a:r>
            <a:r>
              <a:rPr lang="en-US" sz="2000" dirty="0">
                <a:latin typeface="Arial Narrow" pitchFamily="34" charset="0"/>
              </a:rPr>
              <a:t>         4.000000  800.000000</a:t>
            </a:r>
          </a:p>
          <a:p>
            <a:r>
              <a:rPr lang="en-US" sz="2000" dirty="0">
                <a:latin typeface="Arial Narrow" pitchFamily="34" charset="0"/>
              </a:rPr>
              <a:t>        </a:t>
            </a:r>
            <a:r>
              <a:rPr lang="en-US" sz="2000" dirty="0" err="1">
                <a:latin typeface="Arial Narrow" pitchFamily="34" charset="0"/>
              </a:rPr>
              <a:t>C2</a:t>
            </a:r>
            <a:r>
              <a:rPr lang="en-US" sz="2000" dirty="0">
                <a:latin typeface="Arial Narrow" pitchFamily="34" charset="0"/>
              </a:rPr>
              <a:t>         2.000000  650.000000</a:t>
            </a:r>
          </a:p>
          <a:p>
            <a:r>
              <a:rPr lang="en-US" sz="2000" dirty="0">
                <a:latin typeface="Arial Narrow" pitchFamily="34" charset="0"/>
              </a:rPr>
              <a:t>        </a:t>
            </a:r>
            <a:r>
              <a:rPr lang="en-US" sz="2000" dirty="0" err="1">
                <a:latin typeface="Arial Narrow" pitchFamily="34" charset="0"/>
              </a:rPr>
              <a:t>C3</a:t>
            </a:r>
            <a:r>
              <a:rPr lang="en-US" sz="2000" dirty="0">
                <a:latin typeface="Arial Narrow" pitchFamily="34" charset="0"/>
              </a:rPr>
              <a:t>         3.000000  500.000000</a:t>
            </a:r>
          </a:p>
        </p:txBody>
      </p:sp>
      <p:sp>
        <p:nvSpPr>
          <p:cNvPr id="2" name="Rectángulo 1">
            <a:extLst>
              <a:ext uri="{FF2B5EF4-FFF2-40B4-BE49-F238E27FC236}">
                <a16:creationId xmlns:a16="http://schemas.microsoft.com/office/drawing/2014/main" id="{AE7E5ACA-77B8-4BB7-A6AA-7FD45396C74D}"/>
              </a:ext>
            </a:extLst>
          </p:cNvPr>
          <p:cNvSpPr/>
          <p:nvPr/>
        </p:nvSpPr>
        <p:spPr>
          <a:xfrm>
            <a:off x="7457871" y="2799620"/>
            <a:ext cx="4715775" cy="1015663"/>
          </a:xfrm>
          <a:prstGeom prst="rect">
            <a:avLst/>
          </a:prstGeom>
        </p:spPr>
        <p:txBody>
          <a:bodyPr wrap="square">
            <a:spAutoFit/>
          </a:bodyPr>
          <a:lstStyle/>
          <a:p>
            <a:r>
              <a:rPr lang="es-PE" sz="2000" b="1" dirty="0">
                <a:solidFill>
                  <a:srgbClr val="FF0000"/>
                </a:solidFill>
                <a:latin typeface="Arial Narrow" panose="020B0606020202030204" pitchFamily="34" charset="0"/>
              </a:rPr>
              <a:t>Identificación de las restricciones</a:t>
            </a:r>
          </a:p>
          <a:p>
            <a:r>
              <a:rPr lang="es-PE" sz="2000" b="1" dirty="0">
                <a:latin typeface="Arial Narrow" panose="020B0606020202030204" pitchFamily="34" charset="0"/>
              </a:rPr>
              <a:t>Con respecto al contrato	</a:t>
            </a:r>
          </a:p>
          <a:p>
            <a:r>
              <a:rPr lang="es-PE" sz="2000" b="1" dirty="0">
                <a:latin typeface="Arial Narrow" panose="020B0606020202030204" pitchFamily="34" charset="0"/>
              </a:rPr>
              <a:t>6000(20)</a:t>
            </a:r>
            <a:r>
              <a:rPr lang="es-PE" sz="2000" b="1" dirty="0" err="1">
                <a:latin typeface="Arial Narrow" panose="020B0606020202030204" pitchFamily="34" charset="0"/>
              </a:rPr>
              <a:t>C1+3000</a:t>
            </a:r>
            <a:r>
              <a:rPr lang="es-PE" sz="2000" b="1" dirty="0">
                <a:latin typeface="Arial Narrow" panose="020B0606020202030204" pitchFamily="34" charset="0"/>
              </a:rPr>
              <a:t>(25)</a:t>
            </a:r>
            <a:r>
              <a:rPr lang="es-PE" sz="2000" b="1" dirty="0" err="1">
                <a:latin typeface="Arial Narrow" panose="020B0606020202030204" pitchFamily="34" charset="0"/>
              </a:rPr>
              <a:t>C2+2000</a:t>
            </a:r>
            <a:r>
              <a:rPr lang="es-PE" sz="2000" b="1" dirty="0">
                <a:latin typeface="Arial Narrow" panose="020B0606020202030204" pitchFamily="34" charset="0"/>
              </a:rPr>
              <a:t>(30)</a:t>
            </a:r>
            <a:r>
              <a:rPr lang="es-PE" sz="2000" b="1" dirty="0" err="1">
                <a:latin typeface="Arial Narrow" panose="020B0606020202030204" pitchFamily="34" charset="0"/>
              </a:rPr>
              <a:t>C3</a:t>
            </a:r>
            <a:r>
              <a:rPr lang="es-PE" sz="2000" b="1" dirty="0">
                <a:latin typeface="Arial Narrow" panose="020B0606020202030204" pitchFamily="34" charset="0"/>
              </a:rPr>
              <a:t>&gt;=800000</a:t>
            </a:r>
          </a:p>
        </p:txBody>
      </p:sp>
      <p:sp>
        <p:nvSpPr>
          <p:cNvPr id="4" name="Rectángulo 3">
            <a:extLst>
              <a:ext uri="{FF2B5EF4-FFF2-40B4-BE49-F238E27FC236}">
                <a16:creationId xmlns:a16="http://schemas.microsoft.com/office/drawing/2014/main" id="{EF771F82-DBD7-426D-86ED-08B33B31963F}"/>
              </a:ext>
            </a:extLst>
          </p:cNvPr>
          <p:cNvSpPr/>
          <p:nvPr/>
        </p:nvSpPr>
        <p:spPr>
          <a:xfrm>
            <a:off x="7440620" y="3913857"/>
            <a:ext cx="4370717" cy="1323439"/>
          </a:xfrm>
          <a:prstGeom prst="rect">
            <a:avLst/>
          </a:prstGeom>
        </p:spPr>
        <p:txBody>
          <a:bodyPr wrap="square">
            <a:spAutoFit/>
          </a:bodyPr>
          <a:lstStyle/>
          <a:p>
            <a:r>
              <a:rPr lang="es-PE" sz="2000" b="1" dirty="0">
                <a:latin typeface="Arial Narrow" panose="020B0606020202030204" pitchFamily="34" charset="0"/>
              </a:rPr>
              <a:t>Con respecto a la cantidad de la flota</a:t>
            </a:r>
          </a:p>
          <a:p>
            <a:r>
              <a:rPr lang="es-PE" sz="2000" b="1" dirty="0" err="1">
                <a:latin typeface="Arial Narrow" panose="020B0606020202030204" pitchFamily="34" charset="0"/>
              </a:rPr>
              <a:t>C1+C2+C3</a:t>
            </a:r>
            <a:r>
              <a:rPr lang="es-PE" sz="2000" b="1" dirty="0">
                <a:latin typeface="Arial Narrow" panose="020B0606020202030204" pitchFamily="34" charset="0"/>
              </a:rPr>
              <a:t>&lt;=10</a:t>
            </a:r>
          </a:p>
          <a:p>
            <a:r>
              <a:rPr lang="es-PE" sz="2000" b="1" dirty="0" err="1">
                <a:latin typeface="Arial Narrow" panose="020B0606020202030204" pitchFamily="34" charset="0"/>
              </a:rPr>
              <a:t>C3</a:t>
            </a:r>
            <a:r>
              <a:rPr lang="es-PE" sz="2000" b="1" dirty="0">
                <a:latin typeface="Arial Narrow" panose="020B0606020202030204" pitchFamily="34" charset="0"/>
              </a:rPr>
              <a:t>&gt;=3</a:t>
            </a:r>
          </a:p>
          <a:p>
            <a:r>
              <a:rPr lang="es-ES" sz="2000" b="1" dirty="0" err="1">
                <a:latin typeface="Arial Narrow" panose="020B0606020202030204" pitchFamily="34" charset="0"/>
              </a:rPr>
              <a:t>C1</a:t>
            </a:r>
            <a:r>
              <a:rPr lang="es-ES" sz="2000" b="1" dirty="0">
                <a:latin typeface="Arial Narrow" panose="020B0606020202030204" pitchFamily="34" charset="0"/>
              </a:rPr>
              <a:t>&lt;=1/2(</a:t>
            </a:r>
            <a:r>
              <a:rPr lang="es-ES" sz="2000" b="1" dirty="0" err="1">
                <a:latin typeface="Arial Narrow" panose="020B0606020202030204" pitchFamily="34" charset="0"/>
              </a:rPr>
              <a:t>C1+C2+C3</a:t>
            </a:r>
            <a:r>
              <a:rPr lang="es-ES" sz="2000" b="1" dirty="0">
                <a:latin typeface="Arial Narrow" panose="020B0606020202030204" pitchFamily="34" charset="0"/>
              </a:rPr>
              <a:t>)</a:t>
            </a:r>
          </a:p>
        </p:txBody>
      </p:sp>
      <p:sp>
        <p:nvSpPr>
          <p:cNvPr id="12" name="Rectángulo 11">
            <a:extLst>
              <a:ext uri="{FF2B5EF4-FFF2-40B4-BE49-F238E27FC236}">
                <a16:creationId xmlns:a16="http://schemas.microsoft.com/office/drawing/2014/main" id="{74E4B52A-448F-419C-BB01-4BD9238FC31B}"/>
              </a:ext>
            </a:extLst>
          </p:cNvPr>
          <p:cNvSpPr/>
          <p:nvPr/>
        </p:nvSpPr>
        <p:spPr>
          <a:xfrm>
            <a:off x="7440619" y="5261485"/>
            <a:ext cx="4042913" cy="1015663"/>
          </a:xfrm>
          <a:prstGeom prst="rect">
            <a:avLst/>
          </a:prstGeom>
        </p:spPr>
        <p:txBody>
          <a:bodyPr wrap="square">
            <a:spAutoFit/>
          </a:bodyPr>
          <a:lstStyle/>
          <a:p>
            <a:r>
              <a:rPr lang="es-PE" sz="2000" b="1" dirty="0">
                <a:latin typeface="Arial Narrow" panose="020B0606020202030204" pitchFamily="34" charset="0"/>
              </a:rPr>
              <a:t>Con respecto a la inversión</a:t>
            </a:r>
          </a:p>
          <a:p>
            <a:r>
              <a:rPr lang="es-PE" sz="2000" b="1" dirty="0" err="1">
                <a:latin typeface="Arial Narrow" panose="020B0606020202030204" pitchFamily="34" charset="0"/>
              </a:rPr>
              <a:t>50000C1+40000C2+25000C3</a:t>
            </a:r>
            <a:r>
              <a:rPr lang="es-PE" sz="2000" b="1" dirty="0">
                <a:latin typeface="Arial Narrow" panose="020B0606020202030204" pitchFamily="34" charset="0"/>
              </a:rPr>
              <a:t>&lt;=5000000	 </a:t>
            </a:r>
          </a:p>
        </p:txBody>
      </p:sp>
      <p:sp>
        <p:nvSpPr>
          <p:cNvPr id="13" name="Rectángulo 12">
            <a:extLst>
              <a:ext uri="{FF2B5EF4-FFF2-40B4-BE49-F238E27FC236}">
                <a16:creationId xmlns:a16="http://schemas.microsoft.com/office/drawing/2014/main" id="{09A97621-8D25-4D69-94FB-30FDCA991B55}"/>
              </a:ext>
            </a:extLst>
          </p:cNvPr>
          <p:cNvSpPr/>
          <p:nvPr/>
        </p:nvSpPr>
        <p:spPr>
          <a:xfrm>
            <a:off x="7466498" y="6047443"/>
            <a:ext cx="3922144" cy="707886"/>
          </a:xfrm>
          <a:prstGeom prst="rect">
            <a:avLst/>
          </a:prstGeom>
        </p:spPr>
        <p:txBody>
          <a:bodyPr wrap="square">
            <a:spAutoFit/>
          </a:bodyPr>
          <a:lstStyle/>
          <a:p>
            <a:r>
              <a:rPr lang="es-PE" sz="2000" b="1" dirty="0">
                <a:latin typeface="Arial Narrow" panose="020B0606020202030204" pitchFamily="34" charset="0"/>
              </a:rPr>
              <a:t>Con respecto a la no negatividad</a:t>
            </a:r>
          </a:p>
          <a:p>
            <a:r>
              <a:rPr lang="es-PE" sz="2000" b="1" dirty="0">
                <a:latin typeface="Arial Narrow" panose="020B0606020202030204" pitchFamily="34" charset="0"/>
              </a:rPr>
              <a:t>		Ci≥ 0, </a:t>
            </a:r>
            <a:r>
              <a:rPr lang="es-PE" sz="2000" b="1" dirty="0">
                <a:solidFill>
                  <a:srgbClr val="FF0000"/>
                </a:solidFill>
                <a:latin typeface="Arial Narrow" panose="020B0606020202030204" pitchFamily="34" charset="0"/>
              </a:rPr>
              <a:t>ENTERA</a:t>
            </a:r>
            <a:endParaRPr lang="es-PE" sz="2000" dirty="0">
              <a:solidFill>
                <a:srgbClr val="FF0000"/>
              </a:solidFill>
            </a:endParaRPr>
          </a:p>
        </p:txBody>
      </p:sp>
      <p:sp>
        <p:nvSpPr>
          <p:cNvPr id="14" name="Rectángulo 13">
            <a:extLst>
              <a:ext uri="{FF2B5EF4-FFF2-40B4-BE49-F238E27FC236}">
                <a16:creationId xmlns:a16="http://schemas.microsoft.com/office/drawing/2014/main" id="{5DA3C811-FE93-463E-9337-51A3D0B3329D}"/>
              </a:ext>
            </a:extLst>
          </p:cNvPr>
          <p:cNvSpPr/>
          <p:nvPr/>
        </p:nvSpPr>
        <p:spPr>
          <a:xfrm>
            <a:off x="7501004" y="2027533"/>
            <a:ext cx="4413850" cy="707886"/>
          </a:xfrm>
          <a:prstGeom prst="rect">
            <a:avLst/>
          </a:prstGeom>
        </p:spPr>
        <p:txBody>
          <a:bodyPr wrap="square">
            <a:spAutoFit/>
          </a:bodyPr>
          <a:lstStyle/>
          <a:p>
            <a:r>
              <a:rPr lang="es-PE" sz="2000" b="1" dirty="0">
                <a:solidFill>
                  <a:srgbClr val="FF0000"/>
                </a:solidFill>
                <a:latin typeface="Arial Narrow" panose="020B0606020202030204" pitchFamily="34" charset="0"/>
              </a:rPr>
              <a:t>Identificación de la Función Objetivo</a:t>
            </a:r>
          </a:p>
          <a:p>
            <a:r>
              <a:rPr lang="es-PE" sz="2000" b="1" dirty="0">
                <a:latin typeface="Arial Narrow" panose="020B0606020202030204" pitchFamily="34" charset="0"/>
              </a:rPr>
              <a:t>MIN </a:t>
            </a:r>
            <a:r>
              <a:rPr lang="es-PE" sz="2000" b="1" dirty="0" err="1">
                <a:latin typeface="Arial Narrow" panose="020B0606020202030204" pitchFamily="34" charset="0"/>
              </a:rPr>
              <a:t>800C1+650C2+500C3</a:t>
            </a:r>
            <a:endParaRPr lang="es-PE" sz="2000" dirty="0"/>
          </a:p>
        </p:txBody>
      </p:sp>
      <p:graphicFrame>
        <p:nvGraphicFramePr>
          <p:cNvPr id="3" name="2 Tabla">
            <a:extLst>
              <a:ext uri="{FF2B5EF4-FFF2-40B4-BE49-F238E27FC236}">
                <a16:creationId xmlns:a16="http://schemas.microsoft.com/office/drawing/2014/main" id="{15361C62-1EE9-6D1E-0FA8-C5C156B248B5}"/>
              </a:ext>
            </a:extLst>
          </p:cNvPr>
          <p:cNvGraphicFramePr>
            <a:graphicFrameLocks noGrp="1"/>
          </p:cNvGraphicFramePr>
          <p:nvPr/>
        </p:nvGraphicFramePr>
        <p:xfrm>
          <a:off x="543119" y="1727369"/>
          <a:ext cx="5544256" cy="1650148"/>
        </p:xfrm>
        <a:graphic>
          <a:graphicData uri="http://schemas.openxmlformats.org/drawingml/2006/table">
            <a:tbl>
              <a:tblPr firstRow="1" firstCol="1" bandRow="1">
                <a:tableStyleId>{5C22544A-7EE6-4342-B048-85BDC9FD1C3A}</a:tableStyleId>
              </a:tblPr>
              <a:tblGrid>
                <a:gridCol w="1108589">
                  <a:extLst>
                    <a:ext uri="{9D8B030D-6E8A-4147-A177-3AD203B41FA5}">
                      <a16:colId xmlns:a16="http://schemas.microsoft.com/office/drawing/2014/main" val="20000"/>
                    </a:ext>
                  </a:extLst>
                </a:gridCol>
                <a:gridCol w="1108589">
                  <a:extLst>
                    <a:ext uri="{9D8B030D-6E8A-4147-A177-3AD203B41FA5}">
                      <a16:colId xmlns:a16="http://schemas.microsoft.com/office/drawing/2014/main" val="20001"/>
                    </a:ext>
                  </a:extLst>
                </a:gridCol>
                <a:gridCol w="975428">
                  <a:extLst>
                    <a:ext uri="{9D8B030D-6E8A-4147-A177-3AD203B41FA5}">
                      <a16:colId xmlns:a16="http://schemas.microsoft.com/office/drawing/2014/main" val="20002"/>
                    </a:ext>
                  </a:extLst>
                </a:gridCol>
                <a:gridCol w="1128370">
                  <a:extLst>
                    <a:ext uri="{9D8B030D-6E8A-4147-A177-3AD203B41FA5}">
                      <a16:colId xmlns:a16="http://schemas.microsoft.com/office/drawing/2014/main" val="20003"/>
                    </a:ext>
                  </a:extLst>
                </a:gridCol>
                <a:gridCol w="1223280">
                  <a:extLst>
                    <a:ext uri="{9D8B030D-6E8A-4147-A177-3AD203B41FA5}">
                      <a16:colId xmlns:a16="http://schemas.microsoft.com/office/drawing/2014/main" val="20004"/>
                    </a:ext>
                  </a:extLst>
                </a:gridCol>
              </a:tblGrid>
              <a:tr h="605182">
                <a:tc>
                  <a:txBody>
                    <a:bodyPr/>
                    <a:lstStyle/>
                    <a:p>
                      <a:pPr algn="ctr">
                        <a:lnSpc>
                          <a:spcPct val="100000"/>
                        </a:lnSpc>
                        <a:spcAft>
                          <a:spcPts val="0"/>
                        </a:spcAft>
                      </a:pPr>
                      <a:r>
                        <a:rPr lang="es-ES" sz="1800" b="1" dirty="0">
                          <a:effectLst/>
                          <a:latin typeface="Arial Narrow" panose="020B0606020202030204" pitchFamily="34" charset="0"/>
                        </a:rPr>
                        <a:t>Tipo de camión</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Capacidad (gal)</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Costo de compra</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Costo de operación</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Máximo de viajes/mes</a:t>
                      </a:r>
                      <a:endParaRPr lang="es-PE" sz="18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0"/>
                  </a:ext>
                </a:extLst>
              </a:tr>
              <a:tr h="348322">
                <a:tc>
                  <a:txBody>
                    <a:bodyPr/>
                    <a:lstStyle/>
                    <a:p>
                      <a:pPr algn="ctr">
                        <a:lnSpc>
                          <a:spcPct val="100000"/>
                        </a:lnSpc>
                        <a:spcAft>
                          <a:spcPts val="0"/>
                        </a:spcAft>
                      </a:pPr>
                      <a:r>
                        <a:rPr lang="es-ES" sz="1800" b="1" dirty="0">
                          <a:effectLst/>
                          <a:latin typeface="Arial Narrow" panose="020B0606020202030204" pitchFamily="34" charset="0"/>
                        </a:rPr>
                        <a:t>1</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6000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50000</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800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20</a:t>
                      </a:r>
                      <a:endParaRPr lang="es-PE" sz="18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1"/>
                  </a:ext>
                </a:extLst>
              </a:tr>
              <a:tr h="348322">
                <a:tc>
                  <a:txBody>
                    <a:bodyPr/>
                    <a:lstStyle/>
                    <a:p>
                      <a:pPr algn="ctr">
                        <a:lnSpc>
                          <a:spcPct val="100000"/>
                        </a:lnSpc>
                        <a:spcAft>
                          <a:spcPts val="0"/>
                        </a:spcAft>
                      </a:pPr>
                      <a:r>
                        <a:rPr lang="es-ES" sz="1800" b="1" dirty="0">
                          <a:effectLst/>
                          <a:latin typeface="Arial Narrow" panose="020B0606020202030204" pitchFamily="34" charset="0"/>
                        </a:rPr>
                        <a:t>2</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3000</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40000</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650</a:t>
                      </a:r>
                      <a:endParaRPr lang="es-PE" sz="1800" b="1">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a:effectLst/>
                          <a:latin typeface="Arial Narrow" panose="020B0606020202030204" pitchFamily="34" charset="0"/>
                        </a:rPr>
                        <a:t>25</a:t>
                      </a:r>
                      <a:endParaRPr lang="es-PE" sz="18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2"/>
                  </a:ext>
                </a:extLst>
              </a:tr>
              <a:tr h="348322">
                <a:tc>
                  <a:txBody>
                    <a:bodyPr/>
                    <a:lstStyle/>
                    <a:p>
                      <a:pPr algn="ctr">
                        <a:lnSpc>
                          <a:spcPct val="100000"/>
                        </a:lnSpc>
                        <a:spcAft>
                          <a:spcPts val="0"/>
                        </a:spcAft>
                      </a:pPr>
                      <a:r>
                        <a:rPr lang="es-ES" sz="1800" b="1" dirty="0">
                          <a:effectLst/>
                          <a:latin typeface="Arial Narrow" panose="020B0606020202030204" pitchFamily="34" charset="0"/>
                        </a:rPr>
                        <a:t>3</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2000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25000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500</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1800" b="1" dirty="0">
                          <a:effectLst/>
                          <a:latin typeface="Arial Narrow" panose="020B0606020202030204" pitchFamily="34" charset="0"/>
                        </a:rPr>
                        <a:t>30</a:t>
                      </a:r>
                      <a:endParaRPr lang="es-PE" sz="18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2189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2" grpId="0"/>
      <p:bldP spid="4" grpId="0"/>
      <p:bldP spid="12" grpId="0"/>
      <p:bldP spid="13" grpId="0"/>
      <p:bldP spid="1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341377" y="1196753"/>
            <a:ext cx="11131294" cy="1631216"/>
          </a:xfrm>
          <a:prstGeom prst="rect">
            <a:avLst/>
          </a:prstGeom>
        </p:spPr>
        <p:txBody>
          <a:bodyPr wrap="square">
            <a:spAutoFit/>
          </a:bodyPr>
          <a:lstStyle/>
          <a:p>
            <a:pPr algn="just"/>
            <a:r>
              <a:rPr lang="es-PE" sz="2000" b="1" dirty="0"/>
              <a:t>LATAM reabastece sus aeronaves  en los cuatro aeropuertos en donde da servicio. La turbosina puede comprarse a tres vendedores posibles en cada aeropuerto. La tabla indica (1) el costo de entrega (compra más embarque) por mil galones de cada vendedor a cada aeropuerto, (2) el número disponible de miles de galones que cada vendedor puede suministrar cada mes y (3) el requerimiento mensual de turbosina (en miles de galones) en cada aeropuerto. En la tabla se muestra el costo de entrega.</a:t>
            </a:r>
          </a:p>
        </p:txBody>
      </p:sp>
      <p:sp>
        <p:nvSpPr>
          <p:cNvPr id="4" name="3 Rectángulo"/>
          <p:cNvSpPr/>
          <p:nvPr/>
        </p:nvSpPr>
        <p:spPr>
          <a:xfrm>
            <a:off x="263737" y="4768668"/>
            <a:ext cx="11131295" cy="1015663"/>
          </a:xfrm>
          <a:prstGeom prst="rect">
            <a:avLst/>
          </a:prstGeom>
        </p:spPr>
        <p:txBody>
          <a:bodyPr wrap="square">
            <a:spAutoFit/>
          </a:bodyPr>
          <a:lstStyle/>
          <a:p>
            <a:pPr algn="just"/>
            <a:r>
              <a:rPr lang="es-PE" sz="2000" b="1" dirty="0"/>
              <a:t>Formule un modelo para determinar las cantidades que se deben comprar y enviar por parte de cada vendedor a cada aeropuerto para minimizar el costo total, satisfaciendo al mismo tiempo por lo menos la demanda mensual a cada aeropuerto y no excediendo el suministro de cualquier vendedor. </a:t>
            </a:r>
          </a:p>
        </p:txBody>
      </p:sp>
      <p:sp>
        <p:nvSpPr>
          <p:cNvPr id="5" name="Rectangle 2"/>
          <p:cNvSpPr>
            <a:spLocks noGrp="1" noChangeArrowheads="1"/>
          </p:cNvSpPr>
          <p:nvPr>
            <p:ph type="title"/>
          </p:nvPr>
        </p:nvSpPr>
        <p:spPr>
          <a:xfrm>
            <a:off x="6096000" y="254942"/>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19</a:t>
            </a:r>
          </a:p>
        </p:txBody>
      </p:sp>
      <p:pic>
        <p:nvPicPr>
          <p:cNvPr id="7" name="Imagen 6">
            <a:extLst>
              <a:ext uri="{FF2B5EF4-FFF2-40B4-BE49-F238E27FC236}">
                <a16:creationId xmlns:a16="http://schemas.microsoft.com/office/drawing/2014/main" id="{11ACC080-4636-472D-A81B-E9158DC785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6627" y="2759599"/>
            <a:ext cx="3492088" cy="1809431"/>
          </a:xfrm>
          <a:prstGeom prst="rect">
            <a:avLst/>
          </a:prstGeom>
        </p:spPr>
      </p:pic>
      <p:graphicFrame>
        <p:nvGraphicFramePr>
          <p:cNvPr id="8" name="2 Tabla">
            <a:extLst>
              <a:ext uri="{FF2B5EF4-FFF2-40B4-BE49-F238E27FC236}">
                <a16:creationId xmlns:a16="http://schemas.microsoft.com/office/drawing/2014/main" id="{0FA74B5C-B1AA-4F2C-B131-C05046DD49B2}"/>
              </a:ext>
            </a:extLst>
          </p:cNvPr>
          <p:cNvGraphicFramePr>
            <a:graphicFrameLocks noGrp="1"/>
          </p:cNvGraphicFramePr>
          <p:nvPr/>
        </p:nvGraphicFramePr>
        <p:xfrm>
          <a:off x="139749" y="2780684"/>
          <a:ext cx="5956251" cy="1767978"/>
        </p:xfrm>
        <a:graphic>
          <a:graphicData uri="http://schemas.openxmlformats.org/drawingml/2006/table">
            <a:tbl>
              <a:tblPr>
                <a:tableStyleId>{5C22544A-7EE6-4342-B048-85BDC9FD1C3A}</a:tableStyleId>
              </a:tblPr>
              <a:tblGrid>
                <a:gridCol w="1119708">
                  <a:extLst>
                    <a:ext uri="{9D8B030D-6E8A-4147-A177-3AD203B41FA5}">
                      <a16:colId xmlns:a16="http://schemas.microsoft.com/office/drawing/2014/main" val="20000"/>
                    </a:ext>
                  </a:extLst>
                </a:gridCol>
                <a:gridCol w="1164566">
                  <a:extLst>
                    <a:ext uri="{9D8B030D-6E8A-4147-A177-3AD203B41FA5}">
                      <a16:colId xmlns:a16="http://schemas.microsoft.com/office/drawing/2014/main" val="20001"/>
                    </a:ext>
                  </a:extLst>
                </a:gridCol>
                <a:gridCol w="1104181">
                  <a:extLst>
                    <a:ext uri="{9D8B030D-6E8A-4147-A177-3AD203B41FA5}">
                      <a16:colId xmlns:a16="http://schemas.microsoft.com/office/drawing/2014/main" val="20002"/>
                    </a:ext>
                  </a:extLst>
                </a:gridCol>
                <a:gridCol w="1164566">
                  <a:extLst>
                    <a:ext uri="{9D8B030D-6E8A-4147-A177-3AD203B41FA5}">
                      <a16:colId xmlns:a16="http://schemas.microsoft.com/office/drawing/2014/main" val="20003"/>
                    </a:ext>
                  </a:extLst>
                </a:gridCol>
                <a:gridCol w="1403230">
                  <a:extLst>
                    <a:ext uri="{9D8B030D-6E8A-4147-A177-3AD203B41FA5}">
                      <a16:colId xmlns:a16="http://schemas.microsoft.com/office/drawing/2014/main" val="20004"/>
                    </a:ext>
                  </a:extLst>
                </a:gridCol>
              </a:tblGrid>
              <a:tr h="278925">
                <a:tc>
                  <a:txBody>
                    <a:bodyPr/>
                    <a:lstStyle/>
                    <a:p>
                      <a:pPr algn="ctr">
                        <a:lnSpc>
                          <a:spcPct val="100000"/>
                        </a:lnSpc>
                        <a:spcAft>
                          <a:spcPts val="0"/>
                        </a:spcAft>
                      </a:pPr>
                      <a:r>
                        <a:rPr lang="es-PE" sz="1800" b="1" dirty="0">
                          <a:effectLst/>
                          <a:latin typeface="Arial Narrow" panose="020B0606020202030204" pitchFamily="34" charset="0"/>
                        </a:rPr>
                        <a:t>Aeropuerto</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Vendedor 1</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Vendedor 2</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a:effectLst/>
                          <a:latin typeface="Arial Narrow" panose="020B0606020202030204" pitchFamily="34" charset="0"/>
                        </a:rPr>
                        <a:t>Vendedor 3</a:t>
                      </a:r>
                      <a:endParaRPr lang="es-PE" sz="1800" b="1">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Requerimiento</a:t>
                      </a:r>
                      <a:endParaRPr lang="es-PE" sz="1800" b="1" dirty="0">
                        <a:effectLst/>
                        <a:latin typeface="Arial Narrow" panose="020B0606020202030204" pitchFamily="34" charset="0"/>
                        <a:ea typeface="Calibri"/>
                      </a:endParaRPr>
                    </a:p>
                  </a:txBody>
                  <a:tcPr marL="44450" marR="44450" marT="0" marB="0"/>
                </a:tc>
                <a:extLst>
                  <a:ext uri="{0D108BD9-81ED-4DB2-BD59-A6C34878D82A}">
                    <a16:rowId xmlns:a16="http://schemas.microsoft.com/office/drawing/2014/main" val="10000"/>
                  </a:ext>
                </a:extLst>
              </a:tr>
              <a:tr h="973970">
                <a:tc>
                  <a:txBody>
                    <a:bodyPr/>
                    <a:lstStyle/>
                    <a:p>
                      <a:pPr algn="ctr">
                        <a:lnSpc>
                          <a:spcPct val="100000"/>
                        </a:lnSpc>
                        <a:spcAft>
                          <a:spcPts val="0"/>
                        </a:spcAft>
                      </a:pPr>
                      <a:r>
                        <a:rPr lang="es-PE" sz="1800" b="1" dirty="0">
                          <a:effectLst/>
                          <a:latin typeface="Arial Narrow" panose="020B0606020202030204" pitchFamily="34" charset="0"/>
                        </a:rPr>
                        <a:t>1</a:t>
                      </a:r>
                    </a:p>
                    <a:p>
                      <a:pPr algn="ctr">
                        <a:lnSpc>
                          <a:spcPct val="100000"/>
                        </a:lnSpc>
                        <a:spcAft>
                          <a:spcPts val="0"/>
                        </a:spcAft>
                      </a:pPr>
                      <a:r>
                        <a:rPr lang="es-PE" sz="1800" b="1" dirty="0">
                          <a:effectLst/>
                          <a:latin typeface="Arial Narrow" panose="020B0606020202030204" pitchFamily="34" charset="0"/>
                        </a:rPr>
                        <a:t>2</a:t>
                      </a:r>
                    </a:p>
                    <a:p>
                      <a:pPr algn="ctr">
                        <a:lnSpc>
                          <a:spcPct val="100000"/>
                        </a:lnSpc>
                        <a:spcAft>
                          <a:spcPts val="0"/>
                        </a:spcAft>
                      </a:pPr>
                      <a:r>
                        <a:rPr lang="es-PE" sz="1800" b="1" dirty="0">
                          <a:effectLst/>
                          <a:latin typeface="Arial Narrow" panose="020B0606020202030204" pitchFamily="34" charset="0"/>
                        </a:rPr>
                        <a:t>3</a:t>
                      </a:r>
                    </a:p>
                    <a:p>
                      <a:pPr algn="ctr">
                        <a:lnSpc>
                          <a:spcPct val="100000"/>
                        </a:lnSpc>
                        <a:spcAft>
                          <a:spcPts val="0"/>
                        </a:spcAft>
                      </a:pPr>
                      <a:r>
                        <a:rPr lang="es-PE" sz="1800" b="1" dirty="0">
                          <a:effectLst/>
                          <a:latin typeface="Arial Narrow" panose="020B0606020202030204" pitchFamily="34" charset="0"/>
                        </a:rPr>
                        <a:t>4</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900</a:t>
                      </a:r>
                    </a:p>
                    <a:p>
                      <a:pPr algn="ctr">
                        <a:lnSpc>
                          <a:spcPct val="100000"/>
                        </a:lnSpc>
                        <a:spcAft>
                          <a:spcPts val="0"/>
                        </a:spcAft>
                      </a:pPr>
                      <a:r>
                        <a:rPr lang="es-PE" sz="1800" b="1" dirty="0">
                          <a:effectLst/>
                          <a:latin typeface="Arial Narrow" panose="020B0606020202030204" pitchFamily="34" charset="0"/>
                        </a:rPr>
                        <a:t>900</a:t>
                      </a:r>
                    </a:p>
                    <a:p>
                      <a:pPr algn="ctr">
                        <a:lnSpc>
                          <a:spcPct val="100000"/>
                        </a:lnSpc>
                        <a:spcAft>
                          <a:spcPts val="0"/>
                        </a:spcAft>
                      </a:pPr>
                      <a:r>
                        <a:rPr lang="es-PE" sz="1800" b="1" dirty="0">
                          <a:effectLst/>
                          <a:latin typeface="Arial Narrow" panose="020B0606020202030204" pitchFamily="34" charset="0"/>
                        </a:rPr>
                        <a:t>800</a:t>
                      </a:r>
                    </a:p>
                    <a:p>
                      <a:pPr algn="ctr">
                        <a:lnSpc>
                          <a:spcPct val="100000"/>
                        </a:lnSpc>
                        <a:spcAft>
                          <a:spcPts val="0"/>
                        </a:spcAft>
                      </a:pPr>
                      <a:r>
                        <a:rPr lang="es-PE" sz="1800" b="1" dirty="0">
                          <a:effectLst/>
                          <a:latin typeface="Arial Narrow" panose="020B0606020202030204" pitchFamily="34" charset="0"/>
                        </a:rPr>
                        <a:t>1000</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800</a:t>
                      </a:r>
                    </a:p>
                    <a:p>
                      <a:pPr algn="ctr">
                        <a:lnSpc>
                          <a:spcPct val="100000"/>
                        </a:lnSpc>
                        <a:spcAft>
                          <a:spcPts val="0"/>
                        </a:spcAft>
                      </a:pPr>
                      <a:r>
                        <a:rPr lang="es-PE" sz="1800" b="1" dirty="0">
                          <a:effectLst/>
                          <a:latin typeface="Arial Narrow" panose="020B0606020202030204" pitchFamily="34" charset="0"/>
                        </a:rPr>
                        <a:t>1200</a:t>
                      </a:r>
                    </a:p>
                    <a:p>
                      <a:pPr algn="ctr">
                        <a:lnSpc>
                          <a:spcPct val="100000"/>
                        </a:lnSpc>
                        <a:spcAft>
                          <a:spcPts val="0"/>
                        </a:spcAft>
                      </a:pPr>
                      <a:r>
                        <a:rPr lang="es-PE" sz="1800" b="1" dirty="0">
                          <a:effectLst/>
                          <a:latin typeface="Arial Narrow" panose="020B0606020202030204" pitchFamily="34" charset="0"/>
                        </a:rPr>
                        <a:t>1300</a:t>
                      </a:r>
                    </a:p>
                    <a:p>
                      <a:pPr algn="ctr">
                        <a:lnSpc>
                          <a:spcPct val="100000"/>
                        </a:lnSpc>
                        <a:spcAft>
                          <a:spcPts val="0"/>
                        </a:spcAft>
                      </a:pPr>
                      <a:r>
                        <a:rPr lang="es-PE" sz="1800" b="1" dirty="0">
                          <a:effectLst/>
                          <a:latin typeface="Arial Narrow" panose="020B0606020202030204" pitchFamily="34" charset="0"/>
                        </a:rPr>
                        <a:t>1400</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900</a:t>
                      </a:r>
                    </a:p>
                    <a:p>
                      <a:pPr algn="ctr">
                        <a:lnSpc>
                          <a:spcPct val="100000"/>
                        </a:lnSpc>
                        <a:spcAft>
                          <a:spcPts val="0"/>
                        </a:spcAft>
                      </a:pPr>
                      <a:r>
                        <a:rPr lang="es-PE" sz="1800" b="1" dirty="0">
                          <a:effectLst/>
                          <a:latin typeface="Arial Narrow" panose="020B0606020202030204" pitchFamily="34" charset="0"/>
                        </a:rPr>
                        <a:t>1300</a:t>
                      </a:r>
                    </a:p>
                    <a:p>
                      <a:pPr algn="ctr">
                        <a:lnSpc>
                          <a:spcPct val="100000"/>
                        </a:lnSpc>
                        <a:spcAft>
                          <a:spcPts val="0"/>
                        </a:spcAft>
                      </a:pPr>
                      <a:r>
                        <a:rPr lang="es-PE" sz="1800" b="1" dirty="0">
                          <a:effectLst/>
                          <a:latin typeface="Arial Narrow" panose="020B0606020202030204" pitchFamily="34" charset="0"/>
                        </a:rPr>
                        <a:t>500</a:t>
                      </a:r>
                    </a:p>
                    <a:p>
                      <a:pPr algn="ctr">
                        <a:lnSpc>
                          <a:spcPct val="100000"/>
                        </a:lnSpc>
                        <a:spcAft>
                          <a:spcPts val="0"/>
                        </a:spcAft>
                      </a:pPr>
                      <a:r>
                        <a:rPr lang="es-PE" sz="1800" b="1" dirty="0">
                          <a:effectLst/>
                          <a:latin typeface="Arial Narrow" panose="020B0606020202030204" pitchFamily="34" charset="0"/>
                        </a:rPr>
                        <a:t>1000</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150</a:t>
                      </a:r>
                    </a:p>
                    <a:p>
                      <a:pPr algn="ctr">
                        <a:lnSpc>
                          <a:spcPct val="100000"/>
                        </a:lnSpc>
                        <a:spcAft>
                          <a:spcPts val="0"/>
                        </a:spcAft>
                      </a:pPr>
                      <a:r>
                        <a:rPr lang="es-PE" sz="1800" b="1" dirty="0">
                          <a:effectLst/>
                          <a:latin typeface="Arial Narrow" panose="020B0606020202030204" pitchFamily="34" charset="0"/>
                        </a:rPr>
                        <a:t>250</a:t>
                      </a:r>
                    </a:p>
                    <a:p>
                      <a:pPr algn="ctr">
                        <a:lnSpc>
                          <a:spcPct val="100000"/>
                        </a:lnSpc>
                        <a:spcAft>
                          <a:spcPts val="0"/>
                        </a:spcAft>
                      </a:pPr>
                      <a:r>
                        <a:rPr lang="es-PE" sz="1800" b="1" dirty="0">
                          <a:effectLst/>
                          <a:latin typeface="Arial Narrow" panose="020B0606020202030204" pitchFamily="34" charset="0"/>
                        </a:rPr>
                        <a:t>350</a:t>
                      </a:r>
                    </a:p>
                    <a:p>
                      <a:pPr algn="ctr">
                        <a:lnSpc>
                          <a:spcPct val="100000"/>
                        </a:lnSpc>
                        <a:spcAft>
                          <a:spcPts val="0"/>
                        </a:spcAft>
                      </a:pPr>
                      <a:r>
                        <a:rPr lang="es-PE" sz="1800" b="1" dirty="0">
                          <a:effectLst/>
                          <a:latin typeface="Arial Narrow" panose="020B0606020202030204" pitchFamily="34" charset="0"/>
                        </a:rPr>
                        <a:t>480</a:t>
                      </a:r>
                      <a:endParaRPr lang="es-PE" sz="1800" b="1" dirty="0">
                        <a:effectLst/>
                        <a:latin typeface="Arial Narrow" panose="020B0606020202030204" pitchFamily="34" charset="0"/>
                        <a:ea typeface="Calibri"/>
                      </a:endParaRPr>
                    </a:p>
                  </a:txBody>
                  <a:tcPr marL="44450" marR="44450" marT="0" marB="0"/>
                </a:tc>
                <a:extLst>
                  <a:ext uri="{0D108BD9-81ED-4DB2-BD59-A6C34878D82A}">
                    <a16:rowId xmlns:a16="http://schemas.microsoft.com/office/drawing/2014/main" val="10001"/>
                  </a:ext>
                </a:extLst>
              </a:tr>
              <a:tr h="391773">
                <a:tc>
                  <a:txBody>
                    <a:bodyPr/>
                    <a:lstStyle/>
                    <a:p>
                      <a:pPr algn="ctr">
                        <a:lnSpc>
                          <a:spcPct val="150000"/>
                        </a:lnSpc>
                        <a:spcAft>
                          <a:spcPts val="0"/>
                        </a:spcAft>
                      </a:pPr>
                      <a:r>
                        <a:rPr lang="es-PE" sz="1800" b="1" dirty="0">
                          <a:effectLst/>
                          <a:latin typeface="Arial Narrow" panose="020B0606020202030204" pitchFamily="34" charset="0"/>
                        </a:rPr>
                        <a:t>Provisión</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50000"/>
                        </a:lnSpc>
                        <a:spcAft>
                          <a:spcPts val="0"/>
                        </a:spcAft>
                      </a:pPr>
                      <a:r>
                        <a:rPr lang="es-PE" sz="1800" b="1">
                          <a:effectLst/>
                          <a:latin typeface="Arial Narrow" panose="020B0606020202030204" pitchFamily="34" charset="0"/>
                        </a:rPr>
                        <a:t>300</a:t>
                      </a:r>
                      <a:endParaRPr lang="es-PE" sz="1800" b="1">
                        <a:effectLst/>
                        <a:latin typeface="Arial Narrow" panose="020B0606020202030204" pitchFamily="34" charset="0"/>
                        <a:ea typeface="Calibri"/>
                      </a:endParaRPr>
                    </a:p>
                  </a:txBody>
                  <a:tcPr marL="44450" marR="44450" marT="0" marB="0"/>
                </a:tc>
                <a:tc>
                  <a:txBody>
                    <a:bodyPr/>
                    <a:lstStyle/>
                    <a:p>
                      <a:pPr algn="ctr">
                        <a:lnSpc>
                          <a:spcPct val="150000"/>
                        </a:lnSpc>
                        <a:spcAft>
                          <a:spcPts val="0"/>
                        </a:spcAft>
                      </a:pPr>
                      <a:r>
                        <a:rPr lang="es-PE" sz="1800" b="1">
                          <a:effectLst/>
                          <a:latin typeface="Arial Narrow" panose="020B0606020202030204" pitchFamily="34" charset="0"/>
                        </a:rPr>
                        <a:t>600</a:t>
                      </a:r>
                      <a:endParaRPr lang="es-PE" sz="1800" b="1">
                        <a:effectLst/>
                        <a:latin typeface="Arial Narrow" panose="020B0606020202030204" pitchFamily="34" charset="0"/>
                        <a:ea typeface="Calibri"/>
                      </a:endParaRPr>
                    </a:p>
                  </a:txBody>
                  <a:tcPr marL="44450" marR="44450" marT="0" marB="0"/>
                </a:tc>
                <a:tc>
                  <a:txBody>
                    <a:bodyPr/>
                    <a:lstStyle/>
                    <a:p>
                      <a:pPr algn="ctr">
                        <a:lnSpc>
                          <a:spcPct val="150000"/>
                        </a:lnSpc>
                        <a:spcAft>
                          <a:spcPts val="0"/>
                        </a:spcAft>
                      </a:pPr>
                      <a:r>
                        <a:rPr lang="es-PE" sz="1800" b="1">
                          <a:effectLst/>
                          <a:latin typeface="Arial Narrow" panose="020B0606020202030204" pitchFamily="34" charset="0"/>
                        </a:rPr>
                        <a:t>700</a:t>
                      </a:r>
                      <a:endParaRPr lang="es-PE" sz="1800" b="1">
                        <a:effectLst/>
                        <a:latin typeface="Arial Narrow" panose="020B0606020202030204" pitchFamily="34" charset="0"/>
                        <a:ea typeface="Calibri"/>
                      </a:endParaRPr>
                    </a:p>
                  </a:txBody>
                  <a:tcPr marL="44450" marR="44450" marT="0" marB="0"/>
                </a:tc>
                <a:tc>
                  <a:txBody>
                    <a:bodyPr/>
                    <a:lstStyle/>
                    <a:p>
                      <a:pPr algn="ctr">
                        <a:lnSpc>
                          <a:spcPct val="150000"/>
                        </a:lnSpc>
                        <a:spcAft>
                          <a:spcPts val="0"/>
                        </a:spcAft>
                      </a:pPr>
                      <a:r>
                        <a:rPr lang="es-PE" sz="1800" b="1" dirty="0">
                          <a:effectLst/>
                          <a:latin typeface="Arial Narrow" panose="020B0606020202030204" pitchFamily="34" charset="0"/>
                        </a:rPr>
                        <a:t> </a:t>
                      </a:r>
                      <a:endParaRPr lang="es-PE" sz="1800" b="1" dirty="0">
                        <a:effectLst/>
                        <a:latin typeface="Arial Narrow" panose="020B0606020202030204" pitchFamily="34" charset="0"/>
                        <a:ea typeface="Calibri"/>
                      </a:endParaRPr>
                    </a:p>
                  </a:txBody>
                  <a:tcPr marL="44450" marR="4445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023543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096000" y="254942"/>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19</a:t>
            </a:r>
          </a:p>
        </p:txBody>
      </p:sp>
      <p:sp>
        <p:nvSpPr>
          <p:cNvPr id="6" name="1 Rectángulo">
            <a:extLst>
              <a:ext uri="{FF2B5EF4-FFF2-40B4-BE49-F238E27FC236}">
                <a16:creationId xmlns:a16="http://schemas.microsoft.com/office/drawing/2014/main" id="{45450A59-F74D-46B1-B5F5-5D8061A66BD7}"/>
              </a:ext>
            </a:extLst>
          </p:cNvPr>
          <p:cNvSpPr/>
          <p:nvPr/>
        </p:nvSpPr>
        <p:spPr>
          <a:xfrm>
            <a:off x="6096001" y="1225689"/>
            <a:ext cx="3582838" cy="1200329"/>
          </a:xfrm>
          <a:prstGeom prst="rect">
            <a:avLst/>
          </a:prstGeom>
          <a:solidFill>
            <a:schemeClr val="accent4">
              <a:lumMod val="40000"/>
              <a:lumOff val="60000"/>
            </a:schemeClr>
          </a:solidFill>
        </p:spPr>
        <p:txBody>
          <a:bodyPr wrap="square">
            <a:spAutoFit/>
          </a:bodyPr>
          <a:lstStyle/>
          <a:p>
            <a:r>
              <a:rPr lang="es-PE" dirty="0">
                <a:solidFill>
                  <a:srgbClr val="FF0000"/>
                </a:solidFill>
              </a:rPr>
              <a:t>Identificación de variables</a:t>
            </a:r>
          </a:p>
          <a:p>
            <a:r>
              <a:rPr lang="es-PE" dirty="0" err="1"/>
              <a:t>Xij</a:t>
            </a:r>
            <a:r>
              <a:rPr lang="es-PE" dirty="0"/>
              <a:t>=Número </a:t>
            </a:r>
            <a:r>
              <a:rPr lang="es-PE" dirty="0" err="1"/>
              <a:t>gl</a:t>
            </a:r>
            <a:r>
              <a:rPr lang="es-PE" dirty="0"/>
              <a:t>. de turbosina a comprar en el aeropuerto i al vendedor j </a:t>
            </a:r>
          </a:p>
        </p:txBody>
      </p:sp>
      <p:graphicFrame>
        <p:nvGraphicFramePr>
          <p:cNvPr id="7" name="2 Tabla">
            <a:extLst>
              <a:ext uri="{FF2B5EF4-FFF2-40B4-BE49-F238E27FC236}">
                <a16:creationId xmlns:a16="http://schemas.microsoft.com/office/drawing/2014/main" id="{450608FE-AA4A-4054-BD10-9651A651654C}"/>
              </a:ext>
            </a:extLst>
          </p:cNvPr>
          <p:cNvGraphicFramePr>
            <a:graphicFrameLocks noGrp="1"/>
          </p:cNvGraphicFramePr>
          <p:nvPr/>
        </p:nvGraphicFramePr>
        <p:xfrm>
          <a:off x="139749" y="2780684"/>
          <a:ext cx="5956251" cy="1767978"/>
        </p:xfrm>
        <a:graphic>
          <a:graphicData uri="http://schemas.openxmlformats.org/drawingml/2006/table">
            <a:tbl>
              <a:tblPr>
                <a:tableStyleId>{5C22544A-7EE6-4342-B048-85BDC9FD1C3A}</a:tableStyleId>
              </a:tblPr>
              <a:tblGrid>
                <a:gridCol w="1119708">
                  <a:extLst>
                    <a:ext uri="{9D8B030D-6E8A-4147-A177-3AD203B41FA5}">
                      <a16:colId xmlns:a16="http://schemas.microsoft.com/office/drawing/2014/main" val="20000"/>
                    </a:ext>
                  </a:extLst>
                </a:gridCol>
                <a:gridCol w="1164566">
                  <a:extLst>
                    <a:ext uri="{9D8B030D-6E8A-4147-A177-3AD203B41FA5}">
                      <a16:colId xmlns:a16="http://schemas.microsoft.com/office/drawing/2014/main" val="20001"/>
                    </a:ext>
                  </a:extLst>
                </a:gridCol>
                <a:gridCol w="1104181">
                  <a:extLst>
                    <a:ext uri="{9D8B030D-6E8A-4147-A177-3AD203B41FA5}">
                      <a16:colId xmlns:a16="http://schemas.microsoft.com/office/drawing/2014/main" val="20002"/>
                    </a:ext>
                  </a:extLst>
                </a:gridCol>
                <a:gridCol w="1164566">
                  <a:extLst>
                    <a:ext uri="{9D8B030D-6E8A-4147-A177-3AD203B41FA5}">
                      <a16:colId xmlns:a16="http://schemas.microsoft.com/office/drawing/2014/main" val="20003"/>
                    </a:ext>
                  </a:extLst>
                </a:gridCol>
                <a:gridCol w="1403230">
                  <a:extLst>
                    <a:ext uri="{9D8B030D-6E8A-4147-A177-3AD203B41FA5}">
                      <a16:colId xmlns:a16="http://schemas.microsoft.com/office/drawing/2014/main" val="20004"/>
                    </a:ext>
                  </a:extLst>
                </a:gridCol>
              </a:tblGrid>
              <a:tr h="278925">
                <a:tc>
                  <a:txBody>
                    <a:bodyPr/>
                    <a:lstStyle/>
                    <a:p>
                      <a:pPr algn="ctr">
                        <a:lnSpc>
                          <a:spcPct val="100000"/>
                        </a:lnSpc>
                        <a:spcAft>
                          <a:spcPts val="0"/>
                        </a:spcAft>
                      </a:pPr>
                      <a:r>
                        <a:rPr lang="es-PE" sz="1800" b="1" dirty="0">
                          <a:effectLst/>
                          <a:latin typeface="Arial Narrow" panose="020B0606020202030204" pitchFamily="34" charset="0"/>
                        </a:rPr>
                        <a:t>Aeropuerto</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Vendedor 1</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Vendedor 2</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a:effectLst/>
                          <a:latin typeface="Arial Narrow" panose="020B0606020202030204" pitchFamily="34" charset="0"/>
                        </a:rPr>
                        <a:t>Vendedor 3</a:t>
                      </a:r>
                      <a:endParaRPr lang="es-PE" sz="1800" b="1">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Requerimiento</a:t>
                      </a:r>
                      <a:endParaRPr lang="es-PE" sz="1800" b="1" dirty="0">
                        <a:effectLst/>
                        <a:latin typeface="Arial Narrow" panose="020B0606020202030204" pitchFamily="34" charset="0"/>
                        <a:ea typeface="Calibri"/>
                      </a:endParaRPr>
                    </a:p>
                  </a:txBody>
                  <a:tcPr marL="44450" marR="44450" marT="0" marB="0"/>
                </a:tc>
                <a:extLst>
                  <a:ext uri="{0D108BD9-81ED-4DB2-BD59-A6C34878D82A}">
                    <a16:rowId xmlns:a16="http://schemas.microsoft.com/office/drawing/2014/main" val="10000"/>
                  </a:ext>
                </a:extLst>
              </a:tr>
              <a:tr h="973970">
                <a:tc>
                  <a:txBody>
                    <a:bodyPr/>
                    <a:lstStyle/>
                    <a:p>
                      <a:pPr algn="ctr">
                        <a:lnSpc>
                          <a:spcPct val="100000"/>
                        </a:lnSpc>
                        <a:spcAft>
                          <a:spcPts val="0"/>
                        </a:spcAft>
                      </a:pPr>
                      <a:r>
                        <a:rPr lang="es-PE" sz="1800" b="1" dirty="0">
                          <a:effectLst/>
                          <a:latin typeface="Arial Narrow" panose="020B0606020202030204" pitchFamily="34" charset="0"/>
                        </a:rPr>
                        <a:t>1</a:t>
                      </a:r>
                    </a:p>
                    <a:p>
                      <a:pPr algn="ctr">
                        <a:lnSpc>
                          <a:spcPct val="100000"/>
                        </a:lnSpc>
                        <a:spcAft>
                          <a:spcPts val="0"/>
                        </a:spcAft>
                      </a:pPr>
                      <a:r>
                        <a:rPr lang="es-PE" sz="1800" b="1" dirty="0">
                          <a:effectLst/>
                          <a:latin typeface="Arial Narrow" panose="020B0606020202030204" pitchFamily="34" charset="0"/>
                        </a:rPr>
                        <a:t>2</a:t>
                      </a:r>
                    </a:p>
                    <a:p>
                      <a:pPr algn="ctr">
                        <a:lnSpc>
                          <a:spcPct val="100000"/>
                        </a:lnSpc>
                        <a:spcAft>
                          <a:spcPts val="0"/>
                        </a:spcAft>
                      </a:pPr>
                      <a:r>
                        <a:rPr lang="es-PE" sz="1800" b="1" dirty="0">
                          <a:effectLst/>
                          <a:latin typeface="Arial Narrow" panose="020B0606020202030204" pitchFamily="34" charset="0"/>
                        </a:rPr>
                        <a:t>3</a:t>
                      </a:r>
                    </a:p>
                    <a:p>
                      <a:pPr algn="ctr">
                        <a:lnSpc>
                          <a:spcPct val="100000"/>
                        </a:lnSpc>
                        <a:spcAft>
                          <a:spcPts val="0"/>
                        </a:spcAft>
                      </a:pPr>
                      <a:r>
                        <a:rPr lang="es-PE" sz="1800" b="1" dirty="0">
                          <a:effectLst/>
                          <a:latin typeface="Arial Narrow" panose="020B0606020202030204" pitchFamily="34" charset="0"/>
                        </a:rPr>
                        <a:t>4</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900</a:t>
                      </a:r>
                    </a:p>
                    <a:p>
                      <a:pPr algn="ctr">
                        <a:lnSpc>
                          <a:spcPct val="100000"/>
                        </a:lnSpc>
                        <a:spcAft>
                          <a:spcPts val="0"/>
                        </a:spcAft>
                      </a:pPr>
                      <a:r>
                        <a:rPr lang="es-PE" sz="1800" b="1" dirty="0">
                          <a:effectLst/>
                          <a:latin typeface="Arial Narrow" panose="020B0606020202030204" pitchFamily="34" charset="0"/>
                        </a:rPr>
                        <a:t>900</a:t>
                      </a:r>
                    </a:p>
                    <a:p>
                      <a:pPr algn="ctr">
                        <a:lnSpc>
                          <a:spcPct val="100000"/>
                        </a:lnSpc>
                        <a:spcAft>
                          <a:spcPts val="0"/>
                        </a:spcAft>
                      </a:pPr>
                      <a:r>
                        <a:rPr lang="es-PE" sz="1800" b="1" dirty="0">
                          <a:effectLst/>
                          <a:latin typeface="Arial Narrow" panose="020B0606020202030204" pitchFamily="34" charset="0"/>
                        </a:rPr>
                        <a:t>800</a:t>
                      </a:r>
                    </a:p>
                    <a:p>
                      <a:pPr algn="ctr">
                        <a:lnSpc>
                          <a:spcPct val="100000"/>
                        </a:lnSpc>
                        <a:spcAft>
                          <a:spcPts val="0"/>
                        </a:spcAft>
                      </a:pPr>
                      <a:r>
                        <a:rPr lang="es-PE" sz="1800" b="1" dirty="0">
                          <a:effectLst/>
                          <a:latin typeface="Arial Narrow" panose="020B0606020202030204" pitchFamily="34" charset="0"/>
                        </a:rPr>
                        <a:t>1000</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800</a:t>
                      </a:r>
                    </a:p>
                    <a:p>
                      <a:pPr algn="ctr">
                        <a:lnSpc>
                          <a:spcPct val="100000"/>
                        </a:lnSpc>
                        <a:spcAft>
                          <a:spcPts val="0"/>
                        </a:spcAft>
                      </a:pPr>
                      <a:r>
                        <a:rPr lang="es-PE" sz="1800" b="1" dirty="0">
                          <a:effectLst/>
                          <a:latin typeface="Arial Narrow" panose="020B0606020202030204" pitchFamily="34" charset="0"/>
                        </a:rPr>
                        <a:t>1200</a:t>
                      </a:r>
                    </a:p>
                    <a:p>
                      <a:pPr algn="ctr">
                        <a:lnSpc>
                          <a:spcPct val="100000"/>
                        </a:lnSpc>
                        <a:spcAft>
                          <a:spcPts val="0"/>
                        </a:spcAft>
                      </a:pPr>
                      <a:r>
                        <a:rPr lang="es-PE" sz="1800" b="1" dirty="0">
                          <a:effectLst/>
                          <a:latin typeface="Arial Narrow" panose="020B0606020202030204" pitchFamily="34" charset="0"/>
                        </a:rPr>
                        <a:t>1300</a:t>
                      </a:r>
                    </a:p>
                    <a:p>
                      <a:pPr algn="ctr">
                        <a:lnSpc>
                          <a:spcPct val="100000"/>
                        </a:lnSpc>
                        <a:spcAft>
                          <a:spcPts val="0"/>
                        </a:spcAft>
                      </a:pPr>
                      <a:r>
                        <a:rPr lang="es-PE" sz="1800" b="1" dirty="0">
                          <a:effectLst/>
                          <a:latin typeface="Arial Narrow" panose="020B0606020202030204" pitchFamily="34" charset="0"/>
                        </a:rPr>
                        <a:t>1400</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900</a:t>
                      </a:r>
                    </a:p>
                    <a:p>
                      <a:pPr algn="ctr">
                        <a:lnSpc>
                          <a:spcPct val="100000"/>
                        </a:lnSpc>
                        <a:spcAft>
                          <a:spcPts val="0"/>
                        </a:spcAft>
                      </a:pPr>
                      <a:r>
                        <a:rPr lang="es-PE" sz="1800" b="1" dirty="0">
                          <a:effectLst/>
                          <a:latin typeface="Arial Narrow" panose="020B0606020202030204" pitchFamily="34" charset="0"/>
                        </a:rPr>
                        <a:t>1300</a:t>
                      </a:r>
                    </a:p>
                    <a:p>
                      <a:pPr algn="ctr">
                        <a:lnSpc>
                          <a:spcPct val="100000"/>
                        </a:lnSpc>
                        <a:spcAft>
                          <a:spcPts val="0"/>
                        </a:spcAft>
                      </a:pPr>
                      <a:r>
                        <a:rPr lang="es-PE" sz="1800" b="1" dirty="0">
                          <a:effectLst/>
                          <a:latin typeface="Arial Narrow" panose="020B0606020202030204" pitchFamily="34" charset="0"/>
                        </a:rPr>
                        <a:t>500</a:t>
                      </a:r>
                    </a:p>
                    <a:p>
                      <a:pPr algn="ctr">
                        <a:lnSpc>
                          <a:spcPct val="100000"/>
                        </a:lnSpc>
                        <a:spcAft>
                          <a:spcPts val="0"/>
                        </a:spcAft>
                      </a:pPr>
                      <a:r>
                        <a:rPr lang="es-PE" sz="1800" b="1" dirty="0">
                          <a:effectLst/>
                          <a:latin typeface="Arial Narrow" panose="020B0606020202030204" pitchFamily="34" charset="0"/>
                        </a:rPr>
                        <a:t>1000</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00000"/>
                        </a:lnSpc>
                        <a:spcAft>
                          <a:spcPts val="0"/>
                        </a:spcAft>
                      </a:pPr>
                      <a:r>
                        <a:rPr lang="es-PE" sz="1800" b="1" dirty="0">
                          <a:effectLst/>
                          <a:latin typeface="Arial Narrow" panose="020B0606020202030204" pitchFamily="34" charset="0"/>
                        </a:rPr>
                        <a:t>150</a:t>
                      </a:r>
                    </a:p>
                    <a:p>
                      <a:pPr algn="ctr">
                        <a:lnSpc>
                          <a:spcPct val="100000"/>
                        </a:lnSpc>
                        <a:spcAft>
                          <a:spcPts val="0"/>
                        </a:spcAft>
                      </a:pPr>
                      <a:r>
                        <a:rPr lang="es-PE" sz="1800" b="1" dirty="0">
                          <a:effectLst/>
                          <a:latin typeface="Arial Narrow" panose="020B0606020202030204" pitchFamily="34" charset="0"/>
                        </a:rPr>
                        <a:t>250</a:t>
                      </a:r>
                    </a:p>
                    <a:p>
                      <a:pPr algn="ctr">
                        <a:lnSpc>
                          <a:spcPct val="100000"/>
                        </a:lnSpc>
                        <a:spcAft>
                          <a:spcPts val="0"/>
                        </a:spcAft>
                      </a:pPr>
                      <a:r>
                        <a:rPr lang="es-PE" sz="1800" b="1" dirty="0">
                          <a:effectLst/>
                          <a:latin typeface="Arial Narrow" panose="020B0606020202030204" pitchFamily="34" charset="0"/>
                        </a:rPr>
                        <a:t>350</a:t>
                      </a:r>
                    </a:p>
                    <a:p>
                      <a:pPr algn="ctr">
                        <a:lnSpc>
                          <a:spcPct val="100000"/>
                        </a:lnSpc>
                        <a:spcAft>
                          <a:spcPts val="0"/>
                        </a:spcAft>
                      </a:pPr>
                      <a:r>
                        <a:rPr lang="es-PE" sz="1800" b="1" dirty="0">
                          <a:effectLst/>
                          <a:latin typeface="Arial Narrow" panose="020B0606020202030204" pitchFamily="34" charset="0"/>
                        </a:rPr>
                        <a:t>480</a:t>
                      </a:r>
                      <a:endParaRPr lang="es-PE" sz="1800" b="1" dirty="0">
                        <a:effectLst/>
                        <a:latin typeface="Arial Narrow" panose="020B0606020202030204" pitchFamily="34" charset="0"/>
                        <a:ea typeface="Calibri"/>
                      </a:endParaRPr>
                    </a:p>
                  </a:txBody>
                  <a:tcPr marL="44450" marR="44450" marT="0" marB="0"/>
                </a:tc>
                <a:extLst>
                  <a:ext uri="{0D108BD9-81ED-4DB2-BD59-A6C34878D82A}">
                    <a16:rowId xmlns:a16="http://schemas.microsoft.com/office/drawing/2014/main" val="10001"/>
                  </a:ext>
                </a:extLst>
              </a:tr>
              <a:tr h="391773">
                <a:tc>
                  <a:txBody>
                    <a:bodyPr/>
                    <a:lstStyle/>
                    <a:p>
                      <a:pPr algn="ctr">
                        <a:lnSpc>
                          <a:spcPct val="150000"/>
                        </a:lnSpc>
                        <a:spcAft>
                          <a:spcPts val="0"/>
                        </a:spcAft>
                      </a:pPr>
                      <a:r>
                        <a:rPr lang="es-PE" sz="1800" b="1" dirty="0">
                          <a:effectLst/>
                          <a:latin typeface="Arial Narrow" panose="020B0606020202030204" pitchFamily="34" charset="0"/>
                        </a:rPr>
                        <a:t>Provisión</a:t>
                      </a:r>
                      <a:endParaRPr lang="es-PE" sz="1800" b="1" dirty="0">
                        <a:effectLst/>
                        <a:latin typeface="Arial Narrow" panose="020B0606020202030204" pitchFamily="34" charset="0"/>
                        <a:ea typeface="Calibri"/>
                      </a:endParaRPr>
                    </a:p>
                  </a:txBody>
                  <a:tcPr marL="44450" marR="44450" marT="0" marB="0"/>
                </a:tc>
                <a:tc>
                  <a:txBody>
                    <a:bodyPr/>
                    <a:lstStyle/>
                    <a:p>
                      <a:pPr algn="ctr">
                        <a:lnSpc>
                          <a:spcPct val="150000"/>
                        </a:lnSpc>
                        <a:spcAft>
                          <a:spcPts val="0"/>
                        </a:spcAft>
                      </a:pPr>
                      <a:r>
                        <a:rPr lang="es-PE" sz="1800" b="1">
                          <a:effectLst/>
                          <a:latin typeface="Arial Narrow" panose="020B0606020202030204" pitchFamily="34" charset="0"/>
                        </a:rPr>
                        <a:t>300</a:t>
                      </a:r>
                      <a:endParaRPr lang="es-PE" sz="1800" b="1">
                        <a:effectLst/>
                        <a:latin typeface="Arial Narrow" panose="020B0606020202030204" pitchFamily="34" charset="0"/>
                        <a:ea typeface="Calibri"/>
                      </a:endParaRPr>
                    </a:p>
                  </a:txBody>
                  <a:tcPr marL="44450" marR="44450" marT="0" marB="0"/>
                </a:tc>
                <a:tc>
                  <a:txBody>
                    <a:bodyPr/>
                    <a:lstStyle/>
                    <a:p>
                      <a:pPr algn="ctr">
                        <a:lnSpc>
                          <a:spcPct val="150000"/>
                        </a:lnSpc>
                        <a:spcAft>
                          <a:spcPts val="0"/>
                        </a:spcAft>
                      </a:pPr>
                      <a:r>
                        <a:rPr lang="es-PE" sz="1800" b="1">
                          <a:effectLst/>
                          <a:latin typeface="Arial Narrow" panose="020B0606020202030204" pitchFamily="34" charset="0"/>
                        </a:rPr>
                        <a:t>600</a:t>
                      </a:r>
                      <a:endParaRPr lang="es-PE" sz="1800" b="1">
                        <a:effectLst/>
                        <a:latin typeface="Arial Narrow" panose="020B0606020202030204" pitchFamily="34" charset="0"/>
                        <a:ea typeface="Calibri"/>
                      </a:endParaRPr>
                    </a:p>
                  </a:txBody>
                  <a:tcPr marL="44450" marR="44450" marT="0" marB="0"/>
                </a:tc>
                <a:tc>
                  <a:txBody>
                    <a:bodyPr/>
                    <a:lstStyle/>
                    <a:p>
                      <a:pPr algn="ctr">
                        <a:lnSpc>
                          <a:spcPct val="150000"/>
                        </a:lnSpc>
                        <a:spcAft>
                          <a:spcPts val="0"/>
                        </a:spcAft>
                      </a:pPr>
                      <a:r>
                        <a:rPr lang="es-PE" sz="1800" b="1">
                          <a:effectLst/>
                          <a:latin typeface="Arial Narrow" panose="020B0606020202030204" pitchFamily="34" charset="0"/>
                        </a:rPr>
                        <a:t>700</a:t>
                      </a:r>
                      <a:endParaRPr lang="es-PE" sz="1800" b="1">
                        <a:effectLst/>
                        <a:latin typeface="Arial Narrow" panose="020B0606020202030204" pitchFamily="34" charset="0"/>
                        <a:ea typeface="Calibri"/>
                      </a:endParaRPr>
                    </a:p>
                  </a:txBody>
                  <a:tcPr marL="44450" marR="44450" marT="0" marB="0"/>
                </a:tc>
                <a:tc>
                  <a:txBody>
                    <a:bodyPr/>
                    <a:lstStyle/>
                    <a:p>
                      <a:pPr algn="ctr">
                        <a:lnSpc>
                          <a:spcPct val="150000"/>
                        </a:lnSpc>
                        <a:spcAft>
                          <a:spcPts val="0"/>
                        </a:spcAft>
                      </a:pPr>
                      <a:r>
                        <a:rPr lang="es-PE" sz="1800" b="1" dirty="0">
                          <a:effectLst/>
                          <a:latin typeface="Arial Narrow" panose="020B0606020202030204" pitchFamily="34" charset="0"/>
                        </a:rPr>
                        <a:t> </a:t>
                      </a:r>
                      <a:endParaRPr lang="es-PE" sz="1800" b="1" dirty="0">
                        <a:effectLst/>
                        <a:latin typeface="Arial Narrow" panose="020B0606020202030204" pitchFamily="34" charset="0"/>
                        <a:ea typeface="Calibri"/>
                      </a:endParaRPr>
                    </a:p>
                  </a:txBody>
                  <a:tcPr marL="44450" marR="44450" marT="0" marB="0"/>
                </a:tc>
                <a:extLst>
                  <a:ext uri="{0D108BD9-81ED-4DB2-BD59-A6C34878D82A}">
                    <a16:rowId xmlns:a16="http://schemas.microsoft.com/office/drawing/2014/main" val="10002"/>
                  </a:ext>
                </a:extLst>
              </a:tr>
            </a:tbl>
          </a:graphicData>
        </a:graphic>
      </p:graphicFrame>
      <p:sp>
        <p:nvSpPr>
          <p:cNvPr id="9" name="Rectángulo 8">
            <a:extLst>
              <a:ext uri="{FF2B5EF4-FFF2-40B4-BE49-F238E27FC236}">
                <a16:creationId xmlns:a16="http://schemas.microsoft.com/office/drawing/2014/main" id="{3AD3E772-ACBE-4C0D-94FA-E530CB899F82}"/>
              </a:ext>
            </a:extLst>
          </p:cNvPr>
          <p:cNvSpPr/>
          <p:nvPr/>
        </p:nvSpPr>
        <p:spPr>
          <a:xfrm>
            <a:off x="1484299" y="4549676"/>
            <a:ext cx="3570780" cy="2308324"/>
          </a:xfrm>
          <a:prstGeom prst="rect">
            <a:avLst/>
          </a:prstGeom>
          <a:solidFill>
            <a:srgbClr val="FFC000"/>
          </a:solidFill>
        </p:spPr>
        <p:txBody>
          <a:bodyPr wrap="square">
            <a:spAutoFit/>
          </a:bodyPr>
          <a:lstStyle/>
          <a:p>
            <a:r>
              <a:rPr lang="es-PE" sz="1600" b="1" dirty="0">
                <a:latin typeface="Arial Narrow" panose="020B0606020202030204" pitchFamily="34" charset="0"/>
              </a:rPr>
              <a:t> </a:t>
            </a:r>
            <a:r>
              <a:rPr lang="es-PE" sz="1600" b="1" dirty="0" err="1">
                <a:latin typeface="Arial Narrow" panose="020B0606020202030204" pitchFamily="34" charset="0"/>
              </a:rPr>
              <a:t>OBJECTIVE</a:t>
            </a:r>
            <a:r>
              <a:rPr lang="es-PE" sz="1600" b="1" dirty="0">
                <a:latin typeface="Arial Narrow" panose="020B0606020202030204" pitchFamily="34" charset="0"/>
              </a:rPr>
              <a:t> </a:t>
            </a:r>
            <a:r>
              <a:rPr lang="es-PE" sz="1600" b="1" dirty="0" err="1">
                <a:latin typeface="Arial Narrow" panose="020B0606020202030204" pitchFamily="34" charset="0"/>
              </a:rPr>
              <a:t>FUNCTION</a:t>
            </a:r>
            <a:r>
              <a:rPr lang="es-PE" sz="1600" b="1" dirty="0">
                <a:latin typeface="Arial Narrow" panose="020B0606020202030204" pitchFamily="34" charset="0"/>
              </a:rPr>
              <a:t> </a:t>
            </a:r>
            <a:r>
              <a:rPr lang="es-PE" sz="1600" b="1" dirty="0" err="1">
                <a:latin typeface="Arial Narrow" panose="020B0606020202030204" pitchFamily="34" charset="0"/>
              </a:rPr>
              <a:t>VALUE</a:t>
            </a:r>
            <a:endParaRPr lang="es-PE" sz="1600" b="1" dirty="0">
              <a:latin typeface="Arial Narrow" panose="020B0606020202030204" pitchFamily="34" charset="0"/>
            </a:endParaRPr>
          </a:p>
          <a:p>
            <a:r>
              <a:rPr lang="es-PE" sz="1600" b="1" dirty="0">
                <a:latin typeface="Arial Narrow" panose="020B0606020202030204" pitchFamily="34" charset="0"/>
              </a:rPr>
              <a:t>        1)      1024000.</a:t>
            </a:r>
          </a:p>
          <a:p>
            <a:r>
              <a:rPr lang="es-PE" sz="1600" b="1" dirty="0">
                <a:latin typeface="Arial Narrow" panose="020B0606020202030204" pitchFamily="34" charset="0"/>
              </a:rPr>
              <a:t>  VARIABLE  </a:t>
            </a:r>
            <a:r>
              <a:rPr lang="es-PE" sz="1600" b="1" dirty="0" err="1">
                <a:latin typeface="Arial Narrow" panose="020B0606020202030204" pitchFamily="34" charset="0"/>
              </a:rPr>
              <a:t>VALUE</a:t>
            </a:r>
            <a:r>
              <a:rPr lang="es-PE" sz="1600" b="1" dirty="0">
                <a:latin typeface="Arial Narrow" panose="020B0606020202030204" pitchFamily="34" charset="0"/>
              </a:rPr>
              <a:t>  </a:t>
            </a:r>
            <a:r>
              <a:rPr lang="es-PE" sz="1600" b="1" dirty="0" err="1">
                <a:latin typeface="Arial Narrow" panose="020B0606020202030204" pitchFamily="34" charset="0"/>
              </a:rPr>
              <a:t>REDUCED</a:t>
            </a:r>
            <a:r>
              <a:rPr lang="es-PE" sz="1600" b="1" dirty="0">
                <a:latin typeface="Arial Narrow" panose="020B0606020202030204" pitchFamily="34" charset="0"/>
              </a:rPr>
              <a:t> </a:t>
            </a:r>
            <a:r>
              <a:rPr lang="es-PE" sz="1600" b="1" dirty="0" err="1">
                <a:latin typeface="Arial Narrow" panose="020B0606020202030204" pitchFamily="34" charset="0"/>
              </a:rPr>
              <a:t>COST</a:t>
            </a:r>
            <a:endParaRPr lang="es-PE" sz="1600" b="1" dirty="0">
              <a:latin typeface="Arial Narrow" panose="020B0606020202030204" pitchFamily="34" charset="0"/>
            </a:endParaRPr>
          </a:p>
          <a:p>
            <a:r>
              <a:rPr lang="es-PE" sz="1600" b="1" dirty="0">
                <a:latin typeface="Arial Narrow" panose="020B0606020202030204" pitchFamily="34" charset="0"/>
              </a:rPr>
              <a:t>       </a:t>
            </a:r>
            <a:r>
              <a:rPr lang="es-PE" sz="1600" b="1" dirty="0" err="1">
                <a:latin typeface="Arial Narrow" panose="020B0606020202030204" pitchFamily="34" charset="0"/>
              </a:rPr>
              <a:t>X12</a:t>
            </a:r>
            <a:r>
              <a:rPr lang="es-PE" sz="1600" b="1" dirty="0">
                <a:latin typeface="Arial Narrow" panose="020B0606020202030204" pitchFamily="34" charset="0"/>
              </a:rPr>
              <a:t>       150.000000          0.000000</a:t>
            </a:r>
          </a:p>
          <a:p>
            <a:r>
              <a:rPr lang="es-PE" sz="1600" b="1" dirty="0">
                <a:latin typeface="Arial Narrow" panose="020B0606020202030204" pitchFamily="34" charset="0"/>
              </a:rPr>
              <a:t>       </a:t>
            </a:r>
            <a:r>
              <a:rPr lang="es-PE" sz="1600" b="1" dirty="0" err="1">
                <a:latin typeface="Arial Narrow" panose="020B0606020202030204" pitchFamily="34" charset="0"/>
              </a:rPr>
              <a:t>X21</a:t>
            </a:r>
            <a:r>
              <a:rPr lang="es-PE" sz="1600" b="1" dirty="0">
                <a:latin typeface="Arial Narrow" panose="020B0606020202030204" pitchFamily="34" charset="0"/>
              </a:rPr>
              <a:t>       170.000000          0.000000</a:t>
            </a:r>
          </a:p>
          <a:p>
            <a:r>
              <a:rPr lang="es-PE" sz="1600" b="1" dirty="0">
                <a:latin typeface="Arial Narrow" panose="020B0606020202030204" pitchFamily="34" charset="0"/>
              </a:rPr>
              <a:t>       </a:t>
            </a:r>
            <a:r>
              <a:rPr lang="es-PE" sz="1600" b="1" dirty="0" err="1">
                <a:latin typeface="Arial Narrow" panose="020B0606020202030204" pitchFamily="34" charset="0"/>
              </a:rPr>
              <a:t>X22</a:t>
            </a:r>
            <a:r>
              <a:rPr lang="es-PE" sz="1600" b="1" dirty="0">
                <a:latin typeface="Arial Narrow" panose="020B0606020202030204" pitchFamily="34" charset="0"/>
              </a:rPr>
              <a:t>        80.000000          0.000000</a:t>
            </a:r>
          </a:p>
          <a:p>
            <a:r>
              <a:rPr lang="es-PE" sz="1600" b="1" dirty="0">
                <a:latin typeface="Arial Narrow" panose="020B0606020202030204" pitchFamily="34" charset="0"/>
              </a:rPr>
              <a:t>       </a:t>
            </a:r>
            <a:r>
              <a:rPr lang="es-PE" sz="1600" b="1" dirty="0" err="1">
                <a:latin typeface="Arial Narrow" panose="020B0606020202030204" pitchFamily="34" charset="0"/>
              </a:rPr>
              <a:t>X33</a:t>
            </a:r>
            <a:r>
              <a:rPr lang="es-PE" sz="1600" b="1" dirty="0">
                <a:latin typeface="Arial Narrow" panose="020B0606020202030204" pitchFamily="34" charset="0"/>
              </a:rPr>
              <a:t>       350.000000          0.000000</a:t>
            </a:r>
          </a:p>
          <a:p>
            <a:r>
              <a:rPr lang="es-PE" sz="1600" b="1" dirty="0">
                <a:latin typeface="Arial Narrow" panose="020B0606020202030204" pitchFamily="34" charset="0"/>
              </a:rPr>
              <a:t>       </a:t>
            </a:r>
            <a:r>
              <a:rPr lang="es-PE" sz="1600" b="1" dirty="0" err="1">
                <a:latin typeface="Arial Narrow" panose="020B0606020202030204" pitchFamily="34" charset="0"/>
              </a:rPr>
              <a:t>X41</a:t>
            </a:r>
            <a:r>
              <a:rPr lang="es-PE" sz="1600" b="1" dirty="0">
                <a:latin typeface="Arial Narrow" panose="020B0606020202030204" pitchFamily="34" charset="0"/>
              </a:rPr>
              <a:t>       130.000000          0.000000</a:t>
            </a:r>
          </a:p>
          <a:p>
            <a:r>
              <a:rPr lang="es-PE" sz="1600" b="1" dirty="0">
                <a:latin typeface="Arial Narrow" panose="020B0606020202030204" pitchFamily="34" charset="0"/>
              </a:rPr>
              <a:t>       </a:t>
            </a:r>
            <a:r>
              <a:rPr lang="es-PE" sz="1600" b="1" dirty="0" err="1">
                <a:latin typeface="Arial Narrow" panose="020B0606020202030204" pitchFamily="34" charset="0"/>
              </a:rPr>
              <a:t>X43</a:t>
            </a:r>
            <a:r>
              <a:rPr lang="es-PE" sz="1600" b="1" dirty="0">
                <a:latin typeface="Arial Narrow" panose="020B0606020202030204" pitchFamily="34" charset="0"/>
              </a:rPr>
              <a:t>       350.000000          0.000000</a:t>
            </a:r>
          </a:p>
        </p:txBody>
      </p:sp>
      <p:sp>
        <p:nvSpPr>
          <p:cNvPr id="2" name="Rectángulo 1">
            <a:extLst>
              <a:ext uri="{FF2B5EF4-FFF2-40B4-BE49-F238E27FC236}">
                <a16:creationId xmlns:a16="http://schemas.microsoft.com/office/drawing/2014/main" id="{DED1AC42-43D6-4462-AA06-505C312F339C}"/>
              </a:ext>
            </a:extLst>
          </p:cNvPr>
          <p:cNvSpPr/>
          <p:nvPr/>
        </p:nvSpPr>
        <p:spPr>
          <a:xfrm>
            <a:off x="6096001" y="2333685"/>
            <a:ext cx="3582838" cy="1477328"/>
          </a:xfrm>
          <a:prstGeom prst="rect">
            <a:avLst/>
          </a:prstGeom>
          <a:solidFill>
            <a:schemeClr val="accent4">
              <a:lumMod val="40000"/>
              <a:lumOff val="60000"/>
            </a:schemeClr>
          </a:solidFill>
        </p:spPr>
        <p:txBody>
          <a:bodyPr wrap="square">
            <a:spAutoFit/>
          </a:bodyPr>
          <a:lstStyle/>
          <a:p>
            <a:r>
              <a:rPr lang="es-PE" dirty="0">
                <a:solidFill>
                  <a:srgbClr val="FF0000"/>
                </a:solidFill>
              </a:rPr>
              <a:t>Identificación de la Función Objetivo</a:t>
            </a:r>
          </a:p>
          <a:p>
            <a:r>
              <a:rPr lang="es-PE" dirty="0"/>
              <a:t>MIN </a:t>
            </a:r>
            <a:r>
              <a:rPr lang="es-PE" dirty="0" err="1"/>
              <a:t>900X11+800X12+900X13</a:t>
            </a:r>
            <a:r>
              <a:rPr lang="es-PE" dirty="0"/>
              <a:t>+</a:t>
            </a:r>
          </a:p>
          <a:p>
            <a:r>
              <a:rPr lang="es-PE" dirty="0"/>
              <a:t>         </a:t>
            </a:r>
            <a:r>
              <a:rPr lang="es-PE" dirty="0" err="1"/>
              <a:t>900X21+1200X22+1300X23</a:t>
            </a:r>
            <a:r>
              <a:rPr lang="es-PE" dirty="0"/>
              <a:t>+</a:t>
            </a:r>
          </a:p>
          <a:p>
            <a:r>
              <a:rPr lang="es-PE" dirty="0"/>
              <a:t>         </a:t>
            </a:r>
            <a:r>
              <a:rPr lang="es-PE" dirty="0" err="1"/>
              <a:t>800X31+1300X32+500X33</a:t>
            </a:r>
            <a:r>
              <a:rPr lang="es-PE" dirty="0"/>
              <a:t>+</a:t>
            </a:r>
          </a:p>
          <a:p>
            <a:r>
              <a:rPr lang="es-PE" dirty="0"/>
              <a:t>         </a:t>
            </a:r>
            <a:r>
              <a:rPr lang="es-PE" dirty="0" err="1"/>
              <a:t>1000X41+1400X42+1000X43</a:t>
            </a:r>
            <a:endParaRPr lang="es-PE" dirty="0"/>
          </a:p>
        </p:txBody>
      </p:sp>
      <p:sp>
        <p:nvSpPr>
          <p:cNvPr id="4" name="Rectángulo 3">
            <a:extLst>
              <a:ext uri="{FF2B5EF4-FFF2-40B4-BE49-F238E27FC236}">
                <a16:creationId xmlns:a16="http://schemas.microsoft.com/office/drawing/2014/main" id="{618B5BB0-3B25-4B1D-9549-F392163C535F}"/>
              </a:ext>
            </a:extLst>
          </p:cNvPr>
          <p:cNvSpPr/>
          <p:nvPr/>
        </p:nvSpPr>
        <p:spPr>
          <a:xfrm>
            <a:off x="6095999" y="3718679"/>
            <a:ext cx="3582839" cy="1754326"/>
          </a:xfrm>
          <a:prstGeom prst="rect">
            <a:avLst/>
          </a:prstGeom>
          <a:solidFill>
            <a:schemeClr val="accent4">
              <a:lumMod val="40000"/>
              <a:lumOff val="60000"/>
            </a:schemeClr>
          </a:solidFill>
        </p:spPr>
        <p:txBody>
          <a:bodyPr wrap="square">
            <a:spAutoFit/>
          </a:bodyPr>
          <a:lstStyle/>
          <a:p>
            <a:r>
              <a:rPr lang="es-PE" dirty="0">
                <a:solidFill>
                  <a:srgbClr val="FF0000"/>
                </a:solidFill>
              </a:rPr>
              <a:t>Identificación de las restricciones</a:t>
            </a:r>
          </a:p>
          <a:p>
            <a:r>
              <a:rPr lang="es-PE" dirty="0"/>
              <a:t>Con respecto al requerimiento</a:t>
            </a:r>
          </a:p>
          <a:p>
            <a:r>
              <a:rPr lang="es-PE" dirty="0" err="1"/>
              <a:t>X11+X12+X13</a:t>
            </a:r>
            <a:r>
              <a:rPr lang="es-PE" dirty="0"/>
              <a:t>&gt;=150</a:t>
            </a:r>
          </a:p>
          <a:p>
            <a:r>
              <a:rPr lang="es-PE" dirty="0" err="1"/>
              <a:t>X21+X22+X23</a:t>
            </a:r>
            <a:r>
              <a:rPr lang="es-PE" dirty="0"/>
              <a:t>&gt;=250</a:t>
            </a:r>
          </a:p>
          <a:p>
            <a:r>
              <a:rPr lang="es-PE" dirty="0" err="1"/>
              <a:t>X31+X32+X33</a:t>
            </a:r>
            <a:r>
              <a:rPr lang="es-PE" dirty="0"/>
              <a:t>&gt;=350</a:t>
            </a:r>
          </a:p>
          <a:p>
            <a:r>
              <a:rPr lang="es-PE" dirty="0" err="1"/>
              <a:t>X41+X42+X43</a:t>
            </a:r>
            <a:r>
              <a:rPr lang="es-PE" dirty="0"/>
              <a:t>&gt;=480</a:t>
            </a:r>
          </a:p>
        </p:txBody>
      </p:sp>
      <p:sp>
        <p:nvSpPr>
          <p:cNvPr id="10" name="Rectángulo 9">
            <a:extLst>
              <a:ext uri="{FF2B5EF4-FFF2-40B4-BE49-F238E27FC236}">
                <a16:creationId xmlns:a16="http://schemas.microsoft.com/office/drawing/2014/main" id="{18992DBA-A200-4E90-AD81-2AE09BD7C3EF}"/>
              </a:ext>
            </a:extLst>
          </p:cNvPr>
          <p:cNvSpPr/>
          <p:nvPr/>
        </p:nvSpPr>
        <p:spPr>
          <a:xfrm>
            <a:off x="6096000" y="5380672"/>
            <a:ext cx="3582838" cy="1477328"/>
          </a:xfrm>
          <a:prstGeom prst="rect">
            <a:avLst/>
          </a:prstGeom>
          <a:solidFill>
            <a:schemeClr val="accent4">
              <a:lumMod val="40000"/>
              <a:lumOff val="60000"/>
            </a:schemeClr>
          </a:solidFill>
        </p:spPr>
        <p:txBody>
          <a:bodyPr wrap="square">
            <a:spAutoFit/>
          </a:bodyPr>
          <a:lstStyle/>
          <a:p>
            <a:r>
              <a:rPr lang="es-PE" dirty="0"/>
              <a:t>Con respecto a la provisión máxima</a:t>
            </a:r>
          </a:p>
          <a:p>
            <a:r>
              <a:rPr lang="es-PE" dirty="0" err="1"/>
              <a:t>X11+X21+X31+X41</a:t>
            </a:r>
            <a:r>
              <a:rPr lang="es-PE" dirty="0"/>
              <a:t>&lt;=300</a:t>
            </a:r>
          </a:p>
          <a:p>
            <a:r>
              <a:rPr lang="es-PE" dirty="0" err="1"/>
              <a:t>X12+X22+X32+X42</a:t>
            </a:r>
            <a:r>
              <a:rPr lang="es-PE" dirty="0"/>
              <a:t>&lt;=600</a:t>
            </a:r>
          </a:p>
          <a:p>
            <a:r>
              <a:rPr lang="es-PE" dirty="0" err="1"/>
              <a:t>X11+X23+X33+X43</a:t>
            </a:r>
            <a:r>
              <a:rPr lang="es-PE" dirty="0"/>
              <a:t>&lt;=700</a:t>
            </a:r>
          </a:p>
          <a:p>
            <a:r>
              <a:rPr lang="es-PE" dirty="0" err="1"/>
              <a:t>Xij</a:t>
            </a:r>
            <a:r>
              <a:rPr lang="es-PE" dirty="0"/>
              <a:t>≥ 0</a:t>
            </a:r>
          </a:p>
        </p:txBody>
      </p:sp>
      <p:sp>
        <p:nvSpPr>
          <p:cNvPr id="8" name="1 Rectángulo">
            <a:extLst>
              <a:ext uri="{FF2B5EF4-FFF2-40B4-BE49-F238E27FC236}">
                <a16:creationId xmlns:a16="http://schemas.microsoft.com/office/drawing/2014/main" id="{91F92220-9228-4C25-9974-C3F09FB110DB}"/>
              </a:ext>
            </a:extLst>
          </p:cNvPr>
          <p:cNvSpPr/>
          <p:nvPr/>
        </p:nvSpPr>
        <p:spPr>
          <a:xfrm>
            <a:off x="9307902" y="3072348"/>
            <a:ext cx="2884098" cy="3785652"/>
          </a:xfrm>
          <a:prstGeom prst="rect">
            <a:avLst/>
          </a:prstGeom>
          <a:solidFill>
            <a:srgbClr val="FFFF00"/>
          </a:solidFill>
        </p:spPr>
        <p:txBody>
          <a:bodyPr wrap="square">
            <a:spAutoFit/>
          </a:bodyPr>
          <a:lstStyle/>
          <a:p>
            <a:r>
              <a:rPr lang="es-ES" sz="1600" dirty="0">
                <a:latin typeface="Arial Narrow" panose="020B0606020202030204" pitchFamily="34" charset="0"/>
              </a:rPr>
              <a:t>MIN </a:t>
            </a:r>
            <a:r>
              <a:rPr lang="es-ES" sz="1600" dirty="0" err="1">
                <a:latin typeface="Arial Narrow" panose="020B0606020202030204" pitchFamily="34" charset="0"/>
              </a:rPr>
              <a:t>900X11</a:t>
            </a:r>
            <a:r>
              <a:rPr lang="es-ES" sz="1600" dirty="0">
                <a:latin typeface="Arial Narrow" panose="020B0606020202030204" pitchFamily="34" charset="0"/>
              </a:rPr>
              <a:t> +  </a:t>
            </a:r>
            <a:r>
              <a:rPr lang="es-ES" sz="1600" dirty="0" err="1">
                <a:latin typeface="Arial Narrow" panose="020B0606020202030204" pitchFamily="34" charset="0"/>
              </a:rPr>
              <a:t>800X12</a:t>
            </a:r>
            <a:r>
              <a:rPr lang="es-ES" sz="1600" dirty="0">
                <a:latin typeface="Arial Narrow" panose="020B0606020202030204" pitchFamily="34" charset="0"/>
              </a:rPr>
              <a:t> +  </a:t>
            </a:r>
            <a:r>
              <a:rPr lang="es-ES" sz="1600" dirty="0" err="1">
                <a:latin typeface="Arial Narrow" panose="020B0606020202030204" pitchFamily="34" charset="0"/>
              </a:rPr>
              <a:t>900X13</a:t>
            </a:r>
            <a:r>
              <a:rPr lang="es-ES" sz="1600" dirty="0">
                <a:latin typeface="Arial Narrow" panose="020B0606020202030204" pitchFamily="34" charset="0"/>
              </a:rPr>
              <a:t> +  </a:t>
            </a:r>
          </a:p>
          <a:p>
            <a:r>
              <a:rPr lang="es-ES" sz="1600" dirty="0">
                <a:latin typeface="Arial Narrow" panose="020B0606020202030204" pitchFamily="34" charset="0"/>
              </a:rPr>
              <a:t>        </a:t>
            </a:r>
            <a:r>
              <a:rPr lang="es-ES" sz="1600" dirty="0" err="1">
                <a:latin typeface="Arial Narrow" panose="020B0606020202030204" pitchFamily="34" charset="0"/>
              </a:rPr>
              <a:t>900X21</a:t>
            </a:r>
            <a:r>
              <a:rPr lang="es-ES" sz="1600" dirty="0">
                <a:latin typeface="Arial Narrow" panose="020B0606020202030204" pitchFamily="34" charset="0"/>
              </a:rPr>
              <a:t> +</a:t>
            </a:r>
            <a:r>
              <a:rPr lang="es-ES" sz="1600" dirty="0" err="1">
                <a:latin typeface="Arial Narrow" panose="020B0606020202030204" pitchFamily="34" charset="0"/>
              </a:rPr>
              <a:t>1200X22</a:t>
            </a:r>
            <a:r>
              <a:rPr lang="es-ES" sz="1600" dirty="0">
                <a:latin typeface="Arial Narrow" panose="020B0606020202030204" pitchFamily="34" charset="0"/>
              </a:rPr>
              <a:t> +</a:t>
            </a:r>
            <a:r>
              <a:rPr lang="es-ES" sz="1600" dirty="0" err="1">
                <a:latin typeface="Arial Narrow" panose="020B0606020202030204" pitchFamily="34" charset="0"/>
              </a:rPr>
              <a:t>1300X23</a:t>
            </a:r>
            <a:r>
              <a:rPr lang="es-ES" sz="1600" dirty="0">
                <a:latin typeface="Arial Narrow" panose="020B0606020202030204" pitchFamily="34" charset="0"/>
              </a:rPr>
              <a:t> +</a:t>
            </a:r>
            <a:endParaRPr lang="es-PE" sz="1600" dirty="0">
              <a:latin typeface="Arial Narrow" panose="020B0606020202030204" pitchFamily="34" charset="0"/>
            </a:endParaRPr>
          </a:p>
          <a:p>
            <a:r>
              <a:rPr lang="es-ES" sz="1600" dirty="0">
                <a:latin typeface="Arial Narrow" panose="020B0606020202030204" pitchFamily="34" charset="0"/>
              </a:rPr>
              <a:t>        </a:t>
            </a:r>
            <a:r>
              <a:rPr lang="es-ES" sz="1600" dirty="0" err="1">
                <a:latin typeface="Arial Narrow" panose="020B0606020202030204" pitchFamily="34" charset="0"/>
              </a:rPr>
              <a:t>800X31</a:t>
            </a:r>
            <a:r>
              <a:rPr lang="es-ES" sz="1600" dirty="0">
                <a:latin typeface="Arial Narrow" panose="020B0606020202030204" pitchFamily="34" charset="0"/>
              </a:rPr>
              <a:t> +</a:t>
            </a:r>
            <a:r>
              <a:rPr lang="es-ES" sz="1600" dirty="0" err="1">
                <a:latin typeface="Arial Narrow" panose="020B0606020202030204" pitchFamily="34" charset="0"/>
              </a:rPr>
              <a:t>1300X32</a:t>
            </a:r>
            <a:r>
              <a:rPr lang="es-ES" sz="1600" dirty="0">
                <a:latin typeface="Arial Narrow" panose="020B0606020202030204" pitchFamily="34" charset="0"/>
              </a:rPr>
              <a:t> +  </a:t>
            </a:r>
            <a:r>
              <a:rPr lang="es-ES" sz="1600" dirty="0" err="1">
                <a:latin typeface="Arial Narrow" panose="020B0606020202030204" pitchFamily="34" charset="0"/>
              </a:rPr>
              <a:t>500X33</a:t>
            </a:r>
            <a:r>
              <a:rPr lang="es-ES" sz="1600" dirty="0">
                <a:latin typeface="Arial Narrow" panose="020B0606020202030204" pitchFamily="34" charset="0"/>
              </a:rPr>
              <a:t> + </a:t>
            </a:r>
          </a:p>
          <a:p>
            <a:r>
              <a:rPr lang="es-ES" sz="1600" dirty="0">
                <a:latin typeface="Arial Narrow" panose="020B0606020202030204" pitchFamily="34" charset="0"/>
              </a:rPr>
              <a:t>      </a:t>
            </a:r>
            <a:r>
              <a:rPr lang="es-ES" sz="1600" dirty="0" err="1">
                <a:latin typeface="Arial Narrow" panose="020B0606020202030204" pitchFamily="34" charset="0"/>
              </a:rPr>
              <a:t>1000X41</a:t>
            </a:r>
            <a:r>
              <a:rPr lang="es-ES" sz="1600" dirty="0">
                <a:latin typeface="Arial Narrow" panose="020B0606020202030204" pitchFamily="34" charset="0"/>
              </a:rPr>
              <a:t> +</a:t>
            </a:r>
            <a:r>
              <a:rPr lang="es-ES" sz="1600" dirty="0" err="1">
                <a:latin typeface="Arial Narrow" panose="020B0606020202030204" pitchFamily="34" charset="0"/>
              </a:rPr>
              <a:t>1400X42</a:t>
            </a:r>
            <a:r>
              <a:rPr lang="es-ES" sz="1600" dirty="0">
                <a:latin typeface="Arial Narrow" panose="020B0606020202030204" pitchFamily="34" charset="0"/>
              </a:rPr>
              <a:t> + </a:t>
            </a:r>
            <a:r>
              <a:rPr lang="es-ES" sz="1600" dirty="0" err="1">
                <a:latin typeface="Arial Narrow" panose="020B0606020202030204" pitchFamily="34" charset="0"/>
              </a:rPr>
              <a:t>1000X43</a:t>
            </a:r>
            <a:r>
              <a:rPr lang="es-ES" sz="1600" dirty="0">
                <a:latin typeface="Arial Narrow" panose="020B0606020202030204" pitchFamily="34" charset="0"/>
              </a:rPr>
              <a:t> </a:t>
            </a:r>
            <a:endParaRPr lang="es-PE" sz="1600" dirty="0">
              <a:latin typeface="Arial Narrow" panose="020B0606020202030204" pitchFamily="34" charset="0"/>
            </a:endParaRPr>
          </a:p>
          <a:p>
            <a:r>
              <a:rPr lang="es-PE" sz="1600" dirty="0" err="1">
                <a:solidFill>
                  <a:srgbClr val="FF0000"/>
                </a:solidFill>
                <a:latin typeface="Arial Narrow" panose="020B0606020202030204" pitchFamily="34" charset="0"/>
              </a:rPr>
              <a:t>ST</a:t>
            </a:r>
            <a:endParaRPr lang="es-PE" sz="1600" dirty="0">
              <a:solidFill>
                <a:srgbClr val="FF0000"/>
              </a:solidFill>
              <a:latin typeface="Arial Narrow" panose="020B0606020202030204" pitchFamily="34" charset="0"/>
            </a:endParaRPr>
          </a:p>
          <a:p>
            <a:r>
              <a:rPr lang="es-PE" sz="1600" dirty="0">
                <a:latin typeface="Arial Narrow" panose="020B0606020202030204" pitchFamily="34" charset="0"/>
              </a:rPr>
              <a:t>!Con respecto al requerimiento</a:t>
            </a:r>
          </a:p>
          <a:p>
            <a:r>
              <a:rPr lang="es-PE" sz="1600" dirty="0" err="1">
                <a:latin typeface="Arial Narrow" panose="020B0606020202030204" pitchFamily="34" charset="0"/>
              </a:rPr>
              <a:t>X11</a:t>
            </a:r>
            <a:r>
              <a:rPr lang="es-PE" sz="1600" dirty="0">
                <a:latin typeface="Arial Narrow" panose="020B0606020202030204" pitchFamily="34" charset="0"/>
              </a:rPr>
              <a:t> + </a:t>
            </a:r>
            <a:r>
              <a:rPr lang="es-PE" sz="1600" dirty="0" err="1">
                <a:latin typeface="Arial Narrow" panose="020B0606020202030204" pitchFamily="34" charset="0"/>
              </a:rPr>
              <a:t>X12</a:t>
            </a:r>
            <a:r>
              <a:rPr lang="es-PE" sz="1600" dirty="0">
                <a:latin typeface="Arial Narrow" panose="020B0606020202030204" pitchFamily="34" charset="0"/>
              </a:rPr>
              <a:t> + </a:t>
            </a:r>
            <a:r>
              <a:rPr lang="es-PE" sz="1600" dirty="0" err="1">
                <a:latin typeface="Arial Narrow" panose="020B0606020202030204" pitchFamily="34" charset="0"/>
              </a:rPr>
              <a:t>X13</a:t>
            </a:r>
            <a:r>
              <a:rPr lang="es-PE" sz="1600" dirty="0">
                <a:latin typeface="Arial Narrow" panose="020B0606020202030204" pitchFamily="34" charset="0"/>
              </a:rPr>
              <a:t>	&gt;= 150</a:t>
            </a:r>
          </a:p>
          <a:p>
            <a:r>
              <a:rPr lang="es-PE" sz="1600" dirty="0" err="1">
                <a:latin typeface="Arial Narrow" panose="020B0606020202030204" pitchFamily="34" charset="0"/>
              </a:rPr>
              <a:t>X21</a:t>
            </a:r>
            <a:r>
              <a:rPr lang="es-PE" sz="1600" dirty="0">
                <a:latin typeface="Arial Narrow" panose="020B0606020202030204" pitchFamily="34" charset="0"/>
              </a:rPr>
              <a:t> + </a:t>
            </a:r>
            <a:r>
              <a:rPr lang="es-PE" sz="1600" dirty="0" err="1">
                <a:latin typeface="Arial Narrow" panose="020B0606020202030204" pitchFamily="34" charset="0"/>
              </a:rPr>
              <a:t>X22</a:t>
            </a:r>
            <a:r>
              <a:rPr lang="es-PE" sz="1600" dirty="0">
                <a:latin typeface="Arial Narrow" panose="020B0606020202030204" pitchFamily="34" charset="0"/>
              </a:rPr>
              <a:t> + </a:t>
            </a:r>
            <a:r>
              <a:rPr lang="es-PE" sz="1600" dirty="0" err="1">
                <a:latin typeface="Arial Narrow" panose="020B0606020202030204" pitchFamily="34" charset="0"/>
              </a:rPr>
              <a:t>X23</a:t>
            </a:r>
            <a:r>
              <a:rPr lang="es-PE" sz="1600" dirty="0">
                <a:latin typeface="Arial Narrow" panose="020B0606020202030204" pitchFamily="34" charset="0"/>
              </a:rPr>
              <a:t>	&gt;= 250</a:t>
            </a:r>
          </a:p>
          <a:p>
            <a:r>
              <a:rPr lang="es-PE" sz="1600" dirty="0" err="1">
                <a:latin typeface="Arial Narrow" panose="020B0606020202030204" pitchFamily="34" charset="0"/>
              </a:rPr>
              <a:t>X31</a:t>
            </a:r>
            <a:r>
              <a:rPr lang="es-PE" sz="1600" dirty="0">
                <a:latin typeface="Arial Narrow" panose="020B0606020202030204" pitchFamily="34" charset="0"/>
              </a:rPr>
              <a:t> + </a:t>
            </a:r>
            <a:r>
              <a:rPr lang="es-PE" sz="1600" dirty="0" err="1">
                <a:latin typeface="Arial Narrow" panose="020B0606020202030204" pitchFamily="34" charset="0"/>
              </a:rPr>
              <a:t>X32</a:t>
            </a:r>
            <a:r>
              <a:rPr lang="es-PE" sz="1600" dirty="0">
                <a:latin typeface="Arial Narrow" panose="020B0606020202030204" pitchFamily="34" charset="0"/>
              </a:rPr>
              <a:t> + </a:t>
            </a:r>
            <a:r>
              <a:rPr lang="es-PE" sz="1600" dirty="0" err="1">
                <a:latin typeface="Arial Narrow" panose="020B0606020202030204" pitchFamily="34" charset="0"/>
              </a:rPr>
              <a:t>X33</a:t>
            </a:r>
            <a:r>
              <a:rPr lang="es-PE" sz="1600" dirty="0">
                <a:latin typeface="Arial Narrow" panose="020B0606020202030204" pitchFamily="34" charset="0"/>
              </a:rPr>
              <a:t>	&gt;= 350</a:t>
            </a:r>
          </a:p>
          <a:p>
            <a:r>
              <a:rPr lang="es-PE" sz="1600" dirty="0" err="1">
                <a:latin typeface="Arial Narrow" panose="020B0606020202030204" pitchFamily="34" charset="0"/>
              </a:rPr>
              <a:t>X41</a:t>
            </a:r>
            <a:r>
              <a:rPr lang="es-PE" sz="1600" dirty="0">
                <a:latin typeface="Arial Narrow" panose="020B0606020202030204" pitchFamily="34" charset="0"/>
              </a:rPr>
              <a:t> + </a:t>
            </a:r>
            <a:r>
              <a:rPr lang="es-PE" sz="1600" dirty="0" err="1">
                <a:latin typeface="Arial Narrow" panose="020B0606020202030204" pitchFamily="34" charset="0"/>
              </a:rPr>
              <a:t>X42</a:t>
            </a:r>
            <a:r>
              <a:rPr lang="es-PE" sz="1600" dirty="0">
                <a:latin typeface="Arial Narrow" panose="020B0606020202030204" pitchFamily="34" charset="0"/>
              </a:rPr>
              <a:t> + </a:t>
            </a:r>
            <a:r>
              <a:rPr lang="es-PE" sz="1600" dirty="0" err="1">
                <a:latin typeface="Arial Narrow" panose="020B0606020202030204" pitchFamily="34" charset="0"/>
              </a:rPr>
              <a:t>X43</a:t>
            </a:r>
            <a:r>
              <a:rPr lang="es-PE" sz="1600" dirty="0">
                <a:latin typeface="Arial Narrow" panose="020B0606020202030204" pitchFamily="34" charset="0"/>
              </a:rPr>
              <a:t>	&gt;= 480</a:t>
            </a:r>
          </a:p>
          <a:p>
            <a:r>
              <a:rPr lang="es-PE" sz="1600" dirty="0">
                <a:latin typeface="Arial Narrow" panose="020B0606020202030204" pitchFamily="34" charset="0"/>
              </a:rPr>
              <a:t>!Con respecto a la provisión</a:t>
            </a:r>
          </a:p>
          <a:p>
            <a:r>
              <a:rPr lang="es-PE" sz="1600" dirty="0" err="1">
                <a:latin typeface="Arial Narrow" panose="020B0606020202030204" pitchFamily="34" charset="0"/>
              </a:rPr>
              <a:t>X11</a:t>
            </a:r>
            <a:r>
              <a:rPr lang="es-PE" sz="1600" dirty="0">
                <a:latin typeface="Arial Narrow" panose="020B0606020202030204" pitchFamily="34" charset="0"/>
              </a:rPr>
              <a:t> + </a:t>
            </a:r>
            <a:r>
              <a:rPr lang="es-PE" sz="1600" dirty="0" err="1">
                <a:latin typeface="Arial Narrow" panose="020B0606020202030204" pitchFamily="34" charset="0"/>
              </a:rPr>
              <a:t>X21</a:t>
            </a:r>
            <a:r>
              <a:rPr lang="es-PE" sz="1600" dirty="0">
                <a:latin typeface="Arial Narrow" panose="020B0606020202030204" pitchFamily="34" charset="0"/>
              </a:rPr>
              <a:t> + </a:t>
            </a:r>
            <a:r>
              <a:rPr lang="es-PE" sz="1600" dirty="0" err="1">
                <a:latin typeface="Arial Narrow" panose="020B0606020202030204" pitchFamily="34" charset="0"/>
              </a:rPr>
              <a:t>X31</a:t>
            </a:r>
            <a:r>
              <a:rPr lang="es-PE" sz="1600" dirty="0">
                <a:latin typeface="Arial Narrow" panose="020B0606020202030204" pitchFamily="34" charset="0"/>
              </a:rPr>
              <a:t> + </a:t>
            </a:r>
            <a:r>
              <a:rPr lang="es-PE" sz="1600" dirty="0" err="1">
                <a:latin typeface="Arial Narrow" panose="020B0606020202030204" pitchFamily="34" charset="0"/>
              </a:rPr>
              <a:t>X41</a:t>
            </a:r>
            <a:r>
              <a:rPr lang="es-PE" sz="1600" dirty="0">
                <a:latin typeface="Arial Narrow" panose="020B0606020202030204" pitchFamily="34" charset="0"/>
              </a:rPr>
              <a:t> &lt;= 300</a:t>
            </a:r>
          </a:p>
          <a:p>
            <a:r>
              <a:rPr lang="es-PE" sz="1600" dirty="0" err="1">
                <a:latin typeface="Arial Narrow" panose="020B0606020202030204" pitchFamily="34" charset="0"/>
              </a:rPr>
              <a:t>X12</a:t>
            </a:r>
            <a:r>
              <a:rPr lang="es-PE" sz="1600" dirty="0">
                <a:latin typeface="Arial Narrow" panose="020B0606020202030204" pitchFamily="34" charset="0"/>
              </a:rPr>
              <a:t> + </a:t>
            </a:r>
            <a:r>
              <a:rPr lang="es-PE" sz="1600" dirty="0" err="1">
                <a:latin typeface="Arial Narrow" panose="020B0606020202030204" pitchFamily="34" charset="0"/>
              </a:rPr>
              <a:t>X22</a:t>
            </a:r>
            <a:r>
              <a:rPr lang="es-PE" sz="1600" dirty="0">
                <a:latin typeface="Arial Narrow" panose="020B0606020202030204" pitchFamily="34" charset="0"/>
              </a:rPr>
              <a:t> + </a:t>
            </a:r>
            <a:r>
              <a:rPr lang="es-PE" sz="1600" dirty="0" err="1">
                <a:latin typeface="Arial Narrow" panose="020B0606020202030204" pitchFamily="34" charset="0"/>
              </a:rPr>
              <a:t>X32</a:t>
            </a:r>
            <a:r>
              <a:rPr lang="es-PE" sz="1600" dirty="0">
                <a:latin typeface="Arial Narrow" panose="020B0606020202030204" pitchFamily="34" charset="0"/>
              </a:rPr>
              <a:t> + </a:t>
            </a:r>
            <a:r>
              <a:rPr lang="es-PE" sz="1600" dirty="0" err="1">
                <a:latin typeface="Arial Narrow" panose="020B0606020202030204" pitchFamily="34" charset="0"/>
              </a:rPr>
              <a:t>X42</a:t>
            </a:r>
            <a:r>
              <a:rPr lang="es-PE" sz="1600" dirty="0">
                <a:latin typeface="Arial Narrow" panose="020B0606020202030204" pitchFamily="34" charset="0"/>
              </a:rPr>
              <a:t> &lt;= 600</a:t>
            </a:r>
          </a:p>
          <a:p>
            <a:r>
              <a:rPr lang="es-PE" sz="1600" dirty="0" err="1">
                <a:latin typeface="Arial Narrow" panose="020B0606020202030204" pitchFamily="34" charset="0"/>
              </a:rPr>
              <a:t>X13</a:t>
            </a:r>
            <a:r>
              <a:rPr lang="es-PE" sz="1600" dirty="0">
                <a:latin typeface="Arial Narrow" panose="020B0606020202030204" pitchFamily="34" charset="0"/>
              </a:rPr>
              <a:t> + </a:t>
            </a:r>
            <a:r>
              <a:rPr lang="es-PE" sz="1600" dirty="0" err="1">
                <a:latin typeface="Arial Narrow" panose="020B0606020202030204" pitchFamily="34" charset="0"/>
              </a:rPr>
              <a:t>X23</a:t>
            </a:r>
            <a:r>
              <a:rPr lang="es-PE" sz="1600" dirty="0">
                <a:latin typeface="Arial Narrow" panose="020B0606020202030204" pitchFamily="34" charset="0"/>
              </a:rPr>
              <a:t> + </a:t>
            </a:r>
            <a:r>
              <a:rPr lang="es-PE" sz="1600" dirty="0" err="1">
                <a:latin typeface="Arial Narrow" panose="020B0606020202030204" pitchFamily="34" charset="0"/>
              </a:rPr>
              <a:t>X33</a:t>
            </a:r>
            <a:r>
              <a:rPr lang="es-PE" sz="1600" dirty="0">
                <a:latin typeface="Arial Narrow" panose="020B0606020202030204" pitchFamily="34" charset="0"/>
              </a:rPr>
              <a:t> + </a:t>
            </a:r>
            <a:r>
              <a:rPr lang="es-PE" sz="1600" dirty="0" err="1">
                <a:latin typeface="Arial Narrow" panose="020B0606020202030204" pitchFamily="34" charset="0"/>
              </a:rPr>
              <a:t>X43</a:t>
            </a:r>
            <a:r>
              <a:rPr lang="es-PE" sz="1600" dirty="0">
                <a:latin typeface="Arial Narrow" panose="020B0606020202030204" pitchFamily="34" charset="0"/>
              </a:rPr>
              <a:t> &lt;= 700</a:t>
            </a:r>
          </a:p>
          <a:p>
            <a:r>
              <a:rPr lang="es-PE" sz="1600" dirty="0" err="1">
                <a:solidFill>
                  <a:srgbClr val="FF0000"/>
                </a:solidFill>
                <a:latin typeface="Arial Narrow" panose="020B0606020202030204" pitchFamily="34" charset="0"/>
              </a:rPr>
              <a:t>END</a:t>
            </a:r>
            <a:endParaRPr lang="es-PE" sz="1600" dirty="0">
              <a:latin typeface="Arial Narrow" panose="020B0606020202030204" pitchFamily="34" charset="0"/>
            </a:endParaRPr>
          </a:p>
        </p:txBody>
      </p:sp>
    </p:spTree>
    <p:extLst>
      <p:ext uri="{BB962C8B-B14F-4D97-AF65-F5344CB8AC3E}">
        <p14:creationId xmlns:p14="http://schemas.microsoft.com/office/powerpoint/2010/main" val="772416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2" grpId="0" animBg="1"/>
      <p:bldP spid="4" grpId="0" animBg="1"/>
      <p:bldP spid="10" grpId="0" animBg="1"/>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05702" y="1134875"/>
            <a:ext cx="9693905" cy="707886"/>
          </a:xfrm>
          <a:prstGeom prst="rect">
            <a:avLst/>
          </a:prstGeom>
        </p:spPr>
        <p:txBody>
          <a:bodyPr wrap="square">
            <a:spAutoFit/>
          </a:bodyPr>
          <a:lstStyle/>
          <a:p>
            <a:pPr algn="just"/>
            <a:r>
              <a:rPr lang="es-PE" sz="2000" b="1" dirty="0" err="1"/>
              <a:t>COMODOY</a:t>
            </a:r>
            <a:r>
              <a:rPr lang="es-PE" sz="2000" b="1" dirty="0"/>
              <a:t> tiene  tres divisiones que fabrican un producto en el que cada unidad completa consiste en cuatro unidades de componentes A y tres unidades del componente B. </a:t>
            </a:r>
          </a:p>
        </p:txBody>
      </p:sp>
      <p:graphicFrame>
        <p:nvGraphicFramePr>
          <p:cNvPr id="3" name="2 Tabla"/>
          <p:cNvGraphicFramePr>
            <a:graphicFrameLocks noGrp="1"/>
          </p:cNvGraphicFramePr>
          <p:nvPr/>
        </p:nvGraphicFramePr>
        <p:xfrm>
          <a:off x="204157" y="1768443"/>
          <a:ext cx="5934973" cy="1795780"/>
        </p:xfrm>
        <a:graphic>
          <a:graphicData uri="http://schemas.openxmlformats.org/drawingml/2006/table">
            <a:tbl>
              <a:tblPr firstRow="1" firstCol="1" bandRow="1">
                <a:tableStyleId>{5C22544A-7EE6-4342-B048-85BDC9FD1C3A}</a:tableStyleId>
              </a:tblPr>
              <a:tblGrid>
                <a:gridCol w="874143">
                  <a:extLst>
                    <a:ext uri="{9D8B030D-6E8A-4147-A177-3AD203B41FA5}">
                      <a16:colId xmlns:a16="http://schemas.microsoft.com/office/drawing/2014/main" val="20000"/>
                    </a:ext>
                  </a:extLst>
                </a:gridCol>
                <a:gridCol w="1547273">
                  <a:extLst>
                    <a:ext uri="{9D8B030D-6E8A-4147-A177-3AD203B41FA5}">
                      <a16:colId xmlns:a16="http://schemas.microsoft.com/office/drawing/2014/main" val="20001"/>
                    </a:ext>
                  </a:extLst>
                </a:gridCol>
                <a:gridCol w="1549610">
                  <a:extLst>
                    <a:ext uri="{9D8B030D-6E8A-4147-A177-3AD203B41FA5}">
                      <a16:colId xmlns:a16="http://schemas.microsoft.com/office/drawing/2014/main" val="20002"/>
                    </a:ext>
                  </a:extLst>
                </a:gridCol>
                <a:gridCol w="1030945">
                  <a:extLst>
                    <a:ext uri="{9D8B030D-6E8A-4147-A177-3AD203B41FA5}">
                      <a16:colId xmlns:a16="http://schemas.microsoft.com/office/drawing/2014/main" val="20003"/>
                    </a:ext>
                  </a:extLst>
                </a:gridCol>
                <a:gridCol w="933002">
                  <a:extLst>
                    <a:ext uri="{9D8B030D-6E8A-4147-A177-3AD203B41FA5}">
                      <a16:colId xmlns:a16="http://schemas.microsoft.com/office/drawing/2014/main" val="20004"/>
                    </a:ext>
                  </a:extLst>
                </a:gridCol>
              </a:tblGrid>
              <a:tr h="320035">
                <a:tc rowSpan="2">
                  <a:txBody>
                    <a:bodyPr/>
                    <a:lstStyle/>
                    <a:p>
                      <a:pPr algn="ctr">
                        <a:lnSpc>
                          <a:spcPct val="150000"/>
                        </a:lnSpc>
                        <a:spcAft>
                          <a:spcPts val="0"/>
                        </a:spcAft>
                      </a:pPr>
                      <a:r>
                        <a:rPr lang="es-ES" sz="1800" b="1" dirty="0">
                          <a:effectLst/>
                          <a:latin typeface="Arial Narrow" panose="020B0606020202030204" pitchFamily="34" charset="0"/>
                        </a:rPr>
                        <a:t>División</a:t>
                      </a:r>
                      <a:endParaRPr lang="es-PE" sz="1800" b="1" dirty="0">
                        <a:effectLst/>
                        <a:latin typeface="Arial Narrow" panose="020B0606020202030204" pitchFamily="34" charset="0"/>
                        <a:ea typeface="Calibri"/>
                      </a:endParaRPr>
                    </a:p>
                  </a:txBody>
                  <a:tcPr marL="68580" marR="68580" marT="0" marB="0"/>
                </a:tc>
                <a:tc gridSpan="2">
                  <a:txBody>
                    <a:bodyPr/>
                    <a:lstStyle/>
                    <a:p>
                      <a:pPr algn="ctr">
                        <a:lnSpc>
                          <a:spcPct val="150000"/>
                        </a:lnSpc>
                        <a:spcAft>
                          <a:spcPts val="0"/>
                        </a:spcAft>
                      </a:pPr>
                      <a:r>
                        <a:rPr lang="es-ES" sz="1800" b="1" dirty="0">
                          <a:effectLst/>
                          <a:latin typeface="Arial Narrow" panose="020B0606020202030204" pitchFamily="34" charset="0"/>
                        </a:rPr>
                        <a:t>Entrada/corrida (unid)</a:t>
                      </a:r>
                      <a:endParaRPr lang="es-PE" sz="1800" b="1" dirty="0">
                        <a:effectLst/>
                        <a:latin typeface="Arial Narrow" panose="020B0606020202030204" pitchFamily="34" charset="0"/>
                        <a:ea typeface="Calibri"/>
                      </a:endParaRPr>
                    </a:p>
                  </a:txBody>
                  <a:tcPr marL="68580" marR="68580" marT="0" marB="0"/>
                </a:tc>
                <a:tc hMerge="1">
                  <a:txBody>
                    <a:bodyPr/>
                    <a:lstStyle/>
                    <a:p>
                      <a:endParaRPr lang="es-PE"/>
                    </a:p>
                  </a:txBody>
                  <a:tcPr/>
                </a:tc>
                <a:tc gridSpan="2">
                  <a:txBody>
                    <a:bodyPr/>
                    <a:lstStyle/>
                    <a:p>
                      <a:pPr algn="just">
                        <a:lnSpc>
                          <a:spcPct val="150000"/>
                        </a:lnSpc>
                        <a:spcAft>
                          <a:spcPts val="0"/>
                        </a:spcAft>
                      </a:pPr>
                      <a:r>
                        <a:rPr lang="es-ES" sz="1800" b="1" dirty="0">
                          <a:effectLst/>
                          <a:latin typeface="Arial Narrow" panose="020B0606020202030204" pitchFamily="34" charset="0"/>
                        </a:rPr>
                        <a:t>Salida/corrida (unid)</a:t>
                      </a:r>
                      <a:endParaRPr lang="es-PE" sz="1800" b="1" dirty="0">
                        <a:effectLst/>
                        <a:latin typeface="Arial Narrow" panose="020B0606020202030204" pitchFamily="34" charset="0"/>
                        <a:ea typeface="Calibri"/>
                      </a:endParaRPr>
                    </a:p>
                  </a:txBody>
                  <a:tcPr marL="68580" marR="68580" marT="0" marB="0"/>
                </a:tc>
                <a:tc hMerge="1">
                  <a:txBody>
                    <a:bodyPr/>
                    <a:lstStyle/>
                    <a:p>
                      <a:endParaRPr lang="es-PE"/>
                    </a:p>
                  </a:txBody>
                  <a:tcPr/>
                </a:tc>
                <a:extLst>
                  <a:ext uri="{0D108BD9-81ED-4DB2-BD59-A6C34878D82A}">
                    <a16:rowId xmlns:a16="http://schemas.microsoft.com/office/drawing/2014/main" val="10000"/>
                  </a:ext>
                </a:extLst>
              </a:tr>
              <a:tr h="320035">
                <a:tc vMerge="1">
                  <a:txBody>
                    <a:bodyPr/>
                    <a:lstStyle/>
                    <a:p>
                      <a:endParaRPr lang="es-PE"/>
                    </a:p>
                  </a:txBody>
                  <a:tcPr/>
                </a:tc>
                <a:tc>
                  <a:txBody>
                    <a:bodyPr/>
                    <a:lstStyle/>
                    <a:p>
                      <a:pPr algn="ctr">
                        <a:lnSpc>
                          <a:spcPct val="150000"/>
                        </a:lnSpc>
                        <a:spcAft>
                          <a:spcPts val="0"/>
                        </a:spcAft>
                      </a:pPr>
                      <a:r>
                        <a:rPr lang="es-ES" sz="1800" b="1" dirty="0">
                          <a:solidFill>
                            <a:schemeClr val="bg1"/>
                          </a:solidFill>
                          <a:effectLst/>
                          <a:latin typeface="Arial Narrow" panose="020B0606020202030204" pitchFamily="34" charset="0"/>
                        </a:rPr>
                        <a:t>Materia Prima 1</a:t>
                      </a:r>
                      <a:endParaRPr lang="es-PE" sz="1800" b="1" dirty="0">
                        <a:solidFill>
                          <a:schemeClr val="bg1"/>
                        </a:solidFill>
                        <a:effectLst/>
                        <a:latin typeface="Arial Narrow" panose="020B0606020202030204" pitchFamily="34" charset="0"/>
                        <a:ea typeface="Calibri"/>
                      </a:endParaRPr>
                    </a:p>
                  </a:txBody>
                  <a:tcPr marL="68580" marR="68580" marT="0" marB="0">
                    <a:solidFill>
                      <a:schemeClr val="accent1"/>
                    </a:solidFill>
                  </a:tcPr>
                </a:tc>
                <a:tc>
                  <a:txBody>
                    <a:bodyPr/>
                    <a:lstStyle/>
                    <a:p>
                      <a:pPr algn="ctr">
                        <a:lnSpc>
                          <a:spcPct val="150000"/>
                        </a:lnSpc>
                        <a:spcAft>
                          <a:spcPts val="0"/>
                        </a:spcAft>
                      </a:pPr>
                      <a:r>
                        <a:rPr lang="es-ES" sz="1800" b="1" dirty="0">
                          <a:solidFill>
                            <a:schemeClr val="bg1"/>
                          </a:solidFill>
                          <a:effectLst/>
                          <a:latin typeface="Arial Narrow" panose="020B0606020202030204" pitchFamily="34" charset="0"/>
                        </a:rPr>
                        <a:t>Materia Prima 2</a:t>
                      </a:r>
                      <a:endParaRPr lang="es-PE" sz="1800" b="1" dirty="0">
                        <a:solidFill>
                          <a:schemeClr val="bg1"/>
                        </a:solidFill>
                        <a:effectLst/>
                        <a:latin typeface="Arial Narrow" panose="020B0606020202030204" pitchFamily="34" charset="0"/>
                        <a:ea typeface="Calibri"/>
                      </a:endParaRPr>
                    </a:p>
                  </a:txBody>
                  <a:tcPr marL="68580" marR="68580" marT="0" marB="0">
                    <a:solidFill>
                      <a:schemeClr val="accent1"/>
                    </a:solidFill>
                  </a:tcPr>
                </a:tc>
                <a:tc>
                  <a:txBody>
                    <a:bodyPr/>
                    <a:lstStyle/>
                    <a:p>
                      <a:pPr algn="ctr">
                        <a:lnSpc>
                          <a:spcPct val="150000"/>
                        </a:lnSpc>
                        <a:spcAft>
                          <a:spcPts val="0"/>
                        </a:spcAft>
                      </a:pPr>
                      <a:r>
                        <a:rPr lang="es-ES" sz="1800" b="1" dirty="0">
                          <a:solidFill>
                            <a:schemeClr val="bg1"/>
                          </a:solidFill>
                          <a:effectLst/>
                          <a:latin typeface="Arial Narrow" panose="020B0606020202030204" pitchFamily="34" charset="0"/>
                        </a:rPr>
                        <a:t>Comp. A</a:t>
                      </a:r>
                      <a:endParaRPr lang="es-PE" sz="1800" b="1" dirty="0">
                        <a:solidFill>
                          <a:schemeClr val="bg1"/>
                        </a:solidFill>
                        <a:effectLst/>
                        <a:latin typeface="Arial Narrow" panose="020B0606020202030204" pitchFamily="34" charset="0"/>
                        <a:ea typeface="Calibri"/>
                      </a:endParaRPr>
                    </a:p>
                  </a:txBody>
                  <a:tcPr marL="68580" marR="68580" marT="0" marB="0">
                    <a:solidFill>
                      <a:schemeClr val="accent1"/>
                    </a:solidFill>
                  </a:tcPr>
                </a:tc>
                <a:tc>
                  <a:txBody>
                    <a:bodyPr/>
                    <a:lstStyle/>
                    <a:p>
                      <a:pPr algn="ctr">
                        <a:lnSpc>
                          <a:spcPct val="150000"/>
                        </a:lnSpc>
                        <a:spcAft>
                          <a:spcPts val="0"/>
                        </a:spcAft>
                      </a:pPr>
                      <a:r>
                        <a:rPr lang="es-ES" sz="1800" b="1" dirty="0">
                          <a:solidFill>
                            <a:schemeClr val="bg1"/>
                          </a:solidFill>
                          <a:effectLst/>
                          <a:latin typeface="Arial Narrow" panose="020B0606020202030204" pitchFamily="34" charset="0"/>
                        </a:rPr>
                        <a:t>Comp. B</a:t>
                      </a:r>
                      <a:endParaRPr lang="es-PE" sz="1800" b="1" dirty="0">
                        <a:solidFill>
                          <a:schemeClr val="bg1"/>
                        </a:solidFill>
                        <a:effectLst/>
                        <a:latin typeface="Arial Narrow" panose="020B0606020202030204" pitchFamily="34" charset="0"/>
                        <a:ea typeface="Calibri"/>
                      </a:endParaRPr>
                    </a:p>
                  </a:txBody>
                  <a:tcPr marL="68580" marR="68580" marT="0" marB="0">
                    <a:solidFill>
                      <a:schemeClr val="accent1"/>
                    </a:solidFill>
                  </a:tcPr>
                </a:tc>
                <a:extLst>
                  <a:ext uri="{0D108BD9-81ED-4DB2-BD59-A6C34878D82A}">
                    <a16:rowId xmlns:a16="http://schemas.microsoft.com/office/drawing/2014/main" val="10001"/>
                  </a:ext>
                </a:extLst>
              </a:tr>
              <a:tr h="320035">
                <a:tc>
                  <a:txBody>
                    <a:bodyPr/>
                    <a:lstStyle/>
                    <a:p>
                      <a:pPr algn="ctr">
                        <a:lnSpc>
                          <a:spcPct val="150000"/>
                        </a:lnSpc>
                        <a:spcAft>
                          <a:spcPts val="0"/>
                        </a:spcAft>
                      </a:pPr>
                      <a:r>
                        <a:rPr lang="es-ES" sz="1800" b="1" dirty="0">
                          <a:effectLst/>
                          <a:latin typeface="Arial Narrow" panose="020B0606020202030204" pitchFamily="34" charset="0"/>
                        </a:rPr>
                        <a:t>1</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8</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6</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7</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5</a:t>
                      </a:r>
                      <a:endParaRPr lang="es-PE" sz="18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2"/>
                  </a:ext>
                </a:extLst>
              </a:tr>
              <a:tr h="320035">
                <a:tc>
                  <a:txBody>
                    <a:bodyPr/>
                    <a:lstStyle/>
                    <a:p>
                      <a:pPr algn="ctr">
                        <a:lnSpc>
                          <a:spcPct val="150000"/>
                        </a:lnSpc>
                        <a:spcAft>
                          <a:spcPts val="0"/>
                        </a:spcAft>
                      </a:pPr>
                      <a:r>
                        <a:rPr lang="es-ES" sz="1800" b="1">
                          <a:effectLst/>
                          <a:latin typeface="Arial Narrow" panose="020B0606020202030204" pitchFamily="34" charset="0"/>
                        </a:rPr>
                        <a:t>2</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5</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9</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6</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9</a:t>
                      </a:r>
                      <a:endParaRPr lang="es-PE" sz="18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3"/>
                  </a:ext>
                </a:extLst>
              </a:tr>
              <a:tr h="320035">
                <a:tc>
                  <a:txBody>
                    <a:bodyPr/>
                    <a:lstStyle/>
                    <a:p>
                      <a:pPr algn="ctr">
                        <a:lnSpc>
                          <a:spcPct val="150000"/>
                        </a:lnSpc>
                        <a:spcAft>
                          <a:spcPts val="0"/>
                        </a:spcAft>
                      </a:pPr>
                      <a:r>
                        <a:rPr lang="es-ES" sz="1800" b="1">
                          <a:effectLst/>
                          <a:latin typeface="Arial Narrow" panose="020B0606020202030204" pitchFamily="34" charset="0"/>
                        </a:rPr>
                        <a:t>3</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3</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8</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8</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4</a:t>
                      </a:r>
                      <a:endParaRPr lang="es-PE" sz="18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4"/>
                  </a:ext>
                </a:extLst>
              </a:tr>
            </a:tbl>
          </a:graphicData>
        </a:graphic>
      </p:graphicFrame>
      <p:sp>
        <p:nvSpPr>
          <p:cNvPr id="4" name="3 Rectángulo"/>
          <p:cNvSpPr/>
          <p:nvPr/>
        </p:nvSpPr>
        <p:spPr>
          <a:xfrm>
            <a:off x="97076" y="3794983"/>
            <a:ext cx="9693905" cy="2554545"/>
          </a:xfrm>
          <a:prstGeom prst="rect">
            <a:avLst/>
          </a:prstGeom>
        </p:spPr>
        <p:txBody>
          <a:bodyPr wrap="square">
            <a:spAutoFit/>
          </a:bodyPr>
          <a:lstStyle/>
          <a:p>
            <a:pPr algn="just"/>
            <a:r>
              <a:rPr lang="es-PE" sz="2000" b="1" dirty="0"/>
              <a:t>Los  componentes A y B se fabrican a partir de dos materias primas diferentes. Existen 100 unidades de la materia prima 1 y 200 unidades de la materia prima 2 disponibles. Cada una de las tres divisiones usa un método diferente para fabricar los componentes, dando como resultado distintos requerimientos de materia prima y productos. La tabla muestra los requerimientos de materia prima por corrida de producción en cada división y el número de cada componente producido por esa corrida. Como gerente de producción, formule un modelo para determinar el número de corridas de producción para cada división que maximice el número total de unidades terminadas del producto final. </a:t>
            </a:r>
          </a:p>
        </p:txBody>
      </p:sp>
      <p:sp>
        <p:nvSpPr>
          <p:cNvPr id="5" name="Rectangle 2"/>
          <p:cNvSpPr>
            <a:spLocks noGrp="1" noChangeArrowheads="1"/>
          </p:cNvSpPr>
          <p:nvPr>
            <p:ph type="title"/>
          </p:nvPr>
        </p:nvSpPr>
        <p:spPr>
          <a:xfrm>
            <a:off x="6096000" y="248757"/>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20</a:t>
            </a:r>
          </a:p>
        </p:txBody>
      </p:sp>
      <p:pic>
        <p:nvPicPr>
          <p:cNvPr id="7" name="Imagen 6">
            <a:extLst>
              <a:ext uri="{FF2B5EF4-FFF2-40B4-BE49-F238E27FC236}">
                <a16:creationId xmlns:a16="http://schemas.microsoft.com/office/drawing/2014/main" id="{F2ED6C3F-143E-4A55-9938-0805C42CA0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3341" y="1805257"/>
            <a:ext cx="1782668" cy="1782668"/>
          </a:xfrm>
          <a:prstGeom prst="rect">
            <a:avLst/>
          </a:prstGeom>
        </p:spPr>
      </p:pic>
    </p:spTree>
    <p:extLst>
      <p:ext uri="{BB962C8B-B14F-4D97-AF65-F5344CB8AC3E}">
        <p14:creationId xmlns:p14="http://schemas.microsoft.com/office/powerpoint/2010/main" val="2602354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096000" y="248757"/>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20</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3F89C82-87D8-4767-B993-644720A34101}"/>
                  </a:ext>
                </a:extLst>
              </p:cNvPr>
              <p:cNvSpPr txBox="1"/>
              <p:nvPr/>
            </p:nvSpPr>
            <p:spPr>
              <a:xfrm>
                <a:off x="682362" y="198408"/>
                <a:ext cx="2121223"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sz="2000" i="1" smtClean="0">
                              <a:latin typeface="Cambria Math" panose="02040503050406030204" pitchFamily="18" charset="0"/>
                            </a:rPr>
                          </m:ctrlPr>
                        </m:fPr>
                        <m:num>
                          <m:r>
                            <a:rPr lang="es-ES" sz="2000" b="0" i="1" smtClean="0">
                              <a:latin typeface="Cambria Math" panose="02040503050406030204" pitchFamily="18" charset="0"/>
                            </a:rPr>
                            <m:t>𝐴</m:t>
                          </m:r>
                        </m:num>
                        <m:den>
                          <m:r>
                            <a:rPr lang="es-ES" sz="2000" b="0" i="1" smtClean="0">
                              <a:latin typeface="Cambria Math" panose="02040503050406030204" pitchFamily="18" charset="0"/>
                            </a:rPr>
                            <m:t>4</m:t>
                          </m:r>
                        </m:den>
                      </m:f>
                      <m:r>
                        <a:rPr lang="es-ES" sz="2000" b="0" i="1" smtClean="0">
                          <a:latin typeface="Cambria Math" panose="02040503050406030204" pitchFamily="18" charset="0"/>
                        </a:rPr>
                        <m:t>=</m:t>
                      </m:r>
                      <m:f>
                        <m:fPr>
                          <m:ctrlPr>
                            <a:rPr lang="es-PE" sz="2000" i="1" smtClean="0">
                              <a:latin typeface="Cambria Math" panose="02040503050406030204" pitchFamily="18" charset="0"/>
                            </a:rPr>
                          </m:ctrlPr>
                        </m:fPr>
                        <m:num>
                          <m:r>
                            <a:rPr lang="es-ES" sz="2000" b="0" i="1" smtClean="0">
                              <a:latin typeface="Cambria Math" panose="02040503050406030204" pitchFamily="18" charset="0"/>
                            </a:rPr>
                            <m:t>𝐵</m:t>
                          </m:r>
                        </m:num>
                        <m:den>
                          <m:r>
                            <a:rPr lang="es-ES" sz="2000" b="0" i="1" smtClean="0">
                              <a:latin typeface="Cambria Math" panose="02040503050406030204" pitchFamily="18" charset="0"/>
                            </a:rPr>
                            <m:t>3</m:t>
                          </m:r>
                        </m:den>
                      </m:f>
                      <m:r>
                        <a:rPr lang="es-ES" sz="2000" b="0" i="1" smtClean="0">
                          <a:latin typeface="Cambria Math" panose="02040503050406030204" pitchFamily="18" charset="0"/>
                        </a:rPr>
                        <m:t>=</m:t>
                      </m:r>
                      <m:f>
                        <m:fPr>
                          <m:ctrlPr>
                            <a:rPr lang="es-PE" sz="2000" i="1" smtClean="0">
                              <a:latin typeface="Cambria Math" panose="02040503050406030204" pitchFamily="18" charset="0"/>
                            </a:rPr>
                          </m:ctrlPr>
                        </m:fPr>
                        <m:num>
                          <m:r>
                            <a:rPr lang="es-ES" sz="2000" b="0" i="1" smtClean="0">
                              <a:latin typeface="Cambria Math" panose="02040503050406030204" pitchFamily="18" charset="0"/>
                            </a:rPr>
                            <m:t>𝐶</m:t>
                          </m:r>
                        </m:num>
                        <m:den>
                          <m:r>
                            <a:rPr lang="es-ES" sz="2000" b="0" i="1" smtClean="0">
                              <a:latin typeface="Cambria Math" panose="02040503050406030204" pitchFamily="18" charset="0"/>
                            </a:rPr>
                            <m:t>1</m:t>
                          </m:r>
                        </m:den>
                      </m:f>
                    </m:oMath>
                  </m:oMathPara>
                </a14:m>
                <a:endParaRPr lang="es-PE" sz="2000" dirty="0"/>
              </a:p>
            </p:txBody>
          </p:sp>
        </mc:Choice>
        <mc:Fallback xmlns="">
          <p:sp>
            <p:nvSpPr>
              <p:cNvPr id="7" name="CuadroTexto 6">
                <a:extLst>
                  <a:ext uri="{FF2B5EF4-FFF2-40B4-BE49-F238E27FC236}">
                    <a16:creationId xmlns:a16="http://schemas.microsoft.com/office/drawing/2014/main" id="{63F89C82-87D8-4767-B993-644720A34101}"/>
                  </a:ext>
                </a:extLst>
              </p:cNvPr>
              <p:cNvSpPr txBox="1">
                <a:spLocks noRot="1" noChangeAspect="1" noMove="1" noResize="1" noEditPoints="1" noAdjustHandles="1" noChangeArrowheads="1" noChangeShapeType="1" noTextEdit="1"/>
              </p:cNvSpPr>
              <p:nvPr/>
            </p:nvSpPr>
            <p:spPr>
              <a:xfrm>
                <a:off x="682362" y="198408"/>
                <a:ext cx="2121223" cy="578235"/>
              </a:xfrm>
              <a:prstGeom prst="rect">
                <a:avLst/>
              </a:prstGeom>
              <a:blipFill>
                <a:blip r:embed="rId2"/>
                <a:stretch>
                  <a:fillRect/>
                </a:stretch>
              </a:blipFill>
            </p:spPr>
            <p:txBody>
              <a:bodyPr/>
              <a:lstStyle/>
              <a:p>
                <a:r>
                  <a:rPr lang="es-PE">
                    <a:noFill/>
                  </a:rPr>
                  <a:t> </a:t>
                </a:r>
              </a:p>
            </p:txBody>
          </p:sp>
        </mc:Fallback>
      </mc:AlternateContent>
      <p:sp>
        <p:nvSpPr>
          <p:cNvPr id="2" name="CuadroTexto 1">
            <a:extLst>
              <a:ext uri="{FF2B5EF4-FFF2-40B4-BE49-F238E27FC236}">
                <a16:creationId xmlns:a16="http://schemas.microsoft.com/office/drawing/2014/main" id="{C661D7E9-3248-477D-AD3C-F37F1A9DDAF1}"/>
              </a:ext>
            </a:extLst>
          </p:cNvPr>
          <p:cNvSpPr txBox="1"/>
          <p:nvPr/>
        </p:nvSpPr>
        <p:spPr>
          <a:xfrm>
            <a:off x="3264536" y="113357"/>
            <a:ext cx="879020" cy="707886"/>
          </a:xfrm>
          <a:prstGeom prst="rect">
            <a:avLst/>
          </a:prstGeom>
          <a:noFill/>
        </p:spPr>
        <p:txBody>
          <a:bodyPr wrap="square" rtlCol="0">
            <a:spAutoFit/>
          </a:bodyPr>
          <a:lstStyle/>
          <a:p>
            <a:r>
              <a:rPr lang="es-ES" sz="2000" dirty="0"/>
              <a:t>A=</a:t>
            </a:r>
            <a:r>
              <a:rPr lang="es-ES" sz="2000" dirty="0" err="1"/>
              <a:t>4C</a:t>
            </a:r>
            <a:endParaRPr lang="es-ES" sz="2000" dirty="0"/>
          </a:p>
          <a:p>
            <a:r>
              <a:rPr lang="es-ES" sz="2000" dirty="0"/>
              <a:t>B=</a:t>
            </a:r>
            <a:r>
              <a:rPr lang="es-ES" sz="2000" dirty="0" err="1"/>
              <a:t>3C</a:t>
            </a:r>
            <a:endParaRPr lang="es-PE" sz="2000" dirty="0"/>
          </a:p>
        </p:txBody>
      </p:sp>
      <p:sp>
        <p:nvSpPr>
          <p:cNvPr id="9" name="1 Rectángulo">
            <a:extLst>
              <a:ext uri="{FF2B5EF4-FFF2-40B4-BE49-F238E27FC236}">
                <a16:creationId xmlns:a16="http://schemas.microsoft.com/office/drawing/2014/main" id="{585CB08F-0C36-4F1F-A0CF-C750BF57A384}"/>
              </a:ext>
            </a:extLst>
          </p:cNvPr>
          <p:cNvSpPr/>
          <p:nvPr/>
        </p:nvSpPr>
        <p:spPr>
          <a:xfrm>
            <a:off x="6101960" y="1268761"/>
            <a:ext cx="6090040" cy="1938992"/>
          </a:xfrm>
          <a:prstGeom prst="rect">
            <a:avLst/>
          </a:prstGeom>
        </p:spPr>
        <p:txBody>
          <a:bodyPr wrap="square">
            <a:spAutoFit/>
          </a:bodyPr>
          <a:lstStyle/>
          <a:p>
            <a:r>
              <a:rPr lang="es-PE" sz="2400" b="1" dirty="0">
                <a:solidFill>
                  <a:srgbClr val="FF0000"/>
                </a:solidFill>
              </a:rPr>
              <a:t>I. Identificación de variables</a:t>
            </a:r>
          </a:p>
          <a:p>
            <a:pPr marL="180975" lvl="2"/>
            <a:r>
              <a:rPr lang="es-PE" sz="2400" b="1" dirty="0"/>
              <a:t>C=Número de unidades completas	</a:t>
            </a:r>
          </a:p>
          <a:p>
            <a:pPr marL="180975" lvl="2"/>
            <a:r>
              <a:rPr lang="es-PE" sz="2400" b="1" dirty="0"/>
              <a:t>A=Número de componente A</a:t>
            </a:r>
          </a:p>
          <a:p>
            <a:pPr marL="180975" lvl="2"/>
            <a:r>
              <a:rPr lang="es-PE" sz="2400" b="1" dirty="0"/>
              <a:t>B=Número de componente B</a:t>
            </a:r>
          </a:p>
          <a:p>
            <a:pPr marL="180975" lvl="2"/>
            <a:r>
              <a:rPr lang="es-PE" sz="2400" b="1" dirty="0" err="1"/>
              <a:t>Ri</a:t>
            </a:r>
            <a:r>
              <a:rPr lang="es-PE" sz="2400" b="1" dirty="0"/>
              <a:t>=Número de corridas en la división i</a:t>
            </a:r>
          </a:p>
        </p:txBody>
      </p:sp>
      <p:sp>
        <p:nvSpPr>
          <p:cNvPr id="10" name="1 Rectángulo">
            <a:extLst>
              <a:ext uri="{FF2B5EF4-FFF2-40B4-BE49-F238E27FC236}">
                <a16:creationId xmlns:a16="http://schemas.microsoft.com/office/drawing/2014/main" id="{B7E5414F-47AC-4DEC-B249-4C8938CC1D8A}"/>
              </a:ext>
            </a:extLst>
          </p:cNvPr>
          <p:cNvSpPr/>
          <p:nvPr/>
        </p:nvSpPr>
        <p:spPr>
          <a:xfrm>
            <a:off x="163894" y="3528888"/>
            <a:ext cx="2130732" cy="3323987"/>
          </a:xfrm>
          <a:prstGeom prst="rect">
            <a:avLst/>
          </a:prstGeom>
          <a:solidFill>
            <a:srgbClr val="FFFF00"/>
          </a:solidFill>
        </p:spPr>
        <p:txBody>
          <a:bodyPr wrap="square">
            <a:spAutoFit/>
          </a:bodyPr>
          <a:lstStyle/>
          <a:p>
            <a:r>
              <a:rPr lang="es-PE" sz="1400" b="1" dirty="0"/>
              <a:t>MAX	C</a:t>
            </a:r>
          </a:p>
          <a:p>
            <a:r>
              <a:rPr lang="es-PE" sz="1400" b="1" dirty="0" err="1">
                <a:solidFill>
                  <a:srgbClr val="FF0000"/>
                </a:solidFill>
              </a:rPr>
              <a:t>SUBJECT</a:t>
            </a:r>
            <a:r>
              <a:rPr lang="es-PE" sz="1400" b="1" dirty="0">
                <a:solidFill>
                  <a:srgbClr val="FF0000"/>
                </a:solidFill>
              </a:rPr>
              <a:t> </a:t>
            </a:r>
            <a:r>
              <a:rPr lang="es-PE" sz="1400" b="1" dirty="0" err="1">
                <a:solidFill>
                  <a:srgbClr val="FF0000"/>
                </a:solidFill>
              </a:rPr>
              <a:t>TO</a:t>
            </a:r>
            <a:endParaRPr lang="es-PE" sz="1400" b="1" dirty="0">
              <a:solidFill>
                <a:srgbClr val="FF0000"/>
              </a:solidFill>
            </a:endParaRPr>
          </a:p>
          <a:p>
            <a:r>
              <a:rPr lang="pt-BR" sz="1400" b="1" dirty="0" err="1"/>
              <a:t>8R1</a:t>
            </a:r>
            <a:r>
              <a:rPr lang="pt-BR" sz="1400" b="1" dirty="0"/>
              <a:t> + </a:t>
            </a:r>
            <a:r>
              <a:rPr lang="pt-BR" sz="1400" b="1" dirty="0" err="1"/>
              <a:t>5R2</a:t>
            </a:r>
            <a:r>
              <a:rPr lang="pt-BR" sz="1400" b="1" dirty="0"/>
              <a:t> + </a:t>
            </a:r>
            <a:r>
              <a:rPr lang="pt-BR" sz="1400" b="1" dirty="0" err="1"/>
              <a:t>3R3</a:t>
            </a:r>
            <a:r>
              <a:rPr lang="pt-BR" sz="1400" b="1" dirty="0"/>
              <a:t> &lt;=100</a:t>
            </a:r>
            <a:endParaRPr lang="es-PE" sz="1400" b="1" dirty="0"/>
          </a:p>
          <a:p>
            <a:r>
              <a:rPr lang="pt-BR" sz="1400" b="1" dirty="0" err="1"/>
              <a:t>6R1</a:t>
            </a:r>
            <a:r>
              <a:rPr lang="pt-BR" sz="1400" b="1" dirty="0"/>
              <a:t> + </a:t>
            </a:r>
            <a:r>
              <a:rPr lang="pt-BR" sz="1400" b="1" dirty="0" err="1"/>
              <a:t>9R2</a:t>
            </a:r>
            <a:r>
              <a:rPr lang="pt-BR" sz="1400" b="1" dirty="0"/>
              <a:t> + </a:t>
            </a:r>
            <a:r>
              <a:rPr lang="pt-BR" sz="1400" b="1" dirty="0" err="1"/>
              <a:t>8R3</a:t>
            </a:r>
            <a:r>
              <a:rPr lang="pt-BR" sz="1400" b="1" dirty="0"/>
              <a:t> &lt;=200</a:t>
            </a:r>
            <a:endParaRPr lang="es-PE" sz="1400" b="1" dirty="0"/>
          </a:p>
          <a:p>
            <a:r>
              <a:rPr lang="pt-BR" sz="1400" b="1" dirty="0" err="1"/>
              <a:t>7R1</a:t>
            </a:r>
            <a:r>
              <a:rPr lang="pt-BR" sz="1400" b="1" dirty="0"/>
              <a:t> + </a:t>
            </a:r>
            <a:r>
              <a:rPr lang="pt-BR" sz="1400" b="1" dirty="0" err="1"/>
              <a:t>6R2</a:t>
            </a:r>
            <a:r>
              <a:rPr lang="pt-BR" sz="1400" b="1" dirty="0"/>
              <a:t> + </a:t>
            </a:r>
            <a:r>
              <a:rPr lang="pt-BR" sz="1400" b="1" dirty="0" err="1"/>
              <a:t>8R3</a:t>
            </a:r>
            <a:r>
              <a:rPr lang="pt-BR" sz="1400" b="1" dirty="0"/>
              <a:t> –A=0</a:t>
            </a:r>
            <a:endParaRPr lang="es-PE" sz="1400" b="1" dirty="0"/>
          </a:p>
          <a:p>
            <a:r>
              <a:rPr lang="pt-BR" sz="1400" b="1" dirty="0" err="1"/>
              <a:t>5R1</a:t>
            </a:r>
            <a:r>
              <a:rPr lang="pt-BR" sz="1400" b="1" dirty="0"/>
              <a:t> + </a:t>
            </a:r>
            <a:r>
              <a:rPr lang="pt-BR" sz="1400" b="1" dirty="0" err="1"/>
              <a:t>9R2</a:t>
            </a:r>
            <a:r>
              <a:rPr lang="pt-BR" sz="1400" b="1" dirty="0"/>
              <a:t> + </a:t>
            </a:r>
            <a:r>
              <a:rPr lang="pt-BR" sz="1400" b="1" dirty="0" err="1"/>
              <a:t>4R3</a:t>
            </a:r>
            <a:r>
              <a:rPr lang="pt-BR" sz="1400" b="1" dirty="0"/>
              <a:t> –B =0</a:t>
            </a:r>
            <a:endParaRPr lang="es-PE" sz="1400" b="1" dirty="0"/>
          </a:p>
          <a:p>
            <a:r>
              <a:rPr lang="pt-BR" sz="1400" b="1" dirty="0"/>
              <a:t>A-</a:t>
            </a:r>
            <a:r>
              <a:rPr lang="pt-BR" sz="1400" b="1" dirty="0" err="1"/>
              <a:t>4C</a:t>
            </a:r>
            <a:r>
              <a:rPr lang="pt-BR" sz="1400" b="1" dirty="0"/>
              <a:t>=0     </a:t>
            </a:r>
          </a:p>
          <a:p>
            <a:r>
              <a:rPr lang="pt-BR" sz="1400" b="1" dirty="0"/>
              <a:t>B-</a:t>
            </a:r>
            <a:r>
              <a:rPr lang="pt-BR" sz="1400" b="1" dirty="0" err="1"/>
              <a:t>3C</a:t>
            </a:r>
            <a:r>
              <a:rPr lang="pt-BR" sz="1400" b="1" dirty="0"/>
              <a:t>=0      </a:t>
            </a:r>
          </a:p>
          <a:p>
            <a:r>
              <a:rPr lang="pt-BR" sz="1400" b="1" dirty="0" err="1">
                <a:solidFill>
                  <a:srgbClr val="FF0000"/>
                </a:solidFill>
              </a:rPr>
              <a:t>END</a:t>
            </a:r>
            <a:endParaRPr lang="pt-BR" sz="1400" b="1" dirty="0">
              <a:solidFill>
                <a:srgbClr val="FF0000"/>
              </a:solidFill>
            </a:endParaRPr>
          </a:p>
          <a:p>
            <a:r>
              <a:rPr lang="pt-BR" sz="1400" b="1" dirty="0"/>
              <a:t>GIN A</a:t>
            </a:r>
          </a:p>
          <a:p>
            <a:r>
              <a:rPr lang="pt-BR" sz="1400" b="1" dirty="0"/>
              <a:t>GIN B</a:t>
            </a:r>
          </a:p>
          <a:p>
            <a:r>
              <a:rPr lang="pt-BR" sz="1400" b="1" dirty="0"/>
              <a:t>GIN C</a:t>
            </a:r>
          </a:p>
          <a:p>
            <a:r>
              <a:rPr lang="pt-BR" sz="1400" b="1" dirty="0"/>
              <a:t>GIN </a:t>
            </a:r>
            <a:r>
              <a:rPr lang="pt-BR" sz="1400" b="1" dirty="0" err="1"/>
              <a:t>R1</a:t>
            </a:r>
            <a:endParaRPr lang="pt-BR" sz="1400" b="1" dirty="0"/>
          </a:p>
          <a:p>
            <a:r>
              <a:rPr lang="pt-BR" sz="1400" b="1" dirty="0"/>
              <a:t>GIN R2</a:t>
            </a:r>
          </a:p>
          <a:p>
            <a:r>
              <a:rPr lang="pt-BR" sz="1400" b="1" dirty="0"/>
              <a:t>GIN </a:t>
            </a:r>
            <a:r>
              <a:rPr lang="pt-BR" sz="1400" b="1" dirty="0" err="1"/>
              <a:t>R3</a:t>
            </a:r>
            <a:endParaRPr lang="pt-BR" sz="1400" b="1" dirty="0"/>
          </a:p>
        </p:txBody>
      </p:sp>
      <p:sp>
        <p:nvSpPr>
          <p:cNvPr id="11" name="2 Rectángulo">
            <a:extLst>
              <a:ext uri="{FF2B5EF4-FFF2-40B4-BE49-F238E27FC236}">
                <a16:creationId xmlns:a16="http://schemas.microsoft.com/office/drawing/2014/main" id="{55698412-71C2-46FE-8D8E-766C77C991A3}"/>
              </a:ext>
            </a:extLst>
          </p:cNvPr>
          <p:cNvSpPr/>
          <p:nvPr/>
        </p:nvSpPr>
        <p:spPr>
          <a:xfrm>
            <a:off x="2288513" y="4549676"/>
            <a:ext cx="3449557" cy="2308324"/>
          </a:xfrm>
          <a:prstGeom prst="rect">
            <a:avLst/>
          </a:prstGeom>
          <a:solidFill>
            <a:srgbClr val="FFC000"/>
          </a:solidFill>
        </p:spPr>
        <p:txBody>
          <a:bodyPr wrap="square">
            <a:spAutoFit/>
          </a:bodyPr>
          <a:lstStyle/>
          <a:p>
            <a:r>
              <a:rPr lang="en-US" sz="1600" dirty="0">
                <a:latin typeface="Arial Narrow" panose="020B0606020202030204" pitchFamily="34" charset="0"/>
              </a:rPr>
              <a:t> OBJECTIVE FUNCTION VALUE</a:t>
            </a:r>
          </a:p>
          <a:p>
            <a:r>
              <a:rPr lang="en-US" sz="1600" dirty="0">
                <a:latin typeface="Arial Narrow" panose="020B0606020202030204" pitchFamily="34" charset="0"/>
              </a:rPr>
              <a:t>1)      33.00000</a:t>
            </a:r>
          </a:p>
          <a:p>
            <a:r>
              <a:rPr lang="en-US" sz="1600" dirty="0">
                <a:latin typeface="Arial Narrow" panose="020B0606020202030204" pitchFamily="34" charset="0"/>
              </a:rPr>
              <a:t>  VARIABLE     VALUE     REDUCED COST</a:t>
            </a:r>
          </a:p>
          <a:p>
            <a:r>
              <a:rPr lang="en-US" sz="1600" dirty="0">
                <a:latin typeface="Arial Narrow" panose="020B0606020202030204" pitchFamily="34" charset="0"/>
              </a:rPr>
              <a:t>         A       132.000000          0.000000</a:t>
            </a:r>
          </a:p>
          <a:p>
            <a:r>
              <a:rPr lang="en-US" sz="1600" dirty="0">
                <a:latin typeface="Arial Narrow" panose="020B0606020202030204" pitchFamily="34" charset="0"/>
              </a:rPr>
              <a:t>         B        99.000000          0.000000</a:t>
            </a:r>
          </a:p>
          <a:p>
            <a:r>
              <a:rPr lang="en-US" sz="1600" dirty="0">
                <a:latin typeface="Arial Narrow" panose="020B0606020202030204" pitchFamily="34" charset="0"/>
              </a:rPr>
              <a:t>         C        33.000000         -1.000000</a:t>
            </a:r>
          </a:p>
          <a:p>
            <a:r>
              <a:rPr lang="en-US" sz="1600" dirty="0">
                <a:latin typeface="Arial Narrow" panose="020B0606020202030204" pitchFamily="34" charset="0"/>
              </a:rPr>
              <a:t>        </a:t>
            </a:r>
            <a:r>
              <a:rPr lang="en-US" sz="1600" dirty="0" err="1">
                <a:latin typeface="Arial Narrow" panose="020B0606020202030204" pitchFamily="34" charset="0"/>
              </a:rPr>
              <a:t>R1</a:t>
            </a:r>
            <a:r>
              <a:rPr lang="en-US" sz="1600" dirty="0">
                <a:latin typeface="Arial Narrow" panose="020B0606020202030204" pitchFamily="34" charset="0"/>
              </a:rPr>
              <a:t>         2.000000          0.000000</a:t>
            </a:r>
          </a:p>
          <a:p>
            <a:r>
              <a:rPr lang="en-US" sz="1600" dirty="0">
                <a:latin typeface="Arial Narrow" panose="020B0606020202030204" pitchFamily="34" charset="0"/>
              </a:rPr>
              <a:t>        </a:t>
            </a:r>
            <a:r>
              <a:rPr lang="en-US" sz="1600" dirty="0" err="1">
                <a:latin typeface="Arial Narrow" panose="020B0606020202030204" pitchFamily="34" charset="0"/>
              </a:rPr>
              <a:t>R2</a:t>
            </a:r>
            <a:r>
              <a:rPr lang="en-US" sz="1600" dirty="0">
                <a:latin typeface="Arial Narrow" panose="020B0606020202030204" pitchFamily="34" charset="0"/>
              </a:rPr>
              <a:t>         5.000000          0.000000</a:t>
            </a:r>
          </a:p>
          <a:p>
            <a:r>
              <a:rPr lang="en-US" sz="1600" dirty="0">
                <a:latin typeface="Arial Narrow" panose="020B0606020202030204" pitchFamily="34" charset="0"/>
              </a:rPr>
              <a:t>        </a:t>
            </a:r>
            <a:r>
              <a:rPr lang="en-US" sz="1600" dirty="0" err="1">
                <a:latin typeface="Arial Narrow" panose="020B0606020202030204" pitchFamily="34" charset="0"/>
              </a:rPr>
              <a:t>R3</a:t>
            </a:r>
            <a:r>
              <a:rPr lang="en-US" sz="1600" dirty="0">
                <a:latin typeface="Arial Narrow" panose="020B0606020202030204" pitchFamily="34" charset="0"/>
              </a:rPr>
              <a:t>        11.000000          0.000000</a:t>
            </a:r>
          </a:p>
        </p:txBody>
      </p:sp>
      <p:graphicFrame>
        <p:nvGraphicFramePr>
          <p:cNvPr id="13" name="2 Tabla">
            <a:extLst>
              <a:ext uri="{FF2B5EF4-FFF2-40B4-BE49-F238E27FC236}">
                <a16:creationId xmlns:a16="http://schemas.microsoft.com/office/drawing/2014/main" id="{2A173E59-A2C1-4E76-BB12-C49EACA95ECE}"/>
              </a:ext>
            </a:extLst>
          </p:cNvPr>
          <p:cNvGraphicFramePr>
            <a:graphicFrameLocks noGrp="1"/>
          </p:cNvGraphicFramePr>
          <p:nvPr/>
        </p:nvGraphicFramePr>
        <p:xfrm>
          <a:off x="204157" y="1768443"/>
          <a:ext cx="5934973" cy="1795780"/>
        </p:xfrm>
        <a:graphic>
          <a:graphicData uri="http://schemas.openxmlformats.org/drawingml/2006/table">
            <a:tbl>
              <a:tblPr firstRow="1" firstCol="1" bandRow="1">
                <a:tableStyleId>{5C22544A-7EE6-4342-B048-85BDC9FD1C3A}</a:tableStyleId>
              </a:tblPr>
              <a:tblGrid>
                <a:gridCol w="874143">
                  <a:extLst>
                    <a:ext uri="{9D8B030D-6E8A-4147-A177-3AD203B41FA5}">
                      <a16:colId xmlns:a16="http://schemas.microsoft.com/office/drawing/2014/main" val="20000"/>
                    </a:ext>
                  </a:extLst>
                </a:gridCol>
                <a:gridCol w="1547273">
                  <a:extLst>
                    <a:ext uri="{9D8B030D-6E8A-4147-A177-3AD203B41FA5}">
                      <a16:colId xmlns:a16="http://schemas.microsoft.com/office/drawing/2014/main" val="20001"/>
                    </a:ext>
                  </a:extLst>
                </a:gridCol>
                <a:gridCol w="1549610">
                  <a:extLst>
                    <a:ext uri="{9D8B030D-6E8A-4147-A177-3AD203B41FA5}">
                      <a16:colId xmlns:a16="http://schemas.microsoft.com/office/drawing/2014/main" val="20002"/>
                    </a:ext>
                  </a:extLst>
                </a:gridCol>
                <a:gridCol w="1030945">
                  <a:extLst>
                    <a:ext uri="{9D8B030D-6E8A-4147-A177-3AD203B41FA5}">
                      <a16:colId xmlns:a16="http://schemas.microsoft.com/office/drawing/2014/main" val="20003"/>
                    </a:ext>
                  </a:extLst>
                </a:gridCol>
                <a:gridCol w="933002">
                  <a:extLst>
                    <a:ext uri="{9D8B030D-6E8A-4147-A177-3AD203B41FA5}">
                      <a16:colId xmlns:a16="http://schemas.microsoft.com/office/drawing/2014/main" val="20004"/>
                    </a:ext>
                  </a:extLst>
                </a:gridCol>
              </a:tblGrid>
              <a:tr h="320035">
                <a:tc rowSpan="2">
                  <a:txBody>
                    <a:bodyPr/>
                    <a:lstStyle/>
                    <a:p>
                      <a:pPr algn="ctr">
                        <a:lnSpc>
                          <a:spcPct val="150000"/>
                        </a:lnSpc>
                        <a:spcAft>
                          <a:spcPts val="0"/>
                        </a:spcAft>
                      </a:pPr>
                      <a:r>
                        <a:rPr lang="es-ES" sz="1800" b="1" dirty="0">
                          <a:effectLst/>
                          <a:latin typeface="Arial Narrow" panose="020B0606020202030204" pitchFamily="34" charset="0"/>
                        </a:rPr>
                        <a:t>División</a:t>
                      </a:r>
                      <a:endParaRPr lang="es-PE" sz="1800" b="1" dirty="0">
                        <a:effectLst/>
                        <a:latin typeface="Arial Narrow" panose="020B0606020202030204" pitchFamily="34" charset="0"/>
                        <a:ea typeface="Calibri"/>
                      </a:endParaRPr>
                    </a:p>
                  </a:txBody>
                  <a:tcPr marL="68580" marR="68580" marT="0" marB="0"/>
                </a:tc>
                <a:tc gridSpan="2">
                  <a:txBody>
                    <a:bodyPr/>
                    <a:lstStyle/>
                    <a:p>
                      <a:pPr algn="ctr">
                        <a:lnSpc>
                          <a:spcPct val="150000"/>
                        </a:lnSpc>
                        <a:spcAft>
                          <a:spcPts val="0"/>
                        </a:spcAft>
                      </a:pPr>
                      <a:r>
                        <a:rPr lang="es-ES" sz="1800" b="1" dirty="0">
                          <a:effectLst/>
                          <a:latin typeface="Arial Narrow" panose="020B0606020202030204" pitchFamily="34" charset="0"/>
                        </a:rPr>
                        <a:t>Entrada/corrida (unid)</a:t>
                      </a:r>
                      <a:endParaRPr lang="es-PE" sz="1800" b="1" dirty="0">
                        <a:effectLst/>
                        <a:latin typeface="Arial Narrow" panose="020B0606020202030204" pitchFamily="34" charset="0"/>
                        <a:ea typeface="Calibri"/>
                      </a:endParaRPr>
                    </a:p>
                  </a:txBody>
                  <a:tcPr marL="68580" marR="68580" marT="0" marB="0"/>
                </a:tc>
                <a:tc hMerge="1">
                  <a:txBody>
                    <a:bodyPr/>
                    <a:lstStyle/>
                    <a:p>
                      <a:endParaRPr lang="es-PE"/>
                    </a:p>
                  </a:txBody>
                  <a:tcPr/>
                </a:tc>
                <a:tc gridSpan="2">
                  <a:txBody>
                    <a:bodyPr/>
                    <a:lstStyle/>
                    <a:p>
                      <a:pPr algn="just">
                        <a:lnSpc>
                          <a:spcPct val="150000"/>
                        </a:lnSpc>
                        <a:spcAft>
                          <a:spcPts val="0"/>
                        </a:spcAft>
                      </a:pPr>
                      <a:r>
                        <a:rPr lang="es-ES" sz="1800" b="1" dirty="0">
                          <a:effectLst/>
                          <a:latin typeface="Arial Narrow" panose="020B0606020202030204" pitchFamily="34" charset="0"/>
                        </a:rPr>
                        <a:t>Salida/corrida (unid)</a:t>
                      </a:r>
                      <a:endParaRPr lang="es-PE" sz="1800" b="1" dirty="0">
                        <a:effectLst/>
                        <a:latin typeface="Arial Narrow" panose="020B0606020202030204" pitchFamily="34" charset="0"/>
                        <a:ea typeface="Calibri"/>
                      </a:endParaRPr>
                    </a:p>
                  </a:txBody>
                  <a:tcPr marL="68580" marR="68580" marT="0" marB="0"/>
                </a:tc>
                <a:tc hMerge="1">
                  <a:txBody>
                    <a:bodyPr/>
                    <a:lstStyle/>
                    <a:p>
                      <a:endParaRPr lang="es-PE"/>
                    </a:p>
                  </a:txBody>
                  <a:tcPr/>
                </a:tc>
                <a:extLst>
                  <a:ext uri="{0D108BD9-81ED-4DB2-BD59-A6C34878D82A}">
                    <a16:rowId xmlns:a16="http://schemas.microsoft.com/office/drawing/2014/main" val="10000"/>
                  </a:ext>
                </a:extLst>
              </a:tr>
              <a:tr h="320035">
                <a:tc vMerge="1">
                  <a:txBody>
                    <a:bodyPr/>
                    <a:lstStyle/>
                    <a:p>
                      <a:endParaRPr lang="es-PE"/>
                    </a:p>
                  </a:txBody>
                  <a:tcPr/>
                </a:tc>
                <a:tc>
                  <a:txBody>
                    <a:bodyPr/>
                    <a:lstStyle/>
                    <a:p>
                      <a:pPr algn="ctr">
                        <a:lnSpc>
                          <a:spcPct val="150000"/>
                        </a:lnSpc>
                        <a:spcAft>
                          <a:spcPts val="0"/>
                        </a:spcAft>
                      </a:pPr>
                      <a:r>
                        <a:rPr lang="es-ES" sz="1800" b="1" dirty="0">
                          <a:solidFill>
                            <a:schemeClr val="bg1"/>
                          </a:solidFill>
                          <a:effectLst/>
                          <a:latin typeface="Arial Narrow" panose="020B0606020202030204" pitchFamily="34" charset="0"/>
                        </a:rPr>
                        <a:t>Materia Prima 1</a:t>
                      </a:r>
                      <a:endParaRPr lang="es-PE" sz="1800" b="1" dirty="0">
                        <a:solidFill>
                          <a:schemeClr val="bg1"/>
                        </a:solidFill>
                        <a:effectLst/>
                        <a:latin typeface="Arial Narrow" panose="020B0606020202030204" pitchFamily="34" charset="0"/>
                        <a:ea typeface="Calibri"/>
                      </a:endParaRPr>
                    </a:p>
                  </a:txBody>
                  <a:tcPr marL="68580" marR="68580" marT="0" marB="0">
                    <a:solidFill>
                      <a:schemeClr val="accent1"/>
                    </a:solidFill>
                  </a:tcPr>
                </a:tc>
                <a:tc>
                  <a:txBody>
                    <a:bodyPr/>
                    <a:lstStyle/>
                    <a:p>
                      <a:pPr algn="ctr">
                        <a:lnSpc>
                          <a:spcPct val="150000"/>
                        </a:lnSpc>
                        <a:spcAft>
                          <a:spcPts val="0"/>
                        </a:spcAft>
                      </a:pPr>
                      <a:r>
                        <a:rPr lang="es-ES" sz="1800" b="1" dirty="0">
                          <a:solidFill>
                            <a:schemeClr val="bg1"/>
                          </a:solidFill>
                          <a:effectLst/>
                          <a:latin typeface="Arial Narrow" panose="020B0606020202030204" pitchFamily="34" charset="0"/>
                        </a:rPr>
                        <a:t>Materia Prima 2</a:t>
                      </a:r>
                      <a:endParaRPr lang="es-PE" sz="1800" b="1" dirty="0">
                        <a:solidFill>
                          <a:schemeClr val="bg1"/>
                        </a:solidFill>
                        <a:effectLst/>
                        <a:latin typeface="Arial Narrow" panose="020B0606020202030204" pitchFamily="34" charset="0"/>
                        <a:ea typeface="Calibri"/>
                      </a:endParaRPr>
                    </a:p>
                  </a:txBody>
                  <a:tcPr marL="68580" marR="68580" marT="0" marB="0">
                    <a:solidFill>
                      <a:schemeClr val="accent1"/>
                    </a:solidFill>
                  </a:tcPr>
                </a:tc>
                <a:tc>
                  <a:txBody>
                    <a:bodyPr/>
                    <a:lstStyle/>
                    <a:p>
                      <a:pPr algn="ctr">
                        <a:lnSpc>
                          <a:spcPct val="150000"/>
                        </a:lnSpc>
                        <a:spcAft>
                          <a:spcPts val="0"/>
                        </a:spcAft>
                      </a:pPr>
                      <a:r>
                        <a:rPr lang="es-ES" sz="1800" b="1" dirty="0">
                          <a:solidFill>
                            <a:schemeClr val="bg1"/>
                          </a:solidFill>
                          <a:effectLst/>
                          <a:latin typeface="Arial Narrow" panose="020B0606020202030204" pitchFamily="34" charset="0"/>
                        </a:rPr>
                        <a:t>Comp. A</a:t>
                      </a:r>
                      <a:endParaRPr lang="es-PE" sz="1800" b="1" dirty="0">
                        <a:solidFill>
                          <a:schemeClr val="bg1"/>
                        </a:solidFill>
                        <a:effectLst/>
                        <a:latin typeface="Arial Narrow" panose="020B0606020202030204" pitchFamily="34" charset="0"/>
                        <a:ea typeface="Calibri"/>
                      </a:endParaRPr>
                    </a:p>
                  </a:txBody>
                  <a:tcPr marL="68580" marR="68580" marT="0" marB="0">
                    <a:solidFill>
                      <a:schemeClr val="accent1"/>
                    </a:solidFill>
                  </a:tcPr>
                </a:tc>
                <a:tc>
                  <a:txBody>
                    <a:bodyPr/>
                    <a:lstStyle/>
                    <a:p>
                      <a:pPr algn="ctr">
                        <a:lnSpc>
                          <a:spcPct val="150000"/>
                        </a:lnSpc>
                        <a:spcAft>
                          <a:spcPts val="0"/>
                        </a:spcAft>
                      </a:pPr>
                      <a:r>
                        <a:rPr lang="es-ES" sz="1800" b="1" dirty="0">
                          <a:solidFill>
                            <a:schemeClr val="bg1"/>
                          </a:solidFill>
                          <a:effectLst/>
                          <a:latin typeface="Arial Narrow" panose="020B0606020202030204" pitchFamily="34" charset="0"/>
                        </a:rPr>
                        <a:t>Comp. B</a:t>
                      </a:r>
                      <a:endParaRPr lang="es-PE" sz="1800" b="1" dirty="0">
                        <a:solidFill>
                          <a:schemeClr val="bg1"/>
                        </a:solidFill>
                        <a:effectLst/>
                        <a:latin typeface="Arial Narrow" panose="020B0606020202030204" pitchFamily="34" charset="0"/>
                        <a:ea typeface="Calibri"/>
                      </a:endParaRPr>
                    </a:p>
                  </a:txBody>
                  <a:tcPr marL="68580" marR="68580" marT="0" marB="0">
                    <a:solidFill>
                      <a:schemeClr val="accent1"/>
                    </a:solidFill>
                  </a:tcPr>
                </a:tc>
                <a:extLst>
                  <a:ext uri="{0D108BD9-81ED-4DB2-BD59-A6C34878D82A}">
                    <a16:rowId xmlns:a16="http://schemas.microsoft.com/office/drawing/2014/main" val="10001"/>
                  </a:ext>
                </a:extLst>
              </a:tr>
              <a:tr h="320035">
                <a:tc>
                  <a:txBody>
                    <a:bodyPr/>
                    <a:lstStyle/>
                    <a:p>
                      <a:pPr algn="ctr">
                        <a:lnSpc>
                          <a:spcPct val="150000"/>
                        </a:lnSpc>
                        <a:spcAft>
                          <a:spcPts val="0"/>
                        </a:spcAft>
                      </a:pPr>
                      <a:r>
                        <a:rPr lang="es-ES" sz="1800" b="1" dirty="0">
                          <a:effectLst/>
                          <a:latin typeface="Arial Narrow" panose="020B0606020202030204" pitchFamily="34" charset="0"/>
                        </a:rPr>
                        <a:t>1</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8</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6</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7</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5</a:t>
                      </a:r>
                      <a:endParaRPr lang="es-PE" sz="18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2"/>
                  </a:ext>
                </a:extLst>
              </a:tr>
              <a:tr h="320035">
                <a:tc>
                  <a:txBody>
                    <a:bodyPr/>
                    <a:lstStyle/>
                    <a:p>
                      <a:pPr algn="ctr">
                        <a:lnSpc>
                          <a:spcPct val="150000"/>
                        </a:lnSpc>
                        <a:spcAft>
                          <a:spcPts val="0"/>
                        </a:spcAft>
                      </a:pPr>
                      <a:r>
                        <a:rPr lang="es-ES" sz="1800" b="1">
                          <a:effectLst/>
                          <a:latin typeface="Arial Narrow" panose="020B0606020202030204" pitchFamily="34" charset="0"/>
                        </a:rPr>
                        <a:t>2</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5</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9</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6</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9</a:t>
                      </a:r>
                      <a:endParaRPr lang="es-PE" sz="1800" b="1">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3"/>
                  </a:ext>
                </a:extLst>
              </a:tr>
              <a:tr h="320035">
                <a:tc>
                  <a:txBody>
                    <a:bodyPr/>
                    <a:lstStyle/>
                    <a:p>
                      <a:pPr algn="ctr">
                        <a:lnSpc>
                          <a:spcPct val="150000"/>
                        </a:lnSpc>
                        <a:spcAft>
                          <a:spcPts val="0"/>
                        </a:spcAft>
                      </a:pPr>
                      <a:r>
                        <a:rPr lang="es-ES" sz="1800" b="1">
                          <a:effectLst/>
                          <a:latin typeface="Arial Narrow" panose="020B0606020202030204" pitchFamily="34" charset="0"/>
                        </a:rPr>
                        <a:t>3</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3</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a:effectLst/>
                          <a:latin typeface="Arial Narrow" panose="020B0606020202030204" pitchFamily="34" charset="0"/>
                        </a:rPr>
                        <a:t>8</a:t>
                      </a:r>
                      <a:endParaRPr lang="es-PE" sz="1800" b="1">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8</a:t>
                      </a:r>
                      <a:endParaRPr lang="es-PE" sz="1800" b="1" dirty="0">
                        <a:effectLst/>
                        <a:latin typeface="Arial Narrow" panose="020B0606020202030204" pitchFamily="34" charset="0"/>
                        <a:ea typeface="Calibri"/>
                      </a:endParaRPr>
                    </a:p>
                  </a:txBody>
                  <a:tcPr marL="68580" marR="68580" marT="0" marB="0"/>
                </a:tc>
                <a:tc>
                  <a:txBody>
                    <a:bodyPr/>
                    <a:lstStyle/>
                    <a:p>
                      <a:pPr algn="ctr">
                        <a:lnSpc>
                          <a:spcPct val="150000"/>
                        </a:lnSpc>
                        <a:spcAft>
                          <a:spcPts val="0"/>
                        </a:spcAft>
                      </a:pPr>
                      <a:r>
                        <a:rPr lang="es-ES" sz="1800" b="1" dirty="0">
                          <a:effectLst/>
                          <a:latin typeface="Arial Narrow" panose="020B0606020202030204" pitchFamily="34" charset="0"/>
                        </a:rPr>
                        <a:t>4</a:t>
                      </a:r>
                      <a:endParaRPr lang="es-PE" sz="1800" b="1"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4"/>
                  </a:ext>
                </a:extLst>
              </a:tr>
            </a:tbl>
          </a:graphicData>
        </a:graphic>
      </p:graphicFrame>
      <p:sp>
        <p:nvSpPr>
          <p:cNvPr id="4" name="Rectángulo 3">
            <a:extLst>
              <a:ext uri="{FF2B5EF4-FFF2-40B4-BE49-F238E27FC236}">
                <a16:creationId xmlns:a16="http://schemas.microsoft.com/office/drawing/2014/main" id="{C4166510-A988-4195-BAF9-DAB68AF1F30C}"/>
              </a:ext>
            </a:extLst>
          </p:cNvPr>
          <p:cNvSpPr/>
          <p:nvPr/>
        </p:nvSpPr>
        <p:spPr>
          <a:xfrm>
            <a:off x="6096000" y="3288283"/>
            <a:ext cx="6096000" cy="830997"/>
          </a:xfrm>
          <a:prstGeom prst="rect">
            <a:avLst/>
          </a:prstGeom>
          <a:solidFill>
            <a:srgbClr val="FFC000"/>
          </a:solidFill>
        </p:spPr>
        <p:txBody>
          <a:bodyPr>
            <a:spAutoFit/>
          </a:bodyPr>
          <a:lstStyle/>
          <a:p>
            <a:pPr marL="0" lvl="2"/>
            <a:r>
              <a:rPr lang="es-PE" sz="2400" b="1" dirty="0">
                <a:solidFill>
                  <a:srgbClr val="FF0000"/>
                </a:solidFill>
              </a:rPr>
              <a:t>II. Identificación de la Función Objetivo</a:t>
            </a:r>
          </a:p>
          <a:p>
            <a:r>
              <a:rPr lang="es-PE" sz="2400" b="1" dirty="0"/>
              <a:t>   MAX	C</a:t>
            </a:r>
          </a:p>
        </p:txBody>
      </p:sp>
      <p:sp>
        <p:nvSpPr>
          <p:cNvPr id="14" name="Rectángulo 13">
            <a:extLst>
              <a:ext uri="{FF2B5EF4-FFF2-40B4-BE49-F238E27FC236}">
                <a16:creationId xmlns:a16="http://schemas.microsoft.com/office/drawing/2014/main" id="{EA369155-B35C-4BD8-B85F-D5E0C4FBD3F3}"/>
              </a:ext>
            </a:extLst>
          </p:cNvPr>
          <p:cNvSpPr/>
          <p:nvPr/>
        </p:nvSpPr>
        <p:spPr>
          <a:xfrm>
            <a:off x="6096000" y="4307269"/>
            <a:ext cx="6096000" cy="2554545"/>
          </a:xfrm>
          <a:prstGeom prst="rect">
            <a:avLst/>
          </a:prstGeom>
        </p:spPr>
        <p:txBody>
          <a:bodyPr>
            <a:spAutoFit/>
          </a:bodyPr>
          <a:lstStyle/>
          <a:p>
            <a:r>
              <a:rPr lang="es-PE" sz="2000" b="1" dirty="0">
                <a:solidFill>
                  <a:srgbClr val="FF0000"/>
                </a:solidFill>
              </a:rPr>
              <a:t>III. Identificación de las restricciones</a:t>
            </a:r>
          </a:p>
          <a:p>
            <a:r>
              <a:rPr lang="pt-BR" sz="2000" b="1" dirty="0" err="1"/>
              <a:t>Según</a:t>
            </a:r>
            <a:r>
              <a:rPr lang="pt-BR" sz="2000" b="1" dirty="0"/>
              <a:t> </a:t>
            </a:r>
            <a:r>
              <a:rPr lang="pt-BR" sz="2000" b="1" dirty="0" err="1"/>
              <a:t>la</a:t>
            </a:r>
            <a:r>
              <a:rPr lang="pt-BR" sz="2000" b="1" dirty="0"/>
              <a:t> </a:t>
            </a:r>
            <a:r>
              <a:rPr lang="pt-BR" sz="2000" b="1" dirty="0" err="1"/>
              <a:t>materia</a:t>
            </a:r>
            <a:r>
              <a:rPr lang="pt-BR" sz="2000" b="1" dirty="0"/>
              <a:t> prima 1	</a:t>
            </a:r>
            <a:r>
              <a:rPr lang="pt-BR" sz="2000" b="1" dirty="0" err="1"/>
              <a:t>8R1</a:t>
            </a:r>
            <a:r>
              <a:rPr lang="pt-BR" sz="2000" b="1" dirty="0"/>
              <a:t> + </a:t>
            </a:r>
            <a:r>
              <a:rPr lang="pt-BR" sz="2000" b="1" dirty="0" err="1"/>
              <a:t>5R2</a:t>
            </a:r>
            <a:r>
              <a:rPr lang="pt-BR" sz="2000" b="1" dirty="0"/>
              <a:t> + </a:t>
            </a:r>
            <a:r>
              <a:rPr lang="pt-BR" sz="2000" b="1" dirty="0" err="1"/>
              <a:t>3R3</a:t>
            </a:r>
            <a:r>
              <a:rPr lang="pt-BR" sz="2000" b="1" dirty="0"/>
              <a:t>	≤100</a:t>
            </a:r>
            <a:endParaRPr lang="es-PE" sz="2000" b="1" dirty="0"/>
          </a:p>
          <a:p>
            <a:r>
              <a:rPr lang="pt-BR" sz="2000" b="1" dirty="0" err="1"/>
              <a:t>Según</a:t>
            </a:r>
            <a:r>
              <a:rPr lang="pt-BR" sz="2000" b="1" dirty="0"/>
              <a:t> </a:t>
            </a:r>
            <a:r>
              <a:rPr lang="pt-BR" sz="2000" b="1" dirty="0" err="1"/>
              <a:t>materia</a:t>
            </a:r>
            <a:r>
              <a:rPr lang="pt-BR" sz="2000" b="1" dirty="0"/>
              <a:t> prima 2	</a:t>
            </a:r>
            <a:r>
              <a:rPr lang="pt-BR" sz="2000" b="1" dirty="0" err="1"/>
              <a:t>6R1</a:t>
            </a:r>
            <a:r>
              <a:rPr lang="pt-BR" sz="2000" b="1" dirty="0"/>
              <a:t> + </a:t>
            </a:r>
            <a:r>
              <a:rPr lang="pt-BR" sz="2000" b="1" dirty="0" err="1"/>
              <a:t>9R2</a:t>
            </a:r>
            <a:r>
              <a:rPr lang="pt-BR" sz="2000" b="1" dirty="0"/>
              <a:t> + </a:t>
            </a:r>
            <a:r>
              <a:rPr lang="pt-BR" sz="2000" b="1" dirty="0" err="1"/>
              <a:t>8R3</a:t>
            </a:r>
            <a:r>
              <a:rPr lang="pt-BR" sz="2000" b="1" dirty="0"/>
              <a:t>	≤200</a:t>
            </a:r>
            <a:endParaRPr lang="es-PE" sz="2000" b="1" dirty="0"/>
          </a:p>
          <a:p>
            <a:r>
              <a:rPr lang="pt-BR" sz="2000" b="1" dirty="0" err="1"/>
              <a:t>Según</a:t>
            </a:r>
            <a:r>
              <a:rPr lang="pt-BR" sz="2000" b="1" dirty="0"/>
              <a:t> </a:t>
            </a:r>
            <a:r>
              <a:rPr lang="pt-BR" sz="2000" b="1" dirty="0" err="1"/>
              <a:t>el</a:t>
            </a:r>
            <a:r>
              <a:rPr lang="pt-BR" sz="2000" b="1" dirty="0"/>
              <a:t> componente A	</a:t>
            </a:r>
            <a:r>
              <a:rPr lang="pt-BR" sz="2000" b="1" dirty="0" err="1"/>
              <a:t>7R1</a:t>
            </a:r>
            <a:r>
              <a:rPr lang="pt-BR" sz="2000" b="1" dirty="0"/>
              <a:t> + </a:t>
            </a:r>
            <a:r>
              <a:rPr lang="pt-BR" sz="2000" b="1" dirty="0" err="1"/>
              <a:t>6R2</a:t>
            </a:r>
            <a:r>
              <a:rPr lang="pt-BR" sz="2000" b="1" dirty="0"/>
              <a:t> + </a:t>
            </a:r>
            <a:r>
              <a:rPr lang="pt-BR" sz="2000" b="1" dirty="0" err="1"/>
              <a:t>8R3</a:t>
            </a:r>
            <a:r>
              <a:rPr lang="pt-BR" sz="2000" b="1" dirty="0"/>
              <a:t> –A=0</a:t>
            </a:r>
            <a:endParaRPr lang="es-PE" sz="2000" b="1" dirty="0"/>
          </a:p>
          <a:p>
            <a:r>
              <a:rPr lang="pt-BR" sz="2000" b="1" dirty="0" err="1"/>
              <a:t>Según</a:t>
            </a:r>
            <a:r>
              <a:rPr lang="pt-BR" sz="2000" b="1" dirty="0"/>
              <a:t> </a:t>
            </a:r>
            <a:r>
              <a:rPr lang="pt-BR" sz="2000" b="1" dirty="0" err="1"/>
              <a:t>el</a:t>
            </a:r>
            <a:r>
              <a:rPr lang="pt-BR" sz="2000" b="1" dirty="0"/>
              <a:t> Componente B	</a:t>
            </a:r>
            <a:r>
              <a:rPr lang="pt-BR" sz="2000" b="1" dirty="0" err="1"/>
              <a:t>5R1</a:t>
            </a:r>
            <a:r>
              <a:rPr lang="pt-BR" sz="2000" b="1" dirty="0"/>
              <a:t> + </a:t>
            </a:r>
            <a:r>
              <a:rPr lang="pt-BR" sz="2000" b="1" dirty="0" err="1"/>
              <a:t>9R2</a:t>
            </a:r>
            <a:r>
              <a:rPr lang="pt-BR" sz="2000" b="1" dirty="0"/>
              <a:t> + </a:t>
            </a:r>
            <a:r>
              <a:rPr lang="pt-BR" sz="2000" b="1" dirty="0" err="1"/>
              <a:t>4R3</a:t>
            </a:r>
            <a:r>
              <a:rPr lang="pt-BR" sz="2000" b="1" dirty="0"/>
              <a:t> –B =0</a:t>
            </a:r>
            <a:endParaRPr lang="es-PE" sz="2000" b="1" dirty="0"/>
          </a:p>
          <a:p>
            <a:r>
              <a:rPr lang="pt-BR" sz="2000" b="1" dirty="0"/>
              <a:t>				</a:t>
            </a:r>
            <a:r>
              <a:rPr lang="pt-BR" sz="2000" b="1" dirty="0">
                <a:solidFill>
                  <a:srgbClr val="FF0000"/>
                </a:solidFill>
              </a:rPr>
              <a:t>A-</a:t>
            </a:r>
            <a:r>
              <a:rPr lang="pt-BR" sz="2000" b="1" dirty="0" err="1">
                <a:solidFill>
                  <a:srgbClr val="FF0000"/>
                </a:solidFill>
              </a:rPr>
              <a:t>4C</a:t>
            </a:r>
            <a:r>
              <a:rPr lang="pt-BR" sz="2000" b="1" dirty="0">
                <a:solidFill>
                  <a:srgbClr val="FF0000"/>
                </a:solidFill>
              </a:rPr>
              <a:t>=0     </a:t>
            </a:r>
          </a:p>
          <a:p>
            <a:r>
              <a:rPr lang="pt-BR" sz="2000" b="1" dirty="0">
                <a:solidFill>
                  <a:srgbClr val="FF0000"/>
                </a:solidFill>
              </a:rPr>
              <a:t>				B-</a:t>
            </a:r>
            <a:r>
              <a:rPr lang="pt-BR" sz="2000" b="1" dirty="0" err="1">
                <a:solidFill>
                  <a:srgbClr val="FF0000"/>
                </a:solidFill>
              </a:rPr>
              <a:t>3C</a:t>
            </a:r>
            <a:r>
              <a:rPr lang="pt-BR" sz="2000" b="1" dirty="0">
                <a:solidFill>
                  <a:srgbClr val="FF0000"/>
                </a:solidFill>
              </a:rPr>
              <a:t>=0      </a:t>
            </a:r>
          </a:p>
          <a:p>
            <a:r>
              <a:rPr lang="pt-BR" sz="2000" b="1" dirty="0" err="1"/>
              <a:t>Según</a:t>
            </a:r>
            <a:r>
              <a:rPr lang="pt-BR" sz="2000" b="1" dirty="0"/>
              <a:t> </a:t>
            </a:r>
            <a:r>
              <a:rPr lang="pt-BR" sz="2000" b="1" dirty="0" err="1"/>
              <a:t>la</a:t>
            </a:r>
            <a:r>
              <a:rPr lang="pt-BR" sz="2000" b="1" dirty="0"/>
              <a:t> no </a:t>
            </a:r>
            <a:r>
              <a:rPr lang="pt-BR" sz="2000" b="1" dirty="0" err="1"/>
              <a:t>negatividad</a:t>
            </a:r>
            <a:r>
              <a:rPr lang="pt-BR" sz="2000" b="1" dirty="0"/>
              <a:t>	</a:t>
            </a:r>
            <a:r>
              <a:rPr lang="pt-BR" sz="2000" b="1" dirty="0" err="1"/>
              <a:t>R1</a:t>
            </a:r>
            <a:r>
              <a:rPr lang="pt-BR" sz="2000" b="1" dirty="0"/>
              <a:t>, R2, </a:t>
            </a:r>
            <a:r>
              <a:rPr lang="pt-BR" sz="2000" b="1" dirty="0" err="1"/>
              <a:t>R3</a:t>
            </a:r>
            <a:r>
              <a:rPr lang="pt-BR" sz="2000" b="1" dirty="0"/>
              <a:t>, A, B, C ≥ 0, </a:t>
            </a:r>
            <a:r>
              <a:rPr lang="pt-BR" sz="2000" b="1" dirty="0" err="1">
                <a:solidFill>
                  <a:srgbClr val="FF0000"/>
                </a:solidFill>
              </a:rPr>
              <a:t>Entera</a:t>
            </a:r>
            <a:endParaRPr lang="es-PE" sz="2000" dirty="0"/>
          </a:p>
        </p:txBody>
      </p:sp>
    </p:spTree>
    <p:extLst>
      <p:ext uri="{BB962C8B-B14F-4D97-AF65-F5344CB8AC3E}">
        <p14:creationId xmlns:p14="http://schemas.microsoft.com/office/powerpoint/2010/main" val="41844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9" grpId="0"/>
      <p:bldP spid="10" grpId="0" animBg="1"/>
      <p:bldP spid="11" grpId="0" animBg="1"/>
      <p:bldP spid="4" grpId="0" animBg="1"/>
      <p:bldP spid="1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89781" y="1149614"/>
            <a:ext cx="7901796" cy="1015663"/>
          </a:xfrm>
          <a:prstGeom prst="rect">
            <a:avLst/>
          </a:prstGeom>
        </p:spPr>
        <p:txBody>
          <a:bodyPr wrap="square">
            <a:spAutoFit/>
          </a:bodyPr>
          <a:lstStyle/>
          <a:p>
            <a:pPr algn="just"/>
            <a:r>
              <a:rPr lang="es-ES" sz="2000" dirty="0">
                <a:latin typeface="Arial Narrow" panose="020B0606020202030204" pitchFamily="34" charset="0"/>
              </a:rPr>
              <a:t>Un almacenero de </a:t>
            </a:r>
            <a:r>
              <a:rPr lang="es-ES" sz="2000" dirty="0" err="1">
                <a:latin typeface="Arial Narrow" panose="020B0606020202030204" pitchFamily="34" charset="0"/>
              </a:rPr>
              <a:t>Ransa</a:t>
            </a:r>
            <a:r>
              <a:rPr lang="es-ES" sz="2000" dirty="0">
                <a:latin typeface="Arial Narrow" panose="020B0606020202030204" pitchFamily="34" charset="0"/>
              </a:rPr>
              <a:t> debe elegir entre 7 objetos para su transporte, utilizando para ello determinado un tipo de caja. La valoración (en puntos), el peso (en Kg.) y el volumen (en </a:t>
            </a:r>
            <a:r>
              <a:rPr lang="es-ES" sz="2000" dirty="0" err="1">
                <a:latin typeface="Arial Narrow" panose="020B0606020202030204" pitchFamily="34" charset="0"/>
              </a:rPr>
              <a:t>cm</a:t>
            </a:r>
            <a:r>
              <a:rPr lang="es-ES" sz="2000" baseline="30000" dirty="0" err="1">
                <a:latin typeface="Arial Narrow" panose="020B0606020202030204" pitchFamily="34" charset="0"/>
              </a:rPr>
              <a:t>3</a:t>
            </a:r>
            <a:r>
              <a:rPr lang="es-ES" sz="2000" dirty="0">
                <a:latin typeface="Arial Narrow" panose="020B0606020202030204" pitchFamily="34" charset="0"/>
              </a:rPr>
              <a:t>) de cada objeto, se indican en la siguiente tabla: </a:t>
            </a:r>
            <a:endParaRPr lang="es-PE" sz="2000" dirty="0">
              <a:latin typeface="Arial Narrow" panose="020B0606020202030204" pitchFamily="34" charset="0"/>
            </a:endParaRPr>
          </a:p>
        </p:txBody>
      </p:sp>
      <p:graphicFrame>
        <p:nvGraphicFramePr>
          <p:cNvPr id="3" name="Tabla 4">
            <a:extLst>
              <a:ext uri="{FF2B5EF4-FFF2-40B4-BE49-F238E27FC236}">
                <a16:creationId xmlns:a16="http://schemas.microsoft.com/office/drawing/2014/main" id="{93A6FA92-4546-43CC-955F-A4C9121BB07D}"/>
              </a:ext>
            </a:extLst>
          </p:cNvPr>
          <p:cNvGraphicFramePr>
            <a:graphicFrameLocks noGrp="1"/>
          </p:cNvGraphicFramePr>
          <p:nvPr/>
        </p:nvGraphicFramePr>
        <p:xfrm>
          <a:off x="284669" y="2086850"/>
          <a:ext cx="3726608" cy="2438400"/>
        </p:xfrm>
        <a:graphic>
          <a:graphicData uri="http://schemas.openxmlformats.org/drawingml/2006/table">
            <a:tbl>
              <a:tblPr firstRow="1" bandRow="1">
                <a:tableStyleId>{5C22544A-7EE6-4342-B048-85BDC9FD1C3A}</a:tableStyleId>
              </a:tblPr>
              <a:tblGrid>
                <a:gridCol w="931652">
                  <a:extLst>
                    <a:ext uri="{9D8B030D-6E8A-4147-A177-3AD203B41FA5}">
                      <a16:colId xmlns:a16="http://schemas.microsoft.com/office/drawing/2014/main" val="3611378395"/>
                    </a:ext>
                  </a:extLst>
                </a:gridCol>
                <a:gridCol w="1122563">
                  <a:extLst>
                    <a:ext uri="{9D8B030D-6E8A-4147-A177-3AD203B41FA5}">
                      <a16:colId xmlns:a16="http://schemas.microsoft.com/office/drawing/2014/main" val="484496779"/>
                    </a:ext>
                  </a:extLst>
                </a:gridCol>
                <a:gridCol w="740741">
                  <a:extLst>
                    <a:ext uri="{9D8B030D-6E8A-4147-A177-3AD203B41FA5}">
                      <a16:colId xmlns:a16="http://schemas.microsoft.com/office/drawing/2014/main" val="2776838006"/>
                    </a:ext>
                  </a:extLst>
                </a:gridCol>
                <a:gridCol w="931652">
                  <a:extLst>
                    <a:ext uri="{9D8B030D-6E8A-4147-A177-3AD203B41FA5}">
                      <a16:colId xmlns:a16="http://schemas.microsoft.com/office/drawing/2014/main" val="59539071"/>
                    </a:ext>
                  </a:extLst>
                </a:gridCol>
              </a:tblGrid>
              <a:tr h="275060">
                <a:tc>
                  <a:txBody>
                    <a:bodyPr/>
                    <a:lstStyle/>
                    <a:p>
                      <a:pPr algn="ctr"/>
                      <a:r>
                        <a:rPr lang="es-ES" sz="1400" dirty="0">
                          <a:latin typeface="Arial Narrow" panose="020B0606020202030204" pitchFamily="34" charset="0"/>
                        </a:rPr>
                        <a:t>Objeto</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Valoración</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Peso</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Volumen</a:t>
                      </a:r>
                      <a:endParaRPr lang="es-PE" sz="1400" dirty="0">
                        <a:latin typeface="Arial Narrow" panose="020B0606020202030204" pitchFamily="34" charset="0"/>
                      </a:endParaRPr>
                    </a:p>
                  </a:txBody>
                  <a:tcPr/>
                </a:tc>
                <a:extLst>
                  <a:ext uri="{0D108BD9-81ED-4DB2-BD59-A6C34878D82A}">
                    <a16:rowId xmlns:a16="http://schemas.microsoft.com/office/drawing/2014/main" val="1446271684"/>
                  </a:ext>
                </a:extLst>
              </a:tr>
              <a:tr h="275060">
                <a:tc>
                  <a:txBody>
                    <a:bodyPr/>
                    <a:lstStyle/>
                    <a:p>
                      <a:pPr algn="ctr"/>
                      <a:r>
                        <a:rPr lang="es-ES" sz="1400" dirty="0">
                          <a:latin typeface="Arial Narrow" panose="020B0606020202030204" pitchFamily="34" charset="0"/>
                        </a:rPr>
                        <a:t>1</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60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2</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9</a:t>
                      </a:r>
                      <a:endParaRPr lang="es-PE" sz="1400" dirty="0">
                        <a:latin typeface="Arial Narrow" panose="020B0606020202030204" pitchFamily="34" charset="0"/>
                      </a:endParaRPr>
                    </a:p>
                  </a:txBody>
                  <a:tcPr/>
                </a:tc>
                <a:extLst>
                  <a:ext uri="{0D108BD9-81ED-4DB2-BD59-A6C34878D82A}">
                    <a16:rowId xmlns:a16="http://schemas.microsoft.com/office/drawing/2014/main" val="1707429855"/>
                  </a:ext>
                </a:extLst>
              </a:tr>
              <a:tr h="275060">
                <a:tc>
                  <a:txBody>
                    <a:bodyPr/>
                    <a:lstStyle/>
                    <a:p>
                      <a:pPr algn="ctr"/>
                      <a:r>
                        <a:rPr lang="es-ES" sz="1400" dirty="0">
                          <a:latin typeface="Arial Narrow" panose="020B0606020202030204" pitchFamily="34" charset="0"/>
                        </a:rPr>
                        <a:t>2</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70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1</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7</a:t>
                      </a:r>
                      <a:endParaRPr lang="es-PE" sz="1400" dirty="0">
                        <a:latin typeface="Arial Narrow" panose="020B0606020202030204" pitchFamily="34" charset="0"/>
                      </a:endParaRPr>
                    </a:p>
                  </a:txBody>
                  <a:tcPr/>
                </a:tc>
                <a:extLst>
                  <a:ext uri="{0D108BD9-81ED-4DB2-BD59-A6C34878D82A}">
                    <a16:rowId xmlns:a16="http://schemas.microsoft.com/office/drawing/2014/main" val="2218249645"/>
                  </a:ext>
                </a:extLst>
              </a:tr>
              <a:tr h="275060">
                <a:tc>
                  <a:txBody>
                    <a:bodyPr/>
                    <a:lstStyle/>
                    <a:p>
                      <a:pPr algn="ctr"/>
                      <a:r>
                        <a:rPr lang="es-ES" sz="1400" dirty="0">
                          <a:latin typeface="Arial Narrow" panose="020B0606020202030204" pitchFamily="34" charset="0"/>
                        </a:rPr>
                        <a:t>3</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90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1</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8</a:t>
                      </a:r>
                      <a:endParaRPr lang="es-PE" sz="1400" dirty="0">
                        <a:latin typeface="Arial Narrow" panose="020B0606020202030204" pitchFamily="34" charset="0"/>
                      </a:endParaRPr>
                    </a:p>
                  </a:txBody>
                  <a:tcPr/>
                </a:tc>
                <a:extLst>
                  <a:ext uri="{0D108BD9-81ED-4DB2-BD59-A6C34878D82A}">
                    <a16:rowId xmlns:a16="http://schemas.microsoft.com/office/drawing/2014/main" val="4273667301"/>
                  </a:ext>
                </a:extLst>
              </a:tr>
              <a:tr h="275060">
                <a:tc>
                  <a:txBody>
                    <a:bodyPr/>
                    <a:lstStyle/>
                    <a:p>
                      <a:pPr algn="ctr"/>
                      <a:r>
                        <a:rPr lang="es-ES" sz="1400" dirty="0">
                          <a:latin typeface="Arial Narrow" panose="020B0606020202030204" pitchFamily="34" charset="0"/>
                        </a:rPr>
                        <a:t>4</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100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4</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10</a:t>
                      </a:r>
                      <a:endParaRPr lang="es-PE" sz="1400" dirty="0">
                        <a:latin typeface="Arial Narrow" panose="020B0606020202030204" pitchFamily="34" charset="0"/>
                      </a:endParaRPr>
                    </a:p>
                  </a:txBody>
                  <a:tcPr/>
                </a:tc>
                <a:extLst>
                  <a:ext uri="{0D108BD9-81ED-4DB2-BD59-A6C34878D82A}">
                    <a16:rowId xmlns:a16="http://schemas.microsoft.com/office/drawing/2014/main" val="2086404390"/>
                  </a:ext>
                </a:extLst>
              </a:tr>
              <a:tr h="275060">
                <a:tc>
                  <a:txBody>
                    <a:bodyPr/>
                    <a:lstStyle/>
                    <a:p>
                      <a:pPr algn="ctr"/>
                      <a:r>
                        <a:rPr lang="es-ES" sz="1400" dirty="0">
                          <a:latin typeface="Arial Narrow" panose="020B0606020202030204" pitchFamily="34" charset="0"/>
                        </a:rPr>
                        <a:t>5</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40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3</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2</a:t>
                      </a:r>
                      <a:endParaRPr lang="es-PE" sz="1400" dirty="0">
                        <a:latin typeface="Arial Narrow" panose="020B0606020202030204" pitchFamily="34" charset="0"/>
                      </a:endParaRPr>
                    </a:p>
                  </a:txBody>
                  <a:tcPr/>
                </a:tc>
                <a:extLst>
                  <a:ext uri="{0D108BD9-81ED-4DB2-BD59-A6C34878D82A}">
                    <a16:rowId xmlns:a16="http://schemas.microsoft.com/office/drawing/2014/main" val="3643574443"/>
                  </a:ext>
                </a:extLst>
              </a:tr>
              <a:tr h="275060">
                <a:tc>
                  <a:txBody>
                    <a:bodyPr/>
                    <a:lstStyle/>
                    <a:p>
                      <a:pPr algn="ctr"/>
                      <a:r>
                        <a:rPr lang="es-ES" sz="1400" dirty="0">
                          <a:latin typeface="Arial Narrow" panose="020B0606020202030204" pitchFamily="34" charset="0"/>
                        </a:rPr>
                        <a:t>6</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50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2</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4</a:t>
                      </a:r>
                      <a:endParaRPr lang="es-PE" sz="1400" dirty="0">
                        <a:latin typeface="Arial Narrow" panose="020B0606020202030204" pitchFamily="34" charset="0"/>
                      </a:endParaRPr>
                    </a:p>
                  </a:txBody>
                  <a:tcPr/>
                </a:tc>
                <a:extLst>
                  <a:ext uri="{0D108BD9-81ED-4DB2-BD59-A6C34878D82A}">
                    <a16:rowId xmlns:a16="http://schemas.microsoft.com/office/drawing/2014/main" val="634472096"/>
                  </a:ext>
                </a:extLst>
              </a:tr>
              <a:tr h="275060">
                <a:tc>
                  <a:txBody>
                    <a:bodyPr/>
                    <a:lstStyle/>
                    <a:p>
                      <a:pPr algn="ctr"/>
                      <a:r>
                        <a:rPr lang="es-ES" sz="1400" dirty="0">
                          <a:latin typeface="Arial Narrow" panose="020B0606020202030204" pitchFamily="34" charset="0"/>
                        </a:rPr>
                        <a:t>7</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60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4</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3</a:t>
                      </a:r>
                      <a:endParaRPr lang="es-PE" sz="1400" dirty="0">
                        <a:latin typeface="Arial Narrow" panose="020B0606020202030204" pitchFamily="34" charset="0"/>
                      </a:endParaRPr>
                    </a:p>
                  </a:txBody>
                  <a:tcPr/>
                </a:tc>
                <a:extLst>
                  <a:ext uri="{0D108BD9-81ED-4DB2-BD59-A6C34878D82A}">
                    <a16:rowId xmlns:a16="http://schemas.microsoft.com/office/drawing/2014/main" val="1986862932"/>
                  </a:ext>
                </a:extLst>
              </a:tr>
            </a:tbl>
          </a:graphicData>
        </a:graphic>
      </p:graphicFrame>
      <p:sp>
        <p:nvSpPr>
          <p:cNvPr id="6" name="CuadroTexto 5">
            <a:extLst>
              <a:ext uri="{FF2B5EF4-FFF2-40B4-BE49-F238E27FC236}">
                <a16:creationId xmlns:a16="http://schemas.microsoft.com/office/drawing/2014/main" id="{6D325FF5-C5F4-47D2-BBAD-FE41D3683AEC}"/>
              </a:ext>
            </a:extLst>
          </p:cNvPr>
          <p:cNvSpPr txBox="1"/>
          <p:nvPr/>
        </p:nvSpPr>
        <p:spPr>
          <a:xfrm>
            <a:off x="181148" y="4546815"/>
            <a:ext cx="7901803" cy="2031325"/>
          </a:xfrm>
          <a:prstGeom prst="rect">
            <a:avLst/>
          </a:prstGeom>
          <a:noFill/>
        </p:spPr>
        <p:txBody>
          <a:bodyPr wrap="square" rtlCol="0">
            <a:spAutoFit/>
          </a:bodyPr>
          <a:lstStyle/>
          <a:p>
            <a:pPr algn="just"/>
            <a:r>
              <a:rPr lang="es-ES" dirty="0">
                <a:latin typeface="Arial Narrow" panose="020B0606020202030204" pitchFamily="34" charset="0"/>
              </a:rPr>
              <a:t>El almacenero estima que los objetos 5 y 6 son incompatibles entre si. Además, el objeto 7 solo se puede seleccionar si previamente se ha seleccionado el objeto 1.</a:t>
            </a:r>
          </a:p>
          <a:p>
            <a:pPr marL="342900" indent="-342900" algn="just">
              <a:buAutoNum type="arabicPeriod"/>
            </a:pPr>
            <a:r>
              <a:rPr lang="es-ES" dirty="0">
                <a:latin typeface="Arial Narrow" panose="020B0606020202030204" pitchFamily="34" charset="0"/>
              </a:rPr>
              <a:t>Formular un modelo 0-1, que permita al almacenero conocer los objetos que debe introducir en la caja, teniendo en cuenta que el peso total no debe exceder de 12 Kg., a fin de </a:t>
            </a:r>
            <a:r>
              <a:rPr lang="es-ES" b="1" dirty="0">
                <a:latin typeface="Arial Narrow" panose="020B0606020202030204" pitchFamily="34" charset="0"/>
              </a:rPr>
              <a:t>maximizar</a:t>
            </a:r>
            <a:r>
              <a:rPr lang="es-ES" dirty="0">
                <a:latin typeface="Arial Narrow" panose="020B0606020202030204" pitchFamily="34" charset="0"/>
              </a:rPr>
              <a:t> la valoración de los objetos elegidos.</a:t>
            </a:r>
          </a:p>
          <a:p>
            <a:pPr marL="342900" indent="-342900" algn="just">
              <a:buAutoNum type="arabicPeriod"/>
            </a:pPr>
            <a:r>
              <a:rPr lang="es-ES" dirty="0">
                <a:latin typeface="Arial Narrow" panose="020B0606020202030204" pitchFamily="34" charset="0"/>
              </a:rPr>
              <a:t>En caso de existir otra limitación de volumen de 30 </a:t>
            </a:r>
            <a:r>
              <a:rPr lang="es-ES" dirty="0" err="1">
                <a:latin typeface="Arial Narrow" panose="020B0606020202030204" pitchFamily="34" charset="0"/>
              </a:rPr>
              <a:t>cm</a:t>
            </a:r>
            <a:r>
              <a:rPr lang="es-ES" baseline="30000" dirty="0" err="1">
                <a:latin typeface="Arial Narrow" panose="020B0606020202030204" pitchFamily="34" charset="0"/>
              </a:rPr>
              <a:t>3</a:t>
            </a:r>
            <a:r>
              <a:rPr lang="es-ES" baseline="30000" dirty="0">
                <a:latin typeface="Arial Narrow" panose="020B0606020202030204" pitchFamily="34" charset="0"/>
              </a:rPr>
              <a:t> </a:t>
            </a:r>
            <a:r>
              <a:rPr lang="es-ES" dirty="0">
                <a:latin typeface="Arial Narrow" panose="020B0606020202030204" pitchFamily="34" charset="0"/>
              </a:rPr>
              <a:t>formular el nuevo  programa lineal 0-1</a:t>
            </a:r>
            <a:endParaRPr lang="es-PE" dirty="0">
              <a:latin typeface="Arial Narrow" panose="020B0606020202030204" pitchFamily="34" charset="0"/>
            </a:endParaRPr>
          </a:p>
        </p:txBody>
      </p:sp>
      <p:pic>
        <p:nvPicPr>
          <p:cNvPr id="5" name="Imagen 4">
            <a:extLst>
              <a:ext uri="{FF2B5EF4-FFF2-40B4-BE49-F238E27FC236}">
                <a16:creationId xmlns:a16="http://schemas.microsoft.com/office/drawing/2014/main" id="{B9938AB7-8330-4AB6-B758-A14D1F1764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4194" y="2102966"/>
            <a:ext cx="3915240" cy="2406566"/>
          </a:xfrm>
          <a:prstGeom prst="rect">
            <a:avLst/>
          </a:prstGeom>
        </p:spPr>
      </p:pic>
      <p:sp>
        <p:nvSpPr>
          <p:cNvPr id="8" name="2 Rectángulo redondeado">
            <a:extLst>
              <a:ext uri="{FF2B5EF4-FFF2-40B4-BE49-F238E27FC236}">
                <a16:creationId xmlns:a16="http://schemas.microsoft.com/office/drawing/2014/main" id="{9B9C9FC2-E874-4D7F-A097-721871E0EB9D}"/>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21</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Tree>
    <p:extLst>
      <p:ext uri="{BB962C8B-B14F-4D97-AF65-F5344CB8AC3E}">
        <p14:creationId xmlns:p14="http://schemas.microsoft.com/office/powerpoint/2010/main" val="10955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Rectángulo redondeado">
            <a:extLst>
              <a:ext uri="{FF2B5EF4-FFF2-40B4-BE49-F238E27FC236}">
                <a16:creationId xmlns:a16="http://schemas.microsoft.com/office/drawing/2014/main" id="{9B9C9FC2-E874-4D7F-A097-721871E0EB9D}"/>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21</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9" name="3 Rectángulo">
            <a:extLst>
              <a:ext uri="{FF2B5EF4-FFF2-40B4-BE49-F238E27FC236}">
                <a16:creationId xmlns:a16="http://schemas.microsoft.com/office/drawing/2014/main" id="{E5567542-C1E6-4CDD-8C37-0CDEEB3282A2}"/>
              </a:ext>
            </a:extLst>
          </p:cNvPr>
          <p:cNvSpPr/>
          <p:nvPr/>
        </p:nvSpPr>
        <p:spPr>
          <a:xfrm>
            <a:off x="4068154" y="1314625"/>
            <a:ext cx="4937823" cy="923330"/>
          </a:xfrm>
          <a:prstGeom prst="rect">
            <a:avLst/>
          </a:prstGeom>
          <a:solidFill>
            <a:schemeClr val="accent4">
              <a:lumMod val="40000"/>
              <a:lumOff val="60000"/>
            </a:schemeClr>
          </a:solidFill>
        </p:spPr>
        <p:txBody>
          <a:bodyPr wrap="square">
            <a:spAutoFit/>
          </a:bodyPr>
          <a:lstStyle/>
          <a:p>
            <a:pPr marL="400050" indent="-400050" algn="just" fontAlgn="base">
              <a:spcBef>
                <a:spcPct val="0"/>
              </a:spcBef>
              <a:spcAft>
                <a:spcPct val="0"/>
              </a:spcAft>
              <a:buAutoNum type="romanUcPeriod"/>
            </a:pPr>
            <a:r>
              <a:rPr lang="es-PE"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dirty="0">
                <a:solidFill>
                  <a:srgbClr val="FF0000"/>
                </a:solidFill>
                <a:latin typeface="Arial Narrow" panose="020B0606020202030204" pitchFamily="34" charset="0"/>
                <a:ea typeface="Calibri" pitchFamily="34" charset="0"/>
                <a:cs typeface="Arial" pitchFamily="34" charset="0"/>
              </a:rPr>
              <a:t>        </a:t>
            </a:r>
            <a:r>
              <a:rPr lang="es-PE" dirty="0">
                <a:latin typeface="Arial Narrow" panose="020B0606020202030204" pitchFamily="34" charset="0"/>
                <a:ea typeface="Calibri" pitchFamily="34" charset="0"/>
                <a:cs typeface="Arial" pitchFamily="34" charset="0"/>
              </a:rPr>
              <a:t>Xi=Transporte de objeto i</a:t>
            </a:r>
          </a:p>
          <a:p>
            <a:pPr algn="just" fontAlgn="base">
              <a:spcBef>
                <a:spcPct val="0"/>
              </a:spcBef>
              <a:spcAft>
                <a:spcPct val="0"/>
              </a:spcAft>
            </a:pPr>
            <a:r>
              <a:rPr lang="es-PE" dirty="0">
                <a:latin typeface="Arial Narrow" panose="020B0606020202030204" pitchFamily="34" charset="0"/>
                <a:ea typeface="Calibri" pitchFamily="34" charset="0"/>
                <a:cs typeface="Arial" pitchFamily="34" charset="0"/>
              </a:rPr>
              <a:t>        {Xi=0 No se transporta, Xi=1 Se transporta}</a:t>
            </a:r>
          </a:p>
        </p:txBody>
      </p:sp>
      <p:graphicFrame>
        <p:nvGraphicFramePr>
          <p:cNvPr id="10" name="Tabla 4">
            <a:extLst>
              <a:ext uri="{FF2B5EF4-FFF2-40B4-BE49-F238E27FC236}">
                <a16:creationId xmlns:a16="http://schemas.microsoft.com/office/drawing/2014/main" id="{DF962B18-6C9A-411D-A757-1791EB165484}"/>
              </a:ext>
            </a:extLst>
          </p:cNvPr>
          <p:cNvGraphicFramePr>
            <a:graphicFrameLocks noGrp="1"/>
          </p:cNvGraphicFramePr>
          <p:nvPr/>
        </p:nvGraphicFramePr>
        <p:xfrm>
          <a:off x="284669" y="2086850"/>
          <a:ext cx="3726608" cy="2438400"/>
        </p:xfrm>
        <a:graphic>
          <a:graphicData uri="http://schemas.openxmlformats.org/drawingml/2006/table">
            <a:tbl>
              <a:tblPr firstRow="1" bandRow="1">
                <a:tableStyleId>{5C22544A-7EE6-4342-B048-85BDC9FD1C3A}</a:tableStyleId>
              </a:tblPr>
              <a:tblGrid>
                <a:gridCol w="931652">
                  <a:extLst>
                    <a:ext uri="{9D8B030D-6E8A-4147-A177-3AD203B41FA5}">
                      <a16:colId xmlns:a16="http://schemas.microsoft.com/office/drawing/2014/main" val="3611378395"/>
                    </a:ext>
                  </a:extLst>
                </a:gridCol>
                <a:gridCol w="1122563">
                  <a:extLst>
                    <a:ext uri="{9D8B030D-6E8A-4147-A177-3AD203B41FA5}">
                      <a16:colId xmlns:a16="http://schemas.microsoft.com/office/drawing/2014/main" val="484496779"/>
                    </a:ext>
                  </a:extLst>
                </a:gridCol>
                <a:gridCol w="740741">
                  <a:extLst>
                    <a:ext uri="{9D8B030D-6E8A-4147-A177-3AD203B41FA5}">
                      <a16:colId xmlns:a16="http://schemas.microsoft.com/office/drawing/2014/main" val="2776838006"/>
                    </a:ext>
                  </a:extLst>
                </a:gridCol>
                <a:gridCol w="931652">
                  <a:extLst>
                    <a:ext uri="{9D8B030D-6E8A-4147-A177-3AD203B41FA5}">
                      <a16:colId xmlns:a16="http://schemas.microsoft.com/office/drawing/2014/main" val="59539071"/>
                    </a:ext>
                  </a:extLst>
                </a:gridCol>
              </a:tblGrid>
              <a:tr h="275060">
                <a:tc>
                  <a:txBody>
                    <a:bodyPr/>
                    <a:lstStyle/>
                    <a:p>
                      <a:pPr algn="ctr"/>
                      <a:r>
                        <a:rPr lang="es-ES" sz="1400" dirty="0">
                          <a:latin typeface="Arial Narrow" panose="020B0606020202030204" pitchFamily="34" charset="0"/>
                        </a:rPr>
                        <a:t>Objeto</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Valoración</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Peso</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Volumen</a:t>
                      </a:r>
                      <a:endParaRPr lang="es-PE" sz="1400" dirty="0">
                        <a:latin typeface="Arial Narrow" panose="020B0606020202030204" pitchFamily="34" charset="0"/>
                      </a:endParaRPr>
                    </a:p>
                  </a:txBody>
                  <a:tcPr/>
                </a:tc>
                <a:extLst>
                  <a:ext uri="{0D108BD9-81ED-4DB2-BD59-A6C34878D82A}">
                    <a16:rowId xmlns:a16="http://schemas.microsoft.com/office/drawing/2014/main" val="1446271684"/>
                  </a:ext>
                </a:extLst>
              </a:tr>
              <a:tr h="275060">
                <a:tc>
                  <a:txBody>
                    <a:bodyPr/>
                    <a:lstStyle/>
                    <a:p>
                      <a:pPr algn="ctr"/>
                      <a:r>
                        <a:rPr lang="es-ES" sz="1400" dirty="0">
                          <a:latin typeface="Arial Narrow" panose="020B0606020202030204" pitchFamily="34" charset="0"/>
                        </a:rPr>
                        <a:t>1</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60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2</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9</a:t>
                      </a:r>
                      <a:endParaRPr lang="es-PE" sz="1400" dirty="0">
                        <a:latin typeface="Arial Narrow" panose="020B0606020202030204" pitchFamily="34" charset="0"/>
                      </a:endParaRPr>
                    </a:p>
                  </a:txBody>
                  <a:tcPr/>
                </a:tc>
                <a:extLst>
                  <a:ext uri="{0D108BD9-81ED-4DB2-BD59-A6C34878D82A}">
                    <a16:rowId xmlns:a16="http://schemas.microsoft.com/office/drawing/2014/main" val="1707429855"/>
                  </a:ext>
                </a:extLst>
              </a:tr>
              <a:tr h="275060">
                <a:tc>
                  <a:txBody>
                    <a:bodyPr/>
                    <a:lstStyle/>
                    <a:p>
                      <a:pPr algn="ctr"/>
                      <a:r>
                        <a:rPr lang="es-ES" sz="1400" dirty="0">
                          <a:latin typeface="Arial Narrow" panose="020B0606020202030204" pitchFamily="34" charset="0"/>
                        </a:rPr>
                        <a:t>2</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70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1</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7</a:t>
                      </a:r>
                      <a:endParaRPr lang="es-PE" sz="1400" dirty="0">
                        <a:latin typeface="Arial Narrow" panose="020B0606020202030204" pitchFamily="34" charset="0"/>
                      </a:endParaRPr>
                    </a:p>
                  </a:txBody>
                  <a:tcPr/>
                </a:tc>
                <a:extLst>
                  <a:ext uri="{0D108BD9-81ED-4DB2-BD59-A6C34878D82A}">
                    <a16:rowId xmlns:a16="http://schemas.microsoft.com/office/drawing/2014/main" val="2218249645"/>
                  </a:ext>
                </a:extLst>
              </a:tr>
              <a:tr h="275060">
                <a:tc>
                  <a:txBody>
                    <a:bodyPr/>
                    <a:lstStyle/>
                    <a:p>
                      <a:pPr algn="ctr"/>
                      <a:r>
                        <a:rPr lang="es-ES" sz="1400" dirty="0">
                          <a:latin typeface="Arial Narrow" panose="020B0606020202030204" pitchFamily="34" charset="0"/>
                        </a:rPr>
                        <a:t>3</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90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1</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8</a:t>
                      </a:r>
                      <a:endParaRPr lang="es-PE" sz="1400" dirty="0">
                        <a:latin typeface="Arial Narrow" panose="020B0606020202030204" pitchFamily="34" charset="0"/>
                      </a:endParaRPr>
                    </a:p>
                  </a:txBody>
                  <a:tcPr/>
                </a:tc>
                <a:extLst>
                  <a:ext uri="{0D108BD9-81ED-4DB2-BD59-A6C34878D82A}">
                    <a16:rowId xmlns:a16="http://schemas.microsoft.com/office/drawing/2014/main" val="4273667301"/>
                  </a:ext>
                </a:extLst>
              </a:tr>
              <a:tr h="275060">
                <a:tc>
                  <a:txBody>
                    <a:bodyPr/>
                    <a:lstStyle/>
                    <a:p>
                      <a:pPr algn="ctr"/>
                      <a:r>
                        <a:rPr lang="es-ES" sz="1400" dirty="0">
                          <a:latin typeface="Arial Narrow" panose="020B0606020202030204" pitchFamily="34" charset="0"/>
                        </a:rPr>
                        <a:t>4</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100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4</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10</a:t>
                      </a:r>
                      <a:endParaRPr lang="es-PE" sz="1400" dirty="0">
                        <a:latin typeface="Arial Narrow" panose="020B0606020202030204" pitchFamily="34" charset="0"/>
                      </a:endParaRPr>
                    </a:p>
                  </a:txBody>
                  <a:tcPr/>
                </a:tc>
                <a:extLst>
                  <a:ext uri="{0D108BD9-81ED-4DB2-BD59-A6C34878D82A}">
                    <a16:rowId xmlns:a16="http://schemas.microsoft.com/office/drawing/2014/main" val="2086404390"/>
                  </a:ext>
                </a:extLst>
              </a:tr>
              <a:tr h="275060">
                <a:tc>
                  <a:txBody>
                    <a:bodyPr/>
                    <a:lstStyle/>
                    <a:p>
                      <a:pPr algn="ctr"/>
                      <a:r>
                        <a:rPr lang="es-ES" sz="1400" dirty="0">
                          <a:latin typeface="Arial Narrow" panose="020B0606020202030204" pitchFamily="34" charset="0"/>
                        </a:rPr>
                        <a:t>5</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40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3</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2</a:t>
                      </a:r>
                      <a:endParaRPr lang="es-PE" sz="1400" dirty="0">
                        <a:latin typeface="Arial Narrow" panose="020B0606020202030204" pitchFamily="34" charset="0"/>
                      </a:endParaRPr>
                    </a:p>
                  </a:txBody>
                  <a:tcPr/>
                </a:tc>
                <a:extLst>
                  <a:ext uri="{0D108BD9-81ED-4DB2-BD59-A6C34878D82A}">
                    <a16:rowId xmlns:a16="http://schemas.microsoft.com/office/drawing/2014/main" val="3643574443"/>
                  </a:ext>
                </a:extLst>
              </a:tr>
              <a:tr h="275060">
                <a:tc>
                  <a:txBody>
                    <a:bodyPr/>
                    <a:lstStyle/>
                    <a:p>
                      <a:pPr algn="ctr"/>
                      <a:r>
                        <a:rPr lang="es-ES" sz="1400" dirty="0">
                          <a:latin typeface="Arial Narrow" panose="020B0606020202030204" pitchFamily="34" charset="0"/>
                        </a:rPr>
                        <a:t>6</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50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2</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4</a:t>
                      </a:r>
                      <a:endParaRPr lang="es-PE" sz="1400" dirty="0">
                        <a:latin typeface="Arial Narrow" panose="020B0606020202030204" pitchFamily="34" charset="0"/>
                      </a:endParaRPr>
                    </a:p>
                  </a:txBody>
                  <a:tcPr/>
                </a:tc>
                <a:extLst>
                  <a:ext uri="{0D108BD9-81ED-4DB2-BD59-A6C34878D82A}">
                    <a16:rowId xmlns:a16="http://schemas.microsoft.com/office/drawing/2014/main" val="634472096"/>
                  </a:ext>
                </a:extLst>
              </a:tr>
              <a:tr h="275060">
                <a:tc>
                  <a:txBody>
                    <a:bodyPr/>
                    <a:lstStyle/>
                    <a:p>
                      <a:pPr algn="ctr"/>
                      <a:r>
                        <a:rPr lang="es-ES" sz="1400" dirty="0">
                          <a:latin typeface="Arial Narrow" panose="020B0606020202030204" pitchFamily="34" charset="0"/>
                        </a:rPr>
                        <a:t>7</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60</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4</a:t>
                      </a:r>
                      <a:endParaRPr lang="es-PE" sz="1400" dirty="0">
                        <a:latin typeface="Arial Narrow" panose="020B0606020202030204" pitchFamily="34" charset="0"/>
                      </a:endParaRPr>
                    </a:p>
                  </a:txBody>
                  <a:tcPr/>
                </a:tc>
                <a:tc>
                  <a:txBody>
                    <a:bodyPr/>
                    <a:lstStyle/>
                    <a:p>
                      <a:pPr algn="ctr"/>
                      <a:r>
                        <a:rPr lang="es-ES" sz="1400" dirty="0">
                          <a:latin typeface="Arial Narrow" panose="020B0606020202030204" pitchFamily="34" charset="0"/>
                        </a:rPr>
                        <a:t>3</a:t>
                      </a:r>
                      <a:endParaRPr lang="es-PE" sz="1400" dirty="0">
                        <a:latin typeface="Arial Narrow" panose="020B0606020202030204" pitchFamily="34" charset="0"/>
                      </a:endParaRPr>
                    </a:p>
                  </a:txBody>
                  <a:tcPr/>
                </a:tc>
                <a:extLst>
                  <a:ext uri="{0D108BD9-81ED-4DB2-BD59-A6C34878D82A}">
                    <a16:rowId xmlns:a16="http://schemas.microsoft.com/office/drawing/2014/main" val="1986862932"/>
                  </a:ext>
                </a:extLst>
              </a:tr>
            </a:tbl>
          </a:graphicData>
        </a:graphic>
      </p:graphicFrame>
      <p:sp>
        <p:nvSpPr>
          <p:cNvPr id="12" name="Rectángulo 11">
            <a:extLst>
              <a:ext uri="{FF2B5EF4-FFF2-40B4-BE49-F238E27FC236}">
                <a16:creationId xmlns:a16="http://schemas.microsoft.com/office/drawing/2014/main" id="{D49BCD27-47A8-4E56-801C-8E08FD044936}"/>
              </a:ext>
            </a:extLst>
          </p:cNvPr>
          <p:cNvSpPr/>
          <p:nvPr/>
        </p:nvSpPr>
        <p:spPr>
          <a:xfrm>
            <a:off x="4406700" y="4594405"/>
            <a:ext cx="3732363" cy="2246769"/>
          </a:xfrm>
          <a:prstGeom prst="rect">
            <a:avLst/>
          </a:prstGeom>
          <a:solidFill>
            <a:srgbClr val="FFC000"/>
          </a:solidFill>
        </p:spPr>
        <p:txBody>
          <a:bodyPr wrap="square">
            <a:spAutoFit/>
          </a:bodyPr>
          <a:lstStyle/>
          <a:p>
            <a:r>
              <a:rPr lang="es-PE" sz="1400" dirty="0"/>
              <a:t> </a:t>
            </a:r>
            <a:r>
              <a:rPr lang="es-PE" sz="1400" dirty="0" err="1"/>
              <a:t>OBJECTIVE</a:t>
            </a:r>
            <a:r>
              <a:rPr lang="es-PE" sz="1400" dirty="0"/>
              <a:t> </a:t>
            </a:r>
            <a:r>
              <a:rPr lang="es-PE" sz="1400" dirty="0" err="1"/>
              <a:t>FUNCTION</a:t>
            </a:r>
            <a:r>
              <a:rPr lang="es-PE" sz="1400" dirty="0"/>
              <a:t> </a:t>
            </a:r>
            <a:r>
              <a:rPr lang="es-PE" sz="1400" dirty="0" err="1"/>
              <a:t>VALUE</a:t>
            </a:r>
            <a:endParaRPr lang="es-PE" sz="1400" dirty="0"/>
          </a:p>
          <a:p>
            <a:r>
              <a:rPr lang="es-PE" sz="1400" dirty="0"/>
              <a:t>        1)      320.0000</a:t>
            </a:r>
          </a:p>
          <a:p>
            <a:r>
              <a:rPr lang="es-PE" sz="1400" dirty="0"/>
              <a:t> VARIABLE     </a:t>
            </a:r>
            <a:r>
              <a:rPr lang="es-PE" sz="1400" dirty="0" err="1"/>
              <a:t>VALUE</a:t>
            </a:r>
            <a:r>
              <a:rPr lang="es-PE" sz="1400" dirty="0"/>
              <a:t>     </a:t>
            </a:r>
            <a:r>
              <a:rPr lang="es-PE" sz="1400" dirty="0" err="1"/>
              <a:t>REDUCED</a:t>
            </a:r>
            <a:r>
              <a:rPr lang="es-PE" sz="1400" dirty="0"/>
              <a:t> </a:t>
            </a:r>
            <a:r>
              <a:rPr lang="es-PE" sz="1400" dirty="0" err="1"/>
              <a:t>COST</a:t>
            </a:r>
            <a:endParaRPr lang="es-PE" sz="1400" dirty="0"/>
          </a:p>
          <a:p>
            <a:r>
              <a:rPr lang="es-PE" sz="1400" dirty="0"/>
              <a:t>        </a:t>
            </a:r>
            <a:r>
              <a:rPr lang="es-PE" sz="1400" dirty="0" err="1"/>
              <a:t>X1</a:t>
            </a:r>
            <a:r>
              <a:rPr lang="es-PE" sz="1400" dirty="0"/>
              <a:t>         1.000000        -60.000000</a:t>
            </a:r>
          </a:p>
          <a:p>
            <a:r>
              <a:rPr lang="es-PE" sz="1400" dirty="0"/>
              <a:t>        </a:t>
            </a:r>
            <a:r>
              <a:rPr lang="es-PE" sz="1400" dirty="0" err="1"/>
              <a:t>X2</a:t>
            </a:r>
            <a:r>
              <a:rPr lang="es-PE" sz="1400" dirty="0"/>
              <a:t>         1.000000        -70.000000</a:t>
            </a:r>
          </a:p>
          <a:p>
            <a:r>
              <a:rPr lang="es-PE" sz="1400" dirty="0"/>
              <a:t>        </a:t>
            </a:r>
            <a:r>
              <a:rPr lang="es-PE" sz="1400" dirty="0" err="1"/>
              <a:t>X3</a:t>
            </a:r>
            <a:r>
              <a:rPr lang="es-PE" sz="1400" dirty="0"/>
              <a:t>         1.000000        -90.000000</a:t>
            </a:r>
          </a:p>
          <a:p>
            <a:r>
              <a:rPr lang="es-PE" sz="1400" dirty="0"/>
              <a:t>        </a:t>
            </a:r>
            <a:r>
              <a:rPr lang="es-PE" sz="1400" dirty="0" err="1"/>
              <a:t>X4</a:t>
            </a:r>
            <a:r>
              <a:rPr lang="es-PE" sz="1400" dirty="0"/>
              <a:t>         0.000000       -100.000000</a:t>
            </a:r>
          </a:p>
          <a:p>
            <a:r>
              <a:rPr lang="es-PE" sz="1400" dirty="0"/>
              <a:t>        </a:t>
            </a:r>
            <a:r>
              <a:rPr lang="es-PE" sz="1400" dirty="0" err="1"/>
              <a:t>X5</a:t>
            </a:r>
            <a:r>
              <a:rPr lang="es-PE" sz="1400" dirty="0"/>
              <a:t>         1.000000        -40.000000</a:t>
            </a:r>
          </a:p>
          <a:p>
            <a:r>
              <a:rPr lang="es-PE" sz="1400" dirty="0"/>
              <a:t>        </a:t>
            </a:r>
            <a:r>
              <a:rPr lang="es-PE" sz="1400" dirty="0" err="1"/>
              <a:t>X6</a:t>
            </a:r>
            <a:r>
              <a:rPr lang="es-PE" sz="1400" dirty="0"/>
              <a:t>         0.000000        -50.000000</a:t>
            </a:r>
          </a:p>
          <a:p>
            <a:r>
              <a:rPr lang="es-PE" sz="1400" dirty="0"/>
              <a:t>        </a:t>
            </a:r>
            <a:r>
              <a:rPr lang="es-PE" sz="1400" dirty="0" err="1"/>
              <a:t>X7</a:t>
            </a:r>
            <a:r>
              <a:rPr lang="es-PE" sz="1400" dirty="0"/>
              <a:t>         1.000000        -60.000000</a:t>
            </a:r>
          </a:p>
        </p:txBody>
      </p:sp>
      <p:sp>
        <p:nvSpPr>
          <p:cNvPr id="4" name="Rectángulo 3">
            <a:extLst>
              <a:ext uri="{FF2B5EF4-FFF2-40B4-BE49-F238E27FC236}">
                <a16:creationId xmlns:a16="http://schemas.microsoft.com/office/drawing/2014/main" id="{12748452-9F6E-4FE7-A3D7-53AD47C7FBE2}"/>
              </a:ext>
            </a:extLst>
          </p:cNvPr>
          <p:cNvSpPr/>
          <p:nvPr/>
        </p:nvSpPr>
        <p:spPr>
          <a:xfrm>
            <a:off x="4074542" y="2223080"/>
            <a:ext cx="4931435" cy="646331"/>
          </a:xfrm>
          <a:prstGeom prst="rect">
            <a:avLst/>
          </a:prstGeom>
          <a:solidFill>
            <a:schemeClr val="accent4">
              <a:lumMod val="40000"/>
              <a:lumOff val="60000"/>
            </a:schemeClr>
          </a:solidFill>
        </p:spPr>
        <p:txBody>
          <a:bodyPr wrap="square">
            <a:spAutoFit/>
          </a:bodyPr>
          <a:lstStyle/>
          <a:p>
            <a:pPr marL="449263" indent="-449263" algn="just" fontAlgn="base">
              <a:spcBef>
                <a:spcPct val="0"/>
              </a:spcBef>
              <a:spcAft>
                <a:spcPct val="0"/>
              </a:spcAft>
              <a:buAutoNum type="romanUcPeriod" startAt="2"/>
            </a:pPr>
            <a:r>
              <a:rPr lang="es-PE"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dirty="0">
                <a:latin typeface="Arial Narrow" panose="020B0606020202030204" pitchFamily="34" charset="0"/>
                <a:cs typeface="Arial" pitchFamily="34" charset="0"/>
              </a:rPr>
              <a:t>        MAX </a:t>
            </a:r>
            <a:r>
              <a:rPr lang="es-PE" dirty="0" err="1">
                <a:latin typeface="Arial Narrow" panose="020B0606020202030204" pitchFamily="34" charset="0"/>
                <a:cs typeface="Arial" pitchFamily="34" charset="0"/>
              </a:rPr>
              <a:t>60X1+70X2+90X3+100X4+40X5+50X6+60X7</a:t>
            </a:r>
            <a:endParaRPr lang="es-PE" dirty="0">
              <a:latin typeface="Arial Narrow" panose="020B0606020202030204" pitchFamily="34" charset="0"/>
              <a:cs typeface="Arial" pitchFamily="34" charset="0"/>
            </a:endParaRPr>
          </a:p>
        </p:txBody>
      </p:sp>
      <p:sp>
        <p:nvSpPr>
          <p:cNvPr id="7" name="Rectángulo 6">
            <a:extLst>
              <a:ext uri="{FF2B5EF4-FFF2-40B4-BE49-F238E27FC236}">
                <a16:creationId xmlns:a16="http://schemas.microsoft.com/office/drawing/2014/main" id="{BAC611B9-4D96-4E7C-BB87-21BB4C2CE615}"/>
              </a:ext>
            </a:extLst>
          </p:cNvPr>
          <p:cNvSpPr/>
          <p:nvPr/>
        </p:nvSpPr>
        <p:spPr>
          <a:xfrm>
            <a:off x="4074543" y="2871014"/>
            <a:ext cx="4931433" cy="1754326"/>
          </a:xfrm>
          <a:prstGeom prst="rect">
            <a:avLst/>
          </a:prstGeom>
          <a:solidFill>
            <a:schemeClr val="accent4">
              <a:lumMod val="40000"/>
              <a:lumOff val="60000"/>
            </a:schemeClr>
          </a:solidFill>
        </p:spPr>
        <p:txBody>
          <a:bodyPr wrap="square">
            <a:spAutoFit/>
          </a:bodyPr>
          <a:lstStyle/>
          <a:p>
            <a:pPr marL="449263" indent="-449263" algn="just" fontAlgn="base">
              <a:spcBef>
                <a:spcPct val="0"/>
              </a:spcBef>
              <a:spcAft>
                <a:spcPct val="0"/>
              </a:spcAft>
            </a:pPr>
            <a:r>
              <a:rPr lang="es-PE" dirty="0">
                <a:solidFill>
                  <a:srgbClr val="FF0000"/>
                </a:solidFill>
                <a:latin typeface="Arial Narrow" panose="020B0606020202030204" pitchFamily="34" charset="0"/>
                <a:ea typeface="Calibri" pitchFamily="34" charset="0"/>
                <a:cs typeface="Arial" pitchFamily="34" charset="0"/>
              </a:rPr>
              <a:t>III.	Identificación de las restricciones</a:t>
            </a:r>
            <a:endParaRPr lang="es-PE"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PE" dirty="0" err="1">
                <a:latin typeface="Arial Narrow" panose="020B0606020202030204" pitchFamily="34" charset="0"/>
              </a:rPr>
              <a:t>X5+X6</a:t>
            </a:r>
            <a:r>
              <a:rPr lang="es-PE" dirty="0">
                <a:latin typeface="Arial Narrow" panose="020B0606020202030204" pitchFamily="34" charset="0"/>
              </a:rPr>
              <a:t>&lt;=1</a:t>
            </a:r>
          </a:p>
          <a:p>
            <a:pPr indent="449263" algn="just" eaLnBrk="0" fontAlgn="base" hangingPunct="0">
              <a:spcBef>
                <a:spcPct val="0"/>
              </a:spcBef>
              <a:spcAft>
                <a:spcPct val="0"/>
              </a:spcAft>
            </a:pPr>
            <a:r>
              <a:rPr lang="es-PE" dirty="0" err="1">
                <a:latin typeface="Arial Narrow" panose="020B0606020202030204" pitchFamily="34" charset="0"/>
              </a:rPr>
              <a:t>X1-X7</a:t>
            </a:r>
            <a:r>
              <a:rPr lang="es-PE" dirty="0">
                <a:latin typeface="Arial Narrow" panose="020B0606020202030204" pitchFamily="34" charset="0"/>
              </a:rPr>
              <a:t>=0</a:t>
            </a:r>
          </a:p>
          <a:p>
            <a:pPr indent="449263" algn="just" eaLnBrk="0" fontAlgn="base" hangingPunct="0">
              <a:spcBef>
                <a:spcPct val="0"/>
              </a:spcBef>
              <a:spcAft>
                <a:spcPct val="0"/>
              </a:spcAft>
            </a:pPr>
            <a:r>
              <a:rPr lang="es-PE" dirty="0" err="1">
                <a:latin typeface="Arial Narrow" panose="020B0606020202030204" pitchFamily="34" charset="0"/>
              </a:rPr>
              <a:t>2X1+X2+X3+4X4+3X5+2X6+4X7</a:t>
            </a:r>
            <a:r>
              <a:rPr lang="es-PE" dirty="0">
                <a:latin typeface="Arial Narrow" panose="020B0606020202030204" pitchFamily="34" charset="0"/>
              </a:rPr>
              <a:t>&lt;=12</a:t>
            </a:r>
          </a:p>
          <a:p>
            <a:pPr indent="449263" algn="just" eaLnBrk="0" fontAlgn="base" hangingPunct="0">
              <a:spcBef>
                <a:spcPct val="0"/>
              </a:spcBef>
              <a:spcAft>
                <a:spcPct val="0"/>
              </a:spcAft>
            </a:pPr>
            <a:r>
              <a:rPr lang="es-PE" dirty="0" err="1">
                <a:latin typeface="Arial Narrow" panose="020B0606020202030204" pitchFamily="34" charset="0"/>
              </a:rPr>
              <a:t>9X1+7X2+8X3+10X4+2X5+4X6+3X7</a:t>
            </a:r>
            <a:r>
              <a:rPr lang="es-PE" dirty="0">
                <a:latin typeface="Arial Narrow" panose="020B0606020202030204" pitchFamily="34" charset="0"/>
              </a:rPr>
              <a:t>&lt;=30</a:t>
            </a:r>
          </a:p>
          <a:p>
            <a:pPr indent="449263" algn="just" eaLnBrk="0" fontAlgn="base" hangingPunct="0">
              <a:spcBef>
                <a:spcPct val="0"/>
              </a:spcBef>
              <a:spcAft>
                <a:spcPct val="0"/>
              </a:spcAft>
            </a:pPr>
            <a:r>
              <a:rPr lang="es-PE" dirty="0">
                <a:latin typeface="Arial Narrow" panose="020B0606020202030204" pitchFamily="34" charset="0"/>
              </a:rPr>
              <a:t>Xi&gt;=0, Binario</a:t>
            </a:r>
            <a:endParaRPr lang="es-ES" dirty="0">
              <a:latin typeface="Arial Narrow" panose="020B0606020202030204" pitchFamily="34" charset="0"/>
              <a:cs typeface="Arial" pitchFamily="34" charset="0"/>
            </a:endParaRPr>
          </a:p>
        </p:txBody>
      </p:sp>
      <p:sp>
        <p:nvSpPr>
          <p:cNvPr id="11" name="3 Rectángulo">
            <a:extLst>
              <a:ext uri="{FF2B5EF4-FFF2-40B4-BE49-F238E27FC236}">
                <a16:creationId xmlns:a16="http://schemas.microsoft.com/office/drawing/2014/main" id="{60A12F72-5678-4731-A77A-DE9231026AB2}"/>
              </a:ext>
            </a:extLst>
          </p:cNvPr>
          <p:cNvSpPr/>
          <p:nvPr/>
        </p:nvSpPr>
        <p:spPr>
          <a:xfrm>
            <a:off x="8246856" y="3301744"/>
            <a:ext cx="3936518" cy="3539430"/>
          </a:xfrm>
          <a:prstGeom prst="rect">
            <a:avLst/>
          </a:prstGeom>
          <a:solidFill>
            <a:srgbClr val="FFFF00"/>
          </a:solidFill>
        </p:spPr>
        <p:txBody>
          <a:bodyPr wrap="square">
            <a:spAutoFit/>
          </a:bodyPr>
          <a:lstStyle/>
          <a:p>
            <a:pPr marL="449263" indent="-449263" algn="just" fontAlgn="base">
              <a:spcBef>
                <a:spcPct val="0"/>
              </a:spcBef>
              <a:spcAft>
                <a:spcPct val="0"/>
              </a:spcAft>
            </a:pPr>
            <a:r>
              <a:rPr lang="en-US" sz="1600" dirty="0">
                <a:latin typeface="Arial Narrow" panose="020B0606020202030204" pitchFamily="34" charset="0"/>
                <a:ea typeface="Calibri" pitchFamily="34" charset="0"/>
                <a:cs typeface="Arial" pitchFamily="34" charset="0"/>
              </a:rPr>
              <a:t>Max </a:t>
            </a:r>
            <a:r>
              <a:rPr lang="en-US" sz="1600" dirty="0" err="1">
                <a:latin typeface="Arial Narrow" panose="020B0606020202030204" pitchFamily="34" charset="0"/>
                <a:ea typeface="Calibri" pitchFamily="34" charset="0"/>
                <a:cs typeface="Arial" pitchFamily="34" charset="0"/>
              </a:rPr>
              <a:t>60X</a:t>
            </a:r>
            <a:r>
              <a:rPr lang="es-ES" sz="1600" dirty="0" err="1">
                <a:latin typeface="Arial Narrow" panose="020B0606020202030204" pitchFamily="34" charset="0"/>
                <a:ea typeface="Calibri" pitchFamily="34" charset="0"/>
                <a:cs typeface="Arial" pitchFamily="34" charset="0"/>
              </a:rPr>
              <a:t>1+70X2+90X3+100X4+40X5+50X6+60X7</a:t>
            </a:r>
            <a:endParaRPr lang="es-PE" sz="1600" dirty="0">
              <a:latin typeface="Arial Narrow" panose="020B0606020202030204" pitchFamily="34" charset="0"/>
              <a:cs typeface="Arial" pitchFamily="34" charset="0"/>
            </a:endParaRPr>
          </a:p>
          <a:p>
            <a:pPr marL="449263" indent="-449263" algn="just" fontAlgn="base">
              <a:spcBef>
                <a:spcPct val="0"/>
              </a:spcBef>
              <a:spcAft>
                <a:spcPct val="0"/>
              </a:spcAft>
            </a:pPr>
            <a:r>
              <a:rPr lang="es-PE" sz="1600" dirty="0" err="1">
                <a:solidFill>
                  <a:srgbClr val="FF0000"/>
                </a:solidFill>
                <a:latin typeface="Arial Narrow" panose="020B0606020202030204" pitchFamily="34" charset="0"/>
                <a:ea typeface="Calibri" pitchFamily="34" charset="0"/>
                <a:cs typeface="Arial" pitchFamily="34" charset="0"/>
              </a:rPr>
              <a:t>ST</a:t>
            </a:r>
            <a:endParaRPr lang="es-PE" sz="1600" dirty="0">
              <a:solidFill>
                <a:srgbClr val="FF0000"/>
              </a:solidFill>
              <a:latin typeface="Arial Narrow" panose="020B0606020202030204" pitchFamily="34" charset="0"/>
              <a:cs typeface="Arial" pitchFamily="34" charset="0"/>
            </a:endParaRPr>
          </a:p>
          <a:p>
            <a:pPr marL="449263" indent="-449263" algn="just" fontAlgn="base">
              <a:spcBef>
                <a:spcPct val="0"/>
              </a:spcBef>
              <a:spcAft>
                <a:spcPct val="0"/>
              </a:spcAft>
            </a:pPr>
            <a:r>
              <a:rPr lang="es-PE" sz="1600" dirty="0" err="1">
                <a:latin typeface="Arial Narrow" panose="020B0606020202030204" pitchFamily="34" charset="0"/>
                <a:ea typeface="Calibri" pitchFamily="34" charset="0"/>
                <a:cs typeface="Arial" pitchFamily="34" charset="0"/>
              </a:rPr>
              <a:t>2X1</a:t>
            </a:r>
            <a:r>
              <a:rPr lang="es-PE" sz="1600" dirty="0">
                <a:latin typeface="Arial Narrow" panose="020B0606020202030204" pitchFamily="34" charset="0"/>
                <a:ea typeface="Calibri" pitchFamily="34" charset="0"/>
                <a:cs typeface="Arial" pitchFamily="34" charset="0"/>
              </a:rPr>
              <a:t> + </a:t>
            </a:r>
            <a:r>
              <a:rPr lang="es-PE" sz="1600" dirty="0" err="1">
                <a:latin typeface="Arial Narrow" panose="020B0606020202030204" pitchFamily="34" charset="0"/>
                <a:ea typeface="Calibri" pitchFamily="34" charset="0"/>
                <a:cs typeface="Arial" pitchFamily="34" charset="0"/>
              </a:rPr>
              <a:t>X2</a:t>
            </a:r>
            <a:r>
              <a:rPr lang="es-PE" sz="1600" dirty="0">
                <a:latin typeface="Arial Narrow" panose="020B0606020202030204" pitchFamily="34" charset="0"/>
                <a:ea typeface="Calibri" pitchFamily="34" charset="0"/>
                <a:cs typeface="Arial" pitchFamily="34" charset="0"/>
              </a:rPr>
              <a:t> + </a:t>
            </a:r>
            <a:r>
              <a:rPr lang="es-PE" sz="1600" dirty="0" err="1">
                <a:latin typeface="Arial Narrow" panose="020B0606020202030204" pitchFamily="34" charset="0"/>
                <a:ea typeface="Calibri" pitchFamily="34" charset="0"/>
                <a:cs typeface="Arial" pitchFamily="34" charset="0"/>
              </a:rPr>
              <a:t>X3</a:t>
            </a:r>
            <a:r>
              <a:rPr lang="es-PE" sz="1600" dirty="0">
                <a:latin typeface="Arial Narrow" panose="020B0606020202030204" pitchFamily="34" charset="0"/>
                <a:ea typeface="Calibri" pitchFamily="34" charset="0"/>
                <a:cs typeface="Arial" pitchFamily="34" charset="0"/>
              </a:rPr>
              <a:t> + </a:t>
            </a:r>
            <a:r>
              <a:rPr lang="es-PE" sz="1600" dirty="0" err="1">
                <a:latin typeface="Arial Narrow" panose="020B0606020202030204" pitchFamily="34" charset="0"/>
                <a:ea typeface="Calibri" pitchFamily="34" charset="0"/>
                <a:cs typeface="Arial" pitchFamily="34" charset="0"/>
              </a:rPr>
              <a:t>4X4</a:t>
            </a:r>
            <a:r>
              <a:rPr lang="es-PE" sz="1600" dirty="0">
                <a:latin typeface="Arial Narrow" panose="020B0606020202030204" pitchFamily="34" charset="0"/>
                <a:ea typeface="Calibri" pitchFamily="34" charset="0"/>
                <a:cs typeface="Arial" pitchFamily="34" charset="0"/>
              </a:rPr>
              <a:t> + </a:t>
            </a:r>
            <a:r>
              <a:rPr lang="es-PE" sz="1600" dirty="0" err="1">
                <a:latin typeface="Arial Narrow" panose="020B0606020202030204" pitchFamily="34" charset="0"/>
                <a:ea typeface="Calibri" pitchFamily="34" charset="0"/>
                <a:cs typeface="Arial" pitchFamily="34" charset="0"/>
              </a:rPr>
              <a:t>3X5</a:t>
            </a:r>
            <a:r>
              <a:rPr lang="es-PE" sz="1600" dirty="0">
                <a:latin typeface="Arial Narrow" panose="020B0606020202030204" pitchFamily="34" charset="0"/>
                <a:ea typeface="Calibri" pitchFamily="34" charset="0"/>
                <a:cs typeface="Arial" pitchFamily="34" charset="0"/>
              </a:rPr>
              <a:t> + </a:t>
            </a:r>
            <a:r>
              <a:rPr lang="es-PE" sz="1600" dirty="0" err="1">
                <a:latin typeface="Arial Narrow" panose="020B0606020202030204" pitchFamily="34" charset="0"/>
                <a:ea typeface="Calibri" pitchFamily="34" charset="0"/>
                <a:cs typeface="Arial" pitchFamily="34" charset="0"/>
              </a:rPr>
              <a:t>2X6</a:t>
            </a:r>
            <a:r>
              <a:rPr lang="es-PE" sz="1600" dirty="0">
                <a:latin typeface="Arial Narrow" panose="020B0606020202030204" pitchFamily="34" charset="0"/>
                <a:ea typeface="Calibri" pitchFamily="34" charset="0"/>
                <a:cs typeface="Arial" pitchFamily="34" charset="0"/>
              </a:rPr>
              <a:t> + </a:t>
            </a:r>
            <a:r>
              <a:rPr lang="es-PE" sz="1600" dirty="0" err="1">
                <a:latin typeface="Arial Narrow" panose="020B0606020202030204" pitchFamily="34" charset="0"/>
                <a:ea typeface="Calibri" pitchFamily="34" charset="0"/>
                <a:cs typeface="Arial" pitchFamily="34" charset="0"/>
              </a:rPr>
              <a:t>4X7</a:t>
            </a:r>
            <a:r>
              <a:rPr lang="es-PE" sz="1600" dirty="0">
                <a:latin typeface="Arial Narrow" panose="020B0606020202030204" pitchFamily="34" charset="0"/>
                <a:ea typeface="Calibri" pitchFamily="34" charset="0"/>
                <a:cs typeface="Arial" pitchFamily="34" charset="0"/>
              </a:rPr>
              <a:t> &lt;= 12</a:t>
            </a:r>
          </a:p>
          <a:p>
            <a:pPr indent="449263" algn="just" eaLnBrk="0" fontAlgn="base" hangingPunct="0">
              <a:spcBef>
                <a:spcPct val="0"/>
              </a:spcBef>
              <a:spcAft>
                <a:spcPct val="0"/>
              </a:spcAft>
            </a:pPr>
            <a:r>
              <a:rPr lang="es-PE" sz="1600" dirty="0" err="1">
                <a:latin typeface="Arial Narrow" panose="020B0606020202030204" pitchFamily="34" charset="0"/>
              </a:rPr>
              <a:t>9X1+7X2+8X3+10X4+2X5+4X6+3X7</a:t>
            </a:r>
            <a:r>
              <a:rPr lang="es-PE" sz="1600" dirty="0">
                <a:latin typeface="Arial Narrow" panose="020B0606020202030204" pitchFamily="34" charset="0"/>
              </a:rPr>
              <a:t>&lt;= 30</a:t>
            </a:r>
          </a:p>
          <a:p>
            <a:pPr indent="449263" algn="just" eaLnBrk="0" fontAlgn="base" hangingPunct="0">
              <a:spcBef>
                <a:spcPct val="0"/>
              </a:spcBef>
              <a:spcAft>
                <a:spcPct val="0"/>
              </a:spcAft>
            </a:pP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X5+X6</a:t>
            </a:r>
            <a:r>
              <a:rPr lang="es-PE" sz="1600" dirty="0">
                <a:latin typeface="Arial Narrow" panose="020B0606020202030204" pitchFamily="34" charset="0"/>
                <a:cs typeface="Arial" pitchFamily="34" charset="0"/>
              </a:rPr>
              <a:t>&lt;=1</a:t>
            </a:r>
          </a:p>
          <a:p>
            <a:pPr indent="449263" algn="just" eaLnBrk="0" fontAlgn="base" hangingPunct="0">
              <a:spcBef>
                <a:spcPct val="0"/>
              </a:spcBef>
              <a:spcAft>
                <a:spcPct val="0"/>
              </a:spcAft>
            </a:pP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X7-X1</a:t>
            </a:r>
            <a:r>
              <a:rPr lang="es-PE" sz="1600" dirty="0">
                <a:latin typeface="Arial Narrow" panose="020B0606020202030204" pitchFamily="34" charset="0"/>
                <a:cs typeface="Arial" pitchFamily="34" charset="0"/>
              </a:rPr>
              <a:t>=0</a:t>
            </a:r>
          </a:p>
          <a:p>
            <a:pPr algn="just" eaLnBrk="0" fontAlgn="base" hangingPunct="0">
              <a:spcBef>
                <a:spcPct val="0"/>
              </a:spcBef>
              <a:spcAft>
                <a:spcPct val="0"/>
              </a:spcAft>
            </a:pPr>
            <a:r>
              <a:rPr lang="es-PE" sz="1600" dirty="0" err="1">
                <a:solidFill>
                  <a:srgbClr val="FF0000"/>
                </a:solidFill>
                <a:latin typeface="Arial Narrow" panose="020B0606020202030204" pitchFamily="34" charset="0"/>
                <a:cs typeface="Arial" pitchFamily="34" charset="0"/>
              </a:rPr>
              <a:t>END</a:t>
            </a:r>
            <a:endParaRPr lang="es-PE" sz="1600" dirty="0">
              <a:solidFill>
                <a:srgbClr val="FF0000"/>
              </a:solidFill>
              <a:latin typeface="Arial Narrow" panose="020B0606020202030204" pitchFamily="34" charset="0"/>
              <a:cs typeface="Arial" pitchFamily="34" charset="0"/>
            </a:endParaRPr>
          </a:p>
          <a:p>
            <a:pPr algn="just" eaLnBrk="0" fontAlgn="base" hangingPunct="0">
              <a:spcBef>
                <a:spcPct val="0"/>
              </a:spcBef>
              <a:spcAft>
                <a:spcPct val="0"/>
              </a:spcAft>
            </a:pPr>
            <a:r>
              <a:rPr lang="es-PE" sz="1600" dirty="0" err="1">
                <a:latin typeface="Arial Narrow" panose="020B0606020202030204" pitchFamily="34" charset="0"/>
                <a:cs typeface="Arial" pitchFamily="34" charset="0"/>
              </a:rPr>
              <a:t>INT</a:t>
            </a: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X1</a:t>
            </a:r>
            <a:endParaRPr lang="es-PE" sz="1600" dirty="0">
              <a:latin typeface="Arial Narrow" panose="020B0606020202030204" pitchFamily="34" charset="0"/>
              <a:cs typeface="Arial" pitchFamily="34" charset="0"/>
            </a:endParaRPr>
          </a:p>
          <a:p>
            <a:pPr algn="just" eaLnBrk="0" fontAlgn="base" hangingPunct="0">
              <a:spcBef>
                <a:spcPct val="0"/>
              </a:spcBef>
              <a:spcAft>
                <a:spcPct val="0"/>
              </a:spcAft>
            </a:pPr>
            <a:r>
              <a:rPr lang="es-PE" sz="1600" dirty="0" err="1">
                <a:latin typeface="Arial Narrow" panose="020B0606020202030204" pitchFamily="34" charset="0"/>
                <a:cs typeface="Arial" pitchFamily="34" charset="0"/>
              </a:rPr>
              <a:t>INT</a:t>
            </a: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X2</a:t>
            </a:r>
            <a:endParaRPr lang="es-PE" sz="1600" dirty="0">
              <a:latin typeface="Arial Narrow" panose="020B0606020202030204" pitchFamily="34" charset="0"/>
              <a:cs typeface="Arial" pitchFamily="34" charset="0"/>
            </a:endParaRPr>
          </a:p>
          <a:p>
            <a:pPr algn="just" eaLnBrk="0" fontAlgn="base" hangingPunct="0">
              <a:spcBef>
                <a:spcPct val="0"/>
              </a:spcBef>
              <a:spcAft>
                <a:spcPct val="0"/>
              </a:spcAft>
            </a:pPr>
            <a:r>
              <a:rPr lang="es-PE" sz="1600" dirty="0" err="1">
                <a:latin typeface="Arial Narrow" panose="020B0606020202030204" pitchFamily="34" charset="0"/>
                <a:cs typeface="Arial" pitchFamily="34" charset="0"/>
              </a:rPr>
              <a:t>INT</a:t>
            </a: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X3</a:t>
            </a:r>
            <a:endParaRPr lang="es-PE" sz="1600" dirty="0">
              <a:latin typeface="Arial Narrow" panose="020B0606020202030204" pitchFamily="34" charset="0"/>
              <a:cs typeface="Arial" pitchFamily="34" charset="0"/>
            </a:endParaRPr>
          </a:p>
          <a:p>
            <a:pPr algn="just" eaLnBrk="0" fontAlgn="base" hangingPunct="0">
              <a:spcBef>
                <a:spcPct val="0"/>
              </a:spcBef>
              <a:spcAft>
                <a:spcPct val="0"/>
              </a:spcAft>
            </a:pPr>
            <a:r>
              <a:rPr lang="es-PE" sz="1600" dirty="0" err="1">
                <a:latin typeface="Arial Narrow" panose="020B0606020202030204" pitchFamily="34" charset="0"/>
                <a:cs typeface="Arial" pitchFamily="34" charset="0"/>
              </a:rPr>
              <a:t>INT</a:t>
            </a: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X4</a:t>
            </a:r>
            <a:endParaRPr lang="es-PE" sz="1600" dirty="0">
              <a:latin typeface="Arial Narrow" panose="020B0606020202030204" pitchFamily="34" charset="0"/>
              <a:cs typeface="Arial" pitchFamily="34" charset="0"/>
            </a:endParaRPr>
          </a:p>
          <a:p>
            <a:pPr algn="just" eaLnBrk="0" fontAlgn="base" hangingPunct="0">
              <a:spcBef>
                <a:spcPct val="0"/>
              </a:spcBef>
              <a:spcAft>
                <a:spcPct val="0"/>
              </a:spcAft>
            </a:pPr>
            <a:r>
              <a:rPr lang="es-PE" sz="1600" dirty="0" err="1">
                <a:latin typeface="Arial Narrow" panose="020B0606020202030204" pitchFamily="34" charset="0"/>
                <a:cs typeface="Arial" pitchFamily="34" charset="0"/>
              </a:rPr>
              <a:t>INT</a:t>
            </a: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X5</a:t>
            </a:r>
            <a:endParaRPr lang="es-PE" sz="1600" dirty="0">
              <a:latin typeface="Arial Narrow" panose="020B0606020202030204" pitchFamily="34" charset="0"/>
              <a:cs typeface="Arial" pitchFamily="34" charset="0"/>
            </a:endParaRPr>
          </a:p>
          <a:p>
            <a:pPr algn="just" eaLnBrk="0" fontAlgn="base" hangingPunct="0">
              <a:spcBef>
                <a:spcPct val="0"/>
              </a:spcBef>
              <a:spcAft>
                <a:spcPct val="0"/>
              </a:spcAft>
            </a:pPr>
            <a:r>
              <a:rPr lang="es-PE" sz="1600" dirty="0" err="1">
                <a:latin typeface="Arial Narrow" panose="020B0606020202030204" pitchFamily="34" charset="0"/>
                <a:cs typeface="Arial" pitchFamily="34" charset="0"/>
              </a:rPr>
              <a:t>INT</a:t>
            </a: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X6</a:t>
            </a:r>
            <a:endParaRPr lang="es-PE" sz="1600" dirty="0">
              <a:latin typeface="Arial Narrow" panose="020B0606020202030204" pitchFamily="34" charset="0"/>
              <a:cs typeface="Arial" pitchFamily="34" charset="0"/>
            </a:endParaRPr>
          </a:p>
          <a:p>
            <a:pPr algn="just" eaLnBrk="0" fontAlgn="base" hangingPunct="0">
              <a:spcBef>
                <a:spcPct val="0"/>
              </a:spcBef>
              <a:spcAft>
                <a:spcPct val="0"/>
              </a:spcAft>
            </a:pPr>
            <a:r>
              <a:rPr lang="es-PE" sz="1600" dirty="0" err="1">
                <a:latin typeface="Arial Narrow" panose="020B0606020202030204" pitchFamily="34" charset="0"/>
                <a:cs typeface="Arial" pitchFamily="34" charset="0"/>
              </a:rPr>
              <a:t>INT</a:t>
            </a:r>
            <a:r>
              <a:rPr lang="es-PE" sz="1600" dirty="0">
                <a:latin typeface="Arial Narrow" panose="020B0606020202030204" pitchFamily="34" charset="0"/>
                <a:cs typeface="Arial" pitchFamily="34" charset="0"/>
              </a:rPr>
              <a:t> </a:t>
            </a:r>
            <a:r>
              <a:rPr lang="es-PE" sz="1600" dirty="0" err="1">
                <a:latin typeface="Arial Narrow" panose="020B0606020202030204" pitchFamily="34" charset="0"/>
                <a:cs typeface="Arial" pitchFamily="34" charset="0"/>
              </a:rPr>
              <a:t>X7</a:t>
            </a:r>
            <a:endParaRPr lang="es-ES" sz="1600" dirty="0">
              <a:latin typeface="Arial Narrow" panose="020B0606020202030204" pitchFamily="34" charset="0"/>
              <a:cs typeface="Arial" pitchFamily="34" charset="0"/>
            </a:endParaRPr>
          </a:p>
        </p:txBody>
      </p:sp>
      <p:sp>
        <p:nvSpPr>
          <p:cNvPr id="2" name="CuadroTexto 1">
            <a:extLst>
              <a:ext uri="{FF2B5EF4-FFF2-40B4-BE49-F238E27FC236}">
                <a16:creationId xmlns:a16="http://schemas.microsoft.com/office/drawing/2014/main" id="{255481D0-06B5-1512-91AA-E926CCACDF97}"/>
              </a:ext>
            </a:extLst>
          </p:cNvPr>
          <p:cNvSpPr txBox="1"/>
          <p:nvPr/>
        </p:nvSpPr>
        <p:spPr>
          <a:xfrm>
            <a:off x="10746376" y="1308572"/>
            <a:ext cx="1366143" cy="1631216"/>
          </a:xfrm>
          <a:prstGeom prst="rect">
            <a:avLst/>
          </a:prstGeom>
          <a:solidFill>
            <a:schemeClr val="accent4">
              <a:lumMod val="40000"/>
              <a:lumOff val="60000"/>
            </a:schemeClr>
          </a:solidFill>
        </p:spPr>
        <p:txBody>
          <a:bodyPr wrap="square" rtlCol="0">
            <a:spAutoFit/>
          </a:bodyPr>
          <a:lstStyle/>
          <a:p>
            <a:r>
              <a:rPr lang="es-ES" sz="2000" b="1" dirty="0"/>
              <a:t>X1 </a:t>
            </a:r>
            <a:r>
              <a:rPr lang="es-ES" sz="2000" b="1" dirty="0">
                <a:sym typeface="Wingdings" panose="05000000000000000000" pitchFamily="2" charset="2"/>
              </a:rPr>
              <a:t></a:t>
            </a:r>
            <a:r>
              <a:rPr lang="es-ES" sz="2000" b="1" dirty="0"/>
              <a:t> X7        </a:t>
            </a:r>
          </a:p>
          <a:p>
            <a:pPr marL="342900" indent="-342900">
              <a:buAutoNum type="arabicPlain"/>
            </a:pPr>
            <a:r>
              <a:rPr lang="es-ES" sz="2000" b="1" dirty="0"/>
              <a:t>      1      </a:t>
            </a:r>
          </a:p>
          <a:p>
            <a:r>
              <a:rPr lang="es-ES" sz="2000" b="1" u="sng" dirty="0"/>
              <a:t>0          0</a:t>
            </a:r>
          </a:p>
          <a:p>
            <a:r>
              <a:rPr lang="es-ES" sz="2000" b="1" dirty="0"/>
              <a:t>X1       =  X7</a:t>
            </a:r>
          </a:p>
          <a:p>
            <a:r>
              <a:rPr lang="es-ES" sz="2000" b="1" dirty="0"/>
              <a:t>X1-X7 =  0</a:t>
            </a:r>
            <a:endParaRPr lang="es-PE" sz="2000" b="1" dirty="0"/>
          </a:p>
        </p:txBody>
      </p:sp>
      <p:sp>
        <p:nvSpPr>
          <p:cNvPr id="3" name="CuadroTexto 2">
            <a:extLst>
              <a:ext uri="{FF2B5EF4-FFF2-40B4-BE49-F238E27FC236}">
                <a16:creationId xmlns:a16="http://schemas.microsoft.com/office/drawing/2014/main" id="{4D93FBB2-64BF-3EB7-944E-1C7BA3E0F842}"/>
              </a:ext>
            </a:extLst>
          </p:cNvPr>
          <p:cNvSpPr txBox="1"/>
          <p:nvPr/>
        </p:nvSpPr>
        <p:spPr>
          <a:xfrm>
            <a:off x="9193104" y="1308572"/>
            <a:ext cx="1366143" cy="1938992"/>
          </a:xfrm>
          <a:prstGeom prst="rect">
            <a:avLst/>
          </a:prstGeom>
          <a:solidFill>
            <a:schemeClr val="accent4">
              <a:lumMod val="40000"/>
              <a:lumOff val="60000"/>
            </a:schemeClr>
          </a:solidFill>
        </p:spPr>
        <p:txBody>
          <a:bodyPr wrap="square" rtlCol="0">
            <a:spAutoFit/>
          </a:bodyPr>
          <a:lstStyle/>
          <a:p>
            <a:r>
              <a:rPr lang="es-ES" sz="2000" b="1" dirty="0"/>
              <a:t>X5   X6        </a:t>
            </a:r>
          </a:p>
          <a:p>
            <a:pPr marL="342900" indent="-342900">
              <a:buAutoNum type="arabicPlain"/>
            </a:pPr>
            <a:r>
              <a:rPr lang="es-ES" sz="2000" b="1" dirty="0"/>
              <a:t>   0      1</a:t>
            </a:r>
          </a:p>
          <a:p>
            <a:r>
              <a:rPr lang="es-ES" sz="2000" b="1" dirty="0"/>
              <a:t>0       1      1</a:t>
            </a:r>
          </a:p>
          <a:p>
            <a:r>
              <a:rPr lang="es-ES" sz="2000" b="1" u="sng" dirty="0"/>
              <a:t>0       0      0</a:t>
            </a:r>
          </a:p>
          <a:p>
            <a:r>
              <a:rPr lang="es-ES" sz="2000" b="1" dirty="0" err="1"/>
              <a:t>X5</a:t>
            </a:r>
            <a:r>
              <a:rPr lang="es-ES" sz="2000" b="1" dirty="0"/>
              <a:t>+ </a:t>
            </a:r>
            <a:r>
              <a:rPr lang="es-ES" sz="2000" b="1" dirty="0" err="1"/>
              <a:t>X6</a:t>
            </a:r>
            <a:r>
              <a:rPr lang="es-ES" sz="2000" b="1" dirty="0"/>
              <a:t>&lt;= 1</a:t>
            </a:r>
          </a:p>
          <a:p>
            <a:endParaRPr lang="es-PE" sz="2000" b="1" dirty="0"/>
          </a:p>
        </p:txBody>
      </p:sp>
    </p:spTree>
    <p:extLst>
      <p:ext uri="{BB962C8B-B14F-4D97-AF65-F5344CB8AC3E}">
        <p14:creationId xmlns:p14="http://schemas.microsoft.com/office/powerpoint/2010/main" val="282096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4" grpId="0" animBg="1"/>
      <p:bldP spid="7" grpId="0" animBg="1"/>
      <p:bldP spid="11" grpId="0" animBg="1"/>
      <p:bldP spid="2" grpId="0" animBg="1"/>
      <p:bldP spid="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7AD53AC-E8F4-4F67-92FB-90CE3AF332F4}"/>
              </a:ext>
            </a:extLst>
          </p:cNvPr>
          <p:cNvSpPr txBox="1"/>
          <p:nvPr/>
        </p:nvSpPr>
        <p:spPr>
          <a:xfrm>
            <a:off x="0" y="1190459"/>
            <a:ext cx="6262778" cy="2585323"/>
          </a:xfrm>
          <a:prstGeom prst="rect">
            <a:avLst/>
          </a:prstGeom>
          <a:noFill/>
        </p:spPr>
        <p:txBody>
          <a:bodyPr wrap="square" rtlCol="0">
            <a:spAutoFit/>
          </a:bodyPr>
          <a:lstStyle/>
          <a:p>
            <a:pPr algn="just"/>
            <a:r>
              <a:rPr lang="es-ES" dirty="0" err="1">
                <a:latin typeface="Arial Narrow" panose="020B0606020202030204" pitchFamily="34" charset="0"/>
              </a:rPr>
              <a:t>TEROPER</a:t>
            </a:r>
            <a:r>
              <a:rPr lang="es-ES" dirty="0">
                <a:latin typeface="Arial Narrow" panose="020B0606020202030204" pitchFamily="34" charset="0"/>
              </a:rPr>
              <a:t>, Produce tres tipos de pegamentos (</a:t>
            </a:r>
            <a:r>
              <a:rPr lang="es-ES" dirty="0" err="1">
                <a:latin typeface="Arial Narrow" panose="020B0606020202030204" pitchFamily="34" charset="0"/>
              </a:rPr>
              <a:t>P1</a:t>
            </a:r>
            <a:r>
              <a:rPr lang="es-ES" dirty="0">
                <a:latin typeface="Arial Narrow" panose="020B0606020202030204" pitchFamily="34" charset="0"/>
              </a:rPr>
              <a:t>, </a:t>
            </a:r>
            <a:r>
              <a:rPr lang="es-ES" dirty="0" err="1">
                <a:latin typeface="Arial Narrow" panose="020B0606020202030204" pitchFamily="34" charset="0"/>
              </a:rPr>
              <a:t>P2</a:t>
            </a:r>
            <a:r>
              <a:rPr lang="es-ES" dirty="0">
                <a:latin typeface="Arial Narrow" panose="020B0606020202030204" pitchFamily="34" charset="0"/>
              </a:rPr>
              <a:t>, </a:t>
            </a:r>
            <a:r>
              <a:rPr lang="es-ES" dirty="0" err="1">
                <a:latin typeface="Arial Narrow" panose="020B0606020202030204" pitchFamily="34" charset="0"/>
              </a:rPr>
              <a:t>P3</a:t>
            </a:r>
            <a:r>
              <a:rPr lang="es-ES" dirty="0">
                <a:latin typeface="Arial Narrow" panose="020B0606020202030204" pitchFamily="34" charset="0"/>
              </a:rPr>
              <a:t>) en sus cuatro líneas de producción (</a:t>
            </a:r>
            <a:r>
              <a:rPr lang="es-ES" dirty="0" err="1">
                <a:latin typeface="Arial Narrow" panose="020B0606020202030204" pitchFamily="34" charset="0"/>
              </a:rPr>
              <a:t>L1</a:t>
            </a:r>
            <a:r>
              <a:rPr lang="es-ES" dirty="0">
                <a:latin typeface="Arial Narrow" panose="020B0606020202030204" pitchFamily="34" charset="0"/>
              </a:rPr>
              <a:t>, </a:t>
            </a:r>
            <a:r>
              <a:rPr lang="es-ES" dirty="0" err="1">
                <a:latin typeface="Arial Narrow" panose="020B0606020202030204" pitchFamily="34" charset="0"/>
              </a:rPr>
              <a:t>L2,L3,L4</a:t>
            </a:r>
            <a:r>
              <a:rPr lang="es-ES" dirty="0">
                <a:latin typeface="Arial Narrow" panose="020B0606020202030204" pitchFamily="34" charset="0"/>
              </a:rPr>
              <a:t>). En cada línea de producción pueden trabajar hasta 7 trabajadores a la vez. Cada trabajador recibe un pago de $500 por semana en la línea </a:t>
            </a:r>
            <a:r>
              <a:rPr lang="es-ES" dirty="0" err="1">
                <a:latin typeface="Arial Narrow" panose="020B0606020202030204" pitchFamily="34" charset="0"/>
              </a:rPr>
              <a:t>L1</a:t>
            </a:r>
            <a:r>
              <a:rPr lang="es-ES" dirty="0">
                <a:latin typeface="Arial Narrow" panose="020B0606020202030204" pitchFamily="34" charset="0"/>
              </a:rPr>
              <a:t>, $800 por semana en la línea </a:t>
            </a:r>
            <a:r>
              <a:rPr lang="es-ES" dirty="0" err="1">
                <a:latin typeface="Arial Narrow" panose="020B0606020202030204" pitchFamily="34" charset="0"/>
              </a:rPr>
              <a:t>L2</a:t>
            </a:r>
            <a:r>
              <a:rPr lang="es-ES" dirty="0">
                <a:latin typeface="Arial Narrow" panose="020B0606020202030204" pitchFamily="34" charset="0"/>
              </a:rPr>
              <a:t>, $700 por semana en la línea </a:t>
            </a:r>
            <a:r>
              <a:rPr lang="es-ES" dirty="0" err="1">
                <a:latin typeface="Arial Narrow" panose="020B0606020202030204" pitchFamily="34" charset="0"/>
              </a:rPr>
              <a:t>L3</a:t>
            </a:r>
            <a:r>
              <a:rPr lang="es-ES" dirty="0">
                <a:latin typeface="Arial Narrow" panose="020B0606020202030204" pitchFamily="34" charset="0"/>
              </a:rPr>
              <a:t>, $600 por semana en la línea </a:t>
            </a:r>
            <a:r>
              <a:rPr lang="es-ES" dirty="0" err="1">
                <a:latin typeface="Arial Narrow" panose="020B0606020202030204" pitchFamily="34" charset="0"/>
              </a:rPr>
              <a:t>L4</a:t>
            </a:r>
            <a:r>
              <a:rPr lang="es-ES" dirty="0">
                <a:latin typeface="Arial Narrow" panose="020B0606020202030204" pitchFamily="34" charset="0"/>
              </a:rPr>
              <a:t>. Preparar una semana de producción en la línea de producción </a:t>
            </a:r>
            <a:r>
              <a:rPr lang="es-ES" dirty="0" err="1">
                <a:latin typeface="Arial Narrow" panose="020B0606020202030204" pitchFamily="34" charset="0"/>
              </a:rPr>
              <a:t>L1</a:t>
            </a:r>
            <a:r>
              <a:rPr lang="es-ES" dirty="0">
                <a:latin typeface="Arial Narrow" panose="020B0606020202030204" pitchFamily="34" charset="0"/>
              </a:rPr>
              <a:t> cuesta $1000, $2000 en la línea 2, $1500 en la línea 3 y $1800 en la </a:t>
            </a:r>
            <a:r>
              <a:rPr lang="es-ES" dirty="0" err="1">
                <a:latin typeface="Arial Narrow" panose="020B0606020202030204" pitchFamily="34" charset="0"/>
              </a:rPr>
              <a:t>linea4</a:t>
            </a:r>
            <a:r>
              <a:rPr lang="es-ES" dirty="0">
                <a:latin typeface="Arial Narrow" panose="020B0606020202030204" pitchFamily="34" charset="0"/>
              </a:rPr>
              <a:t>.</a:t>
            </a:r>
          </a:p>
          <a:p>
            <a:pPr algn="just"/>
            <a:r>
              <a:rPr lang="es-ES" dirty="0">
                <a:latin typeface="Arial Narrow" panose="020B0606020202030204" pitchFamily="34" charset="0"/>
              </a:rPr>
              <a:t>Durante una semana en una línea de producción, cada trabajador elabora la cantidad de unidades de pegamento que se indica en la tabla.</a:t>
            </a:r>
          </a:p>
        </p:txBody>
      </p:sp>
      <p:graphicFrame>
        <p:nvGraphicFramePr>
          <p:cNvPr id="7" name="Tabla 4">
            <a:extLst>
              <a:ext uri="{FF2B5EF4-FFF2-40B4-BE49-F238E27FC236}">
                <a16:creationId xmlns:a16="http://schemas.microsoft.com/office/drawing/2014/main" id="{E17ACE2A-B505-4E4B-B09F-C90E879BCF3B}"/>
              </a:ext>
            </a:extLst>
          </p:cNvPr>
          <p:cNvGraphicFramePr>
            <a:graphicFrameLocks noGrp="1"/>
          </p:cNvGraphicFramePr>
          <p:nvPr/>
        </p:nvGraphicFramePr>
        <p:xfrm>
          <a:off x="1635187" y="3730000"/>
          <a:ext cx="2936814" cy="1463040"/>
        </p:xfrm>
        <a:graphic>
          <a:graphicData uri="http://schemas.openxmlformats.org/drawingml/2006/table">
            <a:tbl>
              <a:tblPr firstRow="1" bandRow="1">
                <a:tableStyleId>{5C22544A-7EE6-4342-B048-85BDC9FD1C3A}</a:tableStyleId>
              </a:tblPr>
              <a:tblGrid>
                <a:gridCol w="576483">
                  <a:extLst>
                    <a:ext uri="{9D8B030D-6E8A-4147-A177-3AD203B41FA5}">
                      <a16:colId xmlns:a16="http://schemas.microsoft.com/office/drawing/2014/main" val="1301459017"/>
                    </a:ext>
                  </a:extLst>
                </a:gridCol>
                <a:gridCol w="576483">
                  <a:extLst>
                    <a:ext uri="{9D8B030D-6E8A-4147-A177-3AD203B41FA5}">
                      <a16:colId xmlns:a16="http://schemas.microsoft.com/office/drawing/2014/main" val="27853123"/>
                    </a:ext>
                  </a:extLst>
                </a:gridCol>
                <a:gridCol w="613775">
                  <a:extLst>
                    <a:ext uri="{9D8B030D-6E8A-4147-A177-3AD203B41FA5}">
                      <a16:colId xmlns:a16="http://schemas.microsoft.com/office/drawing/2014/main" val="134895944"/>
                    </a:ext>
                  </a:extLst>
                </a:gridCol>
                <a:gridCol w="578879">
                  <a:extLst>
                    <a:ext uri="{9D8B030D-6E8A-4147-A177-3AD203B41FA5}">
                      <a16:colId xmlns:a16="http://schemas.microsoft.com/office/drawing/2014/main" val="464860948"/>
                    </a:ext>
                  </a:extLst>
                </a:gridCol>
                <a:gridCol w="591194">
                  <a:extLst>
                    <a:ext uri="{9D8B030D-6E8A-4147-A177-3AD203B41FA5}">
                      <a16:colId xmlns:a16="http://schemas.microsoft.com/office/drawing/2014/main" val="3844926653"/>
                    </a:ext>
                  </a:extLst>
                </a:gridCol>
              </a:tblGrid>
              <a:tr h="257809">
                <a:tc>
                  <a:txBody>
                    <a:bodyPr/>
                    <a:lstStyle/>
                    <a:p>
                      <a:endParaRPr lang="es-PE" dirty="0"/>
                    </a:p>
                  </a:txBody>
                  <a:tcPr/>
                </a:tc>
                <a:tc>
                  <a:txBody>
                    <a:bodyPr/>
                    <a:lstStyle/>
                    <a:p>
                      <a:r>
                        <a:rPr lang="es-ES" dirty="0" err="1"/>
                        <a:t>L1</a:t>
                      </a:r>
                      <a:endParaRPr lang="es-PE" dirty="0"/>
                    </a:p>
                  </a:txBody>
                  <a:tcPr/>
                </a:tc>
                <a:tc>
                  <a:txBody>
                    <a:bodyPr/>
                    <a:lstStyle/>
                    <a:p>
                      <a:r>
                        <a:rPr lang="es-ES" dirty="0" err="1"/>
                        <a:t>L2</a:t>
                      </a:r>
                      <a:endParaRPr lang="es-PE" dirty="0"/>
                    </a:p>
                  </a:txBody>
                  <a:tcPr/>
                </a:tc>
                <a:tc>
                  <a:txBody>
                    <a:bodyPr/>
                    <a:lstStyle/>
                    <a:p>
                      <a:r>
                        <a:rPr lang="es-ES" dirty="0" err="1"/>
                        <a:t>L3</a:t>
                      </a:r>
                      <a:endParaRPr lang="es-PE" dirty="0"/>
                    </a:p>
                  </a:txBody>
                  <a:tcPr/>
                </a:tc>
                <a:tc>
                  <a:txBody>
                    <a:bodyPr/>
                    <a:lstStyle/>
                    <a:p>
                      <a:r>
                        <a:rPr lang="es-ES" dirty="0" err="1"/>
                        <a:t>L4</a:t>
                      </a:r>
                      <a:endParaRPr lang="es-PE" dirty="0"/>
                    </a:p>
                  </a:txBody>
                  <a:tcPr/>
                </a:tc>
                <a:extLst>
                  <a:ext uri="{0D108BD9-81ED-4DB2-BD59-A6C34878D82A}">
                    <a16:rowId xmlns:a16="http://schemas.microsoft.com/office/drawing/2014/main" val="4284309557"/>
                  </a:ext>
                </a:extLst>
              </a:tr>
              <a:tr h="263647">
                <a:tc>
                  <a:txBody>
                    <a:bodyPr/>
                    <a:lstStyle/>
                    <a:p>
                      <a:r>
                        <a:rPr lang="es-ES" b="1" dirty="0" err="1">
                          <a:solidFill>
                            <a:schemeClr val="bg1"/>
                          </a:solidFill>
                        </a:rPr>
                        <a:t>P1</a:t>
                      </a:r>
                      <a:endParaRPr lang="es-PE" b="1" dirty="0">
                        <a:solidFill>
                          <a:schemeClr val="bg1"/>
                        </a:solidFill>
                      </a:endParaRPr>
                    </a:p>
                  </a:txBody>
                  <a:tcPr>
                    <a:solidFill>
                      <a:schemeClr val="accent1"/>
                    </a:solidFill>
                  </a:tcPr>
                </a:tc>
                <a:tc>
                  <a:txBody>
                    <a:bodyPr/>
                    <a:lstStyle/>
                    <a:p>
                      <a:r>
                        <a:rPr lang="es-ES" dirty="0"/>
                        <a:t>20</a:t>
                      </a:r>
                      <a:endParaRPr lang="es-PE" dirty="0"/>
                    </a:p>
                  </a:txBody>
                  <a:tcPr/>
                </a:tc>
                <a:tc>
                  <a:txBody>
                    <a:bodyPr/>
                    <a:lstStyle/>
                    <a:p>
                      <a:r>
                        <a:rPr lang="es-ES" dirty="0"/>
                        <a:t>50</a:t>
                      </a:r>
                      <a:endParaRPr lang="es-PE" dirty="0"/>
                    </a:p>
                  </a:txBody>
                  <a:tcPr/>
                </a:tc>
                <a:tc>
                  <a:txBody>
                    <a:bodyPr/>
                    <a:lstStyle/>
                    <a:p>
                      <a:r>
                        <a:rPr lang="es-ES" dirty="0"/>
                        <a:t>30</a:t>
                      </a:r>
                      <a:endParaRPr lang="es-PE" dirty="0"/>
                    </a:p>
                  </a:txBody>
                  <a:tcPr/>
                </a:tc>
                <a:tc>
                  <a:txBody>
                    <a:bodyPr/>
                    <a:lstStyle/>
                    <a:p>
                      <a:r>
                        <a:rPr lang="es-ES" dirty="0"/>
                        <a:t>40</a:t>
                      </a:r>
                      <a:endParaRPr lang="es-PE" dirty="0"/>
                    </a:p>
                  </a:txBody>
                  <a:tcPr/>
                </a:tc>
                <a:extLst>
                  <a:ext uri="{0D108BD9-81ED-4DB2-BD59-A6C34878D82A}">
                    <a16:rowId xmlns:a16="http://schemas.microsoft.com/office/drawing/2014/main" val="1244425101"/>
                  </a:ext>
                </a:extLst>
              </a:tr>
              <a:tr h="263647">
                <a:tc>
                  <a:txBody>
                    <a:bodyPr/>
                    <a:lstStyle/>
                    <a:p>
                      <a:r>
                        <a:rPr lang="es-ES" b="1" dirty="0" err="1">
                          <a:solidFill>
                            <a:schemeClr val="bg1"/>
                          </a:solidFill>
                        </a:rPr>
                        <a:t>P2</a:t>
                      </a:r>
                      <a:endParaRPr lang="es-PE" b="1" dirty="0">
                        <a:solidFill>
                          <a:schemeClr val="bg1"/>
                        </a:solidFill>
                      </a:endParaRPr>
                    </a:p>
                  </a:txBody>
                  <a:tcPr>
                    <a:solidFill>
                      <a:schemeClr val="accent1"/>
                    </a:solidFill>
                  </a:tcPr>
                </a:tc>
                <a:tc>
                  <a:txBody>
                    <a:bodyPr/>
                    <a:lstStyle/>
                    <a:p>
                      <a:r>
                        <a:rPr lang="es-ES" dirty="0"/>
                        <a:t>30</a:t>
                      </a:r>
                      <a:endParaRPr lang="es-PE" dirty="0"/>
                    </a:p>
                  </a:txBody>
                  <a:tcPr/>
                </a:tc>
                <a:tc>
                  <a:txBody>
                    <a:bodyPr/>
                    <a:lstStyle/>
                    <a:p>
                      <a:r>
                        <a:rPr lang="es-ES" dirty="0"/>
                        <a:t>35</a:t>
                      </a:r>
                      <a:endParaRPr lang="es-PE" dirty="0"/>
                    </a:p>
                  </a:txBody>
                  <a:tcPr/>
                </a:tc>
                <a:tc>
                  <a:txBody>
                    <a:bodyPr/>
                    <a:lstStyle/>
                    <a:p>
                      <a:r>
                        <a:rPr lang="es-ES" dirty="0"/>
                        <a:t>35</a:t>
                      </a:r>
                      <a:endParaRPr lang="es-PE" dirty="0"/>
                    </a:p>
                  </a:txBody>
                  <a:tcPr/>
                </a:tc>
                <a:tc>
                  <a:txBody>
                    <a:bodyPr/>
                    <a:lstStyle/>
                    <a:p>
                      <a:r>
                        <a:rPr lang="es-ES" dirty="0"/>
                        <a:t>40</a:t>
                      </a:r>
                      <a:endParaRPr lang="es-PE" dirty="0"/>
                    </a:p>
                  </a:txBody>
                  <a:tcPr/>
                </a:tc>
                <a:extLst>
                  <a:ext uri="{0D108BD9-81ED-4DB2-BD59-A6C34878D82A}">
                    <a16:rowId xmlns:a16="http://schemas.microsoft.com/office/drawing/2014/main" val="980065610"/>
                  </a:ext>
                </a:extLst>
              </a:tr>
              <a:tr h="263647">
                <a:tc>
                  <a:txBody>
                    <a:bodyPr/>
                    <a:lstStyle/>
                    <a:p>
                      <a:r>
                        <a:rPr lang="es-ES" b="1" dirty="0" err="1">
                          <a:solidFill>
                            <a:schemeClr val="bg1"/>
                          </a:solidFill>
                        </a:rPr>
                        <a:t>P3</a:t>
                      </a:r>
                      <a:endParaRPr lang="es-PE" b="1" dirty="0">
                        <a:solidFill>
                          <a:schemeClr val="bg1"/>
                        </a:solidFill>
                      </a:endParaRPr>
                    </a:p>
                  </a:txBody>
                  <a:tcPr>
                    <a:solidFill>
                      <a:schemeClr val="accent1"/>
                    </a:solidFill>
                  </a:tcPr>
                </a:tc>
                <a:tc>
                  <a:txBody>
                    <a:bodyPr/>
                    <a:lstStyle/>
                    <a:p>
                      <a:r>
                        <a:rPr lang="es-ES" dirty="0"/>
                        <a:t>40</a:t>
                      </a:r>
                      <a:endParaRPr lang="es-PE" dirty="0"/>
                    </a:p>
                  </a:txBody>
                  <a:tcPr/>
                </a:tc>
                <a:tc>
                  <a:txBody>
                    <a:bodyPr/>
                    <a:lstStyle/>
                    <a:p>
                      <a:r>
                        <a:rPr lang="es-ES" dirty="0"/>
                        <a:t>45</a:t>
                      </a:r>
                      <a:endParaRPr lang="es-PE" dirty="0"/>
                    </a:p>
                  </a:txBody>
                  <a:tcPr/>
                </a:tc>
                <a:tc>
                  <a:txBody>
                    <a:bodyPr/>
                    <a:lstStyle/>
                    <a:p>
                      <a:r>
                        <a:rPr lang="es-ES" dirty="0"/>
                        <a:t>40</a:t>
                      </a:r>
                      <a:endParaRPr lang="es-PE" dirty="0"/>
                    </a:p>
                  </a:txBody>
                  <a:tcPr/>
                </a:tc>
                <a:tc>
                  <a:txBody>
                    <a:bodyPr/>
                    <a:lstStyle/>
                    <a:p>
                      <a:r>
                        <a:rPr lang="es-ES" dirty="0"/>
                        <a:t>40</a:t>
                      </a:r>
                      <a:endParaRPr lang="es-PE" dirty="0"/>
                    </a:p>
                  </a:txBody>
                  <a:tcPr/>
                </a:tc>
                <a:extLst>
                  <a:ext uri="{0D108BD9-81ED-4DB2-BD59-A6C34878D82A}">
                    <a16:rowId xmlns:a16="http://schemas.microsoft.com/office/drawing/2014/main" val="1729713788"/>
                  </a:ext>
                </a:extLst>
              </a:tr>
            </a:tbl>
          </a:graphicData>
        </a:graphic>
      </p:graphicFrame>
      <p:sp>
        <p:nvSpPr>
          <p:cNvPr id="8" name="CuadroTexto 7">
            <a:extLst>
              <a:ext uri="{FF2B5EF4-FFF2-40B4-BE49-F238E27FC236}">
                <a16:creationId xmlns:a16="http://schemas.microsoft.com/office/drawing/2014/main" id="{92F838B5-24B4-452C-A880-4B77B4F340DF}"/>
              </a:ext>
            </a:extLst>
          </p:cNvPr>
          <p:cNvSpPr txBox="1"/>
          <p:nvPr/>
        </p:nvSpPr>
        <p:spPr>
          <a:xfrm>
            <a:off x="1" y="5103674"/>
            <a:ext cx="6271404" cy="1754326"/>
          </a:xfrm>
          <a:prstGeom prst="rect">
            <a:avLst/>
          </a:prstGeom>
          <a:noFill/>
        </p:spPr>
        <p:txBody>
          <a:bodyPr wrap="square" rtlCol="0">
            <a:spAutoFit/>
          </a:bodyPr>
          <a:lstStyle>
            <a:defPPr>
              <a:defRPr lang="es-PE"/>
            </a:defPPr>
            <a:lvl1pPr>
              <a:defRPr>
                <a:latin typeface="Arial Narrow" panose="020B0606020202030204" pitchFamily="34" charset="0"/>
              </a:defRPr>
            </a:lvl1pPr>
          </a:lstStyle>
          <a:p>
            <a:pPr algn="just"/>
            <a:r>
              <a:rPr lang="es-ES" dirty="0"/>
              <a:t>Se tiene que elaborar a la semana, por lo menos, 120 unidades del Pegamento </a:t>
            </a:r>
            <a:r>
              <a:rPr lang="es-ES" dirty="0" err="1"/>
              <a:t>P1</a:t>
            </a:r>
            <a:r>
              <a:rPr lang="es-ES" dirty="0"/>
              <a:t>, por lo menos, 150 unidades del Pegamento </a:t>
            </a:r>
            <a:r>
              <a:rPr lang="es-ES" dirty="0" err="1"/>
              <a:t>P2</a:t>
            </a:r>
            <a:r>
              <a:rPr lang="es-ES" dirty="0"/>
              <a:t> y por lo menos, 200 unidades del Pegamento </a:t>
            </a:r>
            <a:r>
              <a:rPr lang="es-ES" dirty="0" err="1"/>
              <a:t>P3</a:t>
            </a:r>
            <a:r>
              <a:rPr lang="es-ES" dirty="0"/>
              <a:t>. </a:t>
            </a:r>
          </a:p>
          <a:p>
            <a:pPr algn="just"/>
            <a:r>
              <a:rPr lang="es-ES" dirty="0"/>
              <a:t>La gerencia de producción ha decidido que se debe utilizar a lo más 2 de las líneas de producción. Formule un modelo de programación entera para minimizar el costo total y cumplir con las demandas semanales.</a:t>
            </a:r>
            <a:endParaRPr lang="es-PE" dirty="0"/>
          </a:p>
        </p:txBody>
      </p:sp>
      <p:sp>
        <p:nvSpPr>
          <p:cNvPr id="9" name="2 Rectángulo redondeado">
            <a:extLst>
              <a:ext uri="{FF2B5EF4-FFF2-40B4-BE49-F238E27FC236}">
                <a16:creationId xmlns:a16="http://schemas.microsoft.com/office/drawing/2014/main" id="{AEB0FB8C-9DA6-487B-82EE-12D9824A3EB0}"/>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22</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11" name="3 Rectángulo">
            <a:extLst>
              <a:ext uri="{FF2B5EF4-FFF2-40B4-BE49-F238E27FC236}">
                <a16:creationId xmlns:a16="http://schemas.microsoft.com/office/drawing/2014/main" id="{E95C1719-969E-4D88-B119-406625906322}"/>
              </a:ext>
            </a:extLst>
          </p:cNvPr>
          <p:cNvSpPr/>
          <p:nvPr/>
        </p:nvSpPr>
        <p:spPr>
          <a:xfrm>
            <a:off x="6245525" y="1242217"/>
            <a:ext cx="5451893" cy="1323439"/>
          </a:xfrm>
          <a:prstGeom prst="rect">
            <a:avLst/>
          </a:prstGeom>
          <a:solidFill>
            <a:schemeClr val="accent4">
              <a:lumMod val="40000"/>
              <a:lumOff val="60000"/>
            </a:schemeClr>
          </a:solidFill>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a:t>
            </a:r>
            <a:r>
              <a:rPr lang="es-PE" sz="2000" dirty="0" err="1">
                <a:latin typeface="Arial Narrow" panose="020B0606020202030204" pitchFamily="34" charset="0"/>
                <a:ea typeface="Calibri" pitchFamily="34" charset="0"/>
                <a:cs typeface="Arial" pitchFamily="34" charset="0"/>
              </a:rPr>
              <a:t>Yj</a:t>
            </a:r>
            <a:r>
              <a:rPr lang="es-PE" sz="2000" dirty="0">
                <a:latin typeface="Arial Narrow" panose="020B0606020202030204" pitchFamily="34" charset="0"/>
                <a:ea typeface="Calibri" pitchFamily="34" charset="0"/>
                <a:cs typeface="Arial" pitchFamily="34" charset="0"/>
              </a:rPr>
              <a:t>  =Cantidad de trabajadores en la línea j</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a:t>
            </a:r>
            <a:r>
              <a:rPr lang="es-PE" sz="2000" dirty="0" err="1">
                <a:latin typeface="Arial Narrow" panose="020B0606020202030204" pitchFamily="34" charset="0"/>
                <a:ea typeface="Calibri" pitchFamily="34" charset="0"/>
                <a:cs typeface="Arial" pitchFamily="34" charset="0"/>
              </a:rPr>
              <a:t>Wj</a:t>
            </a:r>
            <a:r>
              <a:rPr lang="es-PE" sz="2000" dirty="0">
                <a:latin typeface="Arial Narrow" panose="020B0606020202030204" pitchFamily="34" charset="0"/>
                <a:ea typeface="Calibri" pitchFamily="34" charset="0"/>
                <a:cs typeface="Arial" pitchFamily="34" charset="0"/>
              </a:rPr>
              <a:t> = Funcionamiento de la línea j </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a:t>
            </a:r>
            <a:r>
              <a:rPr lang="es-PE" sz="2000" dirty="0" err="1">
                <a:latin typeface="Arial Narrow" panose="020B0606020202030204" pitchFamily="34" charset="0"/>
                <a:ea typeface="Calibri" pitchFamily="34" charset="0"/>
                <a:cs typeface="Arial" pitchFamily="34" charset="0"/>
              </a:rPr>
              <a:t>Wj</a:t>
            </a:r>
            <a:r>
              <a:rPr lang="es-PE" sz="2000" dirty="0">
                <a:latin typeface="Arial Narrow" panose="020B0606020202030204" pitchFamily="34" charset="0"/>
                <a:ea typeface="Calibri" pitchFamily="34" charset="0"/>
                <a:cs typeface="Arial" pitchFamily="34" charset="0"/>
              </a:rPr>
              <a:t>=0 No funciona la línea, Xi=1 Funciona la línea}</a:t>
            </a:r>
          </a:p>
        </p:txBody>
      </p:sp>
      <p:sp>
        <p:nvSpPr>
          <p:cNvPr id="4" name="Rectángulo 3">
            <a:extLst>
              <a:ext uri="{FF2B5EF4-FFF2-40B4-BE49-F238E27FC236}">
                <a16:creationId xmlns:a16="http://schemas.microsoft.com/office/drawing/2014/main" id="{833AE7A3-8AD6-4C54-B55A-679E5F2F4BD5}"/>
              </a:ext>
            </a:extLst>
          </p:cNvPr>
          <p:cNvSpPr/>
          <p:nvPr/>
        </p:nvSpPr>
        <p:spPr>
          <a:xfrm>
            <a:off x="6245525" y="2504891"/>
            <a:ext cx="5451894" cy="1015663"/>
          </a:xfrm>
          <a:prstGeom prst="rect">
            <a:avLst/>
          </a:prstGeom>
          <a:solidFill>
            <a:schemeClr val="accent4">
              <a:lumMod val="40000"/>
              <a:lumOff val="60000"/>
            </a:schemeClr>
          </a:solidFill>
        </p:spPr>
        <p:txBody>
          <a:bodyPr wrap="square">
            <a:spAutoFit/>
          </a:bodyPr>
          <a:lstStyle/>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fontAlgn="base">
              <a:spcBef>
                <a:spcPct val="0"/>
              </a:spcBef>
              <a:spcAft>
                <a:spcPct val="0"/>
              </a:spcAft>
            </a:pPr>
            <a:r>
              <a:rPr lang="es-PE" sz="2000" dirty="0">
                <a:latin typeface="Arial Narrow" panose="020B0606020202030204" pitchFamily="34" charset="0"/>
                <a:cs typeface="Arial" pitchFamily="34" charset="0"/>
              </a:rPr>
              <a:t>        MIN 	</a:t>
            </a:r>
            <a:r>
              <a:rPr lang="es-PE" sz="2000" dirty="0" err="1">
                <a:latin typeface="Arial Narrow" panose="020B0606020202030204" pitchFamily="34" charset="0"/>
                <a:cs typeface="Arial" pitchFamily="34" charset="0"/>
              </a:rPr>
              <a:t>500Y1+800Y2+700Y3+600Y4</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1000W1+2000W2+1500W3+1800W4</a:t>
            </a:r>
            <a:endParaRPr lang="es-PE" sz="2000" b="1" dirty="0">
              <a:latin typeface="Arial Narrow" panose="020B0606020202030204" pitchFamily="34" charset="0"/>
              <a:cs typeface="Arial" pitchFamily="34" charset="0"/>
            </a:endParaRPr>
          </a:p>
        </p:txBody>
      </p:sp>
      <p:sp>
        <p:nvSpPr>
          <p:cNvPr id="5" name="Rectángulo 4">
            <a:extLst>
              <a:ext uri="{FF2B5EF4-FFF2-40B4-BE49-F238E27FC236}">
                <a16:creationId xmlns:a16="http://schemas.microsoft.com/office/drawing/2014/main" id="{BA3B2428-E2AD-4887-B242-716C7A151A4E}"/>
              </a:ext>
            </a:extLst>
          </p:cNvPr>
          <p:cNvSpPr/>
          <p:nvPr/>
        </p:nvSpPr>
        <p:spPr>
          <a:xfrm>
            <a:off x="6239774" y="3411748"/>
            <a:ext cx="5466271" cy="3477875"/>
          </a:xfrm>
          <a:prstGeom prst="rect">
            <a:avLst/>
          </a:prstGeom>
          <a:solidFill>
            <a:schemeClr val="accent4">
              <a:lumMod val="40000"/>
              <a:lumOff val="60000"/>
            </a:schemeClr>
          </a:solidFill>
        </p:spPr>
        <p:txBody>
          <a:bodyPr wrap="square">
            <a:spAutoFit/>
          </a:bodyPr>
          <a:lstStyle/>
          <a:p>
            <a:pPr marL="449263" indent="-449263"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PE" sz="2000" dirty="0" err="1">
                <a:latin typeface="Arial Narrow" panose="020B0606020202030204" pitchFamily="34" charset="0"/>
              </a:rPr>
              <a:t>20Y1+50Y2+30Y3+40Y4</a:t>
            </a:r>
            <a:r>
              <a:rPr lang="es-PE" sz="2000" dirty="0">
                <a:latin typeface="Arial Narrow" panose="020B0606020202030204" pitchFamily="34" charset="0"/>
              </a:rPr>
              <a:t> &gt;=120</a:t>
            </a:r>
          </a:p>
          <a:p>
            <a:pPr indent="449263" algn="just" eaLnBrk="0" fontAlgn="base" hangingPunct="0">
              <a:spcBef>
                <a:spcPct val="0"/>
              </a:spcBef>
              <a:spcAft>
                <a:spcPct val="0"/>
              </a:spcAft>
            </a:pPr>
            <a:r>
              <a:rPr lang="es-PE" sz="2000" dirty="0" err="1">
                <a:latin typeface="Arial Narrow" panose="020B0606020202030204" pitchFamily="34" charset="0"/>
              </a:rPr>
              <a:t>30Y1+35Y2+35Y3+40Y4</a:t>
            </a:r>
            <a:r>
              <a:rPr lang="es-PE" sz="2000" dirty="0">
                <a:latin typeface="Arial Narrow" panose="020B0606020202030204" pitchFamily="34" charset="0"/>
              </a:rPr>
              <a:t> &gt;=150</a:t>
            </a:r>
          </a:p>
          <a:p>
            <a:pPr indent="449263" algn="just" eaLnBrk="0" fontAlgn="base" hangingPunct="0">
              <a:spcBef>
                <a:spcPct val="0"/>
              </a:spcBef>
              <a:spcAft>
                <a:spcPct val="0"/>
              </a:spcAft>
            </a:pPr>
            <a:r>
              <a:rPr lang="es-PE" sz="2000" dirty="0" err="1">
                <a:latin typeface="Arial Narrow" panose="020B0606020202030204" pitchFamily="34" charset="0"/>
              </a:rPr>
              <a:t>40Y1+45Y2+40Y3+40Y4</a:t>
            </a:r>
            <a:r>
              <a:rPr lang="es-PE" sz="2000" dirty="0">
                <a:latin typeface="Arial Narrow" panose="020B0606020202030204" pitchFamily="34" charset="0"/>
              </a:rPr>
              <a:t> &gt;=200</a:t>
            </a:r>
          </a:p>
          <a:p>
            <a:pPr indent="449263" algn="just" eaLnBrk="0" fontAlgn="base" hangingPunct="0">
              <a:spcBef>
                <a:spcPct val="0"/>
              </a:spcBef>
              <a:spcAft>
                <a:spcPct val="0"/>
              </a:spcAft>
            </a:pPr>
            <a:r>
              <a:rPr lang="es-PE" sz="2000" dirty="0" err="1">
                <a:latin typeface="Arial Narrow" panose="020B0606020202030204" pitchFamily="34" charset="0"/>
              </a:rPr>
              <a:t>W1+W2+W3+W4</a:t>
            </a:r>
            <a:r>
              <a:rPr lang="es-PE" sz="2000" dirty="0">
                <a:latin typeface="Arial Narrow" panose="020B0606020202030204" pitchFamily="34" charset="0"/>
              </a:rPr>
              <a:t>&lt;=2</a:t>
            </a:r>
          </a:p>
          <a:p>
            <a:pPr indent="449263" algn="just" eaLnBrk="0" fontAlgn="base" hangingPunct="0">
              <a:spcBef>
                <a:spcPct val="0"/>
              </a:spcBef>
              <a:spcAft>
                <a:spcPct val="0"/>
              </a:spcAft>
            </a:pPr>
            <a:r>
              <a:rPr lang="es-PE" sz="2000" dirty="0" err="1">
                <a:latin typeface="Arial Narrow" panose="020B0606020202030204" pitchFamily="34" charset="0"/>
              </a:rPr>
              <a:t>Y1</a:t>
            </a:r>
            <a:r>
              <a:rPr lang="es-PE" sz="2000" dirty="0">
                <a:latin typeface="Arial Narrow" panose="020B0606020202030204" pitchFamily="34" charset="0"/>
              </a:rPr>
              <a:t>&lt;=</a:t>
            </a:r>
            <a:r>
              <a:rPr lang="es-PE" sz="2000" dirty="0" err="1">
                <a:latin typeface="Arial Narrow" panose="020B0606020202030204" pitchFamily="34" charset="0"/>
              </a:rPr>
              <a:t>7W1</a:t>
            </a:r>
            <a:endParaRPr lang="es-PE" sz="2000" dirty="0">
              <a:latin typeface="Arial Narrow" panose="020B0606020202030204" pitchFamily="34" charset="0"/>
            </a:endParaRPr>
          </a:p>
          <a:p>
            <a:pPr indent="449263" algn="just" eaLnBrk="0" fontAlgn="base" hangingPunct="0">
              <a:spcBef>
                <a:spcPct val="0"/>
              </a:spcBef>
              <a:spcAft>
                <a:spcPct val="0"/>
              </a:spcAft>
            </a:pPr>
            <a:r>
              <a:rPr lang="es-PE" sz="2000" dirty="0" err="1">
                <a:latin typeface="Arial Narrow" panose="020B0606020202030204" pitchFamily="34" charset="0"/>
              </a:rPr>
              <a:t>Y2</a:t>
            </a:r>
            <a:r>
              <a:rPr lang="es-PE" sz="2000" dirty="0">
                <a:latin typeface="Arial Narrow" panose="020B0606020202030204" pitchFamily="34" charset="0"/>
              </a:rPr>
              <a:t>&lt;=</a:t>
            </a:r>
            <a:r>
              <a:rPr lang="es-PE" sz="2000" dirty="0" err="1">
                <a:latin typeface="Arial Narrow" panose="020B0606020202030204" pitchFamily="34" charset="0"/>
              </a:rPr>
              <a:t>7W2</a:t>
            </a:r>
            <a:endParaRPr lang="es-PE" sz="2000" dirty="0">
              <a:latin typeface="Arial Narrow" panose="020B0606020202030204" pitchFamily="34" charset="0"/>
            </a:endParaRPr>
          </a:p>
          <a:p>
            <a:pPr indent="449263" algn="just" eaLnBrk="0" fontAlgn="base" hangingPunct="0">
              <a:spcBef>
                <a:spcPct val="0"/>
              </a:spcBef>
              <a:spcAft>
                <a:spcPct val="0"/>
              </a:spcAft>
            </a:pPr>
            <a:r>
              <a:rPr lang="es-PE" sz="2000" dirty="0" err="1">
                <a:latin typeface="Arial Narrow" panose="020B0606020202030204" pitchFamily="34" charset="0"/>
              </a:rPr>
              <a:t>Y3</a:t>
            </a:r>
            <a:r>
              <a:rPr lang="es-PE" sz="2000" dirty="0">
                <a:latin typeface="Arial Narrow" panose="020B0606020202030204" pitchFamily="34" charset="0"/>
              </a:rPr>
              <a:t>&lt;=</a:t>
            </a:r>
            <a:r>
              <a:rPr lang="es-PE" sz="2000" dirty="0" err="1">
                <a:latin typeface="Arial Narrow" panose="020B0606020202030204" pitchFamily="34" charset="0"/>
              </a:rPr>
              <a:t>7W3</a:t>
            </a:r>
            <a:endParaRPr lang="es-PE" sz="2000" dirty="0">
              <a:latin typeface="Arial Narrow" panose="020B0606020202030204" pitchFamily="34" charset="0"/>
            </a:endParaRPr>
          </a:p>
          <a:p>
            <a:pPr indent="449263" algn="just" eaLnBrk="0" fontAlgn="base" hangingPunct="0">
              <a:spcBef>
                <a:spcPct val="0"/>
              </a:spcBef>
              <a:spcAft>
                <a:spcPct val="0"/>
              </a:spcAft>
            </a:pPr>
            <a:r>
              <a:rPr lang="es-PE" sz="2000" dirty="0" err="1">
                <a:latin typeface="Arial Narrow" panose="020B0606020202030204" pitchFamily="34" charset="0"/>
              </a:rPr>
              <a:t>Y4</a:t>
            </a:r>
            <a:r>
              <a:rPr lang="es-PE" sz="2000" dirty="0">
                <a:latin typeface="Arial Narrow" panose="020B0606020202030204" pitchFamily="34" charset="0"/>
              </a:rPr>
              <a:t>&lt;=</a:t>
            </a:r>
            <a:r>
              <a:rPr lang="es-PE" sz="2000" dirty="0" err="1">
                <a:latin typeface="Arial Narrow" panose="020B0606020202030204" pitchFamily="34" charset="0"/>
              </a:rPr>
              <a:t>7W4</a:t>
            </a:r>
            <a:endParaRPr lang="es-PE" sz="2000" dirty="0">
              <a:latin typeface="Arial Narrow" panose="020B0606020202030204" pitchFamily="34" charset="0"/>
            </a:endParaRPr>
          </a:p>
          <a:p>
            <a:pPr indent="449263" algn="just" eaLnBrk="0" fontAlgn="base" hangingPunct="0">
              <a:spcBef>
                <a:spcPct val="0"/>
              </a:spcBef>
              <a:spcAft>
                <a:spcPct val="0"/>
              </a:spcAft>
            </a:pPr>
            <a:r>
              <a:rPr lang="es-PE" sz="2000" dirty="0" err="1">
                <a:latin typeface="Arial Narrow" panose="020B0606020202030204" pitchFamily="34" charset="0"/>
              </a:rPr>
              <a:t>Yj</a:t>
            </a:r>
            <a:r>
              <a:rPr lang="es-PE" sz="2000" dirty="0">
                <a:latin typeface="Arial Narrow" panose="020B0606020202030204" pitchFamily="34" charset="0"/>
              </a:rPr>
              <a:t>&gt;=0, Entero </a:t>
            </a:r>
          </a:p>
          <a:p>
            <a:pPr indent="449263" algn="just" eaLnBrk="0" fontAlgn="base" hangingPunct="0">
              <a:spcBef>
                <a:spcPct val="0"/>
              </a:spcBef>
              <a:spcAft>
                <a:spcPct val="0"/>
              </a:spcAft>
            </a:pPr>
            <a:r>
              <a:rPr lang="es-PE" sz="2000" dirty="0" err="1">
                <a:latin typeface="Arial Narrow" panose="020B0606020202030204" pitchFamily="34" charset="0"/>
              </a:rPr>
              <a:t>Wj</a:t>
            </a:r>
            <a:r>
              <a:rPr lang="es-PE" sz="2000" dirty="0">
                <a:latin typeface="Arial Narrow" panose="020B0606020202030204" pitchFamily="34" charset="0"/>
              </a:rPr>
              <a:t>&gt;=0, Binario</a:t>
            </a:r>
            <a:endParaRPr lang="es-PE" sz="2000" dirty="0"/>
          </a:p>
        </p:txBody>
      </p:sp>
      <p:pic>
        <p:nvPicPr>
          <p:cNvPr id="10" name="Imagen 9">
            <a:extLst>
              <a:ext uri="{FF2B5EF4-FFF2-40B4-BE49-F238E27FC236}">
                <a16:creationId xmlns:a16="http://schemas.microsoft.com/office/drawing/2014/main" id="{D24257A2-7548-4071-A2D5-D29ED2E28D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1332" y="3769741"/>
            <a:ext cx="1217762" cy="1416820"/>
          </a:xfrm>
          <a:prstGeom prst="rect">
            <a:avLst/>
          </a:prstGeom>
        </p:spPr>
      </p:pic>
    </p:spTree>
    <p:extLst>
      <p:ext uri="{BB962C8B-B14F-4D97-AF65-F5344CB8AC3E}">
        <p14:creationId xmlns:p14="http://schemas.microsoft.com/office/powerpoint/2010/main" val="285294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 grpId="0" animBg="1"/>
      <p:bldP spid="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Rectángulo">
            <a:extLst>
              <a:ext uri="{FF2B5EF4-FFF2-40B4-BE49-F238E27FC236}">
                <a16:creationId xmlns:a16="http://schemas.microsoft.com/office/drawing/2014/main" id="{741DEA13-8B5B-4595-92E4-0262A1FF146F}"/>
              </a:ext>
            </a:extLst>
          </p:cNvPr>
          <p:cNvSpPr/>
          <p:nvPr/>
        </p:nvSpPr>
        <p:spPr>
          <a:xfrm>
            <a:off x="250165" y="1233586"/>
            <a:ext cx="3390182" cy="5632311"/>
          </a:xfrm>
          <a:prstGeom prst="rect">
            <a:avLst/>
          </a:prstGeom>
          <a:solidFill>
            <a:srgbClr val="FFFF00"/>
          </a:solidFill>
        </p:spPr>
        <p:txBody>
          <a:bodyPr wrap="square">
            <a:spAutoFit/>
          </a:bodyPr>
          <a:lstStyle/>
          <a:p>
            <a:pPr fontAlgn="base">
              <a:spcBef>
                <a:spcPct val="0"/>
              </a:spcBef>
              <a:spcAft>
                <a:spcPct val="0"/>
              </a:spcAft>
            </a:pPr>
            <a:r>
              <a:rPr lang="es-PE" dirty="0">
                <a:latin typeface="Arial Narrow" panose="020B0606020202030204" pitchFamily="34" charset="0"/>
                <a:cs typeface="Arial" pitchFamily="34" charset="0"/>
              </a:rPr>
              <a:t>MIN </a:t>
            </a:r>
            <a:r>
              <a:rPr lang="es-PE" dirty="0" err="1">
                <a:latin typeface="Arial Narrow" panose="020B0606020202030204" pitchFamily="34" charset="0"/>
                <a:cs typeface="Arial" pitchFamily="34" charset="0"/>
              </a:rPr>
              <a:t>500Y1+800Y2+700Y3+600Y4</a:t>
            </a:r>
            <a:r>
              <a:rPr lang="es-PE" dirty="0">
                <a:latin typeface="Arial Narrow" panose="020B0606020202030204" pitchFamily="34" charset="0"/>
                <a:cs typeface="Arial" pitchFamily="34" charset="0"/>
              </a:rPr>
              <a:t>+ </a:t>
            </a:r>
            <a:r>
              <a:rPr lang="es-PE" dirty="0" err="1">
                <a:latin typeface="Arial Narrow" panose="020B0606020202030204" pitchFamily="34" charset="0"/>
                <a:cs typeface="Arial" pitchFamily="34" charset="0"/>
              </a:rPr>
              <a:t>1000W1+2000W2+1500W3+1800W4</a:t>
            </a:r>
            <a:endParaRPr lang="es-PE" b="1" dirty="0">
              <a:latin typeface="Arial Narrow" panose="020B0606020202030204" pitchFamily="34" charset="0"/>
              <a:cs typeface="Arial" pitchFamily="34" charset="0"/>
            </a:endParaRPr>
          </a:p>
          <a:p>
            <a:pPr marL="449263" indent="-449263" fontAlgn="base">
              <a:spcBef>
                <a:spcPct val="0"/>
              </a:spcBef>
              <a:spcAft>
                <a:spcPct val="0"/>
              </a:spcAft>
            </a:pPr>
            <a:r>
              <a:rPr lang="en-US" b="1" dirty="0">
                <a:latin typeface="Arial Narrow" panose="020B0606020202030204" pitchFamily="34" charset="0"/>
                <a:ea typeface="Calibri" pitchFamily="34" charset="0"/>
                <a:cs typeface="Arial" pitchFamily="34" charset="0"/>
              </a:rPr>
              <a:t>	</a:t>
            </a:r>
            <a:r>
              <a:rPr lang="es-PE" b="1" dirty="0" err="1">
                <a:solidFill>
                  <a:srgbClr val="FF0000"/>
                </a:solidFill>
                <a:latin typeface="Arial Narrow" panose="020B0606020202030204" pitchFamily="34" charset="0"/>
                <a:ea typeface="Calibri" pitchFamily="34" charset="0"/>
                <a:cs typeface="Arial" pitchFamily="34" charset="0"/>
              </a:rPr>
              <a:t>ST</a:t>
            </a:r>
            <a:endParaRPr lang="es-PE" dirty="0">
              <a:solidFill>
                <a:srgbClr val="FF0000"/>
              </a:solidFill>
              <a:latin typeface="Arial Narrow" panose="020B0606020202030204" pitchFamily="34" charset="0"/>
              <a:cs typeface="Arial" pitchFamily="34" charset="0"/>
            </a:endParaRPr>
          </a:p>
          <a:p>
            <a:pPr indent="449263" eaLnBrk="0" fontAlgn="base" hangingPunct="0">
              <a:spcBef>
                <a:spcPct val="0"/>
              </a:spcBef>
              <a:spcAft>
                <a:spcPct val="0"/>
              </a:spcAft>
            </a:pPr>
            <a:r>
              <a:rPr lang="es-PE" dirty="0" err="1">
                <a:latin typeface="Arial Narrow" panose="020B0606020202030204" pitchFamily="34" charset="0"/>
              </a:rPr>
              <a:t>20Y1+50Y2+30Y3+40Y4</a:t>
            </a:r>
            <a:r>
              <a:rPr lang="es-PE" dirty="0">
                <a:latin typeface="Arial Narrow" panose="020B0606020202030204" pitchFamily="34" charset="0"/>
              </a:rPr>
              <a:t> &gt;=</a:t>
            </a:r>
            <a:r>
              <a:rPr lang="es-PE" b="1" dirty="0">
                <a:solidFill>
                  <a:srgbClr val="FF0000"/>
                </a:solidFill>
                <a:latin typeface="Arial Narrow" panose="020B0606020202030204" pitchFamily="34" charset="0"/>
              </a:rPr>
              <a:t>120</a:t>
            </a:r>
          </a:p>
          <a:p>
            <a:pPr indent="449263" eaLnBrk="0" fontAlgn="base" hangingPunct="0">
              <a:spcBef>
                <a:spcPct val="0"/>
              </a:spcBef>
              <a:spcAft>
                <a:spcPct val="0"/>
              </a:spcAft>
            </a:pPr>
            <a:r>
              <a:rPr lang="es-PE" dirty="0" err="1">
                <a:latin typeface="Arial Narrow" panose="020B0606020202030204" pitchFamily="34" charset="0"/>
              </a:rPr>
              <a:t>30Y1+35Y2+35Y3+40Y4</a:t>
            </a:r>
            <a:r>
              <a:rPr lang="es-PE" dirty="0">
                <a:latin typeface="Arial Narrow" panose="020B0606020202030204" pitchFamily="34" charset="0"/>
              </a:rPr>
              <a:t> &gt;=150</a:t>
            </a:r>
          </a:p>
          <a:p>
            <a:pPr indent="449263" eaLnBrk="0" fontAlgn="base" hangingPunct="0">
              <a:spcBef>
                <a:spcPct val="0"/>
              </a:spcBef>
              <a:spcAft>
                <a:spcPct val="0"/>
              </a:spcAft>
            </a:pPr>
            <a:r>
              <a:rPr lang="es-PE" dirty="0" err="1">
                <a:latin typeface="Arial Narrow" panose="020B0606020202030204" pitchFamily="34" charset="0"/>
              </a:rPr>
              <a:t>40Y1+45Y2+40Y3+40Y4</a:t>
            </a:r>
            <a:r>
              <a:rPr lang="es-PE" dirty="0">
                <a:latin typeface="Arial Narrow" panose="020B0606020202030204" pitchFamily="34" charset="0"/>
              </a:rPr>
              <a:t> &gt;=200</a:t>
            </a:r>
          </a:p>
          <a:p>
            <a:pPr indent="449263" eaLnBrk="0" fontAlgn="base" hangingPunct="0">
              <a:spcBef>
                <a:spcPct val="0"/>
              </a:spcBef>
              <a:spcAft>
                <a:spcPct val="0"/>
              </a:spcAft>
            </a:pPr>
            <a:r>
              <a:rPr lang="es-PE" dirty="0" err="1">
                <a:latin typeface="Arial Narrow" panose="020B0606020202030204" pitchFamily="34" charset="0"/>
              </a:rPr>
              <a:t>W1+W2+W3+W4</a:t>
            </a:r>
            <a:r>
              <a:rPr lang="es-PE" dirty="0">
                <a:latin typeface="Arial Narrow" panose="020B0606020202030204" pitchFamily="34" charset="0"/>
              </a:rPr>
              <a:t>&lt;=</a:t>
            </a:r>
            <a:r>
              <a:rPr lang="es-PE" b="1" dirty="0">
                <a:solidFill>
                  <a:srgbClr val="FF0000"/>
                </a:solidFill>
                <a:latin typeface="Arial Narrow" panose="020B0606020202030204" pitchFamily="34" charset="0"/>
              </a:rPr>
              <a:t>2</a:t>
            </a:r>
          </a:p>
          <a:p>
            <a:pPr indent="449263" eaLnBrk="0" fontAlgn="base" hangingPunct="0">
              <a:spcBef>
                <a:spcPct val="0"/>
              </a:spcBef>
              <a:spcAft>
                <a:spcPct val="0"/>
              </a:spcAft>
            </a:pPr>
            <a:r>
              <a:rPr lang="es-PE" dirty="0" err="1">
                <a:latin typeface="Arial Narrow" panose="020B0606020202030204" pitchFamily="34" charset="0"/>
              </a:rPr>
              <a:t>Y1-7W1</a:t>
            </a:r>
            <a:r>
              <a:rPr lang="es-PE" dirty="0">
                <a:latin typeface="Arial Narrow" panose="020B0606020202030204" pitchFamily="34" charset="0"/>
              </a:rPr>
              <a:t> &lt;=0</a:t>
            </a:r>
          </a:p>
          <a:p>
            <a:pPr indent="449263" eaLnBrk="0" fontAlgn="base" hangingPunct="0">
              <a:spcBef>
                <a:spcPct val="0"/>
              </a:spcBef>
              <a:spcAft>
                <a:spcPct val="0"/>
              </a:spcAft>
            </a:pPr>
            <a:r>
              <a:rPr lang="es-PE" dirty="0" err="1">
                <a:latin typeface="Arial Narrow" panose="020B0606020202030204" pitchFamily="34" charset="0"/>
              </a:rPr>
              <a:t>Y2-7W2</a:t>
            </a:r>
            <a:r>
              <a:rPr lang="es-PE" dirty="0">
                <a:latin typeface="Arial Narrow" panose="020B0606020202030204" pitchFamily="34" charset="0"/>
              </a:rPr>
              <a:t> &lt;=0</a:t>
            </a:r>
          </a:p>
          <a:p>
            <a:pPr indent="449263" eaLnBrk="0" fontAlgn="base" hangingPunct="0">
              <a:spcBef>
                <a:spcPct val="0"/>
              </a:spcBef>
              <a:spcAft>
                <a:spcPct val="0"/>
              </a:spcAft>
            </a:pPr>
            <a:r>
              <a:rPr lang="es-PE" dirty="0" err="1">
                <a:latin typeface="Arial Narrow" panose="020B0606020202030204" pitchFamily="34" charset="0"/>
              </a:rPr>
              <a:t>Y3-7W3</a:t>
            </a:r>
            <a:r>
              <a:rPr lang="es-PE" dirty="0">
                <a:latin typeface="Arial Narrow" panose="020B0606020202030204" pitchFamily="34" charset="0"/>
              </a:rPr>
              <a:t> &lt;=0</a:t>
            </a:r>
          </a:p>
          <a:p>
            <a:pPr indent="449263" eaLnBrk="0" fontAlgn="base" hangingPunct="0">
              <a:spcBef>
                <a:spcPct val="0"/>
              </a:spcBef>
              <a:spcAft>
                <a:spcPct val="0"/>
              </a:spcAft>
            </a:pPr>
            <a:r>
              <a:rPr lang="es-PE" dirty="0" err="1">
                <a:latin typeface="Arial Narrow" panose="020B0606020202030204" pitchFamily="34" charset="0"/>
              </a:rPr>
              <a:t>Y4-7W4</a:t>
            </a:r>
            <a:r>
              <a:rPr lang="es-PE" dirty="0">
                <a:latin typeface="Arial Narrow" panose="020B0606020202030204" pitchFamily="34" charset="0"/>
              </a:rPr>
              <a:t> &lt;=0</a:t>
            </a:r>
          </a:p>
          <a:p>
            <a:pPr indent="449263" eaLnBrk="0" fontAlgn="base" hangingPunct="0">
              <a:spcBef>
                <a:spcPct val="0"/>
              </a:spcBef>
              <a:spcAft>
                <a:spcPct val="0"/>
              </a:spcAft>
            </a:pPr>
            <a:r>
              <a:rPr lang="es-PE" b="1" dirty="0" err="1">
                <a:solidFill>
                  <a:srgbClr val="FF0000"/>
                </a:solidFill>
                <a:latin typeface="Arial Narrow" panose="020B0606020202030204" pitchFamily="34" charset="0"/>
              </a:rPr>
              <a:t>END</a:t>
            </a:r>
            <a:endParaRPr lang="es-PE" b="1" dirty="0">
              <a:solidFill>
                <a:srgbClr val="FF0000"/>
              </a:solidFill>
              <a:latin typeface="Arial Narrow" panose="020B0606020202030204" pitchFamily="34" charset="0"/>
            </a:endParaRPr>
          </a:p>
          <a:p>
            <a:pPr indent="449263" eaLnBrk="0" fontAlgn="base" hangingPunct="0">
              <a:spcBef>
                <a:spcPct val="0"/>
              </a:spcBef>
              <a:spcAft>
                <a:spcPct val="0"/>
              </a:spcAft>
            </a:pPr>
            <a:r>
              <a:rPr lang="es-PE" dirty="0" err="1">
                <a:latin typeface="Arial Narrow" panose="020B0606020202030204" pitchFamily="34" charset="0"/>
              </a:rPr>
              <a:t>INT</a:t>
            </a:r>
            <a:r>
              <a:rPr lang="es-PE" dirty="0">
                <a:latin typeface="Arial Narrow" panose="020B0606020202030204" pitchFamily="34" charset="0"/>
              </a:rPr>
              <a:t> </a:t>
            </a:r>
            <a:r>
              <a:rPr lang="es-PE" dirty="0" err="1">
                <a:latin typeface="Arial Narrow" panose="020B0606020202030204" pitchFamily="34" charset="0"/>
              </a:rPr>
              <a:t>W1</a:t>
            </a:r>
            <a:r>
              <a:rPr lang="es-PE" dirty="0">
                <a:latin typeface="Arial Narrow" panose="020B0606020202030204" pitchFamily="34" charset="0"/>
              </a:rPr>
              <a:t>  </a:t>
            </a:r>
          </a:p>
          <a:p>
            <a:pPr indent="449263" eaLnBrk="0" fontAlgn="base" hangingPunct="0">
              <a:spcBef>
                <a:spcPct val="0"/>
              </a:spcBef>
              <a:spcAft>
                <a:spcPct val="0"/>
              </a:spcAft>
            </a:pPr>
            <a:r>
              <a:rPr lang="es-PE" dirty="0">
                <a:latin typeface="Arial Narrow" panose="020B0606020202030204" pitchFamily="34" charset="0"/>
              </a:rPr>
              <a:t>GIN </a:t>
            </a:r>
            <a:r>
              <a:rPr lang="es-PE" dirty="0" err="1">
                <a:latin typeface="Arial Narrow" panose="020B0606020202030204" pitchFamily="34" charset="0"/>
              </a:rPr>
              <a:t>Y1</a:t>
            </a:r>
            <a:endParaRPr lang="es-PE" dirty="0">
              <a:latin typeface="Arial Narrow" panose="020B0606020202030204" pitchFamily="34" charset="0"/>
            </a:endParaRPr>
          </a:p>
          <a:p>
            <a:pPr indent="449263" eaLnBrk="0" fontAlgn="base" hangingPunct="0">
              <a:spcBef>
                <a:spcPct val="0"/>
              </a:spcBef>
              <a:spcAft>
                <a:spcPct val="0"/>
              </a:spcAft>
            </a:pPr>
            <a:r>
              <a:rPr lang="es-PE" dirty="0" err="1">
                <a:latin typeface="Arial Narrow" panose="020B0606020202030204" pitchFamily="34" charset="0"/>
              </a:rPr>
              <a:t>INT</a:t>
            </a:r>
            <a:r>
              <a:rPr lang="es-PE" dirty="0">
                <a:latin typeface="Arial Narrow" panose="020B0606020202030204" pitchFamily="34" charset="0"/>
              </a:rPr>
              <a:t> </a:t>
            </a:r>
            <a:r>
              <a:rPr lang="es-PE" dirty="0" err="1">
                <a:latin typeface="Arial Narrow" panose="020B0606020202030204" pitchFamily="34" charset="0"/>
              </a:rPr>
              <a:t>W2</a:t>
            </a:r>
            <a:r>
              <a:rPr lang="es-PE" dirty="0">
                <a:latin typeface="Arial Narrow" panose="020B0606020202030204" pitchFamily="34" charset="0"/>
              </a:rPr>
              <a:t>  </a:t>
            </a:r>
          </a:p>
          <a:p>
            <a:pPr indent="449263" eaLnBrk="0" fontAlgn="base" hangingPunct="0">
              <a:spcBef>
                <a:spcPct val="0"/>
              </a:spcBef>
              <a:spcAft>
                <a:spcPct val="0"/>
              </a:spcAft>
            </a:pPr>
            <a:r>
              <a:rPr lang="es-PE" dirty="0">
                <a:latin typeface="Arial Narrow" panose="020B0606020202030204" pitchFamily="34" charset="0"/>
              </a:rPr>
              <a:t>GIN </a:t>
            </a:r>
            <a:r>
              <a:rPr lang="es-PE" dirty="0" err="1">
                <a:latin typeface="Arial Narrow" panose="020B0606020202030204" pitchFamily="34" charset="0"/>
              </a:rPr>
              <a:t>Y2</a:t>
            </a:r>
            <a:endParaRPr lang="es-PE" dirty="0">
              <a:latin typeface="Arial Narrow" panose="020B0606020202030204" pitchFamily="34" charset="0"/>
            </a:endParaRPr>
          </a:p>
          <a:p>
            <a:pPr indent="449263" eaLnBrk="0" fontAlgn="base" hangingPunct="0">
              <a:spcBef>
                <a:spcPct val="0"/>
              </a:spcBef>
              <a:spcAft>
                <a:spcPct val="0"/>
              </a:spcAft>
            </a:pPr>
            <a:r>
              <a:rPr lang="es-PE" dirty="0" err="1">
                <a:latin typeface="Arial Narrow" panose="020B0606020202030204" pitchFamily="34" charset="0"/>
              </a:rPr>
              <a:t>INT</a:t>
            </a:r>
            <a:r>
              <a:rPr lang="es-PE" dirty="0">
                <a:latin typeface="Arial Narrow" panose="020B0606020202030204" pitchFamily="34" charset="0"/>
              </a:rPr>
              <a:t> </a:t>
            </a:r>
            <a:r>
              <a:rPr lang="es-PE" dirty="0" err="1">
                <a:latin typeface="Arial Narrow" panose="020B0606020202030204" pitchFamily="34" charset="0"/>
              </a:rPr>
              <a:t>W3</a:t>
            </a:r>
            <a:r>
              <a:rPr lang="es-PE" dirty="0">
                <a:latin typeface="Arial Narrow" panose="020B0606020202030204" pitchFamily="34" charset="0"/>
              </a:rPr>
              <a:t> </a:t>
            </a:r>
          </a:p>
          <a:p>
            <a:pPr indent="449263" eaLnBrk="0" fontAlgn="base" hangingPunct="0">
              <a:spcBef>
                <a:spcPct val="0"/>
              </a:spcBef>
              <a:spcAft>
                <a:spcPct val="0"/>
              </a:spcAft>
            </a:pPr>
            <a:r>
              <a:rPr lang="es-PE" dirty="0">
                <a:latin typeface="Arial Narrow" panose="020B0606020202030204" pitchFamily="34" charset="0"/>
              </a:rPr>
              <a:t> GIN </a:t>
            </a:r>
            <a:r>
              <a:rPr lang="es-PE" dirty="0" err="1">
                <a:latin typeface="Arial Narrow" panose="020B0606020202030204" pitchFamily="34" charset="0"/>
              </a:rPr>
              <a:t>Y3</a:t>
            </a:r>
            <a:endParaRPr lang="es-PE" dirty="0">
              <a:latin typeface="Arial Narrow" panose="020B0606020202030204" pitchFamily="34" charset="0"/>
            </a:endParaRPr>
          </a:p>
          <a:p>
            <a:pPr indent="449263" eaLnBrk="0" fontAlgn="base" hangingPunct="0">
              <a:spcBef>
                <a:spcPct val="0"/>
              </a:spcBef>
              <a:spcAft>
                <a:spcPct val="0"/>
              </a:spcAft>
            </a:pPr>
            <a:r>
              <a:rPr lang="es-PE" dirty="0" err="1">
                <a:latin typeface="Arial Narrow" panose="020B0606020202030204" pitchFamily="34" charset="0"/>
              </a:rPr>
              <a:t>INT</a:t>
            </a:r>
            <a:r>
              <a:rPr lang="es-PE" dirty="0">
                <a:latin typeface="Arial Narrow" panose="020B0606020202030204" pitchFamily="34" charset="0"/>
              </a:rPr>
              <a:t> </a:t>
            </a:r>
            <a:r>
              <a:rPr lang="es-PE" dirty="0" err="1">
                <a:latin typeface="Arial Narrow" panose="020B0606020202030204" pitchFamily="34" charset="0"/>
              </a:rPr>
              <a:t>W4</a:t>
            </a:r>
            <a:r>
              <a:rPr lang="es-PE" dirty="0">
                <a:latin typeface="Arial Narrow" panose="020B0606020202030204" pitchFamily="34" charset="0"/>
              </a:rPr>
              <a:t>  </a:t>
            </a:r>
          </a:p>
          <a:p>
            <a:pPr indent="449263" eaLnBrk="0" fontAlgn="base" hangingPunct="0">
              <a:spcBef>
                <a:spcPct val="0"/>
              </a:spcBef>
              <a:spcAft>
                <a:spcPct val="0"/>
              </a:spcAft>
            </a:pPr>
            <a:r>
              <a:rPr lang="es-PE" dirty="0">
                <a:latin typeface="Arial Narrow" panose="020B0606020202030204" pitchFamily="34" charset="0"/>
              </a:rPr>
              <a:t>GIN </a:t>
            </a:r>
            <a:r>
              <a:rPr lang="es-PE" dirty="0" err="1">
                <a:latin typeface="Arial Narrow" panose="020B0606020202030204" pitchFamily="34" charset="0"/>
              </a:rPr>
              <a:t>Y4</a:t>
            </a:r>
            <a:endParaRPr lang="es-PE" dirty="0">
              <a:latin typeface="Arial Narrow" panose="020B0606020202030204" pitchFamily="34" charset="0"/>
            </a:endParaRPr>
          </a:p>
        </p:txBody>
      </p:sp>
      <p:sp>
        <p:nvSpPr>
          <p:cNvPr id="4" name="Rectángulo 3">
            <a:extLst>
              <a:ext uri="{FF2B5EF4-FFF2-40B4-BE49-F238E27FC236}">
                <a16:creationId xmlns:a16="http://schemas.microsoft.com/office/drawing/2014/main" id="{F0022FFA-ADFE-431E-958F-E1DE21F88431}"/>
              </a:ext>
            </a:extLst>
          </p:cNvPr>
          <p:cNvSpPr/>
          <p:nvPr/>
        </p:nvSpPr>
        <p:spPr>
          <a:xfrm>
            <a:off x="7272068" y="2401852"/>
            <a:ext cx="3988279" cy="3416320"/>
          </a:xfrm>
          <a:prstGeom prst="rect">
            <a:avLst/>
          </a:prstGeom>
          <a:solidFill>
            <a:schemeClr val="accent4">
              <a:lumMod val="40000"/>
              <a:lumOff val="60000"/>
            </a:schemeClr>
          </a:solidFill>
        </p:spPr>
        <p:txBody>
          <a:bodyPr wrap="square">
            <a:spAutoFit/>
          </a:bodyPr>
          <a:lstStyle/>
          <a:p>
            <a:r>
              <a:rPr lang="es-PE" dirty="0">
                <a:latin typeface="Arial Narrow" panose="020B0606020202030204" pitchFamily="34" charset="0"/>
              </a:rPr>
              <a:t> </a:t>
            </a:r>
            <a:r>
              <a:rPr lang="es-PE" dirty="0" err="1">
                <a:latin typeface="Arial Narrow" panose="020B0606020202030204" pitchFamily="34" charset="0"/>
              </a:rPr>
              <a:t>OBJECTIVE</a:t>
            </a:r>
            <a:r>
              <a:rPr lang="es-PE" dirty="0">
                <a:latin typeface="Arial Narrow" panose="020B0606020202030204" pitchFamily="34" charset="0"/>
              </a:rPr>
              <a:t> </a:t>
            </a:r>
            <a:r>
              <a:rPr lang="es-PE" dirty="0" err="1">
                <a:latin typeface="Arial Narrow" panose="020B0606020202030204" pitchFamily="34" charset="0"/>
              </a:rPr>
              <a:t>FUNCTION</a:t>
            </a:r>
            <a:r>
              <a:rPr lang="es-PE" dirty="0">
                <a:latin typeface="Arial Narrow" panose="020B0606020202030204" pitchFamily="34" charset="0"/>
              </a:rPr>
              <a:t> </a:t>
            </a:r>
            <a:r>
              <a:rPr lang="es-PE" dirty="0" err="1">
                <a:latin typeface="Arial Narrow" panose="020B0606020202030204" pitchFamily="34" charset="0"/>
              </a:rPr>
              <a:t>VALUE</a:t>
            </a:r>
            <a:endParaRPr lang="es-PE" dirty="0">
              <a:latin typeface="Arial Narrow" panose="020B0606020202030204" pitchFamily="34" charset="0"/>
            </a:endParaRPr>
          </a:p>
          <a:p>
            <a:r>
              <a:rPr lang="es-PE" dirty="0">
                <a:latin typeface="Arial Narrow" panose="020B0606020202030204" pitchFamily="34" charset="0"/>
              </a:rPr>
              <a:t>        1)      4000.000</a:t>
            </a:r>
          </a:p>
          <a:p>
            <a:r>
              <a:rPr lang="es-PE" dirty="0">
                <a:latin typeface="Arial Narrow" panose="020B0606020202030204" pitchFamily="34" charset="0"/>
              </a:rPr>
              <a:t>  VARIABLE        </a:t>
            </a:r>
            <a:r>
              <a:rPr lang="es-PE" dirty="0" err="1">
                <a:latin typeface="Arial Narrow" panose="020B0606020202030204" pitchFamily="34" charset="0"/>
              </a:rPr>
              <a:t>VALUE</a:t>
            </a:r>
            <a:r>
              <a:rPr lang="es-PE" dirty="0">
                <a:latin typeface="Arial Narrow" panose="020B0606020202030204" pitchFamily="34" charset="0"/>
              </a:rPr>
              <a:t>          </a:t>
            </a:r>
            <a:r>
              <a:rPr lang="es-PE" dirty="0" err="1">
                <a:latin typeface="Arial Narrow" panose="020B0606020202030204" pitchFamily="34" charset="0"/>
              </a:rPr>
              <a:t>REDUCED</a:t>
            </a:r>
            <a:r>
              <a:rPr lang="es-PE" dirty="0">
                <a:latin typeface="Arial Narrow" panose="020B0606020202030204" pitchFamily="34" charset="0"/>
              </a:rPr>
              <a:t> </a:t>
            </a:r>
            <a:r>
              <a:rPr lang="es-PE" dirty="0" err="1">
                <a:latin typeface="Arial Narrow" panose="020B0606020202030204" pitchFamily="34" charset="0"/>
              </a:rPr>
              <a:t>COST</a:t>
            </a:r>
            <a:endParaRPr lang="es-PE" dirty="0">
              <a:latin typeface="Arial Narrow" panose="020B0606020202030204" pitchFamily="34" charset="0"/>
            </a:endParaRPr>
          </a:p>
          <a:p>
            <a:r>
              <a:rPr lang="es-PE" dirty="0">
                <a:latin typeface="Arial Narrow" panose="020B0606020202030204" pitchFamily="34" charset="0"/>
              </a:rPr>
              <a:t>        </a:t>
            </a:r>
            <a:r>
              <a:rPr lang="es-PE" dirty="0" err="1">
                <a:latin typeface="Arial Narrow" panose="020B0606020202030204" pitchFamily="34" charset="0"/>
              </a:rPr>
              <a:t>W1</a:t>
            </a:r>
            <a:r>
              <a:rPr lang="es-PE" dirty="0">
                <a:latin typeface="Arial Narrow" panose="020B0606020202030204" pitchFamily="34" charset="0"/>
              </a:rPr>
              <a:t>         1.000000       1000.000000</a:t>
            </a:r>
          </a:p>
          <a:p>
            <a:r>
              <a:rPr lang="es-PE" dirty="0">
                <a:latin typeface="Arial Narrow" panose="020B0606020202030204" pitchFamily="34" charset="0"/>
              </a:rPr>
              <a:t>        </a:t>
            </a:r>
            <a:r>
              <a:rPr lang="es-PE" dirty="0" err="1">
                <a:latin typeface="Arial Narrow" panose="020B0606020202030204" pitchFamily="34" charset="0"/>
              </a:rPr>
              <a:t>W2</a:t>
            </a:r>
            <a:r>
              <a:rPr lang="es-PE" dirty="0">
                <a:latin typeface="Arial Narrow" panose="020B0606020202030204" pitchFamily="34" charset="0"/>
              </a:rPr>
              <a:t>         0.000000      -1150.000000</a:t>
            </a:r>
          </a:p>
          <a:p>
            <a:r>
              <a:rPr lang="es-PE" dirty="0">
                <a:latin typeface="Arial Narrow" panose="020B0606020202030204" pitchFamily="34" charset="0"/>
              </a:rPr>
              <a:t>        </a:t>
            </a:r>
            <a:r>
              <a:rPr lang="es-PE" dirty="0" err="1">
                <a:latin typeface="Arial Narrow" panose="020B0606020202030204" pitchFamily="34" charset="0"/>
              </a:rPr>
              <a:t>W3</a:t>
            </a:r>
            <a:r>
              <a:rPr lang="es-PE" dirty="0">
                <a:latin typeface="Arial Narrow" panose="020B0606020202030204" pitchFamily="34" charset="0"/>
              </a:rPr>
              <a:t>         0.000000       1150.000000</a:t>
            </a:r>
          </a:p>
          <a:p>
            <a:r>
              <a:rPr lang="es-PE" dirty="0">
                <a:latin typeface="Arial Narrow" panose="020B0606020202030204" pitchFamily="34" charset="0"/>
              </a:rPr>
              <a:t>        </a:t>
            </a:r>
            <a:r>
              <a:rPr lang="es-PE" dirty="0" err="1">
                <a:latin typeface="Arial Narrow" panose="020B0606020202030204" pitchFamily="34" charset="0"/>
              </a:rPr>
              <a:t>W4</a:t>
            </a:r>
            <a:r>
              <a:rPr lang="es-PE" dirty="0">
                <a:latin typeface="Arial Narrow" panose="020B0606020202030204" pitchFamily="34" charset="0"/>
              </a:rPr>
              <a:t>         0.000000      -1000.000000</a:t>
            </a:r>
          </a:p>
          <a:p>
            <a:r>
              <a:rPr lang="es-PE" dirty="0">
                <a:latin typeface="Arial Narrow" panose="020B0606020202030204" pitchFamily="34" charset="0"/>
              </a:rPr>
              <a:t>        </a:t>
            </a:r>
            <a:r>
              <a:rPr lang="es-PE" dirty="0" err="1">
                <a:latin typeface="Arial Narrow" panose="020B0606020202030204" pitchFamily="34" charset="0"/>
              </a:rPr>
              <a:t>Y1</a:t>
            </a:r>
            <a:r>
              <a:rPr lang="es-PE" dirty="0">
                <a:latin typeface="Arial Narrow" panose="020B0606020202030204" pitchFamily="34" charset="0"/>
              </a:rPr>
              <a:t>         6.000000          0.000000</a:t>
            </a:r>
          </a:p>
          <a:p>
            <a:r>
              <a:rPr lang="es-PE" dirty="0">
                <a:latin typeface="Arial Narrow" panose="020B0606020202030204" pitchFamily="34" charset="0"/>
              </a:rPr>
              <a:t>        </a:t>
            </a:r>
            <a:r>
              <a:rPr lang="es-PE" dirty="0" err="1">
                <a:latin typeface="Arial Narrow" panose="020B0606020202030204" pitchFamily="34" charset="0"/>
              </a:rPr>
              <a:t>Y2</a:t>
            </a:r>
            <a:r>
              <a:rPr lang="es-PE" dirty="0">
                <a:latin typeface="Arial Narrow" panose="020B0606020202030204" pitchFamily="34" charset="0"/>
              </a:rPr>
              <a:t>         0.000000          0.000000</a:t>
            </a:r>
          </a:p>
          <a:p>
            <a:r>
              <a:rPr lang="es-PE" dirty="0">
                <a:latin typeface="Arial Narrow" panose="020B0606020202030204" pitchFamily="34" charset="0"/>
              </a:rPr>
              <a:t>        </a:t>
            </a:r>
            <a:r>
              <a:rPr lang="es-PE" dirty="0" err="1">
                <a:latin typeface="Arial Narrow" panose="020B0606020202030204" pitchFamily="34" charset="0"/>
              </a:rPr>
              <a:t>Y3</a:t>
            </a:r>
            <a:r>
              <a:rPr lang="es-PE" dirty="0">
                <a:latin typeface="Arial Narrow" panose="020B0606020202030204" pitchFamily="34" charset="0"/>
              </a:rPr>
              <a:t>         0.000000          0.000000</a:t>
            </a:r>
          </a:p>
          <a:p>
            <a:r>
              <a:rPr lang="es-PE" dirty="0">
                <a:latin typeface="Arial Narrow" panose="020B0606020202030204" pitchFamily="34" charset="0"/>
              </a:rPr>
              <a:t>        </a:t>
            </a:r>
            <a:r>
              <a:rPr lang="es-PE" dirty="0" err="1">
                <a:latin typeface="Arial Narrow" panose="020B0606020202030204" pitchFamily="34" charset="0"/>
              </a:rPr>
              <a:t>Y4</a:t>
            </a:r>
            <a:r>
              <a:rPr lang="es-PE" dirty="0">
                <a:latin typeface="Arial Narrow" panose="020B0606020202030204" pitchFamily="34" charset="0"/>
              </a:rPr>
              <a:t>         0.000000          0.000000</a:t>
            </a:r>
          </a:p>
        </p:txBody>
      </p:sp>
      <p:pic>
        <p:nvPicPr>
          <p:cNvPr id="2" name="Imagen 1">
            <a:extLst>
              <a:ext uri="{FF2B5EF4-FFF2-40B4-BE49-F238E27FC236}">
                <a16:creationId xmlns:a16="http://schemas.microsoft.com/office/drawing/2014/main" id="{F308D12F-6BBF-26ED-77CB-FDD73833FC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1332" y="3769741"/>
            <a:ext cx="1217762" cy="1416820"/>
          </a:xfrm>
          <a:prstGeom prst="rect">
            <a:avLst/>
          </a:prstGeom>
        </p:spPr>
      </p:pic>
    </p:spTree>
    <p:extLst>
      <p:ext uri="{BB962C8B-B14F-4D97-AF65-F5344CB8AC3E}">
        <p14:creationId xmlns:p14="http://schemas.microsoft.com/office/powerpoint/2010/main" val="139434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44004" y="1340769"/>
            <a:ext cx="9739222" cy="1015663"/>
          </a:xfrm>
          <a:prstGeom prst="rect">
            <a:avLst/>
          </a:prstGeom>
        </p:spPr>
        <p:txBody>
          <a:bodyPr wrap="square">
            <a:spAutoFit/>
          </a:bodyPr>
          <a:lstStyle/>
          <a:p>
            <a:pPr algn="just"/>
            <a:r>
              <a:rPr lang="es-PE" sz="2000" dirty="0" err="1">
                <a:latin typeface="Arial Narrow" panose="020B0606020202030204" pitchFamily="34" charset="0"/>
              </a:rPr>
              <a:t>SCOTIABANK</a:t>
            </a:r>
            <a:r>
              <a:rPr lang="es-PE" sz="2000" dirty="0">
                <a:latin typeface="Arial Narrow" panose="020B0606020202030204" pitchFamily="34" charset="0"/>
              </a:rPr>
              <a:t>, es una institución que brinda una gran cantidad de servicios. Está en proceso de formular una política de préstamos que incluyen un máximo de S/. 120000. La siguiente tabla proporciona los datos pertinentes acerca de los diferentes tipos de préstamos que ofrece el banco.</a:t>
            </a:r>
          </a:p>
        </p:txBody>
      </p:sp>
      <p:sp>
        <p:nvSpPr>
          <p:cNvPr id="4" name="3 Rectángulo"/>
          <p:cNvSpPr/>
          <p:nvPr/>
        </p:nvSpPr>
        <p:spPr>
          <a:xfrm>
            <a:off x="591629" y="4327032"/>
            <a:ext cx="9739222" cy="2246769"/>
          </a:xfrm>
          <a:prstGeom prst="rect">
            <a:avLst/>
          </a:prstGeom>
        </p:spPr>
        <p:txBody>
          <a:bodyPr wrap="square">
            <a:spAutoFit/>
          </a:bodyPr>
          <a:lstStyle/>
          <a:p>
            <a:pPr algn="just"/>
            <a:r>
              <a:rPr lang="es-PE" sz="2000" dirty="0">
                <a:latin typeface="Arial Narrow" panose="020B0606020202030204" pitchFamily="34" charset="0"/>
              </a:rPr>
              <a:t>Los malos créditos son irrecuperables y, por lo tanto, no produce ningún ingreso por interés. La competencia con otras entidades bancarias de la zona, requiere que el banco asigne por lo menos el 40% de los fondos a préstamos agrícolas y comerciales. Para ayudar a la industria de vivienda, los préstamos para vivienda deben ser equivalentes por lo menos a 50% de los préstamos personales, para automóvil y para viviendas. El banco también ha declarado una política de que la razón total de los malos créditos en todos los préstamos no puede exceder del 4%. Formule el problema como un modelo de programación lineal.</a:t>
            </a:r>
          </a:p>
        </p:txBody>
      </p:sp>
      <p:sp>
        <p:nvSpPr>
          <p:cNvPr id="5" name="Rectangle 2"/>
          <p:cNvSpPr>
            <a:spLocks noGrp="1" noChangeArrowheads="1"/>
          </p:cNvSpPr>
          <p:nvPr>
            <p:ph type="title"/>
          </p:nvPr>
        </p:nvSpPr>
        <p:spPr>
          <a:xfrm>
            <a:off x="6096000" y="234035"/>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23</a:t>
            </a:r>
          </a:p>
        </p:txBody>
      </p:sp>
      <p:pic>
        <p:nvPicPr>
          <p:cNvPr id="7" name="Imagen 6">
            <a:extLst>
              <a:ext uri="{FF2B5EF4-FFF2-40B4-BE49-F238E27FC236}">
                <a16:creationId xmlns:a16="http://schemas.microsoft.com/office/drawing/2014/main" id="{4698267E-D3E1-4E81-996E-6528A9F5C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5638" y="2476499"/>
            <a:ext cx="1785938" cy="1785938"/>
          </a:xfrm>
          <a:prstGeom prst="rect">
            <a:avLst/>
          </a:prstGeom>
        </p:spPr>
      </p:pic>
      <p:graphicFrame>
        <p:nvGraphicFramePr>
          <p:cNvPr id="8" name="2 Tabla">
            <a:extLst>
              <a:ext uri="{FF2B5EF4-FFF2-40B4-BE49-F238E27FC236}">
                <a16:creationId xmlns:a16="http://schemas.microsoft.com/office/drawing/2014/main" id="{C99A19D6-DE14-43C6-8B44-5E8A4D69072D}"/>
              </a:ext>
            </a:extLst>
          </p:cNvPr>
          <p:cNvGraphicFramePr>
            <a:graphicFrameLocks noGrp="1"/>
          </p:cNvGraphicFramePr>
          <p:nvPr/>
        </p:nvGraphicFramePr>
        <p:xfrm>
          <a:off x="633412" y="2531331"/>
          <a:ext cx="5138738" cy="1795338"/>
        </p:xfrm>
        <a:graphic>
          <a:graphicData uri="http://schemas.openxmlformats.org/drawingml/2006/table">
            <a:tbl>
              <a:tblPr firstRow="1" firstCol="1" bandRow="1" bandCol="1">
                <a:tableStyleId>{5C22544A-7EE6-4342-B048-85BDC9FD1C3A}</a:tableStyleId>
              </a:tblPr>
              <a:tblGrid>
                <a:gridCol w="1481138">
                  <a:extLst>
                    <a:ext uri="{9D8B030D-6E8A-4147-A177-3AD203B41FA5}">
                      <a16:colId xmlns:a16="http://schemas.microsoft.com/office/drawing/2014/main" val="20000"/>
                    </a:ext>
                  </a:extLst>
                </a:gridCol>
                <a:gridCol w="1266825">
                  <a:extLst>
                    <a:ext uri="{9D8B030D-6E8A-4147-A177-3AD203B41FA5}">
                      <a16:colId xmlns:a16="http://schemas.microsoft.com/office/drawing/2014/main" val="20001"/>
                    </a:ext>
                  </a:extLst>
                </a:gridCol>
                <a:gridCol w="2390775">
                  <a:extLst>
                    <a:ext uri="{9D8B030D-6E8A-4147-A177-3AD203B41FA5}">
                      <a16:colId xmlns:a16="http://schemas.microsoft.com/office/drawing/2014/main" val="20002"/>
                    </a:ext>
                  </a:extLst>
                </a:gridCol>
              </a:tblGrid>
              <a:tr h="299223">
                <a:tc>
                  <a:txBody>
                    <a:bodyPr/>
                    <a:lstStyle/>
                    <a:p>
                      <a:pPr algn="ctr">
                        <a:lnSpc>
                          <a:spcPct val="150000"/>
                        </a:lnSpc>
                        <a:spcAft>
                          <a:spcPts val="0"/>
                        </a:spcAft>
                      </a:pPr>
                      <a:r>
                        <a:rPr lang="es-PE" sz="1400" dirty="0">
                          <a:effectLst/>
                        </a:rPr>
                        <a:t>Tipo de Préstamo</a:t>
                      </a:r>
                      <a:endParaRPr lang="es-PE" sz="1400" dirty="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Tasa de Interés</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Probabilidad de un mal Crédito</a:t>
                      </a:r>
                      <a:endParaRPr lang="es-PE" sz="1400">
                        <a:effectLst/>
                        <a:latin typeface="Times New Roman"/>
                        <a:ea typeface="Calibri"/>
                      </a:endParaRPr>
                    </a:p>
                  </a:txBody>
                  <a:tcPr marL="44450" marR="44450" marT="0" marB="0" anchor="ctr"/>
                </a:tc>
                <a:extLst>
                  <a:ext uri="{0D108BD9-81ED-4DB2-BD59-A6C34878D82A}">
                    <a16:rowId xmlns:a16="http://schemas.microsoft.com/office/drawing/2014/main" val="10000"/>
                  </a:ext>
                </a:extLst>
              </a:tr>
              <a:tr h="299223">
                <a:tc>
                  <a:txBody>
                    <a:bodyPr/>
                    <a:lstStyle/>
                    <a:p>
                      <a:pPr algn="just">
                        <a:lnSpc>
                          <a:spcPct val="150000"/>
                        </a:lnSpc>
                        <a:spcAft>
                          <a:spcPts val="0"/>
                        </a:spcAft>
                      </a:pPr>
                      <a:r>
                        <a:rPr lang="es-PE" sz="1400">
                          <a:effectLst/>
                        </a:rPr>
                        <a:t>Personal</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14.0%</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dirty="0">
                          <a:effectLst/>
                        </a:rPr>
                        <a:t>10.0%</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10001"/>
                  </a:ext>
                </a:extLst>
              </a:tr>
              <a:tr h="299223">
                <a:tc>
                  <a:txBody>
                    <a:bodyPr/>
                    <a:lstStyle/>
                    <a:p>
                      <a:pPr algn="just">
                        <a:lnSpc>
                          <a:spcPct val="150000"/>
                        </a:lnSpc>
                        <a:spcAft>
                          <a:spcPts val="0"/>
                        </a:spcAft>
                      </a:pPr>
                      <a:r>
                        <a:rPr lang="es-PE" sz="1400">
                          <a:effectLst/>
                        </a:rPr>
                        <a:t>Automóvil</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13.0%</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7.0%</a:t>
                      </a:r>
                      <a:endParaRPr lang="es-PE" sz="1400">
                        <a:effectLst/>
                        <a:latin typeface="Times New Roman"/>
                        <a:ea typeface="Calibri"/>
                      </a:endParaRPr>
                    </a:p>
                  </a:txBody>
                  <a:tcPr marL="44450" marR="44450" marT="0" marB="0" anchor="ctr"/>
                </a:tc>
                <a:extLst>
                  <a:ext uri="{0D108BD9-81ED-4DB2-BD59-A6C34878D82A}">
                    <a16:rowId xmlns:a16="http://schemas.microsoft.com/office/drawing/2014/main" val="10002"/>
                  </a:ext>
                </a:extLst>
              </a:tr>
              <a:tr h="299223">
                <a:tc>
                  <a:txBody>
                    <a:bodyPr/>
                    <a:lstStyle/>
                    <a:p>
                      <a:pPr algn="just">
                        <a:lnSpc>
                          <a:spcPct val="150000"/>
                        </a:lnSpc>
                        <a:spcAft>
                          <a:spcPts val="0"/>
                        </a:spcAft>
                      </a:pPr>
                      <a:r>
                        <a:rPr lang="es-PE" sz="1400">
                          <a:effectLst/>
                        </a:rPr>
                        <a:t>Vivienda</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12.0%</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3.0%</a:t>
                      </a:r>
                      <a:endParaRPr lang="es-PE" sz="1400">
                        <a:effectLst/>
                        <a:latin typeface="Times New Roman"/>
                        <a:ea typeface="Calibri"/>
                      </a:endParaRPr>
                    </a:p>
                  </a:txBody>
                  <a:tcPr marL="44450" marR="44450" marT="0" marB="0" anchor="ctr"/>
                </a:tc>
                <a:extLst>
                  <a:ext uri="{0D108BD9-81ED-4DB2-BD59-A6C34878D82A}">
                    <a16:rowId xmlns:a16="http://schemas.microsoft.com/office/drawing/2014/main" val="10003"/>
                  </a:ext>
                </a:extLst>
              </a:tr>
              <a:tr h="299223">
                <a:tc>
                  <a:txBody>
                    <a:bodyPr/>
                    <a:lstStyle/>
                    <a:p>
                      <a:pPr algn="just">
                        <a:lnSpc>
                          <a:spcPct val="150000"/>
                        </a:lnSpc>
                        <a:spcAft>
                          <a:spcPts val="0"/>
                        </a:spcAft>
                      </a:pPr>
                      <a:r>
                        <a:rPr lang="es-PE" sz="1400">
                          <a:effectLst/>
                        </a:rPr>
                        <a:t>Agrícola</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12.5%</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5.0%</a:t>
                      </a:r>
                      <a:endParaRPr lang="es-PE" sz="1400">
                        <a:effectLst/>
                        <a:latin typeface="Times New Roman"/>
                        <a:ea typeface="Calibri"/>
                      </a:endParaRPr>
                    </a:p>
                  </a:txBody>
                  <a:tcPr marL="44450" marR="44450" marT="0" marB="0" anchor="ctr"/>
                </a:tc>
                <a:extLst>
                  <a:ext uri="{0D108BD9-81ED-4DB2-BD59-A6C34878D82A}">
                    <a16:rowId xmlns:a16="http://schemas.microsoft.com/office/drawing/2014/main" val="10004"/>
                  </a:ext>
                </a:extLst>
              </a:tr>
              <a:tr h="299223">
                <a:tc>
                  <a:txBody>
                    <a:bodyPr/>
                    <a:lstStyle/>
                    <a:p>
                      <a:pPr algn="just">
                        <a:lnSpc>
                          <a:spcPct val="150000"/>
                        </a:lnSpc>
                        <a:spcAft>
                          <a:spcPts val="0"/>
                        </a:spcAft>
                      </a:pPr>
                      <a:r>
                        <a:rPr lang="es-PE" sz="1400">
                          <a:effectLst/>
                        </a:rPr>
                        <a:t>Comercial</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10.0%</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dirty="0">
                          <a:effectLst/>
                        </a:rPr>
                        <a:t>2.0%</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294923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Tabla"/>
          <p:cNvGraphicFramePr>
            <a:graphicFrameLocks noGrp="1"/>
          </p:cNvGraphicFramePr>
          <p:nvPr/>
        </p:nvGraphicFramePr>
        <p:xfrm>
          <a:off x="633412" y="2531331"/>
          <a:ext cx="5138738" cy="1795338"/>
        </p:xfrm>
        <a:graphic>
          <a:graphicData uri="http://schemas.openxmlformats.org/drawingml/2006/table">
            <a:tbl>
              <a:tblPr firstRow="1" firstCol="1" bandRow="1" bandCol="1">
                <a:tableStyleId>{5C22544A-7EE6-4342-B048-85BDC9FD1C3A}</a:tableStyleId>
              </a:tblPr>
              <a:tblGrid>
                <a:gridCol w="1481138">
                  <a:extLst>
                    <a:ext uri="{9D8B030D-6E8A-4147-A177-3AD203B41FA5}">
                      <a16:colId xmlns:a16="http://schemas.microsoft.com/office/drawing/2014/main" val="20000"/>
                    </a:ext>
                  </a:extLst>
                </a:gridCol>
                <a:gridCol w="1266825">
                  <a:extLst>
                    <a:ext uri="{9D8B030D-6E8A-4147-A177-3AD203B41FA5}">
                      <a16:colId xmlns:a16="http://schemas.microsoft.com/office/drawing/2014/main" val="20001"/>
                    </a:ext>
                  </a:extLst>
                </a:gridCol>
                <a:gridCol w="2390775">
                  <a:extLst>
                    <a:ext uri="{9D8B030D-6E8A-4147-A177-3AD203B41FA5}">
                      <a16:colId xmlns:a16="http://schemas.microsoft.com/office/drawing/2014/main" val="20002"/>
                    </a:ext>
                  </a:extLst>
                </a:gridCol>
              </a:tblGrid>
              <a:tr h="299223">
                <a:tc>
                  <a:txBody>
                    <a:bodyPr/>
                    <a:lstStyle/>
                    <a:p>
                      <a:pPr algn="ctr">
                        <a:lnSpc>
                          <a:spcPct val="150000"/>
                        </a:lnSpc>
                        <a:spcAft>
                          <a:spcPts val="0"/>
                        </a:spcAft>
                      </a:pPr>
                      <a:r>
                        <a:rPr lang="es-PE" sz="1400" dirty="0">
                          <a:effectLst/>
                        </a:rPr>
                        <a:t>Tipo de Préstamo</a:t>
                      </a:r>
                      <a:endParaRPr lang="es-PE" sz="1400" dirty="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Tasa de Interés</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Probabilidad de un mal Crédito</a:t>
                      </a:r>
                      <a:endParaRPr lang="es-PE" sz="1400">
                        <a:effectLst/>
                        <a:latin typeface="Times New Roman"/>
                        <a:ea typeface="Calibri"/>
                      </a:endParaRPr>
                    </a:p>
                  </a:txBody>
                  <a:tcPr marL="44450" marR="44450" marT="0" marB="0" anchor="ctr"/>
                </a:tc>
                <a:extLst>
                  <a:ext uri="{0D108BD9-81ED-4DB2-BD59-A6C34878D82A}">
                    <a16:rowId xmlns:a16="http://schemas.microsoft.com/office/drawing/2014/main" val="10000"/>
                  </a:ext>
                </a:extLst>
              </a:tr>
              <a:tr h="299223">
                <a:tc>
                  <a:txBody>
                    <a:bodyPr/>
                    <a:lstStyle/>
                    <a:p>
                      <a:pPr algn="just">
                        <a:lnSpc>
                          <a:spcPct val="150000"/>
                        </a:lnSpc>
                        <a:spcAft>
                          <a:spcPts val="0"/>
                        </a:spcAft>
                      </a:pPr>
                      <a:r>
                        <a:rPr lang="es-PE" sz="1400" dirty="0">
                          <a:effectLst/>
                        </a:rPr>
                        <a:t>Personal          </a:t>
                      </a:r>
                      <a:r>
                        <a:rPr lang="es-PE" sz="1400" dirty="0" err="1">
                          <a:effectLst/>
                        </a:rPr>
                        <a:t>X1</a:t>
                      </a:r>
                      <a:endParaRPr lang="es-PE" sz="1400" dirty="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14.0%</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dirty="0">
                          <a:effectLst/>
                        </a:rPr>
                        <a:t>10.0%</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10001"/>
                  </a:ext>
                </a:extLst>
              </a:tr>
              <a:tr h="299223">
                <a:tc>
                  <a:txBody>
                    <a:bodyPr/>
                    <a:lstStyle/>
                    <a:p>
                      <a:pPr algn="just">
                        <a:lnSpc>
                          <a:spcPct val="150000"/>
                        </a:lnSpc>
                        <a:spcAft>
                          <a:spcPts val="0"/>
                        </a:spcAft>
                      </a:pPr>
                      <a:r>
                        <a:rPr lang="es-PE" sz="1400" dirty="0">
                          <a:effectLst/>
                        </a:rPr>
                        <a:t>Automóvil      </a:t>
                      </a:r>
                      <a:r>
                        <a:rPr lang="es-PE" sz="1400" dirty="0" err="1">
                          <a:effectLst/>
                        </a:rPr>
                        <a:t>X2</a:t>
                      </a:r>
                      <a:endParaRPr lang="es-PE" sz="1400" dirty="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13.0%</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7.0%</a:t>
                      </a:r>
                      <a:endParaRPr lang="es-PE" sz="1400">
                        <a:effectLst/>
                        <a:latin typeface="Times New Roman"/>
                        <a:ea typeface="Calibri"/>
                      </a:endParaRPr>
                    </a:p>
                  </a:txBody>
                  <a:tcPr marL="44450" marR="44450" marT="0" marB="0" anchor="ctr"/>
                </a:tc>
                <a:extLst>
                  <a:ext uri="{0D108BD9-81ED-4DB2-BD59-A6C34878D82A}">
                    <a16:rowId xmlns:a16="http://schemas.microsoft.com/office/drawing/2014/main" val="10002"/>
                  </a:ext>
                </a:extLst>
              </a:tr>
              <a:tr h="299223">
                <a:tc>
                  <a:txBody>
                    <a:bodyPr/>
                    <a:lstStyle/>
                    <a:p>
                      <a:pPr algn="just">
                        <a:lnSpc>
                          <a:spcPct val="150000"/>
                        </a:lnSpc>
                        <a:spcAft>
                          <a:spcPts val="0"/>
                        </a:spcAft>
                      </a:pPr>
                      <a:r>
                        <a:rPr lang="es-PE" sz="1400" dirty="0">
                          <a:effectLst/>
                        </a:rPr>
                        <a:t>Vivienda         </a:t>
                      </a:r>
                      <a:r>
                        <a:rPr lang="es-PE" sz="1400" dirty="0" err="1">
                          <a:effectLst/>
                        </a:rPr>
                        <a:t>X3</a:t>
                      </a:r>
                      <a:endParaRPr lang="es-PE" sz="1400" dirty="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12.0%</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3.0%</a:t>
                      </a:r>
                      <a:endParaRPr lang="es-PE" sz="1400">
                        <a:effectLst/>
                        <a:latin typeface="Times New Roman"/>
                        <a:ea typeface="Calibri"/>
                      </a:endParaRPr>
                    </a:p>
                  </a:txBody>
                  <a:tcPr marL="44450" marR="44450" marT="0" marB="0" anchor="ctr"/>
                </a:tc>
                <a:extLst>
                  <a:ext uri="{0D108BD9-81ED-4DB2-BD59-A6C34878D82A}">
                    <a16:rowId xmlns:a16="http://schemas.microsoft.com/office/drawing/2014/main" val="10003"/>
                  </a:ext>
                </a:extLst>
              </a:tr>
              <a:tr h="299223">
                <a:tc>
                  <a:txBody>
                    <a:bodyPr/>
                    <a:lstStyle/>
                    <a:p>
                      <a:pPr algn="just">
                        <a:lnSpc>
                          <a:spcPct val="150000"/>
                        </a:lnSpc>
                        <a:spcAft>
                          <a:spcPts val="0"/>
                        </a:spcAft>
                      </a:pPr>
                      <a:r>
                        <a:rPr lang="es-PE" sz="1400" dirty="0">
                          <a:effectLst/>
                        </a:rPr>
                        <a:t>Agrícola          </a:t>
                      </a:r>
                      <a:r>
                        <a:rPr lang="es-PE" sz="1400" dirty="0" err="1">
                          <a:effectLst/>
                        </a:rPr>
                        <a:t>X4</a:t>
                      </a:r>
                      <a:endParaRPr lang="es-PE" sz="1400" dirty="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12.5%</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5.0%</a:t>
                      </a:r>
                      <a:endParaRPr lang="es-PE" sz="1400">
                        <a:effectLst/>
                        <a:latin typeface="Times New Roman"/>
                        <a:ea typeface="Calibri"/>
                      </a:endParaRPr>
                    </a:p>
                  </a:txBody>
                  <a:tcPr marL="44450" marR="44450" marT="0" marB="0" anchor="ctr"/>
                </a:tc>
                <a:extLst>
                  <a:ext uri="{0D108BD9-81ED-4DB2-BD59-A6C34878D82A}">
                    <a16:rowId xmlns:a16="http://schemas.microsoft.com/office/drawing/2014/main" val="10004"/>
                  </a:ext>
                </a:extLst>
              </a:tr>
              <a:tr h="299223">
                <a:tc>
                  <a:txBody>
                    <a:bodyPr/>
                    <a:lstStyle/>
                    <a:p>
                      <a:pPr algn="just">
                        <a:lnSpc>
                          <a:spcPct val="150000"/>
                        </a:lnSpc>
                        <a:spcAft>
                          <a:spcPts val="0"/>
                        </a:spcAft>
                      </a:pPr>
                      <a:r>
                        <a:rPr lang="es-PE" sz="1400" dirty="0">
                          <a:effectLst/>
                        </a:rPr>
                        <a:t>Comercial      </a:t>
                      </a:r>
                      <a:r>
                        <a:rPr lang="es-PE" sz="1400" dirty="0" err="1">
                          <a:effectLst/>
                        </a:rPr>
                        <a:t>X5</a:t>
                      </a:r>
                      <a:endParaRPr lang="es-PE" sz="1400" dirty="0">
                        <a:effectLst/>
                        <a:latin typeface="Times New Roman"/>
                        <a:ea typeface="Calibri"/>
                      </a:endParaRPr>
                    </a:p>
                  </a:txBody>
                  <a:tcPr marL="44450" marR="44450" marT="0" marB="0" anchor="ctr"/>
                </a:tc>
                <a:tc>
                  <a:txBody>
                    <a:bodyPr/>
                    <a:lstStyle/>
                    <a:p>
                      <a:pPr algn="ctr">
                        <a:lnSpc>
                          <a:spcPct val="150000"/>
                        </a:lnSpc>
                        <a:spcAft>
                          <a:spcPts val="0"/>
                        </a:spcAft>
                      </a:pPr>
                      <a:r>
                        <a:rPr lang="es-PE" sz="1400">
                          <a:effectLst/>
                        </a:rPr>
                        <a:t>10.0%</a:t>
                      </a:r>
                      <a:endParaRPr lang="es-PE" sz="1400">
                        <a:effectLst/>
                        <a:latin typeface="Times New Roman"/>
                        <a:ea typeface="Calibri"/>
                      </a:endParaRPr>
                    </a:p>
                  </a:txBody>
                  <a:tcPr marL="44450" marR="44450" marT="0" marB="0" anchor="ctr"/>
                </a:tc>
                <a:tc>
                  <a:txBody>
                    <a:bodyPr/>
                    <a:lstStyle/>
                    <a:p>
                      <a:pPr algn="ctr">
                        <a:lnSpc>
                          <a:spcPct val="150000"/>
                        </a:lnSpc>
                        <a:spcAft>
                          <a:spcPts val="0"/>
                        </a:spcAft>
                      </a:pPr>
                      <a:r>
                        <a:rPr lang="es-PE" sz="1400" dirty="0">
                          <a:effectLst/>
                        </a:rPr>
                        <a:t>2.0%</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10005"/>
                  </a:ext>
                </a:extLst>
              </a:tr>
            </a:tbl>
          </a:graphicData>
        </a:graphic>
      </p:graphicFrame>
      <p:sp>
        <p:nvSpPr>
          <p:cNvPr id="5" name="Rectangle 2"/>
          <p:cNvSpPr>
            <a:spLocks noGrp="1" noChangeArrowheads="1"/>
          </p:cNvSpPr>
          <p:nvPr>
            <p:ph type="title"/>
          </p:nvPr>
        </p:nvSpPr>
        <p:spPr>
          <a:xfrm>
            <a:off x="6096000" y="234035"/>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23</a:t>
            </a:r>
          </a:p>
        </p:txBody>
      </p:sp>
      <p:sp>
        <p:nvSpPr>
          <p:cNvPr id="8" name="Rectángulo 7">
            <a:extLst>
              <a:ext uri="{FF2B5EF4-FFF2-40B4-BE49-F238E27FC236}">
                <a16:creationId xmlns:a16="http://schemas.microsoft.com/office/drawing/2014/main" id="{08156431-884A-4503-9511-E0ACB6629D48}"/>
              </a:ext>
            </a:extLst>
          </p:cNvPr>
          <p:cNvSpPr/>
          <p:nvPr/>
        </p:nvSpPr>
        <p:spPr>
          <a:xfrm>
            <a:off x="633413" y="4568364"/>
            <a:ext cx="5138738" cy="1477328"/>
          </a:xfrm>
          <a:prstGeom prst="rect">
            <a:avLst/>
          </a:prstGeom>
        </p:spPr>
        <p:txBody>
          <a:bodyPr wrap="square">
            <a:spAutoFit/>
          </a:bodyPr>
          <a:lstStyle/>
          <a:p>
            <a:pPr lvl="0" algn="just" eaLnBrk="0" fontAlgn="base" hangingPunct="0">
              <a:spcBef>
                <a:spcPct val="0"/>
              </a:spcBef>
              <a:spcAft>
                <a:spcPct val="0"/>
              </a:spcAft>
            </a:pPr>
            <a:r>
              <a:rPr lang="es-PE" dirty="0">
                <a:latin typeface="Arial Narrow" panose="020B0606020202030204" pitchFamily="34" charset="0"/>
                <a:ea typeface="Calibri" pitchFamily="34" charset="0"/>
                <a:cs typeface="Arial" pitchFamily="34" charset="0"/>
              </a:rPr>
              <a:t>El interés obtenido por un tipo de préstamos es igual a la tasas de interés de préstamos, multiplicando por el monto esperado de un buen crédito.    </a:t>
            </a:r>
            <a:r>
              <a:rPr lang="es-PE" b="1" dirty="0">
                <a:solidFill>
                  <a:srgbClr val="FF0000"/>
                </a:solidFill>
                <a:latin typeface="Arial Narrow" panose="020B0606020202030204" pitchFamily="34" charset="0"/>
                <a:ea typeface="Calibri" pitchFamily="34" charset="0"/>
                <a:cs typeface="Arial" pitchFamily="34" charset="0"/>
              </a:rPr>
              <a:t>I = </a:t>
            </a:r>
            <a:r>
              <a:rPr lang="es-PE" b="1" dirty="0" err="1">
                <a:solidFill>
                  <a:srgbClr val="FF0000"/>
                </a:solidFill>
                <a:latin typeface="Arial Narrow" panose="020B0606020202030204" pitchFamily="34" charset="0"/>
                <a:ea typeface="Calibri" pitchFamily="34" charset="0"/>
                <a:cs typeface="Arial" pitchFamily="34" charset="0"/>
              </a:rPr>
              <a:t>C.i.t</a:t>
            </a:r>
            <a:endParaRPr lang="es-PE" b="1" dirty="0">
              <a:solidFill>
                <a:srgbClr val="FF0000"/>
              </a:solidFill>
              <a:latin typeface="Arial Narrow" panose="020B0606020202030204" pitchFamily="34" charset="0"/>
              <a:ea typeface="Calibri" pitchFamily="34" charset="0"/>
              <a:cs typeface="Arial" pitchFamily="34" charset="0"/>
            </a:endParaRPr>
          </a:p>
          <a:p>
            <a:pPr lvl="0" algn="just" eaLnBrk="0" fontAlgn="base" hangingPunct="0">
              <a:spcBef>
                <a:spcPct val="0"/>
              </a:spcBef>
              <a:spcAft>
                <a:spcPct val="0"/>
              </a:spcAft>
            </a:pPr>
            <a:r>
              <a:rPr lang="es-PE" dirty="0">
                <a:latin typeface="Arial Narrow" panose="020B0606020202030204" pitchFamily="34" charset="0"/>
                <a:ea typeface="Calibri" pitchFamily="34" charset="0"/>
                <a:cs typeface="Arial" pitchFamily="34" charset="0"/>
              </a:rPr>
              <a:t>Los malos créditos son pérdidas que afectan a la Función Objetivo.</a:t>
            </a:r>
            <a:endParaRPr lang="es-PE" dirty="0">
              <a:latin typeface="Arial Narrow" panose="020B0606020202030204" pitchFamily="34" charset="0"/>
              <a:cs typeface="Arial" pitchFamily="34" charset="0"/>
            </a:endParaRPr>
          </a:p>
        </p:txBody>
      </p:sp>
      <p:sp>
        <p:nvSpPr>
          <p:cNvPr id="9" name="3 Rectángulo">
            <a:extLst>
              <a:ext uri="{FF2B5EF4-FFF2-40B4-BE49-F238E27FC236}">
                <a16:creationId xmlns:a16="http://schemas.microsoft.com/office/drawing/2014/main" id="{7755A357-02CA-463A-8DC4-7548BACEE0B5}"/>
              </a:ext>
            </a:extLst>
          </p:cNvPr>
          <p:cNvSpPr/>
          <p:nvPr/>
        </p:nvSpPr>
        <p:spPr>
          <a:xfrm>
            <a:off x="5905499" y="1330103"/>
            <a:ext cx="6096000" cy="5262979"/>
          </a:xfrm>
          <a:prstGeom prst="rect">
            <a:avLst/>
          </a:prstGeom>
        </p:spPr>
        <p:txBody>
          <a:bodyPr wrap="square">
            <a:spAutoFit/>
          </a:bodyPr>
          <a:lstStyle/>
          <a:p>
            <a:pPr marL="400050" indent="-400050" algn="just" fontAlgn="base">
              <a:spcBef>
                <a:spcPct val="0"/>
              </a:spcBef>
              <a:spcAft>
                <a:spcPct val="0"/>
              </a:spcAft>
              <a:buAutoNum type="romanUcPeriod"/>
            </a:pPr>
            <a:r>
              <a:rPr lang="es-PE" sz="2400" dirty="0">
                <a:solidFill>
                  <a:srgbClr val="FF0000"/>
                </a:solidFill>
                <a:latin typeface="Arial Narrow" panose="020B0606020202030204" pitchFamily="34" charset="0"/>
                <a:ea typeface="Calibri" pitchFamily="34" charset="0"/>
                <a:cs typeface="Arial" pitchFamily="34" charset="0"/>
              </a:rPr>
              <a:t>Identificación de variables</a:t>
            </a:r>
          </a:p>
          <a:p>
            <a:pPr marL="449263" algn="just" fontAlgn="base">
              <a:spcBef>
                <a:spcPct val="0"/>
              </a:spcBef>
              <a:spcAft>
                <a:spcPct val="0"/>
              </a:spcAft>
            </a:pPr>
            <a:r>
              <a:rPr lang="es-PE" sz="2400" dirty="0">
                <a:latin typeface="Arial Narrow" panose="020B0606020202030204" pitchFamily="34" charset="0"/>
                <a:ea typeface="Calibri" pitchFamily="34" charset="0"/>
                <a:cs typeface="Arial" pitchFamily="34" charset="0"/>
              </a:rPr>
              <a:t>Xi =Soles destinados a los préstamos tipo i</a:t>
            </a:r>
          </a:p>
          <a:p>
            <a:pPr marL="449263" indent="-449263" algn="just" fontAlgn="base">
              <a:spcBef>
                <a:spcPct val="0"/>
              </a:spcBef>
              <a:spcAft>
                <a:spcPct val="0"/>
              </a:spcAft>
              <a:buAutoNum type="romanUcPeriod" startAt="2"/>
            </a:pPr>
            <a:r>
              <a:rPr lang="es-PE" sz="2400" dirty="0">
                <a:solidFill>
                  <a:srgbClr val="FF0000"/>
                </a:solidFill>
                <a:latin typeface="Arial Narrow" panose="020B0606020202030204" pitchFamily="34" charset="0"/>
                <a:ea typeface="Calibri" pitchFamily="34" charset="0"/>
                <a:cs typeface="Arial" pitchFamily="34" charset="0"/>
              </a:rPr>
              <a:t>Identificación de la Función Objetivo</a:t>
            </a:r>
            <a:endParaRPr lang="es-PE" sz="2400" dirty="0">
              <a:solidFill>
                <a:srgbClr val="FF0000"/>
              </a:solidFill>
              <a:latin typeface="Arial Narrow" panose="020B0606020202030204" pitchFamily="34" charset="0"/>
              <a:cs typeface="Arial" pitchFamily="34" charset="0"/>
            </a:endParaRPr>
          </a:p>
          <a:p>
            <a:pPr marL="449263" indent="-449263" algn="just" fontAlgn="base">
              <a:spcBef>
                <a:spcPct val="0"/>
              </a:spcBef>
              <a:spcAft>
                <a:spcPct val="0"/>
              </a:spcAft>
            </a:pPr>
            <a:r>
              <a:rPr lang="en-US" sz="2400" dirty="0">
                <a:latin typeface="Arial Narrow" panose="020B0606020202030204" pitchFamily="34" charset="0"/>
                <a:ea typeface="Calibri" pitchFamily="34" charset="0"/>
                <a:cs typeface="Arial" pitchFamily="34" charset="0"/>
              </a:rPr>
              <a:t>	MAX 14%(90%)</a:t>
            </a:r>
            <a:r>
              <a:rPr lang="en-US" sz="2400" dirty="0" err="1">
                <a:latin typeface="Arial Narrow" panose="020B0606020202030204" pitchFamily="34" charset="0"/>
                <a:ea typeface="Calibri" pitchFamily="34" charset="0"/>
                <a:cs typeface="Arial" pitchFamily="34" charset="0"/>
              </a:rPr>
              <a:t>X1+13</a:t>
            </a:r>
            <a:r>
              <a:rPr lang="en-US" sz="2400" dirty="0">
                <a:latin typeface="Arial Narrow" panose="020B0606020202030204" pitchFamily="34" charset="0"/>
                <a:ea typeface="Calibri" pitchFamily="34" charset="0"/>
                <a:cs typeface="Arial" pitchFamily="34" charset="0"/>
              </a:rPr>
              <a:t>%(93%)</a:t>
            </a:r>
            <a:r>
              <a:rPr lang="en-US" sz="2400" dirty="0" err="1">
                <a:latin typeface="Arial Narrow" panose="020B0606020202030204" pitchFamily="34" charset="0"/>
                <a:ea typeface="Calibri" pitchFamily="34" charset="0"/>
                <a:cs typeface="Arial" pitchFamily="34" charset="0"/>
              </a:rPr>
              <a:t>X2+12</a:t>
            </a:r>
            <a:r>
              <a:rPr lang="en-US" sz="2400" dirty="0">
                <a:latin typeface="Arial Narrow" panose="020B0606020202030204" pitchFamily="34" charset="0"/>
                <a:ea typeface="Calibri" pitchFamily="34" charset="0"/>
                <a:cs typeface="Arial" pitchFamily="34" charset="0"/>
              </a:rPr>
              <a:t>%(97%)</a:t>
            </a:r>
            <a:r>
              <a:rPr lang="en-US" sz="2400" dirty="0" err="1">
                <a:latin typeface="Arial Narrow" panose="020B0606020202030204" pitchFamily="34" charset="0"/>
                <a:ea typeface="Calibri" pitchFamily="34" charset="0"/>
                <a:cs typeface="Arial" pitchFamily="34" charset="0"/>
              </a:rPr>
              <a:t>X3</a:t>
            </a:r>
            <a:r>
              <a:rPr lang="en-US" sz="2400" dirty="0">
                <a:latin typeface="Arial Narrow" panose="020B0606020202030204" pitchFamily="34" charset="0"/>
                <a:ea typeface="Calibri" pitchFamily="34" charset="0"/>
                <a:cs typeface="Arial" pitchFamily="34" charset="0"/>
              </a:rPr>
              <a:t> +12,5%(95%)</a:t>
            </a:r>
            <a:r>
              <a:rPr lang="en-US" sz="2400" dirty="0" err="1">
                <a:latin typeface="Arial Narrow" panose="020B0606020202030204" pitchFamily="34" charset="0"/>
                <a:ea typeface="Calibri" pitchFamily="34" charset="0"/>
                <a:cs typeface="Arial" pitchFamily="34" charset="0"/>
              </a:rPr>
              <a:t>X4+10</a:t>
            </a:r>
            <a:r>
              <a:rPr lang="en-US" sz="2400" dirty="0">
                <a:latin typeface="Arial Narrow" panose="020B0606020202030204" pitchFamily="34" charset="0"/>
                <a:ea typeface="Calibri" pitchFamily="34" charset="0"/>
                <a:cs typeface="Arial" pitchFamily="34" charset="0"/>
              </a:rPr>
              <a:t>%(98%)</a:t>
            </a:r>
            <a:r>
              <a:rPr lang="en-US" sz="2400" dirty="0" err="1">
                <a:latin typeface="Arial Narrow" panose="020B0606020202030204" pitchFamily="34" charset="0"/>
                <a:ea typeface="Calibri" pitchFamily="34" charset="0"/>
                <a:cs typeface="Arial" pitchFamily="34" charset="0"/>
              </a:rPr>
              <a:t>X5-10%X1-7%X2-3%X3-5%X4-2%X5</a:t>
            </a:r>
            <a:endParaRPr lang="en-US" sz="2400" dirty="0">
              <a:solidFill>
                <a:srgbClr val="FF0000"/>
              </a:solidFill>
              <a:latin typeface="Arial Narrow" panose="020B0606020202030204" pitchFamily="34" charset="0"/>
              <a:ea typeface="Calibri" pitchFamily="34" charset="0"/>
              <a:cs typeface="Arial" pitchFamily="34" charset="0"/>
            </a:endParaRPr>
          </a:p>
          <a:p>
            <a:pPr marL="514350" indent="-514350" algn="just" fontAlgn="base">
              <a:spcBef>
                <a:spcPct val="0"/>
              </a:spcBef>
              <a:spcAft>
                <a:spcPct val="0"/>
              </a:spcAft>
              <a:buAutoNum type="romanUcPeriod" startAt="3"/>
            </a:pPr>
            <a:r>
              <a:rPr lang="es-PE" sz="2400" dirty="0">
                <a:solidFill>
                  <a:srgbClr val="FF0000"/>
                </a:solidFill>
                <a:latin typeface="Arial Narrow" panose="020B0606020202030204" pitchFamily="34" charset="0"/>
                <a:ea typeface="Calibri" pitchFamily="34" charset="0"/>
                <a:cs typeface="Arial" pitchFamily="34" charset="0"/>
              </a:rPr>
              <a:t>Identificación de las restricciones</a:t>
            </a:r>
          </a:p>
          <a:p>
            <a:pPr algn="just" fontAlgn="base">
              <a:spcBef>
                <a:spcPct val="0"/>
              </a:spcBef>
              <a:spcAft>
                <a:spcPct val="0"/>
              </a:spcAft>
            </a:pPr>
            <a:r>
              <a:rPr lang="es-PE" sz="2400" dirty="0">
                <a:latin typeface="Arial Narrow" panose="020B0606020202030204" pitchFamily="34" charset="0"/>
                <a:cs typeface="Arial" pitchFamily="34" charset="0"/>
              </a:rPr>
              <a:t>       X1+X2+X3+X4+X5&lt;=120000</a:t>
            </a:r>
          </a:p>
          <a:p>
            <a:pPr algn="just" fontAlgn="base">
              <a:spcBef>
                <a:spcPct val="0"/>
              </a:spcBef>
              <a:spcAft>
                <a:spcPct val="0"/>
              </a:spcAft>
            </a:pPr>
            <a:r>
              <a:rPr lang="es-PE" sz="2400" dirty="0">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X4+X5</a:t>
            </a:r>
            <a:r>
              <a:rPr lang="es-PE" sz="2400" dirty="0">
                <a:latin typeface="Arial Narrow" panose="020B0606020202030204" pitchFamily="34" charset="0"/>
                <a:cs typeface="Arial" pitchFamily="34" charset="0"/>
              </a:rPr>
              <a:t>&gt;=40%(120000)</a:t>
            </a:r>
          </a:p>
          <a:p>
            <a:pPr algn="just" fontAlgn="base">
              <a:spcBef>
                <a:spcPct val="0"/>
              </a:spcBef>
              <a:spcAft>
                <a:spcPct val="0"/>
              </a:spcAft>
            </a:pPr>
            <a:r>
              <a:rPr lang="es-PE" sz="2400" dirty="0">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X3</a:t>
            </a:r>
            <a:r>
              <a:rPr lang="es-PE" sz="2400" dirty="0">
                <a:latin typeface="Arial Narrow" panose="020B0606020202030204" pitchFamily="34" charset="0"/>
                <a:cs typeface="Arial" pitchFamily="34" charset="0"/>
              </a:rPr>
              <a:t>&gt;=50%(</a:t>
            </a:r>
            <a:r>
              <a:rPr lang="es-PE" sz="2400" dirty="0" err="1">
                <a:latin typeface="Arial Narrow" panose="020B0606020202030204" pitchFamily="34" charset="0"/>
                <a:cs typeface="Arial" pitchFamily="34" charset="0"/>
              </a:rPr>
              <a:t>X1+X2+X3</a:t>
            </a:r>
            <a:r>
              <a:rPr lang="es-PE" sz="2400" dirty="0">
                <a:latin typeface="Arial Narrow" panose="020B0606020202030204" pitchFamily="34" charset="0"/>
                <a:cs typeface="Arial" pitchFamily="34" charset="0"/>
              </a:rPr>
              <a:t>)</a:t>
            </a:r>
          </a:p>
          <a:p>
            <a:pPr algn="just" fontAlgn="base">
              <a:spcBef>
                <a:spcPct val="0"/>
              </a:spcBef>
              <a:spcAft>
                <a:spcPct val="0"/>
              </a:spcAft>
            </a:pPr>
            <a:endParaRPr lang="es-PE" sz="2400" dirty="0">
              <a:latin typeface="Arial Narrow" panose="020B0606020202030204" pitchFamily="34" charset="0"/>
              <a:cs typeface="Arial" pitchFamily="34" charset="0"/>
            </a:endParaRPr>
          </a:p>
          <a:p>
            <a:pPr algn="just" fontAlgn="base">
              <a:spcBef>
                <a:spcPct val="0"/>
              </a:spcBef>
              <a:spcAft>
                <a:spcPct val="0"/>
              </a:spcAft>
            </a:pPr>
            <a:endParaRPr lang="es-PE" sz="2400" dirty="0">
              <a:latin typeface="Arial Narrow" panose="020B0606020202030204" pitchFamily="34" charset="0"/>
              <a:cs typeface="Arial" pitchFamily="34" charset="0"/>
            </a:endParaRPr>
          </a:p>
          <a:p>
            <a:pPr algn="just" fontAlgn="base">
              <a:spcBef>
                <a:spcPct val="0"/>
              </a:spcBef>
              <a:spcAft>
                <a:spcPct val="0"/>
              </a:spcAft>
            </a:pPr>
            <a:r>
              <a:rPr lang="en-US" sz="2400" dirty="0">
                <a:latin typeface="Arial Narrow" panose="020B0606020202030204" pitchFamily="34" charset="0"/>
                <a:cs typeface="Arial" pitchFamily="34" charset="0"/>
              </a:rPr>
              <a:t>				Xi&gt;=0</a:t>
            </a:r>
            <a:endParaRPr lang="es-PE" sz="2400" dirty="0">
              <a:latin typeface="Arial Narrow" panose="020B0606020202030204" pitchFamily="34" charset="0"/>
              <a:cs typeface="Arial" pitchFamily="34" charset="0"/>
            </a:endParaRPr>
          </a:p>
          <a:p>
            <a:pPr algn="just" fontAlgn="base">
              <a:spcBef>
                <a:spcPct val="0"/>
              </a:spcBef>
              <a:spcAft>
                <a:spcPct val="0"/>
              </a:spcAft>
            </a:pPr>
            <a:endParaRPr lang="es-PE" sz="2400" dirty="0">
              <a:latin typeface="Arial Narrow" panose="020B0606020202030204" pitchFamily="34" charset="0"/>
              <a:cs typeface="Arial" pitchFamily="34" charset="0"/>
            </a:endParaRPr>
          </a:p>
        </p:txBody>
      </p:sp>
      <p:sp>
        <p:nvSpPr>
          <p:cNvPr id="2" name="CuadroTexto 1">
            <a:extLst>
              <a:ext uri="{FF2B5EF4-FFF2-40B4-BE49-F238E27FC236}">
                <a16:creationId xmlns:a16="http://schemas.microsoft.com/office/drawing/2014/main" id="{FC1BCEE6-B1ED-4D76-BB6D-79D9EC929E45}"/>
              </a:ext>
            </a:extLst>
          </p:cNvPr>
          <p:cNvSpPr txBox="1"/>
          <p:nvPr/>
        </p:nvSpPr>
        <p:spPr>
          <a:xfrm>
            <a:off x="1086928" y="1518249"/>
            <a:ext cx="3321170" cy="369332"/>
          </a:xfrm>
          <a:prstGeom prst="rect">
            <a:avLst/>
          </a:prstGeom>
          <a:noFill/>
        </p:spPr>
        <p:txBody>
          <a:bodyPr wrap="square" rtlCol="0">
            <a:spAutoFit/>
          </a:bodyPr>
          <a:lstStyle/>
          <a:p>
            <a:r>
              <a:rPr lang="es-ES" b="1" dirty="0"/>
              <a:t>GANANCIA = Ingresos-Costos</a:t>
            </a:r>
            <a:endParaRPr lang="es-PE" b="1" dirty="0"/>
          </a:p>
        </p:txBody>
      </p:sp>
      <p:graphicFrame>
        <p:nvGraphicFramePr>
          <p:cNvPr id="4" name="Objeto 3">
            <a:extLst>
              <a:ext uri="{FF2B5EF4-FFF2-40B4-BE49-F238E27FC236}">
                <a16:creationId xmlns:a16="http://schemas.microsoft.com/office/drawing/2014/main" id="{4B27DC70-0E9D-07EF-4464-39D8F515183D}"/>
              </a:ext>
            </a:extLst>
          </p:cNvPr>
          <p:cNvGraphicFramePr>
            <a:graphicFrameLocks noChangeAspect="1"/>
          </p:cNvGraphicFramePr>
          <p:nvPr/>
        </p:nvGraphicFramePr>
        <p:xfrm>
          <a:off x="6674073" y="5059680"/>
          <a:ext cx="4672650" cy="741629"/>
        </p:xfrm>
        <a:graphic>
          <a:graphicData uri="http://schemas.openxmlformats.org/presentationml/2006/ole">
            <mc:AlternateContent xmlns:mc="http://schemas.openxmlformats.org/markup-compatibility/2006">
              <mc:Choice xmlns:v="urn:schemas-microsoft-com:vml" Requires="v">
                <p:oleObj r:id="rId2" imgW="3124080" imgH="393480" progId="">
                  <p:embed/>
                </p:oleObj>
              </mc:Choice>
              <mc:Fallback>
                <p:oleObj r:id="rId2" imgW="3124080" imgH="393480" progId="">
                  <p:embed/>
                  <p:pic>
                    <p:nvPicPr>
                      <p:cNvPr id="4" name="Objeto 3">
                        <a:extLst>
                          <a:ext uri="{FF2B5EF4-FFF2-40B4-BE49-F238E27FC236}">
                            <a16:creationId xmlns:a16="http://schemas.microsoft.com/office/drawing/2014/main" id="{4B27DC70-0E9D-07EF-4464-39D8F515183D}"/>
                          </a:ext>
                        </a:extLst>
                      </p:cNvPr>
                      <p:cNvPicPr/>
                      <p:nvPr/>
                    </p:nvPicPr>
                    <p:blipFill>
                      <a:blip r:embed="rId3"/>
                      <a:stretch>
                        <a:fillRect/>
                      </a:stretch>
                    </p:blipFill>
                    <p:spPr>
                      <a:xfrm>
                        <a:off x="6674073" y="5059680"/>
                        <a:ext cx="4672650" cy="741629"/>
                      </a:xfrm>
                      <a:prstGeom prst="rect">
                        <a:avLst/>
                      </a:prstGeom>
                    </p:spPr>
                  </p:pic>
                </p:oleObj>
              </mc:Fallback>
            </mc:AlternateContent>
          </a:graphicData>
        </a:graphic>
      </p:graphicFrame>
    </p:spTree>
    <p:extLst>
      <p:ext uri="{BB962C8B-B14F-4D97-AF65-F5344CB8AC3E}">
        <p14:creationId xmlns:p14="http://schemas.microsoft.com/office/powerpoint/2010/main" val="22783236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6096000" y="214728"/>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Solución</a:t>
            </a:r>
          </a:p>
        </p:txBody>
      </p:sp>
      <p:sp>
        <p:nvSpPr>
          <p:cNvPr id="2" name="1 Rectángulo"/>
          <p:cNvSpPr/>
          <p:nvPr/>
        </p:nvSpPr>
        <p:spPr>
          <a:xfrm>
            <a:off x="6158018" y="3324156"/>
            <a:ext cx="4916363" cy="3477875"/>
          </a:xfrm>
          <a:prstGeom prst="rect">
            <a:avLst/>
          </a:prstGeom>
          <a:solidFill>
            <a:schemeClr val="accent5">
              <a:lumMod val="40000"/>
              <a:lumOff val="60000"/>
            </a:schemeClr>
          </a:solidFill>
        </p:spPr>
        <p:txBody>
          <a:bodyPr wrap="square">
            <a:spAutoFit/>
          </a:bodyPr>
          <a:lstStyle/>
          <a:p>
            <a:endParaRPr lang="en-US" sz="2000">
              <a:latin typeface="Arial Narrow" pitchFamily="34" charset="0"/>
            </a:endParaRPr>
          </a:p>
          <a:p>
            <a:r>
              <a:rPr lang="en-US" sz="2000">
                <a:latin typeface="Arial Narrow" pitchFamily="34" charset="0"/>
              </a:rPr>
              <a:t>        OBJECTIVE FUNCTION VALUE</a:t>
            </a:r>
          </a:p>
          <a:p>
            <a:endParaRPr lang="en-US" sz="2000">
              <a:latin typeface="Arial Narrow" pitchFamily="34" charset="0"/>
            </a:endParaRPr>
          </a:p>
          <a:p>
            <a:r>
              <a:rPr lang="en-US" sz="2000">
                <a:latin typeface="Arial Narrow" pitchFamily="34" charset="0"/>
              </a:rPr>
              <a:t>        1)      9964.800</a:t>
            </a:r>
          </a:p>
          <a:p>
            <a:endParaRPr lang="en-US" sz="2000">
              <a:latin typeface="Arial Narrow" pitchFamily="34" charset="0"/>
            </a:endParaRPr>
          </a:p>
          <a:p>
            <a:r>
              <a:rPr lang="en-US" sz="2000">
                <a:latin typeface="Arial Narrow" pitchFamily="34" charset="0"/>
              </a:rPr>
              <a:t>  VARIABLE        VALUE          REDUCED COST</a:t>
            </a:r>
          </a:p>
          <a:p>
            <a:r>
              <a:rPr lang="en-US" sz="2000">
                <a:latin typeface="Arial Narrow" pitchFamily="34" charset="0"/>
              </a:rPr>
              <a:t>        X1             0.000000          0.060400</a:t>
            </a:r>
          </a:p>
          <a:p>
            <a:r>
              <a:rPr lang="en-US" sz="2000">
                <a:latin typeface="Arial Narrow" pitchFamily="34" charset="0"/>
              </a:rPr>
              <a:t>        X2             0.000000          0.035500</a:t>
            </a:r>
          </a:p>
          <a:p>
            <a:r>
              <a:rPr lang="en-US" sz="2000">
                <a:latin typeface="Arial Narrow" pitchFamily="34" charset="0"/>
              </a:rPr>
              <a:t>        X3     72000.000000          0.000000</a:t>
            </a:r>
          </a:p>
          <a:p>
            <a:r>
              <a:rPr lang="en-US" sz="2000">
                <a:latin typeface="Arial Narrow" pitchFamily="34" charset="0"/>
              </a:rPr>
              <a:t>        X4             0.000000          0.009250</a:t>
            </a:r>
          </a:p>
          <a:p>
            <a:r>
              <a:rPr lang="en-US" sz="2000">
                <a:latin typeface="Arial Narrow" pitchFamily="34" charset="0"/>
              </a:rPr>
              <a:t>        X5     48000.000000          0.000000</a:t>
            </a:r>
            <a:endParaRPr lang="en-US" sz="2000" dirty="0">
              <a:latin typeface="Arial Narrow" pitchFamily="34" charset="0"/>
            </a:endParaRPr>
          </a:p>
        </p:txBody>
      </p:sp>
      <p:sp>
        <p:nvSpPr>
          <p:cNvPr id="5" name="4 Rectángulo"/>
          <p:cNvSpPr/>
          <p:nvPr/>
        </p:nvSpPr>
        <p:spPr>
          <a:xfrm>
            <a:off x="552091" y="1412777"/>
            <a:ext cx="5481893" cy="3900427"/>
          </a:xfrm>
          <a:prstGeom prst="rect">
            <a:avLst/>
          </a:prstGeom>
          <a:solidFill>
            <a:srgbClr val="FFFF00"/>
          </a:solidFill>
        </p:spPr>
        <p:txBody>
          <a:bodyPr wrap="square">
            <a:spAutoFit/>
          </a:bodyPr>
          <a:lstStyle/>
          <a:p>
            <a:pPr>
              <a:lnSpc>
                <a:spcPct val="150000"/>
              </a:lnSpc>
            </a:pPr>
            <a:r>
              <a:rPr lang="es-PE" sz="2400" dirty="0">
                <a:latin typeface="Arial Narrow" pitchFamily="34" charset="0"/>
              </a:rPr>
              <a:t>MAX </a:t>
            </a:r>
            <a:r>
              <a:rPr lang="es-PE" sz="2400" dirty="0" err="1">
                <a:latin typeface="Arial Narrow" pitchFamily="34" charset="0"/>
              </a:rPr>
              <a:t>0.026X1</a:t>
            </a:r>
            <a:r>
              <a:rPr lang="es-PE" sz="2400" dirty="0">
                <a:latin typeface="Arial Narrow" pitchFamily="34" charset="0"/>
              </a:rPr>
              <a:t> + </a:t>
            </a:r>
            <a:r>
              <a:rPr lang="es-PE" sz="2400" dirty="0" err="1">
                <a:latin typeface="Arial Narrow" pitchFamily="34" charset="0"/>
              </a:rPr>
              <a:t>0.0509X2</a:t>
            </a:r>
            <a:r>
              <a:rPr lang="es-PE" sz="2400" dirty="0">
                <a:latin typeface="Arial Narrow" pitchFamily="34" charset="0"/>
              </a:rPr>
              <a:t> + </a:t>
            </a:r>
            <a:r>
              <a:rPr lang="es-PE" sz="2400" dirty="0" err="1">
                <a:latin typeface="Arial Narrow" pitchFamily="34" charset="0"/>
              </a:rPr>
              <a:t>0.0864X3</a:t>
            </a:r>
            <a:endParaRPr lang="es-PE" sz="2400" dirty="0">
              <a:latin typeface="Arial Narrow" pitchFamily="34" charset="0"/>
            </a:endParaRPr>
          </a:p>
          <a:p>
            <a:pPr>
              <a:lnSpc>
                <a:spcPct val="150000"/>
              </a:lnSpc>
            </a:pPr>
            <a:r>
              <a:rPr lang="es-PE" sz="2400" dirty="0">
                <a:latin typeface="Arial Narrow" pitchFamily="34" charset="0"/>
              </a:rPr>
              <a:t>     + </a:t>
            </a:r>
            <a:r>
              <a:rPr lang="es-PE" sz="2400" dirty="0" err="1">
                <a:latin typeface="Arial Narrow" pitchFamily="34" charset="0"/>
              </a:rPr>
              <a:t>0.06875X4</a:t>
            </a:r>
            <a:r>
              <a:rPr lang="es-PE" sz="2400" dirty="0">
                <a:latin typeface="Arial Narrow" pitchFamily="34" charset="0"/>
              </a:rPr>
              <a:t> + </a:t>
            </a:r>
            <a:r>
              <a:rPr lang="es-PE" sz="2400" dirty="0" err="1">
                <a:latin typeface="Arial Narrow" pitchFamily="34" charset="0"/>
              </a:rPr>
              <a:t>0.078X5</a:t>
            </a:r>
            <a:endParaRPr lang="es-PE" sz="2400" dirty="0">
              <a:latin typeface="Arial Narrow" pitchFamily="34" charset="0"/>
            </a:endParaRPr>
          </a:p>
          <a:p>
            <a:pPr>
              <a:lnSpc>
                <a:spcPct val="150000"/>
              </a:lnSpc>
            </a:pPr>
            <a:r>
              <a:rPr lang="es-PE" sz="2400" dirty="0" err="1">
                <a:latin typeface="Arial Narrow" pitchFamily="34" charset="0"/>
              </a:rPr>
              <a:t>SUBJECT</a:t>
            </a:r>
            <a:r>
              <a:rPr lang="es-PE" sz="2400" dirty="0">
                <a:latin typeface="Arial Narrow" pitchFamily="34" charset="0"/>
              </a:rPr>
              <a:t> </a:t>
            </a:r>
            <a:r>
              <a:rPr lang="es-PE" sz="2400" dirty="0" err="1">
                <a:latin typeface="Arial Narrow" pitchFamily="34" charset="0"/>
              </a:rPr>
              <a:t>TO</a:t>
            </a:r>
            <a:endParaRPr lang="es-PE" sz="2400" dirty="0">
              <a:latin typeface="Arial Narrow" pitchFamily="34" charset="0"/>
            </a:endParaRPr>
          </a:p>
          <a:p>
            <a:pPr>
              <a:lnSpc>
                <a:spcPct val="150000"/>
              </a:lnSpc>
            </a:pPr>
            <a:r>
              <a:rPr lang="es-PE" sz="2400" dirty="0" err="1">
                <a:latin typeface="Arial Narrow" pitchFamily="34" charset="0"/>
              </a:rPr>
              <a:t>X1</a:t>
            </a:r>
            <a:r>
              <a:rPr lang="es-PE" sz="2400" dirty="0">
                <a:latin typeface="Arial Narrow" pitchFamily="34" charset="0"/>
              </a:rPr>
              <a:t>+ </a:t>
            </a:r>
            <a:r>
              <a:rPr lang="es-PE" sz="2400" dirty="0" err="1">
                <a:latin typeface="Arial Narrow" pitchFamily="34" charset="0"/>
              </a:rPr>
              <a:t>X2</a:t>
            </a:r>
            <a:r>
              <a:rPr lang="es-PE" sz="2400" dirty="0">
                <a:latin typeface="Arial Narrow" pitchFamily="34" charset="0"/>
              </a:rPr>
              <a:t> + </a:t>
            </a:r>
            <a:r>
              <a:rPr lang="es-PE" sz="2400" dirty="0" err="1">
                <a:latin typeface="Arial Narrow" pitchFamily="34" charset="0"/>
              </a:rPr>
              <a:t>X3</a:t>
            </a:r>
            <a:r>
              <a:rPr lang="es-PE" sz="2400" dirty="0">
                <a:latin typeface="Arial Narrow" pitchFamily="34" charset="0"/>
              </a:rPr>
              <a:t> + </a:t>
            </a:r>
            <a:r>
              <a:rPr lang="es-PE" sz="2400" dirty="0" err="1">
                <a:latin typeface="Arial Narrow" pitchFamily="34" charset="0"/>
              </a:rPr>
              <a:t>X4</a:t>
            </a:r>
            <a:r>
              <a:rPr lang="es-PE" sz="2400" dirty="0">
                <a:latin typeface="Arial Narrow" pitchFamily="34" charset="0"/>
              </a:rPr>
              <a:t> + </a:t>
            </a:r>
            <a:r>
              <a:rPr lang="es-PE" sz="2400" dirty="0" err="1">
                <a:latin typeface="Arial Narrow" pitchFamily="34" charset="0"/>
              </a:rPr>
              <a:t>X5</a:t>
            </a:r>
            <a:r>
              <a:rPr lang="es-PE" sz="2400" dirty="0">
                <a:latin typeface="Arial Narrow" pitchFamily="34" charset="0"/>
              </a:rPr>
              <a:t>&lt;=120000</a:t>
            </a:r>
          </a:p>
          <a:p>
            <a:pPr>
              <a:lnSpc>
                <a:spcPct val="150000"/>
              </a:lnSpc>
            </a:pPr>
            <a:r>
              <a:rPr lang="es-PE" sz="2400" dirty="0" err="1">
                <a:latin typeface="Arial Narrow" pitchFamily="34" charset="0"/>
              </a:rPr>
              <a:t>X4</a:t>
            </a:r>
            <a:r>
              <a:rPr lang="es-PE" sz="2400" dirty="0">
                <a:latin typeface="Arial Narrow" pitchFamily="34" charset="0"/>
              </a:rPr>
              <a:t> + </a:t>
            </a:r>
            <a:r>
              <a:rPr lang="es-PE" sz="2400" dirty="0" err="1">
                <a:latin typeface="Arial Narrow" pitchFamily="34" charset="0"/>
              </a:rPr>
              <a:t>X5</a:t>
            </a:r>
            <a:r>
              <a:rPr lang="es-PE" sz="2400" dirty="0">
                <a:latin typeface="Arial Narrow" pitchFamily="34" charset="0"/>
              </a:rPr>
              <a:t>&gt;=48000</a:t>
            </a:r>
          </a:p>
          <a:p>
            <a:pPr>
              <a:lnSpc>
                <a:spcPct val="150000"/>
              </a:lnSpc>
            </a:pPr>
            <a:r>
              <a:rPr lang="es-PE" sz="2400" dirty="0">
                <a:latin typeface="Arial Narrow" pitchFamily="34" charset="0"/>
              </a:rPr>
              <a:t>-</a:t>
            </a:r>
            <a:r>
              <a:rPr lang="es-PE" sz="2400" dirty="0" err="1">
                <a:latin typeface="Arial Narrow" pitchFamily="34" charset="0"/>
              </a:rPr>
              <a:t>0.5X1</a:t>
            </a:r>
            <a:r>
              <a:rPr lang="es-PE" sz="2400" dirty="0">
                <a:latin typeface="Arial Narrow" pitchFamily="34" charset="0"/>
              </a:rPr>
              <a:t>- </a:t>
            </a:r>
            <a:r>
              <a:rPr lang="es-PE" sz="2400" dirty="0" err="1">
                <a:latin typeface="Arial Narrow" pitchFamily="34" charset="0"/>
              </a:rPr>
              <a:t>0.5X2</a:t>
            </a:r>
            <a:r>
              <a:rPr lang="es-PE" sz="2400" dirty="0">
                <a:latin typeface="Arial Narrow" pitchFamily="34" charset="0"/>
              </a:rPr>
              <a:t> + </a:t>
            </a:r>
            <a:r>
              <a:rPr lang="es-PE" sz="2400" dirty="0" err="1">
                <a:latin typeface="Arial Narrow" pitchFamily="34" charset="0"/>
              </a:rPr>
              <a:t>0.50X3</a:t>
            </a:r>
            <a:r>
              <a:rPr lang="es-PE" sz="2400" dirty="0">
                <a:latin typeface="Arial Narrow" pitchFamily="34" charset="0"/>
              </a:rPr>
              <a:t>&gt;=0</a:t>
            </a:r>
          </a:p>
          <a:p>
            <a:pPr>
              <a:lnSpc>
                <a:spcPct val="150000"/>
              </a:lnSpc>
            </a:pPr>
            <a:r>
              <a:rPr lang="es-PE" sz="2400" dirty="0" err="1">
                <a:latin typeface="Arial Narrow" pitchFamily="34" charset="0"/>
              </a:rPr>
              <a:t>0.06X1+0.03X2-0.01X3+0.01X4-0.02X5</a:t>
            </a:r>
            <a:r>
              <a:rPr lang="es-PE" sz="2400" dirty="0">
                <a:latin typeface="Arial Narrow" pitchFamily="34" charset="0"/>
              </a:rPr>
              <a:t>&lt;=0</a:t>
            </a:r>
          </a:p>
        </p:txBody>
      </p:sp>
      <p:graphicFrame>
        <p:nvGraphicFramePr>
          <p:cNvPr id="4" name="Tabla 3">
            <a:extLst>
              <a:ext uri="{FF2B5EF4-FFF2-40B4-BE49-F238E27FC236}">
                <a16:creationId xmlns:a16="http://schemas.microsoft.com/office/drawing/2014/main" id="{E60D2443-4E14-FC04-2935-CBC176754976}"/>
              </a:ext>
            </a:extLst>
          </p:cNvPr>
          <p:cNvGraphicFramePr>
            <a:graphicFrameLocks noGrp="1"/>
          </p:cNvGraphicFramePr>
          <p:nvPr/>
        </p:nvGraphicFramePr>
        <p:xfrm>
          <a:off x="6158018" y="1412777"/>
          <a:ext cx="1481138" cy="1795338"/>
        </p:xfrm>
        <a:graphic>
          <a:graphicData uri="http://schemas.openxmlformats.org/drawingml/2006/table">
            <a:tbl>
              <a:tblPr firstRow="1" firstCol="1" bandRow="1" bandCol="1">
                <a:tableStyleId>{5C22544A-7EE6-4342-B048-85BDC9FD1C3A}</a:tableStyleId>
              </a:tblPr>
              <a:tblGrid>
                <a:gridCol w="1481138">
                  <a:extLst>
                    <a:ext uri="{9D8B030D-6E8A-4147-A177-3AD203B41FA5}">
                      <a16:colId xmlns:a16="http://schemas.microsoft.com/office/drawing/2014/main" val="4270568292"/>
                    </a:ext>
                  </a:extLst>
                </a:gridCol>
              </a:tblGrid>
              <a:tr h="299223">
                <a:tc>
                  <a:txBody>
                    <a:bodyPr/>
                    <a:lstStyle/>
                    <a:p>
                      <a:pPr algn="ctr">
                        <a:lnSpc>
                          <a:spcPct val="150000"/>
                        </a:lnSpc>
                        <a:spcAft>
                          <a:spcPts val="0"/>
                        </a:spcAft>
                      </a:pPr>
                      <a:r>
                        <a:rPr lang="es-PE" sz="1400" dirty="0">
                          <a:effectLst/>
                        </a:rPr>
                        <a:t>Tipo de Préstamo</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2038749913"/>
                  </a:ext>
                </a:extLst>
              </a:tr>
              <a:tr h="299223">
                <a:tc>
                  <a:txBody>
                    <a:bodyPr/>
                    <a:lstStyle/>
                    <a:p>
                      <a:pPr algn="just">
                        <a:lnSpc>
                          <a:spcPct val="150000"/>
                        </a:lnSpc>
                        <a:spcAft>
                          <a:spcPts val="0"/>
                        </a:spcAft>
                      </a:pPr>
                      <a:r>
                        <a:rPr lang="es-PE" sz="1400" dirty="0">
                          <a:effectLst/>
                        </a:rPr>
                        <a:t>Personal          </a:t>
                      </a:r>
                      <a:r>
                        <a:rPr lang="es-PE" sz="1400" dirty="0" err="1">
                          <a:effectLst/>
                        </a:rPr>
                        <a:t>X1</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1641866078"/>
                  </a:ext>
                </a:extLst>
              </a:tr>
              <a:tr h="299223">
                <a:tc>
                  <a:txBody>
                    <a:bodyPr/>
                    <a:lstStyle/>
                    <a:p>
                      <a:pPr algn="just">
                        <a:lnSpc>
                          <a:spcPct val="150000"/>
                        </a:lnSpc>
                        <a:spcAft>
                          <a:spcPts val="0"/>
                        </a:spcAft>
                      </a:pPr>
                      <a:r>
                        <a:rPr lang="es-PE" sz="1400" dirty="0">
                          <a:effectLst/>
                        </a:rPr>
                        <a:t>Automóvil      </a:t>
                      </a:r>
                      <a:r>
                        <a:rPr lang="es-PE" sz="1400" dirty="0" err="1">
                          <a:effectLst/>
                        </a:rPr>
                        <a:t>X2</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2869352126"/>
                  </a:ext>
                </a:extLst>
              </a:tr>
              <a:tr h="299223">
                <a:tc>
                  <a:txBody>
                    <a:bodyPr/>
                    <a:lstStyle/>
                    <a:p>
                      <a:pPr algn="just">
                        <a:lnSpc>
                          <a:spcPct val="150000"/>
                        </a:lnSpc>
                        <a:spcAft>
                          <a:spcPts val="0"/>
                        </a:spcAft>
                      </a:pPr>
                      <a:r>
                        <a:rPr lang="es-PE" sz="1400" dirty="0">
                          <a:effectLst/>
                        </a:rPr>
                        <a:t>Vivienda         </a:t>
                      </a:r>
                      <a:r>
                        <a:rPr lang="es-PE" sz="1400" dirty="0" err="1">
                          <a:effectLst/>
                        </a:rPr>
                        <a:t>X3</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4282728827"/>
                  </a:ext>
                </a:extLst>
              </a:tr>
              <a:tr h="299223">
                <a:tc>
                  <a:txBody>
                    <a:bodyPr/>
                    <a:lstStyle/>
                    <a:p>
                      <a:pPr algn="just">
                        <a:lnSpc>
                          <a:spcPct val="150000"/>
                        </a:lnSpc>
                        <a:spcAft>
                          <a:spcPts val="0"/>
                        </a:spcAft>
                      </a:pPr>
                      <a:r>
                        <a:rPr lang="es-PE" sz="1400" dirty="0">
                          <a:effectLst/>
                        </a:rPr>
                        <a:t>Agrícola          </a:t>
                      </a:r>
                      <a:r>
                        <a:rPr lang="es-PE" sz="1400" dirty="0" err="1">
                          <a:effectLst/>
                        </a:rPr>
                        <a:t>X4</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2125584211"/>
                  </a:ext>
                </a:extLst>
              </a:tr>
              <a:tr h="299223">
                <a:tc>
                  <a:txBody>
                    <a:bodyPr/>
                    <a:lstStyle/>
                    <a:p>
                      <a:pPr algn="just">
                        <a:lnSpc>
                          <a:spcPct val="150000"/>
                        </a:lnSpc>
                        <a:spcAft>
                          <a:spcPts val="0"/>
                        </a:spcAft>
                      </a:pPr>
                      <a:r>
                        <a:rPr lang="es-PE" sz="1400" dirty="0">
                          <a:effectLst/>
                        </a:rPr>
                        <a:t>Comercial      </a:t>
                      </a:r>
                      <a:r>
                        <a:rPr lang="es-PE" sz="1400" dirty="0" err="1">
                          <a:effectLst/>
                        </a:rPr>
                        <a:t>X5</a:t>
                      </a:r>
                      <a:endParaRPr lang="es-PE" sz="1400" dirty="0">
                        <a:effectLst/>
                        <a:latin typeface="Times New Roman"/>
                        <a:ea typeface="Calibri"/>
                      </a:endParaRPr>
                    </a:p>
                  </a:txBody>
                  <a:tcPr marL="44450" marR="44450" marT="0" marB="0" anchor="ctr"/>
                </a:tc>
                <a:extLst>
                  <a:ext uri="{0D108BD9-81ED-4DB2-BD59-A6C34878D82A}">
                    <a16:rowId xmlns:a16="http://schemas.microsoft.com/office/drawing/2014/main" val="1011669024"/>
                  </a:ext>
                </a:extLst>
              </a:tr>
            </a:tbl>
          </a:graphicData>
        </a:graphic>
      </p:graphicFrame>
    </p:spTree>
    <p:extLst>
      <p:ext uri="{BB962C8B-B14F-4D97-AF65-F5344CB8AC3E}">
        <p14:creationId xmlns:p14="http://schemas.microsoft.com/office/powerpoint/2010/main" val="32124972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978658" y="1259175"/>
            <a:ext cx="8655072" cy="1631216"/>
          </a:xfrm>
          <a:prstGeom prst="rect">
            <a:avLst/>
          </a:prstGeom>
        </p:spPr>
        <p:txBody>
          <a:bodyPr wrap="square">
            <a:spAutoFit/>
          </a:bodyPr>
          <a:lstStyle/>
          <a:p>
            <a:pPr algn="just"/>
            <a:r>
              <a:rPr lang="es-PE" sz="2000" b="1" dirty="0"/>
              <a:t>QUÍMICA SUIZA, produce los productos CS-01 y CS-02, generan cantidades excesivas de tres contaminantes diferentes: A, B y C. El gobierno ha ordenado a la compañía que instale y emplee dispositivos anticontaminantes. La siguiente tabla proporciona las emisiones diarias actuales en Kg./1000 litros y el máximo de cada contaminante permitido en kilogramos.</a:t>
            </a:r>
          </a:p>
        </p:txBody>
      </p:sp>
      <p:graphicFrame>
        <p:nvGraphicFramePr>
          <p:cNvPr id="3" name="2 Tabla"/>
          <p:cNvGraphicFramePr>
            <a:graphicFrameLocks noGrp="1"/>
          </p:cNvGraphicFramePr>
          <p:nvPr/>
        </p:nvGraphicFramePr>
        <p:xfrm>
          <a:off x="1061049" y="2814878"/>
          <a:ext cx="6961517" cy="1731010"/>
        </p:xfrm>
        <a:graphic>
          <a:graphicData uri="http://schemas.openxmlformats.org/drawingml/2006/table">
            <a:tbl>
              <a:tblPr>
                <a:tableStyleId>{5C22544A-7EE6-4342-B048-85BDC9FD1C3A}</a:tableStyleId>
              </a:tblPr>
              <a:tblGrid>
                <a:gridCol w="2215028">
                  <a:extLst>
                    <a:ext uri="{9D8B030D-6E8A-4147-A177-3AD203B41FA5}">
                      <a16:colId xmlns:a16="http://schemas.microsoft.com/office/drawing/2014/main" val="20000"/>
                    </a:ext>
                  </a:extLst>
                </a:gridCol>
                <a:gridCol w="1139158">
                  <a:extLst>
                    <a:ext uri="{9D8B030D-6E8A-4147-A177-3AD203B41FA5}">
                      <a16:colId xmlns:a16="http://schemas.microsoft.com/office/drawing/2014/main" val="20001"/>
                    </a:ext>
                  </a:extLst>
                </a:gridCol>
                <a:gridCol w="1265730">
                  <a:extLst>
                    <a:ext uri="{9D8B030D-6E8A-4147-A177-3AD203B41FA5}">
                      <a16:colId xmlns:a16="http://schemas.microsoft.com/office/drawing/2014/main" val="20002"/>
                    </a:ext>
                  </a:extLst>
                </a:gridCol>
                <a:gridCol w="2341601">
                  <a:extLst>
                    <a:ext uri="{9D8B030D-6E8A-4147-A177-3AD203B41FA5}">
                      <a16:colId xmlns:a16="http://schemas.microsoft.com/office/drawing/2014/main" val="20003"/>
                    </a:ext>
                  </a:extLst>
                </a:gridCol>
              </a:tblGrid>
              <a:tr h="271909">
                <a:tc>
                  <a:txBody>
                    <a:bodyPr/>
                    <a:lstStyle/>
                    <a:p>
                      <a:pPr algn="ctr">
                        <a:lnSpc>
                          <a:spcPct val="150000"/>
                        </a:lnSpc>
                        <a:spcAft>
                          <a:spcPts val="0"/>
                        </a:spcAft>
                      </a:pPr>
                      <a:r>
                        <a:rPr lang="es-PE" sz="2000" b="1" dirty="0">
                          <a:effectLst/>
                        </a:rPr>
                        <a:t>CONTAMINANTE</a:t>
                      </a:r>
                      <a:endParaRPr lang="es-PE" sz="2000" b="1" dirty="0">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CS-01</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a:effectLst/>
                        </a:rPr>
                        <a:t>CS-02</a:t>
                      </a:r>
                      <a:endParaRPr lang="es-PE" sz="2000" b="1">
                        <a:effectLst/>
                        <a:latin typeface="Times New Roman"/>
                        <a:ea typeface="Calibri"/>
                      </a:endParaRPr>
                    </a:p>
                  </a:txBody>
                  <a:tcPr marL="44450" marR="44450" marT="0" marB="0"/>
                </a:tc>
                <a:tc>
                  <a:txBody>
                    <a:bodyPr/>
                    <a:lstStyle/>
                    <a:p>
                      <a:pPr algn="ctr">
                        <a:lnSpc>
                          <a:spcPct val="150000"/>
                        </a:lnSpc>
                        <a:spcAft>
                          <a:spcPts val="0"/>
                        </a:spcAft>
                      </a:pPr>
                      <a:r>
                        <a:rPr lang="es-PE" sz="2000" b="1" dirty="0">
                          <a:effectLst/>
                        </a:rPr>
                        <a:t>MAX. PERMITIDO</a:t>
                      </a:r>
                      <a:endParaRPr lang="es-PE" sz="2000" b="1" dirty="0">
                        <a:effectLst/>
                        <a:latin typeface="Times New Roman"/>
                        <a:ea typeface="Calibri"/>
                      </a:endParaRPr>
                    </a:p>
                  </a:txBody>
                  <a:tcPr marL="44450" marR="44450" marT="0" marB="0"/>
                </a:tc>
                <a:extLst>
                  <a:ext uri="{0D108BD9-81ED-4DB2-BD59-A6C34878D82A}">
                    <a16:rowId xmlns:a16="http://schemas.microsoft.com/office/drawing/2014/main" val="10000"/>
                  </a:ext>
                </a:extLst>
              </a:tr>
              <a:tr h="880219">
                <a:tc>
                  <a:txBody>
                    <a:bodyPr/>
                    <a:lstStyle/>
                    <a:p>
                      <a:pPr algn="ctr">
                        <a:lnSpc>
                          <a:spcPct val="150000"/>
                        </a:lnSpc>
                        <a:spcAft>
                          <a:spcPts val="0"/>
                        </a:spcAft>
                      </a:pPr>
                      <a:r>
                        <a:rPr lang="es-PE" sz="2000" b="1" dirty="0">
                          <a:effectLst/>
                        </a:rPr>
                        <a:t>A</a:t>
                      </a:r>
                    </a:p>
                    <a:p>
                      <a:pPr algn="ctr">
                        <a:lnSpc>
                          <a:spcPct val="150000"/>
                        </a:lnSpc>
                        <a:spcAft>
                          <a:spcPts val="0"/>
                        </a:spcAft>
                      </a:pPr>
                      <a:r>
                        <a:rPr lang="es-PE" sz="2000" b="1" dirty="0">
                          <a:effectLst/>
                        </a:rPr>
                        <a:t>B</a:t>
                      </a:r>
                    </a:p>
                    <a:p>
                      <a:pPr algn="ctr">
                        <a:lnSpc>
                          <a:spcPct val="150000"/>
                        </a:lnSpc>
                        <a:spcAft>
                          <a:spcPts val="0"/>
                        </a:spcAft>
                      </a:pPr>
                      <a:r>
                        <a:rPr lang="es-PE" sz="2000" b="1" dirty="0">
                          <a:effectLst/>
                        </a:rPr>
                        <a:t>C</a:t>
                      </a:r>
                      <a:endParaRPr lang="es-PE" sz="2000" b="1" dirty="0">
                        <a:effectLst/>
                        <a:latin typeface="Times New Roman"/>
                        <a:ea typeface="Calibri"/>
                      </a:endParaRPr>
                    </a:p>
                  </a:txBody>
                  <a:tcPr marL="44450" marR="44450" marT="0" marB="0"/>
                </a:tc>
                <a:tc>
                  <a:txBody>
                    <a:bodyPr/>
                    <a:lstStyle/>
                    <a:p>
                      <a:pPr algn="ctr">
                        <a:lnSpc>
                          <a:spcPct val="150000"/>
                        </a:lnSpc>
                        <a:spcAft>
                          <a:spcPts val="0"/>
                        </a:spcAft>
                      </a:pPr>
                      <a:r>
                        <a:rPr lang="es-PE" sz="2000" b="1" dirty="0">
                          <a:effectLst/>
                        </a:rPr>
                        <a:t>25</a:t>
                      </a:r>
                    </a:p>
                    <a:p>
                      <a:pPr algn="ctr">
                        <a:lnSpc>
                          <a:spcPct val="150000"/>
                        </a:lnSpc>
                        <a:spcAft>
                          <a:spcPts val="0"/>
                        </a:spcAft>
                      </a:pPr>
                      <a:r>
                        <a:rPr lang="es-PE" sz="2000" b="1" dirty="0">
                          <a:effectLst/>
                        </a:rPr>
                        <a:t>10</a:t>
                      </a:r>
                    </a:p>
                    <a:p>
                      <a:pPr algn="ctr">
                        <a:lnSpc>
                          <a:spcPct val="150000"/>
                        </a:lnSpc>
                        <a:spcAft>
                          <a:spcPts val="0"/>
                        </a:spcAft>
                      </a:pPr>
                      <a:r>
                        <a:rPr lang="es-PE" sz="2000" b="1" dirty="0">
                          <a:effectLst/>
                        </a:rPr>
                        <a:t>80</a:t>
                      </a:r>
                      <a:endParaRPr lang="es-PE" sz="2000" b="1" dirty="0">
                        <a:effectLst/>
                        <a:latin typeface="Times New Roman"/>
                        <a:ea typeface="Calibri"/>
                      </a:endParaRPr>
                    </a:p>
                  </a:txBody>
                  <a:tcPr marL="44450" marR="44450" marT="0" marB="0"/>
                </a:tc>
                <a:tc>
                  <a:txBody>
                    <a:bodyPr/>
                    <a:lstStyle/>
                    <a:p>
                      <a:pPr algn="ctr">
                        <a:lnSpc>
                          <a:spcPct val="150000"/>
                        </a:lnSpc>
                        <a:spcAft>
                          <a:spcPts val="0"/>
                        </a:spcAft>
                      </a:pPr>
                      <a:r>
                        <a:rPr lang="es-PE" sz="2000" b="1" dirty="0">
                          <a:effectLst/>
                        </a:rPr>
                        <a:t>40</a:t>
                      </a:r>
                    </a:p>
                    <a:p>
                      <a:pPr algn="ctr">
                        <a:lnSpc>
                          <a:spcPct val="150000"/>
                        </a:lnSpc>
                        <a:spcAft>
                          <a:spcPts val="0"/>
                        </a:spcAft>
                      </a:pPr>
                      <a:r>
                        <a:rPr lang="es-PE" sz="2000" b="1" dirty="0">
                          <a:effectLst/>
                        </a:rPr>
                        <a:t>15</a:t>
                      </a:r>
                    </a:p>
                    <a:p>
                      <a:pPr algn="ctr">
                        <a:lnSpc>
                          <a:spcPct val="150000"/>
                        </a:lnSpc>
                        <a:spcAft>
                          <a:spcPts val="0"/>
                        </a:spcAft>
                      </a:pPr>
                      <a:r>
                        <a:rPr lang="es-PE" sz="2000" b="1" dirty="0">
                          <a:effectLst/>
                        </a:rPr>
                        <a:t>60</a:t>
                      </a:r>
                      <a:endParaRPr lang="es-PE" sz="2000" b="1" dirty="0">
                        <a:effectLst/>
                        <a:latin typeface="Times New Roman"/>
                        <a:ea typeface="Calibri"/>
                      </a:endParaRPr>
                    </a:p>
                  </a:txBody>
                  <a:tcPr marL="44450" marR="44450" marT="0" marB="0"/>
                </a:tc>
                <a:tc>
                  <a:txBody>
                    <a:bodyPr/>
                    <a:lstStyle/>
                    <a:p>
                      <a:pPr algn="ctr">
                        <a:lnSpc>
                          <a:spcPct val="150000"/>
                        </a:lnSpc>
                        <a:spcAft>
                          <a:spcPts val="0"/>
                        </a:spcAft>
                      </a:pPr>
                      <a:r>
                        <a:rPr lang="es-PE" sz="2000" b="1" dirty="0">
                          <a:effectLst/>
                        </a:rPr>
                        <a:t>43</a:t>
                      </a:r>
                    </a:p>
                    <a:p>
                      <a:pPr algn="ctr">
                        <a:lnSpc>
                          <a:spcPct val="150000"/>
                        </a:lnSpc>
                        <a:spcAft>
                          <a:spcPts val="0"/>
                        </a:spcAft>
                      </a:pPr>
                      <a:r>
                        <a:rPr lang="es-PE" sz="2000" b="1" dirty="0">
                          <a:effectLst/>
                        </a:rPr>
                        <a:t>20</a:t>
                      </a:r>
                    </a:p>
                    <a:p>
                      <a:pPr algn="ctr">
                        <a:lnSpc>
                          <a:spcPct val="150000"/>
                        </a:lnSpc>
                        <a:spcAft>
                          <a:spcPts val="0"/>
                        </a:spcAft>
                      </a:pPr>
                      <a:r>
                        <a:rPr lang="es-PE" sz="2000" b="1" dirty="0">
                          <a:effectLst/>
                        </a:rPr>
                        <a:t>50</a:t>
                      </a:r>
                      <a:endParaRPr lang="es-PE" sz="2000" b="1" dirty="0">
                        <a:effectLst/>
                        <a:latin typeface="Times New Roman"/>
                        <a:ea typeface="Calibri"/>
                      </a:endParaRPr>
                    </a:p>
                  </a:txBody>
                  <a:tcPr marL="44450" marR="44450" marT="0" marB="0"/>
                </a:tc>
                <a:extLst>
                  <a:ext uri="{0D108BD9-81ED-4DB2-BD59-A6C34878D82A}">
                    <a16:rowId xmlns:a16="http://schemas.microsoft.com/office/drawing/2014/main" val="10001"/>
                  </a:ext>
                </a:extLst>
              </a:tr>
            </a:tbl>
          </a:graphicData>
        </a:graphic>
      </p:graphicFrame>
      <p:sp>
        <p:nvSpPr>
          <p:cNvPr id="4" name="3 Rectángulo"/>
          <p:cNvSpPr/>
          <p:nvPr/>
        </p:nvSpPr>
        <p:spPr>
          <a:xfrm>
            <a:off x="978657" y="4523748"/>
            <a:ext cx="8655073" cy="2246769"/>
          </a:xfrm>
          <a:prstGeom prst="rect">
            <a:avLst/>
          </a:prstGeom>
        </p:spPr>
        <p:txBody>
          <a:bodyPr wrap="square">
            <a:spAutoFit/>
          </a:bodyPr>
          <a:lstStyle/>
          <a:p>
            <a:pPr algn="just"/>
            <a:r>
              <a:rPr lang="es-PE" sz="2000" b="1" dirty="0"/>
              <a:t>El gerente del departamento de producción aprobó la instalación de los dispositivos anticontaminantes. Las emisiones de cada producto pueden ser manejadas por cualquiera de los dos dispositivos en cualquier proporción. (Las emisiones se envían a través de un dispositivo solamente una vez, es decir, la salida de un dispositivo no puede ser la entrada del otro o de sí mismo). La siguiente tabla muestra el porcentaje de cada contaminante proveniente de cada producto que es eliminado por cada dispositivo</a:t>
            </a:r>
          </a:p>
        </p:txBody>
      </p:sp>
      <p:sp>
        <p:nvSpPr>
          <p:cNvPr id="5" name="Rectangle 2"/>
          <p:cNvSpPr>
            <a:spLocks noGrp="1" noChangeArrowheads="1"/>
          </p:cNvSpPr>
          <p:nvPr>
            <p:ph type="title"/>
          </p:nvPr>
        </p:nvSpPr>
        <p:spPr>
          <a:xfrm>
            <a:off x="6096000" y="250813"/>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24</a:t>
            </a:r>
          </a:p>
        </p:txBody>
      </p:sp>
      <p:pic>
        <p:nvPicPr>
          <p:cNvPr id="7" name="Imagen 6">
            <a:extLst>
              <a:ext uri="{FF2B5EF4-FFF2-40B4-BE49-F238E27FC236}">
                <a16:creationId xmlns:a16="http://schemas.microsoft.com/office/drawing/2014/main" id="{88D6F912-3167-4A31-AD99-A68AE30DF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2567" y="2814878"/>
            <a:ext cx="1611164" cy="1708870"/>
          </a:xfrm>
          <a:prstGeom prst="rect">
            <a:avLst/>
          </a:prstGeom>
        </p:spPr>
      </p:pic>
    </p:spTree>
    <p:extLst>
      <p:ext uri="{BB962C8B-B14F-4D97-AF65-F5344CB8AC3E}">
        <p14:creationId xmlns:p14="http://schemas.microsoft.com/office/powerpoint/2010/main" val="1930416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nvGraphicFramePr>
        <p:xfrm>
          <a:off x="1019761" y="2810601"/>
          <a:ext cx="7002806" cy="1715597"/>
        </p:xfrm>
        <a:graphic>
          <a:graphicData uri="http://schemas.openxmlformats.org/drawingml/2006/table">
            <a:tbl>
              <a:tblPr>
                <a:tableStyleId>{5C22544A-7EE6-4342-B048-85BDC9FD1C3A}</a:tableStyleId>
              </a:tblPr>
              <a:tblGrid>
                <a:gridCol w="2415789">
                  <a:extLst>
                    <a:ext uri="{9D8B030D-6E8A-4147-A177-3AD203B41FA5}">
                      <a16:colId xmlns:a16="http://schemas.microsoft.com/office/drawing/2014/main" val="20000"/>
                    </a:ext>
                  </a:extLst>
                </a:gridCol>
                <a:gridCol w="1087319">
                  <a:extLst>
                    <a:ext uri="{9D8B030D-6E8A-4147-A177-3AD203B41FA5}">
                      <a16:colId xmlns:a16="http://schemas.microsoft.com/office/drawing/2014/main" val="20001"/>
                    </a:ext>
                  </a:extLst>
                </a:gridCol>
                <a:gridCol w="1087319">
                  <a:extLst>
                    <a:ext uri="{9D8B030D-6E8A-4147-A177-3AD203B41FA5}">
                      <a16:colId xmlns:a16="http://schemas.microsoft.com/office/drawing/2014/main" val="20002"/>
                    </a:ext>
                  </a:extLst>
                </a:gridCol>
                <a:gridCol w="1207467">
                  <a:extLst>
                    <a:ext uri="{9D8B030D-6E8A-4147-A177-3AD203B41FA5}">
                      <a16:colId xmlns:a16="http://schemas.microsoft.com/office/drawing/2014/main" val="20003"/>
                    </a:ext>
                  </a:extLst>
                </a:gridCol>
                <a:gridCol w="1204912">
                  <a:extLst>
                    <a:ext uri="{9D8B030D-6E8A-4147-A177-3AD203B41FA5}">
                      <a16:colId xmlns:a16="http://schemas.microsoft.com/office/drawing/2014/main" val="20004"/>
                    </a:ext>
                  </a:extLst>
                </a:gridCol>
              </a:tblGrid>
              <a:tr h="407939">
                <a:tc>
                  <a:txBody>
                    <a:bodyPr/>
                    <a:lstStyle/>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CONTAMINANTE</a:t>
                      </a:r>
                    </a:p>
                  </a:txBody>
                  <a:tcPr marL="44450" marR="44450" marT="0" marB="0"/>
                </a:tc>
                <a:tc gridSpan="2">
                  <a:txBody>
                    <a:bodyPr/>
                    <a:lstStyle/>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DISPOSITIVO 1</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CS-01       CS-02</a:t>
                      </a:r>
                    </a:p>
                  </a:txBody>
                  <a:tcPr marL="44450" marR="44450" marT="0" marB="0"/>
                </a:tc>
                <a:tc hMerge="1">
                  <a:txBody>
                    <a:bodyPr/>
                    <a:lstStyle/>
                    <a:p>
                      <a:endParaRPr lang="es-PE"/>
                    </a:p>
                  </a:txBody>
                  <a:tcPr/>
                </a:tc>
                <a:tc gridSpan="2">
                  <a:txBody>
                    <a:bodyPr/>
                    <a:lstStyle/>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DISPOSITIVO 2</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CS-01       CS-02</a:t>
                      </a:r>
                    </a:p>
                  </a:txBody>
                  <a:tcPr marL="44450" marR="44450" marT="0" marB="0"/>
                </a:tc>
                <a:tc hMerge="1">
                  <a:txBody>
                    <a:bodyPr/>
                    <a:lstStyle/>
                    <a:p>
                      <a:endParaRPr lang="es-PE"/>
                    </a:p>
                  </a:txBody>
                  <a:tcPr/>
                </a:tc>
                <a:extLst>
                  <a:ext uri="{0D108BD9-81ED-4DB2-BD59-A6C34878D82A}">
                    <a16:rowId xmlns:a16="http://schemas.microsoft.com/office/drawing/2014/main" val="10000"/>
                  </a:ext>
                </a:extLst>
              </a:tr>
              <a:tr h="1105997">
                <a:tc>
                  <a:txBody>
                    <a:bodyPr/>
                    <a:lstStyle/>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A</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B</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C</a:t>
                      </a:r>
                    </a:p>
                  </a:txBody>
                  <a:tcPr marL="44450" marR="44450" marT="0" marB="0"/>
                </a:tc>
                <a:tc>
                  <a:txBody>
                    <a:bodyPr/>
                    <a:lstStyle/>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40</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60</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55</a:t>
                      </a:r>
                    </a:p>
                  </a:txBody>
                  <a:tcPr marL="44450" marR="44450" marT="0" marB="0"/>
                </a:tc>
                <a:tc>
                  <a:txBody>
                    <a:bodyPr/>
                    <a:lstStyle/>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40</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60</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55</a:t>
                      </a:r>
                    </a:p>
                  </a:txBody>
                  <a:tcPr marL="44450" marR="44450" marT="0" marB="0"/>
                </a:tc>
                <a:tc>
                  <a:txBody>
                    <a:bodyPr/>
                    <a:lstStyle/>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30</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0</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65</a:t>
                      </a:r>
                    </a:p>
                  </a:txBody>
                  <a:tcPr marL="44450" marR="44450" marT="0" marB="0"/>
                </a:tc>
                <a:tc>
                  <a:txBody>
                    <a:bodyPr/>
                    <a:lstStyle/>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20</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0</a:t>
                      </a:r>
                    </a:p>
                    <a:p>
                      <a:pPr marL="0" algn="ctr" defTabSz="914400" rtl="0" eaLnBrk="1" latinLnBrk="0" hangingPunct="1">
                        <a:lnSpc>
                          <a:spcPct val="100000"/>
                        </a:lnSpc>
                        <a:spcAft>
                          <a:spcPts val="0"/>
                        </a:spcAft>
                      </a:pPr>
                      <a:r>
                        <a:rPr lang="es-PE" sz="2000" b="1" kern="1200" dirty="0">
                          <a:solidFill>
                            <a:schemeClr val="dk1"/>
                          </a:solidFill>
                          <a:effectLst/>
                          <a:latin typeface="+mn-lt"/>
                          <a:ea typeface="+mn-ea"/>
                          <a:cs typeface="+mn-cs"/>
                        </a:rPr>
                        <a:t>80</a:t>
                      </a:r>
                    </a:p>
                  </a:txBody>
                  <a:tcPr marL="44450" marR="44450" marT="0" marB="0"/>
                </a:tc>
                <a:extLst>
                  <a:ext uri="{0D108BD9-81ED-4DB2-BD59-A6C34878D82A}">
                    <a16:rowId xmlns:a16="http://schemas.microsoft.com/office/drawing/2014/main" val="10001"/>
                  </a:ext>
                </a:extLst>
              </a:tr>
            </a:tbl>
          </a:graphicData>
        </a:graphic>
      </p:graphicFrame>
      <p:sp>
        <p:nvSpPr>
          <p:cNvPr id="5" name="4 Rectángulo"/>
          <p:cNvSpPr/>
          <p:nvPr/>
        </p:nvSpPr>
        <p:spPr>
          <a:xfrm>
            <a:off x="1019759" y="4596408"/>
            <a:ext cx="8613971" cy="1938992"/>
          </a:xfrm>
          <a:prstGeom prst="rect">
            <a:avLst/>
          </a:prstGeom>
        </p:spPr>
        <p:txBody>
          <a:bodyPr wrap="square">
            <a:spAutoFit/>
          </a:bodyPr>
          <a:lstStyle/>
          <a:p>
            <a:pPr algn="just"/>
            <a:r>
              <a:rPr lang="es-PE" sz="2000" b="1" dirty="0"/>
              <a:t>Por ejemplo, si la emisión de CS-01 se envía a través del dispositivo 1, se elimina 40% del contaminante A, 60% del contaminante B y 55% del contaminante C. Las consideraciones de fabricación dictan que CS-01 y CS-02 deben producirse en la proporción de 2 a 1. Formule un modelo para determinar un plan que maximice la producción diaria total (cantidad de CS-01 más CS-02) al mismo tiempo que satisfaga los requerimientos gubernamentales. </a:t>
            </a:r>
          </a:p>
        </p:txBody>
      </p:sp>
      <p:sp>
        <p:nvSpPr>
          <p:cNvPr id="8" name="Rectangle 2">
            <a:extLst>
              <a:ext uri="{FF2B5EF4-FFF2-40B4-BE49-F238E27FC236}">
                <a16:creationId xmlns:a16="http://schemas.microsoft.com/office/drawing/2014/main" id="{7E256378-2144-4E2C-B987-94AF63F1E26D}"/>
              </a:ext>
            </a:extLst>
          </p:cNvPr>
          <p:cNvSpPr>
            <a:spLocks noGrp="1" noChangeArrowheads="1"/>
          </p:cNvSpPr>
          <p:nvPr>
            <p:ph type="title"/>
          </p:nvPr>
        </p:nvSpPr>
        <p:spPr>
          <a:xfrm>
            <a:off x="6096000" y="250813"/>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24</a:t>
            </a:r>
          </a:p>
        </p:txBody>
      </p:sp>
      <p:pic>
        <p:nvPicPr>
          <p:cNvPr id="6" name="Imagen 5">
            <a:extLst>
              <a:ext uri="{FF2B5EF4-FFF2-40B4-BE49-F238E27FC236}">
                <a16:creationId xmlns:a16="http://schemas.microsoft.com/office/drawing/2014/main" id="{0E218A92-BFFD-D370-108F-3914A94960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2567" y="2814878"/>
            <a:ext cx="1611164" cy="1708870"/>
          </a:xfrm>
          <a:prstGeom prst="rect">
            <a:avLst/>
          </a:prstGeom>
        </p:spPr>
      </p:pic>
    </p:spTree>
    <p:extLst>
      <p:ext uri="{BB962C8B-B14F-4D97-AF65-F5344CB8AC3E}">
        <p14:creationId xmlns:p14="http://schemas.microsoft.com/office/powerpoint/2010/main" val="11637326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792B02F4-9141-435E-9EEF-C959A0D087B5}"/>
              </a:ext>
            </a:extLst>
          </p:cNvPr>
          <p:cNvGraphicFramePr>
            <a:graphicFrameLocks noGrp="1"/>
          </p:cNvGraphicFramePr>
          <p:nvPr/>
        </p:nvGraphicFramePr>
        <p:xfrm>
          <a:off x="1337093" y="1406099"/>
          <a:ext cx="9437298" cy="5103740"/>
        </p:xfrm>
        <a:graphic>
          <a:graphicData uri="http://schemas.openxmlformats.org/drawingml/2006/table">
            <a:tbl>
              <a:tblPr>
                <a:tableStyleId>{5C22544A-7EE6-4342-B048-85BDC9FD1C3A}</a:tableStyleId>
              </a:tblPr>
              <a:tblGrid>
                <a:gridCol w="1730453">
                  <a:extLst>
                    <a:ext uri="{9D8B030D-6E8A-4147-A177-3AD203B41FA5}">
                      <a16:colId xmlns:a16="http://schemas.microsoft.com/office/drawing/2014/main" val="488303407"/>
                    </a:ext>
                  </a:extLst>
                </a:gridCol>
                <a:gridCol w="1415313">
                  <a:extLst>
                    <a:ext uri="{9D8B030D-6E8A-4147-A177-3AD203B41FA5}">
                      <a16:colId xmlns:a16="http://schemas.microsoft.com/office/drawing/2014/main" val="892227205"/>
                    </a:ext>
                  </a:extLst>
                </a:gridCol>
                <a:gridCol w="1572883">
                  <a:extLst>
                    <a:ext uri="{9D8B030D-6E8A-4147-A177-3AD203B41FA5}">
                      <a16:colId xmlns:a16="http://schemas.microsoft.com/office/drawing/2014/main" val="3299431976"/>
                    </a:ext>
                  </a:extLst>
                </a:gridCol>
                <a:gridCol w="1572883">
                  <a:extLst>
                    <a:ext uri="{9D8B030D-6E8A-4147-A177-3AD203B41FA5}">
                      <a16:colId xmlns:a16="http://schemas.microsoft.com/office/drawing/2014/main" val="2554584657"/>
                    </a:ext>
                  </a:extLst>
                </a:gridCol>
                <a:gridCol w="1440637">
                  <a:extLst>
                    <a:ext uri="{9D8B030D-6E8A-4147-A177-3AD203B41FA5}">
                      <a16:colId xmlns:a16="http://schemas.microsoft.com/office/drawing/2014/main" val="1098164328"/>
                    </a:ext>
                  </a:extLst>
                </a:gridCol>
                <a:gridCol w="1705129">
                  <a:extLst>
                    <a:ext uri="{9D8B030D-6E8A-4147-A177-3AD203B41FA5}">
                      <a16:colId xmlns:a16="http://schemas.microsoft.com/office/drawing/2014/main" val="2802089767"/>
                    </a:ext>
                  </a:extLst>
                </a:gridCol>
              </a:tblGrid>
              <a:tr h="477688">
                <a:tc>
                  <a:txBody>
                    <a:bodyPr/>
                    <a:lstStyle/>
                    <a:p>
                      <a:pPr algn="ctr" rtl="0" fontAlgn="ctr"/>
                      <a:r>
                        <a:rPr lang="es-PE" sz="1800" b="1" u="none" strike="noStrike" dirty="0">
                          <a:effectLst/>
                        </a:rPr>
                        <a:t>CONTAMINANTE</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CS-01</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CS-02</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CS-01</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CS-02</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MAX. PERMITIDO</a:t>
                      </a:r>
                      <a:endParaRPr lang="es-PE" sz="1800" b="1" i="0" u="none" strike="noStrike" dirty="0">
                        <a:solidFill>
                          <a:srgbClr val="000000"/>
                        </a:solidFill>
                        <a:effectLst/>
                        <a:latin typeface="Calibri" panose="020F0502020204030204" pitchFamily="34" charset="0"/>
                      </a:endParaRPr>
                    </a:p>
                  </a:txBody>
                  <a:tcPr marL="6969" marR="6969" marT="6969" marB="0" anchor="ctr"/>
                </a:tc>
                <a:extLst>
                  <a:ext uri="{0D108BD9-81ED-4DB2-BD59-A6C34878D82A}">
                    <a16:rowId xmlns:a16="http://schemas.microsoft.com/office/drawing/2014/main" val="3976929383"/>
                  </a:ext>
                </a:extLst>
              </a:tr>
              <a:tr h="284067">
                <a:tc>
                  <a:txBody>
                    <a:bodyPr/>
                    <a:lstStyle/>
                    <a:p>
                      <a:pPr algn="ctr" rtl="0" fontAlgn="ctr"/>
                      <a:r>
                        <a:rPr lang="es-PE" sz="1800" b="1" u="none" strike="noStrike" dirty="0">
                          <a:effectLst/>
                        </a:rPr>
                        <a:t>A</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25</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40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25</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40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solidFill>
                            <a:srgbClr val="FF0000"/>
                          </a:solidFill>
                          <a:effectLst/>
                        </a:rPr>
                        <a:t>43</a:t>
                      </a:r>
                      <a:endParaRPr lang="es-PE" sz="1800" b="1" i="0" u="none" strike="noStrike" dirty="0">
                        <a:solidFill>
                          <a:srgbClr val="FF0000"/>
                        </a:solidFill>
                        <a:effectLst/>
                        <a:latin typeface="Calibri" panose="020F0502020204030204" pitchFamily="34" charset="0"/>
                      </a:endParaRPr>
                    </a:p>
                  </a:txBody>
                  <a:tcPr marL="6969" marR="6969" marT="6969" marB="0" anchor="ctr"/>
                </a:tc>
                <a:extLst>
                  <a:ext uri="{0D108BD9-81ED-4DB2-BD59-A6C34878D82A}">
                    <a16:rowId xmlns:a16="http://schemas.microsoft.com/office/drawing/2014/main" val="3586716731"/>
                  </a:ext>
                </a:extLst>
              </a:tr>
              <a:tr h="284067">
                <a:tc>
                  <a:txBody>
                    <a:bodyPr/>
                    <a:lstStyle/>
                    <a:p>
                      <a:pPr algn="ctr" rtl="0" fontAlgn="ctr"/>
                      <a:r>
                        <a:rPr lang="es-PE" sz="1800" b="1" u="none" strike="noStrike" dirty="0">
                          <a:effectLst/>
                        </a:rPr>
                        <a:t>B</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10</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15</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10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15</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solidFill>
                            <a:srgbClr val="FF0000"/>
                          </a:solidFill>
                          <a:effectLst/>
                        </a:rPr>
                        <a:t>20</a:t>
                      </a:r>
                      <a:endParaRPr lang="es-PE" sz="1800" b="1" i="0" u="none" strike="noStrike" dirty="0">
                        <a:solidFill>
                          <a:srgbClr val="FF0000"/>
                        </a:solidFill>
                        <a:effectLst/>
                        <a:latin typeface="Calibri" panose="020F0502020204030204" pitchFamily="34" charset="0"/>
                      </a:endParaRPr>
                    </a:p>
                  </a:txBody>
                  <a:tcPr marL="6969" marR="6969" marT="6969" marB="0" anchor="ctr"/>
                </a:tc>
                <a:extLst>
                  <a:ext uri="{0D108BD9-81ED-4DB2-BD59-A6C34878D82A}">
                    <a16:rowId xmlns:a16="http://schemas.microsoft.com/office/drawing/2014/main" val="227553028"/>
                  </a:ext>
                </a:extLst>
              </a:tr>
              <a:tr h="292183">
                <a:tc>
                  <a:txBody>
                    <a:bodyPr/>
                    <a:lstStyle/>
                    <a:p>
                      <a:pPr algn="ctr" rtl="0" fontAlgn="ctr"/>
                      <a:r>
                        <a:rPr lang="es-PE" sz="1800" b="1" u="none" strike="noStrike" dirty="0">
                          <a:effectLst/>
                        </a:rPr>
                        <a:t>C</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80</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60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80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60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solidFill>
                            <a:srgbClr val="FF0000"/>
                          </a:solidFill>
                          <a:effectLst/>
                        </a:rPr>
                        <a:t>50</a:t>
                      </a:r>
                      <a:endParaRPr lang="es-PE" sz="1800" b="1" i="0" u="none" strike="noStrike" dirty="0">
                        <a:solidFill>
                          <a:srgbClr val="FF0000"/>
                        </a:solidFill>
                        <a:effectLst/>
                        <a:latin typeface="Calibri" panose="020F0502020204030204" pitchFamily="34" charset="0"/>
                      </a:endParaRPr>
                    </a:p>
                  </a:txBody>
                  <a:tcPr marL="6969" marR="6969" marT="6969" marB="0" anchor="ctr"/>
                </a:tc>
                <a:extLst>
                  <a:ext uri="{0D108BD9-81ED-4DB2-BD59-A6C34878D82A}">
                    <a16:rowId xmlns:a16="http://schemas.microsoft.com/office/drawing/2014/main" val="1380615346"/>
                  </a:ext>
                </a:extLst>
              </a:tr>
              <a:tr h="273836">
                <a:tc>
                  <a:txBody>
                    <a:bodyPr/>
                    <a:lstStyle/>
                    <a:p>
                      <a:pPr algn="l" fontAlgn="b"/>
                      <a:endParaRPr lang="es-PE" sz="1800" b="1" i="0" u="none" strike="noStrike" dirty="0">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dirty="0">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427250742"/>
                  </a:ext>
                </a:extLst>
              </a:tr>
              <a:tr h="495090">
                <a:tc rowSpan="2">
                  <a:txBody>
                    <a:bodyPr/>
                    <a:lstStyle/>
                    <a:p>
                      <a:pPr algn="ctr" rtl="0" fontAlgn="ctr"/>
                      <a:r>
                        <a:rPr lang="es-PE" sz="1800" b="1" u="none" strike="noStrike" dirty="0">
                          <a:effectLst/>
                        </a:rPr>
                        <a:t>CONTAMINANTE</a:t>
                      </a:r>
                      <a:endParaRPr lang="es-PE" sz="1800" b="1" i="0" u="none" strike="noStrike" dirty="0">
                        <a:solidFill>
                          <a:srgbClr val="000000"/>
                        </a:solidFill>
                        <a:effectLst/>
                        <a:latin typeface="Calibri" panose="020F0502020204030204" pitchFamily="34" charset="0"/>
                      </a:endParaRPr>
                    </a:p>
                  </a:txBody>
                  <a:tcPr marL="6969" marR="6969" marT="6969" marB="0" anchor="ctr"/>
                </a:tc>
                <a:tc gridSpan="2">
                  <a:txBody>
                    <a:bodyPr/>
                    <a:lstStyle/>
                    <a:p>
                      <a:pPr algn="ctr" rtl="0" fontAlgn="ctr"/>
                      <a:r>
                        <a:rPr lang="es-PE" sz="1800" b="1" u="none" strike="noStrike" dirty="0">
                          <a:effectLst/>
                        </a:rPr>
                        <a:t>DISPOSITIVO 1</a:t>
                      </a:r>
                      <a:endParaRPr lang="es-PE" sz="1800" b="1" i="0" u="none" strike="noStrike" dirty="0">
                        <a:solidFill>
                          <a:srgbClr val="000000"/>
                        </a:solidFill>
                        <a:effectLst/>
                        <a:latin typeface="Calibri" panose="020F0502020204030204" pitchFamily="34" charset="0"/>
                      </a:endParaRPr>
                    </a:p>
                  </a:txBody>
                  <a:tcPr marL="6969" marR="6969" marT="6969" marB="0" anchor="ctr"/>
                </a:tc>
                <a:tc hMerge="1">
                  <a:txBody>
                    <a:bodyPr/>
                    <a:lstStyle/>
                    <a:p>
                      <a:endParaRPr lang="es-PE"/>
                    </a:p>
                  </a:txBody>
                  <a:tcPr/>
                </a:tc>
                <a:tc gridSpan="2">
                  <a:txBody>
                    <a:bodyPr/>
                    <a:lstStyle/>
                    <a:p>
                      <a:pPr algn="ctr" rtl="0" fontAlgn="ctr"/>
                      <a:r>
                        <a:rPr lang="es-PE" sz="1800" b="1" u="none" strike="noStrike">
                          <a:effectLst/>
                        </a:rPr>
                        <a:t>DISPOSITIVO 2</a:t>
                      </a:r>
                      <a:endParaRPr lang="es-PE" sz="1800" b="1" i="0" u="none" strike="noStrike">
                        <a:solidFill>
                          <a:srgbClr val="000000"/>
                        </a:solidFill>
                        <a:effectLst/>
                        <a:latin typeface="Calibri" panose="020F0502020204030204" pitchFamily="34" charset="0"/>
                      </a:endParaRPr>
                    </a:p>
                  </a:txBody>
                  <a:tcPr marL="6969" marR="6969" marT="6969" marB="0" anchor="ctr"/>
                </a:tc>
                <a:tc hMerge="1">
                  <a:txBody>
                    <a:bodyPr/>
                    <a:lstStyle/>
                    <a:p>
                      <a:endParaRPr lang="es-PE"/>
                    </a:p>
                  </a:txBody>
                  <a:tcPr/>
                </a:tc>
                <a:tc>
                  <a:txBody>
                    <a:bodyPr/>
                    <a:lstStyle/>
                    <a:p>
                      <a:pPr algn="l" fontAlgn="b"/>
                      <a:endParaRPr lang="es-PE" sz="1800" b="1" i="0" u="none" strike="noStrike" dirty="0">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4236785816"/>
                  </a:ext>
                </a:extLst>
              </a:tr>
              <a:tr h="273836">
                <a:tc vMerge="1">
                  <a:txBody>
                    <a:bodyPr/>
                    <a:lstStyle/>
                    <a:p>
                      <a:endParaRPr lang="es-PE"/>
                    </a:p>
                  </a:txBody>
                  <a:tcPr/>
                </a:tc>
                <a:tc gridSpan="2">
                  <a:txBody>
                    <a:bodyPr/>
                    <a:lstStyle/>
                    <a:p>
                      <a:pPr algn="ctr" rtl="0" fontAlgn="ctr"/>
                      <a:r>
                        <a:rPr lang="es-PE" sz="1800" b="1" u="none" strike="noStrike" dirty="0">
                          <a:effectLst/>
                        </a:rPr>
                        <a:t>CS-01       CS-02</a:t>
                      </a:r>
                      <a:endParaRPr lang="es-PE" sz="1800" b="1" i="0" u="none" strike="noStrike" dirty="0">
                        <a:solidFill>
                          <a:srgbClr val="000000"/>
                        </a:solidFill>
                        <a:effectLst/>
                        <a:latin typeface="Calibri" panose="020F0502020204030204" pitchFamily="34" charset="0"/>
                      </a:endParaRPr>
                    </a:p>
                  </a:txBody>
                  <a:tcPr marL="6969" marR="6969" marT="6969" marB="0" anchor="ctr"/>
                </a:tc>
                <a:tc hMerge="1">
                  <a:txBody>
                    <a:bodyPr/>
                    <a:lstStyle/>
                    <a:p>
                      <a:endParaRPr lang="es-PE"/>
                    </a:p>
                  </a:txBody>
                  <a:tcPr/>
                </a:tc>
                <a:tc gridSpan="2">
                  <a:txBody>
                    <a:bodyPr/>
                    <a:lstStyle/>
                    <a:p>
                      <a:pPr algn="ctr" rtl="0" fontAlgn="ctr"/>
                      <a:r>
                        <a:rPr lang="es-PE" sz="1800" b="1" u="none" strike="noStrike">
                          <a:effectLst/>
                        </a:rPr>
                        <a:t>CS-01       CS-02</a:t>
                      </a:r>
                      <a:endParaRPr lang="es-PE" sz="1800" b="1" i="0" u="none" strike="noStrike">
                        <a:solidFill>
                          <a:srgbClr val="000000"/>
                        </a:solidFill>
                        <a:effectLst/>
                        <a:latin typeface="Calibri" panose="020F0502020204030204" pitchFamily="34" charset="0"/>
                      </a:endParaRPr>
                    </a:p>
                  </a:txBody>
                  <a:tcPr marL="6969" marR="6969" marT="6969" marB="0" anchor="ctr"/>
                </a:tc>
                <a:tc hMerge="1">
                  <a:txBody>
                    <a:bodyPr/>
                    <a:lstStyle/>
                    <a:p>
                      <a:endParaRPr lang="es-PE"/>
                    </a:p>
                  </a:txBody>
                  <a:tcPr/>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2705346678"/>
                  </a:ext>
                </a:extLst>
              </a:tr>
              <a:tr h="273836">
                <a:tc>
                  <a:txBody>
                    <a:bodyPr/>
                    <a:lstStyle/>
                    <a:p>
                      <a:pPr algn="ctr" rtl="0" fontAlgn="ctr"/>
                      <a:r>
                        <a:rPr lang="es-PE" sz="1800" b="1" u="none" strike="noStrike" dirty="0">
                          <a:effectLst/>
                        </a:rPr>
                        <a:t>A</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40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40</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30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20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1989040705"/>
                  </a:ext>
                </a:extLst>
              </a:tr>
              <a:tr h="273836">
                <a:tc>
                  <a:txBody>
                    <a:bodyPr/>
                    <a:lstStyle/>
                    <a:p>
                      <a:pPr algn="ctr" rtl="0" fontAlgn="ctr"/>
                      <a:r>
                        <a:rPr lang="es-PE" sz="1800" b="1" u="none" strike="noStrike" dirty="0">
                          <a:effectLst/>
                        </a:rPr>
                        <a:t>B</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60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60</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0</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2736724344"/>
                  </a:ext>
                </a:extLst>
              </a:tr>
              <a:tr h="273836">
                <a:tc>
                  <a:txBody>
                    <a:bodyPr/>
                    <a:lstStyle/>
                    <a:p>
                      <a:pPr algn="ctr" rtl="0" fontAlgn="ctr"/>
                      <a:r>
                        <a:rPr lang="es-PE" sz="1800" b="1" u="none" strike="noStrike" dirty="0">
                          <a:effectLst/>
                        </a:rPr>
                        <a:t>C</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a:effectLst/>
                        </a:rPr>
                        <a:t>55</a:t>
                      </a:r>
                      <a:endParaRPr lang="es-PE" sz="1800" b="1" i="0" u="none" strike="noStrike">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55</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65</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80</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l" fontAlgn="b"/>
                      <a:endParaRPr lang="es-PE" sz="1800" b="1" i="0" u="none" strike="noStrike" dirty="0">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3933774662"/>
                  </a:ext>
                </a:extLst>
              </a:tr>
              <a:tr h="273836">
                <a:tc>
                  <a:txBody>
                    <a:bodyPr/>
                    <a:lstStyle/>
                    <a:p>
                      <a:pPr algn="l" fontAlgn="b"/>
                      <a:endParaRPr lang="es-PE" sz="1800" b="1" i="0" u="none" strike="noStrike" dirty="0">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4030067647"/>
                  </a:ext>
                </a:extLst>
              </a:tr>
              <a:tr h="273836">
                <a:tc rowSpan="2">
                  <a:txBody>
                    <a:bodyPr/>
                    <a:lstStyle/>
                    <a:p>
                      <a:pPr algn="ctr" rtl="0" fontAlgn="ctr"/>
                      <a:r>
                        <a:rPr lang="es-PE" sz="1800" b="1" u="none" strike="noStrike" dirty="0">
                          <a:effectLst/>
                        </a:rPr>
                        <a:t>CONTAMINANTE</a:t>
                      </a:r>
                      <a:endParaRPr lang="es-PE" sz="1800" b="1" i="0" u="none" strike="noStrike" dirty="0">
                        <a:solidFill>
                          <a:srgbClr val="000000"/>
                        </a:solidFill>
                        <a:effectLst/>
                        <a:latin typeface="Calibri" panose="020F0502020204030204" pitchFamily="34" charset="0"/>
                      </a:endParaRPr>
                    </a:p>
                  </a:txBody>
                  <a:tcPr marL="6969" marR="6969" marT="6969" marB="0" anchor="ctr"/>
                </a:tc>
                <a:tc gridSpan="2">
                  <a:txBody>
                    <a:bodyPr/>
                    <a:lstStyle/>
                    <a:p>
                      <a:pPr algn="ctr" rtl="0" fontAlgn="ctr"/>
                      <a:r>
                        <a:rPr lang="es-PE" sz="1800" b="1" u="none" strike="noStrike" dirty="0">
                          <a:effectLst/>
                        </a:rPr>
                        <a:t>RESULTADO DEL DISPOSITIVO 1</a:t>
                      </a:r>
                      <a:endParaRPr lang="es-PE" sz="1800" b="1" i="0" u="none" strike="noStrike" dirty="0">
                        <a:solidFill>
                          <a:srgbClr val="000000"/>
                        </a:solidFill>
                        <a:effectLst/>
                        <a:latin typeface="Calibri" panose="020F0502020204030204" pitchFamily="34" charset="0"/>
                      </a:endParaRPr>
                    </a:p>
                  </a:txBody>
                  <a:tcPr marL="6969" marR="6969" marT="6969" marB="0" anchor="ctr"/>
                </a:tc>
                <a:tc hMerge="1">
                  <a:txBody>
                    <a:bodyPr/>
                    <a:lstStyle/>
                    <a:p>
                      <a:endParaRPr lang="es-PE"/>
                    </a:p>
                  </a:txBody>
                  <a:tcPr/>
                </a:tc>
                <a:tc gridSpan="2">
                  <a:txBody>
                    <a:bodyPr/>
                    <a:lstStyle/>
                    <a:p>
                      <a:pPr algn="ctr" rtl="0" fontAlgn="ctr"/>
                      <a:r>
                        <a:rPr lang="es-PE" sz="1800" b="1" u="none" strike="noStrike" dirty="0">
                          <a:effectLst/>
                        </a:rPr>
                        <a:t>RESULTADO DEL DISPOSITIVO 2</a:t>
                      </a:r>
                      <a:endParaRPr lang="es-PE" sz="1800" b="1" i="0" u="none" strike="noStrike" dirty="0">
                        <a:solidFill>
                          <a:srgbClr val="000000"/>
                        </a:solidFill>
                        <a:effectLst/>
                        <a:latin typeface="Calibri" panose="020F0502020204030204" pitchFamily="34" charset="0"/>
                      </a:endParaRPr>
                    </a:p>
                  </a:txBody>
                  <a:tcPr marL="6969" marR="6969" marT="6969" marB="0" anchor="ctr"/>
                </a:tc>
                <a:tc hMerge="1">
                  <a:txBody>
                    <a:bodyPr/>
                    <a:lstStyle/>
                    <a:p>
                      <a:endParaRPr lang="es-PE"/>
                    </a:p>
                  </a:txBody>
                  <a:tcPr/>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991441227"/>
                  </a:ext>
                </a:extLst>
              </a:tr>
              <a:tr h="457755">
                <a:tc vMerge="1">
                  <a:txBody>
                    <a:bodyPr/>
                    <a:lstStyle/>
                    <a:p>
                      <a:endParaRPr lang="es-PE"/>
                    </a:p>
                  </a:txBody>
                  <a:tcPr/>
                </a:tc>
                <a:tc gridSpan="2">
                  <a:txBody>
                    <a:bodyPr/>
                    <a:lstStyle/>
                    <a:p>
                      <a:pPr algn="ctr" rtl="0" fontAlgn="ctr"/>
                      <a:r>
                        <a:rPr lang="es-PE" sz="1800" b="1" u="none" strike="noStrike">
                          <a:effectLst/>
                        </a:rPr>
                        <a:t>CS-01       CS-02</a:t>
                      </a:r>
                      <a:endParaRPr lang="es-PE" sz="1800" b="1" i="0" u="none" strike="noStrike">
                        <a:solidFill>
                          <a:srgbClr val="000000"/>
                        </a:solidFill>
                        <a:effectLst/>
                        <a:latin typeface="Calibri" panose="020F0502020204030204" pitchFamily="34" charset="0"/>
                      </a:endParaRPr>
                    </a:p>
                  </a:txBody>
                  <a:tcPr marL="6969" marR="6969" marT="6969" marB="0" anchor="ctr"/>
                </a:tc>
                <a:tc hMerge="1">
                  <a:txBody>
                    <a:bodyPr/>
                    <a:lstStyle/>
                    <a:p>
                      <a:endParaRPr lang="es-PE"/>
                    </a:p>
                  </a:txBody>
                  <a:tcPr/>
                </a:tc>
                <a:tc gridSpan="2">
                  <a:txBody>
                    <a:bodyPr/>
                    <a:lstStyle/>
                    <a:p>
                      <a:pPr algn="ctr" rtl="0" fontAlgn="ctr"/>
                      <a:r>
                        <a:rPr lang="es-PE" sz="1800" b="1" u="none" strike="noStrike">
                          <a:effectLst/>
                        </a:rPr>
                        <a:t>CS-01       CS-02</a:t>
                      </a:r>
                      <a:endParaRPr lang="es-PE" sz="1800" b="1" i="0" u="none" strike="noStrike">
                        <a:solidFill>
                          <a:srgbClr val="000000"/>
                        </a:solidFill>
                        <a:effectLst/>
                        <a:latin typeface="Calibri" panose="020F0502020204030204" pitchFamily="34" charset="0"/>
                      </a:endParaRPr>
                    </a:p>
                  </a:txBody>
                  <a:tcPr marL="6969" marR="6969" marT="6969" marB="0" anchor="ctr"/>
                </a:tc>
                <a:tc hMerge="1">
                  <a:txBody>
                    <a:bodyPr/>
                    <a:lstStyle/>
                    <a:p>
                      <a:endParaRPr lang="es-PE"/>
                    </a:p>
                  </a:txBody>
                  <a:tcPr/>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435761143"/>
                  </a:ext>
                </a:extLst>
              </a:tr>
              <a:tr h="273836">
                <a:tc>
                  <a:txBody>
                    <a:bodyPr/>
                    <a:lstStyle/>
                    <a:p>
                      <a:pPr algn="ctr" rtl="0" fontAlgn="ctr"/>
                      <a:r>
                        <a:rPr lang="es-PE" sz="1800" b="1" u="none" strike="noStrike" dirty="0">
                          <a:effectLst/>
                        </a:rPr>
                        <a:t>A</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15</a:t>
                      </a:r>
                      <a:endParaRPr lang="es-PE" sz="1800" b="1" i="0" u="none" strike="noStrike" dirty="0">
                        <a:solidFill>
                          <a:srgbClr val="000000"/>
                        </a:solidFill>
                        <a:effectLst/>
                        <a:latin typeface="Calibri" panose="020F0502020204030204" pitchFamily="34" charset="0"/>
                      </a:endParaRPr>
                    </a:p>
                  </a:txBody>
                  <a:tcPr marL="6969" marR="6969" marT="6969" marB="0" anchor="ctr">
                    <a:solidFill>
                      <a:srgbClr val="FFFF00"/>
                    </a:solidFill>
                  </a:tcPr>
                </a:tc>
                <a:tc>
                  <a:txBody>
                    <a:bodyPr/>
                    <a:lstStyle/>
                    <a:p>
                      <a:pPr algn="ctr" rtl="0" fontAlgn="ctr"/>
                      <a:r>
                        <a:rPr lang="es-PE" sz="1800" b="1" u="none" strike="noStrike" dirty="0">
                          <a:effectLst/>
                        </a:rPr>
                        <a:t>24</a:t>
                      </a:r>
                      <a:endParaRPr lang="es-PE" sz="1800" b="1" i="0" u="none" strike="noStrike" dirty="0">
                        <a:solidFill>
                          <a:srgbClr val="000000"/>
                        </a:solidFill>
                        <a:effectLst/>
                        <a:latin typeface="Calibri" panose="020F0502020204030204" pitchFamily="34" charset="0"/>
                      </a:endParaRPr>
                    </a:p>
                  </a:txBody>
                  <a:tcPr marL="6969" marR="6969" marT="6969" marB="0" anchor="ctr">
                    <a:solidFill>
                      <a:srgbClr val="FFFF00"/>
                    </a:solidFill>
                  </a:tcPr>
                </a:tc>
                <a:tc>
                  <a:txBody>
                    <a:bodyPr/>
                    <a:lstStyle/>
                    <a:p>
                      <a:pPr algn="ctr" rtl="0" fontAlgn="ctr"/>
                      <a:r>
                        <a:rPr lang="es-PE" sz="1800" b="1" u="none" strike="noStrike" dirty="0">
                          <a:effectLst/>
                        </a:rPr>
                        <a:t>17,5</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32</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62347407"/>
                  </a:ext>
                </a:extLst>
              </a:tr>
              <a:tr h="273836">
                <a:tc>
                  <a:txBody>
                    <a:bodyPr/>
                    <a:lstStyle/>
                    <a:p>
                      <a:pPr algn="ctr" rtl="0" fontAlgn="ctr"/>
                      <a:r>
                        <a:rPr lang="es-PE" sz="1800" b="1" u="none" strike="noStrike" dirty="0">
                          <a:effectLst/>
                        </a:rPr>
                        <a:t>B</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4</a:t>
                      </a:r>
                      <a:endParaRPr lang="es-PE" sz="1800" b="1" i="0" u="none" strike="noStrike" dirty="0">
                        <a:solidFill>
                          <a:srgbClr val="000000"/>
                        </a:solidFill>
                        <a:effectLst/>
                        <a:latin typeface="Calibri" panose="020F0502020204030204" pitchFamily="34" charset="0"/>
                      </a:endParaRPr>
                    </a:p>
                  </a:txBody>
                  <a:tcPr marL="6969" marR="6969" marT="6969" marB="0" anchor="ctr">
                    <a:solidFill>
                      <a:srgbClr val="FFFF00"/>
                    </a:solidFill>
                  </a:tcPr>
                </a:tc>
                <a:tc>
                  <a:txBody>
                    <a:bodyPr/>
                    <a:lstStyle/>
                    <a:p>
                      <a:pPr algn="ctr" rtl="0" fontAlgn="ctr"/>
                      <a:r>
                        <a:rPr lang="es-PE" sz="1800" b="1" u="none" strike="noStrike" dirty="0">
                          <a:effectLst/>
                        </a:rPr>
                        <a:t>6</a:t>
                      </a:r>
                      <a:endParaRPr lang="es-PE" sz="1800" b="1" i="0" u="none" strike="noStrike" dirty="0">
                        <a:solidFill>
                          <a:srgbClr val="000000"/>
                        </a:solidFill>
                        <a:effectLst/>
                        <a:latin typeface="Calibri" panose="020F0502020204030204" pitchFamily="34" charset="0"/>
                      </a:endParaRPr>
                    </a:p>
                  </a:txBody>
                  <a:tcPr marL="6969" marR="6969" marT="6969" marB="0" anchor="ctr">
                    <a:solidFill>
                      <a:srgbClr val="FFFF00"/>
                    </a:solidFill>
                  </a:tcPr>
                </a:tc>
                <a:tc>
                  <a:txBody>
                    <a:bodyPr/>
                    <a:lstStyle/>
                    <a:p>
                      <a:pPr algn="ctr" rtl="0" fontAlgn="ctr"/>
                      <a:r>
                        <a:rPr lang="es-PE" sz="1800" b="1" u="none" strike="noStrike" dirty="0">
                          <a:effectLst/>
                        </a:rPr>
                        <a:t>10</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15</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l" fontAlgn="b"/>
                      <a:endParaRPr lang="es-PE" sz="1800" b="1" i="0" u="none" strike="noStrike">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1686973085"/>
                  </a:ext>
                </a:extLst>
              </a:tr>
              <a:tr h="273836">
                <a:tc>
                  <a:txBody>
                    <a:bodyPr/>
                    <a:lstStyle/>
                    <a:p>
                      <a:pPr algn="ctr" rtl="0" fontAlgn="ctr"/>
                      <a:r>
                        <a:rPr lang="es-PE" sz="1800" b="1" u="none" strike="noStrike" dirty="0">
                          <a:effectLst/>
                        </a:rPr>
                        <a:t>C</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36</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27</a:t>
                      </a:r>
                      <a:endParaRPr lang="es-PE" sz="1800" b="1" i="0" u="none" strike="noStrike" dirty="0">
                        <a:solidFill>
                          <a:srgbClr val="000000"/>
                        </a:solidFill>
                        <a:effectLst/>
                        <a:latin typeface="Calibri" panose="020F0502020204030204" pitchFamily="34" charset="0"/>
                      </a:endParaRPr>
                    </a:p>
                  </a:txBody>
                  <a:tcPr marL="6969" marR="6969" marT="6969" marB="0" anchor="ctr"/>
                </a:tc>
                <a:tc>
                  <a:txBody>
                    <a:bodyPr/>
                    <a:lstStyle/>
                    <a:p>
                      <a:pPr algn="ctr" rtl="0" fontAlgn="ctr"/>
                      <a:r>
                        <a:rPr lang="es-PE" sz="1800" b="1" u="none" strike="noStrike" dirty="0">
                          <a:effectLst/>
                        </a:rPr>
                        <a:t>28</a:t>
                      </a:r>
                      <a:endParaRPr lang="es-PE" sz="1800" b="1" i="0" u="none" strike="noStrike" dirty="0">
                        <a:solidFill>
                          <a:srgbClr val="000000"/>
                        </a:solidFill>
                        <a:effectLst/>
                        <a:latin typeface="Calibri" panose="020F0502020204030204" pitchFamily="34" charset="0"/>
                      </a:endParaRPr>
                    </a:p>
                  </a:txBody>
                  <a:tcPr marL="6969" marR="6969" marT="6969" marB="0" anchor="ctr">
                    <a:solidFill>
                      <a:srgbClr val="FFFF00"/>
                    </a:solidFill>
                  </a:tcPr>
                </a:tc>
                <a:tc>
                  <a:txBody>
                    <a:bodyPr/>
                    <a:lstStyle/>
                    <a:p>
                      <a:pPr algn="ctr" rtl="0" fontAlgn="ctr"/>
                      <a:r>
                        <a:rPr lang="es-PE" sz="1800" b="1" u="none" strike="noStrike" dirty="0">
                          <a:effectLst/>
                        </a:rPr>
                        <a:t>12</a:t>
                      </a:r>
                      <a:endParaRPr lang="es-PE" sz="1800" b="1" i="0" u="none" strike="noStrike" dirty="0">
                        <a:solidFill>
                          <a:srgbClr val="000000"/>
                        </a:solidFill>
                        <a:effectLst/>
                        <a:latin typeface="Calibri" panose="020F0502020204030204" pitchFamily="34" charset="0"/>
                      </a:endParaRPr>
                    </a:p>
                  </a:txBody>
                  <a:tcPr marL="6969" marR="6969" marT="6969" marB="0" anchor="ctr">
                    <a:solidFill>
                      <a:srgbClr val="FFFF00"/>
                    </a:solidFill>
                  </a:tcPr>
                </a:tc>
                <a:tc>
                  <a:txBody>
                    <a:bodyPr/>
                    <a:lstStyle/>
                    <a:p>
                      <a:pPr algn="l" fontAlgn="b"/>
                      <a:endParaRPr lang="es-PE" sz="1800" b="1" i="0" u="none" strike="noStrike" dirty="0">
                        <a:solidFill>
                          <a:srgbClr val="000000"/>
                        </a:solidFill>
                        <a:effectLst/>
                        <a:latin typeface="Calibri" panose="020F0502020204030204" pitchFamily="34" charset="0"/>
                      </a:endParaRPr>
                    </a:p>
                  </a:txBody>
                  <a:tcPr marL="6969" marR="6969" marT="6969" marB="0" anchor="b"/>
                </a:tc>
                <a:extLst>
                  <a:ext uri="{0D108BD9-81ED-4DB2-BD59-A6C34878D82A}">
                    <a16:rowId xmlns:a16="http://schemas.microsoft.com/office/drawing/2014/main" val="2151027487"/>
                  </a:ext>
                </a:extLst>
              </a:tr>
            </a:tbl>
          </a:graphicData>
        </a:graphic>
      </p:graphicFrame>
      <p:sp>
        <p:nvSpPr>
          <p:cNvPr id="5" name="Rectangle 2">
            <a:extLst>
              <a:ext uri="{FF2B5EF4-FFF2-40B4-BE49-F238E27FC236}">
                <a16:creationId xmlns:a16="http://schemas.microsoft.com/office/drawing/2014/main" id="{DAD48EF5-DAF1-410A-A05B-597328B4A04A}"/>
              </a:ext>
            </a:extLst>
          </p:cNvPr>
          <p:cNvSpPr>
            <a:spLocks noGrp="1" noChangeArrowheads="1"/>
          </p:cNvSpPr>
          <p:nvPr>
            <p:ph type="title"/>
          </p:nvPr>
        </p:nvSpPr>
        <p:spPr>
          <a:xfrm>
            <a:off x="6096000" y="214728"/>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Solución</a:t>
            </a:r>
          </a:p>
        </p:txBody>
      </p:sp>
    </p:spTree>
    <p:extLst>
      <p:ext uri="{BB962C8B-B14F-4D97-AF65-F5344CB8AC3E}">
        <p14:creationId xmlns:p14="http://schemas.microsoft.com/office/powerpoint/2010/main" val="27021684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329" y="1340769"/>
            <a:ext cx="7992888" cy="4154984"/>
          </a:xfrm>
          <a:prstGeom prst="rect">
            <a:avLst/>
          </a:prstGeom>
        </p:spPr>
        <p:txBody>
          <a:bodyPr wrap="square">
            <a:spAutoFit/>
          </a:bodyPr>
          <a:lstStyle/>
          <a:p>
            <a:r>
              <a:rPr lang="es-PE" sz="2400" dirty="0">
                <a:solidFill>
                  <a:srgbClr val="FF0000"/>
                </a:solidFill>
              </a:rPr>
              <a:t>I.	Identificación de variables</a:t>
            </a:r>
          </a:p>
          <a:p>
            <a:r>
              <a:rPr lang="es-PE" sz="2400" dirty="0"/>
              <a:t>              R =Número  de miles de litros a producir de CS-01	</a:t>
            </a:r>
          </a:p>
          <a:p>
            <a:r>
              <a:rPr lang="es-PE" sz="2400" dirty="0"/>
              <a:t>              S =Número  de miles de litros a producir de CS-02</a:t>
            </a:r>
          </a:p>
          <a:p>
            <a:r>
              <a:rPr lang="es-PE" sz="2400" dirty="0">
                <a:solidFill>
                  <a:srgbClr val="FF0000"/>
                </a:solidFill>
              </a:rPr>
              <a:t>II.	Identificación de la Función Objetivo</a:t>
            </a:r>
          </a:p>
          <a:p>
            <a:r>
              <a:rPr lang="es-PE" sz="2400" dirty="0"/>
              <a:t>	MAX	R + S</a:t>
            </a:r>
          </a:p>
          <a:p>
            <a:r>
              <a:rPr lang="es-PE" sz="2400" dirty="0">
                <a:solidFill>
                  <a:srgbClr val="FF0000"/>
                </a:solidFill>
              </a:rPr>
              <a:t>III.	Identificación de las restricciones</a:t>
            </a:r>
          </a:p>
          <a:p>
            <a:r>
              <a:rPr lang="es-PE" sz="2400" dirty="0"/>
              <a:t>	Con respecto al Contaminante A	</a:t>
            </a:r>
            <a:r>
              <a:rPr lang="es-PE" sz="2400" dirty="0" err="1"/>
              <a:t>15R</a:t>
            </a:r>
            <a:r>
              <a:rPr lang="es-PE" sz="2400" dirty="0"/>
              <a:t> + </a:t>
            </a:r>
            <a:r>
              <a:rPr lang="es-PE" sz="2400" dirty="0" err="1"/>
              <a:t>24S</a:t>
            </a:r>
            <a:r>
              <a:rPr lang="es-PE" sz="2400" dirty="0"/>
              <a:t> ≤ 43</a:t>
            </a:r>
          </a:p>
          <a:p>
            <a:r>
              <a:rPr lang="es-PE" sz="2400" dirty="0"/>
              <a:t>	Con respecto al Contaminante B	  </a:t>
            </a:r>
            <a:r>
              <a:rPr lang="es-PE" sz="2400" dirty="0" err="1"/>
              <a:t>4R</a:t>
            </a:r>
            <a:r>
              <a:rPr lang="es-PE" sz="2400" dirty="0"/>
              <a:t> +   </a:t>
            </a:r>
            <a:r>
              <a:rPr lang="es-PE" sz="2400" dirty="0" err="1"/>
              <a:t>6S</a:t>
            </a:r>
            <a:r>
              <a:rPr lang="es-PE" sz="2400" dirty="0"/>
              <a:t> ≤ 20</a:t>
            </a:r>
          </a:p>
          <a:p>
            <a:r>
              <a:rPr lang="es-PE" sz="2400" dirty="0"/>
              <a:t>	Con respecto al Contaminante C	</a:t>
            </a:r>
            <a:r>
              <a:rPr lang="es-PE" sz="2400" dirty="0" err="1"/>
              <a:t>28R</a:t>
            </a:r>
            <a:r>
              <a:rPr lang="es-PE" sz="2400" dirty="0"/>
              <a:t> + </a:t>
            </a:r>
            <a:r>
              <a:rPr lang="es-PE" sz="2400" dirty="0" err="1"/>
              <a:t>12S</a:t>
            </a:r>
            <a:r>
              <a:rPr lang="es-PE" sz="2400" dirty="0"/>
              <a:t> ≤ 50</a:t>
            </a:r>
          </a:p>
          <a:p>
            <a:r>
              <a:rPr lang="es-PE" sz="2400" dirty="0"/>
              <a:t>	Con respecto a la Producción	                             R= </a:t>
            </a:r>
            <a:r>
              <a:rPr lang="es-PE" sz="2400" dirty="0" err="1"/>
              <a:t>2S</a:t>
            </a:r>
            <a:endParaRPr lang="es-PE" sz="2400" dirty="0"/>
          </a:p>
          <a:p>
            <a:r>
              <a:rPr lang="es-PE" sz="2400" dirty="0"/>
              <a:t>	Con respecto a la no negatividad	          R, S  ≥ 0</a:t>
            </a:r>
          </a:p>
        </p:txBody>
      </p:sp>
      <p:sp>
        <p:nvSpPr>
          <p:cNvPr id="4" name="Rectangle 2"/>
          <p:cNvSpPr>
            <a:spLocks noGrp="1" noChangeArrowheads="1"/>
          </p:cNvSpPr>
          <p:nvPr>
            <p:ph type="title"/>
          </p:nvPr>
        </p:nvSpPr>
        <p:spPr>
          <a:xfrm>
            <a:off x="6096000" y="248136"/>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Solución</a:t>
            </a:r>
          </a:p>
        </p:txBody>
      </p:sp>
      <p:sp>
        <p:nvSpPr>
          <p:cNvPr id="3" name="1 Rectángulo">
            <a:extLst>
              <a:ext uri="{FF2B5EF4-FFF2-40B4-BE49-F238E27FC236}">
                <a16:creationId xmlns:a16="http://schemas.microsoft.com/office/drawing/2014/main" id="{9926FA98-EE99-9B4C-F174-1F4C43EBC549}"/>
              </a:ext>
            </a:extLst>
          </p:cNvPr>
          <p:cNvSpPr/>
          <p:nvPr/>
        </p:nvSpPr>
        <p:spPr>
          <a:xfrm>
            <a:off x="8145697" y="1706361"/>
            <a:ext cx="3024336" cy="2308324"/>
          </a:xfrm>
          <a:prstGeom prst="rect">
            <a:avLst/>
          </a:prstGeom>
          <a:solidFill>
            <a:srgbClr val="FFFF00"/>
          </a:solidFill>
        </p:spPr>
        <p:txBody>
          <a:bodyPr wrap="square">
            <a:spAutoFit/>
          </a:bodyPr>
          <a:lstStyle/>
          <a:p>
            <a:r>
              <a:rPr lang="pt-BR" sz="2400" dirty="0"/>
              <a:t>MAX	R + S</a:t>
            </a:r>
          </a:p>
          <a:p>
            <a:r>
              <a:rPr lang="pt-BR" sz="2400" dirty="0"/>
              <a:t> </a:t>
            </a:r>
            <a:r>
              <a:rPr lang="pt-BR" sz="2400" dirty="0" err="1"/>
              <a:t>SUBJECT</a:t>
            </a:r>
            <a:r>
              <a:rPr lang="pt-BR" sz="2400" dirty="0"/>
              <a:t> TO</a:t>
            </a:r>
          </a:p>
          <a:p>
            <a:r>
              <a:rPr lang="pt-BR" sz="2400" dirty="0" err="1"/>
              <a:t>15R</a:t>
            </a:r>
            <a:r>
              <a:rPr lang="pt-BR" sz="2400" dirty="0"/>
              <a:t> + </a:t>
            </a:r>
            <a:r>
              <a:rPr lang="pt-BR" sz="2400" dirty="0" err="1"/>
              <a:t>24S</a:t>
            </a:r>
            <a:r>
              <a:rPr lang="pt-BR" sz="2400" dirty="0"/>
              <a:t>       &lt;= 43</a:t>
            </a:r>
          </a:p>
          <a:p>
            <a:r>
              <a:rPr lang="pt-BR" sz="2400" dirty="0"/>
              <a:t>  </a:t>
            </a:r>
            <a:r>
              <a:rPr lang="pt-BR" sz="2400" dirty="0" err="1"/>
              <a:t>4R</a:t>
            </a:r>
            <a:r>
              <a:rPr lang="pt-BR" sz="2400" dirty="0"/>
              <a:t> +   </a:t>
            </a:r>
            <a:r>
              <a:rPr lang="pt-BR" sz="2400" dirty="0" err="1"/>
              <a:t>6S</a:t>
            </a:r>
            <a:r>
              <a:rPr lang="pt-BR" sz="2400" dirty="0"/>
              <a:t>       &lt;= 20</a:t>
            </a:r>
          </a:p>
          <a:p>
            <a:r>
              <a:rPr lang="pt-BR" sz="2400" dirty="0" err="1"/>
              <a:t>28R</a:t>
            </a:r>
            <a:r>
              <a:rPr lang="pt-BR" sz="2400" dirty="0"/>
              <a:t> + </a:t>
            </a:r>
            <a:r>
              <a:rPr lang="pt-BR" sz="2400" dirty="0" err="1"/>
              <a:t>12S</a:t>
            </a:r>
            <a:r>
              <a:rPr lang="pt-BR" sz="2400" dirty="0"/>
              <a:t>       &lt;= 50</a:t>
            </a:r>
          </a:p>
          <a:p>
            <a:r>
              <a:rPr lang="pt-BR" sz="2400" dirty="0"/>
              <a:t>  	R- </a:t>
            </a:r>
            <a:r>
              <a:rPr lang="pt-BR" sz="2400" dirty="0" err="1"/>
              <a:t>2S</a:t>
            </a:r>
            <a:r>
              <a:rPr lang="pt-BR" sz="2400" dirty="0"/>
              <a:t> =0</a:t>
            </a:r>
            <a:endParaRPr lang="es-PE" sz="2400" dirty="0"/>
          </a:p>
        </p:txBody>
      </p:sp>
      <p:sp>
        <p:nvSpPr>
          <p:cNvPr id="5" name="Rectángulo 4">
            <a:extLst>
              <a:ext uri="{FF2B5EF4-FFF2-40B4-BE49-F238E27FC236}">
                <a16:creationId xmlns:a16="http://schemas.microsoft.com/office/drawing/2014/main" id="{B91D49C1-7423-50AB-0220-A92C0CF3AFBC}"/>
              </a:ext>
            </a:extLst>
          </p:cNvPr>
          <p:cNvSpPr/>
          <p:nvPr/>
        </p:nvSpPr>
        <p:spPr>
          <a:xfrm>
            <a:off x="7613983" y="4387831"/>
            <a:ext cx="4578017" cy="2308324"/>
          </a:xfrm>
          <a:prstGeom prst="rect">
            <a:avLst/>
          </a:prstGeom>
          <a:solidFill>
            <a:schemeClr val="accent4">
              <a:lumMod val="40000"/>
              <a:lumOff val="60000"/>
            </a:schemeClr>
          </a:solidFill>
        </p:spPr>
        <p:txBody>
          <a:bodyPr wrap="square">
            <a:spAutoFit/>
          </a:bodyPr>
          <a:lstStyle/>
          <a:p>
            <a:r>
              <a:rPr lang="es-PE" sz="2400" dirty="0">
                <a:latin typeface="Arial Narrow" panose="020B0606020202030204" pitchFamily="34" charset="0"/>
              </a:rPr>
              <a:t> </a:t>
            </a:r>
            <a:r>
              <a:rPr lang="es-PE" sz="2400" dirty="0" err="1">
                <a:latin typeface="Arial Narrow" panose="020B0606020202030204" pitchFamily="34" charset="0"/>
              </a:rPr>
              <a:t>OBJECTIVE</a:t>
            </a:r>
            <a:r>
              <a:rPr lang="es-PE" sz="2400" dirty="0">
                <a:latin typeface="Arial Narrow" panose="020B0606020202030204" pitchFamily="34" charset="0"/>
              </a:rPr>
              <a:t> </a:t>
            </a:r>
            <a:r>
              <a:rPr lang="es-PE" sz="2400" dirty="0" err="1">
                <a:latin typeface="Arial Narrow" panose="020B0606020202030204" pitchFamily="34" charset="0"/>
              </a:rPr>
              <a:t>FUNCTION</a:t>
            </a:r>
            <a:r>
              <a:rPr lang="es-PE" sz="2400" dirty="0">
                <a:latin typeface="Arial Narrow" panose="020B0606020202030204" pitchFamily="34" charset="0"/>
              </a:rPr>
              <a:t> </a:t>
            </a:r>
            <a:r>
              <a:rPr lang="es-PE" sz="2400" dirty="0" err="1">
                <a:latin typeface="Arial Narrow" panose="020B0606020202030204" pitchFamily="34" charset="0"/>
              </a:rPr>
              <a:t>VALUE</a:t>
            </a:r>
            <a:endParaRPr lang="es-PE" sz="2400" dirty="0">
              <a:latin typeface="Arial Narrow" panose="020B0606020202030204" pitchFamily="34" charset="0"/>
            </a:endParaRPr>
          </a:p>
          <a:p>
            <a:endParaRPr lang="es-PE" sz="2400" dirty="0">
              <a:latin typeface="Arial Narrow" panose="020B0606020202030204" pitchFamily="34" charset="0"/>
            </a:endParaRPr>
          </a:p>
          <a:p>
            <a:r>
              <a:rPr lang="es-PE" sz="2400" dirty="0">
                <a:latin typeface="Arial Narrow" panose="020B0606020202030204" pitchFamily="34" charset="0"/>
              </a:rPr>
              <a:t>        1)      2.205882</a:t>
            </a:r>
          </a:p>
          <a:p>
            <a:r>
              <a:rPr lang="es-PE" sz="2400" dirty="0">
                <a:latin typeface="Arial Narrow" panose="020B0606020202030204" pitchFamily="34" charset="0"/>
              </a:rPr>
              <a:t>VARIABLE   </a:t>
            </a:r>
            <a:r>
              <a:rPr lang="es-PE" sz="2400" dirty="0" err="1">
                <a:latin typeface="Arial Narrow" panose="020B0606020202030204" pitchFamily="34" charset="0"/>
              </a:rPr>
              <a:t>VALUE</a:t>
            </a:r>
            <a:r>
              <a:rPr lang="es-PE" sz="2400" dirty="0">
                <a:latin typeface="Arial Narrow" panose="020B0606020202030204" pitchFamily="34" charset="0"/>
              </a:rPr>
              <a:t>  </a:t>
            </a:r>
            <a:r>
              <a:rPr lang="es-PE" sz="2400" dirty="0" err="1">
                <a:latin typeface="Arial Narrow" panose="020B0606020202030204" pitchFamily="34" charset="0"/>
              </a:rPr>
              <a:t>REDUCED</a:t>
            </a:r>
            <a:r>
              <a:rPr lang="es-PE" sz="2400" dirty="0">
                <a:latin typeface="Arial Narrow" panose="020B0606020202030204" pitchFamily="34" charset="0"/>
              </a:rPr>
              <a:t> </a:t>
            </a:r>
            <a:r>
              <a:rPr lang="es-PE" sz="2400" dirty="0" err="1">
                <a:latin typeface="Arial Narrow" panose="020B0606020202030204" pitchFamily="34" charset="0"/>
              </a:rPr>
              <a:t>COST</a:t>
            </a:r>
            <a:endParaRPr lang="es-PE" sz="2400" dirty="0">
              <a:latin typeface="Arial Narrow" panose="020B0606020202030204" pitchFamily="34" charset="0"/>
            </a:endParaRPr>
          </a:p>
          <a:p>
            <a:r>
              <a:rPr lang="es-PE" sz="2400" dirty="0">
                <a:latin typeface="Arial Narrow" panose="020B0606020202030204" pitchFamily="34" charset="0"/>
              </a:rPr>
              <a:t>         R         1.470588          0.000000</a:t>
            </a:r>
          </a:p>
          <a:p>
            <a:r>
              <a:rPr lang="es-PE" sz="2400" dirty="0">
                <a:latin typeface="Arial Narrow" panose="020B0606020202030204" pitchFamily="34" charset="0"/>
              </a:rPr>
              <a:t>         S         0.735294          0.000000</a:t>
            </a:r>
          </a:p>
        </p:txBody>
      </p:sp>
    </p:spTree>
    <p:extLst>
      <p:ext uri="{BB962C8B-B14F-4D97-AF65-F5344CB8AC3E}">
        <p14:creationId xmlns:p14="http://schemas.microsoft.com/office/powerpoint/2010/main" val="27264467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Diagrama"/>
          <p:cNvGraphicFramePr/>
          <p:nvPr/>
        </p:nvGraphicFramePr>
        <p:xfrm>
          <a:off x="723463" y="1268760"/>
          <a:ext cx="8655668" cy="52565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2"/>
          <p:cNvSpPr>
            <a:spLocks noGrp="1" noChangeArrowheads="1"/>
          </p:cNvSpPr>
          <p:nvPr>
            <p:ph type="title"/>
          </p:nvPr>
        </p:nvSpPr>
        <p:spPr>
          <a:xfrm>
            <a:off x="6096000" y="248766"/>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25</a:t>
            </a:r>
          </a:p>
        </p:txBody>
      </p:sp>
      <p:pic>
        <p:nvPicPr>
          <p:cNvPr id="5" name="Imagen 4">
            <a:extLst>
              <a:ext uri="{FF2B5EF4-FFF2-40B4-BE49-F238E27FC236}">
                <a16:creationId xmlns:a16="http://schemas.microsoft.com/office/drawing/2014/main" id="{BC32A7F2-AC20-4328-A2D8-DDE52A1342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57708" y="2714815"/>
            <a:ext cx="2124075" cy="2152650"/>
          </a:xfrm>
          <a:prstGeom prst="rect">
            <a:avLst/>
          </a:prstGeom>
        </p:spPr>
      </p:pic>
    </p:spTree>
    <p:extLst>
      <p:ext uri="{BB962C8B-B14F-4D97-AF65-F5344CB8AC3E}">
        <p14:creationId xmlns:p14="http://schemas.microsoft.com/office/powerpoint/2010/main" val="12884359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nvGraphicFramePr>
        <p:xfrm>
          <a:off x="198408" y="1578155"/>
          <a:ext cx="5831464" cy="2575467"/>
        </p:xfrm>
        <a:graphic>
          <a:graphicData uri="http://schemas.openxmlformats.org/drawingml/2006/table">
            <a:tbl>
              <a:tblPr firstRow="1" bandRow="1">
                <a:tableStyleId>{5C22544A-7EE6-4342-B048-85BDC9FD1C3A}</a:tableStyleId>
              </a:tblPr>
              <a:tblGrid>
                <a:gridCol w="2260120">
                  <a:extLst>
                    <a:ext uri="{9D8B030D-6E8A-4147-A177-3AD203B41FA5}">
                      <a16:colId xmlns:a16="http://schemas.microsoft.com/office/drawing/2014/main" val="20000"/>
                    </a:ext>
                  </a:extLst>
                </a:gridCol>
                <a:gridCol w="1190446">
                  <a:extLst>
                    <a:ext uri="{9D8B030D-6E8A-4147-A177-3AD203B41FA5}">
                      <a16:colId xmlns:a16="http://schemas.microsoft.com/office/drawing/2014/main" val="20001"/>
                    </a:ext>
                  </a:extLst>
                </a:gridCol>
                <a:gridCol w="1152747">
                  <a:extLst>
                    <a:ext uri="{9D8B030D-6E8A-4147-A177-3AD203B41FA5}">
                      <a16:colId xmlns:a16="http://schemas.microsoft.com/office/drawing/2014/main" val="20002"/>
                    </a:ext>
                  </a:extLst>
                </a:gridCol>
                <a:gridCol w="1228151">
                  <a:extLst>
                    <a:ext uri="{9D8B030D-6E8A-4147-A177-3AD203B41FA5}">
                      <a16:colId xmlns:a16="http://schemas.microsoft.com/office/drawing/2014/main" val="20003"/>
                    </a:ext>
                  </a:extLst>
                </a:gridCol>
              </a:tblGrid>
              <a:tr h="6629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2000" b="1" dirty="0">
                          <a:latin typeface="Arial Narrow" panose="020B0606020202030204" pitchFamily="34" charset="0"/>
                        </a:rPr>
                        <a:t>hamburguesas</a:t>
                      </a:r>
                    </a:p>
                    <a:p>
                      <a:pPr algn="ct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Carne molida</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Utilidad (S/.)</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Variable</a:t>
                      </a:r>
                      <a:endParaRPr lang="es-PE" sz="2000" b="1" dirty="0">
                        <a:latin typeface="Arial Narrow" panose="020B0606020202030204" pitchFamily="34" charset="0"/>
                      </a:endParaRPr>
                    </a:p>
                  </a:txBody>
                  <a:tcPr/>
                </a:tc>
                <a:extLst>
                  <a:ext uri="{0D108BD9-81ED-4DB2-BD59-A6C34878D82A}">
                    <a16:rowId xmlns:a16="http://schemas.microsoft.com/office/drawing/2014/main" val="10000"/>
                  </a:ext>
                </a:extLst>
              </a:tr>
              <a:tr h="492729">
                <a:tc>
                  <a:txBody>
                    <a:bodyPr/>
                    <a:lstStyle/>
                    <a:p>
                      <a:pPr lvl="0" algn="ctr"/>
                      <a:r>
                        <a:rPr lang="es-PE" sz="2000" b="1" dirty="0">
                          <a:latin typeface="Arial Narrow" panose="020B0606020202030204" pitchFamily="34" charset="0"/>
                        </a:rPr>
                        <a:t>Súper Burger King </a:t>
                      </a:r>
                    </a:p>
                  </a:txBody>
                  <a:tcPr/>
                </a:tc>
                <a:tc>
                  <a:txBody>
                    <a:bodyPr/>
                    <a:lstStyle/>
                    <a:p>
                      <a:pPr algn="ctr"/>
                      <a:r>
                        <a:rPr lang="es-ES" sz="2000" b="1" dirty="0">
                          <a:latin typeface="Arial Narrow" panose="020B0606020202030204" pitchFamily="34" charset="0"/>
                        </a:rPr>
                        <a:t>0,250</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a:t>
                      </a:r>
                      <a:endParaRPr lang="es-PE" sz="2000" b="1" dirty="0">
                        <a:latin typeface="Arial Narrow" panose="020B0606020202030204" pitchFamily="34" charset="0"/>
                      </a:endParaRPr>
                    </a:p>
                  </a:txBody>
                  <a:tcPr/>
                </a:tc>
                <a:tc>
                  <a:txBody>
                    <a:bodyPr/>
                    <a:lstStyle/>
                    <a:p>
                      <a:pPr algn="ctr"/>
                      <a:r>
                        <a:rPr lang="es-ES" sz="2000" b="1" dirty="0" err="1">
                          <a:latin typeface="Arial Narrow" panose="020B0606020202030204" pitchFamily="34" charset="0"/>
                        </a:rPr>
                        <a:t>X1</a:t>
                      </a:r>
                      <a:endParaRPr lang="es-PE" sz="2000" b="1" dirty="0">
                        <a:latin typeface="Arial Narrow" panose="020B0606020202030204" pitchFamily="34" charset="0"/>
                      </a:endParaRPr>
                    </a:p>
                  </a:txBody>
                  <a:tcPr/>
                </a:tc>
                <a:extLst>
                  <a:ext uri="{0D108BD9-81ED-4DB2-BD59-A6C34878D82A}">
                    <a16:rowId xmlns:a16="http://schemas.microsoft.com/office/drawing/2014/main" val="10001"/>
                  </a:ext>
                </a:extLst>
              </a:tr>
              <a:tr h="3644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2000" b="1" dirty="0">
                          <a:latin typeface="Arial Narrow" panose="020B0606020202030204" pitchFamily="34" charset="0"/>
                        </a:rPr>
                        <a:t>Mega Burger King</a:t>
                      </a:r>
                    </a:p>
                  </a:txBody>
                  <a:tcPr/>
                </a:tc>
                <a:tc>
                  <a:txBody>
                    <a:bodyPr/>
                    <a:lstStyle/>
                    <a:p>
                      <a:pPr algn="ctr"/>
                      <a:r>
                        <a:rPr lang="es-ES" sz="2000" b="1" dirty="0">
                          <a:latin typeface="Arial Narrow" panose="020B0606020202030204" pitchFamily="34" charset="0"/>
                        </a:rPr>
                        <a:t>0,350</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4</a:t>
                      </a:r>
                      <a:endParaRPr lang="es-PE" sz="2000" b="1" dirty="0">
                        <a:latin typeface="Arial Narrow" panose="020B0606020202030204" pitchFamily="34" charset="0"/>
                      </a:endParaRPr>
                    </a:p>
                  </a:txBody>
                  <a:tcPr/>
                </a:tc>
                <a:tc>
                  <a:txBody>
                    <a:bodyPr/>
                    <a:lstStyle/>
                    <a:p>
                      <a:pPr algn="ctr"/>
                      <a:r>
                        <a:rPr lang="es-ES" sz="2000" b="1" dirty="0" err="1">
                          <a:latin typeface="Arial Narrow" panose="020B0606020202030204" pitchFamily="34" charset="0"/>
                        </a:rPr>
                        <a:t>X2</a:t>
                      </a:r>
                      <a:endParaRPr lang="es-PE" sz="2000" b="1" dirty="0">
                        <a:latin typeface="Arial Narrow" panose="020B0606020202030204" pitchFamily="34" charset="0"/>
                      </a:endParaRPr>
                    </a:p>
                  </a:txBody>
                  <a:tcPr/>
                </a:tc>
                <a:extLst>
                  <a:ext uri="{0D108BD9-81ED-4DB2-BD59-A6C34878D82A}">
                    <a16:rowId xmlns:a16="http://schemas.microsoft.com/office/drawing/2014/main" val="10002"/>
                  </a:ext>
                </a:extLst>
              </a:tr>
              <a:tr h="492729">
                <a:tc>
                  <a:txBody>
                    <a:bodyPr/>
                    <a:lstStyle/>
                    <a:p>
                      <a:pPr algn="ctr"/>
                      <a:r>
                        <a:rPr lang="es-ES" sz="2000" b="1" dirty="0">
                          <a:latin typeface="Arial Narrow" panose="020B0606020202030204" pitchFamily="34" charset="0"/>
                        </a:rPr>
                        <a:t>Carne a comprar(Kg)</a:t>
                      </a:r>
                      <a:endParaRPr lang="es-PE" sz="2000" b="1" dirty="0">
                        <a:latin typeface="Arial Narrow" panose="020B0606020202030204" pitchFamily="34" charset="0"/>
                      </a:endParaRPr>
                    </a:p>
                  </a:txBody>
                  <a:tcPr/>
                </a:tc>
                <a:tc>
                  <a:txBody>
                    <a:bodyPr/>
                    <a:lstStyle/>
                    <a:p>
                      <a:pPr algn="ct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-6</a:t>
                      </a:r>
                      <a:endParaRPr lang="es-PE" sz="2000" b="1" dirty="0">
                        <a:latin typeface="Arial Narrow" panose="020B0606020202030204" pitchFamily="34" charset="0"/>
                      </a:endParaRPr>
                    </a:p>
                  </a:txBody>
                  <a:tcPr/>
                </a:tc>
                <a:tc>
                  <a:txBody>
                    <a:bodyPr/>
                    <a:lstStyle/>
                    <a:p>
                      <a:pPr algn="ctr"/>
                      <a:r>
                        <a:rPr lang="es-ES" sz="2000" b="1" dirty="0" err="1">
                          <a:latin typeface="Arial Narrow" panose="020B0606020202030204" pitchFamily="34" charset="0"/>
                        </a:rPr>
                        <a:t>X3</a:t>
                      </a:r>
                      <a:endParaRPr lang="es-PE" sz="2000" b="1" dirty="0">
                        <a:latin typeface="Arial Narrow" panose="020B0606020202030204" pitchFamily="34" charset="0"/>
                      </a:endParaRPr>
                    </a:p>
                  </a:txBody>
                  <a:tcPr/>
                </a:tc>
                <a:extLst>
                  <a:ext uri="{0D108BD9-81ED-4DB2-BD59-A6C34878D82A}">
                    <a16:rowId xmlns:a16="http://schemas.microsoft.com/office/drawing/2014/main" val="10003"/>
                  </a:ext>
                </a:extLst>
              </a:tr>
              <a:tr h="492729">
                <a:tc>
                  <a:txBody>
                    <a:bodyPr/>
                    <a:lstStyle/>
                    <a:p>
                      <a:pPr algn="ctr"/>
                      <a:r>
                        <a:rPr lang="es-ES" sz="2000" b="1" dirty="0">
                          <a:latin typeface="Arial Narrow" panose="020B0606020202030204" pitchFamily="34" charset="0"/>
                        </a:rPr>
                        <a:t>Carne</a:t>
                      </a:r>
                      <a:r>
                        <a:rPr lang="es-ES" sz="2000" b="1" baseline="0" dirty="0">
                          <a:latin typeface="Arial Narrow" panose="020B0606020202030204" pitchFamily="34" charset="0"/>
                        </a:rPr>
                        <a:t> de stock(kg.)</a:t>
                      </a:r>
                      <a:endParaRPr lang="es-PE" sz="2000" b="1" dirty="0">
                        <a:latin typeface="Arial Narrow" panose="020B0606020202030204" pitchFamily="34" charset="0"/>
                      </a:endParaRPr>
                    </a:p>
                  </a:txBody>
                  <a:tcPr/>
                </a:tc>
                <a:tc>
                  <a:txBody>
                    <a:bodyPr/>
                    <a:lstStyle/>
                    <a:p>
                      <a:pPr algn="ctr"/>
                      <a:r>
                        <a:rPr lang="es-ES" sz="2000" b="1" dirty="0">
                          <a:latin typeface="Arial Narrow" panose="020B0606020202030204" pitchFamily="34" charset="0"/>
                        </a:rPr>
                        <a:t>200</a:t>
                      </a:r>
                      <a:endParaRPr lang="es-PE" sz="2000" b="1" dirty="0">
                        <a:latin typeface="Arial Narrow" panose="020B0606020202030204" pitchFamily="34" charset="0"/>
                      </a:endParaRPr>
                    </a:p>
                  </a:txBody>
                  <a:tcPr/>
                </a:tc>
                <a:tc>
                  <a:txBody>
                    <a:bodyPr/>
                    <a:lstStyle/>
                    <a:p>
                      <a:pPr algn="ctr"/>
                      <a:endParaRPr lang="es-PE" sz="2000" b="1" dirty="0">
                        <a:latin typeface="Arial Narrow" panose="020B0606020202030204" pitchFamily="34" charset="0"/>
                      </a:endParaRPr>
                    </a:p>
                  </a:txBody>
                  <a:tcPr/>
                </a:tc>
                <a:tc>
                  <a:txBody>
                    <a:bodyPr/>
                    <a:lstStyle/>
                    <a:p>
                      <a:pPr algn="ctr"/>
                      <a:endParaRPr lang="es-PE" sz="2000" b="1" dirty="0">
                        <a:latin typeface="Arial Narrow" panose="020B0606020202030204" pitchFamily="34" charset="0"/>
                      </a:endParaRPr>
                    </a:p>
                  </a:txBody>
                  <a:tcPr/>
                </a:tc>
                <a:extLst>
                  <a:ext uri="{0D108BD9-81ED-4DB2-BD59-A6C34878D82A}">
                    <a16:rowId xmlns:a16="http://schemas.microsoft.com/office/drawing/2014/main" val="10004"/>
                  </a:ext>
                </a:extLst>
              </a:tr>
            </a:tbl>
          </a:graphicData>
        </a:graphic>
      </p:graphicFrame>
      <p:sp>
        <p:nvSpPr>
          <p:cNvPr id="3" name="Rectangle 2"/>
          <p:cNvSpPr>
            <a:spLocks noGrp="1" noChangeArrowheads="1"/>
          </p:cNvSpPr>
          <p:nvPr>
            <p:ph type="title"/>
          </p:nvPr>
        </p:nvSpPr>
        <p:spPr>
          <a:xfrm>
            <a:off x="6096000" y="258821"/>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Solución</a:t>
            </a:r>
          </a:p>
        </p:txBody>
      </p:sp>
      <p:sp>
        <p:nvSpPr>
          <p:cNvPr id="5" name="4 Rectángulo">
            <a:extLst>
              <a:ext uri="{FF2B5EF4-FFF2-40B4-BE49-F238E27FC236}">
                <a16:creationId xmlns:a16="http://schemas.microsoft.com/office/drawing/2014/main" id="{312AF139-11DE-45B7-933A-1C7478C8A8B4}"/>
              </a:ext>
            </a:extLst>
          </p:cNvPr>
          <p:cNvSpPr/>
          <p:nvPr/>
        </p:nvSpPr>
        <p:spPr>
          <a:xfrm>
            <a:off x="6029873" y="1196753"/>
            <a:ext cx="5303874" cy="3785652"/>
          </a:xfrm>
          <a:prstGeom prst="rect">
            <a:avLst/>
          </a:prstGeom>
        </p:spPr>
        <p:txBody>
          <a:bodyPr wrap="square">
            <a:spAutoFit/>
          </a:bodyPr>
          <a:lstStyle/>
          <a:p>
            <a:pPr marL="285750" indent="-285750" fontAlgn="base">
              <a:spcBef>
                <a:spcPct val="0"/>
              </a:spcBef>
              <a:spcAft>
                <a:spcPct val="0"/>
              </a:spcAft>
              <a:buFontTx/>
              <a:buAutoNum type="romanUcPeriod"/>
            </a:pPr>
            <a:r>
              <a:rPr lang="es-PE" sz="2400" dirty="0">
                <a:solidFill>
                  <a:srgbClr val="FF0000"/>
                </a:solidFill>
                <a:latin typeface="Arial Narrow" panose="020B0606020202030204" pitchFamily="34" charset="0"/>
                <a:ea typeface="Calibri" pitchFamily="34" charset="0"/>
                <a:cs typeface="Arial" pitchFamily="34" charset="0"/>
              </a:rPr>
              <a:t>Identificación de variables</a:t>
            </a:r>
          </a:p>
          <a:p>
            <a:pPr lvl="0" fontAlgn="base">
              <a:spcBef>
                <a:spcPct val="0"/>
              </a:spcBef>
              <a:spcAft>
                <a:spcPct val="0"/>
              </a:spcAft>
            </a:pPr>
            <a:r>
              <a:rPr lang="es-PE" sz="2400" dirty="0">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X1</a:t>
            </a:r>
            <a:r>
              <a:rPr lang="es-PE" sz="2400" dirty="0">
                <a:latin typeface="Arial Narrow" panose="020B0606020202030204" pitchFamily="34" charset="0"/>
                <a:cs typeface="Arial" pitchFamily="34" charset="0"/>
              </a:rPr>
              <a:t>=Cantidad de hamburguesas </a:t>
            </a:r>
            <a:r>
              <a:rPr lang="es-PE" sz="2400" dirty="0" err="1">
                <a:latin typeface="Arial Narrow" panose="020B0606020202030204" pitchFamily="34" charset="0"/>
                <a:cs typeface="Arial" pitchFamily="34" charset="0"/>
              </a:rPr>
              <a:t>SBK</a:t>
            </a:r>
            <a:endParaRPr lang="es-PE" sz="2400" dirty="0">
              <a:latin typeface="Arial Narrow" panose="020B0606020202030204" pitchFamily="34" charset="0"/>
              <a:cs typeface="Arial" pitchFamily="34" charset="0"/>
            </a:endParaRPr>
          </a:p>
          <a:p>
            <a:pPr lvl="0" fontAlgn="base">
              <a:spcBef>
                <a:spcPct val="0"/>
              </a:spcBef>
              <a:spcAft>
                <a:spcPct val="0"/>
              </a:spcAft>
            </a:pPr>
            <a:r>
              <a:rPr lang="es-PE" sz="2400" dirty="0">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X2</a:t>
            </a:r>
            <a:r>
              <a:rPr lang="es-PE" sz="2400" dirty="0">
                <a:latin typeface="Arial Narrow" panose="020B0606020202030204" pitchFamily="34" charset="0"/>
                <a:cs typeface="Arial" pitchFamily="34" charset="0"/>
              </a:rPr>
              <a:t>= Cantidad de hamburguesas </a:t>
            </a:r>
            <a:r>
              <a:rPr lang="es-PE" sz="2400" dirty="0" err="1">
                <a:latin typeface="Arial Narrow" panose="020B0606020202030204" pitchFamily="34" charset="0"/>
                <a:cs typeface="Arial" pitchFamily="34" charset="0"/>
              </a:rPr>
              <a:t>MBK</a:t>
            </a:r>
            <a:endParaRPr lang="es-PE" sz="2400" dirty="0">
              <a:latin typeface="Arial Narrow" panose="020B0606020202030204" pitchFamily="34" charset="0"/>
              <a:cs typeface="Arial" pitchFamily="34" charset="0"/>
            </a:endParaRPr>
          </a:p>
          <a:p>
            <a:pPr lvl="0" fontAlgn="base">
              <a:spcBef>
                <a:spcPct val="0"/>
              </a:spcBef>
              <a:spcAft>
                <a:spcPct val="0"/>
              </a:spcAft>
            </a:pPr>
            <a:r>
              <a:rPr lang="es-PE" sz="2400" dirty="0">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X3</a:t>
            </a:r>
            <a:r>
              <a:rPr lang="es-PE" sz="2400" dirty="0">
                <a:latin typeface="Arial Narrow" panose="020B0606020202030204" pitchFamily="34" charset="0"/>
                <a:cs typeface="Arial" pitchFamily="34" charset="0"/>
              </a:rPr>
              <a:t>= Cantidad de Kg de carne a comprar</a:t>
            </a:r>
          </a:p>
          <a:p>
            <a:pPr lvl="0" fontAlgn="base">
              <a:spcBef>
                <a:spcPct val="0"/>
              </a:spcBef>
              <a:spcAft>
                <a:spcPct val="0"/>
              </a:spcAft>
            </a:pPr>
            <a:r>
              <a:rPr lang="es-PE" sz="2400" dirty="0">
                <a:solidFill>
                  <a:srgbClr val="FF0000"/>
                </a:solidFill>
                <a:latin typeface="Arial Narrow" panose="020B0606020202030204" pitchFamily="34" charset="0"/>
                <a:ea typeface="Calibri" pitchFamily="34" charset="0"/>
                <a:cs typeface="Arial" pitchFamily="34" charset="0"/>
              </a:rPr>
              <a:t>II.  Identificación de la Función Objetivo</a:t>
            </a:r>
            <a:endParaRPr lang="es-PE" sz="2400" dirty="0">
              <a:solidFill>
                <a:srgbClr val="FF0000"/>
              </a:solidFill>
              <a:latin typeface="Arial Narrow" panose="020B0606020202030204" pitchFamily="34" charset="0"/>
              <a:cs typeface="Arial" pitchFamily="34" charset="0"/>
            </a:endParaRPr>
          </a:p>
          <a:p>
            <a:pPr indent="449263" eaLnBrk="0" fontAlgn="base" hangingPunct="0">
              <a:spcBef>
                <a:spcPct val="0"/>
              </a:spcBef>
              <a:spcAft>
                <a:spcPct val="0"/>
              </a:spcAft>
            </a:pPr>
            <a:r>
              <a:rPr lang="es-PE" sz="2400" dirty="0">
                <a:latin typeface="Arial Narrow" panose="020B0606020202030204" pitchFamily="34" charset="0"/>
                <a:ea typeface="Calibri" pitchFamily="34" charset="0"/>
                <a:cs typeface="Arial" pitchFamily="34" charset="0"/>
              </a:rPr>
              <a:t>MAX </a:t>
            </a:r>
            <a:r>
              <a:rPr lang="es-PE" sz="2400" dirty="0" err="1">
                <a:latin typeface="Arial Narrow" panose="020B0606020202030204" pitchFamily="34" charset="0"/>
                <a:ea typeface="Calibri" pitchFamily="34" charset="0"/>
                <a:cs typeface="Arial" pitchFamily="34" charset="0"/>
              </a:rPr>
              <a:t>2X1</a:t>
            </a:r>
            <a:r>
              <a:rPr lang="es-PE" sz="2400" dirty="0">
                <a:latin typeface="Arial Narrow" panose="020B0606020202030204" pitchFamily="34" charset="0"/>
                <a:ea typeface="Calibri" pitchFamily="34" charset="0"/>
                <a:cs typeface="Arial" pitchFamily="34" charset="0"/>
              </a:rPr>
              <a:t> + </a:t>
            </a:r>
            <a:r>
              <a:rPr lang="es-PE" sz="2400" dirty="0" err="1">
                <a:latin typeface="Arial Narrow" panose="020B0606020202030204" pitchFamily="34" charset="0"/>
                <a:ea typeface="Calibri" pitchFamily="34" charset="0"/>
                <a:cs typeface="Arial" pitchFamily="34" charset="0"/>
              </a:rPr>
              <a:t>4X2</a:t>
            </a:r>
            <a:r>
              <a:rPr lang="es-PE" sz="2400" dirty="0">
                <a:latin typeface="Arial Narrow" panose="020B0606020202030204" pitchFamily="34" charset="0"/>
                <a:ea typeface="Calibri" pitchFamily="34" charset="0"/>
                <a:cs typeface="Arial" pitchFamily="34" charset="0"/>
              </a:rPr>
              <a:t> - </a:t>
            </a:r>
            <a:r>
              <a:rPr lang="es-PE" sz="2400" dirty="0" err="1">
                <a:latin typeface="Arial Narrow" panose="020B0606020202030204" pitchFamily="34" charset="0"/>
                <a:ea typeface="Calibri" pitchFamily="34" charset="0"/>
                <a:cs typeface="Arial" pitchFamily="34" charset="0"/>
              </a:rPr>
              <a:t>6X3</a:t>
            </a:r>
            <a:endParaRPr lang="es-PE" sz="2400" dirty="0">
              <a:latin typeface="Arial Narrow" panose="020B0606020202030204" pitchFamily="34" charset="0"/>
              <a:ea typeface="Calibri" pitchFamily="34" charset="0"/>
              <a:cs typeface="Arial" pitchFamily="34" charset="0"/>
            </a:endParaRPr>
          </a:p>
          <a:p>
            <a:pPr lvl="0" eaLnBrk="0" fontAlgn="base" hangingPunct="0">
              <a:spcBef>
                <a:spcPct val="0"/>
              </a:spcBef>
              <a:spcAft>
                <a:spcPct val="0"/>
              </a:spcAft>
            </a:pPr>
            <a:r>
              <a:rPr lang="es-PE" sz="2400" dirty="0">
                <a:solidFill>
                  <a:srgbClr val="FF0000"/>
                </a:solidFill>
                <a:latin typeface="Arial Narrow" panose="020B0606020202030204" pitchFamily="34" charset="0"/>
                <a:ea typeface="Calibri" pitchFamily="34" charset="0"/>
                <a:cs typeface="Arial" pitchFamily="34" charset="0"/>
              </a:rPr>
              <a:t>III. Identificación de las restricciones</a:t>
            </a:r>
          </a:p>
          <a:p>
            <a:pPr lvl="0" eaLnBrk="0" fontAlgn="base" hangingPunct="0">
              <a:spcBef>
                <a:spcPct val="0"/>
              </a:spcBef>
              <a:spcAft>
                <a:spcPct val="0"/>
              </a:spcAft>
            </a:pPr>
            <a:r>
              <a:rPr lang="es-PE" sz="2400" dirty="0">
                <a:solidFill>
                  <a:srgbClr val="FF0000"/>
                </a:solidFill>
                <a:latin typeface="Arial Narrow" panose="020B0606020202030204" pitchFamily="34" charset="0"/>
                <a:ea typeface="Calibri" pitchFamily="34" charset="0"/>
                <a:cs typeface="Arial" pitchFamily="34" charset="0"/>
              </a:rPr>
              <a:t>       </a:t>
            </a:r>
            <a:r>
              <a:rPr lang="es-PE" sz="2400" dirty="0" err="1">
                <a:latin typeface="Arial Narrow" panose="020B0606020202030204" pitchFamily="34" charset="0"/>
                <a:ea typeface="Calibri" pitchFamily="34" charset="0"/>
                <a:cs typeface="Arial" pitchFamily="34" charset="0"/>
              </a:rPr>
              <a:t>0,250X1+0,350X2</a:t>
            </a:r>
            <a:r>
              <a:rPr lang="es-PE" sz="2400" dirty="0">
                <a:latin typeface="Arial Narrow" panose="020B0606020202030204" pitchFamily="34" charset="0"/>
                <a:ea typeface="Calibri" pitchFamily="34" charset="0"/>
                <a:cs typeface="Arial" pitchFamily="34" charset="0"/>
              </a:rPr>
              <a:t> = </a:t>
            </a:r>
            <a:r>
              <a:rPr lang="es-PE" sz="2400" dirty="0" err="1">
                <a:latin typeface="Arial Narrow" panose="020B0606020202030204" pitchFamily="34" charset="0"/>
                <a:ea typeface="Calibri" pitchFamily="34" charset="0"/>
                <a:cs typeface="Arial" pitchFamily="34" charset="0"/>
              </a:rPr>
              <a:t>200+X3</a:t>
            </a:r>
            <a:endParaRPr lang="es-PE" sz="2400" dirty="0">
              <a:latin typeface="Arial Narrow" panose="020B0606020202030204" pitchFamily="34" charset="0"/>
              <a:ea typeface="Calibri" pitchFamily="34" charset="0"/>
              <a:cs typeface="Arial" pitchFamily="34" charset="0"/>
            </a:endParaRPr>
          </a:p>
          <a:p>
            <a:pPr lvl="0" eaLnBrk="0" fontAlgn="base" hangingPunct="0">
              <a:spcBef>
                <a:spcPct val="0"/>
              </a:spcBef>
              <a:spcAft>
                <a:spcPct val="0"/>
              </a:spcAft>
            </a:pPr>
            <a:r>
              <a:rPr lang="es-PE" sz="2400" dirty="0">
                <a:latin typeface="Arial Narrow" panose="020B0606020202030204" pitchFamily="34" charset="0"/>
                <a:ea typeface="Calibri" pitchFamily="34" charset="0"/>
                <a:cs typeface="Arial" pitchFamily="34" charset="0"/>
              </a:rPr>
              <a:t>                  	</a:t>
            </a:r>
            <a:r>
              <a:rPr lang="es-PE" sz="2400" dirty="0" err="1">
                <a:latin typeface="Arial Narrow" panose="020B0606020202030204" pitchFamily="34" charset="0"/>
                <a:ea typeface="Calibri" pitchFamily="34" charset="0"/>
                <a:cs typeface="Arial" pitchFamily="34" charset="0"/>
              </a:rPr>
              <a:t>X1+X2</a:t>
            </a:r>
            <a:r>
              <a:rPr lang="es-PE" sz="2400" dirty="0">
                <a:latin typeface="Arial Narrow" panose="020B0606020202030204" pitchFamily="34" charset="0"/>
                <a:ea typeface="Calibri" pitchFamily="34" charset="0"/>
                <a:cs typeface="Arial" pitchFamily="34" charset="0"/>
              </a:rPr>
              <a:t>&lt;=100</a:t>
            </a:r>
          </a:p>
          <a:p>
            <a:pPr lvl="0" eaLnBrk="0" fontAlgn="base" hangingPunct="0">
              <a:spcBef>
                <a:spcPct val="0"/>
              </a:spcBef>
              <a:spcAft>
                <a:spcPct val="0"/>
              </a:spcAft>
            </a:pPr>
            <a:r>
              <a:rPr lang="es-PE" sz="2400" dirty="0">
                <a:latin typeface="Arial Narrow" panose="020B0606020202030204" pitchFamily="34" charset="0"/>
                <a:ea typeface="Calibri" pitchFamily="34" charset="0"/>
                <a:cs typeface="Arial" pitchFamily="34" charset="0"/>
              </a:rPr>
              <a:t>		</a:t>
            </a:r>
            <a:r>
              <a:rPr lang="es-PE" sz="2400" dirty="0" err="1">
                <a:latin typeface="Arial Narrow" panose="020B0606020202030204" pitchFamily="34" charset="0"/>
                <a:ea typeface="Calibri" pitchFamily="34" charset="0"/>
                <a:cs typeface="Arial" pitchFamily="34" charset="0"/>
              </a:rPr>
              <a:t>X1,X2,X3</a:t>
            </a:r>
            <a:r>
              <a:rPr lang="es-PE" sz="2400" dirty="0">
                <a:latin typeface="Arial Narrow" panose="020B0606020202030204" pitchFamily="34" charset="0"/>
                <a:ea typeface="Calibri" pitchFamily="34" charset="0"/>
                <a:cs typeface="Arial" pitchFamily="34" charset="0"/>
              </a:rPr>
              <a:t>&gt;=0, </a:t>
            </a:r>
            <a:r>
              <a:rPr lang="es-PE" sz="2400" dirty="0">
                <a:solidFill>
                  <a:srgbClr val="FF0000"/>
                </a:solidFill>
                <a:latin typeface="Arial Narrow" panose="020B0606020202030204" pitchFamily="34" charset="0"/>
                <a:ea typeface="Calibri" pitchFamily="34" charset="0"/>
                <a:cs typeface="Arial" pitchFamily="34" charset="0"/>
              </a:rPr>
              <a:t>entera</a:t>
            </a:r>
            <a:endParaRPr lang="es-PE" sz="2400" dirty="0">
              <a:solidFill>
                <a:srgbClr val="FF0000"/>
              </a:solidFill>
              <a:latin typeface="Arial Narrow" panose="020B0606020202030204" pitchFamily="34" charset="0"/>
              <a:cs typeface="Arial" pitchFamily="34" charset="0"/>
            </a:endParaRPr>
          </a:p>
        </p:txBody>
      </p:sp>
      <p:sp>
        <p:nvSpPr>
          <p:cNvPr id="2" name="4 Rectángulo">
            <a:extLst>
              <a:ext uri="{FF2B5EF4-FFF2-40B4-BE49-F238E27FC236}">
                <a16:creationId xmlns:a16="http://schemas.microsoft.com/office/drawing/2014/main" id="{26C75826-2F60-4A8D-74D7-4AC28AF22A27}"/>
              </a:ext>
            </a:extLst>
          </p:cNvPr>
          <p:cNvSpPr/>
          <p:nvPr/>
        </p:nvSpPr>
        <p:spPr>
          <a:xfrm>
            <a:off x="80526" y="4594365"/>
            <a:ext cx="2970756" cy="2246769"/>
          </a:xfrm>
          <a:prstGeom prst="rect">
            <a:avLst/>
          </a:prstGeom>
          <a:solidFill>
            <a:srgbClr val="FFFF00"/>
          </a:solidFill>
        </p:spPr>
        <p:txBody>
          <a:bodyPr wrap="square">
            <a:spAutoFit/>
          </a:bodyPr>
          <a:lstStyle/>
          <a:p>
            <a:r>
              <a:rPr lang="en-US" sz="2000" b="1" dirty="0">
                <a:latin typeface="Arial Narrow" pitchFamily="34" charset="0"/>
              </a:rPr>
              <a:t>MAX	</a:t>
            </a:r>
            <a:r>
              <a:rPr lang="en-US" sz="2000" b="1" dirty="0" err="1">
                <a:latin typeface="Arial Narrow" pitchFamily="34" charset="0"/>
              </a:rPr>
              <a:t>2X1</a:t>
            </a:r>
            <a:r>
              <a:rPr lang="en-US" sz="2000" b="1" dirty="0">
                <a:latin typeface="Arial Narrow" pitchFamily="34" charset="0"/>
              </a:rPr>
              <a:t> + </a:t>
            </a:r>
            <a:r>
              <a:rPr lang="en-US" sz="2000" b="1" dirty="0" err="1">
                <a:latin typeface="Arial Narrow" pitchFamily="34" charset="0"/>
              </a:rPr>
              <a:t>4X2</a:t>
            </a:r>
            <a:r>
              <a:rPr lang="en-US" sz="2000" b="1" dirty="0">
                <a:latin typeface="Arial Narrow" pitchFamily="34" charset="0"/>
              </a:rPr>
              <a:t> - </a:t>
            </a:r>
            <a:r>
              <a:rPr lang="en-US" sz="2000" b="1" dirty="0" err="1">
                <a:latin typeface="Arial Narrow" pitchFamily="34" charset="0"/>
              </a:rPr>
              <a:t>6X3</a:t>
            </a:r>
            <a:endParaRPr lang="en-US" sz="2000" b="1" dirty="0">
              <a:latin typeface="Arial Narrow" pitchFamily="34" charset="0"/>
            </a:endParaRPr>
          </a:p>
          <a:p>
            <a:r>
              <a:rPr lang="en-US" sz="2000" b="1" dirty="0">
                <a:latin typeface="Arial Narrow" pitchFamily="34" charset="0"/>
              </a:rPr>
              <a:t>ST</a:t>
            </a:r>
          </a:p>
          <a:p>
            <a:r>
              <a:rPr lang="en-US" sz="2000" b="1" dirty="0">
                <a:latin typeface="Arial Narrow" pitchFamily="34" charset="0"/>
              </a:rPr>
              <a:t>0.25 </a:t>
            </a:r>
            <a:r>
              <a:rPr lang="en-US" sz="2000" b="1" dirty="0" err="1">
                <a:latin typeface="Arial Narrow" pitchFamily="34" charset="0"/>
              </a:rPr>
              <a:t>X1</a:t>
            </a:r>
            <a:r>
              <a:rPr lang="en-US" sz="2000" b="1" dirty="0">
                <a:latin typeface="Arial Narrow" pitchFamily="34" charset="0"/>
              </a:rPr>
              <a:t> + 0.35 </a:t>
            </a:r>
            <a:r>
              <a:rPr lang="en-US" sz="2000" b="1" dirty="0" err="1">
                <a:latin typeface="Arial Narrow" pitchFamily="34" charset="0"/>
              </a:rPr>
              <a:t>X2</a:t>
            </a:r>
            <a:r>
              <a:rPr lang="en-US" sz="2000" b="1" dirty="0">
                <a:latin typeface="Arial Narrow" pitchFamily="34" charset="0"/>
              </a:rPr>
              <a:t> -</a:t>
            </a:r>
            <a:r>
              <a:rPr lang="en-US" sz="2000" b="1" dirty="0" err="1">
                <a:latin typeface="Arial Narrow" pitchFamily="34" charset="0"/>
              </a:rPr>
              <a:t>X3</a:t>
            </a:r>
            <a:r>
              <a:rPr lang="en-US" sz="2000" b="1" dirty="0">
                <a:latin typeface="Arial Narrow" pitchFamily="34" charset="0"/>
              </a:rPr>
              <a:t> &lt;= 200 </a:t>
            </a:r>
          </a:p>
          <a:p>
            <a:r>
              <a:rPr lang="en-US" sz="2000" b="1" dirty="0" err="1">
                <a:latin typeface="Arial Narrow" pitchFamily="34" charset="0"/>
              </a:rPr>
              <a:t>X1</a:t>
            </a:r>
            <a:r>
              <a:rPr lang="en-US" sz="2000" b="1" dirty="0">
                <a:latin typeface="Arial Narrow" pitchFamily="34" charset="0"/>
              </a:rPr>
              <a:t> + </a:t>
            </a:r>
            <a:r>
              <a:rPr lang="en-US" sz="2000" b="1" dirty="0" err="1">
                <a:latin typeface="Arial Narrow" pitchFamily="34" charset="0"/>
              </a:rPr>
              <a:t>X2</a:t>
            </a:r>
            <a:r>
              <a:rPr lang="en-US" sz="2000" b="1" dirty="0">
                <a:latin typeface="Arial Narrow" pitchFamily="34" charset="0"/>
              </a:rPr>
              <a:t>	 &lt;=  100 </a:t>
            </a:r>
          </a:p>
          <a:p>
            <a:r>
              <a:rPr lang="en-US" sz="2000" b="1" dirty="0">
                <a:latin typeface="Arial Narrow" pitchFamily="34" charset="0"/>
              </a:rPr>
              <a:t>END</a:t>
            </a:r>
          </a:p>
          <a:p>
            <a:r>
              <a:rPr lang="en-US" sz="2000" b="1" dirty="0">
                <a:latin typeface="Arial Narrow" pitchFamily="34" charset="0"/>
              </a:rPr>
              <a:t>GIN </a:t>
            </a:r>
            <a:r>
              <a:rPr lang="en-US" sz="2000" b="1" dirty="0" err="1">
                <a:latin typeface="Arial Narrow" pitchFamily="34" charset="0"/>
              </a:rPr>
              <a:t>X1</a:t>
            </a:r>
            <a:endParaRPr lang="en-US" sz="2000" b="1" dirty="0">
              <a:latin typeface="Arial Narrow" pitchFamily="34" charset="0"/>
            </a:endParaRPr>
          </a:p>
          <a:p>
            <a:r>
              <a:rPr lang="en-US" sz="2000" b="1" dirty="0">
                <a:latin typeface="Arial Narrow" pitchFamily="34" charset="0"/>
              </a:rPr>
              <a:t>GIN </a:t>
            </a:r>
            <a:r>
              <a:rPr lang="en-US" sz="2000" b="1" dirty="0" err="1">
                <a:latin typeface="Arial Narrow" pitchFamily="34" charset="0"/>
              </a:rPr>
              <a:t>X2</a:t>
            </a:r>
            <a:endParaRPr lang="en-US" sz="2000" b="1" dirty="0">
              <a:latin typeface="Arial Narrow" pitchFamily="34" charset="0"/>
            </a:endParaRPr>
          </a:p>
        </p:txBody>
      </p:sp>
      <p:sp>
        <p:nvSpPr>
          <p:cNvPr id="6" name="5 Rectángulo">
            <a:extLst>
              <a:ext uri="{FF2B5EF4-FFF2-40B4-BE49-F238E27FC236}">
                <a16:creationId xmlns:a16="http://schemas.microsoft.com/office/drawing/2014/main" id="{44479A5F-207B-7163-2177-3157C4E67E19}"/>
              </a:ext>
            </a:extLst>
          </p:cNvPr>
          <p:cNvSpPr/>
          <p:nvPr/>
        </p:nvSpPr>
        <p:spPr>
          <a:xfrm>
            <a:off x="3114140" y="4876849"/>
            <a:ext cx="4161650" cy="1938992"/>
          </a:xfrm>
          <a:prstGeom prst="rect">
            <a:avLst/>
          </a:prstGeom>
        </p:spPr>
        <p:txBody>
          <a:bodyPr wrap="square">
            <a:spAutoFit/>
          </a:bodyPr>
          <a:lstStyle/>
          <a:p>
            <a:r>
              <a:rPr lang="en-US" sz="2000" b="1" dirty="0">
                <a:latin typeface="Arial Narrow" pitchFamily="34" charset="0"/>
              </a:rPr>
              <a:t> OBJECTIVE FUNCTION VALUE</a:t>
            </a:r>
          </a:p>
          <a:p>
            <a:r>
              <a:rPr lang="en-US" sz="2000" b="1" dirty="0">
                <a:latin typeface="Arial Narrow" pitchFamily="34" charset="0"/>
              </a:rPr>
              <a:t>        1)      400.0000</a:t>
            </a:r>
          </a:p>
          <a:p>
            <a:r>
              <a:rPr lang="en-US" sz="2000" b="1" dirty="0">
                <a:latin typeface="Arial Narrow" pitchFamily="34" charset="0"/>
              </a:rPr>
              <a:t>VARIABLE  VALUE       REDUCED COST</a:t>
            </a:r>
          </a:p>
          <a:p>
            <a:r>
              <a:rPr lang="en-US" sz="2000" b="1" dirty="0">
                <a:latin typeface="Arial Narrow" pitchFamily="34" charset="0"/>
              </a:rPr>
              <a:t>        </a:t>
            </a:r>
            <a:r>
              <a:rPr lang="en-US" sz="2000" b="1" dirty="0" err="1">
                <a:latin typeface="Arial Narrow" pitchFamily="34" charset="0"/>
              </a:rPr>
              <a:t>X1</a:t>
            </a:r>
            <a:r>
              <a:rPr lang="en-US" sz="2000" b="1" dirty="0">
                <a:latin typeface="Arial Narrow" pitchFamily="34" charset="0"/>
              </a:rPr>
              <a:t>         0.000000          2.000000</a:t>
            </a:r>
          </a:p>
          <a:p>
            <a:r>
              <a:rPr lang="en-US" sz="2000" b="1" dirty="0">
                <a:latin typeface="Arial Narrow" pitchFamily="34" charset="0"/>
              </a:rPr>
              <a:t>        </a:t>
            </a:r>
            <a:r>
              <a:rPr lang="en-US" sz="2000" b="1" dirty="0" err="1">
                <a:latin typeface="Arial Narrow" pitchFamily="34" charset="0"/>
              </a:rPr>
              <a:t>X2</a:t>
            </a:r>
            <a:r>
              <a:rPr lang="en-US" sz="2000" b="1" dirty="0">
                <a:latin typeface="Arial Narrow" pitchFamily="34" charset="0"/>
              </a:rPr>
              <a:t>       100.000000          0.000000</a:t>
            </a:r>
          </a:p>
          <a:p>
            <a:r>
              <a:rPr lang="en-US" sz="2000" b="1" dirty="0">
                <a:latin typeface="Arial Narrow" pitchFamily="34" charset="0"/>
              </a:rPr>
              <a:t>        </a:t>
            </a:r>
            <a:r>
              <a:rPr lang="en-US" sz="2000" b="1" dirty="0" err="1">
                <a:latin typeface="Arial Narrow" pitchFamily="34" charset="0"/>
              </a:rPr>
              <a:t>X3</a:t>
            </a:r>
            <a:r>
              <a:rPr lang="en-US" sz="2000" b="1" dirty="0">
                <a:latin typeface="Arial Narrow" pitchFamily="34" charset="0"/>
              </a:rPr>
              <a:t>         0.000000          6.000000</a:t>
            </a:r>
          </a:p>
        </p:txBody>
      </p:sp>
    </p:spTree>
    <p:extLst>
      <p:ext uri="{BB962C8B-B14F-4D97-AF65-F5344CB8AC3E}">
        <p14:creationId xmlns:p14="http://schemas.microsoft.com/office/powerpoint/2010/main" val="257030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Diagrama"/>
          <p:cNvGraphicFramePr/>
          <p:nvPr/>
        </p:nvGraphicFramePr>
        <p:xfrm>
          <a:off x="365759" y="1355846"/>
          <a:ext cx="9326879" cy="5338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2"/>
          <p:cNvSpPr>
            <a:spLocks noGrp="1" noChangeArrowheads="1"/>
          </p:cNvSpPr>
          <p:nvPr>
            <p:ph type="title"/>
          </p:nvPr>
        </p:nvSpPr>
        <p:spPr>
          <a:xfrm>
            <a:off x="6096000" y="250759"/>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Problema 26</a:t>
            </a:r>
          </a:p>
        </p:txBody>
      </p:sp>
      <p:pic>
        <p:nvPicPr>
          <p:cNvPr id="1026" name="Picture 2" descr="Resultado de imagen de 2 tipos de llaveros">
            <a:extLst>
              <a:ext uri="{FF2B5EF4-FFF2-40B4-BE49-F238E27FC236}">
                <a16:creationId xmlns:a16="http://schemas.microsoft.com/office/drawing/2014/main" id="{0A68806B-8131-652E-7099-002775B1ED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81112" y="2171248"/>
            <a:ext cx="1950642" cy="3376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0649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nvGraphicFramePr>
        <p:xfrm>
          <a:off x="417405" y="1507669"/>
          <a:ext cx="5330252" cy="2677266"/>
        </p:xfrm>
        <a:graphic>
          <a:graphicData uri="http://schemas.openxmlformats.org/drawingml/2006/table">
            <a:tbl>
              <a:tblPr firstRow="1" bandRow="1">
                <a:tableStyleId>{5C22544A-7EE6-4342-B048-85BDC9FD1C3A}</a:tableStyleId>
              </a:tblPr>
              <a:tblGrid>
                <a:gridCol w="845338">
                  <a:extLst>
                    <a:ext uri="{9D8B030D-6E8A-4147-A177-3AD203B41FA5}">
                      <a16:colId xmlns:a16="http://schemas.microsoft.com/office/drawing/2014/main" val="20000"/>
                    </a:ext>
                  </a:extLst>
                </a:gridCol>
                <a:gridCol w="1644583">
                  <a:extLst>
                    <a:ext uri="{9D8B030D-6E8A-4147-A177-3AD203B41FA5}">
                      <a16:colId xmlns:a16="http://schemas.microsoft.com/office/drawing/2014/main" val="20001"/>
                    </a:ext>
                  </a:extLst>
                </a:gridCol>
                <a:gridCol w="1507768">
                  <a:extLst>
                    <a:ext uri="{9D8B030D-6E8A-4147-A177-3AD203B41FA5}">
                      <a16:colId xmlns:a16="http://schemas.microsoft.com/office/drawing/2014/main" val="20002"/>
                    </a:ext>
                  </a:extLst>
                </a:gridCol>
                <a:gridCol w="1332563">
                  <a:extLst>
                    <a:ext uri="{9D8B030D-6E8A-4147-A177-3AD203B41FA5}">
                      <a16:colId xmlns:a16="http://schemas.microsoft.com/office/drawing/2014/main" val="20003"/>
                    </a:ext>
                  </a:extLst>
                </a:gridCol>
              </a:tblGrid>
              <a:tr h="765889">
                <a:tc>
                  <a:txBody>
                    <a:bodyPr/>
                    <a:lstStyle/>
                    <a:p>
                      <a:pPr algn="ctr"/>
                      <a:r>
                        <a:rPr lang="es-ES" sz="2400" dirty="0"/>
                        <a:t>TIPO</a:t>
                      </a:r>
                      <a:endParaRPr lang="es-PE" sz="2400" dirty="0"/>
                    </a:p>
                  </a:txBody>
                  <a:tcPr/>
                </a:tc>
                <a:tc>
                  <a:txBody>
                    <a:bodyPr/>
                    <a:lstStyle/>
                    <a:p>
                      <a:pPr algn="ctr"/>
                      <a:r>
                        <a:rPr lang="es-ES" sz="2400" dirty="0"/>
                        <a:t>Producción</a:t>
                      </a:r>
                      <a:r>
                        <a:rPr lang="es-ES" sz="2400" baseline="0" dirty="0"/>
                        <a:t> (min)</a:t>
                      </a:r>
                      <a:endParaRPr lang="es-PE" sz="2400" dirty="0"/>
                    </a:p>
                  </a:txBody>
                  <a:tcPr/>
                </a:tc>
                <a:tc>
                  <a:txBody>
                    <a:bodyPr/>
                    <a:lstStyle/>
                    <a:p>
                      <a:pPr algn="ctr"/>
                      <a:r>
                        <a:rPr lang="es-ES" sz="2400" dirty="0"/>
                        <a:t>Demanda</a:t>
                      </a:r>
                      <a:endParaRPr lang="es-PE" sz="2400" dirty="0"/>
                    </a:p>
                  </a:txBody>
                  <a:tcPr/>
                </a:tc>
                <a:tc>
                  <a:txBody>
                    <a:bodyPr/>
                    <a:lstStyle/>
                    <a:p>
                      <a:pPr algn="ctr"/>
                      <a:r>
                        <a:rPr lang="es-ES" sz="2400" dirty="0"/>
                        <a:t>Utilidad</a:t>
                      </a:r>
                      <a:endParaRPr lang="es-PE" sz="2400" dirty="0"/>
                    </a:p>
                  </a:txBody>
                  <a:tcPr/>
                </a:tc>
                <a:extLst>
                  <a:ext uri="{0D108BD9-81ED-4DB2-BD59-A6C34878D82A}">
                    <a16:rowId xmlns:a16="http://schemas.microsoft.com/office/drawing/2014/main" val="10000"/>
                  </a:ext>
                </a:extLst>
              </a:tr>
              <a:tr h="618102">
                <a:tc>
                  <a:txBody>
                    <a:bodyPr/>
                    <a:lstStyle/>
                    <a:p>
                      <a:pPr algn="ctr"/>
                      <a:r>
                        <a:rPr lang="es-ES" sz="2400" dirty="0"/>
                        <a:t>1</a:t>
                      </a:r>
                      <a:endParaRPr lang="es-PE" sz="2400" dirty="0"/>
                    </a:p>
                  </a:txBody>
                  <a:tcPr/>
                </a:tc>
                <a:tc>
                  <a:txBody>
                    <a:bodyPr/>
                    <a:lstStyle/>
                    <a:p>
                      <a:pPr algn="ctr"/>
                      <a:r>
                        <a:rPr lang="es-ES" sz="2400" dirty="0"/>
                        <a:t>10</a:t>
                      </a:r>
                      <a:endParaRPr lang="es-PE" sz="2400" dirty="0"/>
                    </a:p>
                  </a:txBody>
                  <a:tcPr/>
                </a:tc>
                <a:tc>
                  <a:txBody>
                    <a:bodyPr/>
                    <a:lstStyle/>
                    <a:p>
                      <a:pPr algn="ctr"/>
                      <a:r>
                        <a:rPr lang="es-ES" sz="2400" dirty="0"/>
                        <a:t>[150, 200]</a:t>
                      </a:r>
                      <a:endParaRPr lang="es-PE" sz="2400" dirty="0"/>
                    </a:p>
                  </a:txBody>
                  <a:tcPr/>
                </a:tc>
                <a:tc>
                  <a:txBody>
                    <a:bodyPr/>
                    <a:lstStyle/>
                    <a:p>
                      <a:pPr algn="ctr"/>
                      <a:r>
                        <a:rPr lang="es-ES" sz="2400" dirty="0"/>
                        <a:t>1,20</a:t>
                      </a:r>
                      <a:endParaRPr lang="es-PE" sz="2400" dirty="0"/>
                    </a:p>
                  </a:txBody>
                  <a:tcPr/>
                </a:tc>
                <a:extLst>
                  <a:ext uri="{0D108BD9-81ED-4DB2-BD59-A6C34878D82A}">
                    <a16:rowId xmlns:a16="http://schemas.microsoft.com/office/drawing/2014/main" val="10001"/>
                  </a:ext>
                </a:extLst>
              </a:tr>
              <a:tr h="618102">
                <a:tc>
                  <a:txBody>
                    <a:bodyPr/>
                    <a:lstStyle/>
                    <a:p>
                      <a:pPr algn="ctr"/>
                      <a:r>
                        <a:rPr lang="es-ES" sz="2400" dirty="0"/>
                        <a:t>2</a:t>
                      </a:r>
                      <a:endParaRPr lang="es-PE" sz="2400" dirty="0"/>
                    </a:p>
                  </a:txBody>
                  <a:tcPr/>
                </a:tc>
                <a:tc>
                  <a:txBody>
                    <a:bodyPr/>
                    <a:lstStyle/>
                    <a:p>
                      <a:pPr algn="ctr"/>
                      <a:r>
                        <a:rPr lang="es-ES" sz="2400" dirty="0"/>
                        <a:t>12</a:t>
                      </a:r>
                      <a:endParaRPr lang="es-PE" sz="2400" dirty="0"/>
                    </a:p>
                  </a:txBody>
                  <a:tcPr/>
                </a:tc>
                <a:tc>
                  <a:txBody>
                    <a:bodyPr/>
                    <a:lstStyle/>
                    <a:p>
                      <a:pPr algn="ctr"/>
                      <a:r>
                        <a:rPr lang="es-ES" sz="2400" dirty="0"/>
                        <a:t>[0, 45]</a:t>
                      </a:r>
                      <a:endParaRPr lang="es-PE" sz="2400" dirty="0"/>
                    </a:p>
                  </a:txBody>
                  <a:tcPr/>
                </a:tc>
                <a:tc>
                  <a:txBody>
                    <a:bodyPr/>
                    <a:lstStyle/>
                    <a:p>
                      <a:pPr algn="ctr"/>
                      <a:r>
                        <a:rPr lang="es-ES" sz="2400" dirty="0"/>
                        <a:t>1,50</a:t>
                      </a:r>
                      <a:endParaRPr lang="es-PE" sz="2400" dirty="0"/>
                    </a:p>
                  </a:txBody>
                  <a:tcPr/>
                </a:tc>
                <a:extLst>
                  <a:ext uri="{0D108BD9-81ED-4DB2-BD59-A6C34878D82A}">
                    <a16:rowId xmlns:a16="http://schemas.microsoft.com/office/drawing/2014/main" val="10002"/>
                  </a:ext>
                </a:extLst>
              </a:tr>
              <a:tr h="618102">
                <a:tc>
                  <a:txBody>
                    <a:bodyPr/>
                    <a:lstStyle/>
                    <a:p>
                      <a:pPr algn="ctr"/>
                      <a:r>
                        <a:rPr lang="es-ES" sz="2400" dirty="0"/>
                        <a:t>Total</a:t>
                      </a:r>
                      <a:endParaRPr lang="es-PE" sz="2400" dirty="0"/>
                    </a:p>
                  </a:txBody>
                  <a:tcPr/>
                </a:tc>
                <a:tc>
                  <a:txBody>
                    <a:bodyPr/>
                    <a:lstStyle/>
                    <a:p>
                      <a:pPr algn="ctr"/>
                      <a:r>
                        <a:rPr lang="es-ES" sz="2400" dirty="0"/>
                        <a:t>2500</a:t>
                      </a:r>
                      <a:endParaRPr lang="es-PE" sz="2400" dirty="0"/>
                    </a:p>
                  </a:txBody>
                  <a:tcPr/>
                </a:tc>
                <a:tc>
                  <a:txBody>
                    <a:bodyPr/>
                    <a:lstStyle/>
                    <a:p>
                      <a:pPr algn="ctr"/>
                      <a:endParaRPr lang="es-PE" sz="2400" dirty="0"/>
                    </a:p>
                  </a:txBody>
                  <a:tcPr/>
                </a:tc>
                <a:tc>
                  <a:txBody>
                    <a:bodyPr/>
                    <a:lstStyle/>
                    <a:p>
                      <a:pPr algn="ctr"/>
                      <a:endParaRPr lang="es-PE" sz="2400" dirty="0"/>
                    </a:p>
                  </a:txBody>
                  <a:tcPr/>
                </a:tc>
                <a:extLst>
                  <a:ext uri="{0D108BD9-81ED-4DB2-BD59-A6C34878D82A}">
                    <a16:rowId xmlns:a16="http://schemas.microsoft.com/office/drawing/2014/main" val="10003"/>
                  </a:ext>
                </a:extLst>
              </a:tr>
            </a:tbl>
          </a:graphicData>
        </a:graphic>
      </p:graphicFrame>
      <p:sp>
        <p:nvSpPr>
          <p:cNvPr id="2" name="Rectángulo 1">
            <a:extLst>
              <a:ext uri="{FF2B5EF4-FFF2-40B4-BE49-F238E27FC236}">
                <a16:creationId xmlns:a16="http://schemas.microsoft.com/office/drawing/2014/main" id="{447F30D6-0BE0-4C1D-98B4-27921FE8D4B0}"/>
              </a:ext>
            </a:extLst>
          </p:cNvPr>
          <p:cNvSpPr/>
          <p:nvPr/>
        </p:nvSpPr>
        <p:spPr>
          <a:xfrm>
            <a:off x="6607343" y="1225689"/>
            <a:ext cx="5584658" cy="4708981"/>
          </a:xfrm>
          <a:prstGeom prst="rect">
            <a:avLst/>
          </a:prstGeom>
        </p:spPr>
        <p:txBody>
          <a:bodyPr wrap="square">
            <a:spAutoFit/>
          </a:bodyPr>
          <a:lstStyle/>
          <a:p>
            <a:pPr marL="285750" indent="-285750" fontAlgn="base">
              <a:spcBef>
                <a:spcPct val="0"/>
              </a:spcBef>
              <a:spcAft>
                <a:spcPct val="0"/>
              </a:spcAft>
              <a:buFontTx/>
              <a:buAutoNum type="romanUcPeriod"/>
            </a:pPr>
            <a:r>
              <a:rPr lang="es-PE" sz="2000" b="1" dirty="0">
                <a:solidFill>
                  <a:srgbClr val="FF0000"/>
                </a:solidFill>
                <a:latin typeface="Arial Narrow" panose="020B0606020202030204" pitchFamily="34" charset="0"/>
                <a:ea typeface="Calibri" pitchFamily="34" charset="0"/>
                <a:cs typeface="Arial" pitchFamily="34" charset="0"/>
              </a:rPr>
              <a:t>  Identificación de variables</a:t>
            </a:r>
          </a:p>
          <a:p>
            <a:pPr marL="984250" lvl="1" indent="-539750"/>
            <a:r>
              <a:rPr lang="es-PE" sz="2000" b="1" dirty="0"/>
              <a:t>Xi = Número de Llaveros del tipo i a producirse diariamente</a:t>
            </a:r>
          </a:p>
          <a:p>
            <a:pPr lvl="1"/>
            <a:r>
              <a:rPr lang="es-PE" sz="2000" b="1" dirty="0"/>
              <a:t>Y  = Número de minutos extras.</a:t>
            </a:r>
          </a:p>
          <a:p>
            <a:pPr marL="514350" lvl="0" indent="-514350" fontAlgn="base">
              <a:spcBef>
                <a:spcPct val="0"/>
              </a:spcBef>
              <a:spcAft>
                <a:spcPct val="0"/>
              </a:spcAft>
              <a:buAutoNum type="romanUcPeriod" startAt="2"/>
            </a:pPr>
            <a:r>
              <a:rPr lang="es-PE" sz="2000" b="1" dirty="0">
                <a:solidFill>
                  <a:srgbClr val="FF0000"/>
                </a:solidFill>
                <a:latin typeface="Arial Narrow" panose="020B0606020202030204" pitchFamily="34" charset="0"/>
                <a:ea typeface="Calibri" pitchFamily="34" charset="0"/>
                <a:cs typeface="Arial" pitchFamily="34" charset="0"/>
              </a:rPr>
              <a:t>Identificación de la Función Objetivo</a:t>
            </a:r>
          </a:p>
          <a:p>
            <a:pPr lvl="1" fontAlgn="base">
              <a:spcBef>
                <a:spcPct val="0"/>
              </a:spcBef>
              <a:spcAft>
                <a:spcPct val="0"/>
              </a:spcAft>
            </a:pPr>
            <a:r>
              <a:rPr lang="es-PE" sz="2000" b="1" dirty="0"/>
              <a:t>Beneficios = Utilidad por ambos tipos – Costo por minutos extras </a:t>
            </a:r>
          </a:p>
          <a:p>
            <a:pPr lvl="0" fontAlgn="base">
              <a:spcBef>
                <a:spcPct val="0"/>
              </a:spcBef>
              <a:spcAft>
                <a:spcPct val="0"/>
              </a:spcAft>
            </a:pPr>
            <a:r>
              <a:rPr lang="es-PE" sz="2000" b="1" dirty="0">
                <a:latin typeface="Arial Narrow" panose="020B0606020202030204" pitchFamily="34" charset="0"/>
                <a:cs typeface="Arial" pitchFamily="34" charset="0"/>
              </a:rPr>
              <a:t>       Max </a:t>
            </a:r>
            <a:r>
              <a:rPr lang="es-PE" sz="2000" b="1" dirty="0" err="1">
                <a:latin typeface="Arial Narrow" panose="020B0606020202030204" pitchFamily="34" charset="0"/>
                <a:cs typeface="Arial" pitchFamily="34" charset="0"/>
              </a:rPr>
              <a:t>1,2X1+1,5X2-0,10Y</a:t>
            </a:r>
            <a:endParaRPr lang="es-PE" sz="2000" b="1" dirty="0">
              <a:latin typeface="Arial Narrow" panose="020B0606020202030204" pitchFamily="34" charset="0"/>
              <a:cs typeface="Arial" pitchFamily="34" charset="0"/>
            </a:endParaRPr>
          </a:p>
          <a:p>
            <a:pPr lvl="0" eaLnBrk="0" fontAlgn="base" hangingPunct="0">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III.   Identificación de las restricciones</a:t>
            </a:r>
            <a:endParaRPr lang="es-PE" sz="2000" b="1" dirty="0">
              <a:solidFill>
                <a:srgbClr val="FF0000"/>
              </a:solidFill>
              <a:latin typeface="Arial Narrow" panose="020B0606020202030204" pitchFamily="34" charset="0"/>
              <a:cs typeface="Arial" pitchFamily="34" charset="0"/>
            </a:endParaRPr>
          </a:p>
          <a:p>
            <a:pPr lvl="1" eaLnBrk="0" fontAlgn="base" hangingPunct="0">
              <a:spcBef>
                <a:spcPct val="0"/>
              </a:spcBef>
              <a:spcAft>
                <a:spcPct val="0"/>
              </a:spcAft>
            </a:pPr>
            <a:r>
              <a:rPr lang="es-PE" sz="2000" b="1" dirty="0"/>
              <a:t>El tiempo utilizado es el tiempo disponible más los minutos extra utilizados:</a:t>
            </a:r>
          </a:p>
          <a:p>
            <a:pPr lvl="1" eaLnBrk="0" fontAlgn="base" hangingPunct="0">
              <a:spcBef>
                <a:spcPct val="0"/>
              </a:spcBef>
              <a:spcAft>
                <a:spcPct val="0"/>
              </a:spcAft>
            </a:pPr>
            <a:r>
              <a:rPr lang="es-PE" sz="2000" b="1" dirty="0" err="1">
                <a:latin typeface="Arial Narrow" panose="020B0606020202030204" pitchFamily="34" charset="0"/>
                <a:ea typeface="Calibri" pitchFamily="34" charset="0"/>
                <a:cs typeface="Arial" pitchFamily="34" charset="0"/>
              </a:rPr>
              <a:t>10X1+12X2</a:t>
            </a:r>
            <a:r>
              <a:rPr lang="es-PE" sz="2000" b="1" dirty="0">
                <a:latin typeface="Arial Narrow" panose="020B0606020202030204" pitchFamily="34" charset="0"/>
                <a:ea typeface="Calibri" pitchFamily="34" charset="0"/>
                <a:cs typeface="Arial" pitchFamily="34" charset="0"/>
              </a:rPr>
              <a:t>&lt;=</a:t>
            </a:r>
            <a:r>
              <a:rPr lang="es-PE" sz="2000" b="1" dirty="0" err="1">
                <a:latin typeface="Arial Narrow" panose="020B0606020202030204" pitchFamily="34" charset="0"/>
                <a:ea typeface="Calibri" pitchFamily="34" charset="0"/>
                <a:cs typeface="Arial" pitchFamily="34" charset="0"/>
              </a:rPr>
              <a:t>2500+Y</a:t>
            </a:r>
            <a:endParaRPr lang="es-PE" sz="2000" b="1" dirty="0">
              <a:latin typeface="Arial Narrow" panose="020B0606020202030204" pitchFamily="34" charset="0"/>
              <a:ea typeface="Calibri" pitchFamily="34" charset="0"/>
              <a:cs typeface="Arial" pitchFamily="34" charset="0"/>
            </a:endParaRPr>
          </a:p>
          <a:p>
            <a:pPr lvl="1" eaLnBrk="0" fontAlgn="base" hangingPunct="0">
              <a:spcBef>
                <a:spcPct val="0"/>
              </a:spcBef>
              <a:spcAft>
                <a:spcPct val="0"/>
              </a:spcAft>
            </a:pPr>
            <a:r>
              <a:rPr lang="es-PE" sz="2000" b="1" dirty="0">
                <a:latin typeface="Arial Narrow" panose="020B0606020202030204" pitchFamily="34" charset="0"/>
                <a:ea typeface="Calibri" pitchFamily="34" charset="0"/>
                <a:cs typeface="Arial" pitchFamily="34" charset="0"/>
              </a:rPr>
              <a:t>     150&lt;=</a:t>
            </a:r>
            <a:r>
              <a:rPr lang="es-PE" sz="2000" b="1" dirty="0" err="1">
                <a:latin typeface="Arial Narrow" panose="020B0606020202030204" pitchFamily="34" charset="0"/>
                <a:ea typeface="Calibri" pitchFamily="34" charset="0"/>
                <a:cs typeface="Arial" pitchFamily="34" charset="0"/>
              </a:rPr>
              <a:t>X1</a:t>
            </a:r>
            <a:r>
              <a:rPr lang="es-PE" sz="2000" b="1" dirty="0">
                <a:latin typeface="Arial Narrow" panose="020B0606020202030204" pitchFamily="34" charset="0"/>
                <a:ea typeface="Calibri" pitchFamily="34" charset="0"/>
                <a:cs typeface="Arial" pitchFamily="34" charset="0"/>
              </a:rPr>
              <a:t>&lt;=200</a:t>
            </a:r>
          </a:p>
          <a:p>
            <a:pPr lvl="1" eaLnBrk="0" fontAlgn="base" hangingPunct="0">
              <a:spcBef>
                <a:spcPct val="0"/>
              </a:spcBef>
              <a:spcAft>
                <a:spcPct val="0"/>
              </a:spcAft>
            </a:pPr>
            <a:r>
              <a:rPr lang="es-PE" sz="2000" b="1" dirty="0">
                <a:latin typeface="Arial Narrow" panose="020B0606020202030204" pitchFamily="34" charset="0"/>
                <a:ea typeface="Calibri" pitchFamily="34" charset="0"/>
                <a:cs typeface="Arial" pitchFamily="34" charset="0"/>
              </a:rPr>
              <a:t>        0&lt;=</a:t>
            </a:r>
            <a:r>
              <a:rPr lang="es-PE" sz="2000" b="1" dirty="0" err="1">
                <a:latin typeface="Arial Narrow" panose="020B0606020202030204" pitchFamily="34" charset="0"/>
                <a:ea typeface="Calibri" pitchFamily="34" charset="0"/>
                <a:cs typeface="Arial" pitchFamily="34" charset="0"/>
              </a:rPr>
              <a:t>X2</a:t>
            </a:r>
            <a:r>
              <a:rPr lang="es-PE" sz="2000" b="1" dirty="0">
                <a:latin typeface="Arial Narrow" panose="020B0606020202030204" pitchFamily="34" charset="0"/>
                <a:ea typeface="Calibri" pitchFamily="34" charset="0"/>
                <a:cs typeface="Arial" pitchFamily="34" charset="0"/>
              </a:rPr>
              <a:t>&lt;=45</a:t>
            </a:r>
          </a:p>
          <a:p>
            <a:pPr indent="449263" eaLnBrk="0" fontAlgn="base" hangingPunct="0">
              <a:spcBef>
                <a:spcPct val="0"/>
              </a:spcBef>
              <a:spcAft>
                <a:spcPct val="0"/>
              </a:spcAft>
            </a:pPr>
            <a:r>
              <a:rPr lang="es-PE" sz="2000" b="1" dirty="0">
                <a:latin typeface="Arial Narrow" panose="020B0606020202030204" pitchFamily="34" charset="0"/>
                <a:ea typeface="Calibri" pitchFamily="34" charset="0"/>
                <a:cs typeface="Arial" pitchFamily="34" charset="0"/>
              </a:rPr>
              <a:t>        X1, X2≥ 0, ENTERO     Y&gt;=0</a:t>
            </a:r>
            <a:endParaRPr lang="es-PE" sz="2000" b="1" dirty="0">
              <a:latin typeface="Arial Narrow" panose="020B0606020202030204" pitchFamily="34" charset="0"/>
              <a:cs typeface="Arial" pitchFamily="34" charset="0"/>
            </a:endParaRPr>
          </a:p>
        </p:txBody>
      </p:sp>
      <p:sp>
        <p:nvSpPr>
          <p:cNvPr id="3" name="3 Rectángulo">
            <a:extLst>
              <a:ext uri="{FF2B5EF4-FFF2-40B4-BE49-F238E27FC236}">
                <a16:creationId xmlns:a16="http://schemas.microsoft.com/office/drawing/2014/main" id="{934039E1-6F46-55EB-BD3E-04F90AAEDDC0}"/>
              </a:ext>
            </a:extLst>
          </p:cNvPr>
          <p:cNvSpPr/>
          <p:nvPr/>
        </p:nvSpPr>
        <p:spPr>
          <a:xfrm>
            <a:off x="2773279" y="5226784"/>
            <a:ext cx="4138863" cy="1631216"/>
          </a:xfrm>
          <a:prstGeom prst="rect">
            <a:avLst/>
          </a:prstGeom>
          <a:solidFill>
            <a:schemeClr val="accent4">
              <a:lumMod val="40000"/>
              <a:lumOff val="60000"/>
            </a:schemeClr>
          </a:solidFill>
        </p:spPr>
        <p:txBody>
          <a:bodyPr wrap="square">
            <a:spAutoFit/>
          </a:bodyPr>
          <a:lstStyle/>
          <a:p>
            <a:r>
              <a:rPr lang="en-US" sz="2000" b="1" dirty="0">
                <a:latin typeface="Arial Narrow" pitchFamily="34" charset="0"/>
              </a:rPr>
              <a:t> 1)      303.5000</a:t>
            </a:r>
          </a:p>
          <a:p>
            <a:r>
              <a:rPr lang="en-US" sz="2000" b="1" dirty="0">
                <a:latin typeface="Arial Narrow" pitchFamily="34" charset="0"/>
              </a:rPr>
              <a:t> VARIABLE   VALUE     REDUCED COST</a:t>
            </a:r>
          </a:p>
          <a:p>
            <a:r>
              <a:rPr lang="en-US" sz="2000" b="1" dirty="0">
                <a:latin typeface="Arial Narrow" pitchFamily="34" charset="0"/>
              </a:rPr>
              <a:t>        </a:t>
            </a:r>
            <a:r>
              <a:rPr lang="en-US" sz="2000" b="1" dirty="0" err="1">
                <a:latin typeface="Arial Narrow" pitchFamily="34" charset="0"/>
              </a:rPr>
              <a:t>X1</a:t>
            </a:r>
            <a:r>
              <a:rPr lang="en-US" sz="2000" b="1" dirty="0">
                <a:latin typeface="Arial Narrow" pitchFamily="34" charset="0"/>
              </a:rPr>
              <a:t>       200.000000          0.000000</a:t>
            </a:r>
          </a:p>
          <a:p>
            <a:r>
              <a:rPr lang="en-US" sz="2000" b="1" dirty="0">
                <a:latin typeface="Arial Narrow" pitchFamily="34" charset="0"/>
              </a:rPr>
              <a:t>        </a:t>
            </a:r>
            <a:r>
              <a:rPr lang="en-US" sz="2000" b="1" dirty="0" err="1">
                <a:latin typeface="Arial Narrow" pitchFamily="34" charset="0"/>
              </a:rPr>
              <a:t>X2</a:t>
            </a:r>
            <a:r>
              <a:rPr lang="en-US" sz="2000" b="1" dirty="0">
                <a:latin typeface="Arial Narrow" pitchFamily="34" charset="0"/>
              </a:rPr>
              <a:t>         45.000000          0.000000</a:t>
            </a:r>
          </a:p>
          <a:p>
            <a:r>
              <a:rPr lang="en-US" sz="2000" b="1" dirty="0">
                <a:latin typeface="Arial Narrow" pitchFamily="34" charset="0"/>
              </a:rPr>
              <a:t>         Y          40.000000          0.000000</a:t>
            </a:r>
          </a:p>
        </p:txBody>
      </p:sp>
      <p:sp>
        <p:nvSpPr>
          <p:cNvPr id="5" name="4 Rectángulo">
            <a:extLst>
              <a:ext uri="{FF2B5EF4-FFF2-40B4-BE49-F238E27FC236}">
                <a16:creationId xmlns:a16="http://schemas.microsoft.com/office/drawing/2014/main" id="{84634A9C-1D3C-8D9C-5B60-70F74505F38B}"/>
              </a:ext>
            </a:extLst>
          </p:cNvPr>
          <p:cNvSpPr/>
          <p:nvPr/>
        </p:nvSpPr>
        <p:spPr>
          <a:xfrm>
            <a:off x="0" y="4919008"/>
            <a:ext cx="2773279" cy="1938992"/>
          </a:xfrm>
          <a:prstGeom prst="rect">
            <a:avLst/>
          </a:prstGeom>
          <a:solidFill>
            <a:srgbClr val="FFFF00"/>
          </a:solidFill>
        </p:spPr>
        <p:txBody>
          <a:bodyPr wrap="square">
            <a:spAutoFit/>
          </a:bodyPr>
          <a:lstStyle/>
          <a:p>
            <a:r>
              <a:rPr lang="es-PE" sz="2000" b="1" dirty="0">
                <a:latin typeface="Arial Narrow" pitchFamily="34" charset="0"/>
              </a:rPr>
              <a:t>Max 1.2 X1 + 1.5 X2 - 0.1 Y</a:t>
            </a:r>
          </a:p>
          <a:p>
            <a:r>
              <a:rPr lang="es-PE" sz="2000" b="1" dirty="0" err="1">
                <a:latin typeface="Arial Narrow" pitchFamily="34" charset="0"/>
              </a:rPr>
              <a:t>SUBJECT</a:t>
            </a:r>
            <a:r>
              <a:rPr lang="es-PE" sz="2000" b="1" dirty="0">
                <a:latin typeface="Arial Narrow" pitchFamily="34" charset="0"/>
              </a:rPr>
              <a:t> </a:t>
            </a:r>
            <a:r>
              <a:rPr lang="es-PE" sz="2000" b="1" dirty="0" err="1">
                <a:latin typeface="Arial Narrow" pitchFamily="34" charset="0"/>
              </a:rPr>
              <a:t>TO</a:t>
            </a:r>
            <a:endParaRPr lang="es-PE" sz="2000" b="1" dirty="0">
              <a:latin typeface="Arial Narrow" pitchFamily="34" charset="0"/>
            </a:endParaRPr>
          </a:p>
          <a:p>
            <a:r>
              <a:rPr lang="es-PE" sz="2000" b="1" dirty="0">
                <a:latin typeface="Arial Narrow" pitchFamily="34" charset="0"/>
              </a:rPr>
              <a:t>10 </a:t>
            </a:r>
            <a:r>
              <a:rPr lang="es-PE" sz="2000" b="1" dirty="0" err="1">
                <a:latin typeface="Arial Narrow" pitchFamily="34" charset="0"/>
              </a:rPr>
              <a:t>X1</a:t>
            </a:r>
            <a:r>
              <a:rPr lang="es-PE" sz="2000" b="1" dirty="0">
                <a:latin typeface="Arial Narrow" pitchFamily="34" charset="0"/>
              </a:rPr>
              <a:t> + 12 </a:t>
            </a:r>
            <a:r>
              <a:rPr lang="es-PE" sz="2000" b="1" dirty="0" err="1">
                <a:latin typeface="Arial Narrow" pitchFamily="34" charset="0"/>
              </a:rPr>
              <a:t>X2</a:t>
            </a:r>
            <a:r>
              <a:rPr lang="es-PE" sz="2000" b="1" dirty="0">
                <a:latin typeface="Arial Narrow" pitchFamily="34" charset="0"/>
              </a:rPr>
              <a:t> - Y &lt;= 2500</a:t>
            </a:r>
          </a:p>
          <a:p>
            <a:r>
              <a:rPr lang="es-PE" sz="2000" b="1" dirty="0" err="1">
                <a:latin typeface="Arial Narrow" pitchFamily="34" charset="0"/>
              </a:rPr>
              <a:t>X1</a:t>
            </a:r>
            <a:r>
              <a:rPr lang="es-PE" sz="2000" b="1" dirty="0">
                <a:latin typeface="Arial Narrow" pitchFamily="34" charset="0"/>
              </a:rPr>
              <a:t> &gt;= 150</a:t>
            </a:r>
          </a:p>
          <a:p>
            <a:r>
              <a:rPr lang="es-PE" sz="2000" b="1" dirty="0" err="1">
                <a:latin typeface="Arial Narrow" pitchFamily="34" charset="0"/>
              </a:rPr>
              <a:t>X1</a:t>
            </a:r>
            <a:r>
              <a:rPr lang="es-PE" sz="2000" b="1" dirty="0">
                <a:latin typeface="Arial Narrow" pitchFamily="34" charset="0"/>
              </a:rPr>
              <a:t> &lt;= 200	</a:t>
            </a:r>
          </a:p>
          <a:p>
            <a:r>
              <a:rPr lang="es-PE" sz="2000" b="1" dirty="0" err="1">
                <a:latin typeface="Arial Narrow" pitchFamily="34" charset="0"/>
              </a:rPr>
              <a:t>X2</a:t>
            </a:r>
            <a:r>
              <a:rPr lang="es-PE" sz="2000" b="1" dirty="0">
                <a:latin typeface="Arial Narrow" pitchFamily="34" charset="0"/>
              </a:rPr>
              <a:t> &lt;= 45 </a:t>
            </a:r>
          </a:p>
        </p:txBody>
      </p:sp>
    </p:spTree>
    <p:extLst>
      <p:ext uri="{BB962C8B-B14F-4D97-AF65-F5344CB8AC3E}">
        <p14:creationId xmlns:p14="http://schemas.microsoft.com/office/powerpoint/2010/main" val="235205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89</a:t>
            </a:fld>
            <a:endParaRPr dirty="0"/>
          </a:p>
        </p:txBody>
      </p:sp>
      <p:sp>
        <p:nvSpPr>
          <p:cNvPr id="4" name="Rectangle 2"/>
          <p:cNvSpPr txBox="1">
            <a:spLocks noChangeArrowheads="1"/>
          </p:cNvSpPr>
          <p:nvPr/>
        </p:nvSpPr>
        <p:spPr bwMode="auto">
          <a:xfrm>
            <a:off x="2049501" y="2276872"/>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rgbClr val="700000"/>
                </a:solidFill>
                <a:latin typeface="+mn-lt"/>
                <a:ea typeface="+mn-ea"/>
                <a:cs typeface="+mn-cs"/>
              </a:rPr>
              <a:t>Donde quiera que usted vea un negocio exitoso, alguien ha tomado una decisión valiente</a:t>
            </a:r>
            <a:r>
              <a:rPr lang="es-ES" sz="2400" b="0" dirty="0">
                <a:solidFill>
                  <a:srgbClr val="700000"/>
                </a:solidFill>
                <a:latin typeface="+mn-lt"/>
                <a:ea typeface="+mn-ea"/>
                <a:cs typeface="+mn-cs"/>
              </a:rPr>
              <a:t>.</a:t>
            </a:r>
            <a:br>
              <a:rPr lang="es-ES" sz="2400" b="0" dirty="0">
                <a:solidFill>
                  <a:srgbClr val="700000"/>
                </a:solidFill>
                <a:latin typeface="+mn-lt"/>
                <a:ea typeface="+mn-ea"/>
                <a:cs typeface="+mn-cs"/>
              </a:rPr>
            </a:br>
            <a:endParaRPr lang="es-PE" sz="2400" b="0" dirty="0">
              <a:solidFill>
                <a:srgbClr val="700000"/>
              </a:solidFill>
              <a:latin typeface="+mn-lt"/>
              <a:ea typeface="+mn-ea"/>
              <a:cs typeface="+mn-cs"/>
            </a:endParaRPr>
          </a:p>
        </p:txBody>
      </p:sp>
      <p:sp>
        <p:nvSpPr>
          <p:cNvPr id="5" name="Rectangle 2"/>
          <p:cNvSpPr txBox="1">
            <a:spLocks noChangeArrowheads="1"/>
          </p:cNvSpPr>
          <p:nvPr/>
        </p:nvSpPr>
        <p:spPr>
          <a:xfrm>
            <a:off x="6096000" y="92279"/>
            <a:ext cx="6096000" cy="872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sp>
        <p:nvSpPr>
          <p:cNvPr id="2" name="Rectángulo 1">
            <a:extLst>
              <a:ext uri="{FF2B5EF4-FFF2-40B4-BE49-F238E27FC236}">
                <a16:creationId xmlns:a16="http://schemas.microsoft.com/office/drawing/2014/main" id="{A345A401-5395-4861-90CC-1389B0CFAC65}"/>
              </a:ext>
            </a:extLst>
          </p:cNvPr>
          <p:cNvSpPr/>
          <p:nvPr/>
        </p:nvSpPr>
        <p:spPr>
          <a:xfrm>
            <a:off x="4958093" y="4125017"/>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spTree>
    <p:extLst>
      <p:ext uri="{BB962C8B-B14F-4D97-AF65-F5344CB8AC3E}">
        <p14:creationId xmlns:p14="http://schemas.microsoft.com/office/powerpoint/2010/main" val="22943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5408</TotalTime>
  <Words>13664</Words>
  <Application>Microsoft Office PowerPoint</Application>
  <PresentationFormat>Panorámica</PresentationFormat>
  <Paragraphs>2243</Paragraphs>
  <Slides>89</Slides>
  <Notes>8</Notes>
  <HiddenSlides>0</HiddenSlides>
  <MMClips>0</MMClips>
  <ScaleCrop>false</ScaleCrop>
  <HeadingPairs>
    <vt:vector size="8" baseType="variant">
      <vt:variant>
        <vt:lpstr>Fuentes usadas</vt:lpstr>
      </vt:variant>
      <vt:variant>
        <vt:i4>17</vt:i4>
      </vt:variant>
      <vt:variant>
        <vt:lpstr>Tema</vt:lpstr>
      </vt:variant>
      <vt:variant>
        <vt:i4>1</vt:i4>
      </vt:variant>
      <vt:variant>
        <vt:lpstr>Servidores OLE incrustados</vt:lpstr>
      </vt:variant>
      <vt:variant>
        <vt:i4>3</vt:i4>
      </vt:variant>
      <vt:variant>
        <vt:lpstr>Títulos de diapositiva</vt:lpstr>
      </vt:variant>
      <vt:variant>
        <vt:i4>89</vt:i4>
      </vt:variant>
    </vt:vector>
  </HeadingPairs>
  <TitlesOfParts>
    <vt:vector size="110" baseType="lpstr">
      <vt:lpstr>Arial</vt:lpstr>
      <vt:lpstr>Arial Black</vt:lpstr>
      <vt:lpstr>Arial MT</vt:lpstr>
      <vt:lpstr>Arial Narrow</vt:lpstr>
      <vt:lpstr>Bauhaus 93</vt:lpstr>
      <vt:lpstr>Bodoni MT Black</vt:lpstr>
      <vt:lpstr>Calibri</vt:lpstr>
      <vt:lpstr>Calibri Light</vt:lpstr>
      <vt:lpstr>Cambria Math</vt:lpstr>
      <vt:lpstr>Garamond</vt:lpstr>
      <vt:lpstr>Gill Sans MT</vt:lpstr>
      <vt:lpstr>Lexend Deca</vt:lpstr>
      <vt:lpstr>Signika</vt:lpstr>
      <vt:lpstr>Tahoma</vt:lpstr>
      <vt:lpstr>Times New Roman</vt:lpstr>
      <vt:lpstr>Verdana</vt:lpstr>
      <vt:lpstr>Wingdings</vt:lpstr>
      <vt:lpstr>Tema de Office</vt:lpstr>
      <vt:lpstr>Equation</vt:lpstr>
      <vt:lpstr>Hoja de cálculo</vt:lpstr>
      <vt:lpstr>Document</vt:lpstr>
      <vt:lpstr>Presentación de PowerPoint</vt:lpstr>
      <vt:lpstr>DESARROLLO DE MODELOS DE PROGRAMACIÓN LINEAL</vt:lpstr>
      <vt:lpstr>Contenido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Problema 4 Mezcla de productos</vt:lpstr>
      <vt:lpstr>Presentación de PowerPoint</vt:lpstr>
      <vt:lpstr>Problema N°3  Mezcla de productos</vt:lpstr>
      <vt:lpstr>Problema 6  Subestaciones</vt:lpstr>
      <vt:lpstr>Modelo Matemático</vt:lpstr>
      <vt:lpstr>Problema 7  Industria de juguetes </vt:lpstr>
      <vt:lpstr>Solución Industria de juguetes </vt:lpstr>
      <vt:lpstr>Presentación de PowerPoint</vt:lpstr>
      <vt:lpstr>Presentación de PowerPoint</vt:lpstr>
      <vt:lpstr>Solución</vt:lpstr>
      <vt:lpstr>Solución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Solución</vt:lpstr>
      <vt:lpstr>Presentación de PowerPoint</vt:lpstr>
      <vt:lpstr>Presentación de PowerPoint</vt:lpstr>
      <vt:lpstr>Presentación de PowerPoint</vt:lpstr>
      <vt:lpstr>Presentación de PowerPoint</vt:lpstr>
      <vt:lpstr>Problema 17</vt:lpstr>
      <vt:lpstr>Presentación de PowerPoint</vt:lpstr>
      <vt:lpstr>Problema 19</vt:lpstr>
      <vt:lpstr>Presentación de PowerPoint</vt:lpstr>
      <vt:lpstr>Problema 20</vt:lpstr>
      <vt:lpstr>Presentación de PowerPoint</vt:lpstr>
      <vt:lpstr>Problema 21</vt:lpstr>
      <vt:lpstr>Presentación de PowerPoint</vt:lpstr>
      <vt:lpstr>Presentación de PowerPoint</vt:lpstr>
      <vt:lpstr>Presentación de PowerPoint</vt:lpstr>
      <vt:lpstr>¿Qué es un modelo de P. L.?</vt:lpstr>
      <vt:lpstr>Primera propiedad de un modelo</vt:lpstr>
      <vt:lpstr>Segunda propiedad de un modelo</vt:lpstr>
      <vt:lpstr>Tercera propiedad de un modelo</vt:lpstr>
      <vt:lpstr>Cuarta propiedad de un modelo</vt:lpstr>
      <vt:lpstr>Ejemplo</vt:lpstr>
      <vt:lpstr>Presentación de PowerPoint</vt:lpstr>
      <vt:lpstr>Variables de Decisión y Datos</vt:lpstr>
      <vt:lpstr>Para identificar las variables</vt:lpstr>
      <vt:lpstr>Supuestos básicos de la PL</vt:lpstr>
      <vt:lpstr>Problema 23</vt:lpstr>
      <vt:lpstr>Presentación de PowerPoint</vt:lpstr>
      <vt:lpstr>Para identificar las variables</vt:lpstr>
      <vt:lpstr>Para identificar las variables</vt:lpstr>
      <vt:lpstr>Para identificar las variables</vt:lpstr>
      <vt:lpstr>Clasificación de los datos (1)</vt:lpstr>
      <vt:lpstr>Clasificación de los datos (2)</vt:lpstr>
      <vt:lpstr>Presentación de PowerPoint</vt:lpstr>
      <vt:lpstr>Presentación de PowerPoint</vt:lpstr>
      <vt:lpstr>Presentación de PowerPoint</vt:lpstr>
      <vt:lpstr>Problema 17</vt:lpstr>
      <vt:lpstr>Problema 18</vt:lpstr>
      <vt:lpstr>Problema 18</vt:lpstr>
      <vt:lpstr>Problema 19</vt:lpstr>
      <vt:lpstr>Problema 19</vt:lpstr>
      <vt:lpstr>Problema 20</vt:lpstr>
      <vt:lpstr>Problema 20</vt:lpstr>
      <vt:lpstr>Presentación de PowerPoint</vt:lpstr>
      <vt:lpstr>Presentación de PowerPoint</vt:lpstr>
      <vt:lpstr>Presentación de PowerPoint</vt:lpstr>
      <vt:lpstr>Presentación de PowerPoint</vt:lpstr>
      <vt:lpstr>Problema 23</vt:lpstr>
      <vt:lpstr>Problema 23</vt:lpstr>
      <vt:lpstr>Solución</vt:lpstr>
      <vt:lpstr>Problema 24</vt:lpstr>
      <vt:lpstr>Problema 24</vt:lpstr>
      <vt:lpstr>Solución</vt:lpstr>
      <vt:lpstr>Solución</vt:lpstr>
      <vt:lpstr>Problema 25</vt:lpstr>
      <vt:lpstr>Solución</vt:lpstr>
      <vt:lpstr>Problema 26</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305</cp:revision>
  <dcterms:created xsi:type="dcterms:W3CDTF">2021-09-08T13:14:39Z</dcterms:created>
  <dcterms:modified xsi:type="dcterms:W3CDTF">2026-08-16T17:17:00Z</dcterms:modified>
</cp:coreProperties>
</file>